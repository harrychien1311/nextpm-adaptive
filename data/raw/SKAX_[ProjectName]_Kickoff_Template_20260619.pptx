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35"/>
  </p:notesMasterIdLst>
  <p:handoutMasterIdLst>
    <p:handoutMasterId r:id="rId36"/>
  </p:handoutMasterIdLst>
  <p:sldIdLst>
    <p:sldId id="256" r:id="rId5"/>
    <p:sldId id="257" r:id="rId6"/>
    <p:sldId id="2076137392" r:id="rId7"/>
    <p:sldId id="2076137388" r:id="rId8"/>
    <p:sldId id="2076137391" r:id="rId9"/>
    <p:sldId id="2076137395" r:id="rId10"/>
    <p:sldId id="279" r:id="rId11"/>
    <p:sldId id="2076137385" r:id="rId12"/>
    <p:sldId id="2076137396" r:id="rId13"/>
    <p:sldId id="2076137387" r:id="rId14"/>
    <p:sldId id="2147473969" r:id="rId15"/>
    <p:sldId id="2076137398" r:id="rId16"/>
    <p:sldId id="2076137362" r:id="rId17"/>
    <p:sldId id="2147473978" r:id="rId18"/>
    <p:sldId id="2076137399" r:id="rId19"/>
    <p:sldId id="2076137382" r:id="rId20"/>
    <p:sldId id="2076137397" r:id="rId21"/>
    <p:sldId id="283" r:id="rId22"/>
    <p:sldId id="285" r:id="rId23"/>
    <p:sldId id="2076137365" r:id="rId24"/>
    <p:sldId id="2076137400" r:id="rId25"/>
    <p:sldId id="2076137356" r:id="rId26"/>
    <p:sldId id="2076137373" r:id="rId27"/>
    <p:sldId id="2076137402" r:id="rId28"/>
    <p:sldId id="2076137360" r:id="rId29"/>
    <p:sldId id="2076137401" r:id="rId30"/>
    <p:sldId id="2147473979" r:id="rId31"/>
    <p:sldId id="2076137394" r:id="rId32"/>
    <p:sldId id="2076137390" r:id="rId33"/>
    <p:sldId id="288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A637CA53-AD9C-4A70-B6AF-3C4CC7C60E1F}">
          <p14:sldIdLst>
            <p14:sldId id="256"/>
            <p14:sldId id="257"/>
          </p14:sldIdLst>
        </p14:section>
        <p14:section name="5. Project Org Chart" id="{37404560-6C6D-49A6-8485-4DA733120C0E}">
          <p14:sldIdLst>
            <p14:sldId id="2076137392"/>
            <p14:sldId id="2076137388"/>
            <p14:sldId id="2076137391"/>
          </p14:sldIdLst>
        </p14:section>
        <p14:section name="1. Scope &amp; Duration" id="{6403B598-7B38-49D8-8EC1-9B2B1173490C}">
          <p14:sldIdLst>
            <p14:sldId id="2076137395"/>
            <p14:sldId id="279"/>
            <p14:sldId id="2076137385"/>
          </p14:sldIdLst>
        </p14:section>
        <p14:section name="2. Project Approach" id="{04B1F41E-2A77-4329-9FF2-1C31091CAD02}">
          <p14:sldIdLst>
            <p14:sldId id="2076137396"/>
            <p14:sldId id="2076137387"/>
            <p14:sldId id="2147473969"/>
          </p14:sldIdLst>
        </p14:section>
        <p14:section name="3. Deliverables" id="{9123FAF8-B3F0-4E46-B368-FA724AEAC2AB}">
          <p14:sldIdLst>
            <p14:sldId id="2076137398"/>
            <p14:sldId id="2076137362"/>
            <p14:sldId id="2147473978"/>
          </p14:sldIdLst>
        </p14:section>
        <p14:section name="4. Tools &amp; Environment" id="{1514C14D-37EA-4637-A94B-D327C97FE7A4}">
          <p14:sldIdLst>
            <p14:sldId id="2076137399"/>
            <p14:sldId id="2076137382"/>
          </p14:sldIdLst>
        </p14:section>
        <p14:section name="6. Communication" id="{3524B06C-478A-4769-91DF-F227167A71EE}">
          <p14:sldIdLst>
            <p14:sldId id="2076137397"/>
            <p14:sldId id="283"/>
            <p14:sldId id="285"/>
            <p14:sldId id="2076137365"/>
          </p14:sldIdLst>
        </p14:section>
        <p14:section name="7. Risks &amp; Assumptions" id="{CDFDC193-21E8-4B7F-A07A-80FF871C41C6}">
          <p14:sldIdLst>
            <p14:sldId id="2076137400"/>
            <p14:sldId id="2076137356"/>
            <p14:sldId id="2076137373"/>
          </p14:sldIdLst>
        </p14:section>
        <p14:section name="8. Next Actions" id="{720772D1-9258-43E8-9427-34212B1AB7DD}">
          <p14:sldIdLst>
            <p14:sldId id="2076137402"/>
            <p14:sldId id="2076137360"/>
          </p14:sldIdLst>
        </p14:section>
        <p14:section name="Appendix" id="{FB4BD737-9F61-4B67-9FE8-2D63EABF6E7D}">
          <p14:sldIdLst>
            <p14:sldId id="2076137401"/>
            <p14:sldId id="2147473979"/>
            <p14:sldId id="2076137394"/>
            <p14:sldId id="2076137390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orient="horz" pos="377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6BFC43-DC0B-DFA3-FDFB-A2948A406162}" name="Tung Do Thanh" initials="TT" userId="S::tungdt18@fpt.com::c8113b42-b458-4cae-9a3e-b4b3285a734f" providerId="AD"/>
  <p188:author id="{2BCBD350-00F8-BA82-1D56-F398F500E509}" name="Hao Nguyen Anh" initials="HA" userId="S::haona1@fpt.com::65ec2528-6089-4711-adac-a2c1a50e20f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FAC2BC"/>
    <a:srgbClr val="FFC601"/>
    <a:srgbClr val="38BB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A55137-C8CC-A70F-5D11-1D95ECF60271}" v="4" dt="2026-06-03T16:27:16.9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4320"/>
        <p:guide pos="325"/>
        <p:guide pos="7446"/>
        <p:guide orient="horz" pos="37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6/11/relationships/changesInfo" Target="changesInfos/changesInfo1.xml"/><Relationship Id="rId42" Type="http://schemas.microsoft.com/office/2015/10/relationships/revisionInfo" Target="revisionInfo.xml"/><Relationship Id="rId4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 Le Hai" userId="S::longlh6@fpt.com::310dcb9d-3907-4f88-a5d8-fc8f5b7626b2" providerId="AD" clId="Web-{67A55137-C8CC-A70F-5D11-1D95ECF60271}"/>
    <pc:docChg chg="modSld">
      <pc:chgData name="Long Le Hai" userId="S::longlh6@fpt.com::310dcb9d-3907-4f88-a5d8-fc8f5b7626b2" providerId="AD" clId="Web-{67A55137-C8CC-A70F-5D11-1D95ECF60271}" dt="2026-06-03T16:27:16.955" v="3" actId="20577"/>
      <pc:docMkLst>
        <pc:docMk/>
      </pc:docMkLst>
      <pc:sldChg chg="modSp">
        <pc:chgData name="Long Le Hai" userId="S::longlh6@fpt.com::310dcb9d-3907-4f88-a5d8-fc8f5b7626b2" providerId="AD" clId="Web-{67A55137-C8CC-A70F-5D11-1D95ECF60271}" dt="2026-06-03T16:27:12.908" v="1" actId="20577"/>
        <pc:sldMkLst>
          <pc:docMk/>
          <pc:sldMk cId="2678707521" sldId="2076137394"/>
        </pc:sldMkLst>
        <pc:spChg chg="mod">
          <ac:chgData name="Long Le Hai" userId="S::longlh6@fpt.com::310dcb9d-3907-4f88-a5d8-fc8f5b7626b2" providerId="AD" clId="Web-{67A55137-C8CC-A70F-5D11-1D95ECF60271}" dt="2026-06-03T16:27:12.908" v="1" actId="20577"/>
          <ac:spMkLst>
            <pc:docMk/>
            <pc:sldMk cId="2678707521" sldId="2076137394"/>
            <ac:spMk id="3" creationId="{36E4B44A-476B-66F0-02A9-5C217E5C862E}"/>
          </ac:spMkLst>
        </pc:spChg>
      </pc:sldChg>
      <pc:sldChg chg="modSp">
        <pc:chgData name="Long Le Hai" userId="S::longlh6@fpt.com::310dcb9d-3907-4f88-a5d8-fc8f5b7626b2" providerId="AD" clId="Web-{67A55137-C8CC-A70F-5D11-1D95ECF60271}" dt="2026-06-03T16:27:16.955" v="3" actId="20577"/>
        <pc:sldMkLst>
          <pc:docMk/>
          <pc:sldMk cId="2173883789" sldId="2147473979"/>
        </pc:sldMkLst>
        <pc:spChg chg="mod">
          <ac:chgData name="Long Le Hai" userId="S::longlh6@fpt.com::310dcb9d-3907-4f88-a5d8-fc8f5b7626b2" providerId="AD" clId="Web-{67A55137-C8CC-A70F-5D11-1D95ECF60271}" dt="2026-06-03T16:27:16.955" v="3" actId="20577"/>
          <ac:spMkLst>
            <pc:docMk/>
            <pc:sldMk cId="2173883789" sldId="2147473979"/>
            <ac:spMk id="2" creationId="{97F3BAE9-C056-7844-4041-772D14855A3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E8189C-F2F6-47C5-A3FC-C4AE2E77FA01}" type="doc">
      <dgm:prSet loTypeId="urn:microsoft.com/office/officeart/2005/8/layout/chevron1" loCatId="process" qsTypeId="urn:microsoft.com/office/officeart/2005/8/quickstyle/simple1#4" qsCatId="simple" csTypeId="urn:microsoft.com/office/officeart/2005/8/colors/accent1_2#2" csCatId="accent1" phldr="1"/>
      <dgm:spPr/>
    </dgm:pt>
    <dgm:pt modelId="{D3476C0D-01E0-4B46-B3F5-9428C90A8FE2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/>
            <a:t>Planning</a:t>
          </a:r>
        </a:p>
      </dgm:t>
    </dgm:pt>
    <dgm:pt modelId="{394A10EA-FFBD-4FAE-BB89-9748FE225B3B}" type="parTrans" cxnId="{51E31B4B-7B23-4106-842C-F0E98AAE41EE}">
      <dgm:prSet/>
      <dgm:spPr/>
      <dgm:t>
        <a:bodyPr/>
        <a:lstStyle/>
        <a:p>
          <a:endParaRPr lang="en-US" sz="1400"/>
        </a:p>
      </dgm:t>
    </dgm:pt>
    <dgm:pt modelId="{722546DA-C892-4737-90D9-0B9413BB5533}" type="sibTrans" cxnId="{51E31B4B-7B23-4106-842C-F0E98AAE41EE}">
      <dgm:prSet/>
      <dgm:spPr/>
      <dgm:t>
        <a:bodyPr/>
        <a:lstStyle/>
        <a:p>
          <a:endParaRPr lang="en-US" sz="1400"/>
        </a:p>
      </dgm:t>
    </dgm:pt>
    <dgm:pt modelId="{4CC8C880-4B41-4930-9E5F-14E3C416491D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/>
            <a:t>Requirement Analysis</a:t>
          </a:r>
        </a:p>
      </dgm:t>
    </dgm:pt>
    <dgm:pt modelId="{D4972314-9E87-45E0-8D18-9D984B0DD2E1}" type="parTrans" cxnId="{5B05E935-C03C-4C29-A9F7-A768EC69F1E0}">
      <dgm:prSet/>
      <dgm:spPr/>
      <dgm:t>
        <a:bodyPr/>
        <a:lstStyle/>
        <a:p>
          <a:endParaRPr lang="en-US" sz="1400"/>
        </a:p>
      </dgm:t>
    </dgm:pt>
    <dgm:pt modelId="{2D788D96-8F84-46B9-B664-F6B189AD7332}" type="sibTrans" cxnId="{5B05E935-C03C-4C29-A9F7-A768EC69F1E0}">
      <dgm:prSet/>
      <dgm:spPr/>
      <dgm:t>
        <a:bodyPr/>
        <a:lstStyle/>
        <a:p>
          <a:endParaRPr lang="en-US" sz="1400"/>
        </a:p>
      </dgm:t>
    </dgm:pt>
    <dgm:pt modelId="{C3893A85-5B47-46DA-AE7E-70C02C7E70D8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/>
            <a:t>Implementation</a:t>
          </a:r>
        </a:p>
      </dgm:t>
    </dgm:pt>
    <dgm:pt modelId="{68E6279F-CC0C-4DFC-89FA-81448849E8FB}" type="parTrans" cxnId="{FEBE6792-E50A-4885-BF9B-ECDEE96D7CF6}">
      <dgm:prSet/>
      <dgm:spPr/>
      <dgm:t>
        <a:bodyPr/>
        <a:lstStyle/>
        <a:p>
          <a:endParaRPr lang="en-US" sz="1400"/>
        </a:p>
      </dgm:t>
    </dgm:pt>
    <dgm:pt modelId="{80EA81C2-99F5-4E57-A6B2-2BB264088C1C}" type="sibTrans" cxnId="{FEBE6792-E50A-4885-BF9B-ECDEE96D7CF6}">
      <dgm:prSet/>
      <dgm:spPr/>
      <dgm:t>
        <a:bodyPr/>
        <a:lstStyle/>
        <a:p>
          <a:endParaRPr lang="en-US" sz="1400"/>
        </a:p>
      </dgm:t>
    </dgm:pt>
    <dgm:pt modelId="{0D29A488-DA2A-46BE-AFB6-6791BD510285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/>
            <a:t>Testing</a:t>
          </a:r>
        </a:p>
      </dgm:t>
    </dgm:pt>
    <dgm:pt modelId="{9FAC7668-E964-44CF-9B1D-05582937AE86}" type="parTrans" cxnId="{8C5888A9-E8E7-4F5D-BCD5-ED70FDAC7F63}">
      <dgm:prSet/>
      <dgm:spPr/>
      <dgm:t>
        <a:bodyPr/>
        <a:lstStyle/>
        <a:p>
          <a:endParaRPr lang="en-US" sz="1400"/>
        </a:p>
      </dgm:t>
    </dgm:pt>
    <dgm:pt modelId="{0510C093-7F9B-4FC9-A4CC-AC30CF044043}" type="sibTrans" cxnId="{8C5888A9-E8E7-4F5D-BCD5-ED70FDAC7F63}">
      <dgm:prSet/>
      <dgm:spPr/>
      <dgm:t>
        <a:bodyPr/>
        <a:lstStyle/>
        <a:p>
          <a:endParaRPr lang="en-US" sz="1400"/>
        </a:p>
      </dgm:t>
    </dgm:pt>
    <dgm:pt modelId="{C78AB56E-BF6B-4EEB-BA3C-D0D8F908605F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/>
            <a:t>UAT</a:t>
          </a:r>
        </a:p>
      </dgm:t>
    </dgm:pt>
    <dgm:pt modelId="{B675650B-FC07-4DA5-8546-B198DEC9FB97}" type="parTrans" cxnId="{362C70D4-B6BF-4799-A3ED-944FA069D150}">
      <dgm:prSet/>
      <dgm:spPr/>
      <dgm:t>
        <a:bodyPr/>
        <a:lstStyle/>
        <a:p>
          <a:endParaRPr lang="en-US" sz="1400"/>
        </a:p>
      </dgm:t>
    </dgm:pt>
    <dgm:pt modelId="{DF33E93E-95A7-4A66-AC87-0F915ADF2ABD}" type="sibTrans" cxnId="{362C70D4-B6BF-4799-A3ED-944FA069D150}">
      <dgm:prSet/>
      <dgm:spPr/>
      <dgm:t>
        <a:bodyPr/>
        <a:lstStyle/>
        <a:p>
          <a:endParaRPr lang="en-US" sz="1400"/>
        </a:p>
      </dgm:t>
    </dgm:pt>
    <dgm:pt modelId="{AB359F40-AF56-4856-B3A1-E2E7AFC96137}" type="pres">
      <dgm:prSet presAssocID="{BAE8189C-F2F6-47C5-A3FC-C4AE2E77FA01}" presName="Name0" presStyleCnt="0">
        <dgm:presLayoutVars>
          <dgm:dir/>
          <dgm:animLvl val="lvl"/>
          <dgm:resizeHandles val="exact"/>
        </dgm:presLayoutVars>
      </dgm:prSet>
      <dgm:spPr/>
    </dgm:pt>
    <dgm:pt modelId="{5B652076-0C71-41C8-AC06-2170B6F34B02}" type="pres">
      <dgm:prSet presAssocID="{D3476C0D-01E0-4B46-B3F5-9428C90A8FE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D36E7B79-1C08-4FF2-B539-9CC726753605}" type="pres">
      <dgm:prSet presAssocID="{722546DA-C892-4737-90D9-0B9413BB5533}" presName="parTxOnlySpace" presStyleCnt="0"/>
      <dgm:spPr/>
    </dgm:pt>
    <dgm:pt modelId="{068F79A4-55F7-495C-BC41-BB02BB78615E}" type="pres">
      <dgm:prSet presAssocID="{4CC8C880-4B41-4930-9E5F-14E3C416491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946299F0-C107-439C-9C72-7C8630749A2E}" type="pres">
      <dgm:prSet presAssocID="{2D788D96-8F84-46B9-B664-F6B189AD7332}" presName="parTxOnlySpace" presStyleCnt="0"/>
      <dgm:spPr/>
    </dgm:pt>
    <dgm:pt modelId="{47EE607B-4AC4-441B-85E3-759E706D57EB}" type="pres">
      <dgm:prSet presAssocID="{C3893A85-5B47-46DA-AE7E-70C02C7E70D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C5E919A9-A701-4FB6-8307-A9CBF152F241}" type="pres">
      <dgm:prSet presAssocID="{80EA81C2-99F5-4E57-A6B2-2BB264088C1C}" presName="parTxOnlySpace" presStyleCnt="0"/>
      <dgm:spPr/>
    </dgm:pt>
    <dgm:pt modelId="{5694D989-43A3-441E-86E2-03053F09ECB7}" type="pres">
      <dgm:prSet presAssocID="{0D29A488-DA2A-46BE-AFB6-6791BD510285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989F4E84-FBE4-4692-B552-A363EEC2C840}" type="pres">
      <dgm:prSet presAssocID="{0510C093-7F9B-4FC9-A4CC-AC30CF044043}" presName="parTxOnlySpace" presStyleCnt="0"/>
      <dgm:spPr/>
    </dgm:pt>
    <dgm:pt modelId="{0C972678-1C97-4D81-BF09-FB479F58C24B}" type="pres">
      <dgm:prSet presAssocID="{C78AB56E-BF6B-4EEB-BA3C-D0D8F908605F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61816008-E0A6-496E-955B-9C524344D84F}" type="presOf" srcId="{C3893A85-5B47-46DA-AE7E-70C02C7E70D8}" destId="{47EE607B-4AC4-441B-85E3-759E706D57EB}" srcOrd="0" destOrd="0" presId="urn:microsoft.com/office/officeart/2005/8/layout/chevron1"/>
    <dgm:cxn modelId="{5B05E935-C03C-4C29-A9F7-A768EC69F1E0}" srcId="{BAE8189C-F2F6-47C5-A3FC-C4AE2E77FA01}" destId="{4CC8C880-4B41-4930-9E5F-14E3C416491D}" srcOrd="1" destOrd="0" parTransId="{D4972314-9E87-45E0-8D18-9D984B0DD2E1}" sibTransId="{2D788D96-8F84-46B9-B664-F6B189AD7332}"/>
    <dgm:cxn modelId="{71134E45-CC69-495C-AA65-63E889235C2C}" type="presOf" srcId="{0D29A488-DA2A-46BE-AFB6-6791BD510285}" destId="{5694D989-43A3-441E-86E2-03053F09ECB7}" srcOrd="0" destOrd="0" presId="urn:microsoft.com/office/officeart/2005/8/layout/chevron1"/>
    <dgm:cxn modelId="{E95CCF68-7055-4747-AF3A-353EC4D31CB6}" type="presOf" srcId="{C78AB56E-BF6B-4EEB-BA3C-D0D8F908605F}" destId="{0C972678-1C97-4D81-BF09-FB479F58C24B}" srcOrd="0" destOrd="0" presId="urn:microsoft.com/office/officeart/2005/8/layout/chevron1"/>
    <dgm:cxn modelId="{51E31B4B-7B23-4106-842C-F0E98AAE41EE}" srcId="{BAE8189C-F2F6-47C5-A3FC-C4AE2E77FA01}" destId="{D3476C0D-01E0-4B46-B3F5-9428C90A8FE2}" srcOrd="0" destOrd="0" parTransId="{394A10EA-FFBD-4FAE-BB89-9748FE225B3B}" sibTransId="{722546DA-C892-4737-90D9-0B9413BB5533}"/>
    <dgm:cxn modelId="{1E107C85-0A14-47B7-99C9-4F9B0A22AD84}" type="presOf" srcId="{D3476C0D-01E0-4B46-B3F5-9428C90A8FE2}" destId="{5B652076-0C71-41C8-AC06-2170B6F34B02}" srcOrd="0" destOrd="0" presId="urn:microsoft.com/office/officeart/2005/8/layout/chevron1"/>
    <dgm:cxn modelId="{DAE9638A-CB82-45C7-A40E-54A9FE467EF6}" type="presOf" srcId="{4CC8C880-4B41-4930-9E5F-14E3C416491D}" destId="{068F79A4-55F7-495C-BC41-BB02BB78615E}" srcOrd="0" destOrd="0" presId="urn:microsoft.com/office/officeart/2005/8/layout/chevron1"/>
    <dgm:cxn modelId="{FEBE6792-E50A-4885-BF9B-ECDEE96D7CF6}" srcId="{BAE8189C-F2F6-47C5-A3FC-C4AE2E77FA01}" destId="{C3893A85-5B47-46DA-AE7E-70C02C7E70D8}" srcOrd="2" destOrd="0" parTransId="{68E6279F-CC0C-4DFC-89FA-81448849E8FB}" sibTransId="{80EA81C2-99F5-4E57-A6B2-2BB264088C1C}"/>
    <dgm:cxn modelId="{8C5888A9-E8E7-4F5D-BCD5-ED70FDAC7F63}" srcId="{BAE8189C-F2F6-47C5-A3FC-C4AE2E77FA01}" destId="{0D29A488-DA2A-46BE-AFB6-6791BD510285}" srcOrd="3" destOrd="0" parTransId="{9FAC7668-E964-44CF-9B1D-05582937AE86}" sibTransId="{0510C093-7F9B-4FC9-A4CC-AC30CF044043}"/>
    <dgm:cxn modelId="{362C70D4-B6BF-4799-A3ED-944FA069D150}" srcId="{BAE8189C-F2F6-47C5-A3FC-C4AE2E77FA01}" destId="{C78AB56E-BF6B-4EEB-BA3C-D0D8F908605F}" srcOrd="4" destOrd="0" parTransId="{B675650B-FC07-4DA5-8546-B198DEC9FB97}" sibTransId="{DF33E93E-95A7-4A66-AC87-0F915ADF2ABD}"/>
    <dgm:cxn modelId="{716087FB-D9AE-49DA-BDE5-D9BC47536528}" type="presOf" srcId="{BAE8189C-F2F6-47C5-A3FC-C4AE2E77FA01}" destId="{AB359F40-AF56-4856-B3A1-E2E7AFC96137}" srcOrd="0" destOrd="0" presId="urn:microsoft.com/office/officeart/2005/8/layout/chevron1"/>
    <dgm:cxn modelId="{6963FDFA-94EE-433A-87A0-F3F957E6AF77}" type="presParOf" srcId="{AB359F40-AF56-4856-B3A1-E2E7AFC96137}" destId="{5B652076-0C71-41C8-AC06-2170B6F34B02}" srcOrd="0" destOrd="0" presId="urn:microsoft.com/office/officeart/2005/8/layout/chevron1"/>
    <dgm:cxn modelId="{7F89A0E0-95C3-47FF-A8EF-5913344C5C1C}" type="presParOf" srcId="{AB359F40-AF56-4856-B3A1-E2E7AFC96137}" destId="{D36E7B79-1C08-4FF2-B539-9CC726753605}" srcOrd="1" destOrd="0" presId="urn:microsoft.com/office/officeart/2005/8/layout/chevron1"/>
    <dgm:cxn modelId="{7E619FC0-BCAB-47E5-9CC2-0D78235D35F9}" type="presParOf" srcId="{AB359F40-AF56-4856-B3A1-E2E7AFC96137}" destId="{068F79A4-55F7-495C-BC41-BB02BB78615E}" srcOrd="2" destOrd="0" presId="urn:microsoft.com/office/officeart/2005/8/layout/chevron1"/>
    <dgm:cxn modelId="{B642F365-4624-4516-959C-58257DA7E7BC}" type="presParOf" srcId="{AB359F40-AF56-4856-B3A1-E2E7AFC96137}" destId="{946299F0-C107-439C-9C72-7C8630749A2E}" srcOrd="3" destOrd="0" presId="urn:microsoft.com/office/officeart/2005/8/layout/chevron1"/>
    <dgm:cxn modelId="{2C90874A-BF88-4972-A4E1-3982B5A89F3B}" type="presParOf" srcId="{AB359F40-AF56-4856-B3A1-E2E7AFC96137}" destId="{47EE607B-4AC4-441B-85E3-759E706D57EB}" srcOrd="4" destOrd="0" presId="urn:microsoft.com/office/officeart/2005/8/layout/chevron1"/>
    <dgm:cxn modelId="{3D0B9911-CAD3-4A15-AC42-2DC09950E6A8}" type="presParOf" srcId="{AB359F40-AF56-4856-B3A1-E2E7AFC96137}" destId="{C5E919A9-A701-4FB6-8307-A9CBF152F241}" srcOrd="5" destOrd="0" presId="urn:microsoft.com/office/officeart/2005/8/layout/chevron1"/>
    <dgm:cxn modelId="{DB42FC0C-E40B-498B-840C-D5C0E0E0CF6C}" type="presParOf" srcId="{AB359F40-AF56-4856-B3A1-E2E7AFC96137}" destId="{5694D989-43A3-441E-86E2-03053F09ECB7}" srcOrd="6" destOrd="0" presId="urn:microsoft.com/office/officeart/2005/8/layout/chevron1"/>
    <dgm:cxn modelId="{6FE47184-1339-486A-8FC7-79DFE130B73F}" type="presParOf" srcId="{AB359F40-AF56-4856-B3A1-E2E7AFC96137}" destId="{989F4E84-FBE4-4692-B552-A363EEC2C840}" srcOrd="7" destOrd="0" presId="urn:microsoft.com/office/officeart/2005/8/layout/chevron1"/>
    <dgm:cxn modelId="{87371CEA-8F2C-419B-8422-4593AA3357B1}" type="presParOf" srcId="{AB359F40-AF56-4856-B3A1-E2E7AFC96137}" destId="{0C972678-1C97-4D81-BF09-FB479F58C24B}" srcOrd="8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E8189C-F2F6-47C5-A3FC-C4AE2E77FA01}" type="doc">
      <dgm:prSet loTypeId="urn:microsoft.com/office/officeart/2005/8/layout/chevron1" loCatId="process" qsTypeId="urn:microsoft.com/office/officeart/2005/8/quickstyle/simple1#5" qsCatId="simple" csTypeId="urn:microsoft.com/office/officeart/2005/8/colors/accent1_2#3" csCatId="accent1" phldr="1"/>
      <dgm:spPr/>
    </dgm:pt>
    <dgm:pt modelId="{D3476C0D-01E0-4B46-B3F5-9428C90A8FE2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/>
            <a:t>Planning</a:t>
          </a:r>
        </a:p>
      </dgm:t>
    </dgm:pt>
    <dgm:pt modelId="{394A10EA-FFBD-4FAE-BB89-9748FE225B3B}" type="parTrans" cxnId="{51E31B4B-7B23-4106-842C-F0E98AAE41EE}">
      <dgm:prSet/>
      <dgm:spPr/>
      <dgm:t>
        <a:bodyPr/>
        <a:lstStyle/>
        <a:p>
          <a:endParaRPr lang="en-US" sz="1400"/>
        </a:p>
      </dgm:t>
    </dgm:pt>
    <dgm:pt modelId="{722546DA-C892-4737-90D9-0B9413BB5533}" type="sibTrans" cxnId="{51E31B4B-7B23-4106-842C-F0E98AAE41EE}">
      <dgm:prSet/>
      <dgm:spPr/>
      <dgm:t>
        <a:bodyPr/>
        <a:lstStyle/>
        <a:p>
          <a:endParaRPr lang="en-US" sz="1400"/>
        </a:p>
      </dgm:t>
    </dgm:pt>
    <dgm:pt modelId="{4CC8C880-4B41-4930-9E5F-14E3C416491D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/>
            <a:t>Requirement Analysis</a:t>
          </a:r>
        </a:p>
      </dgm:t>
    </dgm:pt>
    <dgm:pt modelId="{D4972314-9E87-45E0-8D18-9D984B0DD2E1}" type="parTrans" cxnId="{5B05E935-C03C-4C29-A9F7-A768EC69F1E0}">
      <dgm:prSet/>
      <dgm:spPr/>
      <dgm:t>
        <a:bodyPr/>
        <a:lstStyle/>
        <a:p>
          <a:endParaRPr lang="en-US" sz="1400"/>
        </a:p>
      </dgm:t>
    </dgm:pt>
    <dgm:pt modelId="{2D788D96-8F84-46B9-B664-F6B189AD7332}" type="sibTrans" cxnId="{5B05E935-C03C-4C29-A9F7-A768EC69F1E0}">
      <dgm:prSet/>
      <dgm:spPr/>
      <dgm:t>
        <a:bodyPr/>
        <a:lstStyle/>
        <a:p>
          <a:endParaRPr lang="en-US" sz="1400"/>
        </a:p>
      </dgm:t>
    </dgm:pt>
    <dgm:pt modelId="{C3893A85-5B47-46DA-AE7E-70C02C7E70D8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/>
            <a:t>Implementation</a:t>
          </a:r>
        </a:p>
      </dgm:t>
    </dgm:pt>
    <dgm:pt modelId="{68E6279F-CC0C-4DFC-89FA-81448849E8FB}" type="parTrans" cxnId="{FEBE6792-E50A-4885-BF9B-ECDEE96D7CF6}">
      <dgm:prSet/>
      <dgm:spPr/>
      <dgm:t>
        <a:bodyPr/>
        <a:lstStyle/>
        <a:p>
          <a:endParaRPr lang="en-US" sz="1400"/>
        </a:p>
      </dgm:t>
    </dgm:pt>
    <dgm:pt modelId="{80EA81C2-99F5-4E57-A6B2-2BB264088C1C}" type="sibTrans" cxnId="{FEBE6792-E50A-4885-BF9B-ECDEE96D7CF6}">
      <dgm:prSet/>
      <dgm:spPr/>
      <dgm:t>
        <a:bodyPr/>
        <a:lstStyle/>
        <a:p>
          <a:endParaRPr lang="en-US" sz="1400"/>
        </a:p>
      </dgm:t>
    </dgm:pt>
    <dgm:pt modelId="{0D29A488-DA2A-46BE-AFB6-6791BD510285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/>
            <a:t>Testing</a:t>
          </a:r>
        </a:p>
      </dgm:t>
    </dgm:pt>
    <dgm:pt modelId="{9FAC7668-E964-44CF-9B1D-05582937AE86}" type="parTrans" cxnId="{8C5888A9-E8E7-4F5D-BCD5-ED70FDAC7F63}">
      <dgm:prSet/>
      <dgm:spPr/>
      <dgm:t>
        <a:bodyPr/>
        <a:lstStyle/>
        <a:p>
          <a:endParaRPr lang="en-US" sz="1400"/>
        </a:p>
      </dgm:t>
    </dgm:pt>
    <dgm:pt modelId="{0510C093-7F9B-4FC9-A4CC-AC30CF044043}" type="sibTrans" cxnId="{8C5888A9-E8E7-4F5D-BCD5-ED70FDAC7F63}">
      <dgm:prSet/>
      <dgm:spPr/>
      <dgm:t>
        <a:bodyPr/>
        <a:lstStyle/>
        <a:p>
          <a:endParaRPr lang="en-US" sz="1400"/>
        </a:p>
      </dgm:t>
    </dgm:pt>
    <dgm:pt modelId="{C78AB56E-BF6B-4EEB-BA3C-D0D8F908605F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/>
            <a:t>UAT</a:t>
          </a:r>
        </a:p>
      </dgm:t>
    </dgm:pt>
    <dgm:pt modelId="{B675650B-FC07-4DA5-8546-B198DEC9FB97}" type="parTrans" cxnId="{362C70D4-B6BF-4799-A3ED-944FA069D150}">
      <dgm:prSet/>
      <dgm:spPr/>
      <dgm:t>
        <a:bodyPr/>
        <a:lstStyle/>
        <a:p>
          <a:endParaRPr lang="en-US" sz="1400"/>
        </a:p>
      </dgm:t>
    </dgm:pt>
    <dgm:pt modelId="{DF33E93E-95A7-4A66-AC87-0F915ADF2ABD}" type="sibTrans" cxnId="{362C70D4-B6BF-4799-A3ED-944FA069D150}">
      <dgm:prSet/>
      <dgm:spPr/>
      <dgm:t>
        <a:bodyPr/>
        <a:lstStyle/>
        <a:p>
          <a:endParaRPr lang="en-US" sz="1400"/>
        </a:p>
      </dgm:t>
    </dgm:pt>
    <dgm:pt modelId="{AB359F40-AF56-4856-B3A1-E2E7AFC96137}" type="pres">
      <dgm:prSet presAssocID="{BAE8189C-F2F6-47C5-A3FC-C4AE2E77FA01}" presName="Name0" presStyleCnt="0">
        <dgm:presLayoutVars>
          <dgm:dir/>
          <dgm:animLvl val="lvl"/>
          <dgm:resizeHandles val="exact"/>
        </dgm:presLayoutVars>
      </dgm:prSet>
      <dgm:spPr/>
    </dgm:pt>
    <dgm:pt modelId="{5B652076-0C71-41C8-AC06-2170B6F34B02}" type="pres">
      <dgm:prSet presAssocID="{D3476C0D-01E0-4B46-B3F5-9428C90A8FE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D36E7B79-1C08-4FF2-B539-9CC726753605}" type="pres">
      <dgm:prSet presAssocID="{722546DA-C892-4737-90D9-0B9413BB5533}" presName="parTxOnlySpace" presStyleCnt="0"/>
      <dgm:spPr/>
    </dgm:pt>
    <dgm:pt modelId="{068F79A4-55F7-495C-BC41-BB02BB78615E}" type="pres">
      <dgm:prSet presAssocID="{4CC8C880-4B41-4930-9E5F-14E3C416491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946299F0-C107-439C-9C72-7C8630749A2E}" type="pres">
      <dgm:prSet presAssocID="{2D788D96-8F84-46B9-B664-F6B189AD7332}" presName="parTxOnlySpace" presStyleCnt="0"/>
      <dgm:spPr/>
    </dgm:pt>
    <dgm:pt modelId="{47EE607B-4AC4-441B-85E3-759E706D57EB}" type="pres">
      <dgm:prSet presAssocID="{C3893A85-5B47-46DA-AE7E-70C02C7E70D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C5E919A9-A701-4FB6-8307-A9CBF152F241}" type="pres">
      <dgm:prSet presAssocID="{80EA81C2-99F5-4E57-A6B2-2BB264088C1C}" presName="parTxOnlySpace" presStyleCnt="0"/>
      <dgm:spPr/>
    </dgm:pt>
    <dgm:pt modelId="{5694D989-43A3-441E-86E2-03053F09ECB7}" type="pres">
      <dgm:prSet presAssocID="{0D29A488-DA2A-46BE-AFB6-6791BD510285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989F4E84-FBE4-4692-B552-A363EEC2C840}" type="pres">
      <dgm:prSet presAssocID="{0510C093-7F9B-4FC9-A4CC-AC30CF044043}" presName="parTxOnlySpace" presStyleCnt="0"/>
      <dgm:spPr/>
    </dgm:pt>
    <dgm:pt modelId="{0C972678-1C97-4D81-BF09-FB479F58C24B}" type="pres">
      <dgm:prSet presAssocID="{C78AB56E-BF6B-4EEB-BA3C-D0D8F908605F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61816008-E0A6-496E-955B-9C524344D84F}" type="presOf" srcId="{C3893A85-5B47-46DA-AE7E-70C02C7E70D8}" destId="{47EE607B-4AC4-441B-85E3-759E706D57EB}" srcOrd="0" destOrd="0" presId="urn:microsoft.com/office/officeart/2005/8/layout/chevron1"/>
    <dgm:cxn modelId="{5B05E935-C03C-4C29-A9F7-A768EC69F1E0}" srcId="{BAE8189C-F2F6-47C5-A3FC-C4AE2E77FA01}" destId="{4CC8C880-4B41-4930-9E5F-14E3C416491D}" srcOrd="1" destOrd="0" parTransId="{D4972314-9E87-45E0-8D18-9D984B0DD2E1}" sibTransId="{2D788D96-8F84-46B9-B664-F6B189AD7332}"/>
    <dgm:cxn modelId="{71134E45-CC69-495C-AA65-63E889235C2C}" type="presOf" srcId="{0D29A488-DA2A-46BE-AFB6-6791BD510285}" destId="{5694D989-43A3-441E-86E2-03053F09ECB7}" srcOrd="0" destOrd="0" presId="urn:microsoft.com/office/officeart/2005/8/layout/chevron1"/>
    <dgm:cxn modelId="{E95CCF68-7055-4747-AF3A-353EC4D31CB6}" type="presOf" srcId="{C78AB56E-BF6B-4EEB-BA3C-D0D8F908605F}" destId="{0C972678-1C97-4D81-BF09-FB479F58C24B}" srcOrd="0" destOrd="0" presId="urn:microsoft.com/office/officeart/2005/8/layout/chevron1"/>
    <dgm:cxn modelId="{51E31B4B-7B23-4106-842C-F0E98AAE41EE}" srcId="{BAE8189C-F2F6-47C5-A3FC-C4AE2E77FA01}" destId="{D3476C0D-01E0-4B46-B3F5-9428C90A8FE2}" srcOrd="0" destOrd="0" parTransId="{394A10EA-FFBD-4FAE-BB89-9748FE225B3B}" sibTransId="{722546DA-C892-4737-90D9-0B9413BB5533}"/>
    <dgm:cxn modelId="{1E107C85-0A14-47B7-99C9-4F9B0A22AD84}" type="presOf" srcId="{D3476C0D-01E0-4B46-B3F5-9428C90A8FE2}" destId="{5B652076-0C71-41C8-AC06-2170B6F34B02}" srcOrd="0" destOrd="0" presId="urn:microsoft.com/office/officeart/2005/8/layout/chevron1"/>
    <dgm:cxn modelId="{DAE9638A-CB82-45C7-A40E-54A9FE467EF6}" type="presOf" srcId="{4CC8C880-4B41-4930-9E5F-14E3C416491D}" destId="{068F79A4-55F7-495C-BC41-BB02BB78615E}" srcOrd="0" destOrd="0" presId="urn:microsoft.com/office/officeart/2005/8/layout/chevron1"/>
    <dgm:cxn modelId="{FEBE6792-E50A-4885-BF9B-ECDEE96D7CF6}" srcId="{BAE8189C-F2F6-47C5-A3FC-C4AE2E77FA01}" destId="{C3893A85-5B47-46DA-AE7E-70C02C7E70D8}" srcOrd="2" destOrd="0" parTransId="{68E6279F-CC0C-4DFC-89FA-81448849E8FB}" sibTransId="{80EA81C2-99F5-4E57-A6B2-2BB264088C1C}"/>
    <dgm:cxn modelId="{8C5888A9-E8E7-4F5D-BCD5-ED70FDAC7F63}" srcId="{BAE8189C-F2F6-47C5-A3FC-C4AE2E77FA01}" destId="{0D29A488-DA2A-46BE-AFB6-6791BD510285}" srcOrd="3" destOrd="0" parTransId="{9FAC7668-E964-44CF-9B1D-05582937AE86}" sibTransId="{0510C093-7F9B-4FC9-A4CC-AC30CF044043}"/>
    <dgm:cxn modelId="{362C70D4-B6BF-4799-A3ED-944FA069D150}" srcId="{BAE8189C-F2F6-47C5-A3FC-C4AE2E77FA01}" destId="{C78AB56E-BF6B-4EEB-BA3C-D0D8F908605F}" srcOrd="4" destOrd="0" parTransId="{B675650B-FC07-4DA5-8546-B198DEC9FB97}" sibTransId="{DF33E93E-95A7-4A66-AC87-0F915ADF2ABD}"/>
    <dgm:cxn modelId="{716087FB-D9AE-49DA-BDE5-D9BC47536528}" type="presOf" srcId="{BAE8189C-F2F6-47C5-A3FC-C4AE2E77FA01}" destId="{AB359F40-AF56-4856-B3A1-E2E7AFC96137}" srcOrd="0" destOrd="0" presId="urn:microsoft.com/office/officeart/2005/8/layout/chevron1"/>
    <dgm:cxn modelId="{6963FDFA-94EE-433A-87A0-F3F957E6AF77}" type="presParOf" srcId="{AB359F40-AF56-4856-B3A1-E2E7AFC96137}" destId="{5B652076-0C71-41C8-AC06-2170B6F34B02}" srcOrd="0" destOrd="0" presId="urn:microsoft.com/office/officeart/2005/8/layout/chevron1"/>
    <dgm:cxn modelId="{7F89A0E0-95C3-47FF-A8EF-5913344C5C1C}" type="presParOf" srcId="{AB359F40-AF56-4856-B3A1-E2E7AFC96137}" destId="{D36E7B79-1C08-4FF2-B539-9CC726753605}" srcOrd="1" destOrd="0" presId="urn:microsoft.com/office/officeart/2005/8/layout/chevron1"/>
    <dgm:cxn modelId="{7E619FC0-BCAB-47E5-9CC2-0D78235D35F9}" type="presParOf" srcId="{AB359F40-AF56-4856-B3A1-E2E7AFC96137}" destId="{068F79A4-55F7-495C-BC41-BB02BB78615E}" srcOrd="2" destOrd="0" presId="urn:microsoft.com/office/officeart/2005/8/layout/chevron1"/>
    <dgm:cxn modelId="{B642F365-4624-4516-959C-58257DA7E7BC}" type="presParOf" srcId="{AB359F40-AF56-4856-B3A1-E2E7AFC96137}" destId="{946299F0-C107-439C-9C72-7C8630749A2E}" srcOrd="3" destOrd="0" presId="urn:microsoft.com/office/officeart/2005/8/layout/chevron1"/>
    <dgm:cxn modelId="{2C90874A-BF88-4972-A4E1-3982B5A89F3B}" type="presParOf" srcId="{AB359F40-AF56-4856-B3A1-E2E7AFC96137}" destId="{47EE607B-4AC4-441B-85E3-759E706D57EB}" srcOrd="4" destOrd="0" presId="urn:microsoft.com/office/officeart/2005/8/layout/chevron1"/>
    <dgm:cxn modelId="{3D0B9911-CAD3-4A15-AC42-2DC09950E6A8}" type="presParOf" srcId="{AB359F40-AF56-4856-B3A1-E2E7AFC96137}" destId="{C5E919A9-A701-4FB6-8307-A9CBF152F241}" srcOrd="5" destOrd="0" presId="urn:microsoft.com/office/officeart/2005/8/layout/chevron1"/>
    <dgm:cxn modelId="{DB42FC0C-E40B-498B-840C-D5C0E0E0CF6C}" type="presParOf" srcId="{AB359F40-AF56-4856-B3A1-E2E7AFC96137}" destId="{5694D989-43A3-441E-86E2-03053F09ECB7}" srcOrd="6" destOrd="0" presId="urn:microsoft.com/office/officeart/2005/8/layout/chevron1"/>
    <dgm:cxn modelId="{6FE47184-1339-486A-8FC7-79DFE130B73F}" type="presParOf" srcId="{AB359F40-AF56-4856-B3A1-E2E7AFC96137}" destId="{989F4E84-FBE4-4692-B552-A363EEC2C840}" srcOrd="7" destOrd="0" presId="urn:microsoft.com/office/officeart/2005/8/layout/chevron1"/>
    <dgm:cxn modelId="{87371CEA-8F2C-419B-8422-4593AA3357B1}" type="presParOf" srcId="{AB359F40-AF56-4856-B3A1-E2E7AFC96137}" destId="{0C972678-1C97-4D81-BF09-FB479F58C24B}" srcOrd="8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652076-0C71-41C8-AC06-2170B6F34B02}">
      <dsp:nvSpPr>
        <dsp:cNvPr id="0" name=""/>
        <dsp:cNvSpPr/>
      </dsp:nvSpPr>
      <dsp:spPr>
        <a:xfrm>
          <a:off x="2724" y="0"/>
          <a:ext cx="2424738" cy="735107"/>
        </a:xfrm>
        <a:prstGeom prst="chevron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Planning</a:t>
          </a:r>
        </a:p>
      </dsp:txBody>
      <dsp:txXfrm>
        <a:off x="370278" y="0"/>
        <a:ext cx="1689631" cy="735107"/>
      </dsp:txXfrm>
    </dsp:sp>
    <dsp:sp modelId="{068F79A4-55F7-495C-BC41-BB02BB78615E}">
      <dsp:nvSpPr>
        <dsp:cNvPr id="0" name=""/>
        <dsp:cNvSpPr/>
      </dsp:nvSpPr>
      <dsp:spPr>
        <a:xfrm>
          <a:off x="2184989" y="0"/>
          <a:ext cx="2424738" cy="735107"/>
        </a:xfrm>
        <a:prstGeom prst="chevron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Requirement Analysis</a:t>
          </a:r>
        </a:p>
      </dsp:txBody>
      <dsp:txXfrm>
        <a:off x="2552543" y="0"/>
        <a:ext cx="1689631" cy="735107"/>
      </dsp:txXfrm>
    </dsp:sp>
    <dsp:sp modelId="{47EE607B-4AC4-441B-85E3-759E706D57EB}">
      <dsp:nvSpPr>
        <dsp:cNvPr id="0" name=""/>
        <dsp:cNvSpPr/>
      </dsp:nvSpPr>
      <dsp:spPr>
        <a:xfrm>
          <a:off x="4367253" y="0"/>
          <a:ext cx="2424738" cy="735107"/>
        </a:xfrm>
        <a:prstGeom prst="chevron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Implementation</a:t>
          </a:r>
        </a:p>
      </dsp:txBody>
      <dsp:txXfrm>
        <a:off x="4734807" y="0"/>
        <a:ext cx="1689631" cy="735107"/>
      </dsp:txXfrm>
    </dsp:sp>
    <dsp:sp modelId="{5694D989-43A3-441E-86E2-03053F09ECB7}">
      <dsp:nvSpPr>
        <dsp:cNvPr id="0" name=""/>
        <dsp:cNvSpPr/>
      </dsp:nvSpPr>
      <dsp:spPr>
        <a:xfrm>
          <a:off x="6549518" y="0"/>
          <a:ext cx="2424738" cy="735107"/>
        </a:xfrm>
        <a:prstGeom prst="chevron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Testing</a:t>
          </a:r>
        </a:p>
      </dsp:txBody>
      <dsp:txXfrm>
        <a:off x="6917072" y="0"/>
        <a:ext cx="1689631" cy="735107"/>
      </dsp:txXfrm>
    </dsp:sp>
    <dsp:sp modelId="{0C972678-1C97-4D81-BF09-FB479F58C24B}">
      <dsp:nvSpPr>
        <dsp:cNvPr id="0" name=""/>
        <dsp:cNvSpPr/>
      </dsp:nvSpPr>
      <dsp:spPr>
        <a:xfrm>
          <a:off x="8731783" y="0"/>
          <a:ext cx="2424738" cy="735107"/>
        </a:xfrm>
        <a:prstGeom prst="chevron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UAT</a:t>
          </a:r>
        </a:p>
      </dsp:txBody>
      <dsp:txXfrm>
        <a:off x="9099337" y="0"/>
        <a:ext cx="1689631" cy="7351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652076-0C71-41C8-AC06-2170B6F34B02}">
      <dsp:nvSpPr>
        <dsp:cNvPr id="0" name=""/>
        <dsp:cNvSpPr/>
      </dsp:nvSpPr>
      <dsp:spPr>
        <a:xfrm>
          <a:off x="2724" y="0"/>
          <a:ext cx="2424738" cy="735107"/>
        </a:xfrm>
        <a:prstGeom prst="chevron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Planning</a:t>
          </a:r>
        </a:p>
      </dsp:txBody>
      <dsp:txXfrm>
        <a:off x="370278" y="0"/>
        <a:ext cx="1689631" cy="735107"/>
      </dsp:txXfrm>
    </dsp:sp>
    <dsp:sp modelId="{068F79A4-55F7-495C-BC41-BB02BB78615E}">
      <dsp:nvSpPr>
        <dsp:cNvPr id="0" name=""/>
        <dsp:cNvSpPr/>
      </dsp:nvSpPr>
      <dsp:spPr>
        <a:xfrm>
          <a:off x="2184989" y="0"/>
          <a:ext cx="2424738" cy="735107"/>
        </a:xfrm>
        <a:prstGeom prst="chevron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Requirement Analysis</a:t>
          </a:r>
        </a:p>
      </dsp:txBody>
      <dsp:txXfrm>
        <a:off x="2552543" y="0"/>
        <a:ext cx="1689631" cy="735107"/>
      </dsp:txXfrm>
    </dsp:sp>
    <dsp:sp modelId="{47EE607B-4AC4-441B-85E3-759E706D57EB}">
      <dsp:nvSpPr>
        <dsp:cNvPr id="0" name=""/>
        <dsp:cNvSpPr/>
      </dsp:nvSpPr>
      <dsp:spPr>
        <a:xfrm>
          <a:off x="4367253" y="0"/>
          <a:ext cx="2424738" cy="735107"/>
        </a:xfrm>
        <a:prstGeom prst="chevron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Implementation</a:t>
          </a:r>
        </a:p>
      </dsp:txBody>
      <dsp:txXfrm>
        <a:off x="4734807" y="0"/>
        <a:ext cx="1689631" cy="735107"/>
      </dsp:txXfrm>
    </dsp:sp>
    <dsp:sp modelId="{5694D989-43A3-441E-86E2-03053F09ECB7}">
      <dsp:nvSpPr>
        <dsp:cNvPr id="0" name=""/>
        <dsp:cNvSpPr/>
      </dsp:nvSpPr>
      <dsp:spPr>
        <a:xfrm>
          <a:off x="6549518" y="0"/>
          <a:ext cx="2424738" cy="735107"/>
        </a:xfrm>
        <a:prstGeom prst="chevron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Testing</a:t>
          </a:r>
        </a:p>
      </dsp:txBody>
      <dsp:txXfrm>
        <a:off x="6917072" y="0"/>
        <a:ext cx="1689631" cy="735107"/>
      </dsp:txXfrm>
    </dsp:sp>
    <dsp:sp modelId="{0C972678-1C97-4D81-BF09-FB479F58C24B}">
      <dsp:nvSpPr>
        <dsp:cNvPr id="0" name=""/>
        <dsp:cNvSpPr/>
      </dsp:nvSpPr>
      <dsp:spPr>
        <a:xfrm>
          <a:off x="8731783" y="0"/>
          <a:ext cx="2424738" cy="735107"/>
        </a:xfrm>
        <a:prstGeom prst="chevron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UAT</a:t>
          </a:r>
        </a:p>
      </dsp:txBody>
      <dsp:txXfrm>
        <a:off x="9099337" y="0"/>
        <a:ext cx="1689631" cy="7351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17737E-06B9-34FF-AFB6-51A3D5D72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96B3D3-3A42-FEDE-4CA7-DC81DA13B3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A8FA3-4C74-4ACB-8A61-73A40C30BC9F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4E329-A0A9-A6BA-B19B-87ACD47873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E9655-EF6D-9904-B3F0-2B272E9785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0F9EB-86D5-4B94-B212-897C25C126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95238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F63B5-8844-448D-86DF-C19F49BC4E24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0C13F-B462-4EA8-BE23-58604C700F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80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A4459-5F8E-E449-AAA9-088E136B65EE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16275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C13F-B462-4EA8-BE23-58604C700F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360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C13F-B462-4EA8-BE23-58604C700F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826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1. Thông tin </a:t>
            </a:r>
            <a:r>
              <a:rPr lang="en-US" err="1">
                <a:latin typeface="Calibri"/>
                <a:ea typeface="Calibri"/>
                <a:cs typeface="Calibri"/>
              </a:rPr>
              <a:t>giờ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làm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việc</a:t>
            </a:r>
            <a:r>
              <a:rPr lang="en-US">
                <a:latin typeface="Calibri"/>
                <a:ea typeface="Calibri"/>
                <a:cs typeface="Calibri"/>
              </a:rPr>
              <a:t> ở Việt Nam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C13F-B462-4EA8-BE23-58604C700F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183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86833-266B-6B93-FF1E-0F50D01A2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C4A181-7900-E93E-F765-198667B9D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D14BDD-B3DA-E057-ADE0-FBB19F50A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3E32A0-7B8D-A62E-BF92-738E7AD1F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C13F-B462-4EA8-BE23-58604C700F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381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C13F-B462-4EA8-BE23-58604C700F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727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C13F-B462-4EA8-BE23-58604C700F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449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50C13F-B462-4EA8-BE23-58604C700FF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923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C13F-B462-4EA8-BE23-58604C700FF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48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C13F-B462-4EA8-BE23-58604C700FF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347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50C13F-B462-4EA8-BE23-58604C700FF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236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C13F-B462-4EA8-BE23-58604C700FF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368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F6B03-CE82-DF8C-EDE5-29AEE7081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A781C-12CB-1B96-4E54-1469E2603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596ED-3E62-D4F3-51A3-505089D6A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C44B-73E0-3979-6185-B2A2CDD71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A4459-5F8E-E449-AAA9-088E136B65EE}" type="slidenum">
              <a:rPr lang="en-VN" smtClean="0"/>
              <a:t>30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272539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w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microsoft.com/office/2007/relationships/hdphoto" Target="../media/hdphoto1.wdp"/><Relationship Id="rId5" Type="http://schemas.openxmlformats.org/officeDocument/2006/relationships/image" Target="../media/image8.png"/><Relationship Id="rId6" Type="http://schemas.microsoft.com/office/2007/relationships/hdphoto" Target="../media/hdphoto2.wdp"/><Relationship Id="rId7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A379-9B0F-C39F-D412-EB72DBD69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2A03A-DC8E-3D8F-AB0F-5D2640BA9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4B284-E640-A108-A950-C1288AF2B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9CD06-5A47-431C-8564-FCE7F4A7D49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F1FA6-8756-CB32-BD01-4AAB06787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5B771-79C1-6589-769C-221CB283E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4F40A-DD7A-40B4-B50C-BFA18F664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175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3">
            <a:extLst>
              <a:ext uri="{FF2B5EF4-FFF2-40B4-BE49-F238E27FC236}">
                <a16:creationId xmlns:a16="http://schemas.microsoft.com/office/drawing/2014/main" id="{C92C3654-3D98-AF68-F62C-F1D0D530E7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그림 7" descr="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D3304532-94EB-8D1E-A7DB-608DB339D0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063" y="5814409"/>
            <a:ext cx="2477321" cy="848428"/>
          </a:xfrm>
          <a:prstGeom prst="rect">
            <a:avLst/>
          </a:prstGeom>
        </p:spPr>
      </p:pic>
      <p:grpSp>
        <p:nvGrpSpPr>
          <p:cNvPr id="9" name="그룹 4">
            <a:extLst>
              <a:ext uri="{FF2B5EF4-FFF2-40B4-BE49-F238E27FC236}">
                <a16:creationId xmlns:a16="http://schemas.microsoft.com/office/drawing/2014/main" id="{F9CA9580-1E13-0453-9278-8CF970B059D6}"/>
              </a:ext>
            </a:extLst>
          </p:cNvPr>
          <p:cNvGrpSpPr/>
          <p:nvPr userDrawn="1"/>
        </p:nvGrpSpPr>
        <p:grpSpPr>
          <a:xfrm>
            <a:off x="-592004" y="3946837"/>
            <a:ext cx="9756646" cy="1172944"/>
            <a:chOff x="330710" y="2869612"/>
            <a:chExt cx="9756646" cy="1172944"/>
          </a:xfrm>
        </p:grpSpPr>
        <p:sp>
          <p:nvSpPr>
            <p:cNvPr id="10" name="제목 1">
              <a:extLst>
                <a:ext uri="{FF2B5EF4-FFF2-40B4-BE49-F238E27FC236}">
                  <a16:creationId xmlns:a16="http://schemas.microsoft.com/office/drawing/2014/main" id="{45B73B6E-87F3-ADAE-5EBC-DACFBC6C246A}"/>
                </a:ext>
              </a:extLst>
            </p:cNvPr>
            <p:cNvSpPr txBox="1">
              <a:spLocks/>
            </p:cNvSpPr>
            <p:nvPr/>
          </p:nvSpPr>
          <p:spPr>
            <a:xfrm>
              <a:off x="330710" y="2869612"/>
              <a:ext cx="9756646" cy="1141927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rmAutofit fontScale="92500" lnSpcReduction="10000"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200000"/>
                </a:lnSpc>
              </a:pPr>
              <a:endParaRPr lang="en-US" altLang="ko-KR" sz="4000" b="1">
                <a:solidFill>
                  <a:schemeClr val="bg1"/>
                </a:solidFill>
                <a:latin typeface="+mj-lt"/>
                <a:ea typeface="Noto Sans KR" panose="020B0500000000000000" pitchFamily="34" charset="-127"/>
              </a:endParaRPr>
            </a:p>
          </p:txBody>
        </p:sp>
        <p:cxnSp>
          <p:nvCxnSpPr>
            <p:cNvPr id="11" name="직선 연결선 6">
              <a:extLst>
                <a:ext uri="{FF2B5EF4-FFF2-40B4-BE49-F238E27FC236}">
                  <a16:creationId xmlns:a16="http://schemas.microsoft.com/office/drawing/2014/main" id="{48C544DF-27C1-C4D1-E62E-6CCBEE3A42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36651" y="4042556"/>
              <a:ext cx="4043505" cy="0"/>
            </a:xfrm>
            <a:prstGeom prst="line">
              <a:avLst/>
            </a:prstGeom>
            <a:ln w="69850" cmpd="dbl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4632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3">
            <a:extLst>
              <a:ext uri="{FF2B5EF4-FFF2-40B4-BE49-F238E27FC236}">
                <a16:creationId xmlns:a16="http://schemas.microsoft.com/office/drawing/2014/main" id="{FFF7ECA0-AF35-09AC-E990-1646C2A422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" y="0"/>
            <a:ext cx="12192144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FD6D6-B015-C6B2-75DE-FAEEF546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4F40A-DD7A-40B4-B50C-BFA18F664D2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 descr="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4F231736-B58B-C781-D2DD-5976493472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55" y="552994"/>
            <a:ext cx="2477321" cy="848428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42B1153-FA4A-63E2-42E7-BEFC2C377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55" y="3087960"/>
            <a:ext cx="9812928" cy="2467852"/>
          </a:xfrm>
        </p:spPr>
        <p:txBody>
          <a:bodyPr>
            <a:normAutofit/>
          </a:bodyPr>
          <a:lstStyle>
            <a:lvl1pPr>
              <a:defRPr sz="53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5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4">
            <a:extLst>
              <a:ext uri="{FF2B5EF4-FFF2-40B4-BE49-F238E27FC236}">
                <a16:creationId xmlns:a16="http://schemas.microsoft.com/office/drawing/2014/main" id="{FA1514FE-3717-0F21-B380-52B78DF2D1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직사각형 8">
            <a:extLst>
              <a:ext uri="{FF2B5EF4-FFF2-40B4-BE49-F238E27FC236}">
                <a16:creationId xmlns:a16="http://schemas.microsoft.com/office/drawing/2014/main" id="{26F0C5C7-0EC3-6FF8-733E-80165BA40E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62"/>
              <a:t>v</a:t>
            </a:r>
            <a:endParaRPr lang="ko-KR" altLang="en-US" sz="1462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3FD9A42E-CB84-098A-DAD8-8F203786FCE2}"/>
              </a:ext>
            </a:extLst>
          </p:cNvPr>
          <p:cNvSpPr txBox="1">
            <a:spLocks/>
          </p:cNvSpPr>
          <p:nvPr userDrawn="1"/>
        </p:nvSpPr>
        <p:spPr>
          <a:xfrm>
            <a:off x="381836" y="441181"/>
            <a:ext cx="10133763" cy="520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3000" b="1"/>
          </a:p>
        </p:txBody>
      </p:sp>
      <p:grpSp>
        <p:nvGrpSpPr>
          <p:cNvPr id="4" name="그룹 26">
            <a:extLst>
              <a:ext uri="{FF2B5EF4-FFF2-40B4-BE49-F238E27FC236}">
                <a16:creationId xmlns:a16="http://schemas.microsoft.com/office/drawing/2014/main" id="{362F33A2-40BC-9DB1-75B7-AF8CD9A572FC}"/>
              </a:ext>
            </a:extLst>
          </p:cNvPr>
          <p:cNvGrpSpPr/>
          <p:nvPr userDrawn="1"/>
        </p:nvGrpSpPr>
        <p:grpSpPr>
          <a:xfrm>
            <a:off x="381836" y="916981"/>
            <a:ext cx="7930086" cy="61485"/>
            <a:chOff x="428263" y="1160463"/>
            <a:chExt cx="9345783" cy="0"/>
          </a:xfrm>
        </p:grpSpPr>
        <p:cxnSp>
          <p:nvCxnSpPr>
            <p:cNvPr id="5" name="직선 연결선 27">
              <a:extLst>
                <a:ext uri="{FF2B5EF4-FFF2-40B4-BE49-F238E27FC236}">
                  <a16:creationId xmlns:a16="http://schemas.microsoft.com/office/drawing/2014/main" id="{C3DB5A04-8E2D-1669-542C-61C88E65E45B}"/>
                </a:ext>
              </a:extLst>
            </p:cNvPr>
            <p:cNvCxnSpPr/>
            <p:nvPr/>
          </p:nvCxnSpPr>
          <p:spPr>
            <a:xfrm>
              <a:off x="428263" y="1160463"/>
              <a:ext cx="6346351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28">
              <a:extLst>
                <a:ext uri="{FF2B5EF4-FFF2-40B4-BE49-F238E27FC236}">
                  <a16:creationId xmlns:a16="http://schemas.microsoft.com/office/drawing/2014/main" id="{FED595A1-0BD2-F5E0-1F50-B367A0FD9E42}"/>
                </a:ext>
              </a:extLst>
            </p:cNvPr>
            <p:cNvCxnSpPr/>
            <p:nvPr/>
          </p:nvCxnSpPr>
          <p:spPr>
            <a:xfrm>
              <a:off x="3427695" y="1160463"/>
              <a:ext cx="6346351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A1CB0039-2E9D-2070-A2C8-32747D02B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054" y="256636"/>
            <a:ext cx="8084798" cy="800484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D45600E-79B3-3481-392B-C7467816ED18}"/>
              </a:ext>
            </a:extLst>
          </p:cNvPr>
          <p:cNvSpPr txBox="1">
            <a:spLocks/>
          </p:cNvSpPr>
          <p:nvPr userDrawn="1"/>
        </p:nvSpPr>
        <p:spPr>
          <a:xfrm>
            <a:off x="402054" y="396776"/>
            <a:ext cx="10133763" cy="520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3000" b="1"/>
          </a:p>
        </p:txBody>
      </p:sp>
    </p:spTree>
    <p:extLst>
      <p:ext uri="{BB962C8B-B14F-4D97-AF65-F5344CB8AC3E}">
        <p14:creationId xmlns:p14="http://schemas.microsoft.com/office/powerpoint/2010/main" val="2711114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4">
            <a:extLst>
              <a:ext uri="{FF2B5EF4-FFF2-40B4-BE49-F238E27FC236}">
                <a16:creationId xmlns:a16="http://schemas.microsoft.com/office/drawing/2014/main" id="{FA1514FE-3717-0F21-B380-52B78DF2D1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직사각형 8">
            <a:extLst>
              <a:ext uri="{FF2B5EF4-FFF2-40B4-BE49-F238E27FC236}">
                <a16:creationId xmlns:a16="http://schemas.microsoft.com/office/drawing/2014/main" id="{26F0C5C7-0EC3-6FF8-733E-80165BA40E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62"/>
              <a:t>v</a:t>
            </a:r>
            <a:endParaRPr lang="ko-KR" altLang="en-US" sz="1462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3FD9A42E-CB84-098A-DAD8-8F203786FCE2}"/>
              </a:ext>
            </a:extLst>
          </p:cNvPr>
          <p:cNvSpPr txBox="1">
            <a:spLocks/>
          </p:cNvSpPr>
          <p:nvPr userDrawn="1"/>
        </p:nvSpPr>
        <p:spPr>
          <a:xfrm>
            <a:off x="381836" y="441181"/>
            <a:ext cx="10133763" cy="520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3000" b="1"/>
          </a:p>
        </p:txBody>
      </p:sp>
      <p:grpSp>
        <p:nvGrpSpPr>
          <p:cNvPr id="4" name="그룹 26">
            <a:extLst>
              <a:ext uri="{FF2B5EF4-FFF2-40B4-BE49-F238E27FC236}">
                <a16:creationId xmlns:a16="http://schemas.microsoft.com/office/drawing/2014/main" id="{362F33A2-40BC-9DB1-75B7-AF8CD9A572FC}"/>
              </a:ext>
            </a:extLst>
          </p:cNvPr>
          <p:cNvGrpSpPr/>
          <p:nvPr userDrawn="1"/>
        </p:nvGrpSpPr>
        <p:grpSpPr>
          <a:xfrm>
            <a:off x="381836" y="916981"/>
            <a:ext cx="7930086" cy="61485"/>
            <a:chOff x="428263" y="1160463"/>
            <a:chExt cx="9345783" cy="0"/>
          </a:xfrm>
        </p:grpSpPr>
        <p:cxnSp>
          <p:nvCxnSpPr>
            <p:cNvPr id="5" name="직선 연결선 27">
              <a:extLst>
                <a:ext uri="{FF2B5EF4-FFF2-40B4-BE49-F238E27FC236}">
                  <a16:creationId xmlns:a16="http://schemas.microsoft.com/office/drawing/2014/main" id="{C3DB5A04-8E2D-1669-542C-61C88E65E45B}"/>
                </a:ext>
              </a:extLst>
            </p:cNvPr>
            <p:cNvCxnSpPr/>
            <p:nvPr/>
          </p:nvCxnSpPr>
          <p:spPr>
            <a:xfrm>
              <a:off x="428263" y="1160463"/>
              <a:ext cx="6346351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28">
              <a:extLst>
                <a:ext uri="{FF2B5EF4-FFF2-40B4-BE49-F238E27FC236}">
                  <a16:creationId xmlns:a16="http://schemas.microsoft.com/office/drawing/2014/main" id="{FED595A1-0BD2-F5E0-1F50-B367A0FD9E42}"/>
                </a:ext>
              </a:extLst>
            </p:cNvPr>
            <p:cNvCxnSpPr/>
            <p:nvPr/>
          </p:nvCxnSpPr>
          <p:spPr>
            <a:xfrm>
              <a:off x="3427695" y="1160463"/>
              <a:ext cx="6346351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A1CB0039-2E9D-2070-A2C8-32747D02BB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054" y="256636"/>
            <a:ext cx="8084798" cy="800484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en-US" altLang="ko-KR"/>
              <a:t>Click to edit Master title </a:t>
            </a:r>
            <a:r>
              <a:rPr lang="en-US" altLang="ko-KR" err="1"/>
              <a:t>stylec</a:t>
            </a:r>
            <a:endParaRPr lang="ko-KR" altLang="en-US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D45600E-79B3-3481-392B-C7467816ED18}"/>
              </a:ext>
            </a:extLst>
          </p:cNvPr>
          <p:cNvSpPr txBox="1">
            <a:spLocks/>
          </p:cNvSpPr>
          <p:nvPr userDrawn="1"/>
        </p:nvSpPr>
        <p:spPr>
          <a:xfrm>
            <a:off x="402054" y="396776"/>
            <a:ext cx="10133763" cy="520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3000" b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04F6D5D-8088-77B1-BA21-C179093FDA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900" y="1273175"/>
            <a:ext cx="11283099" cy="5033963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942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21CC3D2-F369-422E-9798-E05CAAE77EE3}"/>
              </a:ext>
            </a:extLst>
          </p:cNvPr>
          <p:cNvGrpSpPr/>
          <p:nvPr userDrawn="1"/>
        </p:nvGrpSpPr>
        <p:grpSpPr>
          <a:xfrm>
            <a:off x="11262592" y="6539674"/>
            <a:ext cx="918920" cy="305385"/>
            <a:chOff x="10524883" y="6549067"/>
            <a:chExt cx="918920" cy="305385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59FC555F-2714-43E8-B0C9-6A8573A3D55A}"/>
                </a:ext>
              </a:extLst>
            </p:cNvPr>
            <p:cNvSpPr/>
            <p:nvPr userDrawn="1"/>
          </p:nvSpPr>
          <p:spPr>
            <a:xfrm>
              <a:off x="11139446" y="6549067"/>
              <a:ext cx="304357" cy="304357"/>
            </a:xfrm>
            <a:prstGeom prst="rect">
              <a:avLst/>
            </a:prstGeom>
            <a:solidFill>
              <a:srgbClr val="44546A"/>
            </a:solidFill>
            <a:ln w="6350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9EB170CE-140B-43EC-9B83-EF6C1C6BC03C}"/>
                </a:ext>
              </a:extLst>
            </p:cNvPr>
            <p:cNvSpPr/>
            <p:nvPr userDrawn="1"/>
          </p:nvSpPr>
          <p:spPr>
            <a:xfrm>
              <a:off x="10832986" y="6549067"/>
              <a:ext cx="304357" cy="30435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3C48211A-CFAD-4AB0-8353-43C157760992}"/>
                </a:ext>
              </a:extLst>
            </p:cNvPr>
            <p:cNvSpPr/>
            <p:nvPr userDrawn="1"/>
          </p:nvSpPr>
          <p:spPr>
            <a:xfrm>
              <a:off x="10524883" y="6550095"/>
              <a:ext cx="304357" cy="304357"/>
            </a:xfrm>
            <a:prstGeom prst="rect">
              <a:avLst/>
            </a:prstGeom>
            <a:solidFill>
              <a:srgbClr val="E5F2F4"/>
            </a:solidFill>
            <a:ln w="6350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300" name="Text Placeholder 514">
            <a:extLst>
              <a:ext uri="{FF2B5EF4-FFF2-40B4-BE49-F238E27FC236}">
                <a16:creationId xmlns:a16="http://schemas.microsoft.com/office/drawing/2014/main" id="{3CD3B241-1414-4D7C-9E18-D6A009671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3838" y="45033"/>
            <a:ext cx="10849965" cy="4801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buNone/>
              <a:defRPr lang="en-US" sz="2800" b="1" dirty="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228600" lvl="0" indent="-457200" defTabSz="457200">
              <a:spcBef>
                <a:spcPct val="0"/>
              </a:spcBef>
            </a:pPr>
            <a:r>
              <a:rPr lang="en-US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78EC2-810D-426C-84A0-A07CDB2785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000" y="677804"/>
            <a:ext cx="11520000" cy="5762322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140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140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140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140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69586" y="6569872"/>
            <a:ext cx="21643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© Copyright</a:t>
            </a:r>
            <a:r>
              <a:rPr lang="en-US" sz="1000" baseline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by FPT Software 2021</a:t>
            </a:r>
            <a:endParaRPr lang="en-US" sz="100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9F11DA2-1D91-43FD-A0A4-5112088FE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68000" y="6561305"/>
            <a:ext cx="3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1000" b="1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fld id="{34BBD95C-5847-41D4-A95D-7A604938DF3E}" type="slidenum">
              <a:rPr lang="en-US" altLang="ja-JP" smtClean="0"/>
              <a:pPr/>
              <a:t>‹#›</a:t>
            </a:fld>
            <a:endParaRPr lang="ja-JP" altLang="en-US"/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4D4F480C-CB3E-4BF2-912F-2CC6752B1ACB}"/>
              </a:ext>
            </a:extLst>
          </p:cNvPr>
          <p:cNvCxnSpPr>
            <a:cxnSpLocks/>
          </p:cNvCxnSpPr>
          <p:nvPr userDrawn="1"/>
        </p:nvCxnSpPr>
        <p:spPr>
          <a:xfrm>
            <a:off x="2497200" y="6521686"/>
            <a:ext cx="9694800" cy="0"/>
          </a:xfrm>
          <a:prstGeom prst="line">
            <a:avLst/>
          </a:prstGeom>
          <a:ln w="635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データ 11">
            <a:extLst>
              <a:ext uri="{FF2B5EF4-FFF2-40B4-BE49-F238E27FC236}">
                <a16:creationId xmlns:a16="http://schemas.microsoft.com/office/drawing/2014/main" id="{E8BB5C6B-370E-4DA3-B6D5-6DEF3FF40CB4}"/>
              </a:ext>
            </a:extLst>
          </p:cNvPr>
          <p:cNvSpPr/>
          <p:nvPr userDrawn="1"/>
        </p:nvSpPr>
        <p:spPr>
          <a:xfrm>
            <a:off x="2439004" y="6526561"/>
            <a:ext cx="304356" cy="331439"/>
          </a:xfrm>
          <a:prstGeom prst="flowChartInputOutput">
            <a:avLst/>
          </a:prstGeom>
          <a:solidFill>
            <a:srgbClr val="44546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6B533F84-40E2-4450-8766-39438F877A8C}"/>
              </a:ext>
            </a:extLst>
          </p:cNvPr>
          <p:cNvSpPr txBox="1"/>
          <p:nvPr userDrawn="1"/>
        </p:nvSpPr>
        <p:spPr>
          <a:xfrm>
            <a:off x="0" y="6569170"/>
            <a:ext cx="25282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FPT Digital Kaizen</a:t>
            </a:r>
            <a:r>
              <a:rPr lang="en-US" altLang="ja-JP" sz="1100" b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®</a:t>
            </a:r>
            <a:endParaRPr lang="en-US" sz="1100" b="0">
              <a:solidFill>
                <a:schemeClr val="tx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15" name="Straight Connector 509">
            <a:extLst>
              <a:ext uri="{FF2B5EF4-FFF2-40B4-BE49-F238E27FC236}">
                <a16:creationId xmlns:a16="http://schemas.microsoft.com/office/drawing/2014/main" id="{C2F96561-E202-4250-B31E-62B5EC15C915}"/>
              </a:ext>
            </a:extLst>
          </p:cNvPr>
          <p:cNvCxnSpPr>
            <a:cxnSpLocks/>
          </p:cNvCxnSpPr>
          <p:nvPr userDrawn="1"/>
        </p:nvCxnSpPr>
        <p:spPr>
          <a:xfrm>
            <a:off x="0" y="558943"/>
            <a:ext cx="12600000" cy="0"/>
          </a:xfrm>
          <a:prstGeom prst="line">
            <a:avLst/>
          </a:prstGeom>
          <a:ln w="12700">
            <a:gradFill flip="none" rotWithShape="1">
              <a:gsLst>
                <a:gs pos="0">
                  <a:srgbClr val="44546A"/>
                </a:gs>
                <a:gs pos="97000">
                  <a:srgbClr val="4F127F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2B29677-368A-4BFD-9717-8F86B946DD6C}"/>
              </a:ext>
            </a:extLst>
          </p:cNvPr>
          <p:cNvGrpSpPr/>
          <p:nvPr userDrawn="1"/>
        </p:nvGrpSpPr>
        <p:grpSpPr>
          <a:xfrm>
            <a:off x="24115" y="25973"/>
            <a:ext cx="511388" cy="511405"/>
            <a:chOff x="9576392" y="1792058"/>
            <a:chExt cx="864000" cy="864029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CE648F6-0191-4B9C-8703-07E03236943D}"/>
                </a:ext>
              </a:extLst>
            </p:cNvPr>
            <p:cNvSpPr/>
            <p:nvPr/>
          </p:nvSpPr>
          <p:spPr>
            <a:xfrm>
              <a:off x="9792392" y="2224087"/>
              <a:ext cx="216000" cy="216000"/>
            </a:xfrm>
            <a:prstGeom prst="rect">
              <a:avLst/>
            </a:prstGeom>
            <a:solidFill>
              <a:srgbClr val="EBEBFF"/>
            </a:solidFill>
            <a:ln w="6350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1E333031-8C58-4B2E-B0B9-D0D93C941DB3}"/>
                </a:ext>
              </a:extLst>
            </p:cNvPr>
            <p:cNvSpPr/>
            <p:nvPr/>
          </p:nvSpPr>
          <p:spPr>
            <a:xfrm>
              <a:off x="9792392" y="2440087"/>
              <a:ext cx="216000" cy="216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49F16C53-869D-4AE5-A06A-E054714FECF6}"/>
                </a:ext>
              </a:extLst>
            </p:cNvPr>
            <p:cNvSpPr/>
            <p:nvPr/>
          </p:nvSpPr>
          <p:spPr>
            <a:xfrm>
              <a:off x="10008392" y="2224087"/>
              <a:ext cx="216000" cy="216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93830537-635F-46DC-9940-DB39D3AE6702}"/>
                </a:ext>
              </a:extLst>
            </p:cNvPr>
            <p:cNvSpPr/>
            <p:nvPr/>
          </p:nvSpPr>
          <p:spPr>
            <a:xfrm>
              <a:off x="10008392" y="2008087"/>
              <a:ext cx="216000" cy="216000"/>
            </a:xfrm>
            <a:prstGeom prst="rect">
              <a:avLst/>
            </a:prstGeom>
            <a:solidFill>
              <a:srgbClr val="EBEBFF"/>
            </a:solidFill>
            <a:ln w="6350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24803BAF-3443-47D6-AA8C-FDE896B68F6E}"/>
                </a:ext>
              </a:extLst>
            </p:cNvPr>
            <p:cNvSpPr/>
            <p:nvPr/>
          </p:nvSpPr>
          <p:spPr>
            <a:xfrm>
              <a:off x="10224392" y="2008087"/>
              <a:ext cx="216000" cy="216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699B8651-40A0-4B51-B7C7-D773B0750409}"/>
                </a:ext>
              </a:extLst>
            </p:cNvPr>
            <p:cNvSpPr/>
            <p:nvPr/>
          </p:nvSpPr>
          <p:spPr>
            <a:xfrm>
              <a:off x="10224392" y="1792058"/>
              <a:ext cx="216000" cy="216000"/>
            </a:xfrm>
            <a:prstGeom prst="rect">
              <a:avLst/>
            </a:prstGeom>
            <a:solidFill>
              <a:srgbClr val="44546A"/>
            </a:solidFill>
            <a:ln w="6350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A1F149A0-A94E-48B6-879E-77E9B60A5AA7}"/>
                </a:ext>
              </a:extLst>
            </p:cNvPr>
            <p:cNvSpPr/>
            <p:nvPr/>
          </p:nvSpPr>
          <p:spPr>
            <a:xfrm>
              <a:off x="9576392" y="2008087"/>
              <a:ext cx="216000" cy="216000"/>
            </a:xfrm>
            <a:prstGeom prst="rect">
              <a:avLst/>
            </a:prstGeom>
            <a:solidFill>
              <a:srgbClr val="44546A"/>
            </a:solidFill>
            <a:ln w="6350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pic>
        <p:nvPicPr>
          <p:cNvPr id="27" name="Picture 5" descr="Logo FPT.wmf">
            <a:extLst>
              <a:ext uri="{FF2B5EF4-FFF2-40B4-BE49-F238E27FC236}">
                <a16:creationId xmlns:a16="http://schemas.microsoft.com/office/drawing/2014/main" id="{13C94611-5F4A-4A71-B1B6-40D7DF8104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11393315" y="90857"/>
            <a:ext cx="649595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06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FC36B98-5742-D944-89CC-3FB7BF4D6FEE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98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317CF5-DFD0-15FC-5206-C05262D7D3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330028" y="0"/>
            <a:ext cx="5861972" cy="685799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1CB3EF2-0D8E-8AA0-20CC-4BFB26A86D9D}"/>
              </a:ext>
            </a:extLst>
          </p:cNvPr>
          <p:cNvGrpSpPr/>
          <p:nvPr userDrawn="1"/>
        </p:nvGrpSpPr>
        <p:grpSpPr>
          <a:xfrm>
            <a:off x="623888" y="368300"/>
            <a:ext cx="2899074" cy="526119"/>
            <a:chOff x="623888" y="368300"/>
            <a:chExt cx="2899074" cy="52611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55B5B61-4F2D-3FCB-0481-F10EF8A9C8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rcRect l="-763" r="47295"/>
            <a:stretch/>
          </p:blipFill>
          <p:spPr>
            <a:xfrm>
              <a:off x="2784268" y="454831"/>
              <a:ext cx="738694" cy="439588"/>
            </a:xfrm>
            <a:prstGeom prst="rect">
              <a:avLst/>
            </a:prstGeom>
          </p:spPr>
        </p:pic>
      </p:grp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1D157F3-068E-6A98-CD94-CFE2B66F7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34411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BR Omega" pitchFamily="2" charset="77"/>
              </a:defRPr>
            </a:lvl1pPr>
          </a:lstStyle>
          <a:p>
            <a:fld id="{3C59A7F2-685D-1942-821F-D759A34464DF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5139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orange logo&#10;&#10;AI-generated content may be incorrect.">
            <a:extLst>
              <a:ext uri="{FF2B5EF4-FFF2-40B4-BE49-F238E27FC236}">
                <a16:creationId xmlns:a16="http://schemas.microsoft.com/office/drawing/2014/main" id="{0A3564BE-49CC-9F17-D1D2-6A14AFD840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0950" y="0"/>
            <a:ext cx="5861050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0129ABD-3A8B-C137-E30D-EA2DFA2ED2AA}"/>
              </a:ext>
            </a:extLst>
          </p:cNvPr>
          <p:cNvGrpSpPr/>
          <p:nvPr userDrawn="1"/>
        </p:nvGrpSpPr>
        <p:grpSpPr>
          <a:xfrm>
            <a:off x="623888" y="368300"/>
            <a:ext cx="2899074" cy="621975"/>
            <a:chOff x="623888" y="368300"/>
            <a:chExt cx="2899074" cy="621975"/>
          </a:xfrm>
        </p:grpSpPr>
        <p:pic>
          <p:nvPicPr>
            <p:cNvPr id="14" name="Picture 13" descr="A logo of a company&#10;&#10;AI-generated content may be incorrect.">
              <a:extLst>
                <a:ext uri="{FF2B5EF4-FFF2-40B4-BE49-F238E27FC236}">
                  <a16:creationId xmlns:a16="http://schemas.microsoft.com/office/drawing/2014/main" id="{9EBF3C42-AE66-6826-E1D7-8D8DBD1736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r="47475"/>
            <a:stretch/>
          </p:blipFill>
          <p:spPr>
            <a:xfrm>
              <a:off x="2719626" y="368300"/>
              <a:ext cx="803336" cy="621975"/>
            </a:xfrm>
            <a:prstGeom prst="rect">
              <a:avLst/>
            </a:prstGeom>
          </p:spPr>
        </p:pic>
      </p:grp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9EA369-33DE-929E-3436-22510A7C8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34411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BR Omega" pitchFamily="2" charset="77"/>
              </a:defRPr>
            </a:lvl1pPr>
          </a:lstStyle>
          <a:p>
            <a:fld id="{3C59A7F2-685D-1942-821F-D759A34464DF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10203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3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4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직사각형 8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6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v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itle 3"/>
          <p:cNvSpPr/>
          <p:nvPr/>
        </p:nvSpPr>
        <p:spPr>
          <a:xfrm>
            <a:off x="381960" y="441360"/>
            <a:ext cx="10132920" cy="51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90000"/>
              </a:lnSpc>
            </a:pPr>
            <a:endParaRPr lang="en-US" sz="3000" b="1" u="none" strike="noStrike">
              <a:solidFill>
                <a:schemeClr val="dk1"/>
              </a:solidFill>
              <a:effectLst/>
              <a:uFillTx/>
              <a:latin typeface="맑은 고딕"/>
            </a:endParaRPr>
          </a:p>
        </p:txBody>
      </p:sp>
      <p:grpSp>
        <p:nvGrpSpPr>
          <p:cNvPr id="21" name="그룹 26"/>
          <p:cNvGrpSpPr/>
          <p:nvPr/>
        </p:nvGrpSpPr>
        <p:grpSpPr>
          <a:xfrm>
            <a:off x="381600" y="916920"/>
            <a:ext cx="7930440" cy="360"/>
            <a:chOff x="381600" y="916920"/>
            <a:chExt cx="7930440" cy="360"/>
          </a:xfrm>
        </p:grpSpPr>
        <p:cxnSp>
          <p:nvCxnSpPr>
            <p:cNvPr id="22" name="직선 연결선 27"/>
            <p:cNvCxnSpPr/>
            <p:nvPr/>
          </p:nvCxnSpPr>
          <p:spPr>
            <a:xfrm>
              <a:off x="381600" y="916920"/>
              <a:ext cx="538596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</a:ln>
          </p:spPr>
        </p:cxnSp>
        <p:cxnSp>
          <p:nvCxnSpPr>
            <p:cNvPr id="23" name="직선 연결선 28"/>
            <p:cNvCxnSpPr/>
            <p:nvPr/>
          </p:nvCxnSpPr>
          <p:spPr>
            <a:xfrm>
              <a:off x="2926800" y="916920"/>
              <a:ext cx="5385600" cy="720"/>
            </a:xfrm>
            <a:prstGeom prst="straightConnector1">
              <a:avLst/>
            </a:prstGeom>
            <a:ln w="28575">
              <a:solidFill>
                <a:srgbClr val="FFC000"/>
              </a:solidFill>
              <a:round/>
            </a:ln>
          </p:spPr>
        </p:cxn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02120" y="256680"/>
            <a:ext cx="808416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Click to edit Master title style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itle 3"/>
          <p:cNvSpPr/>
          <p:nvPr/>
        </p:nvSpPr>
        <p:spPr>
          <a:xfrm>
            <a:off x="402120" y="396720"/>
            <a:ext cx="10132920" cy="51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90000"/>
              </a:lnSpc>
            </a:pPr>
            <a:endParaRPr lang="en-US" sz="3000" b="1" u="none" strike="noStrike">
              <a:solidFill>
                <a:schemeClr val="dk1"/>
              </a:solidFill>
              <a:effectLst/>
              <a:uFillTx/>
              <a:latin typeface="맑은 고딕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7399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E0B4486-1AFE-8F0B-FE27-F4D008F6E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34411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BR Omega" pitchFamily="2" charset="77"/>
              </a:defRPr>
            </a:lvl1pPr>
          </a:lstStyle>
          <a:p>
            <a:fld id="{3C59A7F2-685D-1942-821F-D759A34464DF}" type="slidenum">
              <a:rPr lang="en-VN" smtClean="0"/>
              <a:pPr/>
              <a:t>‹#›</a:t>
            </a:fld>
            <a:endParaRPr lang="en-V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0129ABD-3A8B-C137-E30D-EA2DFA2ED2AA}"/>
              </a:ext>
            </a:extLst>
          </p:cNvPr>
          <p:cNvGrpSpPr/>
          <p:nvPr userDrawn="1"/>
        </p:nvGrpSpPr>
        <p:grpSpPr>
          <a:xfrm>
            <a:off x="9005468" y="118132"/>
            <a:ext cx="2899074" cy="621975"/>
            <a:chOff x="623888" y="368300"/>
            <a:chExt cx="2899074" cy="621975"/>
          </a:xfrm>
        </p:grpSpPr>
        <p:pic>
          <p:nvPicPr>
            <p:cNvPr id="14" name="Picture 13" descr="A logo of a company&#10;&#10;AI-generated content may be incorrect.">
              <a:extLst>
                <a:ext uri="{FF2B5EF4-FFF2-40B4-BE49-F238E27FC236}">
                  <a16:creationId xmlns:a16="http://schemas.microsoft.com/office/drawing/2014/main" id="{9EBF3C42-AE66-6826-E1D7-8D8DBD1736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r="47475"/>
            <a:stretch/>
          </p:blipFill>
          <p:spPr>
            <a:xfrm>
              <a:off x="2719626" y="368300"/>
              <a:ext cx="803336" cy="621975"/>
            </a:xfrm>
            <a:prstGeom prst="rect">
              <a:avLst/>
            </a:prstGeom>
          </p:spPr>
        </p:pic>
      </p:grpSp>
      <p:grpSp>
        <p:nvGrpSpPr>
          <p:cNvPr id="2" name="그룹 26">
            <a:extLst>
              <a:ext uri="{FF2B5EF4-FFF2-40B4-BE49-F238E27FC236}">
                <a16:creationId xmlns:a16="http://schemas.microsoft.com/office/drawing/2014/main" id="{EC957BF2-0A17-8F5D-866C-4590BBCD8D4A}"/>
              </a:ext>
            </a:extLst>
          </p:cNvPr>
          <p:cNvGrpSpPr/>
          <p:nvPr userDrawn="1"/>
        </p:nvGrpSpPr>
        <p:grpSpPr>
          <a:xfrm>
            <a:off x="355957" y="611662"/>
            <a:ext cx="7930086" cy="61485"/>
            <a:chOff x="428263" y="1160463"/>
            <a:chExt cx="9345783" cy="0"/>
          </a:xfrm>
        </p:grpSpPr>
        <p:cxnSp>
          <p:nvCxnSpPr>
            <p:cNvPr id="3" name="직선 연결선 27">
              <a:extLst>
                <a:ext uri="{FF2B5EF4-FFF2-40B4-BE49-F238E27FC236}">
                  <a16:creationId xmlns:a16="http://schemas.microsoft.com/office/drawing/2014/main" id="{A60512A2-C3D4-3D27-2FDB-64A4254730CB}"/>
                </a:ext>
              </a:extLst>
            </p:cNvPr>
            <p:cNvCxnSpPr/>
            <p:nvPr/>
          </p:nvCxnSpPr>
          <p:spPr>
            <a:xfrm>
              <a:off x="428263" y="1160463"/>
              <a:ext cx="6346351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 28">
              <a:extLst>
                <a:ext uri="{FF2B5EF4-FFF2-40B4-BE49-F238E27FC236}">
                  <a16:creationId xmlns:a16="http://schemas.microsoft.com/office/drawing/2014/main" id="{97372732-E498-A6CD-4754-C4FE6A2E3339}"/>
                </a:ext>
              </a:extLst>
            </p:cNvPr>
            <p:cNvCxnSpPr/>
            <p:nvPr/>
          </p:nvCxnSpPr>
          <p:spPr>
            <a:xfrm>
              <a:off x="3427695" y="1160463"/>
              <a:ext cx="6346351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9369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3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pos="7287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B78EE3-A948-412C-541A-CC911D80F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A6C2C-7C50-7DA7-EFC2-9488DE34C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55559-8996-86C3-0CAC-901FBBE09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D9CD06-5A47-431C-8564-FCE7F4A7D49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BEA75-E367-075A-A06B-195483FDF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DC6C4-77C3-9756-74B7-8E38F4B95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B4F40A-DD7A-40B4-B50C-BFA18F664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77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62" r:id="rId3"/>
    <p:sldLayoutId id="2147483660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hyperlink" Target="mailto:LongLT2@fpt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6FA16-AC1E-0526-DF1F-34991584A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1303" y="6356350"/>
            <a:ext cx="2743200" cy="365125"/>
          </a:xfrm>
        </p:spPr>
        <p:txBody>
          <a:bodyPr/>
          <a:lstStyle/>
          <a:p>
            <a:fld id="{3C59A7F2-685D-1942-821F-D759A34464DF}" type="slidenum">
              <a:rPr lang="en-VN" smtClean="0"/>
              <a:pPr/>
              <a:t>1</a:t>
            </a:fld>
            <a:endParaRPr lang="en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598C4-63A3-0B82-7720-0C9CA05F5459}"/>
              </a:ext>
            </a:extLst>
          </p:cNvPr>
          <p:cNvSpPr txBox="1"/>
          <p:nvPr/>
        </p:nvSpPr>
        <p:spPr>
          <a:xfrm>
            <a:off x="529390" y="3423102"/>
            <a:ext cx="7402824" cy="21018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R Omega"/>
              </a:rPr>
              <a:t>&lt;PROJECT NAME&gt;</a:t>
            </a:r>
            <a:endParaRPr lang="en-US" sz="6000" b="1" dirty="0">
              <a:solidFill>
                <a:schemeClr val="tx1">
                  <a:lumMod val="85000"/>
                  <a:lumOff val="15000"/>
                </a:schemeClr>
              </a:solidFill>
              <a:latin typeface="BR Omega" pitchFamily="2" charset="77"/>
            </a:endParaRPr>
          </a:p>
          <a:p>
            <a:pPr>
              <a:spcAft>
                <a:spcPts val="1200"/>
              </a:spcAft>
            </a:pPr>
            <a:r>
              <a:rPr lang="en-V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R Omega"/>
              </a:rPr>
              <a:t>Kick-Off Meeting</a:t>
            </a:r>
            <a:endParaRPr lang="en-US" sz="6000" b="1" dirty="0">
              <a:solidFill>
                <a:schemeClr val="tx1">
                  <a:lumMod val="85000"/>
                  <a:lumOff val="15000"/>
                </a:schemeClr>
              </a:solidFill>
              <a:latin typeface="BR Omega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AA4C31-3183-F400-6500-7902E1B585E4}"/>
              </a:ext>
            </a:extLst>
          </p:cNvPr>
          <p:cNvSpPr txBox="1"/>
          <p:nvPr/>
        </p:nvSpPr>
        <p:spPr>
          <a:xfrm>
            <a:off x="623888" y="5525326"/>
            <a:ext cx="2694064" cy="417587"/>
          </a:xfrm>
          <a:prstGeom prst="roundRect">
            <a:avLst>
              <a:gd name="adj" fmla="val 16667"/>
            </a:avLst>
          </a:prstGeom>
          <a:solidFill>
            <a:srgbClr val="0969AF"/>
          </a:solidFill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VN" dirty="0">
                <a:solidFill>
                  <a:schemeClr val="bg1"/>
                </a:solidFill>
              </a:rPr>
              <a:t>(Location), yyyy/mm/dd</a:t>
            </a:r>
          </a:p>
        </p:txBody>
      </p:sp>
    </p:spTree>
    <p:extLst>
      <p:ext uri="{BB962C8B-B14F-4D97-AF65-F5344CB8AC3E}">
        <p14:creationId xmlns:p14="http://schemas.microsoft.com/office/powerpoint/2010/main" val="3819372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FB7B391-5CB4-8E8D-D256-2F39F0D94386}"/>
              </a:ext>
            </a:extLst>
          </p:cNvPr>
          <p:cNvSpPr/>
          <p:nvPr/>
        </p:nvSpPr>
        <p:spPr>
          <a:xfrm>
            <a:off x="713260" y="1183330"/>
            <a:ext cx="2031325" cy="254596"/>
          </a:xfrm>
          <a:prstGeom prst="roundRect">
            <a:avLst/>
          </a:prstGeom>
          <a:solidFill>
            <a:srgbClr val="FFEF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F3ABBA-0B84-D9EB-4E51-3E3EF0E0F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59A7F2-685D-1942-821F-D759A34464DF}" type="slidenum">
              <a:rPr lang="en-VN" smtClean="0"/>
              <a:pPr/>
              <a:t>2</a:t>
            </a:fld>
            <a:endParaRPr lang="en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A94F6D-7D39-60EF-FC2D-C6BC40992A4E}"/>
              </a:ext>
            </a:extLst>
          </p:cNvPr>
          <p:cNvSpPr txBox="1"/>
          <p:nvPr/>
        </p:nvSpPr>
        <p:spPr>
          <a:xfrm>
            <a:off x="749415" y="782124"/>
            <a:ext cx="20313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VN" sz="4000" b="1">
                <a:solidFill>
                  <a:schemeClr val="tx1">
                    <a:lumMod val="85000"/>
                    <a:lumOff val="15000"/>
                  </a:schemeClr>
                </a:solidFill>
                <a:latin typeface="BR Omega" pitchFamily="2" charset="77"/>
              </a:rPr>
              <a:t>Agenda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85E04C6-A0CD-1C76-0C58-534B44522CF0}"/>
              </a:ext>
            </a:extLst>
          </p:cNvPr>
          <p:cNvGrpSpPr/>
          <p:nvPr/>
        </p:nvGrpSpPr>
        <p:grpSpPr>
          <a:xfrm>
            <a:off x="713585" y="1688475"/>
            <a:ext cx="10971068" cy="3645148"/>
            <a:chOff x="588029" y="1392640"/>
            <a:chExt cx="10980084" cy="69352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420BEEF-E691-0403-732B-500A87ACA5B0}"/>
                </a:ext>
              </a:extLst>
            </p:cNvPr>
            <p:cNvCxnSpPr/>
            <p:nvPr/>
          </p:nvCxnSpPr>
          <p:spPr>
            <a:xfrm>
              <a:off x="623888" y="2249119"/>
              <a:ext cx="10944225" cy="0"/>
            </a:xfrm>
            <a:prstGeom prst="line">
              <a:avLst/>
            </a:prstGeom>
            <a:ln w="19050">
              <a:solidFill>
                <a:srgbClr val="EDED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FA2E296-01D8-2DB2-C8A8-F0BACC43335F}"/>
                </a:ext>
              </a:extLst>
            </p:cNvPr>
            <p:cNvCxnSpPr/>
            <p:nvPr/>
          </p:nvCxnSpPr>
          <p:spPr>
            <a:xfrm>
              <a:off x="623888" y="1392640"/>
              <a:ext cx="10944225" cy="0"/>
            </a:xfrm>
            <a:prstGeom prst="line">
              <a:avLst/>
            </a:prstGeom>
            <a:ln w="19050">
              <a:solidFill>
                <a:srgbClr val="EDED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353C0AC-5C3B-48BE-69A5-AE7213EE5F26}"/>
                </a:ext>
              </a:extLst>
            </p:cNvPr>
            <p:cNvCxnSpPr/>
            <p:nvPr/>
          </p:nvCxnSpPr>
          <p:spPr>
            <a:xfrm>
              <a:off x="623888" y="3105598"/>
              <a:ext cx="10944225" cy="0"/>
            </a:xfrm>
            <a:prstGeom prst="line">
              <a:avLst/>
            </a:prstGeom>
            <a:ln w="19050">
              <a:solidFill>
                <a:srgbClr val="EDED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D67D5B-C775-B42E-CD5D-93C4B87ADB84}"/>
                </a:ext>
              </a:extLst>
            </p:cNvPr>
            <p:cNvCxnSpPr/>
            <p:nvPr/>
          </p:nvCxnSpPr>
          <p:spPr>
            <a:xfrm>
              <a:off x="623888" y="3962078"/>
              <a:ext cx="10944225" cy="0"/>
            </a:xfrm>
            <a:prstGeom prst="line">
              <a:avLst/>
            </a:prstGeom>
            <a:ln w="19050">
              <a:solidFill>
                <a:srgbClr val="EDED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7C078DB-5CC4-463E-7024-B21A7C7209B2}"/>
                </a:ext>
              </a:extLst>
            </p:cNvPr>
            <p:cNvCxnSpPr/>
            <p:nvPr/>
          </p:nvCxnSpPr>
          <p:spPr>
            <a:xfrm>
              <a:off x="592892" y="4796405"/>
              <a:ext cx="10944225" cy="0"/>
            </a:xfrm>
            <a:prstGeom prst="line">
              <a:avLst/>
            </a:prstGeom>
            <a:ln w="19050">
              <a:solidFill>
                <a:srgbClr val="EDED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79260A0-0046-B764-B1A6-323D5AB8A2E0}"/>
                </a:ext>
              </a:extLst>
            </p:cNvPr>
            <p:cNvCxnSpPr>
              <a:cxnSpLocks/>
            </p:cNvCxnSpPr>
            <p:nvPr/>
          </p:nvCxnSpPr>
          <p:spPr>
            <a:xfrm>
              <a:off x="588029" y="7471410"/>
              <a:ext cx="10944225" cy="0"/>
            </a:xfrm>
            <a:prstGeom prst="line">
              <a:avLst/>
            </a:prstGeom>
            <a:ln w="19050">
              <a:solidFill>
                <a:srgbClr val="EDED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7C25AD3-48B8-D558-2C7C-B3C9AC8F943C}"/>
                </a:ext>
              </a:extLst>
            </p:cNvPr>
            <p:cNvCxnSpPr>
              <a:cxnSpLocks/>
            </p:cNvCxnSpPr>
            <p:nvPr/>
          </p:nvCxnSpPr>
          <p:spPr>
            <a:xfrm>
              <a:off x="588029" y="5758452"/>
              <a:ext cx="10944225" cy="0"/>
            </a:xfrm>
            <a:prstGeom prst="line">
              <a:avLst/>
            </a:prstGeom>
            <a:ln w="19050">
              <a:solidFill>
                <a:srgbClr val="EDED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9DFA17B-ECED-87D8-3085-2A606541D661}"/>
                </a:ext>
              </a:extLst>
            </p:cNvPr>
            <p:cNvCxnSpPr>
              <a:cxnSpLocks/>
            </p:cNvCxnSpPr>
            <p:nvPr/>
          </p:nvCxnSpPr>
          <p:spPr>
            <a:xfrm>
              <a:off x="588029" y="6614931"/>
              <a:ext cx="10944225" cy="0"/>
            </a:xfrm>
            <a:prstGeom prst="line">
              <a:avLst/>
            </a:prstGeom>
            <a:ln w="19050">
              <a:solidFill>
                <a:srgbClr val="EDED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F630810-FD62-5477-92B7-941F235A73F9}"/>
                </a:ext>
              </a:extLst>
            </p:cNvPr>
            <p:cNvCxnSpPr>
              <a:cxnSpLocks/>
            </p:cNvCxnSpPr>
            <p:nvPr/>
          </p:nvCxnSpPr>
          <p:spPr>
            <a:xfrm>
              <a:off x="588029" y="8327890"/>
              <a:ext cx="10944225" cy="0"/>
            </a:xfrm>
            <a:prstGeom prst="line">
              <a:avLst/>
            </a:prstGeom>
            <a:ln w="19050">
              <a:solidFill>
                <a:srgbClr val="EDED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892E6A7-608C-7666-9A66-1A86DA032158}"/>
              </a:ext>
            </a:extLst>
          </p:cNvPr>
          <p:cNvSpPr txBox="1"/>
          <p:nvPr/>
        </p:nvSpPr>
        <p:spPr>
          <a:xfrm>
            <a:off x="713260" y="1593112"/>
            <a:ext cx="3336041" cy="480131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vi-VN" sz="2000" b="1">
                <a:latin typeface="Calibri"/>
                <a:ea typeface="Calibri"/>
                <a:cs typeface="Calibri"/>
              </a:rPr>
              <a:t>Project</a:t>
            </a:r>
            <a:r>
              <a:rPr lang="en-US" sz="2000" b="1">
                <a:latin typeface="Calibri"/>
                <a:ea typeface="Calibri"/>
                <a:cs typeface="Calibri"/>
              </a:rPr>
              <a:t> Organization Chart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vi-VN" sz="2000" b="1">
                <a:latin typeface="Calibri"/>
                <a:ea typeface="Calibri"/>
                <a:cs typeface="Calibri"/>
              </a:rPr>
              <a:t>Scope &amp; </a:t>
            </a:r>
            <a:r>
              <a:rPr lang="vi-VN" sz="2000" b="1" err="1">
                <a:latin typeface="Calibri"/>
                <a:ea typeface="Calibri"/>
                <a:cs typeface="Calibri"/>
              </a:rPr>
              <a:t>Duration</a:t>
            </a:r>
            <a:endParaRPr lang="vi-VN" sz="20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b="1">
                <a:latin typeface="Calibri"/>
                <a:ea typeface="Calibri"/>
                <a:cs typeface="Calibri"/>
              </a:rPr>
              <a:t>Project Approach</a:t>
            </a:r>
            <a:endParaRPr lang="vi-VN" sz="20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vi-VN" sz="2000" b="1" err="1">
                <a:latin typeface="Calibri"/>
                <a:ea typeface="Calibri"/>
                <a:cs typeface="Calibri"/>
              </a:rPr>
              <a:t>Deliverables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vi-VN" sz="2000" b="1" err="1">
                <a:latin typeface="Calibri"/>
                <a:ea typeface="Calibri"/>
                <a:cs typeface="Calibri"/>
              </a:rPr>
              <a:t>Tools</a:t>
            </a:r>
            <a:r>
              <a:rPr lang="vi-VN" sz="2000" b="1">
                <a:latin typeface="Calibri"/>
                <a:ea typeface="Calibri"/>
                <a:cs typeface="Calibri"/>
              </a:rPr>
              <a:t> &amp; </a:t>
            </a:r>
            <a:r>
              <a:rPr lang="vi-VN" sz="2000" b="1" err="1">
                <a:latin typeface="Calibri"/>
                <a:ea typeface="Calibri"/>
                <a:cs typeface="Calibri"/>
              </a:rPr>
              <a:t>Environment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vi-VN" sz="2000" b="1" err="1">
                <a:latin typeface="Calibri"/>
                <a:ea typeface="Calibri"/>
                <a:cs typeface="Calibri"/>
              </a:rPr>
              <a:t>Communicatio</a:t>
            </a:r>
            <a:r>
              <a:rPr lang="en-US" sz="2000" b="1">
                <a:latin typeface="Calibri"/>
                <a:ea typeface="Calibri"/>
                <a:cs typeface="Calibri"/>
              </a:rPr>
              <a:t>n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b="1">
                <a:latin typeface="Calibri"/>
                <a:ea typeface="Calibri"/>
                <a:cs typeface="Calibri"/>
              </a:rPr>
              <a:t>Risks &amp; Assumptions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b="1">
                <a:latin typeface="Calibri"/>
                <a:ea typeface="Calibri"/>
                <a:cs typeface="Calibri"/>
              </a:rPr>
              <a:t>Next Actions</a:t>
            </a:r>
            <a:endParaRPr lang="en-US">
              <a:ea typeface="맑은 고딕"/>
            </a:endParaRPr>
          </a:p>
          <a:p>
            <a:pPr marL="514350" indent="-514350">
              <a:spcAft>
                <a:spcPts val="1200"/>
              </a:spcAft>
              <a:buAutoNum type="romanUcPeriod"/>
            </a:pPr>
            <a:endParaRPr lang="en-US" sz="2800" b="1">
              <a:latin typeface="BR Omega"/>
            </a:endParaRPr>
          </a:p>
          <a:p>
            <a:pPr marL="514350" indent="-514350">
              <a:spcAft>
                <a:spcPts val="1200"/>
              </a:spcAft>
              <a:buAutoNum type="romanUcPeriod"/>
            </a:pPr>
            <a:endParaRPr lang="en-US" sz="2800" b="1">
              <a:latin typeface="BR Omeg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3D0D7-B39B-7EDC-10BC-C80095E24BCD}"/>
              </a:ext>
            </a:extLst>
          </p:cNvPr>
          <p:cNvSpPr txBox="1"/>
          <p:nvPr/>
        </p:nvSpPr>
        <p:spPr>
          <a:xfrm>
            <a:off x="10542234" y="1689792"/>
            <a:ext cx="75693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lang="en-VN">
                <a:latin typeface="Calibri"/>
                <a:ea typeface="Calibri"/>
                <a:cs typeface="Calibri"/>
              </a:rPr>
              <a:t>Pg. 03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6A228-49D6-9789-8100-5031E55C7A20}"/>
              </a:ext>
            </a:extLst>
          </p:cNvPr>
          <p:cNvSpPr txBox="1"/>
          <p:nvPr/>
        </p:nvSpPr>
        <p:spPr>
          <a:xfrm>
            <a:off x="10542234" y="2151824"/>
            <a:ext cx="75693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lang="en-VN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Pg. 06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C3B1D7-453F-4A26-6DB6-9373E586B2C1}"/>
              </a:ext>
            </a:extLst>
          </p:cNvPr>
          <p:cNvSpPr txBox="1"/>
          <p:nvPr/>
        </p:nvSpPr>
        <p:spPr>
          <a:xfrm>
            <a:off x="10542233" y="2613856"/>
            <a:ext cx="75693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lang="en-VN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Pg. 11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D49FFD-06BD-E4F8-0EB7-255A7A5A9C48}"/>
              </a:ext>
            </a:extLst>
          </p:cNvPr>
          <p:cNvSpPr txBox="1"/>
          <p:nvPr/>
        </p:nvSpPr>
        <p:spPr>
          <a:xfrm>
            <a:off x="10542234" y="3084855"/>
            <a:ext cx="75693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lang="en-VN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Pg. 13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EAA699-CB8C-356F-4506-83FC21EDFB85}"/>
              </a:ext>
            </a:extLst>
          </p:cNvPr>
          <p:cNvSpPr txBox="1"/>
          <p:nvPr/>
        </p:nvSpPr>
        <p:spPr>
          <a:xfrm>
            <a:off x="10542234" y="3537923"/>
            <a:ext cx="75693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lang="en-VN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Pg. 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71AAAE-2F57-56D2-4157-8810F6353FF8}"/>
              </a:ext>
            </a:extLst>
          </p:cNvPr>
          <p:cNvSpPr txBox="1"/>
          <p:nvPr/>
        </p:nvSpPr>
        <p:spPr>
          <a:xfrm>
            <a:off x="10542234" y="4014041"/>
            <a:ext cx="75693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lang="en-VN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Pg. 17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685B0C-2AF5-1A75-1D02-F2B4D670C190}"/>
              </a:ext>
            </a:extLst>
          </p:cNvPr>
          <p:cNvSpPr txBox="1"/>
          <p:nvPr/>
        </p:nvSpPr>
        <p:spPr>
          <a:xfrm>
            <a:off x="10542234" y="4464718"/>
            <a:ext cx="75693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lang="en-VN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Pg. 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36B517-6FE5-E3EA-6015-C2E8DAB515DD}"/>
              </a:ext>
            </a:extLst>
          </p:cNvPr>
          <p:cNvSpPr txBox="1"/>
          <p:nvPr/>
        </p:nvSpPr>
        <p:spPr>
          <a:xfrm>
            <a:off x="10542233" y="4935713"/>
            <a:ext cx="75693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lang="en-VN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Pg. 24</a:t>
            </a:r>
          </a:p>
        </p:txBody>
      </p:sp>
    </p:spTree>
    <p:extLst>
      <p:ext uri="{BB962C8B-B14F-4D97-AF65-F5344CB8AC3E}">
        <p14:creationId xmlns:p14="http://schemas.microsoft.com/office/powerpoint/2010/main" val="300152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5D17EC-1707-0438-A83F-B071278B4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59A7F2-685D-1942-821F-D759A34464DF}" type="slidenum">
              <a:rPr lang="en-VN" smtClean="0"/>
              <a:pPr/>
              <a:t>3</a:t>
            </a:fld>
            <a:endParaRPr lang="en-V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68D8426-CBBD-E53A-F61C-7E77837273B9}"/>
              </a:ext>
            </a:extLst>
          </p:cNvPr>
          <p:cNvSpPr/>
          <p:nvPr/>
        </p:nvSpPr>
        <p:spPr>
          <a:xfrm>
            <a:off x="529390" y="4983307"/>
            <a:ext cx="4633000" cy="254596"/>
          </a:xfrm>
          <a:prstGeom prst="roundRect">
            <a:avLst/>
          </a:prstGeom>
          <a:solidFill>
            <a:srgbClr val="F16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B73946-1C79-F383-8BDB-CC1390BE62D5}"/>
              </a:ext>
            </a:extLst>
          </p:cNvPr>
          <p:cNvSpPr txBox="1"/>
          <p:nvPr/>
        </p:nvSpPr>
        <p:spPr>
          <a:xfrm>
            <a:off x="529390" y="3441031"/>
            <a:ext cx="1168910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bg1"/>
                </a:solidFill>
                <a:latin typeface="BR Omega"/>
              </a:rPr>
              <a:t>01.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392755-EFC8-45DD-0C41-B894785AFEF4}"/>
              </a:ext>
            </a:extLst>
          </p:cNvPr>
          <p:cNvSpPr txBox="1"/>
          <p:nvPr/>
        </p:nvSpPr>
        <p:spPr>
          <a:xfrm>
            <a:off x="529390" y="4297229"/>
            <a:ext cx="9514119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tx1">
                    <a:lumMod val="85000"/>
                    <a:lumOff val="15000"/>
                  </a:schemeClr>
                </a:solidFill>
                <a:latin typeface="BR Omega"/>
              </a:rPr>
              <a:t>Project Organization Chart</a:t>
            </a:r>
            <a:endParaRPr lang="en-VN" sz="6000" b="1">
              <a:solidFill>
                <a:schemeClr val="tx1">
                  <a:lumMod val="85000"/>
                  <a:lumOff val="15000"/>
                </a:schemeClr>
              </a:solidFill>
              <a:latin typeface="BR Omega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8498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6F488D45-BE33-824C-8C7F-A0CBEB9E39A0}"/>
              </a:ext>
            </a:extLst>
          </p:cNvPr>
          <p:cNvSpPr txBox="1">
            <a:spLocks/>
          </p:cNvSpPr>
          <p:nvPr/>
        </p:nvSpPr>
        <p:spPr>
          <a:xfrm>
            <a:off x="334236" y="167156"/>
            <a:ext cx="10133763" cy="520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>
                <a:latin typeface="+mn-ea"/>
                <a:ea typeface="+mn-ea"/>
              </a:rPr>
              <a:t>1-1. Project Organization Chart</a:t>
            </a:r>
            <a:endParaRPr lang="ko-KR" altLang="en-US" sz="2800" b="1">
              <a:latin typeface="+mn-ea"/>
              <a:ea typeface="+mn-e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82CDB1-EFD1-A2EE-592F-23D089674108}"/>
              </a:ext>
            </a:extLst>
          </p:cNvPr>
          <p:cNvCxnSpPr/>
          <p:nvPr/>
        </p:nvCxnSpPr>
        <p:spPr>
          <a:xfrm>
            <a:off x="15040821" y="7663006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14">
            <a:extLst>
              <a:ext uri="{FF2B5EF4-FFF2-40B4-BE49-F238E27FC236}">
                <a16:creationId xmlns:a16="http://schemas.microsoft.com/office/drawing/2014/main" id="{0A29E90B-8367-52A0-DC65-1927ED816D53}"/>
              </a:ext>
            </a:extLst>
          </p:cNvPr>
          <p:cNvSpPr/>
          <p:nvPr/>
        </p:nvSpPr>
        <p:spPr>
          <a:xfrm>
            <a:off x="525728" y="1076668"/>
            <a:ext cx="1986866" cy="35699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atin typeface="+mn-ea"/>
              </a:rPr>
              <a:t>[Customer]</a:t>
            </a:r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24">
            <a:extLst>
              <a:ext uri="{FF2B5EF4-FFF2-40B4-BE49-F238E27FC236}">
                <a16:creationId xmlns:a16="http://schemas.microsoft.com/office/drawing/2014/main" id="{B92EC943-E9A8-3B11-A13A-75897CF929B8}"/>
              </a:ext>
            </a:extLst>
          </p:cNvPr>
          <p:cNvSpPr/>
          <p:nvPr/>
        </p:nvSpPr>
        <p:spPr>
          <a:xfrm>
            <a:off x="3688271" y="1076668"/>
            <a:ext cx="1980000" cy="360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atin typeface="+mn-ea"/>
              </a:rPr>
              <a:t>[Partner]</a:t>
            </a:r>
            <a:endParaRPr lang="ko-KR" altLang="en-US" sz="1400" b="1">
              <a:latin typeface="+mn-ea"/>
            </a:endParaRPr>
          </a:p>
        </p:txBody>
      </p:sp>
      <p:sp>
        <p:nvSpPr>
          <p:cNvPr id="40" name="사각형: 둥근 모서리 26">
            <a:extLst>
              <a:ext uri="{FF2B5EF4-FFF2-40B4-BE49-F238E27FC236}">
                <a16:creationId xmlns:a16="http://schemas.microsoft.com/office/drawing/2014/main" id="{0F0738B5-4000-5806-908C-1813CA6123CC}"/>
              </a:ext>
            </a:extLst>
          </p:cNvPr>
          <p:cNvSpPr/>
          <p:nvPr/>
        </p:nvSpPr>
        <p:spPr>
          <a:xfrm>
            <a:off x="8358550" y="1070886"/>
            <a:ext cx="1980000" cy="360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b="1">
                <a:latin typeface="맑은 고딕"/>
                <a:ea typeface="맑은 고딕"/>
              </a:rPr>
              <a:t>AGS/FPT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6FF7459-6CFF-CAE4-9D04-072045A374EE}"/>
              </a:ext>
            </a:extLst>
          </p:cNvPr>
          <p:cNvSpPr/>
          <p:nvPr/>
        </p:nvSpPr>
        <p:spPr>
          <a:xfrm>
            <a:off x="624642" y="1693156"/>
            <a:ext cx="1800000" cy="55426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vi-VN" altLang="ko-KR" sz="1400" b="1" noProof="1">
                <a:latin typeface="+mn-ea"/>
                <a:cs typeface="+mn-lt"/>
              </a:rPr>
              <a:t>PMO</a:t>
            </a:r>
            <a:endParaRPr lang="ko-KR" altLang="en-US" sz="1400" b="1" noProof="1">
              <a:latin typeface="+mn-ea"/>
              <a:cs typeface="+mn-lt"/>
            </a:endParaRPr>
          </a:p>
        </p:txBody>
      </p:sp>
      <p:cxnSp>
        <p:nvCxnSpPr>
          <p:cNvPr id="79" name="Straight Arrow Connector 28">
            <a:extLst>
              <a:ext uri="{FF2B5EF4-FFF2-40B4-BE49-F238E27FC236}">
                <a16:creationId xmlns:a16="http://schemas.microsoft.com/office/drawing/2014/main" id="{90F17D49-FA30-D04B-AFBA-AE1067D743E8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2424642" y="2008389"/>
            <a:ext cx="955121" cy="6667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0030D5E-12FD-2CAA-4D97-875BE3B4C8A9}"/>
              </a:ext>
            </a:extLst>
          </p:cNvPr>
          <p:cNvGrpSpPr/>
          <p:nvPr/>
        </p:nvGrpSpPr>
        <p:grpSpPr>
          <a:xfrm>
            <a:off x="6446577" y="1529386"/>
            <a:ext cx="5440867" cy="896064"/>
            <a:chOff x="6446577" y="1491286"/>
            <a:chExt cx="5440867" cy="89606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8620D1-43C6-5C15-14EB-79440927EF1B}"/>
                </a:ext>
              </a:extLst>
            </p:cNvPr>
            <p:cNvSpPr/>
            <p:nvPr/>
          </p:nvSpPr>
          <p:spPr>
            <a:xfrm>
              <a:off x="8015393" y="1653420"/>
              <a:ext cx="2666462" cy="548067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altLang="ko-KR" sz="1400" b="1" noProof="1">
                  <a:latin typeface="+mn-ea"/>
                  <a:cs typeface="+mn-lt"/>
                </a:rPr>
                <a:t>PMO</a:t>
              </a:r>
            </a:p>
          </p:txBody>
        </p:sp>
        <p:sp>
          <p:nvSpPr>
            <p:cNvPr id="83" name="Rectangle 105">
              <a:extLst>
                <a:ext uri="{FF2B5EF4-FFF2-40B4-BE49-F238E27FC236}">
                  <a16:creationId xmlns:a16="http://schemas.microsoft.com/office/drawing/2014/main" id="{AA0502FB-21B4-5F2C-4338-BFBEF52EF967}"/>
                </a:ext>
              </a:extLst>
            </p:cNvPr>
            <p:cNvSpPr/>
            <p:nvPr/>
          </p:nvSpPr>
          <p:spPr>
            <a:xfrm>
              <a:off x="6446577" y="1491286"/>
              <a:ext cx="5440867" cy="896064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ko-KR" altLang="en-US" sz="1100" noProof="1">
                <a:latin typeface="+mn-ea"/>
              </a:endParaRPr>
            </a:p>
          </p:txBody>
        </p:sp>
      </p:grpSp>
      <p:sp>
        <p:nvSpPr>
          <p:cNvPr id="84" name="Rectangle 105">
            <a:extLst>
              <a:ext uri="{FF2B5EF4-FFF2-40B4-BE49-F238E27FC236}">
                <a16:creationId xmlns:a16="http://schemas.microsoft.com/office/drawing/2014/main" id="{C41BFF77-2071-5480-B907-B8FD3D561545}"/>
              </a:ext>
            </a:extLst>
          </p:cNvPr>
          <p:cNvSpPr/>
          <p:nvPr/>
        </p:nvSpPr>
        <p:spPr>
          <a:xfrm>
            <a:off x="6458671" y="2677356"/>
            <a:ext cx="5443439" cy="4004317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100" noProof="1">
              <a:latin typeface="+mn-ea"/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6DE43A0-5FF0-2BCE-94D2-E5FDA8A61730}"/>
              </a:ext>
            </a:extLst>
          </p:cNvPr>
          <p:cNvCxnSpPr>
            <a:cxnSpLocks/>
            <a:endCxn id="84" idx="1"/>
          </p:cNvCxnSpPr>
          <p:nvPr/>
        </p:nvCxnSpPr>
        <p:spPr>
          <a:xfrm flipV="1">
            <a:off x="2865255" y="4679515"/>
            <a:ext cx="3593416" cy="1919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oogle Shape;461;p55">
            <a:extLst>
              <a:ext uri="{FF2B5EF4-FFF2-40B4-BE49-F238E27FC236}">
                <a16:creationId xmlns:a16="http://schemas.microsoft.com/office/drawing/2014/main" id="{D5BB64CA-EA61-5E2E-5405-B44433019DE8}"/>
              </a:ext>
            </a:extLst>
          </p:cNvPr>
          <p:cNvSpPr/>
          <p:nvPr/>
        </p:nvSpPr>
        <p:spPr>
          <a:xfrm>
            <a:off x="7177992" y="5970173"/>
            <a:ext cx="1097280" cy="2552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/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altLang="ko-KR" sz="800">
                <a:latin typeface="+mn-ea"/>
              </a:rPr>
              <a:t>Billing Personnel</a:t>
            </a:r>
            <a:endParaRPr lang="en-US" sz="800" b="0" i="0" u="none" strike="noStrike" cap="none">
              <a:solidFill>
                <a:schemeClr val="dk1"/>
              </a:solidFill>
              <a:latin typeface="+mn-ea"/>
              <a:cs typeface="Bai Jamjuree"/>
              <a:sym typeface="Bai Jamjuree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F51A22-42E6-6B27-166A-9A533833B1E3}"/>
              </a:ext>
            </a:extLst>
          </p:cNvPr>
          <p:cNvSpPr txBox="1"/>
          <p:nvPr/>
        </p:nvSpPr>
        <p:spPr>
          <a:xfrm flipH="1">
            <a:off x="6597308" y="2886054"/>
            <a:ext cx="2391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>
                <a:solidFill>
                  <a:srgbClr val="FF0000"/>
                </a:solidFill>
                <a:latin typeface="+mn-ea"/>
              </a:rPr>
              <a:t>On-shore Team</a:t>
            </a:r>
            <a:endParaRPr lang="ko-KR" altLang="en-US" sz="1400" b="1" noProof="1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E4F098-C844-BC4F-D78E-73851E3184E9}"/>
              </a:ext>
            </a:extLst>
          </p:cNvPr>
          <p:cNvSpPr txBox="1"/>
          <p:nvPr/>
        </p:nvSpPr>
        <p:spPr>
          <a:xfrm>
            <a:off x="9052317" y="2887556"/>
            <a:ext cx="283136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1400" b="1">
                <a:solidFill>
                  <a:srgbClr val="FF0000"/>
                </a:solidFill>
                <a:latin typeface="+mn-ea"/>
              </a:rPr>
              <a:t>Off-shore Development Team </a:t>
            </a:r>
            <a:endParaRPr lang="ko-KR" altLang="en-US" sz="1400" b="1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4552EB-6062-CE81-71F3-9067A2DC154F}"/>
              </a:ext>
            </a:extLst>
          </p:cNvPr>
          <p:cNvGrpSpPr/>
          <p:nvPr/>
        </p:nvGrpSpPr>
        <p:grpSpPr>
          <a:xfrm>
            <a:off x="3379763" y="1540300"/>
            <a:ext cx="2624022" cy="1485838"/>
            <a:chOff x="3379763" y="1540300"/>
            <a:chExt cx="2624022" cy="148583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DF248F3-8C2A-F5D5-C7C7-0036387836E5}"/>
                </a:ext>
              </a:extLst>
            </p:cNvPr>
            <p:cNvSpPr/>
            <p:nvPr/>
          </p:nvSpPr>
          <p:spPr>
            <a:xfrm>
              <a:off x="3593591" y="1655520"/>
              <a:ext cx="2194560" cy="547520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altLang="ko-KR" sz="1400" b="1" noProof="1">
                  <a:latin typeface="+mn-ea"/>
                  <a:cs typeface="+mn-lt"/>
                </a:rPr>
                <a:t>Service Manager</a:t>
              </a:r>
            </a:p>
            <a:p>
              <a:pPr algn="ctr"/>
              <a:r>
                <a:rPr lang="en-US" sz="1400" noProof="1">
                  <a:latin typeface="+mn-ea"/>
                  <a:cs typeface="+mn-lt"/>
                </a:rPr>
                <a:t>[SM Name]</a:t>
              </a:r>
              <a:endParaRPr lang="en-US" altLang="ko-KR" sz="1400" noProof="1">
                <a:latin typeface="+mn-ea"/>
                <a:cs typeface="+mn-lt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B874C84-9744-1356-07B2-D3617FEC19B0}"/>
                </a:ext>
              </a:extLst>
            </p:cNvPr>
            <p:cNvSpPr/>
            <p:nvPr/>
          </p:nvSpPr>
          <p:spPr>
            <a:xfrm>
              <a:off x="3595882" y="2321790"/>
              <a:ext cx="2194560" cy="554266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vi-VN" altLang="ko-KR" sz="1400" b="1" noProof="1">
                  <a:latin typeface="+mn-ea"/>
                  <a:cs typeface="Arial"/>
                </a:rPr>
                <a:t>Delivery</a:t>
              </a:r>
              <a:r>
                <a:rPr lang="en-US" altLang="ko-KR" sz="1400" b="1" noProof="1">
                  <a:latin typeface="+mn-ea"/>
                  <a:cs typeface="+mn-lt"/>
                </a:rPr>
                <a:t> Manager</a:t>
              </a:r>
              <a:endParaRPr lang="ko-KR" altLang="en-US" sz="1400" noProof="1">
                <a:latin typeface="+mn-ea"/>
                <a:cs typeface="+mn-lt"/>
              </a:endParaRPr>
            </a:p>
            <a:p>
              <a:pPr algn="ctr"/>
              <a:r>
                <a:rPr lang="ko-KR" altLang="en-US" sz="1400" noProof="1">
                  <a:latin typeface="+mn-ea"/>
                  <a:cs typeface="+mn-lt"/>
                </a:rPr>
                <a:t>[</a:t>
              </a:r>
              <a:r>
                <a:rPr lang="en-US" altLang="ko-KR" sz="1400" noProof="1">
                  <a:latin typeface="+mn-ea"/>
                  <a:cs typeface="+mn-lt"/>
                </a:rPr>
                <a:t>DM Name</a:t>
              </a:r>
              <a:r>
                <a:rPr lang="en-US" sz="1400" noProof="1">
                  <a:latin typeface="+mn-ea"/>
                  <a:cs typeface="+mn-lt"/>
                </a:rPr>
                <a:t>]</a:t>
              </a:r>
              <a:endParaRPr lang="ko-KR">
                <a:latin typeface="+mn-ea"/>
                <a:cs typeface="+mn-lt"/>
              </a:endParaRPr>
            </a:p>
          </p:txBody>
        </p:sp>
        <p:sp>
          <p:nvSpPr>
            <p:cNvPr id="3" name="Rectangle 105">
              <a:extLst>
                <a:ext uri="{FF2B5EF4-FFF2-40B4-BE49-F238E27FC236}">
                  <a16:creationId xmlns:a16="http://schemas.microsoft.com/office/drawing/2014/main" id="{A493F04C-2548-ED93-0C4D-7ED5936D08B8}"/>
                </a:ext>
              </a:extLst>
            </p:cNvPr>
            <p:cNvSpPr/>
            <p:nvPr/>
          </p:nvSpPr>
          <p:spPr>
            <a:xfrm>
              <a:off x="3379763" y="1540300"/>
              <a:ext cx="2624022" cy="1485838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ko-KR" altLang="en-US" sz="1100" noProof="1">
                <a:latin typeface="+mn-ea"/>
              </a:endParaRPr>
            </a:p>
          </p:txBody>
        </p:sp>
      </p:grpSp>
      <p:cxnSp>
        <p:nvCxnSpPr>
          <p:cNvPr id="5" name="Straight Arrow Connector 28">
            <a:extLst>
              <a:ext uri="{FF2B5EF4-FFF2-40B4-BE49-F238E27FC236}">
                <a16:creationId xmlns:a16="http://schemas.microsoft.com/office/drawing/2014/main" id="{B115EA9E-E39A-0BA5-A357-F0BDB37C3DB7}"/>
              </a:ext>
            </a:extLst>
          </p:cNvPr>
          <p:cNvCxnSpPr>
            <a:cxnSpLocks/>
          </p:cNvCxnSpPr>
          <p:nvPr/>
        </p:nvCxnSpPr>
        <p:spPr>
          <a:xfrm>
            <a:off x="6003489" y="2019609"/>
            <a:ext cx="443088" cy="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158B23C-5490-9603-2260-047FA128B839}"/>
              </a:ext>
            </a:extLst>
          </p:cNvPr>
          <p:cNvGrpSpPr/>
          <p:nvPr/>
        </p:nvGrpSpPr>
        <p:grpSpPr>
          <a:xfrm>
            <a:off x="289711" y="4098157"/>
            <a:ext cx="2575544" cy="1166554"/>
            <a:chOff x="289711" y="4098157"/>
            <a:chExt cx="2575544" cy="1166554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B262045-461B-16F1-C48B-5915F318B54A}"/>
                </a:ext>
              </a:extLst>
            </p:cNvPr>
            <p:cNvSpPr/>
            <p:nvPr/>
          </p:nvSpPr>
          <p:spPr>
            <a:xfrm>
              <a:off x="478075" y="4410753"/>
              <a:ext cx="2203704" cy="550002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vi-VN" altLang="ko-KR" sz="1400" b="1" noProof="1">
                  <a:latin typeface="+mn-ea"/>
                  <a:cs typeface="+mn-lt"/>
                </a:rPr>
                <a:t>PM</a:t>
              </a:r>
              <a:r>
                <a:rPr lang="vi-VN" altLang="ko-KR" sz="1400" b="1" noProof="1">
                  <a:latin typeface="+mn-ea"/>
                  <a:cs typeface="Arial"/>
                </a:rPr>
                <a:t> </a:t>
              </a:r>
              <a:endParaRPr lang="en-GB" altLang="ko-KR" sz="1400" noProof="1">
                <a:solidFill>
                  <a:schemeClr val="tx1"/>
                </a:solidFill>
                <a:latin typeface="+mn-ea"/>
                <a:cs typeface="+mn-lt"/>
              </a:endParaRPr>
            </a:p>
            <a:p>
              <a:pPr algn="ctr"/>
              <a:r>
                <a:rPr lang="en-US" altLang="ko-KR" sz="1400" noProof="1">
                  <a:latin typeface="+mn-ea"/>
                  <a:cs typeface="+mn-lt"/>
                </a:rPr>
                <a:t>[Customer PM Name]</a:t>
              </a:r>
              <a:endParaRPr lang="en-GB" altLang="ko-KR" sz="1400" noProof="1">
                <a:latin typeface="+mn-ea"/>
                <a:cs typeface="+mn-lt"/>
              </a:endParaRPr>
            </a:p>
          </p:txBody>
        </p:sp>
        <p:sp>
          <p:nvSpPr>
            <p:cNvPr id="31" name="Rectangle 105">
              <a:extLst>
                <a:ext uri="{FF2B5EF4-FFF2-40B4-BE49-F238E27FC236}">
                  <a16:creationId xmlns:a16="http://schemas.microsoft.com/office/drawing/2014/main" id="{A493F04C-2548-ED93-0C4D-7ED5936D08B8}"/>
                </a:ext>
              </a:extLst>
            </p:cNvPr>
            <p:cNvSpPr/>
            <p:nvPr/>
          </p:nvSpPr>
          <p:spPr>
            <a:xfrm>
              <a:off x="289711" y="4098157"/>
              <a:ext cx="2575544" cy="1166554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ko-KR" altLang="en-US" sz="1100" noProof="1">
                <a:latin typeface="+mn-ea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30EB6B7-A773-9C5B-3C65-EB3E54E3C102}"/>
              </a:ext>
            </a:extLst>
          </p:cNvPr>
          <p:cNvSpPr/>
          <p:nvPr/>
        </p:nvSpPr>
        <p:spPr>
          <a:xfrm>
            <a:off x="9330000" y="5987110"/>
            <a:ext cx="2191975" cy="555316"/>
          </a:xfrm>
          <a:prstGeom prst="rect">
            <a:avLst/>
          </a:prstGeom>
          <a:solidFill>
            <a:srgbClr val="92D05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noProof="1">
                <a:solidFill>
                  <a:srgbClr val="000000"/>
                </a:solidFill>
                <a:latin typeface="+mn-ea"/>
                <a:cs typeface="+mn-lt"/>
              </a:rPr>
              <a:t>QA</a:t>
            </a:r>
            <a:endParaRPr lang="ko-KR" altLang="en-US">
              <a:solidFill>
                <a:srgbClr val="000000"/>
              </a:solidFill>
              <a:latin typeface="+mn-ea"/>
            </a:endParaRPr>
          </a:p>
          <a:p>
            <a:pPr algn="ctr"/>
            <a:r>
              <a:rPr lang="en-US" sz="1200" noProof="1">
                <a:solidFill>
                  <a:srgbClr val="000000"/>
                </a:solidFill>
                <a:latin typeface="+mn-ea"/>
                <a:cs typeface="+mn-lt"/>
              </a:rPr>
              <a:t>[QA Name]</a:t>
            </a:r>
            <a:endParaRPr lang="ko-KR" altLang="en-US" sz="1400" noProof="1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3F35A3-EFCD-5E21-6593-2320BA76010A}"/>
              </a:ext>
            </a:extLst>
          </p:cNvPr>
          <p:cNvGrpSpPr/>
          <p:nvPr/>
        </p:nvGrpSpPr>
        <p:grpSpPr>
          <a:xfrm>
            <a:off x="9199754" y="3205102"/>
            <a:ext cx="2448689" cy="2705245"/>
            <a:chOff x="9157222" y="3205102"/>
            <a:chExt cx="2448689" cy="2705245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C2238B9-D9A1-84C4-8015-C79B926C14F9}"/>
                </a:ext>
              </a:extLst>
            </p:cNvPr>
            <p:cNvSpPr/>
            <p:nvPr/>
          </p:nvSpPr>
          <p:spPr>
            <a:xfrm>
              <a:off x="9157222" y="3205102"/>
              <a:ext cx="2448689" cy="2705245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altLang="ko-KR" sz="1400" b="1" noProof="1">
                <a:latin typeface="+mn-ea"/>
                <a:cs typeface="+mn-lt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5B6FFE2-D376-5AAF-055B-5CF6EAC228C8}"/>
                </a:ext>
              </a:extLst>
            </p:cNvPr>
            <p:cNvSpPr/>
            <p:nvPr/>
          </p:nvSpPr>
          <p:spPr>
            <a:xfrm>
              <a:off x="9271816" y="3962400"/>
              <a:ext cx="2194566" cy="55109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altLang="ko-KR" sz="1200" b="1" noProof="1">
                  <a:latin typeface="+mn-ea"/>
                  <a:cs typeface="+mn-lt"/>
                </a:rPr>
                <a:t> Developer</a:t>
              </a:r>
            </a:p>
            <a:p>
              <a:pPr algn="ctr"/>
              <a:r>
                <a:rPr lang="en-US" altLang="ko-KR" sz="1200" noProof="1">
                  <a:latin typeface="+mn-ea"/>
                  <a:cs typeface="+mn-lt"/>
                </a:rPr>
                <a:t>[Dev #1 Name]</a:t>
              </a:r>
              <a:endParaRPr lang="ko-KR" altLang="en-US" sz="1200" noProof="1">
                <a:latin typeface="+mn-ea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CAAAEA9-9206-8960-6BAF-1F57328C152C}"/>
                </a:ext>
              </a:extLst>
            </p:cNvPr>
            <p:cNvSpPr/>
            <p:nvPr/>
          </p:nvSpPr>
          <p:spPr>
            <a:xfrm>
              <a:off x="9281341" y="5270500"/>
              <a:ext cx="2193823" cy="5497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 b="1" noProof="1">
                  <a:latin typeface="+mn-ea"/>
                  <a:cs typeface="+mn-lt"/>
                </a:rPr>
                <a:t>Tester</a:t>
              </a:r>
              <a:endParaRPr lang="ko-KR" altLang="en-US">
                <a:latin typeface="+mn-ea"/>
              </a:endParaRPr>
            </a:p>
            <a:p>
              <a:pPr algn="ctr"/>
              <a:r>
                <a:rPr lang="en-US" sz="1200" noProof="1">
                  <a:latin typeface="+mn-ea"/>
                  <a:cs typeface="+mn-lt"/>
                </a:rPr>
                <a:t>[Tester Name]</a:t>
              </a:r>
              <a:endParaRPr lang="ko-KR" altLang="en-US" sz="1400" noProof="1">
                <a:latin typeface="+mn-ea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2DB04A-4A6C-C0CB-6D32-1B7919D42225}"/>
                </a:ext>
              </a:extLst>
            </p:cNvPr>
            <p:cNvSpPr/>
            <p:nvPr/>
          </p:nvSpPr>
          <p:spPr>
            <a:xfrm>
              <a:off x="9284552" y="4616450"/>
              <a:ext cx="2199231" cy="5560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altLang="ko-KR" sz="1200" b="1" noProof="1">
                  <a:latin typeface="+mn-ea"/>
                  <a:cs typeface="+mn-lt"/>
                </a:rPr>
                <a:t>Developer</a:t>
              </a:r>
              <a:endParaRPr lang="en-US" sz="1200" b="1">
                <a:latin typeface="+mn-ea"/>
              </a:endParaRPr>
            </a:p>
            <a:p>
              <a:pPr algn="ctr"/>
              <a:r>
                <a:rPr lang="en-US" altLang="ko-KR" sz="1200" noProof="1">
                  <a:latin typeface="+mn-ea"/>
                  <a:cs typeface="+mn-lt"/>
                </a:rPr>
                <a:t>[Dev #2 Name]</a:t>
              </a:r>
              <a:endParaRPr lang="ko-KR" altLang="en-US" sz="1200" noProof="1">
                <a:latin typeface="+mn-ea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0CB803-E5E1-0750-51AB-5632D09BB597}"/>
                </a:ext>
              </a:extLst>
            </p:cNvPr>
            <p:cNvSpPr/>
            <p:nvPr/>
          </p:nvSpPr>
          <p:spPr>
            <a:xfrm>
              <a:off x="9271815" y="3317875"/>
              <a:ext cx="2200634" cy="549775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 b="1" noProof="1">
                  <a:latin typeface="+mn-ea"/>
                  <a:cs typeface="+mn-lt"/>
                </a:rPr>
                <a:t>Internal PM</a:t>
              </a:r>
              <a:endParaRPr lang="ko-KR" altLang="en-US">
                <a:latin typeface="+mn-ea"/>
              </a:endParaRPr>
            </a:p>
            <a:p>
              <a:pPr algn="ctr"/>
              <a:r>
                <a:rPr lang="en-US" sz="1200" noProof="1">
                  <a:latin typeface="+mn-ea"/>
                  <a:cs typeface="+mn-lt"/>
                </a:rPr>
                <a:t>[PM Name]</a:t>
              </a:r>
              <a:endParaRPr lang="ko-KR" altLang="en-US" sz="1400" noProof="1">
                <a:latin typeface="+mn-ea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01FAD56-7C9B-9D4D-FD29-4D203AB12C00}"/>
              </a:ext>
            </a:extLst>
          </p:cNvPr>
          <p:cNvGrpSpPr/>
          <p:nvPr/>
        </p:nvGrpSpPr>
        <p:grpSpPr>
          <a:xfrm>
            <a:off x="6556768" y="3205215"/>
            <a:ext cx="2448689" cy="1411236"/>
            <a:chOff x="6556768" y="3205215"/>
            <a:chExt cx="2448689" cy="1411236"/>
          </a:xfrm>
        </p:grpSpPr>
        <p:sp>
          <p:nvSpPr>
            <p:cNvPr id="4" name="Rectangle 63">
              <a:extLst>
                <a:ext uri="{FF2B5EF4-FFF2-40B4-BE49-F238E27FC236}">
                  <a16:creationId xmlns:a16="http://schemas.microsoft.com/office/drawing/2014/main" id="{278110E9-6F7F-7A38-A133-C669DDF8DFE6}"/>
                </a:ext>
              </a:extLst>
            </p:cNvPr>
            <p:cNvSpPr/>
            <p:nvPr/>
          </p:nvSpPr>
          <p:spPr>
            <a:xfrm>
              <a:off x="6681488" y="3969162"/>
              <a:ext cx="2197158" cy="55220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altLang="ko-KR" sz="1200" b="1" noProof="1">
                  <a:latin typeface="+mn-ea"/>
                  <a:cs typeface="+mn-lt"/>
                </a:rPr>
                <a:t>B/E Developer</a:t>
              </a:r>
            </a:p>
            <a:p>
              <a:pPr algn="ctr"/>
              <a:r>
                <a:rPr lang="en-US" altLang="ko-KR" sz="1200" noProof="1">
                  <a:latin typeface="+mn-ea"/>
                  <a:cs typeface="+mn-lt"/>
                </a:rPr>
                <a:t>[Dev Onshore Name]</a:t>
              </a:r>
              <a:endParaRPr lang="ko-KR" altLang="en-US" sz="1200" noProof="1">
                <a:latin typeface="+mn-ea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4452521F-5B7F-3392-9CE7-D605355C2B4F}"/>
                </a:ext>
              </a:extLst>
            </p:cNvPr>
            <p:cNvSpPr/>
            <p:nvPr/>
          </p:nvSpPr>
          <p:spPr>
            <a:xfrm>
              <a:off x="6683425" y="3329341"/>
              <a:ext cx="2195221" cy="5478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altLang="ko-KR" sz="1200" b="1" noProof="1">
                  <a:latin typeface="+mn-ea"/>
                  <a:cs typeface="+mn-lt"/>
                </a:rPr>
                <a:t>PMA</a:t>
              </a:r>
            </a:p>
            <a:p>
              <a:pPr algn="ctr"/>
              <a:r>
                <a:rPr lang="en-US" altLang="ko-KR" sz="1200" noProof="1">
                  <a:latin typeface="+mn-ea"/>
                  <a:cs typeface="+mn-lt"/>
                </a:rPr>
                <a:t>[PMA Name]</a:t>
              </a:r>
              <a:endParaRPr lang="ko-KR" altLang="en-US" sz="1200" noProof="1">
                <a:latin typeface="+mn-ea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B3708-4ADD-0A5F-7B66-C11F4F968BA4}"/>
                </a:ext>
              </a:extLst>
            </p:cNvPr>
            <p:cNvSpPr/>
            <p:nvPr/>
          </p:nvSpPr>
          <p:spPr>
            <a:xfrm>
              <a:off x="6556768" y="3205215"/>
              <a:ext cx="2448689" cy="1411236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altLang="ko-KR" sz="1400" b="1" noProof="1">
                <a:latin typeface="+mn-ea"/>
                <a:cs typeface="+mn-lt"/>
              </a:endParaRPr>
            </a:p>
          </p:txBody>
        </p:sp>
      </p:grpSp>
      <p:sp>
        <p:nvSpPr>
          <p:cNvPr id="19" name="Google Shape;461;p55">
            <a:extLst>
              <a:ext uri="{FF2B5EF4-FFF2-40B4-BE49-F238E27FC236}">
                <a16:creationId xmlns:a16="http://schemas.microsoft.com/office/drawing/2014/main" id="{D0EA8840-8982-1DB6-B279-F16543B74EA9}"/>
              </a:ext>
            </a:extLst>
          </p:cNvPr>
          <p:cNvSpPr/>
          <p:nvPr/>
        </p:nvSpPr>
        <p:spPr>
          <a:xfrm>
            <a:off x="7177991" y="6304991"/>
            <a:ext cx="1097280" cy="255264"/>
          </a:xfrm>
          <a:prstGeom prst="rect">
            <a:avLst/>
          </a:prstGeom>
          <a:solidFill>
            <a:srgbClr val="92D050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/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1" algn="ctr">
              <a:buClr>
                <a:schemeClr val="dk1"/>
              </a:buClr>
              <a:buSzPts val="1000"/>
            </a:pPr>
            <a:r>
              <a:rPr lang="en-US" altLang="ko-KR" sz="800">
                <a:latin typeface="+mn-ea"/>
              </a:rPr>
              <a:t>Unbilled Personnel</a:t>
            </a:r>
            <a:endParaRPr lang="en-US" sz="800" b="0" i="0" u="none" strike="noStrike" cap="none">
              <a:solidFill>
                <a:schemeClr val="dk1"/>
              </a:solidFill>
              <a:latin typeface="+mn-ea"/>
              <a:cs typeface="Bai Jamjuree"/>
              <a:sym typeface="Bai Jamjuree"/>
            </a:endParaRPr>
          </a:p>
        </p:txBody>
      </p:sp>
    </p:spTree>
    <p:extLst>
      <p:ext uri="{BB962C8B-B14F-4D97-AF65-F5344CB8AC3E}">
        <p14:creationId xmlns:p14="http://schemas.microsoft.com/office/powerpoint/2010/main" val="206033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6CA632FE-16ED-B988-C233-4612A493D2B7}"/>
              </a:ext>
            </a:extLst>
          </p:cNvPr>
          <p:cNvSpPr txBox="1">
            <a:spLocks/>
          </p:cNvSpPr>
          <p:nvPr/>
        </p:nvSpPr>
        <p:spPr>
          <a:xfrm>
            <a:off x="2566236" y="400297"/>
            <a:ext cx="10133763" cy="520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30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6F488D45-BE33-824C-8C7F-A0CBEB9E39A0}"/>
              </a:ext>
            </a:extLst>
          </p:cNvPr>
          <p:cNvSpPr txBox="1">
            <a:spLocks/>
          </p:cNvSpPr>
          <p:nvPr/>
        </p:nvSpPr>
        <p:spPr>
          <a:xfrm>
            <a:off x="337192" y="163814"/>
            <a:ext cx="10133763" cy="520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>
                <a:ea typeface="맑은 고딕"/>
              </a:rPr>
              <a:t>1-2. Role &amp; Responsibilities</a:t>
            </a:r>
            <a:endParaRPr lang="ko-KR" altLang="en-US" sz="2800" b="1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82CDB1-EFD1-A2EE-592F-23D089674108}"/>
              </a:ext>
            </a:extLst>
          </p:cNvPr>
          <p:cNvCxnSpPr/>
          <p:nvPr/>
        </p:nvCxnSpPr>
        <p:spPr>
          <a:xfrm>
            <a:off x="15040821" y="7663006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2339EE-8BE9-BE36-558E-DB75290D9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49105"/>
              </p:ext>
            </p:extLst>
          </p:nvPr>
        </p:nvGraphicFramePr>
        <p:xfrm>
          <a:off x="337573" y="1009590"/>
          <a:ext cx="11605943" cy="53937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2183">
                  <a:extLst>
                    <a:ext uri="{9D8B030D-6E8A-4147-A177-3AD203B41FA5}">
                      <a16:colId xmlns:a16="http://schemas.microsoft.com/office/drawing/2014/main" val="2782806164"/>
                    </a:ext>
                  </a:extLst>
                </a:gridCol>
                <a:gridCol w="708215">
                  <a:extLst>
                    <a:ext uri="{9D8B030D-6E8A-4147-A177-3AD203B41FA5}">
                      <a16:colId xmlns:a16="http://schemas.microsoft.com/office/drawing/2014/main" val="1474352940"/>
                    </a:ext>
                  </a:extLst>
                </a:gridCol>
                <a:gridCol w="1364648">
                  <a:extLst>
                    <a:ext uri="{9D8B030D-6E8A-4147-A177-3AD203B41FA5}">
                      <a16:colId xmlns:a16="http://schemas.microsoft.com/office/drawing/2014/main" val="2688076969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403287163"/>
                    </a:ext>
                  </a:extLst>
                </a:gridCol>
                <a:gridCol w="7462117">
                  <a:extLst>
                    <a:ext uri="{9D8B030D-6E8A-4147-A177-3AD203B41FA5}">
                      <a16:colId xmlns:a16="http://schemas.microsoft.com/office/drawing/2014/main" val="920446947"/>
                    </a:ext>
                  </a:extLst>
                </a:gridCol>
              </a:tblGrid>
              <a:tr h="31377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kern="1200">
                          <a:solidFill>
                            <a:sysClr val="windowText" lastClr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kern="1200">
                          <a:solidFill>
                            <a:sysClr val="windowText" lastClr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Entity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ysClr val="windowText" lastClr="000000"/>
                          </a:solidFill>
                          <a:latin typeface="Malgun Gothic"/>
                        </a:rPr>
                        <a:t>Role</a:t>
                      </a:r>
                      <a:endParaRPr kumimoji="1" lang="ja-JP" altLang="en-US" sz="1200">
                        <a:solidFill>
                          <a:sysClr val="windowText" lastClr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1200">
                          <a:solidFill>
                            <a:sysClr val="windowText" lastClr="000000"/>
                          </a:solidFill>
                          <a:latin typeface="Malgun Gothic"/>
                        </a:rPr>
                        <a:t>PIC</a:t>
                      </a:r>
                      <a:endParaRPr kumimoji="1" lang="en-US" altLang="ja-JP" sz="1200">
                        <a:solidFill>
                          <a:sysClr val="windowText" lastClr="000000"/>
                        </a:solidFill>
                        <a:latin typeface="Malgun Gothic"/>
                        <a:ea typeface="Meiryo U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ysClr val="windowText" lastClr="000000"/>
                          </a:solidFill>
                          <a:latin typeface="Malgun Gothic"/>
                        </a:rPr>
                        <a:t>Responsibility</a:t>
                      </a:r>
                      <a:endParaRPr kumimoji="1" lang="ja-JP" altLang="en-US" sz="1200">
                        <a:solidFill>
                          <a:sysClr val="windowText" lastClr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7480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" sz="900" b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/>
                          <a:ea typeface="Malgun Gothic"/>
                        </a:rPr>
                        <a:t>1</a:t>
                      </a:r>
                      <a:endParaRPr kumimoji="1" lang="ja" altLang="en-US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/>
                        <a:ea typeface="Malgun Gothic"/>
                        <a:cs typeface="ＭＳ Ｐゴシック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Malgun Gothic"/>
                        </a:rPr>
                        <a:t> [Customer]</a:t>
                      </a:r>
                      <a:endParaRPr kumimoji="1" lang="en-US" sz="900" b="1">
                        <a:solidFill>
                          <a:schemeClr val="tx1"/>
                        </a:solidFill>
                        <a:latin typeface="Malgun Gothic"/>
                        <a:ea typeface="Meiryo UI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900">
                          <a:solidFill>
                            <a:schemeClr val="tx1"/>
                          </a:solidFill>
                          <a:latin typeface="Malgun Gothic"/>
                        </a:rPr>
                        <a:t>Project Manager</a:t>
                      </a:r>
                      <a:r>
                        <a:rPr kumimoji="1" lang="en-US" altLang="ja-JP" sz="900" baseline="0" dirty="0">
                          <a:solidFill>
                            <a:schemeClr val="tx1"/>
                          </a:solidFill>
                          <a:latin typeface="Malgun Gothic"/>
                        </a:rPr>
                        <a:t> </a:t>
                      </a:r>
                      <a:r>
                        <a:rPr kumimoji="1" lang="en-US" altLang="ja-JP" sz="900">
                          <a:solidFill>
                            <a:schemeClr val="tx1"/>
                          </a:solidFill>
                          <a:latin typeface="Malgun Gothic"/>
                        </a:rPr>
                        <a:t>(PM)</a:t>
                      </a:r>
                      <a:endParaRPr kumimoji="1" lang="ja-JP" altLang="en-US" sz="90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[Name]</a:t>
                      </a:r>
                    </a:p>
                    <a:p>
                      <a:pPr lvl="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[Email]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900">
                          <a:solidFill>
                            <a:schemeClr val="tx1"/>
                          </a:solidFill>
                          <a:latin typeface="Malgun Gothic"/>
                        </a:rPr>
                        <a:t>- Presentation of requirements and issue information, determination of requirements</a:t>
                      </a:r>
                    </a:p>
                    <a:p>
                      <a:r>
                        <a:rPr kumimoji="1" lang="en-US" altLang="ja-JP" sz="900">
                          <a:solidFill>
                            <a:schemeClr val="tx1"/>
                          </a:solidFill>
                          <a:latin typeface="Malgun Gothic"/>
                        </a:rPr>
                        <a:t>- Various approvals</a:t>
                      </a:r>
                    </a:p>
                    <a:p>
                      <a:r>
                        <a:rPr kumimoji="1" lang="en-US" altLang="ja-JP" sz="900">
                          <a:solidFill>
                            <a:schemeClr val="tx1"/>
                          </a:solidFill>
                          <a:latin typeface="Malgun Gothic"/>
                        </a:rPr>
                        <a:t>- Confirmation of project progress and issues</a:t>
                      </a:r>
                      <a:endParaRPr kumimoji="1" lang="en-US" altLang="ja-JP" sz="900">
                        <a:solidFill>
                          <a:schemeClr val="tx1"/>
                        </a:solidFill>
                        <a:latin typeface="Malgun Gothic"/>
                        <a:ea typeface="Meiryo U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651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ja" sz="900" kern="1200">
                          <a:solidFill>
                            <a:schemeClr val="tx1"/>
                          </a:solidFill>
                          <a:latin typeface="Malgun Gothic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Malgun Gothic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900" b="1" i="0" u="none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[Partner]</a:t>
                      </a:r>
                      <a:endParaRPr lang="en-US" altLang="ja-JP" sz="900" b="1" i="0" u="none" strike="noStrike" kern="1200">
                        <a:solidFill>
                          <a:schemeClr val="tx1"/>
                        </a:solidFill>
                        <a:latin typeface="Malgun Gothic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altLang="ja-JP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Service Manager</a:t>
                      </a:r>
                      <a:endParaRPr lang="ja-JP" altLang="en-US" sz="900" b="0" kern="120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[Name]</a:t>
                      </a:r>
                    </a:p>
                    <a:p>
                      <a:pPr lvl="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[Email]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kumimoji="1" lang="en-US" altLang="ja-JP" sz="900" b="0" u="none" strike="noStrike" kern="1200" dirty="0">
                          <a:solidFill>
                            <a:schemeClr val="tx1"/>
                          </a:solidFill>
                          <a:latin typeface="Malgun Gothic"/>
                          <a:ea typeface="+mn-ea"/>
                          <a:cs typeface="+mn-cs"/>
                        </a:rPr>
                        <a:t>- Monitor to maintain project progress and quality</a:t>
                      </a:r>
                    </a:p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kumimoji="1" lang="en-US" altLang="ja-JP" sz="900" b="0" u="none" strike="noStrike" kern="1200">
                          <a:solidFill>
                            <a:schemeClr val="tx1"/>
                          </a:solidFill>
                          <a:latin typeface="Malgun Gothic"/>
                          <a:ea typeface="+mn-ea"/>
                          <a:cs typeface="+mn-cs"/>
                        </a:rPr>
                        <a:t>- Collect and reflect Customer feedback </a:t>
                      </a:r>
                    </a:p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altLang="ja-JP" sz="900" b="0" u="none" strike="noStrike" kern="1200" dirty="0">
                          <a:solidFill>
                            <a:schemeClr val="tx1"/>
                          </a:solidFill>
                          <a:latin typeface="Malgun Gothic"/>
                          <a:ea typeface="+mn-ea"/>
                          <a:cs typeface="+mn-cs"/>
                        </a:rPr>
                        <a:t>- Consult</a:t>
                      </a:r>
                      <a:r>
                        <a:rPr kumimoji="1" lang="en-US" altLang="ja-JP" sz="900" b="0" u="none" strike="noStrike" kern="1200" dirty="0">
                          <a:solidFill>
                            <a:schemeClr val="tx1"/>
                          </a:solidFill>
                          <a:latin typeface="Malgun Gothic"/>
                          <a:ea typeface="+mn-ea"/>
                          <a:cs typeface="+mn-cs"/>
                        </a:rPr>
                        <a:t> and finalize process for change requests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41346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ja" sz="900" b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/>
                        </a:rPr>
                        <a:t>3</a:t>
                      </a:r>
                      <a:endParaRPr kumimoji="1" lang="en-US" altLang="ja" sz="900" b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defTabSz="914400"/>
                      <a:endParaRPr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altLang="ja-JP" sz="900" b="0" kern="1200">
                          <a:solidFill>
                            <a:schemeClr val="tx1"/>
                          </a:solidFill>
                          <a:latin typeface="Malgun Gothic"/>
                        </a:rPr>
                        <a:t>Delivery Manager</a:t>
                      </a:r>
                      <a:endParaRPr lang="ja-JP" altLang="en-US" sz="900" b="0" kern="120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[Name]</a:t>
                      </a:r>
                    </a:p>
                    <a:p>
                      <a:pPr lvl="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[Email]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altLang="ja-JP" sz="900" b="0" kern="1200">
                          <a:solidFill>
                            <a:schemeClr val="tx1"/>
                          </a:solidFill>
                          <a:latin typeface="Malgun Gothic"/>
                        </a:rPr>
                        <a:t>- Issue response and support</a:t>
                      </a:r>
                    </a:p>
                    <a:p>
                      <a:pPr marL="0" lvl="0" algn="l"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chemeClr val="tx1"/>
                          </a:solidFill>
                          <a:latin typeface="Malgun Gothic"/>
                        </a:rPr>
                        <a:t>- Escalate incidents to FPT Korea and [Partner] when they occur.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900" b="0" kern="1200" noProof="0">
                          <a:solidFill>
                            <a:schemeClr val="tx1"/>
                          </a:solidFill>
                          <a:latin typeface="Malgun Gothic"/>
                        </a:rPr>
                        <a:t>- Provide the policy and overall guidance for the process, but do not typically provide the direct day-to-day monitoring and controlling of the process</a:t>
                      </a:r>
                      <a:endParaRPr kumimoji="1" lang="en-US" sz="900" b="0" kern="1200" noProof="0">
                        <a:solidFill>
                          <a:schemeClr val="tx1"/>
                        </a:solidFill>
                        <a:latin typeface="Malgun Gothic"/>
                        <a:ea typeface="Meiryo UI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000283"/>
                  </a:ext>
                </a:extLst>
              </a:tr>
              <a:tr h="100583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ja" sz="900" b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/>
                        </a:rPr>
                        <a:t>4</a:t>
                      </a:r>
                      <a:endParaRPr kumimoji="1" lang="en-US" altLang="ja" sz="900" b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9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</a:rPr>
                        <a:t>AGS/FPT</a:t>
                      </a:r>
                    </a:p>
                    <a:p>
                      <a:pPr marL="0" lvl="0" algn="ctr">
                        <a:buNone/>
                      </a:pPr>
                      <a:r>
                        <a:rPr lang="en-US" sz="9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</a:rPr>
                        <a:t>Onshore</a:t>
                      </a:r>
                      <a:endParaRPr lang="en-US" sz="900" b="1">
                        <a:latin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rtl="0" eaLnBrk="1" latinLnBrk="0" hangingPunct="1">
                        <a:buNone/>
                      </a:pPr>
                      <a:r>
                        <a:rPr lang="en-US" altLang="ja-JP" sz="900" b="0" kern="120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PMA</a:t>
                      </a:r>
                      <a:endParaRPr lang="ja-JP" altLang="en-US" sz="900" b="0" kern="120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[Name]</a:t>
                      </a:r>
                    </a:p>
                    <a:p>
                      <a:pPr lvl="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[Email]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</a:rPr>
                        <a:t>- Responsibility for bridging between Korean customers and offshore project team in Vietnam</a:t>
                      </a:r>
                      <a:endParaRPr lang="en-US">
                        <a:latin typeface="Malgun Gothic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</a:rPr>
                        <a:t>- Study system business domain, working methods, and projects of customers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- Assist project management on monitoring and manage project's progress, quality, scope, cost and report to customer's project manager by weekly or daily 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- Assist clients in defining requirements and suggesting suitable ideas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</a:rPr>
                        <a:t>- Transferring the business requirements from the customer to the Offshoring project team 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900" b="0" i="0" u="none" strike="noStrike" kern="1200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- Organizing meetings/workshops, detecting and solving problems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117417"/>
                  </a:ext>
                </a:extLst>
              </a:tr>
              <a:tr h="1067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altLang="ja-JP" sz="900" b="0" kern="120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Developer</a:t>
                      </a:r>
                      <a:endParaRPr lang="ja-JP" altLang="en-US" sz="900" b="0" kern="120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[Name]</a:t>
                      </a:r>
                    </a:p>
                    <a:p>
                      <a:pPr lvl="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[Email]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</a:rPr>
                        <a:t>- Setting up the development environment</a:t>
                      </a:r>
                      <a:endParaRPr lang="en-US">
                        <a:latin typeface="Malgun Gothic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</a:rPr>
                        <a:t>- Clear requirement, plan development task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</a:rPr>
                        <a:t>- Performing tasks, coding, code reviews and give the commitment for quality and task completion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>
                          <a:latin typeface="Malgun Gothic"/>
                        </a:rPr>
                        <a:t>- Deploys the final deliverables to the production system</a:t>
                      </a:r>
                      <a:endParaRPr kumimoji="1" lang="en-US" sz="900">
                        <a:latin typeface="Malgun Gothic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668660"/>
                  </a:ext>
                </a:extLst>
              </a:tr>
              <a:tr h="525766"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ja" sz="900" b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/>
                        </a:rPr>
                        <a:t>5</a:t>
                      </a:r>
                      <a:endParaRPr kumimoji="1" lang="en-US" altLang="ja" sz="900" b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endParaRPr lang="ja-JP" altLang="en-US" sz="900" b="0" kern="120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ko-KR" sz="900" kern="1200" noProof="0">
                        <a:solidFill>
                          <a:schemeClr val="tx1"/>
                        </a:solidFill>
                        <a:latin typeface="Malgun Gothic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kumimoji="1" lang="en-US" sz="900" b="0" i="0" u="none" strike="noStrike" kern="1200" baseline="0" noProof="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29859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" sz="900" b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/>
                          <a:ea typeface="Meiryo UI"/>
                          <a:cs typeface="ＭＳ Ｐゴシック"/>
                        </a:rPr>
                        <a:t>6</a:t>
                      </a:r>
                      <a:endParaRPr kumimoji="1" lang="en-US" altLang="ja" sz="900" b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900" b="1">
                          <a:latin typeface="Malgun Gothic"/>
                        </a:rPr>
                        <a:t>AGS/FPT</a:t>
                      </a:r>
                    </a:p>
                    <a:p>
                      <a:pPr marL="0" lvl="0" algn="ctr">
                        <a:buNone/>
                      </a:pPr>
                      <a:r>
                        <a:rPr lang="en-US" sz="900" b="1">
                          <a:latin typeface="Malgun Gothic"/>
                        </a:rPr>
                        <a:t>Offshore</a:t>
                      </a:r>
                      <a:endParaRPr lang="ko-KR" altLang="en-US"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rtl="0" eaLnBrk="1" latinLnBrk="0" hangingPunct="1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  </a:t>
                      </a: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Internal PM</a:t>
                      </a:r>
                      <a:endParaRPr lang="ja-JP" altLang="en-US" sz="900" b="0" i="0" u="none" strike="noStrike" kern="12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7150" lvl="0" indent="0" algn="l" defTabSz="914400" rtl="0" eaLnBrk="1" latinLnBrk="1" hangingPunct="1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[Name]</a:t>
                      </a:r>
                    </a:p>
                    <a:p>
                      <a:pPr marL="57150" lvl="0" indent="0" algn="l" defTabSz="914400" rtl="0" eaLnBrk="1" latinLnBrk="1" hangingPunct="1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[Email]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125"/>
                        </a:lnSpc>
                        <a:buFontTx/>
                        <a:buNone/>
                      </a:pPr>
                      <a:r>
                        <a:rPr kumimoji="1" lang="en-US" sz="900">
                          <a:latin typeface="Malgun Gothic"/>
                        </a:rPr>
                        <a:t>- M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</a:rPr>
                        <a:t>onitoring and </a:t>
                      </a:r>
                      <a:r>
                        <a:rPr kumimoji="1" lang="en-US" altLang="ko-KR" sz="9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</a:rPr>
                        <a:t>manage 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</a:rPr>
                        <a:t>project's progress, detecting and solving problems</a:t>
                      </a:r>
                    </a:p>
                    <a:p>
                      <a:pPr marL="0" lvl="0" indent="0" algn="l">
                        <a:lnSpc>
                          <a:spcPts val="1125"/>
                        </a:lnSpc>
                        <a:buFontTx/>
                        <a:buNone/>
                      </a:pPr>
                      <a:r>
                        <a:rPr kumimoji="1" lang="en-US" sz="900">
                          <a:latin typeface="Malgun Gothic"/>
                        </a:rPr>
                        <a:t>- Managing the development progress of the Offshore team and collaborating with the Onshore team to deliver progress on time</a:t>
                      </a:r>
                    </a:p>
                  </a:txBody>
                  <a:tcPr marR="0" marT="91440" marB="914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57199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" sz="900" b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/>
                        </a:rPr>
                        <a:t>7</a:t>
                      </a:r>
                      <a:endParaRPr kumimoji="1" lang="en-US" altLang="ja" sz="900" b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/>
                        <a:ea typeface="Meiryo UI"/>
                        <a:cs typeface="ＭＳ Ｐ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900">
                          <a:latin typeface="Malgun Gothic"/>
                        </a:rPr>
                        <a:t>Developer</a:t>
                      </a:r>
                      <a:endParaRPr lang="ko-KR" altLang="en-US"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[Name]</a:t>
                      </a:r>
                    </a:p>
                    <a:p>
                      <a:pPr marL="0" lvl="0" algn="l" defTabSz="914400" rtl="0" eaLnBrk="1" latinLnBrk="1" hangingPunct="1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[Email]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- Setting development environment</a:t>
                      </a:r>
                      <a:endParaRPr lang="en-US">
                        <a:latin typeface="Malgun Gothic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- Clear requirement, plan development task</a:t>
                      </a:r>
                    </a:p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- Performing task, self-review and peer-review</a:t>
                      </a:r>
                      <a:endParaRPr lang="en-US" dirty="0">
                        <a:latin typeface="Malgun Gothic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- Coding, unit testing and give the commitment for quality and task completion</a:t>
                      </a:r>
                      <a:endParaRPr lang="en-US">
                        <a:latin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08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ja" sz="900" b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lgun Gothic"/>
                        </a:rPr>
                        <a:t>8</a:t>
                      </a:r>
                      <a:endParaRPr kumimoji="1" lang="en-US" altLang="ja" sz="900" b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900">
                          <a:latin typeface="Malgun Gothic"/>
                        </a:rPr>
                        <a:t>Quality Assurance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[Name]</a:t>
                      </a:r>
                    </a:p>
                    <a:p>
                      <a:pPr marL="0" lvl="0" algn="l" defTabSz="914400" rtl="0" eaLnBrk="1" latinLnBrk="1" hangingPunct="1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+mn-ea"/>
                          <a:cs typeface="+mn-cs"/>
                        </a:rPr>
                        <a:t>[Email]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- Supervising the implementation of the project development process according to AGS/FPT's standards to ensure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864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3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8352A-1975-B351-AFD2-13CCFC80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8DBCAA-53DA-B6B7-5993-1ABAEFF6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59A7F2-685D-1942-821F-D759A34464DF}" type="slidenum">
              <a:rPr lang="en-VN" smtClean="0"/>
              <a:pPr/>
              <a:t>6</a:t>
            </a:fld>
            <a:endParaRPr lang="en-V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F8D77F0-A73A-2A26-15A2-6D0456FFF18B}"/>
              </a:ext>
            </a:extLst>
          </p:cNvPr>
          <p:cNvSpPr/>
          <p:nvPr/>
        </p:nvSpPr>
        <p:spPr>
          <a:xfrm>
            <a:off x="529390" y="4983307"/>
            <a:ext cx="4633000" cy="254596"/>
          </a:xfrm>
          <a:prstGeom prst="roundRect">
            <a:avLst/>
          </a:prstGeom>
          <a:solidFill>
            <a:srgbClr val="F16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BE42AE-2936-A808-F999-FBE51EE4D65D}"/>
              </a:ext>
            </a:extLst>
          </p:cNvPr>
          <p:cNvSpPr txBox="1"/>
          <p:nvPr/>
        </p:nvSpPr>
        <p:spPr>
          <a:xfrm>
            <a:off x="529390" y="3441031"/>
            <a:ext cx="1168910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bg1"/>
                </a:solidFill>
                <a:latin typeface="BR Omega"/>
              </a:rPr>
              <a:t>02.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AD88D-CEBC-E460-4294-06CC0D39844F}"/>
              </a:ext>
            </a:extLst>
          </p:cNvPr>
          <p:cNvSpPr txBox="1"/>
          <p:nvPr/>
        </p:nvSpPr>
        <p:spPr>
          <a:xfrm>
            <a:off x="529390" y="4297229"/>
            <a:ext cx="62442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tx1">
                    <a:lumMod val="85000"/>
                    <a:lumOff val="15000"/>
                  </a:schemeClr>
                </a:solidFill>
                <a:latin typeface="BR Omega"/>
              </a:rPr>
              <a:t>Scope &amp; Duration</a:t>
            </a:r>
            <a:endParaRPr lang="en-VN" sz="6000" b="1">
              <a:solidFill>
                <a:schemeClr val="tx1">
                  <a:lumMod val="85000"/>
                  <a:lumOff val="15000"/>
                </a:schemeClr>
              </a:solidFill>
              <a:latin typeface="BR Omega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4395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3BAE9-C056-7844-4041-772D14855A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3412" y="0"/>
            <a:ext cx="7726549" cy="800100"/>
          </a:xfrm>
        </p:spPr>
        <p:txBody>
          <a:bodyPr>
            <a:normAutofit/>
          </a:bodyPr>
          <a:lstStyle/>
          <a:p>
            <a:r>
              <a:rPr lang="en-US" altLang="ko-KR" sz="2800" b="1">
                <a:ea typeface="맑은 고딕"/>
              </a:rPr>
              <a:t>2-1. About Project &amp; Scope</a:t>
            </a:r>
            <a:endParaRPr lang="ko-KR" altLang="en-US" sz="2800" b="1">
              <a:ea typeface="맑은 고딕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4BFAE23-71B3-C991-CD85-C074930BF0A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37054" y="815975"/>
            <a:ext cx="11223625" cy="50339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altLang="ko-KR" sz="1800" b="1" dirty="0">
                <a:latin typeface="Malgun Gothic"/>
                <a:ea typeface="맑은 고딕"/>
              </a:rPr>
              <a:t>Project name: [Project Name]</a:t>
            </a:r>
            <a:endParaRPr lang="en-US" altLang="ko-KR" sz="1600" dirty="0">
              <a:latin typeface="맑은 고딕"/>
              <a:ea typeface="맑은 고딕"/>
              <a:cs typeface="Times New Roman"/>
            </a:endParaRPr>
          </a:p>
          <a:p>
            <a:r>
              <a:rPr lang="en-US" altLang="ko-KR" sz="1800" b="1" dirty="0">
                <a:latin typeface="Malgun Gothic"/>
                <a:ea typeface="맑은 고딕"/>
              </a:rPr>
              <a:t>Description: [Description]</a:t>
            </a:r>
            <a:endParaRPr lang="en-US" altLang="ko-KR" sz="1800" dirty="0">
              <a:latin typeface="맑은 고딕" panose="02110004020202020204"/>
              <a:ea typeface="맑은 고딕"/>
            </a:endParaRPr>
          </a:p>
          <a:p>
            <a:r>
              <a:rPr lang="en-US" altLang="ko-KR" sz="1800" b="1" dirty="0">
                <a:latin typeface="Malgun Gothic"/>
                <a:ea typeface="맑은 고딕"/>
                <a:cs typeface="Times New Roman"/>
              </a:rPr>
              <a:t>Duration</a:t>
            </a:r>
            <a:r>
              <a:rPr lang="en-US" altLang="ko-KR" sz="1800" b="1" dirty="0">
                <a:latin typeface="Malgun Gothic"/>
                <a:ea typeface="맑은 고딕"/>
              </a:rPr>
              <a:t>: 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ko-KR" sz="1300" dirty="0">
                <a:latin typeface="Malgun Gothic"/>
                <a:ea typeface="맑은 고딕"/>
              </a:rPr>
              <a:t>[</a:t>
            </a:r>
            <a:r>
              <a:rPr lang="en-US" altLang="ko-KR" sz="1300" dirty="0" err="1">
                <a:latin typeface="Malgun Gothic"/>
                <a:ea typeface="맑은 고딕"/>
              </a:rPr>
              <a:t>yyyy</a:t>
            </a:r>
            <a:r>
              <a:rPr lang="en-US" altLang="ko-KR" sz="1300" dirty="0">
                <a:latin typeface="Malgun Gothic"/>
                <a:ea typeface="맑은 고딕"/>
              </a:rPr>
              <a:t>-mm-dd] to [</a:t>
            </a:r>
            <a:r>
              <a:rPr lang="en-US" altLang="ko-KR" sz="1300" dirty="0" err="1">
                <a:latin typeface="Malgun Gothic"/>
                <a:ea typeface="맑은 고딕"/>
              </a:rPr>
              <a:t>yyyy</a:t>
            </a:r>
            <a:r>
              <a:rPr lang="en-US" altLang="ko-KR" sz="1300" dirty="0">
                <a:latin typeface="Malgun Gothic"/>
                <a:ea typeface="맑은 고딕"/>
              </a:rPr>
              <a:t>-mm-dd]</a:t>
            </a:r>
          </a:p>
          <a:p>
            <a:r>
              <a:rPr lang="en-US" altLang="ko-KR" sz="1800" b="1" dirty="0">
                <a:latin typeface="Malgun Gothic"/>
                <a:ea typeface="맑은 고딕"/>
              </a:rPr>
              <a:t>Working Time: </a:t>
            </a:r>
            <a:r>
              <a:rPr lang="en-US" altLang="ko-KR" sz="1300" dirty="0">
                <a:latin typeface="Malgun Gothic"/>
                <a:ea typeface="맑은 고딕"/>
              </a:rPr>
              <a:t>09:00 AM – 06:00 PM (KST) of Monday to Friday</a:t>
            </a:r>
          </a:p>
          <a:p>
            <a:pPr>
              <a:lnSpc>
                <a:spcPct val="120000"/>
              </a:lnSpc>
            </a:pPr>
            <a:r>
              <a:rPr lang="en-US" altLang="ko-KR" sz="1800" b="1" dirty="0">
                <a:latin typeface="Malgun Gothic"/>
                <a:ea typeface="맑은 고딕"/>
              </a:rPr>
              <a:t>Resource availability: </a:t>
            </a:r>
            <a:r>
              <a:rPr lang="en-US" altLang="ko-KR" sz="1400" dirty="0">
                <a:latin typeface="+mj-lt"/>
                <a:ea typeface="맑은 고딕"/>
              </a:rPr>
              <a:t>The time slots represent primary availability. Project can also support at alternative times within working hours (09:00–18:00 KST); however, responses may be delayed compared to the primary slots.</a:t>
            </a:r>
          </a:p>
          <a:p>
            <a:pPr lvl="1"/>
            <a:r>
              <a:rPr lang="en-US" sz="1400" b="1" dirty="0">
                <a:latin typeface="+mj-lt"/>
                <a:ea typeface="+mn-lt"/>
                <a:cs typeface="+mn-lt"/>
              </a:rPr>
              <a:t>Engineer (1.0 MM):</a:t>
            </a:r>
            <a:r>
              <a:rPr lang="en-US" altLang="ko-KR" sz="1400" b="1" dirty="0">
                <a:latin typeface="+mj-lt"/>
                <a:ea typeface="맑은 고딕"/>
              </a:rPr>
              <a:t> </a:t>
            </a:r>
            <a:r>
              <a:rPr lang="en-US" altLang="ko-KR" sz="1400" dirty="0">
                <a:latin typeface="+mj-lt"/>
                <a:ea typeface="맑은 고딕"/>
              </a:rPr>
              <a:t>09:00–18:00 (KST) within Working Hours</a:t>
            </a:r>
          </a:p>
          <a:p>
            <a:pPr lvl="1"/>
            <a:r>
              <a:rPr lang="en-US" sz="1400" b="1" dirty="0">
                <a:latin typeface="+mj-lt"/>
                <a:ea typeface="+mn-lt"/>
                <a:cs typeface="+mn-lt"/>
              </a:rPr>
              <a:t>Engineer (0.5 MM): </a:t>
            </a:r>
            <a:r>
              <a:rPr lang="en-US" altLang="ko-KR" sz="1400" dirty="0">
                <a:latin typeface="+mj-lt"/>
                <a:ea typeface="맑은 고딕"/>
              </a:rPr>
              <a:t>09:00–13:00 (KST) or 14:00–18:00 (KST) (fixed per sprint)</a:t>
            </a:r>
          </a:p>
          <a:p>
            <a:pPr lvl="1"/>
            <a:r>
              <a:rPr lang="en-US" sz="1400" b="1" dirty="0">
                <a:latin typeface="+mj-lt"/>
                <a:ea typeface="+mn-lt"/>
                <a:cs typeface="+mn-lt"/>
              </a:rPr>
              <a:t>Korean </a:t>
            </a:r>
            <a:r>
              <a:rPr lang="en-US" sz="1400" b="1" dirty="0" err="1">
                <a:latin typeface="+mj-lt"/>
                <a:ea typeface="+mn-lt"/>
                <a:cs typeface="+mn-lt"/>
              </a:rPr>
              <a:t>Comtor</a:t>
            </a:r>
            <a:r>
              <a:rPr lang="en-US" sz="1400" b="1" dirty="0">
                <a:latin typeface="+mj-lt"/>
                <a:ea typeface="+mn-lt"/>
                <a:cs typeface="+mn-lt"/>
              </a:rPr>
              <a:t> (0.2 MM/0.15 MM): </a:t>
            </a:r>
            <a:r>
              <a:rPr lang="en-US" sz="1400" dirty="0">
                <a:latin typeface="+mj-lt"/>
                <a:ea typeface="+mn-lt"/>
                <a:cs typeface="+mn-lt"/>
              </a:rPr>
              <a:t>15:00–17:00 (KST) (fixed)</a:t>
            </a:r>
          </a:p>
          <a:p>
            <a:pPr lvl="1"/>
            <a:r>
              <a:rPr lang="en-US" sz="1400" b="1" dirty="0">
                <a:latin typeface="+mj-lt"/>
                <a:ea typeface="+mn-lt"/>
                <a:cs typeface="+mn-lt"/>
              </a:rPr>
              <a:t>Project Manager (0.1 MM): </a:t>
            </a:r>
            <a:r>
              <a:rPr lang="en-US" sz="1400" dirty="0">
                <a:latin typeface="+mj-lt"/>
                <a:ea typeface="+mn-lt"/>
                <a:cs typeface="+mn-lt"/>
              </a:rPr>
              <a:t>10:00–10:30 (KST) and 15:00–15:30 (KST) (fixed)</a:t>
            </a:r>
          </a:p>
          <a:p>
            <a:r>
              <a:rPr lang="en-US" altLang="ko-KR" sz="1800" b="1" dirty="0">
                <a:latin typeface="Malgun Gothic"/>
                <a:ea typeface="맑은 고딕"/>
              </a:rPr>
              <a:t>Holiday: </a:t>
            </a:r>
            <a:r>
              <a:rPr lang="en-US" altLang="ko-KR" sz="1300" dirty="0">
                <a:latin typeface="Malgun Gothic"/>
                <a:ea typeface="맑은 고딕"/>
              </a:rPr>
              <a:t>Follow Korean Holiday </a:t>
            </a:r>
          </a:p>
          <a:p>
            <a:r>
              <a:rPr lang="en-US" sz="1800" b="1" dirty="0">
                <a:latin typeface="Malgun Gothic"/>
                <a:ea typeface="Malgun Gothic"/>
              </a:rPr>
              <a:t>Location: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dirty="0">
                <a:latin typeface="Malgun Gothic"/>
                <a:ea typeface="Malgun Gothic"/>
              </a:rPr>
              <a:t>(City), (Area Name) </a:t>
            </a:r>
            <a:r>
              <a:rPr lang="en-US" sz="1400" i="1" dirty="0">
                <a:latin typeface="Malgun Gothic"/>
                <a:ea typeface="Malgun Gothic"/>
              </a:rPr>
              <a:t>[i.e.: Hanoi, AGS 8F]</a:t>
            </a:r>
            <a:endParaRPr lang="en-US" dirty="0">
              <a:ea typeface="맑은 고딕" panose="02110004020202020204"/>
            </a:endParaRPr>
          </a:p>
          <a:p>
            <a:r>
              <a:rPr lang="en-US" altLang="ko-KR" sz="1800" b="1" dirty="0">
                <a:latin typeface="Malgun Gothic"/>
                <a:ea typeface="맑은 고딕"/>
              </a:rPr>
              <a:t>Statement of Work: </a:t>
            </a:r>
            <a:endParaRPr lang="ko-KR" altLang="en-US" sz="1800" b="1" dirty="0">
              <a:latin typeface="Malgun Gothic"/>
              <a:ea typeface="Malgun Gothic"/>
            </a:endParaRPr>
          </a:p>
          <a:p>
            <a:r>
              <a:rPr lang="en-US" altLang="ko-KR" sz="1800" b="1" dirty="0">
                <a:latin typeface="Malgun Gothic"/>
                <a:ea typeface="맑은 고딕"/>
              </a:rPr>
              <a:t>Technology:</a:t>
            </a:r>
            <a:endParaRPr lang="ko-KR" altLang="en-US" sz="1800" b="1" dirty="0">
              <a:latin typeface="Malgun Gothic"/>
              <a:ea typeface="Malgun Gothi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6826" y="5928601"/>
            <a:ext cx="112006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/>
              <a:t>Note:</a:t>
            </a:r>
            <a:r>
              <a:rPr lang="en-US" sz="1200" i="1" dirty="0"/>
              <a:t> </a:t>
            </a:r>
          </a:p>
          <a:p>
            <a:r>
              <a:rPr lang="en-US" sz="1200" i="1" dirty="0"/>
              <a:t>- The Customer and the project team will discuss and finalize the working time for each member.</a:t>
            </a:r>
            <a:br>
              <a:rPr lang="en-US" sz="1200" i="1" dirty="0"/>
            </a:br>
            <a:r>
              <a:rPr lang="en-US" sz="1200" i="1" dirty="0"/>
              <a:t>- Not including holidays that fall on weekends.</a:t>
            </a:r>
          </a:p>
        </p:txBody>
      </p:sp>
    </p:spTree>
    <p:extLst>
      <p:ext uri="{BB962C8B-B14F-4D97-AF65-F5344CB8AC3E}">
        <p14:creationId xmlns:p14="http://schemas.microsoft.com/office/powerpoint/2010/main" val="433567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36E7E-6E09-1E23-D27A-78E4ADE2B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5413-541D-3A0D-73F2-2BA7D0AA0A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9826" y="0"/>
            <a:ext cx="8085138" cy="800100"/>
          </a:xfrm>
        </p:spPr>
        <p:txBody>
          <a:bodyPr>
            <a:normAutofit/>
          </a:bodyPr>
          <a:lstStyle/>
          <a:p>
            <a:r>
              <a:rPr lang="en-US" sz="2800" b="1">
                <a:ea typeface="맑은 고딕"/>
              </a:rPr>
              <a:t>2-4. Master plan</a:t>
            </a:r>
          </a:p>
        </p:txBody>
      </p:sp>
    </p:spTree>
    <p:extLst>
      <p:ext uri="{BB962C8B-B14F-4D97-AF65-F5344CB8AC3E}">
        <p14:creationId xmlns:p14="http://schemas.microsoft.com/office/powerpoint/2010/main" val="1913058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BBC1C-AC47-1342-44ED-70359DC9B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10D47E-B8EC-913D-7257-4788A4223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59A7F2-685D-1942-821F-D759A34464DF}" type="slidenum">
              <a:rPr lang="en-VN" smtClean="0"/>
              <a:pPr/>
              <a:t>9</a:t>
            </a:fld>
            <a:endParaRPr lang="en-V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0F13BE4-4E2F-D900-F7EB-48494A1E6769}"/>
              </a:ext>
            </a:extLst>
          </p:cNvPr>
          <p:cNvSpPr/>
          <p:nvPr/>
        </p:nvSpPr>
        <p:spPr>
          <a:xfrm>
            <a:off x="529390" y="4983307"/>
            <a:ext cx="4633000" cy="254596"/>
          </a:xfrm>
          <a:prstGeom prst="roundRect">
            <a:avLst/>
          </a:prstGeom>
          <a:solidFill>
            <a:srgbClr val="F16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6D1A3-8E43-F6DD-9558-A85C0E746C6A}"/>
              </a:ext>
            </a:extLst>
          </p:cNvPr>
          <p:cNvSpPr txBox="1"/>
          <p:nvPr/>
        </p:nvSpPr>
        <p:spPr>
          <a:xfrm>
            <a:off x="529390" y="3441031"/>
            <a:ext cx="1168910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bg1"/>
                </a:solidFill>
                <a:latin typeface="BR Omega"/>
              </a:rPr>
              <a:t>03.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69B01-F0AC-C150-E5CB-44D4B45A12BF}"/>
              </a:ext>
            </a:extLst>
          </p:cNvPr>
          <p:cNvSpPr txBox="1"/>
          <p:nvPr/>
        </p:nvSpPr>
        <p:spPr>
          <a:xfrm>
            <a:off x="529390" y="4297229"/>
            <a:ext cx="62442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tx1">
                    <a:lumMod val="85000"/>
                    <a:lumOff val="15000"/>
                  </a:schemeClr>
                </a:solidFill>
                <a:latin typeface="BR Omega"/>
              </a:rPr>
              <a:t>Project Approach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59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B34F6-3054-CE3C-C5A3-F7061F91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3000ED-B7B7-718D-C074-CD3AF3191544}"/>
              </a:ext>
            </a:extLst>
          </p:cNvPr>
          <p:cNvCxnSpPr/>
          <p:nvPr/>
        </p:nvCxnSpPr>
        <p:spPr>
          <a:xfrm flipH="1">
            <a:off x="6700594" y="4622174"/>
            <a:ext cx="935327" cy="76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8C7D6D-2A3B-5BE3-A4D7-2D7239876A83}"/>
              </a:ext>
            </a:extLst>
          </p:cNvPr>
          <p:cNvCxnSpPr>
            <a:cxnSpLocks/>
          </p:cNvCxnSpPr>
          <p:nvPr/>
        </p:nvCxnSpPr>
        <p:spPr>
          <a:xfrm>
            <a:off x="6184022" y="1070520"/>
            <a:ext cx="18288" cy="5537082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ys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E9A51D8-20C5-9897-9B00-FD1ADC6442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0740" y="-707"/>
            <a:ext cx="8085138" cy="800100"/>
          </a:xfrm>
        </p:spPr>
        <p:txBody>
          <a:bodyPr>
            <a:normAutofit/>
          </a:bodyPr>
          <a:lstStyle/>
          <a:p>
            <a:r>
              <a:rPr lang="en-US" sz="2800" b="1">
                <a:ea typeface="맑은 고딕"/>
              </a:rPr>
              <a:t>3-1. Proposed Working Process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51435" y="2184085"/>
            <a:ext cx="1469929" cy="6468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Assign Tasks of 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Development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350" y="1068406"/>
            <a:ext cx="656097" cy="44624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500774" y="1470838"/>
            <a:ext cx="863933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atinLnBrk="0" hangingPunct="0"/>
            <a:r>
              <a:rPr lang="en-US" sz="1000" b="1">
                <a:solidFill>
                  <a:srgbClr val="0B0A0C"/>
                </a:solidFill>
                <a:latin typeface="+mj-lt"/>
                <a:ea typeface="+mj-ea"/>
                <a:cs typeface="+mj-cs"/>
                <a:sym typeface="Arial"/>
              </a:rPr>
              <a:t>[Customer] </a:t>
            </a:r>
            <a:r>
              <a:rPr kumimoji="0" lang="en-US" sz="1000" b="1" i="0" u="none" strike="noStrike" cap="none" spc="0" normalizeH="0" baseline="0">
                <a:ln>
                  <a:noFill/>
                </a:ln>
                <a:solidFill>
                  <a:srgbClr val="0B0A0C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Team 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08665" y="2181074"/>
            <a:ext cx="1748008" cy="6468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800" b="1">
                <a:solidFill>
                  <a:schemeClr val="tx1"/>
                </a:solidFill>
                <a:ea typeface="+mn-lt"/>
                <a:cs typeface="+mn-lt"/>
              </a:rPr>
              <a:t>Confirm requirements, </a:t>
            </a:r>
            <a:r>
              <a:rPr lang="en-US" sz="800" b="1">
                <a:solidFill>
                  <a:schemeClr val="tx1"/>
                </a:solidFill>
                <a:latin typeface="Malgun Gothic"/>
                <a:ea typeface="Malgun Gothic"/>
                <a:cs typeface="+mn-lt"/>
              </a:rPr>
              <a:t>Transfer the requirements and assign tasks to Development Team Offshore &amp; Onshore</a:t>
            </a:r>
            <a:endParaRPr lang="en-US" sz="800" b="1">
              <a:solidFill>
                <a:schemeClr val="tx1"/>
              </a:solidFill>
              <a:ea typeface="맑은 고딕"/>
            </a:endParaRPr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836" y="1027324"/>
            <a:ext cx="548732" cy="45213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548943" y="1458235"/>
            <a:ext cx="1270604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atinLnBrk="0" hangingPunct="0"/>
            <a:r>
              <a:rPr lang="en-US" sz="1000" b="1"/>
              <a:t>AGS/ FPT Offshore Team</a:t>
            </a:r>
            <a:endParaRPr kumimoji="0" lang="en-US" sz="1000" b="1" i="0" u="none" strike="noStrike" cap="none" spc="0" normalizeH="0" baseline="0">
              <a:ln>
                <a:noFill/>
              </a:ln>
              <a:solidFill>
                <a:srgbClr val="0B0A0C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613789" y="2168563"/>
            <a:ext cx="1680042" cy="64880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Develop tasks/Fix bugs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38240" y="2167245"/>
            <a:ext cx="1259865" cy="6468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Unit Test</a:t>
            </a:r>
          </a:p>
        </p:txBody>
      </p:sp>
      <p:cxnSp>
        <p:nvCxnSpPr>
          <p:cNvPr id="84" name="Straight Arrow Connector 83"/>
          <p:cNvCxnSpPr>
            <a:cxnSpLocks/>
            <a:stCxn id="69" idx="2"/>
          </p:cNvCxnSpPr>
          <p:nvPr/>
        </p:nvCxnSpPr>
        <p:spPr>
          <a:xfrm flipH="1">
            <a:off x="1927496" y="1717057"/>
            <a:ext cx="5245" cy="4670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cxnSpLocks/>
          </p:cNvCxnSpPr>
          <p:nvPr/>
        </p:nvCxnSpPr>
        <p:spPr>
          <a:xfrm flipV="1">
            <a:off x="2630889" y="2494961"/>
            <a:ext cx="1087301" cy="301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cxnSpLocks/>
          </p:cNvCxnSpPr>
          <p:nvPr/>
        </p:nvCxnSpPr>
        <p:spPr>
          <a:xfrm flipV="1">
            <a:off x="5456673" y="2502490"/>
            <a:ext cx="1157116" cy="1152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cxnSpLocks/>
          </p:cNvCxnSpPr>
          <p:nvPr/>
        </p:nvCxnSpPr>
        <p:spPr>
          <a:xfrm flipV="1">
            <a:off x="8293831" y="2490657"/>
            <a:ext cx="744409" cy="23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253897" y="3217203"/>
            <a:ext cx="1259865" cy="6468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 Verify result </a:t>
            </a:r>
          </a:p>
        </p:txBody>
      </p:sp>
      <p:sp>
        <p:nvSpPr>
          <p:cNvPr id="106" name="Flowchart: Decision 105"/>
          <p:cNvSpPr/>
          <p:nvPr/>
        </p:nvSpPr>
        <p:spPr>
          <a:xfrm>
            <a:off x="1632608" y="4472134"/>
            <a:ext cx="501308" cy="310900"/>
          </a:xfrm>
          <a:prstGeom prst="flowChartDecision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B0A0C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cxnSp>
        <p:nvCxnSpPr>
          <p:cNvPr id="113" name="Straight Arrow Connector 112"/>
          <p:cNvCxnSpPr>
            <a:cxnSpLocks/>
          </p:cNvCxnSpPr>
          <p:nvPr/>
        </p:nvCxnSpPr>
        <p:spPr>
          <a:xfrm flipH="1">
            <a:off x="1883262" y="3864026"/>
            <a:ext cx="568" cy="6081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3136660" y="4338436"/>
            <a:ext cx="1093428" cy="56799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Gather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Bugs/Issues and 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requirements</a:t>
            </a:r>
          </a:p>
        </p:txBody>
      </p:sp>
      <p:cxnSp>
        <p:nvCxnSpPr>
          <p:cNvPr id="120" name="Straight Arrow Connector 119"/>
          <p:cNvCxnSpPr>
            <a:cxnSpLocks/>
          </p:cNvCxnSpPr>
          <p:nvPr/>
        </p:nvCxnSpPr>
        <p:spPr>
          <a:xfrm flipV="1">
            <a:off x="2133916" y="4622434"/>
            <a:ext cx="1002744" cy="515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5528183" y="4338434"/>
            <a:ext cx="1188466" cy="5679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Perform Bug/Issue Analysis</a:t>
            </a:r>
            <a:endParaRPr lang="en-US">
              <a:solidFill>
                <a:schemeClr val="tx1"/>
              </a:solidFill>
              <a:ea typeface="맑은 고딕" panose="02110004020202020204"/>
            </a:endParaRPr>
          </a:p>
        </p:txBody>
      </p:sp>
      <p:cxnSp>
        <p:nvCxnSpPr>
          <p:cNvPr id="125" name="Straight Arrow Connector 124"/>
          <p:cNvCxnSpPr>
            <a:cxnSpLocks/>
          </p:cNvCxnSpPr>
          <p:nvPr/>
        </p:nvCxnSpPr>
        <p:spPr>
          <a:xfrm flipV="1">
            <a:off x="4230088" y="4622433"/>
            <a:ext cx="1298095" cy="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Flowchart: Decision 126"/>
          <p:cNvSpPr/>
          <p:nvPr/>
        </p:nvSpPr>
        <p:spPr>
          <a:xfrm>
            <a:off x="7110686" y="4407221"/>
            <a:ext cx="686550" cy="427966"/>
          </a:xfrm>
          <a:prstGeom prst="flowChartDecision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spc="0" normalizeH="0" baseline="0">
                <a:ln>
                  <a:noFill/>
                </a:ln>
                <a:solidFill>
                  <a:srgbClr val="0B0A0C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Bug?</a:t>
            </a:r>
          </a:p>
        </p:txBody>
      </p:sp>
      <p:cxnSp>
        <p:nvCxnSpPr>
          <p:cNvPr id="129" name="Straight Arrow Connector 128"/>
          <p:cNvCxnSpPr>
            <a:cxnSpLocks/>
          </p:cNvCxnSpPr>
          <p:nvPr/>
        </p:nvCxnSpPr>
        <p:spPr>
          <a:xfrm flipH="1" flipV="1">
            <a:off x="7453810" y="2817366"/>
            <a:ext cx="151" cy="15898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3902144" y="5373383"/>
            <a:ext cx="1551214" cy="6468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Confirm with [Customer] Team 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and cancel Bug</a:t>
            </a:r>
          </a:p>
        </p:txBody>
      </p:sp>
      <p:cxnSp>
        <p:nvCxnSpPr>
          <p:cNvPr id="131" name="Elbow Connector 130"/>
          <p:cNvCxnSpPr>
            <a:cxnSpLocks/>
          </p:cNvCxnSpPr>
          <p:nvPr/>
        </p:nvCxnSpPr>
        <p:spPr>
          <a:xfrm rot="5400000">
            <a:off x="5796758" y="3716180"/>
            <a:ext cx="538196" cy="2776210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1254191" y="5852648"/>
            <a:ext cx="1259865" cy="64682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Release on 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Production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050160" y="4160841"/>
            <a:ext cx="590099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1"/>
              <a:t>Yes</a:t>
            </a:r>
            <a:endParaRPr kumimoji="0" lang="en-US" sz="1000" b="1" i="0" u="none" strike="noStrike" cap="none" spc="0" normalizeH="0" baseline="0">
              <a:ln>
                <a:noFill/>
              </a:ln>
              <a:solidFill>
                <a:srgbClr val="0B0A0C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922804" y="4957259"/>
            <a:ext cx="834691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none" strike="noStrike" cap="none" spc="0" normalizeH="0" baseline="0">
                <a:ln>
                  <a:noFill/>
                </a:ln>
                <a:solidFill>
                  <a:srgbClr val="0B0A0C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Pass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0385" y="4421648"/>
            <a:ext cx="834691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none" strike="noStrike" cap="none" spc="0" normalizeH="0" baseline="0">
                <a:ln>
                  <a:noFill/>
                </a:ln>
                <a:solidFill>
                  <a:srgbClr val="0B0A0C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Fail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084152" y="5104165"/>
            <a:ext cx="834691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none" strike="noStrike" cap="none" spc="0" normalizeH="0" baseline="0">
                <a:ln>
                  <a:noFill/>
                </a:ln>
                <a:solidFill>
                  <a:srgbClr val="0B0A0C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No</a:t>
            </a:r>
          </a:p>
        </p:txBody>
      </p:sp>
      <p:sp>
        <p:nvSpPr>
          <p:cNvPr id="137" name="Flowchart: Terminator 136"/>
          <p:cNvSpPr/>
          <p:nvPr/>
        </p:nvSpPr>
        <p:spPr>
          <a:xfrm>
            <a:off x="9130175" y="5981304"/>
            <a:ext cx="1078085" cy="389510"/>
          </a:xfrm>
          <a:prstGeom prst="flowChartTerminator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b="1"/>
              <a:t>End</a:t>
            </a: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0B0A0C"/>
              </a:solidFill>
              <a:effectLst/>
              <a:uFillTx/>
              <a:sym typeface="Arial"/>
            </a:endParaRPr>
          </a:p>
        </p:txBody>
      </p:sp>
      <p:cxnSp>
        <p:nvCxnSpPr>
          <p:cNvPr id="139" name="Elbow Connector 138"/>
          <p:cNvCxnSpPr>
            <a:cxnSpLocks/>
          </p:cNvCxnSpPr>
          <p:nvPr/>
        </p:nvCxnSpPr>
        <p:spPr>
          <a:xfrm>
            <a:off x="5453358" y="5696795"/>
            <a:ext cx="4215860" cy="284509"/>
          </a:xfrm>
          <a:prstGeom prst="bent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Elbow Connector 139"/>
          <p:cNvCxnSpPr>
            <a:cxnSpLocks/>
          </p:cNvCxnSpPr>
          <p:nvPr/>
        </p:nvCxnSpPr>
        <p:spPr>
          <a:xfrm flipV="1">
            <a:off x="2514056" y="6176059"/>
            <a:ext cx="6616119" cy="1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cxnSpLocks/>
          </p:cNvCxnSpPr>
          <p:nvPr/>
        </p:nvCxnSpPr>
        <p:spPr>
          <a:xfrm>
            <a:off x="1883262" y="4783034"/>
            <a:ext cx="862" cy="106961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2841473" y="1070521"/>
            <a:ext cx="18288" cy="5537082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ys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" name="Picture 71" descr="클립아트, 그래픽, 만화 영화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817B86F0-1A36-AD69-6796-2C837B4F2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584" y="1026767"/>
            <a:ext cx="548732" cy="4521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37FF46-5A20-6158-B5E4-37BD6624584E}"/>
              </a:ext>
            </a:extLst>
          </p:cNvPr>
          <p:cNvSpPr txBox="1"/>
          <p:nvPr/>
        </p:nvSpPr>
        <p:spPr>
          <a:xfrm>
            <a:off x="3840846" y="1463008"/>
            <a:ext cx="145775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000" b="1">
                <a:latin typeface="Malgun Gothic"/>
                <a:ea typeface="맑은 고딕"/>
              </a:rPr>
              <a:t>AGS/ FPT Onshore team</a:t>
            </a:r>
            <a:endParaRPr lang="ko-KR" altLang="en-US">
              <a:ea typeface="맑은 고딕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71FF29-5F72-A96C-8E57-665EB9B6A415}"/>
              </a:ext>
            </a:extLst>
          </p:cNvPr>
          <p:cNvSpPr/>
          <p:nvPr/>
        </p:nvSpPr>
        <p:spPr>
          <a:xfrm>
            <a:off x="3195372" y="3211979"/>
            <a:ext cx="746856" cy="6468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Malgun Gothic"/>
                <a:ea typeface="Malgun Gothic"/>
              </a:rPr>
              <a:t>Release to customer/Deploy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DABE65-28CC-48C5-3F08-442092AF1CCC}"/>
              </a:ext>
            </a:extLst>
          </p:cNvPr>
          <p:cNvCxnSpPr>
            <a:cxnSpLocks/>
          </p:cNvCxnSpPr>
          <p:nvPr/>
        </p:nvCxnSpPr>
        <p:spPr>
          <a:xfrm flipH="1">
            <a:off x="2513762" y="3535391"/>
            <a:ext cx="681610" cy="522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87E54A6D-6B17-E30B-1D54-CDCF28D1C944}"/>
              </a:ext>
            </a:extLst>
          </p:cNvPr>
          <p:cNvSpPr/>
          <p:nvPr/>
        </p:nvSpPr>
        <p:spPr>
          <a:xfrm>
            <a:off x="4348197" y="3315058"/>
            <a:ext cx="686550" cy="427966"/>
          </a:xfrm>
          <a:prstGeom prst="flowChartDecision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>
                <a:solidFill>
                  <a:srgbClr val="0B0A0C"/>
                </a:solidFill>
                <a:latin typeface="+mj-lt"/>
                <a:ea typeface="+mj-ea"/>
                <a:cs typeface="+mj-cs"/>
                <a:sym typeface="Arial"/>
              </a:rPr>
              <a:t>OK</a:t>
            </a:r>
            <a:r>
              <a:rPr kumimoji="0" lang="en-US" sz="800" b="0" i="0" u="none" strike="noStrike" cap="none" spc="0" normalizeH="0" baseline="0">
                <a:ln>
                  <a:noFill/>
                </a:ln>
                <a:solidFill>
                  <a:srgbClr val="0B0A0C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174A27-D01C-601A-AD03-B91B7C233C50}"/>
              </a:ext>
            </a:extLst>
          </p:cNvPr>
          <p:cNvSpPr/>
          <p:nvPr/>
        </p:nvSpPr>
        <p:spPr>
          <a:xfrm>
            <a:off x="5370391" y="3207060"/>
            <a:ext cx="596389" cy="6468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Malgun Gothic"/>
                <a:ea typeface="Malgun Gothic"/>
              </a:rPr>
              <a:t>Perform QA testing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7F7142B-A452-6C1A-4922-2E6905CB0D2D}"/>
              </a:ext>
            </a:extLst>
          </p:cNvPr>
          <p:cNvCxnSpPr>
            <a:cxnSpLocks/>
          </p:cNvCxnSpPr>
          <p:nvPr/>
        </p:nvCxnSpPr>
        <p:spPr>
          <a:xfrm flipH="1">
            <a:off x="3942228" y="3529041"/>
            <a:ext cx="405969" cy="635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725CCCA-77EF-A80F-2E9A-E13E86C3D61F}"/>
              </a:ext>
            </a:extLst>
          </p:cNvPr>
          <p:cNvCxnSpPr>
            <a:cxnSpLocks/>
          </p:cNvCxnSpPr>
          <p:nvPr/>
        </p:nvCxnSpPr>
        <p:spPr>
          <a:xfrm flipH="1" flipV="1">
            <a:off x="5034747" y="3529041"/>
            <a:ext cx="335644" cy="143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Elbow Connector 130">
            <a:extLst>
              <a:ext uri="{FF2B5EF4-FFF2-40B4-BE49-F238E27FC236}">
                <a16:creationId xmlns:a16="http://schemas.microsoft.com/office/drawing/2014/main" id="{99442F1C-DE3E-4266-16C1-BC0B737729C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70123" y="3764372"/>
            <a:ext cx="879409" cy="836711"/>
          </a:xfrm>
          <a:prstGeom prst="bent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0D27331-89D2-6451-FC88-07E4984B35EA}"/>
              </a:ext>
            </a:extLst>
          </p:cNvPr>
          <p:cNvSpPr txBox="1"/>
          <p:nvPr/>
        </p:nvSpPr>
        <p:spPr>
          <a:xfrm>
            <a:off x="4030813" y="3278457"/>
            <a:ext cx="315065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1"/>
              <a:t>Yes</a:t>
            </a:r>
            <a:endParaRPr kumimoji="0" lang="en-US" sz="1000" b="1" i="0" u="none" strike="noStrike" cap="none" spc="0" normalizeH="0" baseline="0">
              <a:ln>
                <a:noFill/>
              </a:ln>
              <a:solidFill>
                <a:srgbClr val="0B0A0C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7C03749-7E33-D9D9-9D07-ABA0D56BF63A}"/>
              </a:ext>
            </a:extLst>
          </p:cNvPr>
          <p:cNvSpPr txBox="1"/>
          <p:nvPr/>
        </p:nvSpPr>
        <p:spPr>
          <a:xfrm>
            <a:off x="4727474" y="3835685"/>
            <a:ext cx="307273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1"/>
              <a:t>No</a:t>
            </a:r>
            <a:endParaRPr kumimoji="0" lang="en-US" sz="1000" b="1" i="0" u="none" strike="noStrike" cap="none" spc="0" normalizeH="0" baseline="0">
              <a:ln>
                <a:noFill/>
              </a:ln>
              <a:solidFill>
                <a:srgbClr val="0B0A0C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cxnSp>
        <p:nvCxnSpPr>
          <p:cNvPr id="16" name="Elbow Connector 130">
            <a:extLst>
              <a:ext uri="{FF2B5EF4-FFF2-40B4-BE49-F238E27FC236}">
                <a16:creationId xmlns:a16="http://schemas.microsoft.com/office/drawing/2014/main" id="{0A0F793C-57AB-D16B-3B86-5AE19E092B84}"/>
              </a:ext>
            </a:extLst>
          </p:cNvPr>
          <p:cNvCxnSpPr>
            <a:cxnSpLocks/>
            <a:stCxn id="81" idx="2"/>
            <a:endCxn id="127" idx="3"/>
          </p:cNvCxnSpPr>
          <p:nvPr/>
        </p:nvCxnSpPr>
        <p:spPr>
          <a:xfrm rot="5400000">
            <a:off x="7829137" y="2782168"/>
            <a:ext cx="1807136" cy="1870937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072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9AC4-5D0B-6AD8-0F2E-C057734F2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 Placeholder 1">
            <a:extLst>
              <a:ext uri="{FF2B5EF4-FFF2-40B4-BE49-F238E27FC236}">
                <a16:creationId xmlns:a16="http://schemas.microsoft.com/office/drawing/2014/main" id="{F086D07C-A759-44F4-CFCA-333C29B22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5863" y="6458479"/>
            <a:ext cx="2743200" cy="365125"/>
          </a:xfrm>
        </p:spPr>
        <p:txBody>
          <a:bodyPr/>
          <a:lstStyle/>
          <a:p>
            <a:fld id="{3C59A7F2-685D-1942-821F-D759A34464DF}" type="slidenum">
              <a:rPr lang="en-VN" smtClean="0">
                <a:latin typeface="+mn-lt"/>
              </a:rPr>
              <a:pPr/>
              <a:t>11</a:t>
            </a:fld>
            <a:endParaRPr lang="en-VN">
              <a:latin typeface="+mn-lt"/>
            </a:endParaRPr>
          </a:p>
        </p:txBody>
      </p:sp>
      <p:graphicFrame>
        <p:nvGraphicFramePr>
          <p:cNvPr id="2" name="Diagram 1"/>
          <p:cNvGraphicFramePr/>
          <p:nvPr/>
        </p:nvGraphicFramePr>
        <p:xfrm>
          <a:off x="503837" y="1219200"/>
          <a:ext cx="11159246" cy="735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EAD79C-A250-678A-EE8F-C8B0935BC816}"/>
              </a:ext>
            </a:extLst>
          </p:cNvPr>
          <p:cNvSpPr/>
          <p:nvPr/>
        </p:nvSpPr>
        <p:spPr>
          <a:xfrm>
            <a:off x="899973" y="2177648"/>
            <a:ext cx="1609186" cy="282221"/>
          </a:xfrm>
          <a:prstGeom prst="roundRect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prstClr val="black"/>
                </a:solidFill>
                <a:latin typeface="Calibri"/>
                <a:ea typeface="Malgun Gothic"/>
                <a:cs typeface="Calibri"/>
              </a:rPr>
              <a:t>AGS/FPT</a:t>
            </a:r>
            <a:endParaRPr kumimoji="0" lang="en-VN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algun Gothic"/>
              <a:cs typeface="Calibri" panose="020F050202020403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EAD79C-A250-678A-EE8F-C8B0935BC816}"/>
              </a:ext>
            </a:extLst>
          </p:cNvPr>
          <p:cNvSpPr/>
          <p:nvPr/>
        </p:nvSpPr>
        <p:spPr>
          <a:xfrm>
            <a:off x="9629365" y="2177648"/>
            <a:ext cx="1609186" cy="282221"/>
          </a:xfrm>
          <a:prstGeom prst="roundRect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prstClr val="black"/>
                </a:solidFill>
                <a:latin typeface="Calibri"/>
                <a:ea typeface="Malgun Gothic"/>
                <a:cs typeface="Calibri"/>
              </a:rPr>
              <a:t>AGS/FPT &amp; [Customer]</a:t>
            </a:r>
            <a:endParaRPr kumimoji="0" lang="en-VN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Malgun Gothic"/>
              <a:cs typeface="Calibri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791422" y="2177648"/>
            <a:ext cx="0" cy="438996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982755" y="2177647"/>
            <a:ext cx="0" cy="438996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9331055" y="2177647"/>
            <a:ext cx="0" cy="438996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537240" y="2562944"/>
            <a:ext cx="2192786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atinLnBrk="0"/>
            <a:r>
              <a:rPr lang="en-US" sz="1000" b="1">
                <a:cs typeface="Segoe UI"/>
              </a:rPr>
              <a:t>AGS/FPT’s PM </a:t>
            </a:r>
            <a:r>
              <a:rPr lang="en-US" sz="1000">
                <a:cs typeface="Segoe UI"/>
              </a:rPr>
              <a:t>is in-charge for project management,  control the project scope, create work breakdown structure (WBS) and project plan.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2791422" y="2562944"/>
            <a:ext cx="2181514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AGS/FPT’s Business Analysts (BA) </a:t>
            </a:r>
            <a:r>
              <a:rPr lang="en-US" sz="1000" dirty="0">
                <a:cs typeface="Segoe UI"/>
              </a:rPr>
              <a:t>are in-charge to study requirement and update existing SRS (if needed).</a:t>
            </a:r>
            <a:r>
              <a:rPr lang="en-US" sz="1000" err="1">
                <a:cs typeface="Segoe UI"/>
              </a:rPr>
              <a:t/>
            </a:r>
            <a:r>
              <a:rPr lang="en-US" sz="1000" dirty="0">
                <a:cs typeface="Segoe UI"/>
              </a:rPr>
              <a:t/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The BA </a:t>
            </a:r>
            <a:r>
              <a:rPr lang="en-US" sz="1000">
                <a:cs typeface="Segoe UI"/>
              </a:rPr>
              <a:t>also will in-charge to support clarify requirement for Development team.</a:t>
            </a:r>
          </a:p>
          <a:p>
            <a:pPr latinLnBrk="0"/>
            <a:endParaRPr lang="en-US" sz="1000">
              <a:cs typeface="Segoe UI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BEAD79C-A250-678A-EE8F-C8B0935BC816}"/>
              </a:ext>
            </a:extLst>
          </p:cNvPr>
          <p:cNvSpPr/>
          <p:nvPr/>
        </p:nvSpPr>
        <p:spPr>
          <a:xfrm>
            <a:off x="7467127" y="2177647"/>
            <a:ext cx="1609186" cy="282221"/>
          </a:xfrm>
          <a:prstGeom prst="roundRect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prstClr val="black"/>
                </a:solidFill>
                <a:latin typeface="Calibri"/>
                <a:ea typeface="Malgun Gothic"/>
                <a:cs typeface="Calibri"/>
              </a:rPr>
              <a:t>AGS/</a:t>
            </a:r>
            <a:r>
              <a:rPr kumimoji="0" lang="en-US" sz="1200" b="1" i="0" u="none" strike="noStrike" kern="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FPT &amp; [Customer]</a:t>
            </a:r>
            <a:endParaRPr kumimoji="0" lang="en-VN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Malgun Gothic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7235971" y="2575177"/>
            <a:ext cx="2069891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lvl="1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AGS/FPT’s Testers </a:t>
            </a:r>
            <a:r>
              <a:rPr lang="en-US" sz="1000">
                <a:cs typeface="Segoe UI"/>
              </a:rPr>
              <a:t>will handle functional Testing and Integration Testing</a:t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AGS/FPT’s developers </a:t>
            </a:r>
            <a:r>
              <a:rPr lang="en-US" sz="1000">
                <a:cs typeface="Segoe UI"/>
              </a:rPr>
              <a:t>will response for any bug fixing.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7154823" y="2177647"/>
            <a:ext cx="0" cy="438996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9445053" y="2596691"/>
            <a:ext cx="2129325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AGS/FPT’s developers </a:t>
            </a:r>
            <a:r>
              <a:rPr lang="en-US" sz="1000">
                <a:cs typeface="Segoe UI"/>
              </a:rPr>
              <a:t>and</a:t>
            </a:r>
            <a:r>
              <a:rPr lang="en-US" sz="1000" b="1" dirty="0">
                <a:cs typeface="Segoe UI"/>
              </a:rPr>
              <a:t> </a:t>
            </a:r>
            <a:r>
              <a:rPr lang="en-US" sz="1000" b="1">
                <a:cs typeface="Segoe UI"/>
              </a:rPr>
              <a:t>AGS/FPT’s Tester </a:t>
            </a:r>
            <a:r>
              <a:rPr lang="en-US" sz="1000">
                <a:cs typeface="Segoe UI"/>
              </a:rPr>
              <a:t>will support on UAT (verify, fix bug)</a:t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AGS/FPT’s Tester </a:t>
            </a:r>
            <a:r>
              <a:rPr lang="en-US" sz="1000">
                <a:cs typeface="Segoe UI"/>
              </a:rPr>
              <a:t>will create user manual guide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BEAD79C-A250-678A-EE8F-C8B0935BC816}"/>
              </a:ext>
            </a:extLst>
          </p:cNvPr>
          <p:cNvSpPr/>
          <p:nvPr/>
        </p:nvSpPr>
        <p:spPr>
          <a:xfrm>
            <a:off x="3129148" y="2177646"/>
            <a:ext cx="1609186" cy="282221"/>
          </a:xfrm>
          <a:prstGeom prst="roundRect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prstClr val="black"/>
                </a:solidFill>
                <a:latin typeface="Calibri"/>
                <a:ea typeface="Malgun Gothic"/>
                <a:cs typeface="Calibri"/>
              </a:rPr>
              <a:t>AGS/</a:t>
            </a:r>
            <a:r>
              <a:rPr lang="en-US" sz="1200" b="1" kern="0" noProof="0">
                <a:solidFill>
                  <a:prstClr val="black"/>
                </a:solidFill>
                <a:latin typeface="Calibri"/>
                <a:ea typeface="Malgun Gothic"/>
                <a:cs typeface="Calibri"/>
              </a:rPr>
              <a:t>FPT</a:t>
            </a:r>
            <a:endParaRPr kumimoji="0" lang="en-VN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Malgun Gothic"/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5086933" y="2591384"/>
            <a:ext cx="2042697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lvl="1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AGS/FPT’s Developers </a:t>
            </a:r>
            <a:r>
              <a:rPr lang="en-US" sz="1000">
                <a:cs typeface="Segoe UI"/>
              </a:rPr>
              <a:t>will develop the [Product/Deliverable] as per the agreed technical solution</a:t>
            </a:r>
          </a:p>
          <a:p>
            <a:pPr marL="171450" lvl="1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AGS/FPT’s Developers </a:t>
            </a:r>
            <a:r>
              <a:rPr lang="en-US" sz="1000">
                <a:cs typeface="Segoe UI"/>
              </a:rPr>
              <a:t>will integrate the [Product/Deliverable] with the APIs </a:t>
            </a:r>
            <a:r>
              <a:rPr lang="en-US" sz="1000" b="1">
                <a:cs typeface="Segoe UI"/>
              </a:rPr>
              <a:t>provided by [Customer]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BEAD79C-A250-678A-EE8F-C8B0935BC816}"/>
              </a:ext>
            </a:extLst>
          </p:cNvPr>
          <p:cNvSpPr/>
          <p:nvPr/>
        </p:nvSpPr>
        <p:spPr>
          <a:xfrm>
            <a:off x="5309878" y="2177645"/>
            <a:ext cx="1609186" cy="282221"/>
          </a:xfrm>
          <a:prstGeom prst="roundRect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prstClr val="black"/>
                </a:solidFill>
                <a:latin typeface="Calibri"/>
                <a:ea typeface="Malgun Gothic"/>
                <a:cs typeface="Calibri"/>
              </a:rPr>
              <a:t>AGS/</a:t>
            </a:r>
            <a:r>
              <a:rPr lang="en-US" sz="1200" b="1" kern="0" noProof="0">
                <a:solidFill>
                  <a:prstClr val="black"/>
                </a:solidFill>
                <a:latin typeface="Calibri"/>
                <a:ea typeface="Malgun Gothic"/>
                <a:cs typeface="Calibri"/>
              </a:rPr>
              <a:t>FPT</a:t>
            </a:r>
            <a:endParaRPr kumimoji="0" lang="en-VN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Malgun Gothic"/>
              <a:cs typeface="Calibri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AB82F60-928C-D5D4-DD22-EB197962D321}"/>
              </a:ext>
            </a:extLst>
          </p:cNvPr>
          <p:cNvCxnSpPr>
            <a:cxnSpLocks/>
          </p:cNvCxnSpPr>
          <p:nvPr/>
        </p:nvCxnSpPr>
        <p:spPr>
          <a:xfrm flipV="1">
            <a:off x="133118" y="4329438"/>
            <a:ext cx="11637336" cy="23301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sp>
        <p:nvSpPr>
          <p:cNvPr id="33" name="직사각형 144">
            <a:extLst>
              <a:ext uri="{FF2B5EF4-FFF2-40B4-BE49-F238E27FC236}">
                <a16:creationId xmlns:a16="http://schemas.microsoft.com/office/drawing/2014/main" id="{7D9D0E62-4C98-4DC4-0BCC-D836D27ADF0A}"/>
              </a:ext>
            </a:extLst>
          </p:cNvPr>
          <p:cNvSpPr/>
          <p:nvPr/>
        </p:nvSpPr>
        <p:spPr>
          <a:xfrm>
            <a:off x="157830" y="2562943"/>
            <a:ext cx="358227" cy="1702655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>
                <a:shade val="50000"/>
              </a:srgbClr>
            </a:solidFill>
            <a:prstDash val="solid"/>
          </a:ln>
          <a:effectLst/>
        </p:spPr>
        <p:txBody>
          <a:bodyPr vert="vert27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Pretendard" panose="02000503000000020004" pitchFamily="50" charset="-127"/>
                <a:cs typeface="Pretendard" panose="02000503000000020004" pitchFamily="50" charset="-127"/>
              </a:rPr>
              <a:t>FPT</a:t>
            </a:r>
            <a:r>
              <a:rPr kumimoji="1" lang="en-US" altLang="ko-KR" sz="1400" b="1" i="0" u="none" strike="noStrike" kern="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Pretendard" panose="02000503000000020004" pitchFamily="50" charset="-127"/>
                <a:cs typeface="Pretendard" panose="02000503000000020004" pitchFamily="50" charset="-127"/>
              </a:rPr>
              <a:t> R&amp;R</a:t>
            </a:r>
            <a:endParaRPr kumimoji="1" lang="ko-KR" altLang="en-US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직사각형 144">
            <a:extLst>
              <a:ext uri="{FF2B5EF4-FFF2-40B4-BE49-F238E27FC236}">
                <a16:creationId xmlns:a16="http://schemas.microsoft.com/office/drawing/2014/main" id="{7D9D0E62-4C98-4DC4-0BCC-D836D27ADF0A}"/>
              </a:ext>
            </a:extLst>
          </p:cNvPr>
          <p:cNvSpPr/>
          <p:nvPr/>
        </p:nvSpPr>
        <p:spPr>
          <a:xfrm>
            <a:off x="157830" y="4461211"/>
            <a:ext cx="358227" cy="2219686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>
                <a:shade val="50000"/>
              </a:srgbClr>
            </a:solidFill>
            <a:prstDash val="solid"/>
          </a:ln>
          <a:effectLst/>
        </p:spPr>
        <p:txBody>
          <a:bodyPr vert="vert27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Pretendard" panose="02000503000000020004" pitchFamily="50" charset="-127"/>
                <a:cs typeface="Pretendard" panose="02000503000000020004" pitchFamily="50" charset="-127"/>
              </a:rPr>
              <a:t>[Customer]</a:t>
            </a:r>
            <a:r>
              <a:rPr kumimoji="1" lang="en-US" altLang="ko-KR" sz="1400" b="1" i="0" u="none" strike="noStrike" kern="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Pretendard" panose="02000503000000020004" pitchFamily="50" charset="-127"/>
                <a:cs typeface="Pretendard" panose="02000503000000020004" pitchFamily="50" charset="-127"/>
              </a:rPr>
              <a:t> R&amp;R</a:t>
            </a:r>
            <a:endParaRPr kumimoji="1" lang="ko-KR" altLang="en-US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530847" y="4416578"/>
            <a:ext cx="219917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atinLnBrk="0"/>
            <a:r>
              <a:rPr lang="en-US" sz="1000" b="1">
                <a:cs typeface="Segoe UI"/>
              </a:rPr>
              <a:t>[Customer]’s PM </a:t>
            </a:r>
            <a:r>
              <a:rPr lang="en-US" sz="1000">
                <a:cs typeface="Segoe UI"/>
              </a:rPr>
              <a:t>is in-charge to review and confirm the project schedule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2782459" y="4416578"/>
            <a:ext cx="214786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[Customer] </a:t>
            </a:r>
            <a:r>
              <a:rPr lang="en-US" sz="1000">
                <a:cs typeface="Segoe UI"/>
              </a:rPr>
              <a:t>will help to provide [necessary tool/license/account] for AGS/FPT team to study</a:t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[Customer]</a:t>
            </a:r>
            <a:r>
              <a:rPr lang="en-US" sz="1000">
                <a:cs typeface="Segoe UI"/>
              </a:rPr>
              <a:t> will also help to answer the Q&amp;A from AGS/FPT team when clarifying requirement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5035188" y="4416578"/>
            <a:ext cx="2094441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[Customer] </a:t>
            </a:r>
            <a:r>
              <a:rPr lang="en-US" sz="1000">
                <a:cs typeface="Segoe UI"/>
              </a:rPr>
              <a:t>will provide the necessary APIs/technical specifications for AGS/FPT team to develop the [Product/Deliverable].</a:t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[Customer] </a:t>
            </a:r>
            <a:r>
              <a:rPr lang="en-US" sz="1000">
                <a:cs typeface="Segoe UI"/>
              </a:rPr>
              <a:t>is in-charge to review and give feedback for the [Product/Deliverable] on demo to improve and prevent any misunderstanding.</a:t>
            </a:r>
            <a:endParaRPr lang="en-US" sz="1000" b="1">
              <a:cs typeface="Segoe U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7227007" y="4414482"/>
            <a:ext cx="202340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[Customer] </a:t>
            </a:r>
            <a:r>
              <a:rPr lang="en-US" sz="1000">
                <a:cs typeface="Segoe UI"/>
              </a:rPr>
              <a:t>will in-charge to review and approve test cases created by AGS/</a:t>
            </a:r>
            <a:r>
              <a:rPr lang="en-US" sz="1000" b="1">
                <a:cs typeface="Segoe UI"/>
              </a:rPr>
              <a:t>FPT team.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9411698" y="4414482"/>
            <a:ext cx="2162680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[Customer]</a:t>
            </a:r>
            <a:r>
              <a:rPr lang="en-US" sz="1000">
                <a:cs typeface="Segoe UI"/>
              </a:rPr>
              <a:t> will in-charge for system deployment. </a:t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[Customer]</a:t>
            </a:r>
            <a:r>
              <a:rPr lang="en-US" sz="1000">
                <a:cs typeface="Segoe UI"/>
              </a:rPr>
              <a:t> will in-charge for acceptance test.</a:t>
            </a:r>
            <a:endParaRPr lang="en-US" sz="1000" b="1">
              <a:cs typeface="Segoe UI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 b="1">
                <a:cs typeface="Segoe UI"/>
              </a:rPr>
              <a:t>[Customer]</a:t>
            </a:r>
            <a:r>
              <a:rPr lang="en-US" sz="1000">
                <a:cs typeface="Segoe UI"/>
              </a:rPr>
              <a:t> will help to verify and confirm for any bug fixing on UAT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A89B3C7-C854-50AE-624F-C7B96E78DDEC}"/>
              </a:ext>
            </a:extLst>
          </p:cNvPr>
          <p:cNvSpPr txBox="1">
            <a:spLocks/>
          </p:cNvSpPr>
          <p:nvPr/>
        </p:nvSpPr>
        <p:spPr>
          <a:xfrm>
            <a:off x="450740" y="-707"/>
            <a:ext cx="8085138" cy="800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ea typeface="맑은 고딕"/>
              </a:rPr>
              <a:t>3-1. Proposed Working Process</a:t>
            </a:r>
          </a:p>
        </p:txBody>
      </p:sp>
    </p:spTree>
    <p:extLst>
      <p:ext uri="{BB962C8B-B14F-4D97-AF65-F5344CB8AC3E}">
        <p14:creationId xmlns:p14="http://schemas.microsoft.com/office/powerpoint/2010/main" val="2381113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E7FDD-9F9F-3CE8-E991-2C8F34ED3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4073DF-BF1F-2FDE-816C-9E58AEBFA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59A7F2-685D-1942-821F-D759A34464DF}" type="slidenum">
              <a:rPr lang="en-VN" smtClean="0"/>
              <a:pPr/>
              <a:t>12</a:t>
            </a:fld>
            <a:endParaRPr lang="en-V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174381-9325-E544-41E4-AF9A1DA87253}"/>
              </a:ext>
            </a:extLst>
          </p:cNvPr>
          <p:cNvSpPr/>
          <p:nvPr/>
        </p:nvSpPr>
        <p:spPr>
          <a:xfrm>
            <a:off x="529390" y="4983307"/>
            <a:ext cx="4633000" cy="254596"/>
          </a:xfrm>
          <a:prstGeom prst="roundRect">
            <a:avLst/>
          </a:prstGeom>
          <a:solidFill>
            <a:srgbClr val="F16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52548F-2AA9-1C8E-5AC8-2D09CFE974F7}"/>
              </a:ext>
            </a:extLst>
          </p:cNvPr>
          <p:cNvSpPr txBox="1"/>
          <p:nvPr/>
        </p:nvSpPr>
        <p:spPr>
          <a:xfrm>
            <a:off x="529390" y="3441031"/>
            <a:ext cx="1168910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bg1"/>
                </a:solidFill>
                <a:latin typeface="BR Omega"/>
              </a:rPr>
              <a:t>04.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8C6954-D9B4-7264-E361-BDE4C4F0FB67}"/>
              </a:ext>
            </a:extLst>
          </p:cNvPr>
          <p:cNvSpPr txBox="1"/>
          <p:nvPr/>
        </p:nvSpPr>
        <p:spPr>
          <a:xfrm>
            <a:off x="529390" y="4297229"/>
            <a:ext cx="62442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tx1">
                    <a:lumMod val="85000"/>
                    <a:lumOff val="15000"/>
                  </a:schemeClr>
                </a:solidFill>
                <a:latin typeface="BR Omega"/>
              </a:rPr>
              <a:t>Deliverables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91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6F9612-6F54-C1E3-FDC3-9861A229D4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9467" y="0"/>
            <a:ext cx="8085138" cy="800100"/>
          </a:xfrm>
        </p:spPr>
        <p:txBody>
          <a:bodyPr>
            <a:normAutofit/>
          </a:bodyPr>
          <a:lstStyle/>
          <a:p>
            <a:r>
              <a:rPr lang="en-US" altLang="ko-KR" sz="2800" b="1">
                <a:ea typeface="맑은 고딕"/>
              </a:rPr>
              <a:t>4-1. Deliverables</a:t>
            </a:r>
            <a:endParaRPr lang="ko-KR" altLang="en-US" sz="2800" b="1">
              <a:ea typeface="맑은 고딕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85ACB6-C1B5-D2B7-36E9-A3BD0955E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332200"/>
              </p:ext>
            </p:extLst>
          </p:nvPr>
        </p:nvGraphicFramePr>
        <p:xfrm>
          <a:off x="608436" y="1167997"/>
          <a:ext cx="10974720" cy="4941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80237">
                  <a:extLst>
                    <a:ext uri="{9D8B030D-6E8A-4147-A177-3AD203B41FA5}">
                      <a16:colId xmlns:a16="http://schemas.microsoft.com/office/drawing/2014/main" val="3994951014"/>
                    </a:ext>
                  </a:extLst>
                </a:gridCol>
                <a:gridCol w="2127836">
                  <a:extLst>
                    <a:ext uri="{9D8B030D-6E8A-4147-A177-3AD203B41FA5}">
                      <a16:colId xmlns:a16="http://schemas.microsoft.com/office/drawing/2014/main" val="4122448706"/>
                    </a:ext>
                  </a:extLst>
                </a:gridCol>
                <a:gridCol w="1228020">
                  <a:extLst>
                    <a:ext uri="{9D8B030D-6E8A-4147-A177-3AD203B41FA5}">
                      <a16:colId xmlns:a16="http://schemas.microsoft.com/office/drawing/2014/main" val="1890842418"/>
                    </a:ext>
                  </a:extLst>
                </a:gridCol>
                <a:gridCol w="1092577">
                  <a:extLst>
                    <a:ext uri="{9D8B030D-6E8A-4147-A177-3AD203B41FA5}">
                      <a16:colId xmlns:a16="http://schemas.microsoft.com/office/drawing/2014/main" val="1247941783"/>
                    </a:ext>
                  </a:extLst>
                </a:gridCol>
                <a:gridCol w="1228020">
                  <a:extLst>
                    <a:ext uri="{9D8B030D-6E8A-4147-A177-3AD203B41FA5}">
                      <a16:colId xmlns:a16="http://schemas.microsoft.com/office/drawing/2014/main" val="2062794591"/>
                    </a:ext>
                  </a:extLst>
                </a:gridCol>
                <a:gridCol w="1634351">
                  <a:extLst>
                    <a:ext uri="{9D8B030D-6E8A-4147-A177-3AD203B41FA5}">
                      <a16:colId xmlns:a16="http://schemas.microsoft.com/office/drawing/2014/main" val="2817227529"/>
                    </a:ext>
                  </a:extLst>
                </a:gridCol>
                <a:gridCol w="3183679">
                  <a:extLst>
                    <a:ext uri="{9D8B030D-6E8A-4147-A177-3AD203B41FA5}">
                      <a16:colId xmlns:a16="http://schemas.microsoft.com/office/drawing/2014/main" val="3026747590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solidFill>
                            <a:schemeClr val="bg1"/>
                          </a:solidFill>
                        </a:rPr>
                        <a:t>＃</a:t>
                      </a:r>
                      <a:endParaRPr kumimoji="1" lang="ja-JP" altLang="en-US" sz="1400">
                        <a:solidFill>
                          <a:schemeClr val="bg1"/>
                        </a:solidFill>
                        <a:latin typeface="+mn-ea"/>
                        <a:ea typeface="Meiryo UI" panose="020B0604030504040204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Name</a:t>
                      </a:r>
                      <a:r>
                        <a:rPr lang="en-US" altLang="ja-JP" sz="1400">
                          <a:solidFill>
                            <a:schemeClr val="bg1"/>
                          </a:solidFill>
                        </a:rPr>
                        <a:t> (EN)</a:t>
                      </a:r>
                      <a:endParaRPr kumimoji="1" lang="ja-JP" altLang="en-US" sz="1400">
                        <a:solidFill>
                          <a:schemeClr val="bg1"/>
                        </a:solidFill>
                        <a:latin typeface="+mn-ea"/>
                        <a:ea typeface="Meiryo UI" panose="020B0604030504040204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1400">
                          <a:solidFill>
                            <a:schemeClr val="bg1"/>
                          </a:solidFill>
                        </a:rPr>
                        <a:t>Language</a:t>
                      </a:r>
                      <a:endParaRPr kumimoji="1" lang="en-US" altLang="ja-JP" sz="1400">
                        <a:solidFill>
                          <a:schemeClr val="bg1"/>
                        </a:solidFill>
                        <a:latin typeface="+mn-ea"/>
                        <a:ea typeface="Meiryo UI" panose="020B0604030504040204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PIC</a:t>
                      </a:r>
                      <a:endParaRPr kumimoji="1" lang="ja-JP" altLang="en-US" sz="1400">
                        <a:solidFill>
                          <a:schemeClr val="bg1"/>
                        </a:solidFill>
                        <a:latin typeface="+mn-ea"/>
                        <a:ea typeface="Meiryo UI" panose="020B0604030504040204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Approval</a:t>
                      </a:r>
                      <a:endParaRPr kumimoji="1" lang="ja-JP" altLang="en-US" sz="1400">
                        <a:solidFill>
                          <a:schemeClr val="bg1"/>
                        </a:solidFill>
                        <a:latin typeface="+mn-ea"/>
                        <a:ea typeface="Meiryo UI" panose="020B0604030504040204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1400">
                          <a:solidFill>
                            <a:schemeClr val="bg1"/>
                          </a:solidFill>
                        </a:rPr>
                        <a:t>Release Date</a:t>
                      </a:r>
                      <a:endParaRPr kumimoji="1" lang="en-US" altLang="ja-JP" sz="1400">
                        <a:solidFill>
                          <a:schemeClr val="bg1"/>
                        </a:solidFill>
                        <a:latin typeface="+mn-ea"/>
                        <a:ea typeface="Meiryo UI" panose="020B0604030504040204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noProof="0">
                          <a:solidFill>
                            <a:schemeClr val="bg1"/>
                          </a:solidFill>
                        </a:rPr>
                        <a:t>Acceptance Criteria</a:t>
                      </a:r>
                    </a:p>
                  </a:txBody>
                  <a:tcPr marL="108000" marR="108000" anchor="ctr"/>
                </a:tc>
                <a:extLst>
                  <a:ext uri="{0D108BD9-81ED-4DB2-BD59-A6C34878D82A}">
                    <a16:rowId xmlns:a16="http://schemas.microsoft.com/office/drawing/2014/main" val="1723345337"/>
                  </a:ext>
                </a:extLst>
              </a:tr>
              <a:tr h="70937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1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ja-JP" sz="1200" b="0" kern="1200">
                          <a:solidFill>
                            <a:schemeClr val="dk1"/>
                          </a:solidFill>
                        </a:rPr>
                        <a:t>Source</a:t>
                      </a:r>
                      <a:r>
                        <a:rPr lang="en-US" altLang="ja-JP" sz="1200" b="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vi-VN" altLang="ja-JP" sz="1200" b="0" kern="1200">
                          <a:solidFill>
                            <a:schemeClr val="dk1"/>
                          </a:solidFill>
                        </a:rPr>
                        <a:t>code</a:t>
                      </a:r>
                      <a:endParaRPr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EN</a:t>
                      </a:r>
                      <a:endParaRPr kumimoji="1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AGS/FPT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noProof="0">
                          <a:solidFill>
                            <a:schemeClr val="dk1"/>
                          </a:solidFill>
                        </a:rPr>
                        <a:t>According to </a:t>
                      </a:r>
                      <a:endParaRPr lang="vi-VN" sz="1200" b="0" u="none" strike="noStrike" kern="1200" noProof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noProof="0">
                          <a:solidFill>
                            <a:schemeClr val="dk1"/>
                          </a:solidFill>
                        </a:rPr>
                        <a:t>customer's request</a:t>
                      </a:r>
                      <a:endParaRPr kumimoji="1" lang="en-US" sz="1200" b="0" i="0" u="none" strike="noStrike" kern="1200" noProof="0">
                        <a:solidFill>
                          <a:schemeClr val="dk1"/>
                        </a:solidFill>
                        <a:latin typeface="Arial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1" lang="en-US" sz="1200" b="0" kern="1200" noProof="0">
                          <a:solidFill>
                            <a:schemeClr val="dk1"/>
                          </a:solidFill>
                        </a:rPr>
                        <a:t>All Test cases in Unit Test must be passed​.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1" lang="en-US" sz="1200" b="0" kern="1200" noProof="0">
                          <a:solidFill>
                            <a:schemeClr val="dk1"/>
                          </a:solidFill>
                        </a:rPr>
                        <a:t>100% code standard bugs must be fixed</a:t>
                      </a:r>
                      <a:br>
                        <a:rPr kumimoji="1" lang="en-US" sz="1200" b="0" kern="1200" noProof="0" dirty="0">
                          <a:solidFill>
                            <a:srgbClr val="000000"/>
                          </a:solidFill>
                        </a:rPr>
                      </a:br>
                      <a:r>
                        <a:rPr kumimoji="1" lang="en-US" sz="1200" b="0" kern="1200" noProof="0">
                          <a:solidFill>
                            <a:schemeClr val="dk1"/>
                          </a:solidFill>
                        </a:rPr>
                        <a:t>The outputs are approved by </a:t>
                      </a: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r>
                        <a:rPr kumimoji="1" lang="en-US" sz="1200" b="0" kern="1200" noProof="0">
                          <a:solidFill>
                            <a:schemeClr val="dk1"/>
                          </a:solidFill>
                        </a:rPr>
                        <a:t>.</a:t>
                      </a:r>
                      <a:endParaRPr kumimoji="1" lang="en-US" sz="1200" b="0" i="0" kern="1200">
                        <a:solidFill>
                          <a:schemeClr val="dk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3650180176"/>
                  </a:ext>
                </a:extLst>
              </a:tr>
              <a:tr h="6384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2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vi-VN" altLang="ja-JP" sz="1200" b="0" kern="1200" err="1">
                          <a:solidFill>
                            <a:schemeClr val="dk1"/>
                          </a:solidFill>
                        </a:rPr>
                        <a:t>Test</a:t>
                      </a:r>
                      <a:r>
                        <a:rPr lang="vi-VN" altLang="ja-JP" sz="1200" b="0" kern="12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vi-VN" altLang="ja-JP" sz="1200" b="0" kern="1200" baseline="0" err="1">
                          <a:solidFill>
                            <a:schemeClr val="dk1"/>
                          </a:solidFill>
                        </a:rPr>
                        <a:t>case</a:t>
                      </a: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​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KR/EN</a:t>
                      </a:r>
                      <a:endParaRPr kumimoji="1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</a:rPr>
                        <a:t>AGS/FPT</a:t>
                      </a:r>
                      <a:endParaRPr kumimoji="1" lang="en-US" i="0" u="none" strike="noStrike" noProof="0">
                        <a:latin typeface="Malgun Gothic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Arial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noProof="0">
                          <a:solidFill>
                            <a:schemeClr val="dk1"/>
                          </a:solidFill>
                        </a:rPr>
                        <a:t>According to </a:t>
                      </a:r>
                      <a:endParaRPr lang="vi-VN" sz="1200" b="0" u="none" strike="noStrike" kern="1200" noProof="0">
                        <a:solidFill>
                          <a:schemeClr val="dk1"/>
                        </a:solidFill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noProof="0">
                          <a:solidFill>
                            <a:schemeClr val="dk1"/>
                          </a:solidFill>
                        </a:rPr>
                        <a:t>customer's request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Arial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noProof="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0" kern="1200" noProof="0">
                          <a:solidFill>
                            <a:schemeClr val="dk1"/>
                          </a:solidFill>
                        </a:rPr>
                        <a:t>The outputs are approved by </a:t>
                      </a: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r>
                        <a:rPr kumimoji="1" lang="en-US" sz="1200" b="0" kern="1200" noProof="0">
                          <a:solidFill>
                            <a:schemeClr val="dk1"/>
                          </a:solidFill>
                        </a:rPr>
                        <a:t>.</a:t>
                      </a:r>
                      <a:endParaRPr kumimoji="1" lang="en-US" sz="1200" b="0" kern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200" b="0" i="0" kern="1200">
                        <a:solidFill>
                          <a:schemeClr val="dk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410451890"/>
                  </a:ext>
                </a:extLst>
              </a:tr>
              <a:tr h="6384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vi-VN" altLang="ja-JP" sz="1200" b="0" kern="1200">
                          <a:solidFill>
                            <a:schemeClr val="dk1"/>
                          </a:solidFill>
                        </a:rPr>
                        <a:t>3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1" lang="vi-VN" altLang="ja-JP" sz="1200" b="0" kern="1200" err="1">
                          <a:solidFill>
                            <a:schemeClr val="dk1"/>
                          </a:solidFill>
                        </a:rPr>
                        <a:t>Test</a:t>
                      </a:r>
                      <a:r>
                        <a:rPr kumimoji="1" lang="vi-VN" altLang="ja-JP" sz="1200" b="0" kern="12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kumimoji="1" lang="vi-VN" altLang="ja-JP" sz="1200" b="0" kern="1200" baseline="0" err="1">
                          <a:solidFill>
                            <a:schemeClr val="dk1"/>
                          </a:solidFill>
                        </a:rPr>
                        <a:t>report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vi-VN" altLang="ko-KR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KR/EN</a:t>
                      </a:r>
                      <a:endParaRPr kumimoji="1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</a:rPr>
                        <a:t>AGS/FPT</a:t>
                      </a:r>
                      <a:endParaRPr kumimoji="1" lang="en-US" i="0" u="none" strike="noStrike" noProof="0">
                        <a:latin typeface="Malgun Gothic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Arial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noProof="0">
                          <a:solidFill>
                            <a:schemeClr val="dk1"/>
                          </a:solidFill>
                        </a:rPr>
                        <a:t>According to </a:t>
                      </a:r>
                      <a:endParaRPr lang="vi-VN" sz="1200" b="0" u="none" strike="noStrike" kern="1200" noProof="0">
                        <a:solidFill>
                          <a:schemeClr val="dk1"/>
                        </a:solidFill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noProof="0">
                          <a:solidFill>
                            <a:schemeClr val="dk1"/>
                          </a:solidFill>
                        </a:rPr>
                        <a:t>customer's request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Arial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0" kern="1200" noProof="0">
                          <a:solidFill>
                            <a:schemeClr val="dk1"/>
                          </a:solidFill>
                        </a:rPr>
                        <a:t>The outputs are approved by </a:t>
                      </a: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r>
                        <a:rPr kumimoji="1" lang="en-US" sz="1200" b="0" kern="1200" noProof="0">
                          <a:solidFill>
                            <a:schemeClr val="dk1"/>
                          </a:solidFill>
                        </a:rPr>
                        <a:t>.</a:t>
                      </a:r>
                      <a:endParaRPr kumimoji="1" lang="vi-VN" sz="1200" b="0" i="0" kern="1200" noProof="0">
                        <a:solidFill>
                          <a:schemeClr val="dk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4093020315"/>
                  </a:ext>
                </a:extLst>
              </a:tr>
              <a:tr h="6561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vi-VN" altLang="ja-JP" sz="1200" b="0" kern="1200">
                          <a:solidFill>
                            <a:schemeClr val="dk1"/>
                          </a:solidFill>
                        </a:rPr>
                        <a:t>4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1" lang="vi-VN" altLang="ja-JP" sz="1200" b="0" kern="1200" err="1">
                          <a:solidFill>
                            <a:schemeClr val="dk1"/>
                          </a:solidFill>
                        </a:rPr>
                        <a:t>Release</a:t>
                      </a:r>
                      <a:r>
                        <a:rPr kumimoji="1" lang="vi-VN" altLang="ja-JP" sz="1200" b="0" kern="12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kumimoji="1" lang="vi-VN" altLang="ja-JP" sz="1200" b="0" kern="1200" baseline="0" err="1">
                          <a:solidFill>
                            <a:schemeClr val="dk1"/>
                          </a:solidFill>
                        </a:rPr>
                        <a:t>note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vi-VN" altLang="ko-KR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KR/EN</a:t>
                      </a:r>
                      <a:endParaRPr kumimoji="1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</a:rPr>
                        <a:t>AGS/FPT</a:t>
                      </a:r>
                      <a:endParaRPr kumimoji="1" lang="en-US" i="0" u="none" strike="noStrike" noProof="0">
                        <a:latin typeface="Malgun Gothic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Arial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noProof="0">
                          <a:solidFill>
                            <a:schemeClr val="dk1"/>
                          </a:solidFill>
                        </a:rPr>
                        <a:t>According to </a:t>
                      </a:r>
                      <a:endParaRPr lang="vi-VN" sz="1200" b="0" u="none" strike="noStrike" kern="1200" noProof="0">
                        <a:solidFill>
                          <a:schemeClr val="dk1"/>
                        </a:solidFill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noProof="0">
                          <a:solidFill>
                            <a:schemeClr val="dk1"/>
                          </a:solidFill>
                        </a:rPr>
                        <a:t>customer's request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Arial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vi-VN" sz="1200" b="0" kern="1200" noProof="0">
                          <a:solidFill>
                            <a:schemeClr val="dk1"/>
                          </a:solidFill>
                        </a:rPr>
                        <a:t>T</a:t>
                      </a:r>
                      <a:r>
                        <a:rPr kumimoji="1" lang="en-US" sz="1200" b="0" kern="1200" noProof="0">
                          <a:solidFill>
                            <a:schemeClr val="dk1"/>
                          </a:solidFill>
                        </a:rPr>
                        <a:t>he outputs are approved by </a:t>
                      </a: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r>
                        <a:rPr kumimoji="1" lang="en-US" sz="1200" b="0" kern="1200" noProof="0">
                          <a:solidFill>
                            <a:schemeClr val="dk1"/>
                          </a:solidFill>
                        </a:rPr>
                        <a:t>.</a:t>
                      </a:r>
                      <a:endParaRPr kumimoji="1" lang="vi-VN" sz="1200" b="0" i="0" kern="1200" noProof="0">
                        <a:solidFill>
                          <a:schemeClr val="dk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3633315611"/>
                  </a:ext>
                </a:extLst>
              </a:tr>
              <a:tr h="6916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vi-VN" altLang="ja-JP" sz="1200" b="0" kern="1200">
                          <a:solidFill>
                            <a:schemeClr val="dk1"/>
                          </a:solidFill>
                        </a:rPr>
                        <a:t>5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1" lang="vi-VN" altLang="ja-JP" sz="1200" b="0" kern="1200" err="1">
                          <a:solidFill>
                            <a:schemeClr val="dk1"/>
                          </a:solidFill>
                        </a:rPr>
                        <a:t>User</a:t>
                      </a:r>
                      <a:r>
                        <a:rPr kumimoji="1" lang="vi-VN" altLang="ja-JP" sz="1200" b="0" kern="12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kumimoji="1" lang="vi-VN" altLang="ja-JP" sz="1200" b="0" kern="1200" baseline="0" err="1">
                          <a:solidFill>
                            <a:schemeClr val="dk1"/>
                          </a:solidFill>
                        </a:rPr>
                        <a:t>manual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vi-VN" altLang="ko-KR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KR/EN</a:t>
                      </a:r>
                      <a:endParaRPr kumimoji="1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</a:rPr>
                        <a:t>AGS/FPT</a:t>
                      </a:r>
                      <a:endParaRPr kumimoji="1" lang="en-US" i="0" u="none" strike="noStrike" noProof="0">
                        <a:latin typeface="Malgun Gothic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Arial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noProof="0">
                          <a:solidFill>
                            <a:schemeClr val="dk1"/>
                          </a:solidFill>
                        </a:rPr>
                        <a:t>According to </a:t>
                      </a:r>
                      <a:endParaRPr lang="vi-VN" sz="1200" b="0" u="none" strike="noStrike" kern="1200" noProof="0">
                        <a:solidFill>
                          <a:schemeClr val="dk1"/>
                        </a:solidFill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noProof="0">
                          <a:solidFill>
                            <a:schemeClr val="dk1"/>
                          </a:solidFill>
                        </a:rPr>
                        <a:t>customer's request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Arial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0" kern="1200" noProof="0">
                          <a:solidFill>
                            <a:schemeClr val="dk1"/>
                          </a:solidFill>
                        </a:rPr>
                        <a:t>The outputs are approved by </a:t>
                      </a: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r>
                        <a:rPr kumimoji="1" lang="en-US" sz="1200" b="0" kern="1200" noProof="0">
                          <a:solidFill>
                            <a:schemeClr val="dk1"/>
                          </a:solidFill>
                        </a:rPr>
                        <a:t>.</a:t>
                      </a:r>
                      <a:endParaRPr kumimoji="1" lang="en-US" sz="1200" b="0" i="0" kern="1200">
                        <a:solidFill>
                          <a:schemeClr val="dk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2347058515"/>
                  </a:ext>
                </a:extLst>
              </a:tr>
              <a:tr h="93991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6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1" lang="vi-VN" altLang="ja-JP" sz="1200" b="0" kern="1200" err="1">
                          <a:solidFill>
                            <a:schemeClr val="dk1"/>
                          </a:solidFill>
                        </a:rPr>
                        <a:t>Weekly</a:t>
                      </a:r>
                      <a:r>
                        <a:rPr kumimoji="1" lang="vi-VN" altLang="ja-JP" sz="1200" b="0" kern="12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kumimoji="1" lang="vi-VN" altLang="ja-JP" sz="1200" b="0" kern="1200" baseline="0" err="1">
                          <a:solidFill>
                            <a:schemeClr val="dk1"/>
                          </a:solidFill>
                        </a:rPr>
                        <a:t>report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vi-VN" altLang="ko-KR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KR</a:t>
                      </a:r>
                      <a:endParaRPr kumimoji="1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</a:rPr>
                        <a:t>AGS/FPT</a:t>
                      </a:r>
                      <a:endParaRPr kumimoji="1" lang="en-US" i="0" u="none" strike="noStrike" noProof="0">
                        <a:latin typeface="Malgun Gothic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Arial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200" b="0" u="none" strike="noStrike" kern="1200" noProof="0">
                          <a:solidFill>
                            <a:schemeClr val="dk1"/>
                          </a:solidFill>
                        </a:rPr>
                        <a:t>Every</a:t>
                      </a:r>
                      <a:r>
                        <a:rPr lang="vi-VN" sz="1200" b="0" u="none" strike="noStrike" kern="1200" baseline="0" noProof="0">
                          <a:solidFill>
                            <a:schemeClr val="dk1"/>
                          </a:solidFill>
                        </a:rPr>
                        <a:t> Monday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Arial"/>
                        <a:ea typeface="Malgun Gothic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0" kern="1200" noProof="0">
                          <a:solidFill>
                            <a:schemeClr val="tx1"/>
                          </a:solidFill>
                        </a:rPr>
                        <a:t>The output are approved by </a:t>
                      </a: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r>
                        <a:rPr kumimoji="1" lang="en-US" sz="1200" b="0" kern="1200" noProof="0">
                          <a:solidFill>
                            <a:schemeClr val="tx1"/>
                          </a:solidFill>
                        </a:rPr>
                        <a:t>.​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noProof="0">
                          <a:solidFill>
                            <a:schemeClr val="tx1"/>
                          </a:solidFill>
                        </a:rPr>
                        <a:t>​</a:t>
                      </a:r>
                      <a:r>
                        <a:rPr kumimoji="1" lang="vi-VN" sz="1200" b="0" kern="1200" noProof="0">
                          <a:solidFill>
                            <a:schemeClr val="tx1"/>
                          </a:solidFill>
                        </a:rPr>
                        <a:t>Follow</a:t>
                      </a:r>
                      <a:r>
                        <a:rPr kumimoji="1" lang="vi-VN" sz="1200" b="0" kern="1200" baseline="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[Customer]’s </a:t>
                      </a:r>
                      <a:r>
                        <a:rPr kumimoji="1" lang="vi-VN" sz="1200" b="0" kern="1200" baseline="0" noProof="0">
                          <a:solidFill>
                            <a:schemeClr val="tx1"/>
                          </a:solidFill>
                        </a:rPr>
                        <a:t>template</a:t>
                      </a:r>
                      <a:endParaRPr kumimoji="1" lang="en-US" sz="1200" b="0" i="0" kern="1200">
                        <a:solidFill>
                          <a:schemeClr val="tx1"/>
                        </a:solidFill>
                        <a:latin typeface="Arial"/>
                        <a:ea typeface="Malgun Gothic"/>
                        <a:cs typeface="+mn-cs"/>
                      </a:endParaRPr>
                    </a:p>
                  </a:txBody>
                  <a:tcPr marL="108000" marR="1080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81301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593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9AC4-5D0B-6AD8-0F2E-C057734F2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 Placeholder 1">
            <a:extLst>
              <a:ext uri="{FF2B5EF4-FFF2-40B4-BE49-F238E27FC236}">
                <a16:creationId xmlns:a16="http://schemas.microsoft.com/office/drawing/2014/main" id="{F086D07C-A759-44F4-CFCA-333C29B22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5863" y="6458479"/>
            <a:ext cx="2743200" cy="365125"/>
          </a:xfrm>
        </p:spPr>
        <p:txBody>
          <a:bodyPr/>
          <a:lstStyle/>
          <a:p>
            <a:fld id="{3C59A7F2-685D-1942-821F-D759A34464DF}" type="slidenum">
              <a:rPr lang="en-VN" smtClean="0">
                <a:latin typeface="+mn-lt"/>
              </a:rPr>
              <a:pPr/>
              <a:t>14</a:t>
            </a:fld>
            <a:endParaRPr lang="en-VN">
              <a:latin typeface="+mn-lt"/>
            </a:endParaRPr>
          </a:p>
        </p:txBody>
      </p:sp>
      <p:graphicFrame>
        <p:nvGraphicFramePr>
          <p:cNvPr id="2" name="Diagram 1"/>
          <p:cNvGraphicFramePr/>
          <p:nvPr/>
        </p:nvGraphicFramePr>
        <p:xfrm>
          <a:off x="503837" y="1219200"/>
          <a:ext cx="11159246" cy="735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EAD79C-A250-678A-EE8F-C8B0935BC816}"/>
              </a:ext>
            </a:extLst>
          </p:cNvPr>
          <p:cNvSpPr/>
          <p:nvPr/>
        </p:nvSpPr>
        <p:spPr>
          <a:xfrm>
            <a:off x="881926" y="2177648"/>
            <a:ext cx="1609186" cy="282221"/>
          </a:xfrm>
          <a:prstGeom prst="roundRect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200" b="1" kern="0">
                <a:solidFill>
                  <a:prstClr val="black"/>
                </a:solidFill>
                <a:latin typeface="Calibri"/>
                <a:ea typeface="Malgun Gothic"/>
                <a:cs typeface="Calibri"/>
              </a:rPr>
              <a:t>AGS/FPT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EAD79C-A250-678A-EE8F-C8B0935BC816}"/>
              </a:ext>
            </a:extLst>
          </p:cNvPr>
          <p:cNvSpPr/>
          <p:nvPr/>
        </p:nvSpPr>
        <p:spPr>
          <a:xfrm>
            <a:off x="9545146" y="2177648"/>
            <a:ext cx="1609186" cy="282221"/>
          </a:xfrm>
          <a:prstGeom prst="roundRect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prstClr val="black"/>
                </a:solidFill>
                <a:latin typeface="Calibri" panose="020F0502020204030204" pitchFamily="34" charset="0"/>
                <a:ea typeface="Malgun Gothic"/>
                <a:cs typeface="Calibri" panose="020F0502020204030204" pitchFamily="34" charset="0"/>
              </a:rPr>
              <a:t>[Customer]</a:t>
            </a:r>
            <a:endParaRPr kumimoji="0" lang="en-VN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algun Gothic"/>
              <a:cs typeface="Calibri" panose="020F050202020403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761343" y="2177648"/>
            <a:ext cx="0" cy="291430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036898" y="2177647"/>
            <a:ext cx="0" cy="291430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9306992" y="2177647"/>
            <a:ext cx="0" cy="303981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537240" y="2562944"/>
            <a:ext cx="216752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Project Master Plan</a:t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Project Detailed Plan (WBS)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2761342" y="2562944"/>
            <a:ext cx="2245287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System Requirement Specification (SRS) document (Update if needed)</a:t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Wireframe of screens and Screens Description (Update if needed)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BEAD79C-A250-678A-EE8F-C8B0935BC816}"/>
              </a:ext>
            </a:extLst>
          </p:cNvPr>
          <p:cNvSpPr/>
          <p:nvPr/>
        </p:nvSpPr>
        <p:spPr>
          <a:xfrm>
            <a:off x="7382908" y="2177647"/>
            <a:ext cx="1609186" cy="282221"/>
          </a:xfrm>
          <a:prstGeom prst="roundRect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200" b="1" kern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AGS/</a:t>
            </a:r>
            <a:r>
              <a:rPr kumimoji="0" lang="en-US" sz="1200" b="1" i="0" u="none" strike="noStrike" kern="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FPT</a:t>
            </a:r>
            <a:r>
              <a:rPr lang="en-US" sz="1200" b="1" kern="0">
                <a:solidFill>
                  <a:prstClr val="black"/>
                </a:solidFill>
                <a:latin typeface="Calibri"/>
                <a:ea typeface="Malgun Gothic"/>
                <a:cs typeface="Calibri"/>
              </a:rPr>
              <a:t> </a:t>
            </a:r>
            <a:r>
              <a:rPr kumimoji="0" lang="en-US" sz="1200" b="1" i="0" u="none" strike="noStrike" kern="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Malgun Gothic"/>
                <a:cs typeface="Calibri"/>
              </a:rPr>
              <a:t>&amp; [Customer]</a:t>
            </a:r>
            <a:endParaRPr 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Malgun Gothic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7320196" y="2575177"/>
            <a:ext cx="1956526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lvl="1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Test Plan</a:t>
            </a:r>
          </a:p>
          <a:p>
            <a:pPr marL="171450" lvl="1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Test Scenarios/ Test Cases</a:t>
            </a:r>
          </a:p>
          <a:p>
            <a:pPr marL="171450" lvl="1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Test Report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7106692" y="2177647"/>
            <a:ext cx="0" cy="182981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9368826" y="2558961"/>
            <a:ext cx="213846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UAT Support</a:t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User Manual Guide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BEAD79C-A250-678A-EE8F-C8B0935BC816}"/>
              </a:ext>
            </a:extLst>
          </p:cNvPr>
          <p:cNvSpPr/>
          <p:nvPr/>
        </p:nvSpPr>
        <p:spPr>
          <a:xfrm>
            <a:off x="2870468" y="2177646"/>
            <a:ext cx="1609186" cy="282221"/>
          </a:xfrm>
          <a:prstGeom prst="roundRect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200" b="1" kern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AGS/</a:t>
            </a:r>
            <a:r>
              <a:rPr lang="en-US" sz="1200" b="1" kern="0" noProof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FPT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5171153" y="2591384"/>
            <a:ext cx="1878961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lvl="1" latinLnBrk="0"/>
            <a:r>
              <a:rPr lang="en-US" sz="1000">
                <a:cs typeface="Segoe UI"/>
              </a:rPr>
              <a:t>System Source Code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BEAD79C-A250-678A-EE8F-C8B0935BC816}"/>
              </a:ext>
            </a:extLst>
          </p:cNvPr>
          <p:cNvSpPr/>
          <p:nvPr/>
        </p:nvSpPr>
        <p:spPr>
          <a:xfrm>
            <a:off x="5255734" y="2177645"/>
            <a:ext cx="1609186" cy="282221"/>
          </a:xfrm>
          <a:prstGeom prst="roundRect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200" b="1" kern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AGS/</a:t>
            </a:r>
            <a:r>
              <a:rPr lang="en-US" sz="1200" b="1" kern="0" noProof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FPT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36" name="직사각형 144">
            <a:extLst>
              <a:ext uri="{FF2B5EF4-FFF2-40B4-BE49-F238E27FC236}">
                <a16:creationId xmlns:a16="http://schemas.microsoft.com/office/drawing/2014/main" id="{7D9D0E62-4C98-4DC4-0BCC-D836D27ADF0A}"/>
              </a:ext>
            </a:extLst>
          </p:cNvPr>
          <p:cNvSpPr/>
          <p:nvPr/>
        </p:nvSpPr>
        <p:spPr>
          <a:xfrm>
            <a:off x="157830" y="2623104"/>
            <a:ext cx="358227" cy="1293988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>
                <a:shade val="50000"/>
              </a:srgbClr>
            </a:solidFill>
            <a:prstDash val="solid"/>
          </a:ln>
          <a:effectLst/>
        </p:spPr>
        <p:txBody>
          <a:bodyPr vert="vert27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Pretendard" panose="02000503000000020004" pitchFamily="50" charset="-127"/>
                <a:cs typeface="Pretendard" panose="02000503000000020004" pitchFamily="50" charset="-127"/>
              </a:rPr>
              <a:t>Deliverables</a:t>
            </a:r>
            <a:endParaRPr kumimoji="1" lang="ko-KR" altLang="en-US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AB82F60-928C-D5D4-DD22-EB197962D321}"/>
              </a:ext>
            </a:extLst>
          </p:cNvPr>
          <p:cNvCxnSpPr>
            <a:cxnSpLocks/>
          </p:cNvCxnSpPr>
          <p:nvPr/>
        </p:nvCxnSpPr>
        <p:spPr>
          <a:xfrm flipV="1">
            <a:off x="133118" y="3995816"/>
            <a:ext cx="11637336" cy="23301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sp>
        <p:nvSpPr>
          <p:cNvPr id="38" name="직사각형 144">
            <a:extLst>
              <a:ext uri="{FF2B5EF4-FFF2-40B4-BE49-F238E27FC236}">
                <a16:creationId xmlns:a16="http://schemas.microsoft.com/office/drawing/2014/main" id="{7D9D0E62-4C98-4DC4-0BCC-D836D27ADF0A}"/>
              </a:ext>
            </a:extLst>
          </p:cNvPr>
          <p:cNvSpPr/>
          <p:nvPr/>
        </p:nvSpPr>
        <p:spPr>
          <a:xfrm>
            <a:off x="157830" y="4115225"/>
            <a:ext cx="358227" cy="1293988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>
                <a:shade val="50000"/>
              </a:srgbClr>
            </a:solidFill>
            <a:prstDash val="solid"/>
          </a:ln>
          <a:effectLst/>
        </p:spPr>
        <p:txBody>
          <a:bodyPr vert="vert27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Pretendard" panose="02000503000000020004" pitchFamily="50" charset="-127"/>
                <a:cs typeface="Pretendard" panose="02000503000000020004" pitchFamily="50" charset="-127"/>
              </a:rPr>
              <a:t>Acceptance</a:t>
            </a:r>
            <a:r>
              <a:rPr kumimoji="1" lang="en-US" altLang="ko-KR" sz="1400" b="1" i="0" u="none" strike="noStrike" kern="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Pretendard" panose="02000503000000020004" pitchFamily="50" charset="-127"/>
                <a:cs typeface="Pretendard" panose="02000503000000020004" pitchFamily="50" charset="-127"/>
              </a:rPr>
              <a:t> Criteria</a:t>
            </a:r>
            <a:endParaRPr kumimoji="1" lang="ko-KR" altLang="en-US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523027" y="4115225"/>
            <a:ext cx="219332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atinLnBrk="0"/>
            <a:r>
              <a:rPr lang="en-US" sz="1000">
                <a:cs typeface="Segoe UI"/>
              </a:rPr>
              <a:t>Project plans are approved by [Customer]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2768311" y="4115225"/>
            <a:ext cx="2203908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atinLnBrk="0"/>
            <a:r>
              <a:rPr lang="en-US" sz="1000">
                <a:cs typeface="Segoe UI"/>
              </a:rPr>
              <a:t>System Requirement Specification (SRS), Screens description are approved by [Customer]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5101578" y="4101265"/>
            <a:ext cx="4160426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100% Importance code standard bugs must be fixed</a:t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100% Test cases are passed (Test cases approved by [Customer])</a:t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Minimum 97% bugs found must be resolved (Maximum 3% minor bugs could be moved to UAT phase and continue to be fixed)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F054B9-BB37-8DF0-035A-6710F37EAE6F}"/>
              </a:ext>
            </a:extLst>
          </p:cNvPr>
          <p:cNvSpPr txBox="1"/>
          <p:nvPr/>
        </p:nvSpPr>
        <p:spPr>
          <a:xfrm>
            <a:off x="9368826" y="4077833"/>
            <a:ext cx="2401628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100% bugs analyzed and do root cause analysis</a:t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sz="1000">
                <a:cs typeface="Segoe UI"/>
              </a:rPr>
              <a:t>100% bugs found must be resolved</a:t>
            </a:r>
          </a:p>
          <a:p>
            <a:pPr latinLnBrk="0"/>
            <a:endParaRPr lang="en-US" sz="1000">
              <a:cs typeface="Segoe U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AB0591-43EC-4ECD-7AAC-140CF1CF768A}"/>
              </a:ext>
            </a:extLst>
          </p:cNvPr>
          <p:cNvSpPr txBox="1">
            <a:spLocks/>
          </p:cNvSpPr>
          <p:nvPr/>
        </p:nvSpPr>
        <p:spPr>
          <a:xfrm>
            <a:off x="399467" y="0"/>
            <a:ext cx="8085138" cy="800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>
                <a:ea typeface="맑은 고딕"/>
              </a:rPr>
              <a:t>4-1. Deliverables</a:t>
            </a:r>
            <a:endParaRPr lang="ko-KR" altLang="en-US" sz="2800" b="1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59568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F64-5920-8618-C9F6-82551AFA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024B9C-541C-C6F1-354A-8F9CE7D8E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59A7F2-685D-1942-821F-D759A34464DF}" type="slidenum">
              <a:rPr lang="en-VN" smtClean="0"/>
              <a:pPr/>
              <a:t>15</a:t>
            </a:fld>
            <a:endParaRPr lang="en-V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B8FBB9C-1F7E-D100-5855-F1CE8B2FBE44}"/>
              </a:ext>
            </a:extLst>
          </p:cNvPr>
          <p:cNvSpPr/>
          <p:nvPr/>
        </p:nvSpPr>
        <p:spPr>
          <a:xfrm>
            <a:off x="529390" y="4983307"/>
            <a:ext cx="4633000" cy="254596"/>
          </a:xfrm>
          <a:prstGeom prst="roundRect">
            <a:avLst/>
          </a:prstGeom>
          <a:solidFill>
            <a:srgbClr val="F16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BD4DC-566F-BE02-11CD-56AEBBAC130E}"/>
              </a:ext>
            </a:extLst>
          </p:cNvPr>
          <p:cNvSpPr txBox="1"/>
          <p:nvPr/>
        </p:nvSpPr>
        <p:spPr>
          <a:xfrm>
            <a:off x="529390" y="3441031"/>
            <a:ext cx="1168910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bg1"/>
                </a:solidFill>
                <a:latin typeface="BR Omega"/>
              </a:rPr>
              <a:t>05.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C8D44-4B50-6639-5945-E5030F76F979}"/>
              </a:ext>
            </a:extLst>
          </p:cNvPr>
          <p:cNvSpPr txBox="1"/>
          <p:nvPr/>
        </p:nvSpPr>
        <p:spPr>
          <a:xfrm>
            <a:off x="529390" y="4297229"/>
            <a:ext cx="7337937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tx1">
                    <a:lumMod val="85000"/>
                    <a:lumOff val="15000"/>
                  </a:schemeClr>
                </a:solidFill>
                <a:latin typeface="BR Omega"/>
              </a:rPr>
              <a:t>Tools &amp; Environment</a:t>
            </a:r>
            <a:endParaRPr lang="en-US" sz="6000" b="1">
              <a:solidFill>
                <a:schemeClr val="tx1">
                  <a:lumMod val="85000"/>
                  <a:lumOff val="15000"/>
                </a:schemeClr>
              </a:solidFill>
              <a:latin typeface="BR Omega"/>
            </a:endParaRPr>
          </a:p>
        </p:txBody>
      </p:sp>
    </p:spTree>
    <p:extLst>
      <p:ext uri="{BB962C8B-B14F-4D97-AF65-F5344CB8AC3E}">
        <p14:creationId xmlns:p14="http://schemas.microsoft.com/office/powerpoint/2010/main" val="2492747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582D5-8C8A-5E07-75FF-0D9751BCAD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5777" y="18288"/>
            <a:ext cx="8085138" cy="800100"/>
          </a:xfrm>
        </p:spPr>
        <p:txBody>
          <a:bodyPr>
            <a:normAutofit/>
          </a:bodyPr>
          <a:lstStyle/>
          <a:p>
            <a:r>
              <a:rPr lang="en-US" altLang="ko-KR" sz="2800" b="1">
                <a:ea typeface="맑은 고딕"/>
              </a:rPr>
              <a:t>5-1. Tools &amp; Environment</a:t>
            </a:r>
            <a:endParaRPr lang="en-US" sz="2800" b="1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53955"/>
              </p:ext>
            </p:extLst>
          </p:nvPr>
        </p:nvGraphicFramePr>
        <p:xfrm>
          <a:off x="1101992" y="1248419"/>
          <a:ext cx="9999182" cy="45084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40856">
                  <a:extLst>
                    <a:ext uri="{9D8B030D-6E8A-4147-A177-3AD203B41FA5}">
                      <a16:colId xmlns:a16="http://schemas.microsoft.com/office/drawing/2014/main" val="1219035607"/>
                    </a:ext>
                  </a:extLst>
                </a:gridCol>
                <a:gridCol w="1842971">
                  <a:extLst>
                    <a:ext uri="{9D8B030D-6E8A-4147-A177-3AD203B41FA5}">
                      <a16:colId xmlns:a16="http://schemas.microsoft.com/office/drawing/2014/main" val="3994569876"/>
                    </a:ext>
                  </a:extLst>
                </a:gridCol>
                <a:gridCol w="3513163">
                  <a:extLst>
                    <a:ext uri="{9D8B030D-6E8A-4147-A177-3AD203B41FA5}">
                      <a16:colId xmlns:a16="http://schemas.microsoft.com/office/drawing/2014/main" val="3699134180"/>
                    </a:ext>
                  </a:extLst>
                </a:gridCol>
                <a:gridCol w="1901096">
                  <a:extLst>
                    <a:ext uri="{9D8B030D-6E8A-4147-A177-3AD203B41FA5}">
                      <a16:colId xmlns:a16="http://schemas.microsoft.com/office/drawing/2014/main" val="2169771269"/>
                    </a:ext>
                  </a:extLst>
                </a:gridCol>
                <a:gridCol w="1901096">
                  <a:extLst>
                    <a:ext uri="{9D8B030D-6E8A-4147-A177-3AD203B41FA5}">
                      <a16:colId xmlns:a16="http://schemas.microsoft.com/office/drawing/2014/main" val="2877693967"/>
                    </a:ext>
                  </a:extLst>
                </a:gridCol>
              </a:tblGrid>
              <a:tr h="1045649">
                <a:tc>
                  <a:txBody>
                    <a:bodyPr/>
                    <a:lstStyle/>
                    <a:p>
                      <a:pPr algn="ctr" fontAlgn="base"/>
                      <a:r>
                        <a:rPr lang="ja-JP" altLang="en-US" sz="1400" b="1">
                          <a:solidFill>
                            <a:schemeClr val="bg1"/>
                          </a:solidFill>
                          <a:effectLst/>
                        </a:rPr>
                        <a:t>＃​</a:t>
                      </a:r>
                      <a:endParaRPr lang="ja-JP" altLang="en-US" b="1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vi-VN" altLang="ja-JP" sz="1400" b="1">
                          <a:solidFill>
                            <a:schemeClr val="bg1"/>
                          </a:solidFill>
                          <a:effectLst/>
                        </a:rPr>
                        <a:t>Role</a:t>
                      </a:r>
                      <a:endParaRPr lang="en-US" altLang="ja-JP" b="1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vi-VN" sz="1400" b="1">
                          <a:solidFill>
                            <a:schemeClr val="bg1"/>
                          </a:solidFill>
                          <a:effectLst/>
                        </a:rPr>
                        <a:t>Tool</a:t>
                      </a:r>
                      <a:endParaRPr lang="en-US" b="1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altLang="ja-JP" sz="1400" b="1" kern="1200">
                          <a:solidFill>
                            <a:schemeClr val="bg1"/>
                          </a:solidFill>
                          <a:effectLst/>
                        </a:rPr>
                        <a:t>Environment</a:t>
                      </a:r>
                      <a:endParaRPr lang="en-US" altLang="ja-JP" sz="1400" b="1" i="0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vi-VN" altLang="ja-JP" sz="1400" b="1">
                          <a:solidFill>
                            <a:schemeClr val="bg1"/>
                          </a:solidFill>
                          <a:effectLst/>
                        </a:rPr>
                        <a:t>Purpose</a:t>
                      </a:r>
                      <a:endParaRPr lang="en-US" altLang="ja-JP" b="1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849099"/>
                  </a:ext>
                </a:extLst>
              </a:tr>
              <a:tr h="519487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1​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fontAlgn="base"/>
                      <a:r>
                        <a:rPr lang="en-US" sz="1400" b="0" kern="1200">
                          <a:solidFill>
                            <a:srgbClr val="000000"/>
                          </a:solidFill>
                          <a:effectLst/>
                        </a:rPr>
                        <a:t>Developer</a:t>
                      </a: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200" b="0" kern="1200">
                          <a:solidFill>
                            <a:srgbClr val="000000"/>
                          </a:solidFill>
                          <a:effectLst/>
                        </a:rPr>
                        <a:t>[Tool Name]</a:t>
                      </a:r>
                      <a:endParaRPr lang="en-US" sz="1200" b="0" i="0" kern="1200"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Tech VDI</a:t>
                      </a:r>
                      <a:endParaRPr lang="vi-VN" sz="1400" b="0" i="0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Development</a:t>
                      </a:r>
                      <a:endParaRPr lang="vi-VN" sz="1400" b="0" i="0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0110740"/>
                  </a:ext>
                </a:extLst>
              </a:tr>
              <a:tr h="485596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400" b="0" i="0" kern="1200"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fontAlgn="base"/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[Tool Name]</a:t>
                      </a:r>
                      <a:endParaRPr lang="en-US" sz="1400" b="0" i="0" kern="1200"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ase"/>
                      <a:endParaRPr lang="vi-V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092011"/>
                  </a:ext>
                </a:extLst>
              </a:tr>
              <a:tr h="445956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400" b="0" i="0" kern="1200"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fontAlgn="base"/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[Tool Name]</a:t>
                      </a:r>
                      <a:endParaRPr lang="en-US" sz="1400" b="0" i="0" kern="1200"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ase"/>
                      <a:endParaRPr lang="vi-V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277560"/>
                  </a:ext>
                </a:extLst>
              </a:tr>
              <a:tr h="525236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400" b="0" i="0" kern="1200"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fontAlgn="base"/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[Tool Name]</a:t>
                      </a:r>
                      <a:endParaRPr lang="en-US" sz="1400" b="0" i="0" kern="1200"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ase"/>
                      <a:endParaRPr lang="vi-V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712763"/>
                  </a:ext>
                </a:extLst>
              </a:tr>
              <a:tr h="792810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200" b="0" kern="120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200" b="0" i="0" kern="1200"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All team</a:t>
                      </a:r>
                      <a:endParaRPr lang="en-US" sz="1400" b="0" i="0" kern="1200"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Teams, Outlook, Zoom, Slack</a:t>
                      </a:r>
                      <a:endParaRPr lang="en-US" sz="1400" b="0" i="0" kern="1200">
                        <a:solidFill>
                          <a:srgbClr val="000000"/>
                        </a:solidFill>
                        <a:effectLst/>
                        <a:latin typeface="Malgun Gothic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Tech VDI</a:t>
                      </a:r>
                      <a:endParaRPr lang="vi-VN" sz="1400" b="0" i="0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Communication</a:t>
                      </a:r>
                      <a:endParaRPr lang="vi-VN" sz="1400" b="0" i="0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236965"/>
                  </a:ext>
                </a:extLst>
              </a:tr>
              <a:tr h="693709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200" b="0" kern="120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US" sz="1200" b="0" i="0" kern="1200"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All</a:t>
                      </a:r>
                      <a:r>
                        <a:rPr lang="vi-VN" sz="1400" b="0" kern="1200" baseline="0">
                          <a:solidFill>
                            <a:srgbClr val="000000"/>
                          </a:solidFill>
                          <a:effectLst/>
                        </a:rPr>
                        <a:t> team</a:t>
                      </a:r>
                      <a:endParaRPr lang="en-US" sz="1400" b="0" i="0" kern="1200"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Jira, excel,</a:t>
                      </a:r>
                      <a:r>
                        <a:rPr lang="vi-VN" sz="1400" b="0" kern="1200" baseline="0">
                          <a:solidFill>
                            <a:srgbClr val="000000"/>
                          </a:solidFill>
                          <a:effectLst/>
                        </a:rPr>
                        <a:t> word</a:t>
                      </a:r>
                      <a:endParaRPr lang="en-US" sz="1400" b="0" i="0" kern="1200"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Tech VDI</a:t>
                      </a:r>
                      <a:endParaRPr lang="vi-VN" sz="1400" b="0" i="0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Task assigment, </a:t>
                      </a:r>
                      <a:endParaRPr lang="en-GB" sz="1400" b="0" kern="12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algn="ctr" defTabSz="914400" rtl="0" eaLnBrk="1" fontAlgn="base" latinLnBrk="1" hangingPunct="1"/>
                      <a:r>
                        <a:rPr lang="vi-VN" sz="1400" b="0" kern="1200">
                          <a:solidFill>
                            <a:srgbClr val="000000"/>
                          </a:solidFill>
                          <a:effectLst/>
                        </a:rPr>
                        <a:t>creating report, etc</a:t>
                      </a:r>
                      <a:endParaRPr lang="vi-VN" sz="1400" b="0" i="0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055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656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66879-4DF1-B1E6-E0D7-048B06F0B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E49834-D44E-7D45-6B2B-DF28F79B7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59A7F2-685D-1942-821F-D759A34464DF}" type="slidenum">
              <a:rPr lang="en-VN" smtClean="0"/>
              <a:pPr/>
              <a:t>17</a:t>
            </a:fld>
            <a:endParaRPr lang="en-V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08A4DF5-4B70-75DD-F371-29C3FB277FCC}"/>
              </a:ext>
            </a:extLst>
          </p:cNvPr>
          <p:cNvSpPr/>
          <p:nvPr/>
        </p:nvSpPr>
        <p:spPr>
          <a:xfrm>
            <a:off x="529390" y="4983307"/>
            <a:ext cx="4633000" cy="254596"/>
          </a:xfrm>
          <a:prstGeom prst="roundRect">
            <a:avLst/>
          </a:prstGeom>
          <a:solidFill>
            <a:srgbClr val="F16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04152A-5358-783D-B27A-F931A4B2F2BA}"/>
              </a:ext>
            </a:extLst>
          </p:cNvPr>
          <p:cNvSpPr txBox="1"/>
          <p:nvPr/>
        </p:nvSpPr>
        <p:spPr>
          <a:xfrm>
            <a:off x="529390" y="3441031"/>
            <a:ext cx="1168910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bg1"/>
                </a:solidFill>
                <a:latin typeface="BR Omega"/>
              </a:rPr>
              <a:t>06.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7F41C0-AC6E-A621-C848-87B288A6C181}"/>
              </a:ext>
            </a:extLst>
          </p:cNvPr>
          <p:cNvSpPr txBox="1"/>
          <p:nvPr/>
        </p:nvSpPr>
        <p:spPr>
          <a:xfrm>
            <a:off x="529390" y="4297229"/>
            <a:ext cx="62442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tx1">
                    <a:lumMod val="85000"/>
                    <a:lumOff val="15000"/>
                  </a:schemeClr>
                </a:solidFill>
                <a:latin typeface="BR Omega"/>
              </a:rPr>
              <a:t>Communication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401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6F9612-6F54-C1E3-FDC3-9861A229D4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4464" y="-2210"/>
            <a:ext cx="8085138" cy="800100"/>
          </a:xfrm>
        </p:spPr>
        <p:txBody>
          <a:bodyPr>
            <a:normAutofit/>
          </a:bodyPr>
          <a:lstStyle/>
          <a:p>
            <a:r>
              <a:rPr lang="en-US" altLang="ko-KR" sz="2800" b="1">
                <a:ea typeface="맑은 고딕"/>
              </a:rPr>
              <a:t>6-1. Communication Plan</a:t>
            </a:r>
            <a:endParaRPr lang="ko-KR" altLang="en-US" sz="2800" b="1">
              <a:ea typeface="맑은 고딕"/>
            </a:endParaRPr>
          </a:p>
        </p:txBody>
      </p:sp>
      <p:sp>
        <p:nvSpPr>
          <p:cNvPr id="19" name="角丸四角形 76">
            <a:extLst>
              <a:ext uri="{FF2B5EF4-FFF2-40B4-BE49-F238E27FC236}">
                <a16:creationId xmlns:a16="http://schemas.microsoft.com/office/drawing/2014/main" id="{52609694-3D13-DA0C-4CD6-E795CCEAC0FE}"/>
              </a:ext>
            </a:extLst>
          </p:cNvPr>
          <p:cNvSpPr/>
          <p:nvPr/>
        </p:nvSpPr>
        <p:spPr>
          <a:xfrm>
            <a:off x="9321976" y="1585483"/>
            <a:ext cx="1800000" cy="3240000"/>
          </a:xfrm>
          <a:prstGeom prst="roundRect">
            <a:avLst>
              <a:gd name="adj" fmla="val 6261"/>
            </a:avLst>
          </a:prstGeom>
          <a:solidFill>
            <a:schemeClr val="accent2">
              <a:alpha val="23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0" rIns="91440" bIns="45720" rtlCol="0" anchor="ctr" anchorCtr="0"/>
          <a:lstStyle/>
          <a:p>
            <a:pPr algn="ctr"/>
            <a:r>
              <a:rPr lang="en-US" altLang="ja-JP" b="1">
                <a:solidFill>
                  <a:schemeClr val="tx1"/>
                </a:solidFill>
                <a:latin typeface="Meiryo UI"/>
                <a:ea typeface="Meiryo UI"/>
                <a:cs typeface="Arial"/>
              </a:rPr>
              <a:t>AGS/FPT</a:t>
            </a:r>
            <a:endParaRPr lang="ja-JP" altLang="en-US" b="1">
              <a:solidFill>
                <a:schemeClr val="tx1"/>
              </a:solidFill>
              <a:latin typeface="Meiryo UI"/>
              <a:ea typeface="Meiryo UI"/>
              <a:cs typeface="Arial"/>
            </a:endParaRPr>
          </a:p>
        </p:txBody>
      </p:sp>
      <p:sp>
        <p:nvSpPr>
          <p:cNvPr id="20" name="角丸四角形 76">
            <a:extLst>
              <a:ext uri="{FF2B5EF4-FFF2-40B4-BE49-F238E27FC236}">
                <a16:creationId xmlns:a16="http://schemas.microsoft.com/office/drawing/2014/main" id="{8CBD0614-9985-3C89-E52F-5652C0177C91}"/>
              </a:ext>
            </a:extLst>
          </p:cNvPr>
          <p:cNvSpPr/>
          <p:nvPr/>
        </p:nvSpPr>
        <p:spPr>
          <a:xfrm>
            <a:off x="1082582" y="1544150"/>
            <a:ext cx="1800000" cy="4782245"/>
          </a:xfrm>
          <a:prstGeom prst="roundRect">
            <a:avLst>
              <a:gd name="adj" fmla="val 6261"/>
            </a:avLst>
          </a:prstGeom>
          <a:solidFill>
            <a:srgbClr val="FF0000">
              <a:alpha val="23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0" rIns="91440" bIns="45720" rtlCol="0" anchor="ctr" anchorCtr="0"/>
          <a:lstStyle/>
          <a:p>
            <a:pPr algn="ctr"/>
            <a:r>
              <a:rPr lang="en-US" altLang="ja-JP" b="1">
                <a:solidFill>
                  <a:schemeClr val="tx1"/>
                </a:solidFill>
                <a:latin typeface="Meiryo UI"/>
                <a:ea typeface="Meiryo UI"/>
                <a:cs typeface="Arial"/>
              </a:rPr>
              <a:t>[Customer]</a:t>
            </a:r>
            <a:endParaRPr lang="en-US" altLang="ja-JP" b="1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B0B81A6-30D2-BC4E-867F-EE427BDF99F6}"/>
              </a:ext>
            </a:extLst>
          </p:cNvPr>
          <p:cNvGrpSpPr/>
          <p:nvPr/>
        </p:nvGrpSpPr>
        <p:grpSpPr>
          <a:xfrm>
            <a:off x="2876302" y="1735432"/>
            <a:ext cx="6439394" cy="707787"/>
            <a:chOff x="2882582" y="1879764"/>
            <a:chExt cx="6439394" cy="707787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8C29E48-462F-17F5-1C3F-970655DD488A}"/>
                </a:ext>
              </a:extLst>
            </p:cNvPr>
            <p:cNvCxnSpPr>
              <a:cxnSpLocks/>
            </p:cNvCxnSpPr>
            <p:nvPr/>
          </p:nvCxnSpPr>
          <p:spPr>
            <a:xfrm>
              <a:off x="2882582" y="2211530"/>
              <a:ext cx="6439394" cy="33763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CB64276-E58F-14AB-D784-D7863D4A22AF}"/>
                </a:ext>
              </a:extLst>
            </p:cNvPr>
            <p:cNvSpPr txBox="1"/>
            <p:nvPr/>
          </p:nvSpPr>
          <p:spPr>
            <a:xfrm>
              <a:off x="5742684" y="1879764"/>
              <a:ext cx="16714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>
                  <a:ea typeface="Meiryo UI" panose="020B0604030504040204" pitchFamily="50" charset="-128"/>
                  <a:cs typeface="Arial" panose="020B0604020202020204" pitchFamily="34" charset="0"/>
                </a:rPr>
                <a:t>Progress Report</a:t>
              </a:r>
              <a:endParaRPr lang="en-US" sz="1600">
                <a:ea typeface="Meiryo UI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A8774CC-18DE-6FCF-FE57-35C75EF03B08}"/>
                </a:ext>
              </a:extLst>
            </p:cNvPr>
            <p:cNvSpPr txBox="1"/>
            <p:nvPr/>
          </p:nvSpPr>
          <p:spPr>
            <a:xfrm>
              <a:off x="5748964" y="2279774"/>
              <a:ext cx="7683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>
                <a:defRPr sz="1600">
                  <a:ea typeface="Meiryo UI" panose="020B0604030504040204" pitchFamily="50" charset="-128"/>
                  <a:cs typeface="Arial" panose="020B0604020202020204" pitchFamily="34" charset="0"/>
                </a:defRPr>
              </a:lvl1pPr>
            </a:lstStyle>
            <a:p>
              <a:r>
                <a:rPr lang="en-US" sz="1400" i="1"/>
                <a:t>Weekly</a:t>
              </a:r>
            </a:p>
          </p:txBody>
        </p:sp>
        <p:pic>
          <p:nvPicPr>
            <p:cNvPr id="31" name="Picture 30" descr="A blue and white logo&#10;&#10;Description automatically generated">
              <a:extLst>
                <a:ext uri="{FF2B5EF4-FFF2-40B4-BE49-F238E27FC236}">
                  <a16:creationId xmlns:a16="http://schemas.microsoft.com/office/drawing/2014/main" id="{E5514192-0F59-6D94-628B-7E6B1A945D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586" t="16716" r="18625" b="10215"/>
            <a:stretch/>
          </p:blipFill>
          <p:spPr>
            <a:xfrm>
              <a:off x="5044440" y="1889759"/>
              <a:ext cx="546100" cy="688241"/>
            </a:xfrm>
            <a:prstGeom prst="rect">
              <a:avLst/>
            </a:prstGeom>
          </p:spPr>
        </p:pic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AC2A51-7F00-6D40-1F14-31C234152899}"/>
              </a:ext>
            </a:extLst>
          </p:cNvPr>
          <p:cNvCxnSpPr>
            <a:cxnSpLocks/>
          </p:cNvCxnSpPr>
          <p:nvPr/>
        </p:nvCxnSpPr>
        <p:spPr>
          <a:xfrm>
            <a:off x="2876302" y="3164406"/>
            <a:ext cx="6439394" cy="33763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2B76F75-7A36-BC52-D4ED-2803860FD472}"/>
              </a:ext>
            </a:extLst>
          </p:cNvPr>
          <p:cNvSpPr txBox="1"/>
          <p:nvPr/>
        </p:nvSpPr>
        <p:spPr>
          <a:xfrm>
            <a:off x="5733351" y="2839428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ea typeface="Meiryo UI" panose="020B0604030504040204" pitchFamily="50" charset="-128"/>
                <a:cs typeface="Arial" panose="020B0604020202020204" pitchFamily="34" charset="0"/>
              </a:rPr>
              <a:t>Communication, Q&amp;A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36CCBA-868F-DB68-499A-9F5A0E72DD7A}"/>
              </a:ext>
            </a:extLst>
          </p:cNvPr>
          <p:cNvSpPr txBox="1"/>
          <p:nvPr/>
        </p:nvSpPr>
        <p:spPr>
          <a:xfrm>
            <a:off x="5736404" y="3192995"/>
            <a:ext cx="8584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en-US" sz="1400" i="1"/>
              <a:t>Anytime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4696EB4-7392-8672-3CAC-031903BCBBEF}"/>
              </a:ext>
            </a:extLst>
          </p:cNvPr>
          <p:cNvCxnSpPr>
            <a:cxnSpLocks/>
          </p:cNvCxnSpPr>
          <p:nvPr/>
        </p:nvCxnSpPr>
        <p:spPr>
          <a:xfrm>
            <a:off x="2888862" y="4311073"/>
            <a:ext cx="6439394" cy="33763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EBEBE86-EBC8-9CAE-7871-E86D49A1BCD9}"/>
              </a:ext>
            </a:extLst>
          </p:cNvPr>
          <p:cNvSpPr txBox="1"/>
          <p:nvPr/>
        </p:nvSpPr>
        <p:spPr>
          <a:xfrm>
            <a:off x="5745911" y="3986095"/>
            <a:ext cx="16385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ea typeface="Meiryo UI" panose="020B0604030504040204" pitchFamily="50" charset="-128"/>
                <a:cs typeface="Arial" panose="020B0604020202020204" pitchFamily="34" charset="0"/>
              </a:rPr>
              <a:t>Online Meeting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BC473F-16E5-BE23-F5B5-E7DB9446DDB6}"/>
              </a:ext>
            </a:extLst>
          </p:cNvPr>
          <p:cNvSpPr txBox="1"/>
          <p:nvPr/>
        </p:nvSpPr>
        <p:spPr>
          <a:xfrm>
            <a:off x="5748964" y="4339662"/>
            <a:ext cx="780983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ko-KR"/>
            </a:defPPr>
            <a:lvl1pPr>
              <a:defRPr sz="1600"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en-US" sz="1400" i="1">
                <a:ea typeface="Meiryo UI"/>
                <a:cs typeface="Arial"/>
              </a:rPr>
              <a:t>Ad-hoc</a:t>
            </a:r>
          </a:p>
        </p:txBody>
      </p:sp>
      <p:pic>
        <p:nvPicPr>
          <p:cNvPr id="63" name="Picture 62" descr="A blue and white logo&#10;&#10;Description automatically generated">
            <a:extLst>
              <a:ext uri="{FF2B5EF4-FFF2-40B4-BE49-F238E27FC236}">
                <a16:creationId xmlns:a16="http://schemas.microsoft.com/office/drawing/2014/main" id="{6CC80BD2-FCDD-3C01-5120-94D27E4556B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997" y="4066106"/>
            <a:ext cx="532462" cy="532462"/>
          </a:xfrm>
          <a:prstGeom prst="rect">
            <a:avLst/>
          </a:prstGeom>
        </p:spPr>
      </p:pic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1ED8AB3E-A756-7E26-CBCE-D185A7498446}"/>
              </a:ext>
            </a:extLst>
          </p:cNvPr>
          <p:cNvCxnSpPr>
            <a:cxnSpLocks/>
          </p:cNvCxnSpPr>
          <p:nvPr/>
        </p:nvCxnSpPr>
        <p:spPr>
          <a:xfrm flipV="1">
            <a:off x="2885373" y="4816411"/>
            <a:ext cx="7336603" cy="830183"/>
          </a:xfrm>
          <a:prstGeom prst="bentConnector2">
            <a:avLst/>
          </a:prstGeom>
          <a:ln w="63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角丸四角形 76">
            <a:extLst>
              <a:ext uri="{FF2B5EF4-FFF2-40B4-BE49-F238E27FC236}">
                <a16:creationId xmlns:a16="http://schemas.microsoft.com/office/drawing/2014/main" id="{82813C76-D7E9-4D50-8177-761B22D3C510}"/>
              </a:ext>
            </a:extLst>
          </p:cNvPr>
          <p:cNvSpPr/>
          <p:nvPr/>
        </p:nvSpPr>
        <p:spPr>
          <a:xfrm>
            <a:off x="7722990" y="5116550"/>
            <a:ext cx="1606779" cy="966853"/>
          </a:xfrm>
          <a:prstGeom prst="roundRect">
            <a:avLst>
              <a:gd name="adj" fmla="val 6261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0" rIns="91440" bIns="45720" rtlCol="0" anchor="ctr" anchorCtr="0"/>
          <a:lstStyle/>
          <a:p>
            <a:pPr algn="ctr"/>
            <a:r>
              <a:rPr lang="en-US" altLang="ja-JP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[Partner]</a:t>
            </a:r>
            <a:endParaRPr lang="ja-JP" altLang="en-US" b="1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69733C-EAD3-39EC-0F77-99E266825333}"/>
              </a:ext>
            </a:extLst>
          </p:cNvPr>
          <p:cNvSpPr txBox="1"/>
          <p:nvPr/>
        </p:nvSpPr>
        <p:spPr>
          <a:xfrm>
            <a:off x="5751889" y="5640369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en-US" sz="1400" i="1"/>
              <a:t>Any time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0238C9-9162-4DFE-7962-4AC1BC94C108}"/>
              </a:ext>
            </a:extLst>
          </p:cNvPr>
          <p:cNvGrpSpPr/>
          <p:nvPr/>
        </p:nvGrpSpPr>
        <p:grpSpPr>
          <a:xfrm>
            <a:off x="5211546" y="5136127"/>
            <a:ext cx="383139" cy="881537"/>
            <a:chOff x="4630359" y="5344770"/>
            <a:chExt cx="383139" cy="881537"/>
          </a:xfrm>
        </p:grpSpPr>
        <p:pic>
          <p:nvPicPr>
            <p:cNvPr id="74" name="Picture 73" descr="A blue and white logo&#10;&#10;Description automatically generated">
              <a:extLst>
                <a:ext uri="{FF2B5EF4-FFF2-40B4-BE49-F238E27FC236}">
                  <a16:creationId xmlns:a16="http://schemas.microsoft.com/office/drawing/2014/main" id="{AA0B05CD-FAEF-1AF0-3830-35DB1369BD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586" t="16716" r="18625" b="10215"/>
            <a:stretch/>
          </p:blipFill>
          <p:spPr>
            <a:xfrm>
              <a:off x="4630359" y="5743443"/>
              <a:ext cx="383139" cy="482864"/>
            </a:xfrm>
            <a:prstGeom prst="rect">
              <a:avLst/>
            </a:prstGeom>
          </p:spPr>
        </p:pic>
        <p:pic>
          <p:nvPicPr>
            <p:cNvPr id="76" name="Picture 7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D70FCB0-D4BC-8853-7A7E-BFF0F2FFC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8304" y="5344770"/>
              <a:ext cx="355194" cy="355194"/>
            </a:xfrm>
            <a:prstGeom prst="rect">
              <a:avLst/>
            </a:prstGeom>
          </p:spPr>
        </p:pic>
      </p:grpSp>
      <p:pic>
        <p:nvPicPr>
          <p:cNvPr id="5" name="Picture 4" descr="Zoom Icon Logo transparent PNG - StickPNG">
            <a:extLst>
              <a:ext uri="{FF2B5EF4-FFF2-40B4-BE49-F238E27FC236}">
                <a16:creationId xmlns:a16="http://schemas.microsoft.com/office/drawing/2014/main" id="{6BD8B376-D0AE-2C75-587F-1D4D500FA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308" y="4068388"/>
            <a:ext cx="521707" cy="531568"/>
          </a:xfrm>
          <a:prstGeom prst="rect">
            <a:avLst/>
          </a:prstGeom>
        </p:spPr>
      </p:pic>
      <p:pic>
        <p:nvPicPr>
          <p:cNvPr id="27" name="Picture 26" descr="A blue and white logo&#10;&#10;Description automatically generated">
            <a:extLst>
              <a:ext uri="{FF2B5EF4-FFF2-40B4-BE49-F238E27FC236}">
                <a16:creationId xmlns:a16="http://schemas.microsoft.com/office/drawing/2014/main" id="{6CC80BD2-FCDD-3C01-5120-94D27E4556B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297" y="2907053"/>
            <a:ext cx="532462" cy="5324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E6CC32-8BE3-9659-0212-72F4AF087BDE}"/>
              </a:ext>
            </a:extLst>
          </p:cNvPr>
          <p:cNvSpPr txBox="1"/>
          <p:nvPr/>
        </p:nvSpPr>
        <p:spPr>
          <a:xfrm>
            <a:off x="5749472" y="5268686"/>
            <a:ext cx="123734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444444"/>
                </a:solidFill>
                <a:latin typeface="Malgun Gothic"/>
                <a:ea typeface="Roboto"/>
                <a:cs typeface="Roboto"/>
              </a:rPr>
              <a:t>Escalate</a:t>
            </a:r>
          </a:p>
        </p:txBody>
      </p:sp>
      <p:pic>
        <p:nvPicPr>
          <p:cNvPr id="6" name="Picture 5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1A3EF25F-7CB3-1EA6-656E-F5DCAFB7BA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8756" y="2873827"/>
            <a:ext cx="620487" cy="61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53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6F9612-6F54-C1E3-FDC3-9861A229D4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323" y="0"/>
            <a:ext cx="8085138" cy="800100"/>
          </a:xfrm>
        </p:spPr>
        <p:txBody>
          <a:bodyPr>
            <a:normAutofit/>
          </a:bodyPr>
          <a:lstStyle/>
          <a:p>
            <a:r>
              <a:rPr lang="en-US" altLang="ko-KR" sz="2800" b="1">
                <a:ea typeface="맑은 고딕"/>
              </a:rPr>
              <a:t>6-2. Meeting Management</a:t>
            </a:r>
            <a:endParaRPr lang="ko-KR" altLang="en-US" sz="2800" b="1">
              <a:ea typeface="맑은 고딕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A60F34-84FF-6034-09AE-0AAE99F2F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25357"/>
              </p:ext>
            </p:extLst>
          </p:nvPr>
        </p:nvGraphicFramePr>
        <p:xfrm>
          <a:off x="515938" y="1286189"/>
          <a:ext cx="11304587" cy="507079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541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8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08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935">
                  <a:extLst>
                    <a:ext uri="{9D8B030D-6E8A-4147-A177-3AD203B41FA5}">
                      <a16:colId xmlns:a16="http://schemas.microsoft.com/office/drawing/2014/main" val="3035113662"/>
                    </a:ext>
                  </a:extLst>
                </a:gridCol>
                <a:gridCol w="10011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01190">
                  <a:extLst>
                    <a:ext uri="{9D8B030D-6E8A-4147-A177-3AD203B41FA5}">
                      <a16:colId xmlns:a16="http://schemas.microsoft.com/office/drawing/2014/main" val="1370819726"/>
                    </a:ext>
                  </a:extLst>
                </a:gridCol>
                <a:gridCol w="10240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50662">
                <a:tc>
                  <a:txBody>
                    <a:bodyPr/>
                    <a:lstStyle/>
                    <a:p>
                      <a:pPr algn="ctr" rtl="0"/>
                      <a:r>
                        <a:rPr kumimoji="1" lang="en-US" altLang="ja" sz="1400" b="1" u="none" kern="1200" baseline="0">
                          <a:solidFill>
                            <a:schemeClr val="bg1"/>
                          </a:solidFill>
                        </a:rPr>
                        <a:t>Type</a:t>
                      </a:r>
                      <a:endParaRPr kumimoji="1" lang="ja" altLang="en-US" sz="1400" b="1" kern="1200">
                        <a:solidFill>
                          <a:schemeClr val="bg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kumimoji="1" lang="en-US" altLang="ja" sz="1400" b="1" u="none" kern="1200" baseline="0">
                          <a:solidFill>
                            <a:schemeClr val="bg1"/>
                          </a:solidFill>
                        </a:rPr>
                        <a:t>Time</a:t>
                      </a:r>
                      <a:endParaRPr kumimoji="1" lang="ja" sz="1400" b="1" i="0" u="none" kern="1200" baseline="0">
                        <a:solidFill>
                          <a:schemeClr val="bg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kumimoji="1" lang="en-US" altLang="ja" sz="1400" b="1" u="none" kern="1200" baseline="0">
                          <a:solidFill>
                            <a:schemeClr val="bg1"/>
                          </a:solidFill>
                        </a:rPr>
                        <a:t>The purpose</a:t>
                      </a:r>
                      <a:endParaRPr kumimoji="1" lang="ja" altLang="en-US" sz="1400" b="1" kern="1200">
                        <a:solidFill>
                          <a:schemeClr val="bg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kumimoji="1" lang="en-US" altLang="ja" sz="1400" b="1" u="none" kern="1200" baseline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kumimoji="1" lang="ja" altLang="en-US" sz="1400" b="1" kern="1200">
                        <a:solidFill>
                          <a:schemeClr val="bg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kumimoji="1" lang="en-US" altLang="ja-JP" sz="1400" b="1" u="none" kern="1200" baseline="0">
                          <a:solidFill>
                            <a:schemeClr val="bg1"/>
                          </a:solidFill>
                        </a:rPr>
                        <a:t>Customer</a:t>
                      </a:r>
                    </a:p>
                    <a:p>
                      <a:pPr algn="ctr" rtl="0"/>
                      <a:r>
                        <a:rPr kumimoji="1" lang="en-US" altLang="ja-JP" sz="1400" b="1" u="none" kern="1200" baseline="0">
                          <a:solidFill>
                            <a:schemeClr val="bg1"/>
                          </a:solidFill>
                        </a:rPr>
                        <a:t/>
                      </a:r>
                      <a:r>
                        <a:rPr lang="en-US" altLang="ja-JP" sz="1400" b="1" u="none" kern="1200" baseline="0">
                          <a:solidFill>
                            <a:schemeClr val="bg1"/>
                          </a:solidFill>
                        </a:rPr>
                        <a:t/>
                      </a:r>
                      <a:r>
                        <a:rPr kumimoji="1" lang="en-US" altLang="ja-JP" sz="1400" b="1" u="none" kern="1200" baseline="0">
                          <a:solidFill>
                            <a:schemeClr val="bg1"/>
                          </a:solidFill>
                        </a:rPr>
                        <a:t/>
                      </a:r>
                      <a:endParaRPr kumimoji="1" lang="en-US" altLang="ja-JP" sz="1400" b="1" i="0" u="none" kern="1200" baseline="0">
                        <a:solidFill>
                          <a:schemeClr val="bg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kumimoji="1" lang="en-US" altLang="ja" sz="1400" b="1" u="none" kern="1200" baseline="0">
                          <a:solidFill>
                            <a:schemeClr val="bg1"/>
                          </a:solidFill>
                        </a:rPr>
                        <a:t>[Partner]</a:t>
                      </a:r>
                      <a:endParaRPr kumimoji="1" lang="ja" altLang="en-US" sz="1400" b="1" kern="120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ja" sz="1400" b="1" u="none" kern="1200" baseline="0">
                          <a:solidFill>
                            <a:schemeClr val="bg1"/>
                          </a:solidFill>
                        </a:rPr>
                        <a:t>AGS/</a:t>
                      </a:r>
                      <a:r>
                        <a:rPr kumimoji="1" lang="ja" sz="1400" b="1" u="none" kern="1200" baseline="0">
                          <a:solidFill>
                            <a:schemeClr val="bg1"/>
                          </a:solidFill>
                        </a:rPr>
                        <a:t>FPT</a:t>
                      </a:r>
                      <a:r>
                        <a:rPr lang="ja" altLang="en-US" sz="1400" b="1" u="none" kern="12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ja" altLang="ja" sz="1400" b="1" u="none" kern="1200" baseline="0" dirty="0">
                        <a:solidFill>
                          <a:schemeClr val="bg1"/>
                        </a:solidFill>
                      </a:endParaRPr>
                    </a:p>
                    <a:p>
                      <a:pPr lvl="0" algn="ctr">
                        <a:buNone/>
                      </a:pPr>
                      <a:r>
                        <a:rPr lang="ja" altLang="en-US" sz="1400" b="1" u="none" kern="1200" baseline="0">
                          <a:solidFill>
                            <a:schemeClr val="bg1"/>
                          </a:solidFill>
                        </a:rPr>
                        <a:t>Onshore</a:t>
                      </a:r>
                      <a:endParaRPr kumimoji="1" lang="ja" altLang="ja" sz="1400" b="1" u="none" kern="1200" baseline="0">
                        <a:solidFill>
                          <a:schemeClr val="bg1"/>
                        </a:solidFill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ja" sz="1400" b="1" u="none" kern="1200" baseline="0">
                          <a:solidFill>
                            <a:schemeClr val="bg1"/>
                          </a:solidFill>
                        </a:rPr>
                        <a:t>AGS/</a:t>
                      </a:r>
                      <a:r>
                        <a:rPr kumimoji="1" lang="ja" sz="1400" b="1" u="none" kern="1200" baseline="0">
                          <a:solidFill>
                            <a:schemeClr val="bg1"/>
                          </a:solidFill>
                        </a:rPr>
                        <a:t>FPT</a:t>
                      </a:r>
                    </a:p>
                    <a:p>
                      <a:pPr algn="ctr" rtl="0"/>
                      <a:r>
                        <a:rPr lang="ja" sz="1400" b="1" u="none" kern="1200" baseline="0" dirty="0">
                          <a:solidFill>
                            <a:schemeClr val="bg1"/>
                          </a:solidFill>
                        </a:rPr>
                        <a:t>Of</a:t>
                      </a:r>
                      <a:r>
                        <a:rPr lang="en-US" altLang="ja" sz="1400" b="1" u="none" kern="1200" baseline="0" dirty="0" err="1">
                          <a:solidFill>
                            <a:schemeClr val="bg1"/>
                          </a:solidFill>
                        </a:rPr>
                        <a:t>fshore</a:t>
                      </a:r>
                      <a:endParaRPr kumimoji="1" lang="ja" altLang="en-US" sz="1400" b="1" u="none" kern="1200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38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u="none" kern="1200" baseline="0">
                          <a:solidFill>
                            <a:schemeClr val="tx1"/>
                          </a:solidFill>
                        </a:rPr>
                        <a:t>Kick-off Meeting</a:t>
                      </a:r>
                      <a:endParaRPr kumimoji="1" lang="ja" sz="1200" b="0" i="0" u="none" kern="1200" baseline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ja" sz="1200">
                        <a:solidFill>
                          <a:schemeClr val="tx1"/>
                        </a:solidFill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1200" kern="1200">
                          <a:solidFill>
                            <a:schemeClr val="tx1"/>
                          </a:solidFill>
                        </a:rPr>
                        <a:t>Confirmation of the project plan</a:t>
                      </a:r>
                      <a:endParaRPr kumimoji="1" lang="en-US" altLang="ja-JP" sz="1200" kern="120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ja" sz="1200" b="0" u="none" kern="1200" baseline="0">
                          <a:solidFill>
                            <a:schemeClr val="tx1"/>
                          </a:solidFill>
                        </a:rPr>
                        <a:t>Online Meeting</a:t>
                      </a:r>
                      <a:endParaRPr kumimoji="1" lang="en-US" altLang="ja" sz="1200" b="0" i="0" u="none" kern="1200" baseline="0">
                        <a:solidFill>
                          <a:schemeClr val="tx1"/>
                        </a:solidFill>
                        <a:latin typeface="+mn-lt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ja-JP" sz="1200" b="0" u="none" strike="noStrike" kern="1200" noProof="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en-US" altLang="ja-JP"/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kern="120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" altLang="en-US" sz="1200" kern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kern="120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" altLang="en-US" sz="1200" kern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kern="120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" altLang="en-US" sz="1200" kern="1200">
                        <a:solidFill>
                          <a:schemeClr val="tx1"/>
                        </a:solidFill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1569916"/>
                  </a:ext>
                </a:extLst>
              </a:tr>
              <a:tr h="594729">
                <a:tc>
                  <a:txBody>
                    <a:bodyPr/>
                    <a:lstStyle/>
                    <a:p>
                      <a:pPr algn="l" rtl="0"/>
                      <a:r>
                        <a:rPr kumimoji="1" lang="en-US" altLang="ja" sz="1200" b="0" u="none" kern="1200" baseline="0">
                          <a:solidFill>
                            <a:schemeClr val="tx1"/>
                          </a:solidFill>
                        </a:rPr>
                        <a:t>Daily Meeting</a:t>
                      </a:r>
                      <a:r>
                        <a:rPr lang="en-US" altLang="ja" sz="1200" b="0" u="none" kern="1200" baseline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  <a:p>
                      <a:pPr algn="l" rtl="0"/>
                      <a:r>
                        <a:rPr lang="en-US" altLang="ja" sz="1200" b="0" u="none" kern="1200" baseline="0">
                          <a:solidFill>
                            <a:schemeClr val="tx1"/>
                          </a:solidFill>
                        </a:rPr>
                        <a:t>Daily report</a:t>
                      </a:r>
                      <a:endParaRPr kumimoji="1" lang="ja" altLang="ja" sz="1200" kern="120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ja" altLang="ja-JP" sz="12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/>
                        <a:buChar char="•"/>
                      </a:pPr>
                      <a:r>
                        <a:rPr kumimoji="1" lang="en-US" altLang="ja" sz="1200" b="0" u="none" kern="1200" baseline="0">
                          <a:solidFill>
                            <a:schemeClr val="tx1"/>
                          </a:solidFill>
                        </a:rPr>
                        <a:t>Progress report</a:t>
                      </a:r>
                    </a:p>
                    <a:p>
                      <a:pPr marL="171450" indent="-171450" algn="l" rtl="0">
                        <a:buFont typeface="Arial"/>
                        <a:buChar char="•"/>
                      </a:pPr>
                      <a:r>
                        <a:rPr kumimoji="1" lang="en-US" altLang="ja" sz="1200" b="0" u="none" kern="1200" baseline="0">
                          <a:solidFill>
                            <a:schemeClr val="tx1"/>
                          </a:solidFill>
                        </a:rPr>
                        <a:t>Problem presentation</a:t>
                      </a:r>
                      <a:endParaRPr kumimoji="1" lang="en-US" altLang="ja-JP" sz="1200" b="0" i="0" u="none" kern="1200" baseline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ja" sz="1200" b="0" u="none" kern="1200" baseline="0">
                          <a:solidFill>
                            <a:schemeClr val="tx1"/>
                          </a:solidFill>
                        </a:rPr>
                        <a:t>Online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ja" sz="1200" b="0" u="none" kern="1200" baseline="0">
                          <a:solidFill>
                            <a:schemeClr val="tx1"/>
                          </a:solidFill>
                        </a:rPr>
                        <a:t>Meeting</a:t>
                      </a:r>
                      <a:endParaRPr kumimoji="1" lang="en-US" altLang="ja" sz="1200" b="0" i="0" u="none" kern="1200" baseline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ja-JP" sz="1200" b="0" u="none" strike="noStrike" kern="1200" noProof="0">
                          <a:solidFill>
                            <a:schemeClr val="tx1"/>
                          </a:solidFill>
                        </a:rPr>
                        <a:t>△</a:t>
                      </a:r>
                      <a:endParaRPr lang="ko-KR" altLang="en-US"/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" sz="1200" b="0" u="none" strike="noStrike" kern="1200">
                          <a:solidFill>
                            <a:schemeClr val="tx1"/>
                          </a:solidFill>
                        </a:rPr>
                        <a:t>X</a:t>
                      </a:r>
                      <a:endParaRPr lang="ja" altLang="en-US" sz="1200" b="0" u="none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kern="120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" sz="1200" b="0" i="0" u="none" kern="1200" baseline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kern="120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" sz="1200" b="0" u="none" kern="1200" baseline="0">
                        <a:solidFill>
                          <a:schemeClr val="tx1"/>
                        </a:solidFill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7923">
                <a:tc>
                  <a:txBody>
                    <a:bodyPr/>
                    <a:lstStyle/>
                    <a:p>
                      <a:pPr algn="l" rtl="0"/>
                      <a:r>
                        <a:rPr kumimoji="1" lang="en-US" altLang="ja" sz="1200" b="0" u="none" kern="1200" baseline="0">
                          <a:solidFill>
                            <a:schemeClr val="tx1"/>
                          </a:solidFill>
                        </a:rPr>
                        <a:t>Weekly Meeting</a:t>
                      </a:r>
                      <a:r>
                        <a:rPr lang="en-US" altLang="ja" sz="1200" b="0" u="none" kern="1200" baseline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  <a:p>
                      <a:pPr algn="l" rtl="0"/>
                      <a:r>
                        <a:rPr lang="en-US" altLang="ja" sz="1200" b="0" u="none" kern="1200" baseline="0">
                          <a:solidFill>
                            <a:schemeClr val="tx1"/>
                          </a:solidFill>
                        </a:rPr>
                        <a:t>Weekly Report</a:t>
                      </a:r>
                      <a:endParaRPr kumimoji="1" lang="ja" sz="1200" b="0" i="0" u="none" kern="1200" baseline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/>
                        <a:buChar char="•"/>
                      </a:pPr>
                      <a:r>
                        <a:rPr lang="en-GB" sz="1200"/>
                        <a:t>Provide a clear and structured update on the team's work progress and issues from the past week, as well as tasks and plans for the upcoming week.</a:t>
                      </a:r>
                    </a:p>
                    <a:p>
                      <a:pPr marL="171450" indent="-171450" algn="l" rtl="0">
                        <a:buFont typeface="Arial"/>
                        <a:buChar char="•"/>
                      </a:pPr>
                      <a:r>
                        <a:rPr lang="en-GB" sz="1200"/>
                        <a:t>PMA prepares the weekly report according to the customer's template</a:t>
                      </a:r>
                      <a:endParaRPr kumimoji="1" lang="ja" sz="1200" b="0" i="0" u="none" kern="1200" baseline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ja" sz="1200" b="0" u="none" kern="1200" baseline="0">
                          <a:solidFill>
                            <a:schemeClr val="tx1"/>
                          </a:solidFill>
                        </a:rPr>
                        <a:t>Email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ja" sz="1200" b="0" u="none" kern="1200" baseline="0">
                          <a:solidFill>
                            <a:schemeClr val="tx1"/>
                          </a:solidFill>
                        </a:rPr>
                        <a:t>or</a:t>
                      </a:r>
                      <a:endParaRPr lang="en-US" sz="1200" b="0" u="none" strike="noStrike" kern="1200" baseline="0" noProof="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u="none" strike="noStrike" kern="1200" baseline="0" noProof="0">
                          <a:solidFill>
                            <a:schemeClr val="tx1"/>
                          </a:solidFill>
                        </a:rPr>
                        <a:t>Online</a:t>
                      </a:r>
                      <a:endParaRPr lang="en-US" sz="1200" b="0" u="none" strike="noStrike" kern="1200" baseline="0" noProof="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baseline="0" noProof="0">
                          <a:solidFill>
                            <a:schemeClr val="tx1"/>
                          </a:solidFill>
                        </a:rPr>
                        <a:t>Meeting</a:t>
                      </a:r>
                      <a:endParaRPr lang="en-US" sz="1200" b="0" i="0" u="none" strike="noStrike" kern="1200" baseline="0" noProof="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="0" u="none" strike="noStrike" kern="1200" noProof="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en-US" altLang="ja-JP" sz="1200"/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ja" sz="1200" b="0" u="none" strike="noStrike" kern="1200">
                          <a:solidFill>
                            <a:schemeClr val="tx1"/>
                          </a:solidFill>
                        </a:rPr>
                        <a:t>X</a:t>
                      </a:r>
                      <a:endParaRPr lang="ja" altLang="en-US" sz="1200" b="0" u="none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kumimoji="1" lang="ja-JP" altLang="en-US" sz="1200" kern="120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" altLang="en-US" sz="1200" kern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1" lang="en-GB" altLang="ko-KR"/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GB" altLang="ja-JP" sz="1800" kern="12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kern="120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" altLang="en-US" sz="1200" b="0" u="none" kern="1200" baseline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1" lang="ko-KR" altLang="en-US"/>
                    </a:p>
                    <a:p>
                      <a:pPr marL="0" marR="0" lvl="0" indent="0" algn="ctr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1" lang="ko-KR" altLang="en-US"/>
                    </a:p>
                  </a:txBody>
                  <a:tcPr marL="108000" marR="72000" marT="60960" marB="6096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4899">
                <a:tc>
                  <a:txBody>
                    <a:bodyPr/>
                    <a:lstStyle/>
                    <a:p>
                      <a:pPr algn="l" rtl="0"/>
                      <a:r>
                        <a:rPr kumimoji="1" lang="en-US" altLang="ja" sz="1200" b="0" u="none" kern="1200" baseline="0">
                          <a:solidFill>
                            <a:schemeClr val="tx1"/>
                          </a:solidFill>
                        </a:rPr>
                        <a:t>Ad-hoc meeting</a:t>
                      </a:r>
                      <a:endParaRPr kumimoji="1" lang="en-US" altLang="ja" sz="1200" b="0" i="0" u="none" kern="1200" baseline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kumimoji="1" lang="en-US" altLang="ja" sz="1200" b="0" i="0" u="none" kern="1200" baseline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/>
                        <a:buChar char="•"/>
                      </a:pPr>
                      <a:r>
                        <a:rPr kumimoji="1" lang="en-US" altLang="ja-JP" sz="1200" b="0" u="none" kern="1200" baseline="0">
                          <a:solidFill>
                            <a:schemeClr val="tx1"/>
                          </a:solidFill>
                        </a:rPr>
                        <a:t>Technical briefing session</a:t>
                      </a:r>
                    </a:p>
                    <a:p>
                      <a:pPr marL="171450" indent="-171450" algn="l" rtl="0">
                        <a:buFont typeface="Arial"/>
                        <a:buChar char="•"/>
                      </a:pPr>
                      <a:r>
                        <a:rPr kumimoji="1" lang="en-US" altLang="ja-JP" sz="1200" b="0" u="none" kern="1200" baseline="0">
                          <a:solidFill>
                            <a:schemeClr val="tx1"/>
                          </a:solidFill>
                        </a:rPr>
                        <a:t>If an unexpected problem occurs, notify the project team and consult with them.</a:t>
                      </a:r>
                      <a:endParaRPr kumimoji="1" lang="ja" altLang="en-US" sz="1200" kern="120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ja" sz="1200"/>
                        <a:t>By</a:t>
                      </a:r>
                      <a:r>
                        <a:rPr lang="ja" sz="1200"/>
                        <a:t> E</a:t>
                      </a:r>
                      <a:r>
                        <a:rPr lang="en-US" altLang="ja" sz="1200"/>
                        <a:t>vent</a:t>
                      </a:r>
                      <a:endParaRPr kumimoji="1" lang="ja" sz="1200"/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1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0" u="none" kern="1200" baseline="0">
                          <a:solidFill>
                            <a:schemeClr val="tx1"/>
                          </a:solidFill>
                        </a:rPr>
                        <a:t>△</a:t>
                      </a:r>
                      <a:endParaRPr kumimoji="1" lang="en-US" altLang="ja-JP" sz="1200" b="0" i="0" u="none" kern="1200" baseline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" sz="1200" b="0" u="none" strike="noStrike" kern="1200">
                          <a:solidFill>
                            <a:schemeClr val="tx1"/>
                          </a:solidFill>
                        </a:rPr>
                        <a:t>X</a:t>
                      </a:r>
                      <a:endParaRPr lang="ja" altLang="en-US" sz="1200" b="0" u="none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kumimoji="1" lang="ja-JP" altLang="en-US" sz="1200" kern="120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" altLang="en-US" sz="1200" kern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kern="120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" sz="1200" b="0" u="none" kern="1200" baseline="0">
                        <a:solidFill>
                          <a:schemeClr val="tx1"/>
                        </a:solidFill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4899">
                <a:tc>
                  <a:txBody>
                    <a:bodyPr/>
                    <a:lstStyle/>
                    <a:p>
                      <a:pPr algn="l" rtl="0"/>
                      <a:r>
                        <a:rPr kumimoji="1" lang="en-US" altLang="ja" sz="1200" b="0" u="none" kern="1200" baseline="0">
                          <a:solidFill>
                            <a:schemeClr val="tx1"/>
                          </a:solidFill>
                        </a:rPr>
                        <a:t>Escalation meeting</a:t>
                      </a:r>
                      <a:endParaRPr kumimoji="1" lang="en-US" altLang="ja" sz="1200" b="0" i="0" u="none" kern="1200" baseline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kumimoji="1" lang="ja" sz="1200" b="0" i="0" u="none" kern="1200" baseline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/>
                        <a:buChar char="•"/>
                      </a:pPr>
                      <a:r>
                        <a:rPr kumimoji="1" lang="en-US" altLang="ja" sz="1200" kern="1200">
                          <a:solidFill>
                            <a:schemeClr val="tx1"/>
                          </a:solidFill>
                        </a:rPr>
                        <a:t>Issue that</a:t>
                      </a:r>
                      <a:r>
                        <a:rPr lang="en-US" altLang="ja" sz="1200" kern="1200">
                          <a:solidFill>
                            <a:schemeClr val="tx1"/>
                          </a:solidFill>
                        </a:rPr>
                        <a:t> FPT Team</a:t>
                      </a:r>
                      <a:r>
                        <a:rPr kumimoji="1" lang="en-US" altLang="ja" sz="1200" kern="1200">
                          <a:solidFill>
                            <a:schemeClr val="tx1"/>
                          </a:solidFill>
                        </a:rPr>
                        <a:t> cannot handle</a:t>
                      </a:r>
                      <a:endParaRPr kumimoji="1" lang="ja" altLang="en-US" sz="1200" kern="120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u="none" strike="noStrike" kern="1200" baseline="0" noProof="0">
                        <a:solidFill>
                          <a:srgbClr val="00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By</a:t>
                      </a:r>
                      <a:r>
                        <a:rPr lang="ja" altLang="en-US" sz="1200" b="0" u="none" strike="noStrike" kern="1200" baseline="0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ja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E</a:t>
                      </a: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vent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" sz="1200" b="0" u="none" kern="1200" baseline="0">
                        <a:solidFill>
                          <a:schemeClr val="tx1"/>
                        </a:solidFill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1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kern="120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" altLang="en-US" sz="1200" kern="1200">
                        <a:solidFill>
                          <a:schemeClr val="tx1"/>
                        </a:solidFill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kern="120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" altLang="en-US" sz="1200" kern="1200">
                        <a:solidFill>
                          <a:schemeClr val="tx1"/>
                        </a:solidFill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kern="120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" altLang="en-US" sz="1200" kern="1200">
                        <a:solidFill>
                          <a:schemeClr val="tx1"/>
                        </a:solidFill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kern="1200">
                          <a:solidFill>
                            <a:schemeClr val="tx1"/>
                          </a:solidFill>
                        </a:rPr>
                        <a:t>〇</a:t>
                      </a:r>
                      <a:endParaRPr kumimoji="1" lang="ja" altLang="en-US" sz="1200" kern="1200">
                        <a:solidFill>
                          <a:schemeClr val="tx1"/>
                        </a:solidFill>
                      </a:endParaRPr>
                    </a:p>
                  </a:txBody>
                  <a:tcPr marL="108000" marR="72000" marT="60960" marB="6096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931523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77244F8-0B86-98EF-2CAC-CD97893BF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13" y="6469062"/>
            <a:ext cx="2986699" cy="30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81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6F9612-6F54-C1E3-FDC3-9861A229D4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8328" y="18288"/>
            <a:ext cx="8085138" cy="800100"/>
          </a:xfrm>
        </p:spPr>
        <p:txBody>
          <a:bodyPr>
            <a:normAutofit/>
          </a:bodyPr>
          <a:lstStyle/>
          <a:p>
            <a:r>
              <a:rPr lang="en-US" altLang="ko-KR" sz="2800" b="1">
                <a:ea typeface="맑은 고딕"/>
              </a:rPr>
              <a:t>6-3. Contact List (</a:t>
            </a:r>
            <a:r>
              <a:rPr lang="ko-KR" altLang="en-US" sz="2800" b="1">
                <a:ea typeface="맑은 고딕"/>
              </a:rPr>
              <a:t>유선통신</a:t>
            </a:r>
            <a:r>
              <a:rPr lang="en-GB" altLang="ko-KR" sz="2800" b="1">
                <a:ea typeface="맑은 고딕"/>
              </a:rPr>
              <a:t>)</a:t>
            </a:r>
            <a:endParaRPr lang="ko-KR" altLang="en-US" sz="2800" b="1">
              <a:ea typeface="맑은 고딕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24B1D1-06E9-5BFE-BA76-FE2136EDA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131060"/>
              </p:ext>
            </p:extLst>
          </p:nvPr>
        </p:nvGraphicFramePr>
        <p:xfrm>
          <a:off x="334413" y="812665"/>
          <a:ext cx="11541422" cy="57191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3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7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96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1039">
                <a:tc>
                  <a:txBody>
                    <a:bodyPr/>
                    <a:lstStyle/>
                    <a:p>
                      <a:pPr algn="ctr" rtl="0"/>
                      <a:r>
                        <a:rPr kumimoji="1" lang="en-US" altLang="ja" sz="1400" b="1" u="none" kern="1200" baseline="0">
                          <a:solidFill>
                            <a:schemeClr val="bg1"/>
                          </a:solidFill>
                        </a:rPr>
                        <a:t>#</a:t>
                      </a:r>
                      <a:endParaRPr kumimoji="1" lang="ja" altLang="en-US" sz="1400" b="1" kern="1200">
                        <a:solidFill>
                          <a:schemeClr val="bg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10800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" sz="1400" b="1" u="none" kern="1200" baseline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kumimoji="1" lang="ja" sz="1400" b="1" i="0" u="none" kern="1200" baseline="0">
                        <a:solidFill>
                          <a:schemeClr val="bg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108000" marT="60960" marB="6096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kumimoji="1" lang="en-US" altLang="ja" sz="1400" b="1" kern="1200">
                          <a:solidFill>
                            <a:schemeClr val="bg1"/>
                          </a:solidFill>
                        </a:rPr>
                        <a:t>PIC</a:t>
                      </a:r>
                      <a:endParaRPr kumimoji="1" lang="ja" altLang="en-US" sz="1400" b="1" kern="1200">
                        <a:solidFill>
                          <a:schemeClr val="bg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108000" marT="60960" marB="6096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kumimoji="1" lang="en-US" altLang="ja" sz="1400" b="1" kern="1200">
                          <a:solidFill>
                            <a:schemeClr val="bg1"/>
                          </a:solidFill>
                        </a:rPr>
                        <a:t>Email</a:t>
                      </a:r>
                      <a:endParaRPr kumimoji="1" lang="ja" altLang="en-US" sz="1400" b="1" kern="1200">
                        <a:solidFill>
                          <a:schemeClr val="bg1"/>
                        </a:solidFill>
                        <a:latin typeface="Meiryo UI"/>
                        <a:ea typeface="Meiryo UI"/>
                        <a:cs typeface="ＭＳ Ｐゴシック" panose="020B0604030504040204" pitchFamily="50" charset="-128"/>
                      </a:endParaRPr>
                    </a:p>
                  </a:txBody>
                  <a:tcPr marL="108000" marR="108000" marT="60960" marB="609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0033">
                <a:tc>
                  <a:txBody>
                    <a:bodyPr/>
                    <a:lstStyle/>
                    <a:p>
                      <a:pPr algn="ctr" fontAlgn="ctr">
                        <a:lnSpc>
                          <a:spcPct val="130000"/>
                        </a:lnSpc>
                      </a:pPr>
                      <a:r>
                        <a:rPr lang="en-US" sz="1400" kern="12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  <a:endParaRPr lang="en-US" sz="1400" kern="120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  <a:ea typeface="Meiryo UI"/>
                        <a:cs typeface="+mn-cs"/>
                      </a:endParaRPr>
                    </a:p>
                  </a:txBody>
                  <a:tcPr marL="108000" marR="108000" marT="9525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ja" sz="1400" u="none" kern="12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Contracts, proposals, change requests</a:t>
                      </a:r>
                      <a:endParaRPr lang="ja" altLang="en-US" sz="1400" u="none" kern="120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  <a:ea typeface="Meiryo UI"/>
                        <a:cs typeface="+mn-cs"/>
                      </a:endParaRPr>
                    </a:p>
                  </a:txBody>
                  <a:tcPr marL="108000" marR="108000" marT="9525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" sz="1400" b="1" u="none" kern="1200">
                          <a:solidFill>
                            <a:schemeClr val="tx1"/>
                          </a:solidFill>
                        </a:rPr>
                        <a:t>[Partner]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noProof="0">
                          <a:solidFill>
                            <a:schemeClr val="tx1"/>
                          </a:solidFill>
                        </a:rPr>
                        <a:t>Service Manager:</a:t>
                      </a:r>
                      <a:endParaRPr lang="en-US" sz="1400" b="0" u="none" strike="noStrike" kern="1200" noProof="0">
                        <a:solidFill>
                          <a:srgbClr val="00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noProof="0">
                          <a:solidFill>
                            <a:schemeClr val="tx1"/>
                          </a:solidFill>
                        </a:rPr>
                        <a:t>Delivery Manager:</a:t>
                      </a:r>
                      <a:endParaRPr lang="en-US" b="0" strike="noStrike" noProof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u="none" strike="noStrike" kern="1200" noProof="0">
                        <a:solidFill>
                          <a:srgbClr val="00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kern="1200" noProof="0">
                          <a:solidFill>
                            <a:srgbClr val="000000"/>
                          </a:solidFill>
                        </a:rPr>
                        <a:t>AGS/FPT</a:t>
                      </a:r>
                      <a:endParaRPr lang="en-US" b="1" u="none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noProof="0">
                          <a:solidFill>
                            <a:schemeClr val="tx1"/>
                          </a:solidFill>
                        </a:rPr>
                        <a:t>PMO: </a:t>
                      </a:r>
                      <a:endParaRPr lang="en-US" b="0" i="0" strike="noStrike" noProof="0">
                        <a:latin typeface="Malgun Gothic"/>
                      </a:endParaRPr>
                    </a:p>
                  </a:txBody>
                  <a:tcPr marL="108000" marR="108000" marT="9525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kern="1200">
                          <a:solidFill>
                            <a:schemeClr val="tx1"/>
                          </a:solidFill>
                        </a:rPr>
                        <a:t>[Partner]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noProof="0">
                          <a:solidFill>
                            <a:schemeClr val="tx1"/>
                          </a:solidFill>
                        </a:rPr>
                        <a:t>Service Manager:</a:t>
                      </a:r>
                      <a:endParaRPr lang="en-US" sz="1400" b="0" u="none" strike="noStrike" kern="1200" noProof="0">
                        <a:solidFill>
                          <a:srgbClr val="00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noProof="0">
                          <a:solidFill>
                            <a:schemeClr val="tx1"/>
                          </a:solidFill>
                        </a:rPr>
                        <a:t>Delivery Manager: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kern="1200" noProof="0">
                          <a:solidFill>
                            <a:schemeClr val="tx1"/>
                          </a:solidFill>
                        </a:rPr>
                        <a:t>AGS/FPT </a:t>
                      </a:r>
                      <a:endParaRPr lang="en-US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noProof="0">
                          <a:solidFill>
                            <a:schemeClr val="tx1"/>
                          </a:solidFill>
                        </a:rPr>
                        <a:t>PMO: </a:t>
                      </a:r>
                      <a:endParaRPr lang="en-US">
                        <a:solidFill>
                          <a:schemeClr val="accent4">
                            <a:lumMod val="50000"/>
                          </a:schemeClr>
                        </a:solidFill>
                        <a:latin typeface="맑은 고딕"/>
                      </a:endParaRPr>
                    </a:p>
                  </a:txBody>
                  <a:tcPr marL="108000" marR="108000" marT="9525" anchor="ctr"/>
                </a:tc>
                <a:extLst>
                  <a:ext uri="{0D108BD9-81ED-4DB2-BD59-A6C34878D82A}">
                    <a16:rowId xmlns:a16="http://schemas.microsoft.com/office/drawing/2014/main" val="691569916"/>
                  </a:ext>
                </a:extLst>
              </a:tr>
              <a:tr h="1981730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400" kern="12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  <a:endParaRPr lang="en-US" sz="1400" kern="120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  <a:ea typeface="Meiryo UI"/>
                        <a:cs typeface="+mn-cs"/>
                      </a:endParaRPr>
                    </a:p>
                  </a:txBody>
                  <a:tcPr marL="108000" marR="108000" marT="9524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ja-JP" sz="1400" u="none" kern="12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Project escalation</a:t>
                      </a:r>
                      <a:r>
                        <a:rPr lang="en-US" sz="1400" u="none" kern="12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​</a:t>
                      </a:r>
                      <a:endParaRPr lang="en-US" altLang="ja" sz="1400" u="none" kern="120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  <a:ea typeface="Meiryo UI"/>
                        <a:cs typeface="+mn-cs"/>
                      </a:endParaRPr>
                    </a:p>
                  </a:txBody>
                  <a:tcPr marL="108000" marR="108000" marT="9524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kern="1200" noProof="0">
                          <a:solidFill>
                            <a:schemeClr val="tx1"/>
                          </a:solidFill>
                        </a:rPr>
                        <a:t>[Partner]</a:t>
                      </a:r>
                      <a:endParaRPr lang="en-US" sz="1400" b="1" u="none" strike="noStrike" kern="1200" noProof="0">
                        <a:solidFill>
                          <a:srgbClr val="00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noProof="0">
                          <a:solidFill>
                            <a:schemeClr val="tx1"/>
                          </a:solidFill>
                        </a:rPr>
                        <a:t>Service Manager: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noProof="0">
                          <a:solidFill>
                            <a:schemeClr val="tx1"/>
                          </a:solidFill>
                        </a:rPr>
                        <a:t>Delivery Manager: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" sz="1400" u="none" kern="120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" sz="1400" b="1" u="none" kern="1200">
                          <a:solidFill>
                            <a:schemeClr val="tx1"/>
                          </a:solidFill>
                        </a:rPr>
                        <a:t>AGS/FPT</a:t>
                      </a:r>
                      <a:endParaRPr lang="en-US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" sz="1400" u="none" kern="1200">
                          <a:solidFill>
                            <a:schemeClr val="tx1"/>
                          </a:solidFill>
                        </a:rPr>
                        <a:t>PMO: </a:t>
                      </a:r>
                      <a:endParaRPr lang="en-US" altLang="ja" sz="1400" u="none" kern="1200">
                        <a:solidFill>
                          <a:schemeClr val="tx1"/>
                        </a:solidFill>
                        <a:latin typeface="+mn-lt"/>
                        <a:ea typeface="Meiryo UI"/>
                        <a:cs typeface="+mn-cs"/>
                      </a:endParaRPr>
                    </a:p>
                  </a:txBody>
                  <a:tcPr marL="108000" marR="108000" marT="9524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kern="1200" noProof="0">
                          <a:solidFill>
                            <a:schemeClr val="tx1"/>
                          </a:solidFill>
                        </a:rPr>
                        <a:t>[Partner]</a:t>
                      </a:r>
                      <a:endParaRPr lang="en-US" sz="1400" b="1" u="none" strike="noStrike" kern="1200" noProof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noProof="0">
                          <a:solidFill>
                            <a:schemeClr val="tx1"/>
                          </a:solidFill>
                        </a:rPr>
                        <a:t>Service Manager:</a:t>
                      </a:r>
                      <a:endParaRPr lang="en-US" sz="1400" b="0" u="none" strike="noStrike" kern="1200" noProof="0">
                        <a:solidFill>
                          <a:srgbClr val="00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noProof="0">
                          <a:solidFill>
                            <a:schemeClr val="tx1"/>
                          </a:solidFill>
                        </a:rPr>
                        <a:t>Delivery Manager:</a:t>
                      </a:r>
                      <a:br>
                        <a:rPr lang="en-US" sz="1400" b="0" u="none" strike="noStrike" kern="1200" noProof="0" dirty="0">
                          <a:solidFill>
                            <a:srgbClr val="000000"/>
                          </a:solidFill>
                        </a:rPr>
                      </a:br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kern="1200" noProof="0">
                          <a:solidFill>
                            <a:schemeClr val="tx1"/>
                          </a:solidFill>
                        </a:rPr>
                        <a:t>AGS/FPT</a:t>
                      </a:r>
                      <a:r>
                        <a:rPr lang="en-US" sz="1400" b="0" u="none" strike="noStrike" kern="120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noProof="0">
                          <a:solidFill>
                            <a:schemeClr val="tx1"/>
                          </a:solidFill>
                        </a:rPr>
                        <a:t>PMO: </a:t>
                      </a:r>
                      <a:endParaRPr lang="en-US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marL="108000" marR="108000" marT="952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6382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buNone/>
                      </a:pPr>
                      <a:r>
                        <a:rPr lang="en-US" sz="1400" kern="12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  <a:endParaRPr lang="en-US" sz="1400" kern="120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  <a:ea typeface="Meiryo UI"/>
                        <a:cs typeface="+mn-cs"/>
                      </a:endParaRPr>
                    </a:p>
                  </a:txBody>
                  <a:tcPr marL="108000" marR="108000" marT="9524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ja" sz="1400" u="none" kern="12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Project plan, schedule, progress, reports, issues</a:t>
                      </a:r>
                      <a:endParaRPr lang="en-US" altLang="ja" sz="1400" u="none" kern="120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  <a:ea typeface="Meiryo UI"/>
                        <a:cs typeface="+mn-cs"/>
                      </a:endParaRPr>
                    </a:p>
                  </a:txBody>
                  <a:tcPr marL="108000" marR="108000" marT="9524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none" kern="1200" noProof="0">
                          <a:solidFill>
                            <a:schemeClr val="tx1"/>
                          </a:solidFill>
                        </a:rPr>
                        <a:t>AGS/FPT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kern="1200" noProof="0">
                          <a:solidFill>
                            <a:schemeClr val="tx1"/>
                          </a:solidFill>
                        </a:rPr>
                        <a:t>Onshore PMA: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u="none" kern="1200" noProof="0">
                          <a:solidFill>
                            <a:schemeClr val="tx1"/>
                          </a:solidFill>
                        </a:rPr>
                        <a:t>Offshore PM: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 marL="108000" marR="108000" marT="9524"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1" u="none" kern="1200">
                          <a:solidFill>
                            <a:schemeClr val="tx1"/>
                          </a:solidFill>
                        </a:rPr>
                        <a:t>AGS/FPT</a:t>
                      </a:r>
                      <a:endParaRPr lang="en-US" sz="1400" b="1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kern="1200">
                          <a:solidFill>
                            <a:schemeClr val="tx1"/>
                          </a:solidFill>
                        </a:rPr>
                        <a:t>PMA:</a:t>
                      </a:r>
                      <a:endParaRPr lang="en-US" sz="1400" u="none" kern="1200">
                        <a:solidFill>
                          <a:schemeClr val="accent4">
                            <a:lumMod val="50000"/>
                          </a:schemeClr>
                        </a:solidFill>
                        <a:hlinkClick r:id="rId3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u="none" kern="1200">
                          <a:solidFill>
                            <a:schemeClr val="tx1"/>
                          </a:solidFill>
                        </a:rPr>
                        <a:t>PM:</a:t>
                      </a:r>
                      <a:endParaRPr lang="en-US" sz="1400" u="sng" kern="1200">
                        <a:solidFill>
                          <a:schemeClr val="accent4">
                            <a:lumMod val="49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marT="952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695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24406-554D-57AA-357B-CDC9D78A3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48DFD-BDA3-9630-A7FF-7B0BB0739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59A7F2-685D-1942-821F-D759A34464DF}" type="slidenum">
              <a:rPr lang="en-VN" smtClean="0"/>
              <a:pPr/>
              <a:t>21</a:t>
            </a:fld>
            <a:endParaRPr lang="en-V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6CC25A3-2628-69DD-BD85-1EA0E60664BC}"/>
              </a:ext>
            </a:extLst>
          </p:cNvPr>
          <p:cNvSpPr/>
          <p:nvPr/>
        </p:nvSpPr>
        <p:spPr>
          <a:xfrm>
            <a:off x="529390" y="4983307"/>
            <a:ext cx="4633000" cy="254596"/>
          </a:xfrm>
          <a:prstGeom prst="roundRect">
            <a:avLst/>
          </a:prstGeom>
          <a:solidFill>
            <a:srgbClr val="F16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72481C-8E24-65A9-B6F6-BE6417020D55}"/>
              </a:ext>
            </a:extLst>
          </p:cNvPr>
          <p:cNvSpPr txBox="1"/>
          <p:nvPr/>
        </p:nvSpPr>
        <p:spPr>
          <a:xfrm>
            <a:off x="529390" y="3441031"/>
            <a:ext cx="1168910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bg1"/>
                </a:solidFill>
                <a:latin typeface="BR Omega"/>
              </a:rPr>
              <a:t>07.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60484A-E731-AE3A-1DFF-E1E0B58918E7}"/>
              </a:ext>
            </a:extLst>
          </p:cNvPr>
          <p:cNvSpPr txBox="1"/>
          <p:nvPr/>
        </p:nvSpPr>
        <p:spPr>
          <a:xfrm>
            <a:off x="529390" y="4297229"/>
            <a:ext cx="7337937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tx1">
                    <a:lumMod val="85000"/>
                    <a:lumOff val="15000"/>
                  </a:schemeClr>
                </a:solidFill>
                <a:latin typeface="BR Omega"/>
              </a:rPr>
              <a:t>Risks &amp; Assumptions</a:t>
            </a:r>
            <a:endParaRPr lang="en-US" sz="6000" b="1">
              <a:solidFill>
                <a:schemeClr val="tx1">
                  <a:lumMod val="85000"/>
                  <a:lumOff val="15000"/>
                </a:schemeClr>
              </a:solidFill>
              <a:latin typeface="BR Omega"/>
            </a:endParaRPr>
          </a:p>
        </p:txBody>
      </p:sp>
    </p:spTree>
    <p:extLst>
      <p:ext uri="{BB962C8B-B14F-4D97-AF65-F5344CB8AC3E}">
        <p14:creationId xmlns:p14="http://schemas.microsoft.com/office/powerpoint/2010/main" val="1079486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00005" y="0"/>
            <a:ext cx="8085138" cy="800100"/>
          </a:xfrm>
        </p:spPr>
        <p:txBody>
          <a:bodyPr>
            <a:normAutofit/>
          </a:bodyPr>
          <a:lstStyle/>
          <a:p>
            <a:r>
              <a:rPr lang="en-US" sz="2800" b="1"/>
              <a:t>7-1. Risks</a:t>
            </a:r>
            <a:endParaRPr lang="en-US" sz="2800" b="1">
              <a:ea typeface="맑은 고딕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985ACB6-C1B5-D2B7-36E9-A3BD0955E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61941"/>
              </p:ext>
            </p:extLst>
          </p:nvPr>
        </p:nvGraphicFramePr>
        <p:xfrm>
          <a:off x="688925" y="1514780"/>
          <a:ext cx="10808490" cy="16353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15116">
                  <a:extLst>
                    <a:ext uri="{9D8B030D-6E8A-4147-A177-3AD203B41FA5}">
                      <a16:colId xmlns:a16="http://schemas.microsoft.com/office/drawing/2014/main" val="3994951014"/>
                    </a:ext>
                  </a:extLst>
                </a:gridCol>
                <a:gridCol w="4368597">
                  <a:extLst>
                    <a:ext uri="{9D8B030D-6E8A-4147-A177-3AD203B41FA5}">
                      <a16:colId xmlns:a16="http://schemas.microsoft.com/office/drawing/2014/main" val="4122448706"/>
                    </a:ext>
                  </a:extLst>
                </a:gridCol>
                <a:gridCol w="795685">
                  <a:extLst>
                    <a:ext uri="{9D8B030D-6E8A-4147-A177-3AD203B41FA5}">
                      <a16:colId xmlns:a16="http://schemas.microsoft.com/office/drawing/2014/main" val="1890842418"/>
                    </a:ext>
                  </a:extLst>
                </a:gridCol>
                <a:gridCol w="5029092">
                  <a:extLst>
                    <a:ext uri="{9D8B030D-6E8A-4147-A177-3AD203B41FA5}">
                      <a16:colId xmlns:a16="http://schemas.microsoft.com/office/drawing/2014/main" val="1247941783"/>
                    </a:ext>
                  </a:extLst>
                </a:gridCol>
              </a:tblGrid>
              <a:tr h="33159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＃</a:t>
                      </a:r>
                      <a:endParaRPr kumimoji="1" lang="ja-JP" altLang="en-US" sz="1200">
                        <a:solidFill>
                          <a:schemeClr val="bg1"/>
                        </a:solidFill>
                        <a:latin typeface="+mn-ea"/>
                        <a:ea typeface="Meiryo UI" panose="020B0604030504040204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1200">
                          <a:solidFill>
                            <a:schemeClr val="bg1"/>
                          </a:solidFill>
                        </a:rPr>
                        <a:t>Risks</a:t>
                      </a:r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1200">
                          <a:solidFill>
                            <a:schemeClr val="bg1"/>
                          </a:solidFill>
                        </a:rPr>
                        <a:t>Priority</a:t>
                      </a:r>
                      <a:endParaRPr kumimoji="1" lang="en-US" altLang="ja-JP" sz="1200">
                        <a:solidFill>
                          <a:schemeClr val="bg1"/>
                        </a:solidFill>
                        <a:latin typeface="+mn-ea"/>
                        <a:ea typeface="Meiryo UI" panose="020B0604030504040204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200">
                          <a:solidFill>
                            <a:schemeClr val="bg1"/>
                          </a:solidFill>
                        </a:rPr>
                        <a:t>Mitigation</a:t>
                      </a:r>
                      <a:endParaRPr kumimoji="1" lang="ja-JP" altLang="en-US" sz="1200">
                        <a:solidFill>
                          <a:schemeClr val="bg1"/>
                        </a:solidFill>
                        <a:latin typeface="+mn-ea"/>
                        <a:ea typeface="Meiryo UI" panose="020B0604030504040204"/>
                      </a:endParaRPr>
                    </a:p>
                  </a:txBody>
                  <a:tcPr marL="108000" marR="108000" anchor="ctr"/>
                </a:tc>
                <a:extLst>
                  <a:ext uri="{0D108BD9-81ED-4DB2-BD59-A6C34878D82A}">
                    <a16:rowId xmlns:a16="http://schemas.microsoft.com/office/drawing/2014/main" val="1723345337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1" lang="en-US" altLang="ja-JP" sz="1200" kern="1200">
                          <a:solidFill>
                            <a:schemeClr val="dk1"/>
                          </a:solidFill>
                        </a:rPr>
                        <a:t>1</a:t>
                      </a:r>
                      <a:endParaRPr kumimoji="1" lang="en-US" altLang="ja-JP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The AGS/FPT team lacks comprehensive knowledge of the 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project context and </a:t>
                      </a: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[Customer]’s </a:t>
                      </a: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system, which may affect 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the requirement analysis phase and potentially lead to 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gaps in understanding and implementation</a:t>
                      </a:r>
                      <a:endParaRPr kumimoji="1" lang="en-US" sz="1200"/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kern="1200">
                          <a:solidFill>
                            <a:schemeClr val="dk1"/>
                          </a:solidFill>
                        </a:rPr>
                        <a:t>Medium</a:t>
                      </a:r>
                      <a:endParaRPr kumimoji="1" lang="en-US" altLang="ko-KR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ja-JP" sz="1200" b="0" kern="1200" dirty="0">
                          <a:solidFill>
                            <a:schemeClr val="dk1"/>
                          </a:solidFill>
                        </a:rPr>
                        <a:t>[Customer] </a:t>
                      </a: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team should provide KT session for AGS/FPT team.</a:t>
                      </a:r>
                      <a:endParaRPr kumimoji="1" lang="en-US" sz="1200"/>
                    </a:p>
                  </a:txBody>
                  <a:tcPr marL="108000" marR="108000" anchor="ctr"/>
                </a:tc>
                <a:extLst>
                  <a:ext uri="{0D108BD9-81ED-4DB2-BD59-A6C34878D82A}">
                    <a16:rowId xmlns:a16="http://schemas.microsoft.com/office/drawing/2014/main" val="4006708003"/>
                  </a:ext>
                </a:extLst>
              </a:tr>
              <a:tr h="480785"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kern="1200">
                          <a:solidFill>
                            <a:schemeClr val="dk1"/>
                          </a:solidFill>
                        </a:rPr>
                        <a:t>2</a:t>
                      </a:r>
                      <a:endParaRPr kumimoji="1" lang="en-US" altLang="ja-JP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Scope could be updated (extend or reduce)</a:t>
                      </a:r>
                      <a:endParaRPr kumimoji="1" lang="en-US" altLang="ja-JP" sz="1200"/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Medium</a:t>
                      </a:r>
                      <a:endParaRPr kumimoji="1" lang="en-US" sz="1200"/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Due to the scope could be updated, AGS/FPT will discuss with </a:t>
                      </a:r>
                      <a:r>
                        <a:rPr lang="en-US" altLang="ja-JP" sz="1200" b="0" kern="1200" dirty="0">
                          <a:solidFill>
                            <a:schemeClr val="dk1"/>
                          </a:solidFill>
                        </a:rPr>
                        <a:t>[Customer]</a:t>
                      </a:r>
                      <a:r>
                        <a:rPr lang="en-US" sz="1200" b="0" u="none" strike="noStrike" kern="1200" baseline="0" noProof="0" dirty="0">
                          <a:solidFill>
                            <a:srgbClr val="000000"/>
                          </a:solidFill>
                        </a:rPr>
                        <a:t> to change the project plan accordingly.</a:t>
                      </a:r>
                      <a:endParaRPr kumimoji="1" lang="en-US" sz="1200" dirty="0"/>
                    </a:p>
                  </a:txBody>
                  <a:tcPr marL="108000" marR="108000" anchor="ctr"/>
                </a:tc>
                <a:extLst>
                  <a:ext uri="{0D108BD9-81ED-4DB2-BD59-A6C34878D82A}">
                    <a16:rowId xmlns:a16="http://schemas.microsoft.com/office/drawing/2014/main" val="4135597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735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08253" y="0"/>
            <a:ext cx="8085138" cy="800100"/>
          </a:xfrm>
        </p:spPr>
        <p:txBody>
          <a:bodyPr>
            <a:normAutofit/>
          </a:bodyPr>
          <a:lstStyle/>
          <a:p>
            <a:r>
              <a:rPr lang="en-US" sz="2800" b="1"/>
              <a:t>7-2. Assumptions</a:t>
            </a:r>
            <a:endParaRPr lang="en-US" sz="2800" b="1">
              <a:ea typeface="맑은 고딕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85ACB6-C1B5-D2B7-36E9-A3BD0955E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012299"/>
              </p:ext>
            </p:extLst>
          </p:nvPr>
        </p:nvGraphicFramePr>
        <p:xfrm>
          <a:off x="679639" y="1472459"/>
          <a:ext cx="10693210" cy="255253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16693">
                  <a:extLst>
                    <a:ext uri="{9D8B030D-6E8A-4147-A177-3AD203B41FA5}">
                      <a16:colId xmlns:a16="http://schemas.microsoft.com/office/drawing/2014/main" val="3994951014"/>
                    </a:ext>
                  </a:extLst>
                </a:gridCol>
                <a:gridCol w="1476739">
                  <a:extLst>
                    <a:ext uri="{9D8B030D-6E8A-4147-A177-3AD203B41FA5}">
                      <a16:colId xmlns:a16="http://schemas.microsoft.com/office/drawing/2014/main" val="4122448706"/>
                    </a:ext>
                  </a:extLst>
                </a:gridCol>
                <a:gridCol w="8499778">
                  <a:extLst>
                    <a:ext uri="{9D8B030D-6E8A-4147-A177-3AD203B41FA5}">
                      <a16:colId xmlns:a16="http://schemas.microsoft.com/office/drawing/2014/main" val="1890842418"/>
                    </a:ext>
                  </a:extLst>
                </a:gridCol>
              </a:tblGrid>
              <a:tr h="39007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solidFill>
                            <a:schemeClr val="bg1"/>
                          </a:solidFill>
                        </a:rPr>
                        <a:t>＃</a:t>
                      </a:r>
                      <a:endParaRPr kumimoji="1" lang="ja-JP" altLang="en-US" sz="1400">
                        <a:solidFill>
                          <a:schemeClr val="bg1"/>
                        </a:solidFill>
                        <a:latin typeface="+mn-ea"/>
                        <a:ea typeface="Meiryo UI" panose="020B0604030504040204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1400">
                          <a:solidFill>
                            <a:schemeClr val="bg1"/>
                          </a:solidFill>
                        </a:rPr>
                        <a:t>Scope</a:t>
                      </a:r>
                      <a:endParaRPr kumimoji="1" lang="en-US" altLang="ja-JP">
                        <a:solidFill>
                          <a:schemeClr val="bg1"/>
                        </a:solidFill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1400">
                          <a:solidFill>
                            <a:schemeClr val="bg1"/>
                          </a:solidFill>
                        </a:rPr>
                        <a:t>Assumptions</a:t>
                      </a:r>
                      <a:endParaRPr kumimoji="1" lang="en-US" altLang="ja-JP" sz="1400">
                        <a:solidFill>
                          <a:schemeClr val="bg1"/>
                        </a:solidFill>
                      </a:endParaRPr>
                    </a:p>
                  </a:txBody>
                  <a:tcPr marL="108000" marR="108000" anchor="ctr"/>
                </a:tc>
                <a:extLst>
                  <a:ext uri="{0D108BD9-81ED-4DB2-BD59-A6C34878D82A}">
                    <a16:rowId xmlns:a16="http://schemas.microsoft.com/office/drawing/2014/main" val="1723345337"/>
                  </a:ext>
                </a:extLst>
              </a:tr>
              <a:tr h="462758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1" lang="en-US" altLang="ja-JP" sz="1200" kern="1200">
                          <a:solidFill>
                            <a:schemeClr val="dk1"/>
                          </a:solidFill>
                        </a:rPr>
                        <a:t>1</a:t>
                      </a:r>
                      <a:endParaRPr kumimoji="1" lang="en-US" altLang="ja-JP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General</a:t>
                      </a:r>
                      <a:endParaRPr kumimoji="1" lang="en-US"/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Hardware, license, connection does not belong to this scope. </a:t>
                      </a:r>
                      <a:endParaRPr kumimoji="1" lang="en-US"/>
                    </a:p>
                  </a:txBody>
                  <a:tcPr marL="108000" marR="108000" anchor="ctr"/>
                </a:tc>
                <a:extLst>
                  <a:ext uri="{0D108BD9-81ED-4DB2-BD59-A6C34878D82A}">
                    <a16:rowId xmlns:a16="http://schemas.microsoft.com/office/drawing/2014/main" val="4006708003"/>
                  </a:ext>
                </a:extLst>
              </a:tr>
              <a:tr h="499779"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kern="1200">
                          <a:solidFill>
                            <a:schemeClr val="dk1"/>
                          </a:solidFill>
                        </a:rPr>
                        <a:t>2</a:t>
                      </a:r>
                      <a:endParaRPr kumimoji="1" lang="en-US" altLang="ja-JP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ja-JP" sz="1200" kern="1200">
                          <a:solidFill>
                            <a:schemeClr val="dk1"/>
                          </a:solidFill>
                        </a:rPr>
                        <a:t>Communication</a:t>
                      </a:r>
                      <a:endParaRPr kumimoji="1" lang="en-US" altLang="ja-JP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Korean will be the primary language in most communication channels.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English will be used for chat or urgent cases when PMA is not available.</a:t>
                      </a:r>
                      <a:endParaRPr kumimoji="1" lang="en-US"/>
                    </a:p>
                  </a:txBody>
                  <a:tcPr marL="108000" marR="108000" anchor="ctr"/>
                </a:tc>
                <a:extLst>
                  <a:ext uri="{0D108BD9-81ED-4DB2-BD59-A6C34878D82A}">
                    <a16:rowId xmlns:a16="http://schemas.microsoft.com/office/drawing/2014/main" val="413559748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kern="1200">
                          <a:solidFill>
                            <a:schemeClr val="dk1"/>
                          </a:solidFill>
                        </a:rPr>
                        <a:t>3</a:t>
                      </a:r>
                      <a:endParaRPr kumimoji="1" lang="en-US" altLang="ja-JP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Infrastructure</a:t>
                      </a:r>
                      <a:endParaRPr kumimoji="1" lang="en-US"/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u="none" strike="noStrike" noProof="0"/>
                        <a:t>[Customer] provides enough VDI for doing the project if using VDI.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kumimoji="1" lang="en-US" sz="1200" b="0" u="none" strike="noStrike" noProof="0"/>
                        <a:t>[Customer] provides all necessary data, environment and access for team to be able to carry out its job properly.</a:t>
                      </a:r>
                      <a:endParaRPr kumimoji="1" lang="vi-VN"/>
                    </a:p>
                  </a:txBody>
                  <a:tcPr marL="108000" marR="108000" anchor="ctr"/>
                </a:tc>
                <a:extLst>
                  <a:ext uri="{0D108BD9-81ED-4DB2-BD59-A6C34878D82A}">
                    <a16:rowId xmlns:a16="http://schemas.microsoft.com/office/drawing/2014/main" val="4166058312"/>
                  </a:ext>
                </a:extLst>
              </a:tr>
              <a:tr h="628426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ja-JP" sz="1200" kern="1200">
                          <a:solidFill>
                            <a:schemeClr val="dk1"/>
                          </a:solidFill>
                        </a:rPr>
                        <a:t>4</a:t>
                      </a:r>
                      <a:endParaRPr kumimoji="1" lang="en-US" altLang="ja-JP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u="none" strike="noStrike" kern="1200" baseline="0" noProof="0">
                          <a:solidFill>
                            <a:srgbClr val="000000"/>
                          </a:solidFill>
                        </a:rPr>
                        <a:t>Documents</a:t>
                      </a:r>
                      <a:endParaRPr kumimoji="1" lang="en-US"/>
                    </a:p>
                  </a:txBody>
                  <a:tcPr marL="108000" marR="10800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All related documents (</a:t>
                      </a:r>
                      <a:r>
                        <a:rPr lang="en-US" altLang="ko-KR" sz="1200">
                          <a:solidFill>
                            <a:srgbClr val="000000"/>
                          </a:solidFill>
                        </a:rPr>
                        <a:t>requirements, technical documents etc.,) </a:t>
                      </a:r>
                      <a:r>
                        <a:rPr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will be provided by </a:t>
                      </a:r>
                      <a:r>
                        <a:rPr lang="en-US" altLang="ja-JP" sz="12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r>
                        <a:rPr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.</a:t>
                      </a:r>
                      <a:endParaRPr lang="en-US"/>
                    </a:p>
                  </a:txBody>
                  <a:tcPr marL="108000" marR="108000" anchor="ctr"/>
                </a:tc>
                <a:extLst>
                  <a:ext uri="{0D108BD9-81ED-4DB2-BD59-A6C34878D82A}">
                    <a16:rowId xmlns:a16="http://schemas.microsoft.com/office/drawing/2014/main" val="4089220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723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CFC13-F287-22CE-7A16-53431244D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BB6C10-EA61-704D-1CDD-CA7491797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59A7F2-685D-1942-821F-D759A34464DF}" type="slidenum">
              <a:rPr lang="en-VN" smtClean="0"/>
              <a:pPr/>
              <a:t>24</a:t>
            </a:fld>
            <a:endParaRPr lang="en-V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163A11D-220A-F79D-6B4C-2C9F605EEBC8}"/>
              </a:ext>
            </a:extLst>
          </p:cNvPr>
          <p:cNvSpPr/>
          <p:nvPr/>
        </p:nvSpPr>
        <p:spPr>
          <a:xfrm>
            <a:off x="529390" y="4983307"/>
            <a:ext cx="4633000" cy="254596"/>
          </a:xfrm>
          <a:prstGeom prst="roundRect">
            <a:avLst/>
          </a:prstGeom>
          <a:solidFill>
            <a:srgbClr val="F16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1A376-08BA-9985-221D-1F864127DAAC}"/>
              </a:ext>
            </a:extLst>
          </p:cNvPr>
          <p:cNvSpPr txBox="1"/>
          <p:nvPr/>
        </p:nvSpPr>
        <p:spPr>
          <a:xfrm>
            <a:off x="529390" y="3441031"/>
            <a:ext cx="1168910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bg1"/>
                </a:solidFill>
                <a:latin typeface="BR Omega"/>
              </a:rPr>
              <a:t>08.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DA618-C0EE-33B0-28D6-00261785E4C2}"/>
              </a:ext>
            </a:extLst>
          </p:cNvPr>
          <p:cNvSpPr txBox="1"/>
          <p:nvPr/>
        </p:nvSpPr>
        <p:spPr>
          <a:xfrm>
            <a:off x="529390" y="4297229"/>
            <a:ext cx="7337937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tx1">
                    <a:lumMod val="85000"/>
                    <a:lumOff val="15000"/>
                  </a:schemeClr>
                </a:solidFill>
                <a:latin typeface="BR Omega"/>
              </a:rPr>
              <a:t>Next Actions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60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49060F-A742-87F9-DFD5-17F080DCCF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3412" y="-2801"/>
            <a:ext cx="8085138" cy="800100"/>
          </a:xfrm>
        </p:spPr>
        <p:txBody>
          <a:bodyPr>
            <a:normAutofit/>
          </a:bodyPr>
          <a:lstStyle/>
          <a:p>
            <a:r>
              <a:rPr lang="en-US" altLang="ko-KR" sz="2800" b="1">
                <a:ea typeface="맑은 고딕"/>
              </a:rPr>
              <a:t>8-1. Next Actions</a:t>
            </a:r>
            <a:endParaRPr lang="ko-KR" altLang="en-US" sz="2800" b="1">
              <a:ea typeface="맑은 고딕"/>
            </a:endParaRP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489DB57A-66FD-BF2A-7336-AAC71CC14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060408"/>
              </p:ext>
            </p:extLst>
          </p:nvPr>
        </p:nvGraphicFramePr>
        <p:xfrm>
          <a:off x="886148" y="1309878"/>
          <a:ext cx="10429233" cy="2469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4509">
                  <a:extLst>
                    <a:ext uri="{9D8B030D-6E8A-4147-A177-3AD203B41FA5}">
                      <a16:colId xmlns:a16="http://schemas.microsoft.com/office/drawing/2014/main" val="3351886288"/>
                    </a:ext>
                  </a:extLst>
                </a:gridCol>
                <a:gridCol w="5844298">
                  <a:extLst>
                    <a:ext uri="{9D8B030D-6E8A-4147-A177-3AD203B41FA5}">
                      <a16:colId xmlns:a16="http://schemas.microsoft.com/office/drawing/2014/main" val="2313668924"/>
                    </a:ext>
                  </a:extLst>
                </a:gridCol>
                <a:gridCol w="1891668">
                  <a:extLst>
                    <a:ext uri="{9D8B030D-6E8A-4147-A177-3AD203B41FA5}">
                      <a16:colId xmlns:a16="http://schemas.microsoft.com/office/drawing/2014/main" val="2310705914"/>
                    </a:ext>
                  </a:extLst>
                </a:gridCol>
                <a:gridCol w="2178758">
                  <a:extLst>
                    <a:ext uri="{9D8B030D-6E8A-4147-A177-3AD203B41FA5}">
                      <a16:colId xmlns:a16="http://schemas.microsoft.com/office/drawing/2014/main" val="3936391481"/>
                    </a:ext>
                  </a:extLst>
                </a:gridCol>
              </a:tblGrid>
              <a:tr h="61745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Due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971340"/>
                  </a:ext>
                </a:extLst>
              </a:tr>
              <a:tr h="6174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kern="1200">
                          <a:solidFill>
                            <a:schemeClr val="dk1"/>
                          </a:solidFill>
                        </a:rPr>
                        <a:t>[Customer] </a:t>
                      </a:r>
                      <a:r>
                        <a:rPr kumimoji="1" lang="en-US" sz="1400" kern="1200" baseline="0">
                          <a:solidFill>
                            <a:schemeClr val="dk1"/>
                          </a:solidFill>
                        </a:rPr>
                        <a:t>provides working environment for new members</a:t>
                      </a:r>
                      <a:endParaRPr kumimoji="1" lang="en-US" sz="1400" kern="1200" baseline="0">
                        <a:solidFill>
                          <a:schemeClr val="dk1"/>
                        </a:solidFill>
                        <a:latin typeface="Malgun Gothic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-JP" sz="14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endParaRPr lang="en-US" sz="1400" u="none" strike="noStrike" noProof="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YYYY-MM-DD</a:t>
                      </a:r>
                      <a:endParaRPr lang="en-US" sz="1400" u="none" strike="noStrike" noProof="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3727224"/>
                  </a:ext>
                </a:extLst>
              </a:tr>
              <a:tr h="6174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aseline="0">
                          <a:solidFill>
                            <a:srgbClr val="000000"/>
                          </a:solidFill>
                        </a:rPr>
                        <a:t>New members set up environment</a:t>
                      </a:r>
                      <a:endParaRPr lang="en-US" sz="1400" baseline="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AGS/FPT</a:t>
                      </a:r>
                      <a:endParaRPr lang="en-US" sz="1400" u="none" strike="noStrike" noProof="0">
                        <a:solidFill>
                          <a:srgbClr val="0B0A0C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400" u="none" strike="noStrike" noProof="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119348"/>
                  </a:ext>
                </a:extLst>
              </a:tr>
              <a:tr h="61745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400" b="0" kern="1200">
                          <a:solidFill>
                            <a:schemeClr val="dk1"/>
                          </a:solidFill>
                        </a:rPr>
                        <a:t>[Customer] </a:t>
                      </a: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provides KT session</a:t>
                      </a:r>
                      <a:endParaRPr lang="en-US" sz="1400" baseline="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b="0" kern="1200">
                          <a:solidFill>
                            <a:schemeClr val="dk1"/>
                          </a:solidFill>
                        </a:rPr>
                        <a:t>[Customer]</a:t>
                      </a:r>
                      <a:endParaRPr lang="en-US" sz="140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400" u="none" strike="noStrike" noProof="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479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866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846CE-583D-F18C-DAC2-471DE95E8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93A6FA-E9EF-DAAE-6973-C44A9895D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59A7F2-685D-1942-821F-D759A34464DF}" type="slidenum">
              <a:rPr lang="en-VN" smtClean="0"/>
              <a:pPr/>
              <a:t>26</a:t>
            </a:fld>
            <a:endParaRPr lang="en-V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141FD6D-0C44-4E4D-EE7A-A2952DDCE7FF}"/>
              </a:ext>
            </a:extLst>
          </p:cNvPr>
          <p:cNvSpPr/>
          <p:nvPr/>
        </p:nvSpPr>
        <p:spPr>
          <a:xfrm>
            <a:off x="529390" y="4983307"/>
            <a:ext cx="4633000" cy="254596"/>
          </a:xfrm>
          <a:prstGeom prst="roundRect">
            <a:avLst/>
          </a:prstGeom>
          <a:solidFill>
            <a:srgbClr val="F16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22B8A-B385-4070-9E59-0440909F382C}"/>
              </a:ext>
            </a:extLst>
          </p:cNvPr>
          <p:cNvSpPr txBox="1"/>
          <p:nvPr/>
        </p:nvSpPr>
        <p:spPr>
          <a:xfrm>
            <a:off x="529390" y="4297229"/>
            <a:ext cx="7337937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6000" b="1">
                <a:solidFill>
                  <a:schemeClr val="tx1">
                    <a:lumMod val="85000"/>
                    <a:lumOff val="15000"/>
                  </a:schemeClr>
                </a:solidFill>
                <a:latin typeface="BR Omega"/>
              </a:rPr>
              <a:t>Appendix</a:t>
            </a:r>
            <a:endParaRPr lang="en-US" sz="6000" b="1">
              <a:solidFill>
                <a:schemeClr val="tx1">
                  <a:lumMod val="85000"/>
                  <a:lumOff val="15000"/>
                </a:schemeClr>
              </a:solidFill>
              <a:latin typeface="BR Omega"/>
            </a:endParaRPr>
          </a:p>
        </p:txBody>
      </p:sp>
    </p:spTree>
    <p:extLst>
      <p:ext uri="{BB962C8B-B14F-4D97-AF65-F5344CB8AC3E}">
        <p14:creationId xmlns:p14="http://schemas.microsoft.com/office/powerpoint/2010/main" val="2354569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3BAE9-C056-7844-4041-772D14855A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3470" y="-2535"/>
            <a:ext cx="8085138" cy="800100"/>
          </a:xfrm>
        </p:spPr>
        <p:txBody>
          <a:bodyPr>
            <a:normAutofit/>
          </a:bodyPr>
          <a:lstStyle/>
          <a:p>
            <a:r>
              <a:rPr lang="en-US" sz="2800" b="1">
                <a:latin typeface="Malgun Gothic"/>
                <a:ea typeface="Malgun Gothic"/>
              </a:rPr>
              <a:t>Appendix – </a:t>
            </a:r>
            <a:r>
              <a:rPr lang="en-US" altLang="ko-KR" sz="2800" b="1">
                <a:ea typeface="맑은 고딕"/>
              </a:rPr>
              <a:t>Working Time</a:t>
            </a:r>
            <a:endParaRPr lang="ko-KR" altLang="en-US" sz="2800" b="1">
              <a:ea typeface="맑은 고딕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7E375E-74B9-F545-2C63-A235D34DC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04" y="175684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918C72-0D72-3114-616F-CD76F9505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646413"/>
              </p:ext>
            </p:extLst>
          </p:nvPr>
        </p:nvGraphicFramePr>
        <p:xfrm>
          <a:off x="242753" y="3741206"/>
          <a:ext cx="11600964" cy="223875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10756">
                  <a:extLst>
                    <a:ext uri="{9D8B030D-6E8A-4147-A177-3AD203B41FA5}">
                      <a16:colId xmlns:a16="http://schemas.microsoft.com/office/drawing/2014/main" val="907790129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1924485192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1050737841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2335870212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2075263005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1994271638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2368281355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993676271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353424330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2402006235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2414332219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3404811402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2044856954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2479563516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3211038249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2441424216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1324768235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3419236668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1052977826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1504831949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3445754437"/>
                    </a:ext>
                  </a:extLst>
                </a:gridCol>
                <a:gridCol w="485248">
                  <a:extLst>
                    <a:ext uri="{9D8B030D-6E8A-4147-A177-3AD203B41FA5}">
                      <a16:colId xmlns:a16="http://schemas.microsoft.com/office/drawing/2014/main" val="690978352"/>
                    </a:ext>
                  </a:extLst>
                </a:gridCol>
              </a:tblGrid>
              <a:tr h="67241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Malgun Gothic"/>
                        </a:rPr>
                        <a:t>MONTH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Malgun Gothic"/>
                        </a:rPr>
                        <a:t>Jan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Malgun Gothic"/>
                        </a:rPr>
                        <a:t>Feb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6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Malgun Gothic"/>
                        </a:rPr>
                        <a:t>Mar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46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Malgun Gothic"/>
                        </a:rPr>
                        <a:t>Apr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Malgun Gothic"/>
                        </a:rPr>
                        <a:t>May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Malgun Gothic"/>
                        </a:rPr>
                        <a:t>Jun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Malgun Gothic"/>
                        </a:rPr>
                        <a:t>Aug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Malgun Gothic"/>
                        </a:rPr>
                        <a:t>Sep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Malgun Gothic"/>
                        </a:rPr>
                        <a:t>Oct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Malgun Gothic"/>
                        </a:rPr>
                        <a:t>Dec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75894"/>
                  </a:ext>
                </a:extLst>
              </a:tr>
              <a:tr h="55375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Malgun Gothic"/>
                        </a:rPr>
                        <a:t>DAY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1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16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17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18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19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6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20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6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2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27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30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1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5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25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3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17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2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3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24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25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5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9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Malgun Gothic"/>
                        </a:rPr>
                        <a:t>25</a:t>
                      </a:r>
                      <a:endParaRPr lang="en-US" dirty="0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729892"/>
                  </a:ext>
                </a:extLst>
              </a:tr>
              <a:tr h="50629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Malgun Gothic"/>
                        </a:rPr>
                        <a:t>KOREA (14)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>
                          <a:effectLst/>
                          <a:latin typeface="Malgun Gothic"/>
                        </a:rPr>
                        <a:t>Y</a:t>
                      </a:r>
                      <a:endParaRPr lang="en-US">
                        <a:effectLst/>
                        <a:latin typeface="Malgun Gothic"/>
                      </a:endParaRPr>
                    </a:p>
                  </a:txBody>
                  <a:tcPr anchor="ctr">
                    <a:lnL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706082"/>
                  </a:ext>
                </a:extLst>
              </a:tr>
              <a:tr h="50629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VIETNAM (11)</a:t>
                      </a:r>
                      <a:endParaRPr lang="en-US"/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Y</a:t>
                      </a: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Y</a:t>
                      </a: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Y</a:t>
                      </a: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Y</a:t>
                      </a: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Y</a:t>
                      </a: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Y</a:t>
                      </a: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 sz="1200">
                        <a:effectLst/>
                        <a:latin typeface="Malgun Gothic"/>
                      </a:endParaRP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Y</a:t>
                      </a:r>
                      <a:endParaRPr lang="en-US"/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Y</a:t>
                      </a:r>
                      <a:endParaRPr lang="en-US"/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Y</a:t>
                      </a:r>
                      <a:endParaRPr lang="en-US"/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 sz="1200">
                        <a:effectLst/>
                        <a:latin typeface="Malgun Gothic"/>
                      </a:endParaRP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 sz="1200">
                        <a:effectLst/>
                        <a:latin typeface="Malgun Gothic"/>
                      </a:endParaRP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 sz="1200">
                        <a:effectLst/>
                        <a:latin typeface="Malgun Gothic"/>
                      </a:endParaRP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 sz="1200" dirty="0">
                        <a:effectLst/>
                        <a:latin typeface="Malgun Gothic"/>
                      </a:endParaRP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Y</a:t>
                      </a:r>
                      <a:endParaRPr lang="en-US"/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Y</a:t>
                      </a:r>
                      <a:endParaRPr lang="en-US"/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 sz="1200">
                        <a:effectLst/>
                        <a:latin typeface="Malgun Gothic"/>
                      </a:endParaRP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 sz="1200">
                        <a:effectLst/>
                        <a:latin typeface="Malgun Gothic"/>
                      </a:endParaRP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 sz="1200">
                        <a:effectLst/>
                        <a:latin typeface="Malgun Gothic"/>
                      </a:endParaRP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 sz="1200">
                        <a:effectLst/>
                        <a:latin typeface="Malgun Gothic"/>
                      </a:endParaRP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 sz="1200" dirty="0">
                        <a:effectLst/>
                        <a:latin typeface="Malgun Gothic"/>
                      </a:endParaRPr>
                    </a:p>
                  </a:txBody>
                  <a:tcPr anchor="ctr">
                    <a:lnL w="15278">
                      <a:solidFill>
                        <a:srgbClr val="000000"/>
                      </a:solidFill>
                    </a:lnL>
                    <a:lnR w="15278">
                      <a:solidFill>
                        <a:srgbClr val="000000"/>
                      </a:solidFill>
                    </a:lnR>
                    <a:lnT w="15278">
                      <a:solidFill>
                        <a:srgbClr val="000000"/>
                      </a:solidFill>
                    </a:lnT>
                    <a:lnB w="15278">
                      <a:solidFill>
                        <a:srgbClr val="000000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881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1162D6C-3BE1-30FC-39D4-9D8EA99FF6B6}"/>
              </a:ext>
            </a:extLst>
          </p:cNvPr>
          <p:cNvSpPr txBox="1"/>
          <p:nvPr/>
        </p:nvSpPr>
        <p:spPr>
          <a:xfrm>
            <a:off x="407974" y="729372"/>
            <a:ext cx="111053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VN" sz="1200" b="1" dirty="0">
                <a:solidFill>
                  <a:prstClr val="black"/>
                </a:solidFill>
              </a:rPr>
              <a:t>Working Hours</a:t>
            </a:r>
            <a:r>
              <a:rPr lang="en-VN" sz="1200" dirty="0">
                <a:solidFill>
                  <a:prstClr val="black"/>
                </a:solidFill>
              </a:rPr>
              <a:t>: </a:t>
            </a:r>
            <a:r>
              <a:rPr lang="en-US" sz="1200" dirty="0">
                <a:solidFill>
                  <a:prstClr val="black"/>
                </a:solidFill>
              </a:rPr>
              <a:t>09:00 </a:t>
            </a:r>
            <a:r>
              <a:rPr lang="en-VN" sz="1200" dirty="0">
                <a:solidFill>
                  <a:prstClr val="black"/>
                </a:solidFill>
              </a:rPr>
              <a:t>AM – </a:t>
            </a:r>
            <a:r>
              <a:rPr lang="en-US" sz="1200" dirty="0">
                <a:solidFill>
                  <a:prstClr val="black"/>
                </a:solidFill>
              </a:rPr>
              <a:t>06:00 </a:t>
            </a:r>
            <a:r>
              <a:rPr lang="en-VN" sz="1200" dirty="0">
                <a:solidFill>
                  <a:prstClr val="black"/>
                </a:solidFill>
              </a:rPr>
              <a:t>PM (</a:t>
            </a:r>
            <a:r>
              <a:rPr lang="en-US" sz="1200" dirty="0">
                <a:solidFill>
                  <a:prstClr val="black"/>
                </a:solidFill>
              </a:rPr>
              <a:t>KST</a:t>
            </a:r>
            <a:r>
              <a:rPr lang="en-VN" sz="1200" dirty="0">
                <a:solidFill>
                  <a:prstClr val="black"/>
                </a:solidFill>
              </a:rPr>
              <a:t>) of Monday to Friday</a:t>
            </a:r>
            <a:endParaRPr lang="en-US" sz="1200" dirty="0">
              <a:solidFill>
                <a:prstClr val="black"/>
              </a:solidFill>
            </a:endParaRPr>
          </a:p>
          <a:p>
            <a:pPr marL="285750" indent="-285750" defTabSz="4572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prstClr val="black"/>
                </a:solidFill>
              </a:rPr>
              <a:t>Resource </a:t>
            </a:r>
            <a:r>
              <a:rPr lang="en-US" sz="1200" b="1" dirty="0" err="1">
                <a:solidFill>
                  <a:prstClr val="black"/>
                </a:solidFill>
              </a:rPr>
              <a:t>availability:</a:t>
            </a:r>
            <a:r>
              <a:rPr lang="en-US" sz="1200" dirty="0" err="1"/>
              <a:t>The</a:t>
            </a:r>
            <a:r>
              <a:rPr lang="en-US" sz="1200" dirty="0"/>
              <a:t> time slots represent primary availability. We can also support at alternative times within working hours (09:00–18:00 KST); however, responses may be delayed compared to the primary slots.</a:t>
            </a:r>
            <a:endParaRPr lang="en-US" sz="1200" b="1" dirty="0">
              <a:solidFill>
                <a:prstClr val="black"/>
              </a:solidFill>
              <a:ea typeface="맑은 고딕"/>
            </a:endParaRPr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prstClr val="black"/>
                </a:solidFill>
              </a:rPr>
              <a:t>Engineer (1.0 MM)</a:t>
            </a:r>
            <a:r>
              <a:rPr lang="en-US" sz="1200" dirty="0">
                <a:solidFill>
                  <a:prstClr val="black"/>
                </a:solidFill>
              </a:rPr>
              <a:t>: 09:00–18:00</a:t>
            </a:r>
            <a:r>
              <a:rPr lang="en-VN" sz="1200" dirty="0">
                <a:solidFill>
                  <a:prstClr val="black"/>
                </a:solidFill>
              </a:rPr>
              <a:t> (</a:t>
            </a:r>
            <a:r>
              <a:rPr lang="en-US" sz="1200" dirty="0">
                <a:solidFill>
                  <a:prstClr val="black"/>
                </a:solidFill>
              </a:rPr>
              <a:t>KST</a:t>
            </a:r>
            <a:r>
              <a:rPr lang="en-VN" sz="1200" dirty="0">
                <a:solidFill>
                  <a:prstClr val="black"/>
                </a:solidFill>
              </a:rPr>
              <a:t>)</a:t>
            </a:r>
            <a:r>
              <a:rPr lang="en-US" sz="1200" dirty="0">
                <a:solidFill>
                  <a:prstClr val="black"/>
                </a:solidFill>
              </a:rPr>
              <a:t> within </a:t>
            </a:r>
            <a:r>
              <a:rPr lang="en-VN" sz="1200" b="1" dirty="0">
                <a:solidFill>
                  <a:prstClr val="black"/>
                </a:solidFill>
              </a:rPr>
              <a:t>Working Hours</a:t>
            </a:r>
            <a:endParaRPr lang="en-US" sz="1200" b="1" dirty="0">
              <a:solidFill>
                <a:prstClr val="black"/>
              </a:solidFill>
            </a:endParaRPr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prstClr val="black"/>
                </a:solidFill>
              </a:rPr>
              <a:t>Engineer (0.5 MM) </a:t>
            </a:r>
            <a:r>
              <a:rPr lang="en-US" sz="1200" dirty="0">
                <a:solidFill>
                  <a:prstClr val="black"/>
                </a:solidFill>
              </a:rPr>
              <a:t>: 09:00–13:00</a:t>
            </a:r>
            <a:r>
              <a:rPr lang="en-VN" sz="1200" dirty="0">
                <a:solidFill>
                  <a:prstClr val="black"/>
                </a:solidFill>
              </a:rPr>
              <a:t> (</a:t>
            </a:r>
            <a:r>
              <a:rPr lang="en-US" sz="1200" dirty="0">
                <a:solidFill>
                  <a:prstClr val="black"/>
                </a:solidFill>
              </a:rPr>
              <a:t>KST</a:t>
            </a:r>
            <a:r>
              <a:rPr lang="en-VN" sz="1200" dirty="0">
                <a:solidFill>
                  <a:prstClr val="black"/>
                </a:solidFill>
              </a:rPr>
              <a:t>)</a:t>
            </a:r>
            <a:r>
              <a:rPr lang="en-US" sz="1200" dirty="0">
                <a:solidFill>
                  <a:prstClr val="black"/>
                </a:solidFill>
              </a:rPr>
              <a:t> or 14:00–18:00</a:t>
            </a:r>
            <a:r>
              <a:rPr lang="en-VN" sz="1200" dirty="0">
                <a:solidFill>
                  <a:prstClr val="black"/>
                </a:solidFill>
              </a:rPr>
              <a:t> (</a:t>
            </a:r>
            <a:r>
              <a:rPr lang="en-US" sz="1200" dirty="0">
                <a:solidFill>
                  <a:prstClr val="black"/>
                </a:solidFill>
              </a:rPr>
              <a:t>KST</a:t>
            </a:r>
            <a:r>
              <a:rPr lang="en-VN" sz="1200" dirty="0">
                <a:solidFill>
                  <a:prstClr val="black"/>
                </a:solidFill>
              </a:rPr>
              <a:t>)</a:t>
            </a:r>
            <a:r>
              <a:rPr lang="en-US" sz="1200" dirty="0">
                <a:solidFill>
                  <a:prstClr val="black"/>
                </a:solidFill>
              </a:rPr>
              <a:t> (fixed)</a:t>
            </a:r>
            <a:endParaRPr lang="en-US" sz="1200" dirty="0">
              <a:solidFill>
                <a:prstClr val="black"/>
              </a:solidFill>
              <a:ea typeface="맑은 고딕"/>
            </a:endParaRPr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b="1" dirty="0" err="1">
                <a:solidFill>
                  <a:prstClr val="black"/>
                </a:solidFill>
              </a:rPr>
              <a:t>Comtor</a:t>
            </a:r>
            <a:r>
              <a:rPr lang="en-US" sz="1200" b="1" dirty="0">
                <a:solidFill>
                  <a:prstClr val="black"/>
                </a:solidFill>
              </a:rPr>
              <a:t> (0.2 MM / 0.15 MM) </a:t>
            </a:r>
            <a:r>
              <a:rPr lang="en-US" sz="1200" dirty="0">
                <a:solidFill>
                  <a:prstClr val="black"/>
                </a:solidFill>
              </a:rPr>
              <a:t>: 10:00–12:00</a:t>
            </a:r>
            <a:r>
              <a:rPr lang="en-VN" sz="1200" dirty="0">
                <a:solidFill>
                  <a:prstClr val="black"/>
                </a:solidFill>
              </a:rPr>
              <a:t> (</a:t>
            </a:r>
            <a:r>
              <a:rPr lang="en-US" sz="1200" dirty="0">
                <a:solidFill>
                  <a:prstClr val="black"/>
                </a:solidFill>
              </a:rPr>
              <a:t>KST</a:t>
            </a:r>
            <a:r>
              <a:rPr lang="en-VN" sz="1200" dirty="0">
                <a:solidFill>
                  <a:prstClr val="black"/>
                </a:solidFill>
              </a:rPr>
              <a:t>)</a:t>
            </a:r>
            <a:r>
              <a:rPr lang="en-US" sz="1200" dirty="0">
                <a:solidFill>
                  <a:prstClr val="black"/>
                </a:solidFill>
              </a:rPr>
              <a:t> (fixed)</a:t>
            </a:r>
            <a:endParaRPr lang="en-US" sz="1200" dirty="0">
              <a:solidFill>
                <a:prstClr val="black"/>
              </a:solidFill>
              <a:ea typeface="맑은 고딕"/>
            </a:endParaRPr>
          </a:p>
          <a:p>
            <a:pPr marL="742950" lvl="1" indent="-285750" defTabSz="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prstClr val="black"/>
                </a:solidFill>
                <a:latin typeface="Malgun Gothic"/>
                <a:ea typeface="Malgun Gothic"/>
              </a:rPr>
              <a:t>PM (0.1 MM) </a:t>
            </a:r>
            <a:r>
              <a:rPr lang="en-US" sz="1200" dirty="0">
                <a:solidFill>
                  <a:prstClr val="black"/>
                </a:solidFill>
                <a:latin typeface="Malgun Gothic"/>
                <a:ea typeface="Malgun Gothic"/>
              </a:rPr>
              <a:t>: 10:00–11:00 (KST) (fixed)</a:t>
            </a:r>
            <a:endParaRPr lang="en-US" sz="1200" dirty="0">
              <a:solidFill>
                <a:prstClr val="black"/>
              </a:solidFill>
            </a:endParaRPr>
          </a:p>
          <a:p>
            <a:pPr marL="285750" indent="-285750" defTabSz="4572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prstClr val="black"/>
                </a:solidFill>
              </a:rPr>
              <a:t>Holiday: </a:t>
            </a:r>
            <a:r>
              <a:rPr lang="en-US" sz="1200" dirty="0">
                <a:solidFill>
                  <a:prstClr val="black"/>
                </a:solidFill>
              </a:rPr>
              <a:t>Follow Korean Holiday</a:t>
            </a:r>
            <a:r>
              <a:rPr lang="en-VN" sz="1200" dirty="0">
                <a:solidFill>
                  <a:prstClr val="black"/>
                </a:solidFill>
              </a:rPr>
              <a:t> </a:t>
            </a:r>
            <a:endParaRPr lang="en-US" sz="1200" dirty="0">
              <a:solidFill>
                <a:prstClr val="black"/>
              </a:solidFill>
            </a:endParaRPr>
          </a:p>
          <a:p>
            <a:pPr marL="285750" indent="-285750" defTabSz="4572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VN" sz="1200" b="1" dirty="0">
                <a:solidFill>
                  <a:prstClr val="black"/>
                </a:solidFill>
              </a:rPr>
              <a:t>Languages</a:t>
            </a:r>
            <a:r>
              <a:rPr lang="en-VN" sz="1200" dirty="0">
                <a:solidFill>
                  <a:prstClr val="black"/>
                </a:solidFill>
              </a:rPr>
              <a:t>: Korean</a:t>
            </a:r>
            <a:r>
              <a:rPr lang="en-US" sz="1200" dirty="0">
                <a:solidFill>
                  <a:prstClr val="black"/>
                </a:solidFill>
              </a:rPr>
              <a:t>, English</a:t>
            </a:r>
          </a:p>
          <a:p>
            <a:pPr marL="285750" indent="-285750" defTabSz="4572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VN" sz="1200" b="1" dirty="0">
                <a:solidFill>
                  <a:prstClr val="black"/>
                </a:solidFill>
              </a:rPr>
              <a:t>Location</a:t>
            </a:r>
            <a:r>
              <a:rPr lang="en-VN" sz="1200" dirty="0">
                <a:solidFill>
                  <a:prstClr val="black"/>
                </a:solidFill>
              </a:rPr>
              <a:t>:</a:t>
            </a:r>
            <a:r>
              <a:rPr lang="en-US" sz="1200" dirty="0">
                <a:solidFill>
                  <a:prstClr val="black"/>
                </a:solidFill>
              </a:rPr>
              <a:t> FPT Office/ AGS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67EBF6D6-6DDF-BF52-172B-C782F0B59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5863" y="6458479"/>
            <a:ext cx="2743200" cy="365125"/>
          </a:xfrm>
        </p:spPr>
        <p:txBody>
          <a:bodyPr/>
          <a:lstStyle/>
          <a:p>
            <a:fld id="{3C59A7F2-685D-1942-821F-D759A34464DF}" type="slidenum">
              <a:rPr lang="en-VN" smtClean="0">
                <a:latin typeface="+mn-lt"/>
              </a:rPr>
              <a:pPr/>
              <a:t>27</a:t>
            </a:fld>
            <a:endParaRPr lang="en-VN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A2208-7F92-6E55-D1A9-077F7A12AC1B}"/>
              </a:ext>
            </a:extLst>
          </p:cNvPr>
          <p:cNvSpPr txBox="1"/>
          <p:nvPr/>
        </p:nvSpPr>
        <p:spPr>
          <a:xfrm>
            <a:off x="8460468" y="6056335"/>
            <a:ext cx="385230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en-VN" sz="1200" b="1" dirty="0">
                <a:solidFill>
                  <a:prstClr val="black"/>
                </a:solidFill>
              </a:rPr>
              <a:t>Not including holidays that fall on weekends</a:t>
            </a:r>
            <a:endParaRPr lang="en-US" sz="120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0177" y="5988986"/>
            <a:ext cx="112006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/>
              <a:t>Note:</a:t>
            </a:r>
            <a:r>
              <a:rPr lang="en-US" sz="1200" i="1" dirty="0"/>
              <a:t> </a:t>
            </a:r>
          </a:p>
          <a:p>
            <a:r>
              <a:rPr lang="en-US" sz="1200" i="1" dirty="0"/>
              <a:t>- The Customer and the project team will discuss and finalize the working time for each member.</a:t>
            </a:r>
            <a:br>
              <a:rPr lang="en-US" sz="1200" i="1" dirty="0"/>
            </a:br>
            <a:r>
              <a:rPr lang="en-US" sz="1200" i="1" dirty="0"/>
              <a:t>- Not including holidays that fall on weekends.</a:t>
            </a:r>
          </a:p>
        </p:txBody>
      </p:sp>
    </p:spTree>
    <p:extLst>
      <p:ext uri="{BB962C8B-B14F-4D97-AF65-F5344CB8AC3E}">
        <p14:creationId xmlns:p14="http://schemas.microsoft.com/office/powerpoint/2010/main" val="2173883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E18CA-7E6D-A9BD-B4A2-F80FCBC5D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Table 4">
            <a:extLst>
              <a:ext uri="{FF2B5EF4-FFF2-40B4-BE49-F238E27FC236}">
                <a16:creationId xmlns:a16="http://schemas.microsoft.com/office/drawing/2014/main" id="{72C31E7C-6760-A64D-3D8E-9BFD76E443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9714574"/>
              </p:ext>
            </p:extLst>
          </p:nvPr>
        </p:nvGraphicFramePr>
        <p:xfrm>
          <a:off x="402120" y="1138066"/>
          <a:ext cx="11355684" cy="327456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371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9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00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802">
                  <a:extLst>
                    <a:ext uri="{9D8B030D-6E8A-4147-A177-3AD203B41FA5}">
                      <a16:colId xmlns:a16="http://schemas.microsoft.com/office/drawing/2014/main" val="2064636516"/>
                    </a:ext>
                  </a:extLst>
                </a:gridCol>
                <a:gridCol w="1882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22878"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uFillTx/>
                        </a:rPr>
                        <a:t>#</a:t>
                      </a:r>
                      <a:endParaRPr lang="en-US" sz="1200" b="0" u="none" strike="noStrike">
                        <a:solidFill>
                          <a:schemeClr val="bg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uFillTx/>
                        </a:rPr>
                        <a:t>Name</a:t>
                      </a:r>
                      <a:endParaRPr lang="en-US" sz="1200" b="0" u="none" strike="noStrike">
                        <a:solidFill>
                          <a:schemeClr val="bg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Project duration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(</a:t>
                      </a:r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  <a:effectLst/>
                          <a:uFillTx/>
                        </a:rPr>
                        <a:t>yyyy</a:t>
                      </a: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/mm/</a:t>
                      </a:r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  <a:effectLst/>
                          <a:uFillTx/>
                        </a:rPr>
                        <a:t>dd</a:t>
                      </a: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)</a:t>
                      </a:r>
                      <a:endParaRPr lang="en-US" sz="1200" b="1" u="none" strike="noStrike" dirty="0">
                        <a:solidFill>
                          <a:schemeClr val="bg1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 noProof="0" dirty="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Remaining </a:t>
                      </a:r>
                      <a:endParaRPr lang="en-US" sz="1200" b="1" u="none" strike="noStrike" dirty="0">
                        <a:solidFill>
                          <a:schemeClr val="bg1"/>
                        </a:solidFill>
                        <a:effectLst/>
                        <a:uFillTx/>
                      </a:endParaRPr>
                    </a:p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 noProof="0" dirty="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Annual leaves from previous projects</a:t>
                      </a:r>
                      <a:endParaRPr lang="en-US" sz="1200" b="1" u="none" strike="noStrike" dirty="0">
                        <a:solidFill>
                          <a:schemeClr val="bg1"/>
                        </a:solidFill>
                        <a:effectLst/>
                        <a:uFillTx/>
                      </a:endParaRPr>
                    </a:p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 noProof="0" dirty="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(1)</a:t>
                      </a:r>
                      <a:endParaRPr lang="en-US" sz="1200" b="1" i="0" u="none" strike="noStrike" noProof="0" dirty="0">
                        <a:solidFill>
                          <a:schemeClr val="bg1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 noProof="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Upcoming accumulated</a:t>
                      </a:r>
                      <a:endParaRPr lang="en-US" sz="1200" b="0" u="none" strike="noStrike" noProof="0">
                        <a:solidFill>
                          <a:schemeClr val="bg1"/>
                        </a:solidFill>
                        <a:effectLst/>
                        <a:uFillTx/>
                      </a:endParaRPr>
                    </a:p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 noProof="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Annual leaves new project</a:t>
                      </a:r>
                      <a:endParaRPr lang="en-US" sz="1200" b="0" u="none" strike="noStrike" noProof="0">
                        <a:solidFill>
                          <a:schemeClr val="bg1"/>
                        </a:solidFill>
                        <a:effectLst/>
                        <a:uFillTx/>
                      </a:endParaRPr>
                    </a:p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 noProof="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(Working month in project)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 noProof="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(2)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 kern="120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Total usable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 kern="120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Annual leaves in project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 kern="1200" noProof="0">
                          <a:solidFill>
                            <a:schemeClr val="bg1"/>
                          </a:solidFill>
                          <a:effectLst/>
                          <a:uFillTx/>
                        </a:rPr>
                        <a:t>(1) + (2) - 1(*)</a:t>
                      </a:r>
                      <a:endParaRPr lang="en-US" i="1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uFillTx/>
                        </a:rPr>
                        <a:t>(4) Special leaves</a:t>
                      </a:r>
                      <a:endParaRPr lang="en-US" sz="1200" b="0" u="none" strike="noStrike">
                        <a:solidFill>
                          <a:schemeClr val="bg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978107"/>
                  </a:ext>
                </a:extLst>
              </a:tr>
              <a:tr h="2926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</a:rPr>
                        <a:t>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Member 1</a:t>
                      </a:r>
                      <a:endParaRPr lang="en-US">
                        <a:latin typeface="Malgun Gothic"/>
                      </a:endParaRPr>
                    </a:p>
                  </a:txBody>
                  <a:tcPr marL="85680" marR="85680" marT="42838" marB="42838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baseline="0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2026-02-01 -&gt; 2026-03-31</a:t>
                      </a:r>
                      <a:endParaRPr lang="en-US" sz="1100" b="0" i="0" u="none" strike="noStrike" baseline="0" noProof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</a:rPr>
                        <a:t>1</a:t>
                      </a:r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 kern="120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</a:t>
                      </a:r>
                      <a:endParaRPr lang="en-US" sz="1100" b="0" u="none" strike="noStrike" kern="120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</a:rPr>
                        <a:t>2</a:t>
                      </a:r>
                      <a:endParaRPr lang="en-US" sz="11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marL="170815" lvl="0" indent="-170815" algn="l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Vietnamese Public holiday</a:t>
                      </a:r>
                    </a:p>
                    <a:p>
                      <a:pPr marL="170815" lvl="0" indent="-170815" algn="l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Marriage leave</a:t>
                      </a:r>
                    </a:p>
                    <a:p>
                      <a:pPr marL="170815" lvl="0" indent="-170815" algn="l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Bereavement leave</a:t>
                      </a:r>
                    </a:p>
                    <a:p>
                      <a:pPr marL="170815" lvl="0" indent="-170815" algn="l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Summer leave</a:t>
                      </a:r>
                    </a:p>
                    <a:p>
                      <a:pPr marL="170815" lvl="0" indent="-170815" algn="l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Sick leave with medical certificate</a:t>
                      </a:r>
                    </a:p>
                    <a:p>
                      <a:pPr marL="170815" lvl="0" indent="-170815" algn="l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Maternity leave</a:t>
                      </a:r>
                    </a:p>
                    <a:p>
                      <a:pPr marL="170815" lvl="0" indent="-170815" algn="l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Miscarriage leave</a:t>
                      </a:r>
                    </a:p>
                    <a:p>
                      <a:pPr marL="170815" lvl="0" indent="-170815" algn="l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Force majeure (such as natural disaster, diseases, etc.)</a:t>
                      </a:r>
                      <a:b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</a:b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 </a:t>
                      </a:r>
                      <a:endParaRPr lang="en-US" sz="1100" dirty="0">
                        <a:latin typeface="Malgun Gothi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2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</a:rPr>
                        <a:t>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Member 2</a:t>
                      </a:r>
                      <a:endParaRPr lang="en-US" sz="1100">
                        <a:latin typeface="Malgun Gothic"/>
                      </a:endParaRPr>
                    </a:p>
                  </a:txBody>
                  <a:tcPr marL="85680" marR="85680" marT="42838" marB="42838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baseline="0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2026-02-01 -&gt; 2026-03-31</a:t>
                      </a:r>
                      <a:endParaRPr lang="en-US" sz="1100" b="0" i="0" u="none" strike="noStrike" baseline="0" noProof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u="none" strike="noStrike" noProof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0</a:t>
                      </a:r>
                      <a:endParaRPr lang="en-US" sz="11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 kern="120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</a:t>
                      </a:r>
                      <a:endParaRPr lang="en-US" sz="1100" b="0" u="none" strike="noStrike" kern="120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1</a:t>
                      </a:r>
                      <a:endParaRPr lang="en-US" sz="11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914400">
                        <a:tabLst>
                          <a:tab pos="0" algn="l"/>
                        </a:tabLst>
                      </a:pPr>
                      <a:endParaRPr lang="en-US"/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</a:rPr>
                        <a:t>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Member 3</a:t>
                      </a:r>
                      <a:endParaRPr lang="en-US" sz="1100">
                        <a:latin typeface="Malgun Gothic"/>
                      </a:endParaRPr>
                    </a:p>
                  </a:txBody>
                  <a:tcPr marL="85680" marR="85680" marT="42838" marB="42838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baseline="0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2026-02-01 -&gt; 2026-04-30</a:t>
                      </a:r>
                      <a:endParaRPr lang="en-US" sz="1100" b="0" i="0" u="none" strike="noStrike" baseline="0" noProof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u="none" strike="noStrike" noProof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1</a:t>
                      </a:r>
                      <a:endParaRPr lang="en-US" sz="11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 kern="120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3</a:t>
                      </a:r>
                      <a:endParaRPr lang="en-US" sz="1100" b="0" u="none" strike="noStrike" kern="120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3</a:t>
                      </a:r>
                      <a:endParaRPr lang="en-US" sz="11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914400">
                        <a:tabLst>
                          <a:tab pos="0" algn="l"/>
                        </a:tabLst>
                      </a:pPr>
                      <a:endParaRPr lang="en-US"/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</a:rPr>
                        <a:t>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Member 4</a:t>
                      </a:r>
                      <a:endParaRPr lang="en-US" sz="1100">
                        <a:latin typeface="Malgun Gothic"/>
                      </a:endParaRPr>
                    </a:p>
                  </a:txBody>
                  <a:tcPr marL="85680" marR="85680" marT="42838" marB="42838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baseline="0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2026-02-01 -&gt; 2026-04-30</a:t>
                      </a:r>
                      <a:endParaRPr lang="en-US" sz="1100" b="0" i="0" u="none" strike="noStrike" baseline="0" noProof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u="none" strike="noStrike" noProof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0</a:t>
                      </a:r>
                      <a:endParaRPr lang="en-US" sz="11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u="none" strike="noStrike" kern="1200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3</a:t>
                      </a:r>
                      <a:endParaRPr lang="en-US" sz="1100" b="0" u="none" strike="noStrike" kern="1200" noProof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</a:t>
                      </a:r>
                      <a:endParaRPr lang="en-US" sz="11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914400">
                        <a:tabLst>
                          <a:tab pos="0" algn="l"/>
                        </a:tabLst>
                      </a:pPr>
                      <a:endParaRPr lang="en-US"/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</a:rPr>
                        <a:t>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Member 5</a:t>
                      </a:r>
                      <a:endParaRPr lang="en-US" sz="1100">
                        <a:latin typeface="Malgun Gothic"/>
                      </a:endParaRPr>
                    </a:p>
                  </a:txBody>
                  <a:tcPr marL="85680" marR="85680" marT="42838" marB="42838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baseline="0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2026-02-01 -&gt; 2026-04-30</a:t>
                      </a:r>
                      <a:endParaRPr lang="en-US" sz="1100" b="0" i="0" u="none" strike="noStrike" baseline="0" noProof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u="none" strike="noStrike" noProof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0</a:t>
                      </a:r>
                      <a:endParaRPr lang="en-US" sz="11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u="none" strike="noStrike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3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</a:t>
                      </a:r>
                      <a:endParaRPr lang="en-US" sz="11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914400">
                        <a:tabLst>
                          <a:tab pos="0" algn="l"/>
                        </a:tabLst>
                      </a:pPr>
                      <a:endParaRPr lang="en-US"/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</a:rPr>
                        <a:t>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Member 6</a:t>
                      </a:r>
                      <a:endParaRPr lang="en-US" sz="1100">
                        <a:latin typeface="Malgun Gothic"/>
                      </a:endParaRPr>
                    </a:p>
                  </a:txBody>
                  <a:tcPr marL="85680" marR="85680" marT="42838" marB="42838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baseline="0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2026-02-01 -&gt; 2026-04-30</a:t>
                      </a:r>
                      <a:endParaRPr lang="en-US" sz="1100" b="0" i="0" u="none" strike="noStrike" baseline="0" noProof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u="none" strike="noStrike" noProof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0</a:t>
                      </a:r>
                      <a:endParaRPr lang="en-US" sz="11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</a:t>
                      </a:r>
                      <a:endParaRPr lang="en-US" sz="11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914400">
                        <a:tabLst>
                          <a:tab pos="0" algn="l"/>
                        </a:tabLst>
                      </a:pPr>
                      <a:endParaRPr lang="en-US"/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4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</a:rPr>
                        <a:t>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Member 7</a:t>
                      </a:r>
                      <a:endParaRPr lang="en-US" sz="1100">
                        <a:latin typeface="Malgun Gothic"/>
                      </a:endParaRPr>
                    </a:p>
                  </a:txBody>
                  <a:tcPr marL="85680" marR="85680" marT="42838" marB="42838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baseline="0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2026-02-01 -&gt; 2026-04-30</a:t>
                      </a:r>
                      <a:endParaRPr lang="en-US" sz="1100" b="0" i="0" u="none" strike="noStrike" baseline="0" noProof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u="none" strike="noStrike" noProof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0</a:t>
                      </a:r>
                      <a:endParaRPr lang="en-US" sz="11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</a:t>
                      </a:r>
                      <a:endParaRPr lang="en-US" sz="11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914400">
                        <a:tabLst>
                          <a:tab pos="0" algn="l"/>
                        </a:tabLst>
                      </a:pPr>
                      <a:endParaRPr lang="en-US"/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</a:rPr>
                        <a:t>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Member 8</a:t>
                      </a:r>
                      <a:endParaRPr lang="en-US" sz="1100">
                        <a:latin typeface="Malgun Gothic"/>
                      </a:endParaRPr>
                    </a:p>
                  </a:txBody>
                  <a:tcPr marL="85680" marR="85680" marT="42838" marB="42838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0" u="none" strike="noStrike" baseline="0" noProof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2026-02-01 -&gt; 2026-04-30</a:t>
                      </a:r>
                      <a:endParaRPr lang="en-US" sz="1100" b="0" i="0" u="none" strike="noStrike" baseline="0" noProof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u="none" strike="noStrike" noProof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0</a:t>
                      </a:r>
                      <a:endParaRPr lang="en-US" sz="11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2</a:t>
                      </a:r>
                      <a:endParaRPr lang="en-US" sz="11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914400">
                        <a:tabLst>
                          <a:tab pos="0" algn="l"/>
                        </a:tabLst>
                      </a:pPr>
                      <a:endParaRPr lang="en-US"/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6E4B44A-476B-66F0-02A9-5C217E5C86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9288" y="-3840"/>
            <a:ext cx="8085138" cy="800100"/>
          </a:xfrm>
        </p:spPr>
        <p:txBody>
          <a:bodyPr>
            <a:normAutofit/>
          </a:bodyPr>
          <a:lstStyle/>
          <a:p>
            <a:r>
              <a:rPr lang="en-US" sz="2800" b="1">
                <a:latin typeface="Malgun Gothic"/>
                <a:ea typeface="Malgun Gothic"/>
              </a:rPr>
              <a:t>Appendix –</a:t>
            </a:r>
            <a:r>
              <a:rPr lang="en-US" sz="2800" b="1" dirty="0">
                <a:ea typeface="맑은 고딕"/>
              </a:rPr>
              <a:t> Member Leave Quota</a:t>
            </a:r>
            <a:endParaRPr lang="en-US" dirty="0"/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B706D0C3-34A1-7F49-C54E-9370501CE17C}"/>
              </a:ext>
            </a:extLst>
          </p:cNvPr>
          <p:cNvSpPr/>
          <p:nvPr/>
        </p:nvSpPr>
        <p:spPr>
          <a:xfrm>
            <a:off x="398929" y="4718573"/>
            <a:ext cx="11168230" cy="1510106"/>
          </a:xfrm>
          <a:prstGeom prst="wav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u="sng">
                <a:solidFill>
                  <a:sysClr val="windowText" lastClr="000000"/>
                </a:solidFill>
                <a:ea typeface="맑은 고딕"/>
              </a:rPr>
              <a:t>***</a:t>
            </a:r>
            <a:r>
              <a:rPr lang="en-US" b="1" u="sng">
                <a:solidFill>
                  <a:sysClr val="windowText" lastClr="000000"/>
                </a:solidFill>
                <a:ea typeface="맑은 고딕"/>
              </a:rPr>
              <a:t>IMPORTANT NOTE***</a:t>
            </a:r>
            <a:r>
              <a:rPr lang="en-US">
                <a:solidFill>
                  <a:sysClr val="windowText" lastClr="000000"/>
                </a:solidFill>
                <a:ea typeface="맑은 고딕"/>
              </a:rPr>
              <a:t> Add member's leave plan in advance </a:t>
            </a:r>
            <a:r>
              <a:rPr lang="en-US">
                <a:solidFill>
                  <a:sysClr val="windowText" lastClr="000000"/>
                </a:solidFill>
                <a:latin typeface="Malgun Gothic"/>
                <a:ea typeface="Malgun Gothic"/>
              </a:rPr>
              <a:t>to head-up [Customer] PM</a:t>
            </a:r>
            <a:r>
              <a:rPr lang="en-US">
                <a:solidFill>
                  <a:sysClr val="windowText" lastClr="000000"/>
                </a:solidFill>
                <a:ea typeface="맑은 고딕"/>
              </a:rPr>
              <a:t>.</a:t>
            </a:r>
            <a:endParaRPr lang="en-US">
              <a:solidFill>
                <a:sysClr val="windowText" lastClr="000000"/>
              </a:solidFill>
            </a:endParaRPr>
          </a:p>
          <a:p>
            <a:pPr algn="ctr"/>
            <a:r>
              <a:rPr lang="en-US">
                <a:solidFill>
                  <a:sysClr val="windowText" lastClr="000000"/>
                </a:solidFill>
                <a:ea typeface="맑은 고딕"/>
              </a:rPr>
              <a:t>No taking Annual Leave in project's 1st full month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DCB6F-330F-E525-CA9A-75EFDFF19D39}"/>
              </a:ext>
            </a:extLst>
          </p:cNvPr>
          <p:cNvSpPr txBox="1"/>
          <p:nvPr/>
        </p:nvSpPr>
        <p:spPr>
          <a:xfrm>
            <a:off x="400323" y="6405470"/>
            <a:ext cx="7342487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VN" sz="1100" i="1">
                <a:latin typeface="BR Omega"/>
              </a:rPr>
              <a:t>(*) </a:t>
            </a:r>
            <a:r>
              <a:rPr lang="en-US" sz="1100" i="1">
                <a:latin typeface="BR Omega"/>
                <a:ea typeface="Calibri"/>
                <a:cs typeface="Calibri"/>
              </a:rPr>
              <a:t>L</a:t>
            </a:r>
            <a:r>
              <a:rPr lang="en-US" sz="1200" i="1">
                <a:latin typeface="Calibri"/>
                <a:ea typeface="Calibri"/>
                <a:cs typeface="Calibri"/>
              </a:rPr>
              <a:t>ast project's annual leave day only be counted &amp; used after current project ended &amp; can't take in advance.</a:t>
            </a:r>
            <a:endParaRPr lang="en-US" i="1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78707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595E-1635-3224-454D-73234F3465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3412" y="-2801"/>
            <a:ext cx="8085138" cy="800100"/>
          </a:xfrm>
        </p:spPr>
        <p:txBody>
          <a:bodyPr>
            <a:normAutofit/>
          </a:bodyPr>
          <a:lstStyle/>
          <a:p>
            <a:r>
              <a:rPr lang="en-US" sz="2800" b="1">
                <a:ea typeface="맑은 고딕"/>
              </a:rPr>
              <a:t>Appendix – Member list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E43FC9-10D8-320F-40CD-8DB5AFFE0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033323"/>
              </p:ext>
            </p:extLst>
          </p:nvPr>
        </p:nvGraphicFramePr>
        <p:xfrm>
          <a:off x="396815" y="1192099"/>
          <a:ext cx="11068650" cy="34884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7235">
                  <a:extLst>
                    <a:ext uri="{9D8B030D-6E8A-4147-A177-3AD203B41FA5}">
                      <a16:colId xmlns:a16="http://schemas.microsoft.com/office/drawing/2014/main" val="3589230214"/>
                    </a:ext>
                  </a:extLst>
                </a:gridCol>
                <a:gridCol w="2369929">
                  <a:extLst>
                    <a:ext uri="{9D8B030D-6E8A-4147-A177-3AD203B41FA5}">
                      <a16:colId xmlns:a16="http://schemas.microsoft.com/office/drawing/2014/main" val="534940711"/>
                    </a:ext>
                  </a:extLst>
                </a:gridCol>
                <a:gridCol w="1383581">
                  <a:extLst>
                    <a:ext uri="{9D8B030D-6E8A-4147-A177-3AD203B41FA5}">
                      <a16:colId xmlns:a16="http://schemas.microsoft.com/office/drawing/2014/main" val="3002887968"/>
                    </a:ext>
                  </a:extLst>
                </a:gridCol>
                <a:gridCol w="1283897">
                  <a:extLst>
                    <a:ext uri="{9D8B030D-6E8A-4147-A177-3AD203B41FA5}">
                      <a16:colId xmlns:a16="http://schemas.microsoft.com/office/drawing/2014/main" val="2878603073"/>
                    </a:ext>
                  </a:extLst>
                </a:gridCol>
                <a:gridCol w="1345720">
                  <a:extLst>
                    <a:ext uri="{9D8B030D-6E8A-4147-A177-3AD203B41FA5}">
                      <a16:colId xmlns:a16="http://schemas.microsoft.com/office/drawing/2014/main" val="200619099"/>
                    </a:ext>
                  </a:extLst>
                </a:gridCol>
                <a:gridCol w="1521126">
                  <a:extLst>
                    <a:ext uri="{9D8B030D-6E8A-4147-A177-3AD203B41FA5}">
                      <a16:colId xmlns:a16="http://schemas.microsoft.com/office/drawing/2014/main" val="87308586"/>
                    </a:ext>
                  </a:extLst>
                </a:gridCol>
                <a:gridCol w="1383581">
                  <a:extLst>
                    <a:ext uri="{9D8B030D-6E8A-4147-A177-3AD203B41FA5}">
                      <a16:colId xmlns:a16="http://schemas.microsoft.com/office/drawing/2014/main" val="2602246938"/>
                    </a:ext>
                  </a:extLst>
                </a:gridCol>
                <a:gridCol w="1383581">
                  <a:extLst>
                    <a:ext uri="{9D8B030D-6E8A-4147-A177-3AD203B41FA5}">
                      <a16:colId xmlns:a16="http://schemas.microsoft.com/office/drawing/2014/main" val="1613287174"/>
                    </a:ext>
                  </a:extLst>
                </a:gridCol>
              </a:tblGrid>
              <a:tr h="44053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00">
                        <a:solidFill>
                          <a:schemeClr val="bg1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en-US" sz="1400">
                        <a:solidFill>
                          <a:schemeClr val="bg1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English name</a:t>
                      </a:r>
                      <a:endParaRPr lang="en-US" sz="1400">
                        <a:solidFill>
                          <a:schemeClr val="bg1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400">
                        <a:solidFill>
                          <a:schemeClr val="bg1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Level</a:t>
                      </a:r>
                      <a:endParaRPr lang="en-US" sz="1400">
                        <a:solidFill>
                          <a:schemeClr val="bg1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uFillTx/>
                          <a:latin typeface="Malgun Gothic"/>
                        </a:rPr>
                        <a:t>Working</a:t>
                      </a:r>
                      <a:r>
                        <a:rPr lang="en-US" sz="1200" b="1" u="none" strike="noStrike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Malgun Gothic"/>
                        </a:rPr>
                        <a:t> Time</a:t>
                      </a:r>
                      <a:endParaRPr lang="en-US" sz="1200" b="1" u="none" strike="noStrike" dirty="0">
                        <a:solidFill>
                          <a:schemeClr val="bg1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Start date</a:t>
                      </a:r>
                      <a:endParaRPr lang="en-US" sz="1400" dirty="0">
                        <a:solidFill>
                          <a:schemeClr val="bg1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End date</a:t>
                      </a:r>
                      <a:endParaRPr lang="en-US" sz="1400">
                        <a:solidFill>
                          <a:schemeClr val="bg1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125143"/>
                  </a:ext>
                </a:extLst>
              </a:tr>
              <a:tr h="435415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PMA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Middle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defTabSz="457200" latinLnBrk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1100" dirty="0">
                          <a:solidFill>
                            <a:prstClr val="black"/>
                          </a:solidFill>
                        </a:rPr>
                        <a:t>09:00</a:t>
                      </a:r>
                      <a:r>
                        <a:rPr lang="en-VN" sz="1100" dirty="0">
                          <a:solidFill>
                            <a:prstClr val="black"/>
                          </a:solidFill>
                        </a:rPr>
                        <a:t> – </a:t>
                      </a:r>
                      <a:r>
                        <a:rPr lang="en-US" sz="1100" dirty="0">
                          <a:solidFill>
                            <a:prstClr val="black"/>
                          </a:solidFill>
                        </a:rPr>
                        <a:t>18:00</a:t>
                      </a:r>
                      <a:r>
                        <a:rPr lang="en-VN" sz="1100" dirty="0">
                          <a:solidFill>
                            <a:prstClr val="black"/>
                          </a:solidFill>
                        </a:rPr>
                        <a:t> (</a:t>
                      </a:r>
                      <a:r>
                        <a:rPr lang="en-US" sz="1100" dirty="0">
                          <a:solidFill>
                            <a:prstClr val="black"/>
                          </a:solidFill>
                        </a:rPr>
                        <a:t>KST</a:t>
                      </a:r>
                      <a:r>
                        <a:rPr lang="en-VN" sz="1100" dirty="0">
                          <a:solidFill>
                            <a:prstClr val="black"/>
                          </a:solidFill>
                        </a:rPr>
                        <a:t>)</a:t>
                      </a:r>
                      <a:endParaRPr lang="en-US" sz="1100" dirty="0">
                        <a:solidFill>
                          <a:prstClr val="black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YYYY-MM-DD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YYYY-MM-DD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638908"/>
                  </a:ext>
                </a:extLst>
              </a:tr>
              <a:tr h="435415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Developer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Middle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+mn-ea"/>
                          <a:cs typeface="+mn-cs"/>
                        </a:rPr>
                        <a:t>09:00</a:t>
                      </a:r>
                      <a:r>
                        <a:rPr kumimoji="0" lang="en-V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+mn-ea"/>
                          <a:cs typeface="+mn-cs"/>
                        </a:rPr>
                        <a:t> –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+mn-ea"/>
                          <a:cs typeface="+mn-cs"/>
                        </a:rPr>
                        <a:t>18:00</a:t>
                      </a:r>
                      <a:r>
                        <a:rPr kumimoji="0" lang="en-V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+mn-ea"/>
                          <a:cs typeface="+mn-cs"/>
                        </a:rPr>
                        <a:t>KST</a:t>
                      </a:r>
                      <a:r>
                        <a:rPr kumimoji="0" lang="en-V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+mn-ea"/>
                          <a:cs typeface="+mn-cs"/>
                        </a:rPr>
                        <a:t>)</a:t>
                      </a:r>
                      <a:endParaRPr lang="en-US" sz="1100" b="0" i="0" u="none" strike="noStrike" baseline="0" noProof="0" dirty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493556"/>
                  </a:ext>
                </a:extLst>
              </a:tr>
              <a:tr h="435415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PM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Senior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dirty="0">
                          <a:solidFill>
                            <a:prstClr val="black"/>
                          </a:solidFill>
                        </a:rPr>
                        <a:t>09:00–13:00</a:t>
                      </a:r>
                      <a:r>
                        <a:rPr lang="en-VN" sz="1100" dirty="0">
                          <a:solidFill>
                            <a:prstClr val="black"/>
                          </a:solidFill>
                        </a:rPr>
                        <a:t> (</a:t>
                      </a:r>
                      <a:r>
                        <a:rPr lang="en-US" sz="1100" dirty="0">
                          <a:solidFill>
                            <a:prstClr val="black"/>
                          </a:solidFill>
                        </a:rPr>
                        <a:t>KST</a:t>
                      </a:r>
                      <a:r>
                        <a:rPr lang="en-VN" sz="1100" dirty="0">
                          <a:solidFill>
                            <a:prstClr val="black"/>
                          </a:solidFill>
                        </a:rPr>
                        <a:t>)</a:t>
                      </a:r>
                      <a:r>
                        <a:rPr lang="en-US" sz="1100" dirty="0">
                          <a:solidFill>
                            <a:prstClr val="black"/>
                          </a:solidFill>
                        </a:rPr>
                        <a:t> </a:t>
                      </a:r>
                      <a:endParaRPr lang="en-US" sz="1100" b="0" i="0" u="none" strike="noStrike" baseline="0" noProof="0" dirty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55494"/>
                  </a:ext>
                </a:extLst>
              </a:tr>
              <a:tr h="435415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Developer</a:t>
                      </a:r>
                      <a:endParaRPr lang="en-US" altLang="ko-KR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u="none" strike="noStrike" noProof="0">
                          <a:solidFill>
                            <a:srgbClr val="000000"/>
                          </a:solidFill>
                        </a:rPr>
                        <a:t>Middle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dirty="0">
                          <a:solidFill>
                            <a:prstClr val="black"/>
                          </a:solidFill>
                        </a:rPr>
                        <a:t>14:00–18:00</a:t>
                      </a:r>
                      <a:r>
                        <a:rPr lang="en-VN" sz="1100" dirty="0">
                          <a:solidFill>
                            <a:prstClr val="black"/>
                          </a:solidFill>
                        </a:rPr>
                        <a:t> (</a:t>
                      </a:r>
                      <a:r>
                        <a:rPr lang="en-US" sz="1100" dirty="0">
                          <a:solidFill>
                            <a:prstClr val="black"/>
                          </a:solidFill>
                        </a:rPr>
                        <a:t>KST</a:t>
                      </a:r>
                      <a:r>
                        <a:rPr lang="en-VN" sz="1100" dirty="0">
                          <a:solidFill>
                            <a:prstClr val="black"/>
                          </a:solidFill>
                        </a:rPr>
                        <a:t>)</a:t>
                      </a:r>
                      <a:endParaRPr lang="en-US" sz="1100" b="0" i="0" u="none" strike="noStrike" baseline="0" noProof="0" dirty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925075"/>
                  </a:ext>
                </a:extLst>
              </a:tr>
              <a:tr h="435415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Developer</a:t>
                      </a:r>
                      <a:endParaRPr lang="en-US" altLang="ko-KR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u="none" strike="noStrike" noProof="0">
                          <a:solidFill>
                            <a:srgbClr val="000000"/>
                          </a:solidFill>
                        </a:rPr>
                        <a:t>Middle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dirty="0">
                          <a:solidFill>
                            <a:prstClr val="black"/>
                          </a:solidFill>
                        </a:rPr>
                        <a:t>10:00–12:00</a:t>
                      </a:r>
                      <a:r>
                        <a:rPr lang="en-VN" sz="1100" dirty="0">
                          <a:solidFill>
                            <a:prstClr val="black"/>
                          </a:solidFill>
                        </a:rPr>
                        <a:t> (</a:t>
                      </a:r>
                      <a:r>
                        <a:rPr lang="en-US" sz="1100" dirty="0">
                          <a:solidFill>
                            <a:prstClr val="black"/>
                          </a:solidFill>
                        </a:rPr>
                        <a:t>KST</a:t>
                      </a:r>
                      <a:r>
                        <a:rPr lang="en-VN" sz="1100" dirty="0">
                          <a:solidFill>
                            <a:prstClr val="black"/>
                          </a:solidFill>
                        </a:rPr>
                        <a:t>)</a:t>
                      </a:r>
                      <a:r>
                        <a:rPr lang="en-US" sz="1100" dirty="0">
                          <a:solidFill>
                            <a:prstClr val="black"/>
                          </a:solidFill>
                        </a:rPr>
                        <a:t> </a:t>
                      </a:r>
                      <a:endParaRPr lang="en-US" sz="1100" b="0" i="0" u="none" strike="noStrike" baseline="0" noProof="0" dirty="0">
                        <a:solidFill>
                          <a:srgbClr val="000000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571330"/>
                  </a:ext>
                </a:extLst>
              </a:tr>
              <a:tr h="435415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Tester</a:t>
                      </a:r>
                      <a:endParaRPr lang="en-US" altLang="ko-KR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u="none" strike="noStrike" noProof="0">
                          <a:solidFill>
                            <a:srgbClr val="000000"/>
                          </a:solidFill>
                        </a:rPr>
                        <a:t>Middle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61934"/>
                  </a:ext>
                </a:extLst>
              </a:tr>
              <a:tr h="43541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7</a:t>
                      </a: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ko-KR" sz="1400"/>
                        <a:t>QA</a:t>
                      </a:r>
                      <a:endParaRPr lang="en-US" altLang="ko-KR" sz="1400"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u="none" strike="noStrike" noProof="0">
                          <a:solidFill>
                            <a:srgbClr val="000000"/>
                          </a:solidFill>
                        </a:rPr>
                        <a:t>Middle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321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0212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D98ED-39A3-B0B1-30D7-F9BDB14CE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5534A-08AF-192D-E3B9-B653572BC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1303" y="6356350"/>
            <a:ext cx="2743200" cy="365125"/>
          </a:xfrm>
        </p:spPr>
        <p:txBody>
          <a:bodyPr/>
          <a:lstStyle/>
          <a:p>
            <a:fld id="{3C59A7F2-685D-1942-821F-D759A34464DF}" type="slidenum">
              <a:rPr lang="en-VN" smtClean="0"/>
              <a:pPr/>
              <a:t>30</a:t>
            </a:fld>
            <a:endParaRPr lang="en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9E93A-B680-4F2E-2B6B-DCB78A5B2CA9}"/>
              </a:ext>
            </a:extLst>
          </p:cNvPr>
          <p:cNvSpPr txBox="1"/>
          <p:nvPr/>
        </p:nvSpPr>
        <p:spPr>
          <a:xfrm>
            <a:off x="550905" y="2523135"/>
            <a:ext cx="3749488" cy="1334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VN" sz="6000" b="1">
                <a:solidFill>
                  <a:schemeClr val="tx1">
                    <a:lumMod val="85000"/>
                    <a:lumOff val="15000"/>
                  </a:schemeClr>
                </a:solidFill>
                <a:latin typeface="BR Omega" pitchFamily="2" charset="77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01560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31E015DC46FC4091705A813561E5C6" ma:contentTypeVersion="20" ma:contentTypeDescription="Create a new document." ma:contentTypeScope="" ma:versionID="1e14a4c1f919c945a3b0e53cbd7d6b66">
  <xsd:schema xmlns:xsd="http://www.w3.org/2001/XMLSchema" xmlns:xs="http://www.w3.org/2001/XMLSchema" xmlns:p="http://schemas.microsoft.com/office/2006/metadata/properties" xmlns:ns1="http://schemas.microsoft.com/sharepoint/v3" xmlns:ns2="d6ad6ba7-21c6-4018-9926-45e501d2a8a2" xmlns:ns3="5839a243-13b2-47be-a659-deb8634584c4" targetNamespace="http://schemas.microsoft.com/office/2006/metadata/properties" ma:root="true" ma:fieldsID="80f6449775ebb1e96e04c6b1ba45aa0c" ns1:_="" ns2:_="" ns3:_="">
    <xsd:import namespace="http://schemas.microsoft.com/sharepoint/v3"/>
    <xsd:import namespace="d6ad6ba7-21c6-4018-9926-45e501d2a8a2"/>
    <xsd:import namespace="5839a243-13b2-47be-a659-deb8634584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Note" minOccurs="0"/>
                <xsd:element ref="ns2:FSU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ad6ba7-21c6-4018-9926-45e501d2a8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7c97e1a9-fa82-4965-b735-0e061acf9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" ma:index="22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FSU" ma:index="23" nillable="true" ma:displayName="FSU" ma:format="Dropdown" ma:internalName="FSU">
      <xsd:simpleType>
        <xsd:union memberTypes="dms:Text">
          <xsd:simpleType>
            <xsd:restriction base="dms:Choice">
              <xsd:enumeration value="FHN"/>
              <xsd:enumeration value="SCM"/>
              <xsd:enumeration value="F1"/>
              <xsd:enumeration value="GPE"/>
              <xsd:enumeration value="EBS"/>
            </xsd:restriction>
          </xsd:simpleType>
        </xsd:union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39a243-13b2-47be-a659-deb8634584c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545fd10-b13d-4125-a9fe-96d4ed37a528}" ma:internalName="TaxCatchAll" ma:showField="CatchAllData" ma:web="5839a243-13b2-47be-a659-deb8634584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ad6ba7-21c6-4018-9926-45e501d2a8a2">
      <Terms xmlns="http://schemas.microsoft.com/office/infopath/2007/PartnerControls"/>
    </lcf76f155ced4ddcb4097134ff3c332f>
    <TaxCatchAll xmlns="5839a243-13b2-47be-a659-deb8634584c4" xsi:nil="true"/>
    <_ip_UnifiedCompliancePolicyUIAction xmlns="http://schemas.microsoft.com/sharepoint/v3" xsi:nil="true"/>
    <_ip_UnifiedCompliancePolicyProperties xmlns="http://schemas.microsoft.com/sharepoint/v3" xsi:nil="true"/>
    <FSU xmlns="d6ad6ba7-21c6-4018-9926-45e501d2a8a2" xsi:nil="true"/>
    <Note xmlns="d6ad6ba7-21c6-4018-9926-45e501d2a8a2" xsi:nil="true"/>
  </documentManagement>
</p:properties>
</file>

<file path=customXml/itemProps1.xml><?xml version="1.0" encoding="utf-8"?>
<ds:datastoreItem xmlns:ds="http://schemas.openxmlformats.org/officeDocument/2006/customXml" ds:itemID="{6D16DA58-2E29-48F1-AA2E-4B5E97C8ED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C49E5A-B33A-427D-9D95-5575C7BB5C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6ad6ba7-21c6-4018-9926-45e501d2a8a2"/>
    <ds:schemaRef ds:uri="5839a243-13b2-47be-a659-deb8634584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E4750E-0085-4B7A-9ACA-DD06438963B8}">
  <ds:schemaRefs>
    <ds:schemaRef ds:uri="5839a243-13b2-47be-a659-deb8634584c4"/>
    <ds:schemaRef ds:uri="d6ad6ba7-21c6-4018-9926-45e501d2a8a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  <ds:schemaRef ds:uri="f4b68c6a-4a8e-43e0-9be7-36ab51ea8e1b"/>
    <ds:schemaRef ds:uri="23545163-dc92-4254-90fa-1adcb55a2043"/>
  </ds:schemaRefs>
</ds:datastoreItem>
</file>

<file path=docMetadata/LabelInfo.xml><?xml version="1.0" encoding="utf-8"?>
<clbl:labelList xmlns:clbl="http://schemas.microsoft.com/office/2020/mipLabelMetadata">
  <clbl:label id="{4b512a4e-bb54-4328-ad34-d43205aaa1ec}" enabled="1" method="Standard" siteId="{f01e930a-b52e-42b1-b70f-a8882b5d04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2596</Words>
  <Application>Microsoft Office PowerPoint</Application>
  <PresentationFormat>Widescreen</PresentationFormat>
  <Paragraphs>708</Paragraphs>
  <Slides>30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5" baseType="lpstr">
      <vt:lpstr>Arial,Sans-Serif</vt:lpstr>
      <vt:lpstr>Bai Jamjuree</vt:lpstr>
      <vt:lpstr>맑은 고딕</vt:lpstr>
      <vt:lpstr>맑은 고딕</vt:lpstr>
      <vt:lpstr>Meiryo UI</vt:lpstr>
      <vt:lpstr>Pretendard</vt:lpstr>
      <vt:lpstr>Arial</vt:lpstr>
      <vt:lpstr>BR Omega</vt:lpstr>
      <vt:lpstr>Calibri</vt:lpstr>
      <vt:lpstr>Courier New</vt:lpstr>
      <vt:lpstr>Segoe UI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2-1. About Project &amp; Scope</vt:lpstr>
      <vt:lpstr>2-4. Master plan</vt:lpstr>
      <vt:lpstr>PowerPoint Presentation</vt:lpstr>
      <vt:lpstr>3-1. Proposed Working Process</vt:lpstr>
      <vt:lpstr>PowerPoint Presentation</vt:lpstr>
      <vt:lpstr>PowerPoint Presentation</vt:lpstr>
      <vt:lpstr>4-1. Deliverables</vt:lpstr>
      <vt:lpstr>PowerPoint Presentation</vt:lpstr>
      <vt:lpstr>PowerPoint Presentation</vt:lpstr>
      <vt:lpstr>5-1. Tools &amp; Environment</vt:lpstr>
      <vt:lpstr>PowerPoint Presentation</vt:lpstr>
      <vt:lpstr>6-1. Communication Plan</vt:lpstr>
      <vt:lpstr>6-2. Meeting Management</vt:lpstr>
      <vt:lpstr>6-3. Contact List (유선통신)</vt:lpstr>
      <vt:lpstr>PowerPoint Presentation</vt:lpstr>
      <vt:lpstr>7-1. Risks</vt:lpstr>
      <vt:lpstr>7-2. Assumptions</vt:lpstr>
      <vt:lpstr>PowerPoint Presentation</vt:lpstr>
      <vt:lpstr>8-1. Next Actions</vt:lpstr>
      <vt:lpstr>PowerPoint Presentation</vt:lpstr>
      <vt:lpstr>Appendix – Working Time</vt:lpstr>
      <vt:lpstr>Appendix – Member Leave Quota</vt:lpstr>
      <vt:lpstr>Appendix – Member list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 Thi Thach Thao/ATS</dc:creator>
  <cp:lastModifiedBy>Chien Nguyen Nhu</cp:lastModifiedBy>
  <cp:revision>48</cp:revision>
  <dcterms:created xsi:type="dcterms:W3CDTF">2024-07-03T06:13:59Z</dcterms:created>
  <dcterms:modified xsi:type="dcterms:W3CDTF">2026-09-14T15:30:24Z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0x010100C931E015DC46FC4091705A813561E5C6</vt:lpwstr>
  </property>
  <property fmtid="{D5CDD505-2E9C-101B-9397-08002B2CF9AE}" pid="3" name="MediaServiceImageTags">
    <vt:lpwstr/>
  </property>
</Properties>
</file>