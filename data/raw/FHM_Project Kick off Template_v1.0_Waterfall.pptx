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55"/>
  </p:notesMasterIdLst>
  <p:sldIdLst>
    <p:sldId id="1823" r:id="rId2"/>
    <p:sldId id="1819" r:id="rId3"/>
    <p:sldId id="1921" r:id="rId4"/>
    <p:sldId id="1822" r:id="rId5"/>
    <p:sldId id="1890" r:id="rId6"/>
    <p:sldId id="1861" r:id="rId7"/>
    <p:sldId id="1827" r:id="rId8"/>
    <p:sldId id="1831" r:id="rId9"/>
    <p:sldId id="1832" r:id="rId10"/>
    <p:sldId id="1917" r:id="rId11"/>
    <p:sldId id="1935" r:id="rId12"/>
    <p:sldId id="1922" r:id="rId13"/>
    <p:sldId id="1937" r:id="rId14"/>
    <p:sldId id="1939" r:id="rId15"/>
    <p:sldId id="1833" r:id="rId16"/>
    <p:sldId id="1836" r:id="rId17"/>
    <p:sldId id="1838" r:id="rId18"/>
    <p:sldId id="1839" r:id="rId19"/>
    <p:sldId id="1889" r:id="rId20"/>
    <p:sldId id="1840" r:id="rId21"/>
    <p:sldId id="1837" r:id="rId22"/>
    <p:sldId id="1842" r:id="rId23"/>
    <p:sldId id="1868" r:id="rId24"/>
    <p:sldId id="1866" r:id="rId25"/>
    <p:sldId id="1869" r:id="rId26"/>
    <p:sldId id="1936" r:id="rId27"/>
    <p:sldId id="1891" r:id="rId28"/>
    <p:sldId id="1923" r:id="rId29"/>
    <p:sldId id="1924" r:id="rId30"/>
    <p:sldId id="1892" r:id="rId31"/>
    <p:sldId id="1893" r:id="rId32"/>
    <p:sldId id="1844" r:id="rId33"/>
    <p:sldId id="1845" r:id="rId34"/>
    <p:sldId id="1928" r:id="rId35"/>
    <p:sldId id="1847" r:id="rId36"/>
    <p:sldId id="1870" r:id="rId37"/>
    <p:sldId id="1931" r:id="rId38"/>
    <p:sldId id="1932" r:id="rId39"/>
    <p:sldId id="1934" r:id="rId40"/>
    <p:sldId id="1914" r:id="rId41"/>
    <p:sldId id="1901" r:id="rId42"/>
    <p:sldId id="1902" r:id="rId43"/>
    <p:sldId id="1903" r:id="rId44"/>
    <p:sldId id="1906" r:id="rId45"/>
    <p:sldId id="1907" r:id="rId46"/>
    <p:sldId id="1908" r:id="rId47"/>
    <p:sldId id="1909" r:id="rId48"/>
    <p:sldId id="1910" r:id="rId49"/>
    <p:sldId id="1911" r:id="rId50"/>
    <p:sldId id="1912" r:id="rId51"/>
    <p:sldId id="1913" r:id="rId52"/>
    <p:sldId id="1859" r:id="rId53"/>
    <p:sldId id="1920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D6EDBD"/>
    <a:srgbClr val="FCAB3E"/>
    <a:srgbClr val="1559BD"/>
    <a:srgbClr val="99C8C8"/>
    <a:srgbClr val="F3EE12"/>
    <a:srgbClr val="FF7B21"/>
    <a:srgbClr val="FF9966"/>
    <a:srgbClr val="96CC99"/>
    <a:srgbClr val="65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8E8DA0-1080-4C54-77F1-5DE8A7A0029A}" v="23" dt="2024-10-16T10:18:29.46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46" autoAdjust="0"/>
    <p:restoredTop sz="93979" autoAdjust="0"/>
  </p:normalViewPr>
  <p:slideViewPr>
    <p:cSldViewPr snapToGrid="0">
      <p:cViewPr varScale="1">
        <p:scale>
          <a:sx n="60" d="100"/>
          <a:sy n="60" d="100"/>
        </p:scale>
        <p:origin x="9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60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oleObject" Target="../embeddings/oleObject1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'[Worksheet in FHM_Project Management Plan_Template_v1.0.pptx]Staffing'!$A$4</c:f>
              <c:strCache>
                <c:ptCount val="1"/>
                <c:pt idx="0">
                  <c:v>Dev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'[Worksheet in FHM_Project Management Plan_Template_v1.0.pptx]Staffing'!$B$2:$K$3</c:f>
              <c:multiLvlStrCache>
                <c:ptCount val="10"/>
                <c:lvl>
                  <c:pt idx="0">
                    <c:v>P</c:v>
                  </c:pt>
                  <c:pt idx="1">
                    <c:v>A</c:v>
                  </c:pt>
                  <c:pt idx="2">
                    <c:v>P</c:v>
                  </c:pt>
                  <c:pt idx="3">
                    <c:v>A</c:v>
                  </c:pt>
                  <c:pt idx="4">
                    <c:v>P</c:v>
                  </c:pt>
                  <c:pt idx="5">
                    <c:v>A</c:v>
                  </c:pt>
                  <c:pt idx="6">
                    <c:v>P</c:v>
                  </c:pt>
                  <c:pt idx="7">
                    <c:v>A</c:v>
                  </c:pt>
                  <c:pt idx="8">
                    <c:v>P</c:v>
                  </c:pt>
                  <c:pt idx="9">
                    <c:v>A</c:v>
                  </c:pt>
                </c:lvl>
                <c:lvl>
                  <c:pt idx="0">
                    <c:v>Mar</c:v>
                  </c:pt>
                  <c:pt idx="2">
                    <c:v>Apr</c:v>
                  </c:pt>
                  <c:pt idx="4">
                    <c:v>May</c:v>
                  </c:pt>
                  <c:pt idx="6">
                    <c:v>Jun</c:v>
                  </c:pt>
                  <c:pt idx="8">
                    <c:v>Jul</c:v>
                  </c:pt>
                </c:lvl>
              </c:multiLvlStrCache>
            </c:multiLvlStrRef>
          </c:cat>
          <c:val>
            <c:numRef>
              <c:f>'[Worksheet in FHM_Project Management Plan_Template_v1.0.pptx]Staffing'!$B$4:$K$4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F8-49F8-BE13-CBC585FD058B}"/>
            </c:ext>
          </c:extLst>
        </c:ser>
        <c:ser>
          <c:idx val="1"/>
          <c:order val="1"/>
          <c:tx>
            <c:strRef>
              <c:f>'[Worksheet in FHM_Project Management Plan_Template_v1.0.pptx]Staffing'!$A$5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'[Worksheet in FHM_Project Management Plan_Template_v1.0.pptx]Staffing'!$B$2:$K$3</c:f>
              <c:multiLvlStrCache>
                <c:ptCount val="10"/>
                <c:lvl>
                  <c:pt idx="0">
                    <c:v>P</c:v>
                  </c:pt>
                  <c:pt idx="1">
                    <c:v>A</c:v>
                  </c:pt>
                  <c:pt idx="2">
                    <c:v>P</c:v>
                  </c:pt>
                  <c:pt idx="3">
                    <c:v>A</c:v>
                  </c:pt>
                  <c:pt idx="4">
                    <c:v>P</c:v>
                  </c:pt>
                  <c:pt idx="5">
                    <c:v>A</c:v>
                  </c:pt>
                  <c:pt idx="6">
                    <c:v>P</c:v>
                  </c:pt>
                  <c:pt idx="7">
                    <c:v>A</c:v>
                  </c:pt>
                  <c:pt idx="8">
                    <c:v>P</c:v>
                  </c:pt>
                  <c:pt idx="9">
                    <c:v>A</c:v>
                  </c:pt>
                </c:lvl>
                <c:lvl>
                  <c:pt idx="0">
                    <c:v>Mar</c:v>
                  </c:pt>
                  <c:pt idx="2">
                    <c:v>Apr</c:v>
                  </c:pt>
                  <c:pt idx="4">
                    <c:v>May</c:v>
                  </c:pt>
                  <c:pt idx="6">
                    <c:v>Jun</c:v>
                  </c:pt>
                  <c:pt idx="8">
                    <c:v>Jul</c:v>
                  </c:pt>
                </c:lvl>
              </c:multiLvlStrCache>
            </c:multiLvlStrRef>
          </c:cat>
          <c:val>
            <c:numRef>
              <c:f>'[Worksheet in FHM_Project Management Plan_Template_v1.0.pptx]Staffing'!$B$5:$K$5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F8-49F8-BE13-CBC585FD058B}"/>
            </c:ext>
          </c:extLst>
        </c:ser>
        <c:ser>
          <c:idx val="2"/>
          <c:order val="2"/>
          <c:tx>
            <c:strRef>
              <c:f>'[Worksheet in FHM_Project Management Plan_Template_v1.0.pptx]Staffing'!$A$6</c:f>
              <c:strCache>
                <c:ptCount val="1"/>
                <c:pt idx="0">
                  <c:v>Technical Solution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'[Worksheet in FHM_Project Management Plan_Template_v1.0.pptx]Staffing'!$B$2:$K$3</c:f>
              <c:multiLvlStrCache>
                <c:ptCount val="10"/>
                <c:lvl>
                  <c:pt idx="0">
                    <c:v>P</c:v>
                  </c:pt>
                  <c:pt idx="1">
                    <c:v>A</c:v>
                  </c:pt>
                  <c:pt idx="2">
                    <c:v>P</c:v>
                  </c:pt>
                  <c:pt idx="3">
                    <c:v>A</c:v>
                  </c:pt>
                  <c:pt idx="4">
                    <c:v>P</c:v>
                  </c:pt>
                  <c:pt idx="5">
                    <c:v>A</c:v>
                  </c:pt>
                  <c:pt idx="6">
                    <c:v>P</c:v>
                  </c:pt>
                  <c:pt idx="7">
                    <c:v>A</c:v>
                  </c:pt>
                  <c:pt idx="8">
                    <c:v>P</c:v>
                  </c:pt>
                  <c:pt idx="9">
                    <c:v>A</c:v>
                  </c:pt>
                </c:lvl>
                <c:lvl>
                  <c:pt idx="0">
                    <c:v>Mar</c:v>
                  </c:pt>
                  <c:pt idx="2">
                    <c:v>Apr</c:v>
                  </c:pt>
                  <c:pt idx="4">
                    <c:v>May</c:v>
                  </c:pt>
                  <c:pt idx="6">
                    <c:v>Jun</c:v>
                  </c:pt>
                  <c:pt idx="8">
                    <c:v>Jul</c:v>
                  </c:pt>
                </c:lvl>
              </c:multiLvlStrCache>
            </c:multiLvlStrRef>
          </c:cat>
          <c:val>
            <c:numRef>
              <c:f>'[Worksheet in FHM_Project Management Plan_Template_v1.0.pptx]Staffing'!$B$6:$K$6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3F8-49F8-BE13-CBC585FD058B}"/>
            </c:ext>
          </c:extLst>
        </c:ser>
        <c:ser>
          <c:idx val="3"/>
          <c:order val="3"/>
          <c:tx>
            <c:strRef>
              <c:f>'[Worksheet in FHM_Project Management Plan_Template_v1.0.pptx]Staffing'!$A$7</c:f>
              <c:strCache>
                <c:ptCount val="1"/>
                <c:pt idx="0">
                  <c:v>Project Manager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'[Worksheet in FHM_Project Management Plan_Template_v1.0.pptx]Staffing'!$B$2:$K$3</c:f>
              <c:multiLvlStrCache>
                <c:ptCount val="10"/>
                <c:lvl>
                  <c:pt idx="0">
                    <c:v>P</c:v>
                  </c:pt>
                  <c:pt idx="1">
                    <c:v>A</c:v>
                  </c:pt>
                  <c:pt idx="2">
                    <c:v>P</c:v>
                  </c:pt>
                  <c:pt idx="3">
                    <c:v>A</c:v>
                  </c:pt>
                  <c:pt idx="4">
                    <c:v>P</c:v>
                  </c:pt>
                  <c:pt idx="5">
                    <c:v>A</c:v>
                  </c:pt>
                  <c:pt idx="6">
                    <c:v>P</c:v>
                  </c:pt>
                  <c:pt idx="7">
                    <c:v>A</c:v>
                  </c:pt>
                  <c:pt idx="8">
                    <c:v>P</c:v>
                  </c:pt>
                  <c:pt idx="9">
                    <c:v>A</c:v>
                  </c:pt>
                </c:lvl>
                <c:lvl>
                  <c:pt idx="0">
                    <c:v>Mar</c:v>
                  </c:pt>
                  <c:pt idx="2">
                    <c:v>Apr</c:v>
                  </c:pt>
                  <c:pt idx="4">
                    <c:v>May</c:v>
                  </c:pt>
                  <c:pt idx="6">
                    <c:v>Jun</c:v>
                  </c:pt>
                  <c:pt idx="8">
                    <c:v>Jul</c:v>
                  </c:pt>
                </c:lvl>
              </c:multiLvlStrCache>
            </c:multiLvlStrRef>
          </c:cat>
          <c:val>
            <c:numRef>
              <c:f>'[Worksheet in FHM_Project Management Plan_Template_v1.0.pptx]Staffing'!$B$7:$K$7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3F8-49F8-BE13-CBC585FD058B}"/>
            </c:ext>
          </c:extLst>
        </c:ser>
        <c:ser>
          <c:idx val="4"/>
          <c:order val="4"/>
          <c:tx>
            <c:strRef>
              <c:f>'[Worksheet in FHM_Project Management Plan_Template_v1.0.pptx]Staffing'!$A$8</c:f>
              <c:strCache>
                <c:ptCount val="1"/>
                <c:pt idx="0">
                  <c:v>Proxy Product Owner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delete val="1"/>
          </c:dLbls>
          <c:cat>
            <c:multiLvlStrRef>
              <c:f>'[Worksheet in FHM_Project Management Plan_Template_v1.0.pptx]Staffing'!$B$2:$K$3</c:f>
              <c:multiLvlStrCache>
                <c:ptCount val="10"/>
                <c:lvl>
                  <c:pt idx="0">
                    <c:v>P</c:v>
                  </c:pt>
                  <c:pt idx="1">
                    <c:v>A</c:v>
                  </c:pt>
                  <c:pt idx="2">
                    <c:v>P</c:v>
                  </c:pt>
                  <c:pt idx="3">
                    <c:v>A</c:v>
                  </c:pt>
                  <c:pt idx="4">
                    <c:v>P</c:v>
                  </c:pt>
                  <c:pt idx="5">
                    <c:v>A</c:v>
                  </c:pt>
                  <c:pt idx="6">
                    <c:v>P</c:v>
                  </c:pt>
                  <c:pt idx="7">
                    <c:v>A</c:v>
                  </c:pt>
                  <c:pt idx="8">
                    <c:v>P</c:v>
                  </c:pt>
                  <c:pt idx="9">
                    <c:v>A</c:v>
                  </c:pt>
                </c:lvl>
                <c:lvl>
                  <c:pt idx="0">
                    <c:v>Mar</c:v>
                  </c:pt>
                  <c:pt idx="2">
                    <c:v>Apr</c:v>
                  </c:pt>
                  <c:pt idx="4">
                    <c:v>May</c:v>
                  </c:pt>
                  <c:pt idx="6">
                    <c:v>Jun</c:v>
                  </c:pt>
                  <c:pt idx="8">
                    <c:v>Jul</c:v>
                  </c:pt>
                </c:lvl>
              </c:multiLvlStrCache>
            </c:multiLvlStrRef>
          </c:cat>
          <c:val>
            <c:numRef>
              <c:f>'[Worksheet in FHM_Project Management Plan_Template_v1.0.pptx]Staffing'!$B$8:$K$8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3F8-49F8-BE13-CBC585FD058B}"/>
            </c:ext>
          </c:extLst>
        </c:ser>
        <c:ser>
          <c:idx val="5"/>
          <c:order val="5"/>
          <c:tx>
            <c:strRef>
              <c:f>'[Worksheet in FHM_Project Management Plan_Template_v1.0.pptx]Staffing'!$A$9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'[Worksheet in FHM_Project Management Plan_Template_v1.0.pptx]Staffing'!$B$2:$K$3</c:f>
              <c:multiLvlStrCache>
                <c:ptCount val="10"/>
                <c:lvl>
                  <c:pt idx="0">
                    <c:v>P</c:v>
                  </c:pt>
                  <c:pt idx="1">
                    <c:v>A</c:v>
                  </c:pt>
                  <c:pt idx="2">
                    <c:v>P</c:v>
                  </c:pt>
                  <c:pt idx="3">
                    <c:v>A</c:v>
                  </c:pt>
                  <c:pt idx="4">
                    <c:v>P</c:v>
                  </c:pt>
                  <c:pt idx="5">
                    <c:v>A</c:v>
                  </c:pt>
                  <c:pt idx="6">
                    <c:v>P</c:v>
                  </c:pt>
                  <c:pt idx="7">
                    <c:v>A</c:v>
                  </c:pt>
                  <c:pt idx="8">
                    <c:v>P</c:v>
                  </c:pt>
                  <c:pt idx="9">
                    <c:v>A</c:v>
                  </c:pt>
                </c:lvl>
                <c:lvl>
                  <c:pt idx="0">
                    <c:v>Mar</c:v>
                  </c:pt>
                  <c:pt idx="2">
                    <c:v>Apr</c:v>
                  </c:pt>
                  <c:pt idx="4">
                    <c:v>May</c:v>
                  </c:pt>
                  <c:pt idx="6">
                    <c:v>Jun</c:v>
                  </c:pt>
                  <c:pt idx="8">
                    <c:v>Jul</c:v>
                  </c:pt>
                </c:lvl>
              </c:multiLvlStrCache>
            </c:multiLvlStrRef>
          </c:cat>
          <c:val>
            <c:numRef>
              <c:f>'[Worksheet in FHM_Project Management Plan_Template_v1.0.pptx]Staffing'!$B$9:$K$9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3F8-49F8-BE13-CBC585FD05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109249088"/>
        <c:axId val="211699039"/>
      </c:barChart>
      <c:catAx>
        <c:axId val="2109249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211699039"/>
        <c:crosses val="autoZero"/>
        <c:auto val="1"/>
        <c:lblAlgn val="ctr"/>
        <c:lblOffset val="100"/>
        <c:noMultiLvlLbl val="0"/>
      </c:catAx>
      <c:valAx>
        <c:axId val="2116990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2109249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vi-V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vi-V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C9987C-698A-4167-8D84-55224BD1D5E8}" type="doc">
      <dgm:prSet loTypeId="urn:microsoft.com/office/officeart/2005/8/layout/pyramid2" loCatId="list" qsTypeId="urn:microsoft.com/office/officeart/2005/8/quickstyle/simple5" qsCatId="simple" csTypeId="urn:microsoft.com/office/officeart/2005/8/colors/colorful5" csCatId="colorful" phldr="1"/>
      <dgm:spPr/>
    </dgm:pt>
    <dgm:pt modelId="{0F947E97-8BB6-42D6-A612-95A9CFECB2F2}">
      <dgm:prSet phldrT="[Text]" custT="1"/>
      <dgm:spPr>
        <a:solidFill>
          <a:srgbClr val="5ACEF9">
            <a:alpha val="90000"/>
          </a:srgbClr>
        </a:solidFill>
        <a:ln>
          <a:solidFill>
            <a:srgbClr val="5ACEF9"/>
          </a:solidFill>
        </a:ln>
      </dgm:spPr>
      <dgm:t>
        <a:bodyPr/>
        <a:lstStyle/>
        <a:p>
          <a:pPr algn="l"/>
          <a:r>
            <a:rPr lang="en-US" sz="1100" b="1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Level 2: Steering Committee</a:t>
          </a:r>
        </a:p>
      </dgm:t>
    </dgm:pt>
    <dgm:pt modelId="{33CA8D86-1A22-409E-8F15-BFB4493FA172}" type="parTrans" cxnId="{47B8797D-3CEC-4E87-9115-70CD4D1D857C}">
      <dgm:prSet/>
      <dgm:spPr/>
      <dgm:t>
        <a:bodyPr/>
        <a:lstStyle/>
        <a:p>
          <a:endParaRPr lang="en-US" sz="1000">
            <a:latin typeface="+mn-lt"/>
            <a:cs typeface="Segoe UI Light" panose="020B0502040204020203" pitchFamily="34" charset="0"/>
          </a:endParaRPr>
        </a:p>
      </dgm:t>
    </dgm:pt>
    <dgm:pt modelId="{ECB6D009-8CED-4F20-9684-0772FC29175E}" type="sibTrans" cxnId="{47B8797D-3CEC-4E87-9115-70CD4D1D857C}">
      <dgm:prSet/>
      <dgm:spPr/>
      <dgm:t>
        <a:bodyPr/>
        <a:lstStyle/>
        <a:p>
          <a:endParaRPr lang="en-US" sz="1000">
            <a:latin typeface="+mn-lt"/>
            <a:cs typeface="Segoe UI Light" panose="020B0502040204020203" pitchFamily="34" charset="0"/>
          </a:endParaRPr>
        </a:p>
      </dgm:t>
    </dgm:pt>
    <dgm:pt modelId="{36F0DDE7-1ED2-4169-81FD-B32D4499F7D5}">
      <dgm:prSet phldrT="[Text]" custT="1"/>
      <dgm:spPr>
        <a:solidFill>
          <a:srgbClr val="C8EFFD">
            <a:alpha val="90000"/>
          </a:srgbClr>
        </a:solidFill>
        <a:ln>
          <a:solidFill>
            <a:srgbClr val="C8EFFD"/>
          </a:solidFill>
        </a:ln>
      </dgm:spPr>
      <dgm:t>
        <a:bodyPr/>
        <a:lstStyle/>
        <a:p>
          <a:pPr algn="l"/>
          <a:r>
            <a:rPr lang="en-US" sz="1100" b="1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Level 1: Project Delivery (include Technical stuff)</a:t>
          </a:r>
        </a:p>
      </dgm:t>
    </dgm:pt>
    <dgm:pt modelId="{EE480D38-D099-48B0-B6A1-89A53D21ECBA}" type="parTrans" cxnId="{7029F3D2-C3C0-4430-BFF2-D8AEE971B336}">
      <dgm:prSet/>
      <dgm:spPr/>
      <dgm:t>
        <a:bodyPr/>
        <a:lstStyle/>
        <a:p>
          <a:endParaRPr lang="en-US" sz="1000">
            <a:latin typeface="+mn-lt"/>
            <a:cs typeface="Segoe UI Light" panose="020B0502040204020203" pitchFamily="34" charset="0"/>
          </a:endParaRPr>
        </a:p>
      </dgm:t>
    </dgm:pt>
    <dgm:pt modelId="{8F1CF341-6430-4C18-A6C6-ADFF810F0B51}" type="sibTrans" cxnId="{7029F3D2-C3C0-4430-BFF2-D8AEE971B336}">
      <dgm:prSet/>
      <dgm:spPr/>
      <dgm:t>
        <a:bodyPr/>
        <a:lstStyle/>
        <a:p>
          <a:endParaRPr lang="en-US" sz="1000">
            <a:latin typeface="+mn-lt"/>
            <a:cs typeface="Segoe UI Light" panose="020B0502040204020203" pitchFamily="34" charset="0"/>
          </a:endParaRPr>
        </a:p>
      </dgm:t>
    </dgm:pt>
    <dgm:pt modelId="{3260D03A-4DE5-4AF8-9E47-5F8134C97DEC}">
      <dgm:prSet custT="1"/>
      <dgm:spPr>
        <a:solidFill>
          <a:srgbClr val="C8EFFD">
            <a:alpha val="90000"/>
          </a:srgbClr>
        </a:solidFill>
        <a:ln>
          <a:solidFill>
            <a:srgbClr val="C8EFFD"/>
          </a:solidFill>
        </a:ln>
      </dgm:spPr>
      <dgm:t>
        <a:bodyPr/>
        <a:lstStyle/>
        <a:p>
          <a:pPr algn="l"/>
          <a:r>
            <a:rPr lang="en-US" sz="1100" b="1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&lt;Customer&gt;</a:t>
          </a:r>
          <a:r>
            <a:rPr lang="en-US" sz="1100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: Project Manager</a:t>
          </a:r>
        </a:p>
      </dgm:t>
    </dgm:pt>
    <dgm:pt modelId="{74607CDB-5701-4A8C-83D6-632C8C8533C1}" type="parTrans" cxnId="{C1CFA723-2549-42CB-9DBF-B5765969BC0E}">
      <dgm:prSet/>
      <dgm:spPr/>
      <dgm:t>
        <a:bodyPr/>
        <a:lstStyle/>
        <a:p>
          <a:endParaRPr lang="en-US" sz="1000">
            <a:latin typeface="+mn-lt"/>
            <a:cs typeface="Segoe UI Light" panose="020B0502040204020203" pitchFamily="34" charset="0"/>
          </a:endParaRPr>
        </a:p>
      </dgm:t>
    </dgm:pt>
    <dgm:pt modelId="{DEFBC4A5-05FB-4E71-B338-8D809C271521}" type="sibTrans" cxnId="{C1CFA723-2549-42CB-9DBF-B5765969BC0E}">
      <dgm:prSet/>
      <dgm:spPr/>
      <dgm:t>
        <a:bodyPr/>
        <a:lstStyle/>
        <a:p>
          <a:endParaRPr lang="en-US" sz="1000">
            <a:latin typeface="+mn-lt"/>
            <a:cs typeface="Segoe UI Light" panose="020B0502040204020203" pitchFamily="34" charset="0"/>
          </a:endParaRPr>
        </a:p>
      </dgm:t>
    </dgm:pt>
    <dgm:pt modelId="{6B95C3BB-403A-4FB9-AB15-53F5C5932DE1}">
      <dgm:prSet custT="1"/>
      <dgm:spPr>
        <a:solidFill>
          <a:srgbClr val="C8EFFD">
            <a:alpha val="90000"/>
          </a:srgbClr>
        </a:solidFill>
        <a:ln>
          <a:solidFill>
            <a:srgbClr val="C8EFFD"/>
          </a:solidFill>
        </a:ln>
      </dgm:spPr>
      <dgm:t>
        <a:bodyPr/>
        <a:lstStyle/>
        <a:p>
          <a:pPr algn="l"/>
          <a:r>
            <a:rPr lang="en-US" sz="1100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Problem is at Project level</a:t>
          </a:r>
        </a:p>
      </dgm:t>
    </dgm:pt>
    <dgm:pt modelId="{AC41C802-A633-4A5D-80F4-EE78D93E45FF}" type="parTrans" cxnId="{EB744A83-3FF0-4ADE-A953-590F0CF81847}">
      <dgm:prSet/>
      <dgm:spPr/>
      <dgm:t>
        <a:bodyPr/>
        <a:lstStyle/>
        <a:p>
          <a:endParaRPr lang="en-US" sz="1000">
            <a:latin typeface="+mn-lt"/>
            <a:cs typeface="Segoe UI Light" panose="020B0502040204020203" pitchFamily="34" charset="0"/>
          </a:endParaRPr>
        </a:p>
      </dgm:t>
    </dgm:pt>
    <dgm:pt modelId="{1F590319-2FD7-4FA5-82F3-DFC5AAA2A85B}" type="sibTrans" cxnId="{EB744A83-3FF0-4ADE-A953-590F0CF81847}">
      <dgm:prSet/>
      <dgm:spPr/>
      <dgm:t>
        <a:bodyPr/>
        <a:lstStyle/>
        <a:p>
          <a:endParaRPr lang="en-US" sz="1000">
            <a:latin typeface="+mn-lt"/>
            <a:cs typeface="Segoe UI Light" panose="020B0502040204020203" pitchFamily="34" charset="0"/>
          </a:endParaRPr>
        </a:p>
      </dgm:t>
    </dgm:pt>
    <dgm:pt modelId="{5C19DFA9-070F-4EF4-A03B-503042091207}">
      <dgm:prSet custT="1"/>
      <dgm:spPr>
        <a:solidFill>
          <a:srgbClr val="5ACEF9">
            <a:alpha val="90000"/>
          </a:srgbClr>
        </a:solidFill>
        <a:ln>
          <a:solidFill>
            <a:srgbClr val="5ACEF9"/>
          </a:solidFill>
        </a:ln>
      </dgm:spPr>
      <dgm:t>
        <a:bodyPr/>
        <a:lstStyle/>
        <a:p>
          <a:pPr algn="l"/>
          <a:r>
            <a:rPr lang="en-US" sz="1100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Problem is at Company level</a:t>
          </a:r>
        </a:p>
      </dgm:t>
    </dgm:pt>
    <dgm:pt modelId="{EA5C06B6-F8BA-4DC3-BC7D-4F303437DEC3}" type="parTrans" cxnId="{548CAEB7-F0C0-4235-A8AF-0701E6FCC8AE}">
      <dgm:prSet/>
      <dgm:spPr/>
      <dgm:t>
        <a:bodyPr/>
        <a:lstStyle/>
        <a:p>
          <a:endParaRPr lang="en-US" sz="1000">
            <a:latin typeface="+mn-lt"/>
            <a:cs typeface="Segoe UI Light" panose="020B0502040204020203" pitchFamily="34" charset="0"/>
          </a:endParaRPr>
        </a:p>
      </dgm:t>
    </dgm:pt>
    <dgm:pt modelId="{1F1EC3C4-10EF-453F-B851-A9500643F0A6}" type="sibTrans" cxnId="{548CAEB7-F0C0-4235-A8AF-0701E6FCC8AE}">
      <dgm:prSet/>
      <dgm:spPr/>
      <dgm:t>
        <a:bodyPr/>
        <a:lstStyle/>
        <a:p>
          <a:endParaRPr lang="en-US" sz="1000">
            <a:latin typeface="+mn-lt"/>
            <a:cs typeface="Segoe UI Light" panose="020B0502040204020203" pitchFamily="34" charset="0"/>
          </a:endParaRPr>
        </a:p>
      </dgm:t>
    </dgm:pt>
    <dgm:pt modelId="{0B8A7B82-8F6C-4F16-881D-72DA634905D9}">
      <dgm:prSet custT="1"/>
      <dgm:spPr>
        <a:solidFill>
          <a:srgbClr val="5ACEF9">
            <a:alpha val="90000"/>
          </a:srgbClr>
        </a:solidFill>
        <a:ln>
          <a:solidFill>
            <a:srgbClr val="5ACEF9"/>
          </a:solidFill>
        </a:ln>
      </dgm:spPr>
      <dgm:t>
        <a:bodyPr/>
        <a:lstStyle/>
        <a:p>
          <a:pPr algn="l"/>
          <a:r>
            <a:rPr lang="en-US" sz="1100" b="1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&lt;Customer&gt;</a:t>
          </a:r>
          <a:r>
            <a:rPr lang="en-US" sz="1100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: Project Director/Senior Manager, Project Manager</a:t>
          </a:r>
        </a:p>
      </dgm:t>
    </dgm:pt>
    <dgm:pt modelId="{6813593D-8699-47C2-A7EE-3EF7692B29A9}" type="parTrans" cxnId="{6B592165-AF42-45EF-9C25-63134F0C7364}">
      <dgm:prSet/>
      <dgm:spPr/>
      <dgm:t>
        <a:bodyPr/>
        <a:lstStyle/>
        <a:p>
          <a:endParaRPr lang="en-US" sz="1000">
            <a:latin typeface="+mn-lt"/>
            <a:cs typeface="Segoe UI Light" panose="020B0502040204020203" pitchFamily="34" charset="0"/>
          </a:endParaRPr>
        </a:p>
      </dgm:t>
    </dgm:pt>
    <dgm:pt modelId="{C30E39EF-A999-4AD5-9321-96615032BE61}" type="sibTrans" cxnId="{6B592165-AF42-45EF-9C25-63134F0C7364}">
      <dgm:prSet/>
      <dgm:spPr/>
      <dgm:t>
        <a:bodyPr/>
        <a:lstStyle/>
        <a:p>
          <a:endParaRPr lang="en-US" sz="1000">
            <a:latin typeface="+mn-lt"/>
            <a:cs typeface="Segoe UI Light" panose="020B0502040204020203" pitchFamily="34" charset="0"/>
          </a:endParaRPr>
        </a:p>
      </dgm:t>
    </dgm:pt>
    <dgm:pt modelId="{EFB74747-3837-4EFC-88A6-D9A02EA09A94}">
      <dgm:prSet custT="1"/>
      <dgm:spPr>
        <a:solidFill>
          <a:srgbClr val="5ACEF9">
            <a:alpha val="90000"/>
          </a:srgbClr>
        </a:solidFill>
        <a:ln>
          <a:solidFill>
            <a:srgbClr val="5ACEF9"/>
          </a:solidFill>
        </a:ln>
      </dgm:spPr>
      <dgm:t>
        <a:bodyPr/>
        <a:lstStyle/>
        <a:p>
          <a:pPr algn="l"/>
          <a:r>
            <a:rPr lang="en-US" sz="1100" b="1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FPT</a:t>
          </a:r>
          <a:r>
            <a:rPr lang="en-US" sz="1100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: Project Director, Project Manager, Account Manager</a:t>
          </a:r>
        </a:p>
      </dgm:t>
    </dgm:pt>
    <dgm:pt modelId="{580BDC5E-55FC-4EAE-93E1-621C2DEA7ECA}" type="parTrans" cxnId="{61014603-0704-4BE6-ABC7-2344747D1CA5}">
      <dgm:prSet/>
      <dgm:spPr/>
      <dgm:t>
        <a:bodyPr/>
        <a:lstStyle/>
        <a:p>
          <a:endParaRPr lang="en-US" sz="1000">
            <a:latin typeface="+mn-lt"/>
            <a:cs typeface="Segoe UI Light" panose="020B0502040204020203" pitchFamily="34" charset="0"/>
          </a:endParaRPr>
        </a:p>
      </dgm:t>
    </dgm:pt>
    <dgm:pt modelId="{5F45944D-85A5-479B-BB36-363B8F6AC400}" type="sibTrans" cxnId="{61014603-0704-4BE6-ABC7-2344747D1CA5}">
      <dgm:prSet/>
      <dgm:spPr/>
      <dgm:t>
        <a:bodyPr/>
        <a:lstStyle/>
        <a:p>
          <a:endParaRPr lang="en-US" sz="1000">
            <a:latin typeface="+mn-lt"/>
            <a:cs typeface="Segoe UI Light" panose="020B0502040204020203" pitchFamily="34" charset="0"/>
          </a:endParaRPr>
        </a:p>
      </dgm:t>
    </dgm:pt>
    <dgm:pt modelId="{3B9008E4-5A6B-4978-BD47-277DFBCFAC2E}">
      <dgm:prSet custT="1"/>
      <dgm:spPr>
        <a:solidFill>
          <a:srgbClr val="C8EFFD">
            <a:alpha val="90000"/>
          </a:srgbClr>
        </a:solidFill>
        <a:ln>
          <a:solidFill>
            <a:srgbClr val="C8EFFD"/>
          </a:solidFill>
        </a:ln>
      </dgm:spPr>
      <dgm:t>
        <a:bodyPr/>
        <a:lstStyle/>
        <a:p>
          <a:pPr algn="l"/>
          <a:r>
            <a:rPr lang="en-US" sz="1100" b="1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FPT</a:t>
          </a:r>
          <a:r>
            <a:rPr lang="en-US" sz="1100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: Project Manager, Delivery Manager</a:t>
          </a:r>
        </a:p>
      </dgm:t>
    </dgm:pt>
    <dgm:pt modelId="{76E86B5A-D258-4832-BE22-A3481A2A17D8}" type="parTrans" cxnId="{696FE6AE-D509-47FA-94C3-19F90BD0B57D}">
      <dgm:prSet/>
      <dgm:spPr/>
      <dgm:t>
        <a:bodyPr/>
        <a:lstStyle/>
        <a:p>
          <a:endParaRPr lang="en-US" sz="1000"/>
        </a:p>
      </dgm:t>
    </dgm:pt>
    <dgm:pt modelId="{FA496919-D536-4888-BA2A-D36EFE2A36EC}" type="sibTrans" cxnId="{696FE6AE-D509-47FA-94C3-19F90BD0B57D}">
      <dgm:prSet/>
      <dgm:spPr/>
      <dgm:t>
        <a:bodyPr/>
        <a:lstStyle/>
        <a:p>
          <a:endParaRPr lang="en-US" sz="1000"/>
        </a:p>
      </dgm:t>
    </dgm:pt>
    <dgm:pt modelId="{35E2296F-5604-403D-8D22-8642096FAA14}" type="pres">
      <dgm:prSet presAssocID="{B2C9987C-698A-4167-8D84-55224BD1D5E8}" presName="compositeShape" presStyleCnt="0">
        <dgm:presLayoutVars>
          <dgm:dir/>
          <dgm:resizeHandles/>
        </dgm:presLayoutVars>
      </dgm:prSet>
      <dgm:spPr/>
    </dgm:pt>
    <dgm:pt modelId="{6ED73B6A-1A95-46B2-AF95-68FDD18AE4F2}" type="pres">
      <dgm:prSet presAssocID="{B2C9987C-698A-4167-8D84-55224BD1D5E8}" presName="pyramid" presStyleLbl="node1" presStyleIdx="0" presStyleCnt="1" custScaleX="82211" custLinFactNeighborX="-11541"/>
      <dgm:spPr>
        <a:solidFill>
          <a:srgbClr val="2F5597">
            <a:alpha val="50000"/>
          </a:srgbClr>
        </a:solidFill>
      </dgm:spPr>
    </dgm:pt>
    <dgm:pt modelId="{EFA21BAC-9F00-498C-B67E-F3396B37C15C}" type="pres">
      <dgm:prSet presAssocID="{B2C9987C-698A-4167-8D84-55224BD1D5E8}" presName="theList" presStyleCnt="0"/>
      <dgm:spPr/>
    </dgm:pt>
    <dgm:pt modelId="{DC05C689-396F-49B8-95AB-EC50C4C3CDE1}" type="pres">
      <dgm:prSet presAssocID="{0F947E97-8BB6-42D6-A612-95A9CFECB2F2}" presName="aNode" presStyleLbl="fgAcc1" presStyleIdx="0" presStyleCnt="2" custScaleX="176728" custScaleY="57609" custLinFactY="554" custLinFactNeighborX="12389" custLinFactNeighborY="100000">
        <dgm:presLayoutVars>
          <dgm:bulletEnabled val="1"/>
        </dgm:presLayoutVars>
      </dgm:prSet>
      <dgm:spPr/>
    </dgm:pt>
    <dgm:pt modelId="{D927FB13-FF8A-4F14-8246-FF626530BC16}" type="pres">
      <dgm:prSet presAssocID="{0F947E97-8BB6-42D6-A612-95A9CFECB2F2}" presName="aSpace" presStyleCnt="0"/>
      <dgm:spPr/>
    </dgm:pt>
    <dgm:pt modelId="{BCE79840-7DEC-40CC-B187-67EF3F285AD1}" type="pres">
      <dgm:prSet presAssocID="{36F0DDE7-1ED2-4169-81FD-B32D4499F7D5}" presName="aNode" presStyleLbl="fgAcc1" presStyleIdx="1" presStyleCnt="2" custScaleX="175019" custScaleY="65107" custLinFactNeighborX="11625" custLinFactNeighborY="70370">
        <dgm:presLayoutVars>
          <dgm:bulletEnabled val="1"/>
        </dgm:presLayoutVars>
      </dgm:prSet>
      <dgm:spPr/>
    </dgm:pt>
    <dgm:pt modelId="{2E5F1A10-E473-44F5-AEE0-3638882B901F}" type="pres">
      <dgm:prSet presAssocID="{36F0DDE7-1ED2-4169-81FD-B32D4499F7D5}" presName="aSpace" presStyleCnt="0"/>
      <dgm:spPr/>
    </dgm:pt>
  </dgm:ptLst>
  <dgm:cxnLst>
    <dgm:cxn modelId="{61014603-0704-4BE6-ABC7-2344747D1CA5}" srcId="{0F947E97-8BB6-42D6-A612-95A9CFECB2F2}" destId="{EFB74747-3837-4EFC-88A6-D9A02EA09A94}" srcOrd="2" destOrd="0" parTransId="{580BDC5E-55FC-4EAE-93E1-621C2DEA7ECA}" sibTransId="{5F45944D-85A5-479B-BB36-363B8F6AC400}"/>
    <dgm:cxn modelId="{24C58C17-1506-44A0-AB86-566181201231}" type="presOf" srcId="{36F0DDE7-1ED2-4169-81FD-B32D4499F7D5}" destId="{BCE79840-7DEC-40CC-B187-67EF3F285AD1}" srcOrd="0" destOrd="0" presId="urn:microsoft.com/office/officeart/2005/8/layout/pyramid2"/>
    <dgm:cxn modelId="{04FA511A-FC1C-40CC-8110-EE8A667390CE}" type="presOf" srcId="{EFB74747-3837-4EFC-88A6-D9A02EA09A94}" destId="{DC05C689-396F-49B8-95AB-EC50C4C3CDE1}" srcOrd="0" destOrd="3" presId="urn:microsoft.com/office/officeart/2005/8/layout/pyramid2"/>
    <dgm:cxn modelId="{C1CFA723-2549-42CB-9DBF-B5765969BC0E}" srcId="{36F0DDE7-1ED2-4169-81FD-B32D4499F7D5}" destId="{3260D03A-4DE5-4AF8-9E47-5F8134C97DEC}" srcOrd="1" destOrd="0" parTransId="{74607CDB-5701-4A8C-83D6-632C8C8533C1}" sibTransId="{DEFBC4A5-05FB-4E71-B338-8D809C271521}"/>
    <dgm:cxn modelId="{90AE6530-906D-4337-92C7-5ECEA99346A7}" type="presOf" srcId="{3B9008E4-5A6B-4978-BD47-277DFBCFAC2E}" destId="{BCE79840-7DEC-40CC-B187-67EF3F285AD1}" srcOrd="0" destOrd="3" presId="urn:microsoft.com/office/officeart/2005/8/layout/pyramid2"/>
    <dgm:cxn modelId="{7D7FB039-42D4-405F-A597-0E34E7EFB232}" type="presOf" srcId="{5C19DFA9-070F-4EF4-A03B-503042091207}" destId="{DC05C689-396F-49B8-95AB-EC50C4C3CDE1}" srcOrd="0" destOrd="1" presId="urn:microsoft.com/office/officeart/2005/8/layout/pyramid2"/>
    <dgm:cxn modelId="{6B592165-AF42-45EF-9C25-63134F0C7364}" srcId="{0F947E97-8BB6-42D6-A612-95A9CFECB2F2}" destId="{0B8A7B82-8F6C-4F16-881D-72DA634905D9}" srcOrd="1" destOrd="0" parTransId="{6813593D-8699-47C2-A7EE-3EF7692B29A9}" sibTransId="{C30E39EF-A999-4AD5-9321-96615032BE61}"/>
    <dgm:cxn modelId="{EBD1F545-B989-49BC-8342-FC2D46D22B6D}" type="presOf" srcId="{B2C9987C-698A-4167-8D84-55224BD1D5E8}" destId="{35E2296F-5604-403D-8D22-8642096FAA14}" srcOrd="0" destOrd="0" presId="urn:microsoft.com/office/officeart/2005/8/layout/pyramid2"/>
    <dgm:cxn modelId="{8493A14F-217C-432B-8087-0D2AFDF8B378}" type="presOf" srcId="{0F947E97-8BB6-42D6-A612-95A9CFECB2F2}" destId="{DC05C689-396F-49B8-95AB-EC50C4C3CDE1}" srcOrd="0" destOrd="0" presId="urn:microsoft.com/office/officeart/2005/8/layout/pyramid2"/>
    <dgm:cxn modelId="{47B8797D-3CEC-4E87-9115-70CD4D1D857C}" srcId="{B2C9987C-698A-4167-8D84-55224BD1D5E8}" destId="{0F947E97-8BB6-42D6-A612-95A9CFECB2F2}" srcOrd="0" destOrd="0" parTransId="{33CA8D86-1A22-409E-8F15-BFB4493FA172}" sibTransId="{ECB6D009-8CED-4F20-9684-0772FC29175E}"/>
    <dgm:cxn modelId="{EB744A83-3FF0-4ADE-A953-590F0CF81847}" srcId="{36F0DDE7-1ED2-4169-81FD-B32D4499F7D5}" destId="{6B95C3BB-403A-4FB9-AB15-53F5C5932DE1}" srcOrd="0" destOrd="0" parTransId="{AC41C802-A633-4A5D-80F4-EE78D93E45FF}" sibTransId="{1F590319-2FD7-4FA5-82F3-DFC5AAA2A85B}"/>
    <dgm:cxn modelId="{F40F1B84-4987-48F2-A587-978ED8EF64AD}" type="presOf" srcId="{6B95C3BB-403A-4FB9-AB15-53F5C5932DE1}" destId="{BCE79840-7DEC-40CC-B187-67EF3F285AD1}" srcOrd="0" destOrd="1" presId="urn:microsoft.com/office/officeart/2005/8/layout/pyramid2"/>
    <dgm:cxn modelId="{48AB2386-C9D4-4F94-A5D5-05F3B53B7BA2}" type="presOf" srcId="{0B8A7B82-8F6C-4F16-881D-72DA634905D9}" destId="{DC05C689-396F-49B8-95AB-EC50C4C3CDE1}" srcOrd="0" destOrd="2" presId="urn:microsoft.com/office/officeart/2005/8/layout/pyramid2"/>
    <dgm:cxn modelId="{02209B88-830F-4D3C-A1DF-D20948701220}" type="presOf" srcId="{3260D03A-4DE5-4AF8-9E47-5F8134C97DEC}" destId="{BCE79840-7DEC-40CC-B187-67EF3F285AD1}" srcOrd="0" destOrd="2" presId="urn:microsoft.com/office/officeart/2005/8/layout/pyramid2"/>
    <dgm:cxn modelId="{696FE6AE-D509-47FA-94C3-19F90BD0B57D}" srcId="{36F0DDE7-1ED2-4169-81FD-B32D4499F7D5}" destId="{3B9008E4-5A6B-4978-BD47-277DFBCFAC2E}" srcOrd="2" destOrd="0" parTransId="{76E86B5A-D258-4832-BE22-A3481A2A17D8}" sibTransId="{FA496919-D536-4888-BA2A-D36EFE2A36EC}"/>
    <dgm:cxn modelId="{548CAEB7-F0C0-4235-A8AF-0701E6FCC8AE}" srcId="{0F947E97-8BB6-42D6-A612-95A9CFECB2F2}" destId="{5C19DFA9-070F-4EF4-A03B-503042091207}" srcOrd="0" destOrd="0" parTransId="{EA5C06B6-F8BA-4DC3-BC7D-4F303437DEC3}" sibTransId="{1F1EC3C4-10EF-453F-B851-A9500643F0A6}"/>
    <dgm:cxn modelId="{7029F3D2-C3C0-4430-BFF2-D8AEE971B336}" srcId="{B2C9987C-698A-4167-8D84-55224BD1D5E8}" destId="{36F0DDE7-1ED2-4169-81FD-B32D4499F7D5}" srcOrd="1" destOrd="0" parTransId="{EE480D38-D099-48B0-B6A1-89A53D21ECBA}" sibTransId="{8F1CF341-6430-4C18-A6C6-ADFF810F0B51}"/>
    <dgm:cxn modelId="{E2FB285D-6265-42BC-913B-4826F7D6956B}" type="presParOf" srcId="{35E2296F-5604-403D-8D22-8642096FAA14}" destId="{6ED73B6A-1A95-46B2-AF95-68FDD18AE4F2}" srcOrd="0" destOrd="0" presId="urn:microsoft.com/office/officeart/2005/8/layout/pyramid2"/>
    <dgm:cxn modelId="{215E9BC2-ECED-4960-BD42-5B665CCFB8BA}" type="presParOf" srcId="{35E2296F-5604-403D-8D22-8642096FAA14}" destId="{EFA21BAC-9F00-498C-B67E-F3396B37C15C}" srcOrd="1" destOrd="0" presId="urn:microsoft.com/office/officeart/2005/8/layout/pyramid2"/>
    <dgm:cxn modelId="{9A48AE0E-2D3F-4952-826F-4A5A3227D02B}" type="presParOf" srcId="{EFA21BAC-9F00-498C-B67E-F3396B37C15C}" destId="{DC05C689-396F-49B8-95AB-EC50C4C3CDE1}" srcOrd="0" destOrd="0" presId="urn:microsoft.com/office/officeart/2005/8/layout/pyramid2"/>
    <dgm:cxn modelId="{7A90FD94-4D3E-4A02-88EF-9B8C0ED90733}" type="presParOf" srcId="{EFA21BAC-9F00-498C-B67E-F3396B37C15C}" destId="{D927FB13-FF8A-4F14-8246-FF626530BC16}" srcOrd="1" destOrd="0" presId="urn:microsoft.com/office/officeart/2005/8/layout/pyramid2"/>
    <dgm:cxn modelId="{203840DB-41FA-4A7E-BA6F-538B4D45B020}" type="presParOf" srcId="{EFA21BAC-9F00-498C-B67E-F3396B37C15C}" destId="{BCE79840-7DEC-40CC-B187-67EF3F285AD1}" srcOrd="2" destOrd="0" presId="urn:microsoft.com/office/officeart/2005/8/layout/pyramid2"/>
    <dgm:cxn modelId="{D928FA7F-B13E-41E7-9CD2-E8AF24F750A7}" type="presParOf" srcId="{EFA21BAC-9F00-498C-B67E-F3396B37C15C}" destId="{2E5F1A10-E473-44F5-AEE0-3638882B901F}" srcOrd="3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50623B-4D50-4354-B57C-460D8A85A89A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403E3A2-F52A-40A2-AF1B-9E7869905D09}">
      <dgm:prSet phldrT="[Text]"/>
      <dgm:spPr/>
      <dgm:t>
        <a:bodyPr/>
        <a:lstStyle/>
        <a:p>
          <a:r>
            <a:rPr lang="en-US" dirty="0"/>
            <a:t>Official documents of project (project plan, organization, management report, </a:t>
          </a:r>
          <a:r>
            <a:rPr lang="en-US" dirty="0" err="1"/>
            <a:t>etc</a:t>
          </a:r>
          <a:r>
            <a:rPr lang="en-US" dirty="0"/>
            <a:t>…)</a:t>
          </a:r>
        </a:p>
      </dgm:t>
    </dgm:pt>
    <dgm:pt modelId="{A06BE6DB-BDB1-4F3C-9435-8FDABB296700}" type="parTrans" cxnId="{332047DD-FEAE-4491-B02A-E615CDD48991}">
      <dgm:prSet/>
      <dgm:spPr/>
      <dgm:t>
        <a:bodyPr/>
        <a:lstStyle/>
        <a:p>
          <a:endParaRPr lang="en-US"/>
        </a:p>
      </dgm:t>
    </dgm:pt>
    <dgm:pt modelId="{3C2C9F4D-0E4D-4728-966F-448A27FCE4D4}" type="sibTrans" cxnId="{332047DD-FEAE-4491-B02A-E615CDD48991}">
      <dgm:prSet/>
      <dgm:spPr/>
      <dgm:t>
        <a:bodyPr/>
        <a:lstStyle/>
        <a:p>
          <a:endParaRPr lang="en-US"/>
        </a:p>
      </dgm:t>
    </dgm:pt>
    <dgm:pt modelId="{454ED94F-AADA-4A57-BD9A-54E0F21C5391}">
      <dgm:prSet phldrT="[Text]"/>
      <dgm:spPr/>
      <dgm:t>
        <a:bodyPr/>
        <a:lstStyle/>
        <a:p>
          <a:r>
            <a:rPr lang="en-US" dirty="0"/>
            <a:t>Official input by customer (requirement, designs, attention notes…)</a:t>
          </a:r>
        </a:p>
      </dgm:t>
    </dgm:pt>
    <dgm:pt modelId="{75CEB3B1-FDFD-4C4B-93F0-48A795F83B5D}" type="parTrans" cxnId="{FA4DCC79-1311-4E8D-B2F4-FB3C9C00FBCE}">
      <dgm:prSet/>
      <dgm:spPr/>
      <dgm:t>
        <a:bodyPr/>
        <a:lstStyle/>
        <a:p>
          <a:endParaRPr lang="en-US"/>
        </a:p>
      </dgm:t>
    </dgm:pt>
    <dgm:pt modelId="{6D6F44C0-CC78-4A02-99E3-2407B97C1D4D}" type="sibTrans" cxnId="{FA4DCC79-1311-4E8D-B2F4-FB3C9C00FBCE}">
      <dgm:prSet/>
      <dgm:spPr/>
      <dgm:t>
        <a:bodyPr/>
        <a:lstStyle/>
        <a:p>
          <a:endParaRPr lang="en-US"/>
        </a:p>
      </dgm:t>
    </dgm:pt>
    <dgm:pt modelId="{4259035D-647D-4CEA-BC5D-F910DD993E75}">
      <dgm:prSet phldrT="[Text]"/>
      <dgm:spPr/>
      <dgm:t>
        <a:bodyPr/>
        <a:lstStyle/>
        <a:p>
          <a:r>
            <a:rPr lang="en-US" dirty="0"/>
            <a:t>Official released packages &amp; it’s information (version, changelog, date…)</a:t>
          </a:r>
        </a:p>
      </dgm:t>
    </dgm:pt>
    <dgm:pt modelId="{DDD27C7F-7489-403F-A49E-A3C6A4BDDC39}" type="parTrans" cxnId="{EB2544B2-B0B3-4F8E-8CF0-77F672F01CCC}">
      <dgm:prSet/>
      <dgm:spPr/>
      <dgm:t>
        <a:bodyPr/>
        <a:lstStyle/>
        <a:p>
          <a:endParaRPr lang="en-US"/>
        </a:p>
      </dgm:t>
    </dgm:pt>
    <dgm:pt modelId="{A06F4681-475C-4B17-86D6-44C7AE1581C8}" type="sibTrans" cxnId="{EB2544B2-B0B3-4F8E-8CF0-77F672F01CCC}">
      <dgm:prSet/>
      <dgm:spPr/>
      <dgm:t>
        <a:bodyPr/>
        <a:lstStyle/>
        <a:p>
          <a:endParaRPr lang="en-US"/>
        </a:p>
      </dgm:t>
    </dgm:pt>
    <dgm:pt modelId="{FEF8D6BA-49C5-4AED-A8C0-CEDDC222D2F9}">
      <dgm:prSet phldrT="[Text]"/>
      <dgm:spPr/>
      <dgm:t>
        <a:bodyPr/>
        <a:lstStyle/>
        <a:p>
          <a:r>
            <a:rPr lang="en-US" dirty="0"/>
            <a:t>Collaboration place of each team (daily meetings, retrospective meetings, other meeting notes…)</a:t>
          </a:r>
        </a:p>
      </dgm:t>
    </dgm:pt>
    <dgm:pt modelId="{ED5BE93B-7945-46DF-B753-C7E7A7746445}" type="parTrans" cxnId="{145076D9-D9AB-4FA3-8DF6-0B9F132DB344}">
      <dgm:prSet/>
      <dgm:spPr/>
      <dgm:t>
        <a:bodyPr/>
        <a:lstStyle/>
        <a:p>
          <a:endParaRPr lang="en-US"/>
        </a:p>
      </dgm:t>
    </dgm:pt>
    <dgm:pt modelId="{FEE0E657-A9CB-48F1-A5DC-45C11009FEF2}" type="sibTrans" cxnId="{145076D9-D9AB-4FA3-8DF6-0B9F132DB344}">
      <dgm:prSet/>
      <dgm:spPr/>
      <dgm:t>
        <a:bodyPr/>
        <a:lstStyle/>
        <a:p>
          <a:endParaRPr lang="en-US"/>
        </a:p>
      </dgm:t>
    </dgm:pt>
    <dgm:pt modelId="{BDACAC2A-C5C7-4502-9F53-EB992C3AF9E5}">
      <dgm:prSet phldrT="[Text]"/>
      <dgm:spPr/>
      <dgm:t>
        <a:bodyPr/>
        <a:lstStyle/>
        <a:p>
          <a:r>
            <a:rPr lang="en-US" dirty="0"/>
            <a:t>Server &amp; infrastructure configuration information</a:t>
          </a:r>
        </a:p>
      </dgm:t>
    </dgm:pt>
    <dgm:pt modelId="{61C90F5F-4F40-409E-A77A-8B6230DA042B}" type="parTrans" cxnId="{1C3CFB56-61E7-4723-8F93-3CD749D03033}">
      <dgm:prSet/>
      <dgm:spPr/>
      <dgm:t>
        <a:bodyPr/>
        <a:lstStyle/>
        <a:p>
          <a:endParaRPr lang="en-US"/>
        </a:p>
      </dgm:t>
    </dgm:pt>
    <dgm:pt modelId="{78F50BC7-3A45-4D28-97F4-E9399A411B2D}" type="sibTrans" cxnId="{1C3CFB56-61E7-4723-8F93-3CD749D03033}">
      <dgm:prSet/>
      <dgm:spPr/>
      <dgm:t>
        <a:bodyPr/>
        <a:lstStyle/>
        <a:p>
          <a:endParaRPr lang="en-US"/>
        </a:p>
      </dgm:t>
    </dgm:pt>
    <dgm:pt modelId="{A17AB3D1-5FE2-41EA-9B73-036084783C2F}">
      <dgm:prSet phldrT="[Text]"/>
      <dgm:spPr/>
      <dgm:t>
        <a:bodyPr/>
        <a:lstStyle/>
        <a:p>
          <a:r>
            <a:rPr lang="en-US" dirty="0"/>
            <a:t>Handbook for common knowledge in project’s business area.</a:t>
          </a:r>
        </a:p>
      </dgm:t>
    </dgm:pt>
    <dgm:pt modelId="{CDF2B66B-FBEA-4D2F-B17D-D6CC409B346D}" type="parTrans" cxnId="{6F21096C-AB9E-49E7-82F5-27B97D772EF2}">
      <dgm:prSet/>
      <dgm:spPr/>
      <dgm:t>
        <a:bodyPr/>
        <a:lstStyle/>
        <a:p>
          <a:endParaRPr lang="en-US"/>
        </a:p>
      </dgm:t>
    </dgm:pt>
    <dgm:pt modelId="{F4135001-057D-4322-8F1A-10FE1506C98D}" type="sibTrans" cxnId="{6F21096C-AB9E-49E7-82F5-27B97D772EF2}">
      <dgm:prSet/>
      <dgm:spPr/>
      <dgm:t>
        <a:bodyPr/>
        <a:lstStyle/>
        <a:p>
          <a:endParaRPr lang="en-US"/>
        </a:p>
      </dgm:t>
    </dgm:pt>
    <dgm:pt modelId="{D4EDCBD9-B1BF-4637-A0D9-358C3683B181}">
      <dgm:prSet phldrT="[Text]"/>
      <dgm:spPr/>
      <dgm:t>
        <a:bodyPr/>
        <a:lstStyle/>
        <a:p>
          <a:r>
            <a:rPr lang="en-US" dirty="0"/>
            <a:t>Official project processes</a:t>
          </a:r>
        </a:p>
      </dgm:t>
    </dgm:pt>
    <dgm:pt modelId="{3CA498BB-10CD-4DFC-B012-149DBB63B316}" type="parTrans" cxnId="{C31D3B74-94AA-4088-AC5B-94632F919EF7}">
      <dgm:prSet/>
      <dgm:spPr/>
      <dgm:t>
        <a:bodyPr/>
        <a:lstStyle/>
        <a:p>
          <a:endParaRPr lang="en-US"/>
        </a:p>
      </dgm:t>
    </dgm:pt>
    <dgm:pt modelId="{9A5A6D06-33E8-4A87-8183-DF40F2A03AA0}" type="sibTrans" cxnId="{C31D3B74-94AA-4088-AC5B-94632F919EF7}">
      <dgm:prSet/>
      <dgm:spPr/>
      <dgm:t>
        <a:bodyPr/>
        <a:lstStyle/>
        <a:p>
          <a:endParaRPr lang="en-US"/>
        </a:p>
      </dgm:t>
    </dgm:pt>
    <dgm:pt modelId="{324FB712-5442-4237-96CA-8A1168F50636}" type="pres">
      <dgm:prSet presAssocID="{DD50623B-4D50-4354-B57C-460D8A85A89A}" presName="Name0" presStyleCnt="0">
        <dgm:presLayoutVars>
          <dgm:chMax val="7"/>
          <dgm:chPref val="7"/>
          <dgm:dir/>
        </dgm:presLayoutVars>
      </dgm:prSet>
      <dgm:spPr/>
    </dgm:pt>
    <dgm:pt modelId="{FBCA160A-D1BA-43D1-B13C-D5A7D6838EF3}" type="pres">
      <dgm:prSet presAssocID="{DD50623B-4D50-4354-B57C-460D8A85A89A}" presName="Name1" presStyleCnt="0"/>
      <dgm:spPr/>
    </dgm:pt>
    <dgm:pt modelId="{52D035A9-C740-4A21-9922-E6E32E432C89}" type="pres">
      <dgm:prSet presAssocID="{DD50623B-4D50-4354-B57C-460D8A85A89A}" presName="cycle" presStyleCnt="0"/>
      <dgm:spPr/>
    </dgm:pt>
    <dgm:pt modelId="{BCF43BEF-84D2-4D2A-8E3F-412DC57E1B7F}" type="pres">
      <dgm:prSet presAssocID="{DD50623B-4D50-4354-B57C-460D8A85A89A}" presName="srcNode" presStyleLbl="node1" presStyleIdx="0" presStyleCnt="7"/>
      <dgm:spPr/>
    </dgm:pt>
    <dgm:pt modelId="{9A24B19B-CDF6-4577-80B1-6C9317EF972E}" type="pres">
      <dgm:prSet presAssocID="{DD50623B-4D50-4354-B57C-460D8A85A89A}" presName="conn" presStyleLbl="parChTrans1D2" presStyleIdx="0" presStyleCnt="1"/>
      <dgm:spPr/>
    </dgm:pt>
    <dgm:pt modelId="{1429763D-483D-42E2-AB8D-2DBCE3FA03D8}" type="pres">
      <dgm:prSet presAssocID="{DD50623B-4D50-4354-B57C-460D8A85A89A}" presName="extraNode" presStyleLbl="node1" presStyleIdx="0" presStyleCnt="7"/>
      <dgm:spPr/>
    </dgm:pt>
    <dgm:pt modelId="{048EB1C4-B58C-4B61-9012-B247EA9F4EBB}" type="pres">
      <dgm:prSet presAssocID="{DD50623B-4D50-4354-B57C-460D8A85A89A}" presName="dstNode" presStyleLbl="node1" presStyleIdx="0" presStyleCnt="7"/>
      <dgm:spPr/>
    </dgm:pt>
    <dgm:pt modelId="{5A33F94D-0718-4867-85E1-50B67C86F584}" type="pres">
      <dgm:prSet presAssocID="{8403E3A2-F52A-40A2-AF1B-9E7869905D09}" presName="text_1" presStyleLbl="node1" presStyleIdx="0" presStyleCnt="7">
        <dgm:presLayoutVars>
          <dgm:bulletEnabled val="1"/>
        </dgm:presLayoutVars>
      </dgm:prSet>
      <dgm:spPr/>
    </dgm:pt>
    <dgm:pt modelId="{8A748274-0033-4CF8-B64C-344106BE789D}" type="pres">
      <dgm:prSet presAssocID="{8403E3A2-F52A-40A2-AF1B-9E7869905D09}" presName="accent_1" presStyleCnt="0"/>
      <dgm:spPr/>
    </dgm:pt>
    <dgm:pt modelId="{8C8928A8-CBA1-48F8-B923-587985069926}" type="pres">
      <dgm:prSet presAssocID="{8403E3A2-F52A-40A2-AF1B-9E7869905D09}" presName="accentRepeatNode" presStyleLbl="solidFgAcc1" presStyleIdx="0" presStyleCnt="7"/>
      <dgm:spPr/>
    </dgm:pt>
    <dgm:pt modelId="{8DA6873C-F8EF-4D73-9A4E-6C19C3885286}" type="pres">
      <dgm:prSet presAssocID="{454ED94F-AADA-4A57-BD9A-54E0F21C5391}" presName="text_2" presStyleLbl="node1" presStyleIdx="1" presStyleCnt="7">
        <dgm:presLayoutVars>
          <dgm:bulletEnabled val="1"/>
        </dgm:presLayoutVars>
      </dgm:prSet>
      <dgm:spPr/>
    </dgm:pt>
    <dgm:pt modelId="{06E0B342-EDAF-491A-BDEC-0A35DE441030}" type="pres">
      <dgm:prSet presAssocID="{454ED94F-AADA-4A57-BD9A-54E0F21C5391}" presName="accent_2" presStyleCnt="0"/>
      <dgm:spPr/>
    </dgm:pt>
    <dgm:pt modelId="{6DB3151A-CB72-496F-8F46-1B83787AA328}" type="pres">
      <dgm:prSet presAssocID="{454ED94F-AADA-4A57-BD9A-54E0F21C5391}" presName="accentRepeatNode" presStyleLbl="solidFgAcc1" presStyleIdx="1" presStyleCnt="7"/>
      <dgm:spPr/>
    </dgm:pt>
    <dgm:pt modelId="{4C936A8E-282A-495F-BC70-56BEA91E4223}" type="pres">
      <dgm:prSet presAssocID="{D4EDCBD9-B1BF-4637-A0D9-358C3683B181}" presName="text_3" presStyleLbl="node1" presStyleIdx="2" presStyleCnt="7">
        <dgm:presLayoutVars>
          <dgm:bulletEnabled val="1"/>
        </dgm:presLayoutVars>
      </dgm:prSet>
      <dgm:spPr/>
    </dgm:pt>
    <dgm:pt modelId="{0620C7F1-937E-4E9A-993F-36927FA54E3F}" type="pres">
      <dgm:prSet presAssocID="{D4EDCBD9-B1BF-4637-A0D9-358C3683B181}" presName="accent_3" presStyleCnt="0"/>
      <dgm:spPr/>
    </dgm:pt>
    <dgm:pt modelId="{675DD51A-0EE6-45D9-A688-85DB11465306}" type="pres">
      <dgm:prSet presAssocID="{D4EDCBD9-B1BF-4637-A0D9-358C3683B181}" presName="accentRepeatNode" presStyleLbl="solidFgAcc1" presStyleIdx="2" presStyleCnt="7"/>
      <dgm:spPr/>
    </dgm:pt>
    <dgm:pt modelId="{75AA8EBB-FD8A-4F6A-BFC4-AC0D99BFF6DB}" type="pres">
      <dgm:prSet presAssocID="{4259035D-647D-4CEA-BC5D-F910DD993E75}" presName="text_4" presStyleLbl="node1" presStyleIdx="3" presStyleCnt="7">
        <dgm:presLayoutVars>
          <dgm:bulletEnabled val="1"/>
        </dgm:presLayoutVars>
      </dgm:prSet>
      <dgm:spPr/>
    </dgm:pt>
    <dgm:pt modelId="{F9C11331-7DBE-4028-A638-B64FC67013F2}" type="pres">
      <dgm:prSet presAssocID="{4259035D-647D-4CEA-BC5D-F910DD993E75}" presName="accent_4" presStyleCnt="0"/>
      <dgm:spPr/>
    </dgm:pt>
    <dgm:pt modelId="{6741F423-48BF-4AC1-BD80-A9141D380C2F}" type="pres">
      <dgm:prSet presAssocID="{4259035D-647D-4CEA-BC5D-F910DD993E75}" presName="accentRepeatNode" presStyleLbl="solidFgAcc1" presStyleIdx="3" presStyleCnt="7"/>
      <dgm:spPr/>
    </dgm:pt>
    <dgm:pt modelId="{2F76E317-39B1-4FB1-8032-00C18DC17035}" type="pres">
      <dgm:prSet presAssocID="{FEF8D6BA-49C5-4AED-A8C0-CEDDC222D2F9}" presName="text_5" presStyleLbl="node1" presStyleIdx="4" presStyleCnt="7">
        <dgm:presLayoutVars>
          <dgm:bulletEnabled val="1"/>
        </dgm:presLayoutVars>
      </dgm:prSet>
      <dgm:spPr/>
    </dgm:pt>
    <dgm:pt modelId="{AC468FCC-6199-4E7F-8342-6CE171A81AAF}" type="pres">
      <dgm:prSet presAssocID="{FEF8D6BA-49C5-4AED-A8C0-CEDDC222D2F9}" presName="accent_5" presStyleCnt="0"/>
      <dgm:spPr/>
    </dgm:pt>
    <dgm:pt modelId="{9CD9156A-5770-43BA-B9D9-DF015FF9B687}" type="pres">
      <dgm:prSet presAssocID="{FEF8D6BA-49C5-4AED-A8C0-CEDDC222D2F9}" presName="accentRepeatNode" presStyleLbl="solidFgAcc1" presStyleIdx="4" presStyleCnt="7"/>
      <dgm:spPr/>
    </dgm:pt>
    <dgm:pt modelId="{003B7932-76CF-4B20-9B57-124F0C8CF39A}" type="pres">
      <dgm:prSet presAssocID="{BDACAC2A-C5C7-4502-9F53-EB992C3AF9E5}" presName="text_6" presStyleLbl="node1" presStyleIdx="5" presStyleCnt="7">
        <dgm:presLayoutVars>
          <dgm:bulletEnabled val="1"/>
        </dgm:presLayoutVars>
      </dgm:prSet>
      <dgm:spPr/>
    </dgm:pt>
    <dgm:pt modelId="{F74A9D02-2388-463D-80A3-09CE40CB4917}" type="pres">
      <dgm:prSet presAssocID="{BDACAC2A-C5C7-4502-9F53-EB992C3AF9E5}" presName="accent_6" presStyleCnt="0"/>
      <dgm:spPr/>
    </dgm:pt>
    <dgm:pt modelId="{0EA607FB-F6D0-45B6-8FD4-07E36722F597}" type="pres">
      <dgm:prSet presAssocID="{BDACAC2A-C5C7-4502-9F53-EB992C3AF9E5}" presName="accentRepeatNode" presStyleLbl="solidFgAcc1" presStyleIdx="5" presStyleCnt="7"/>
      <dgm:spPr/>
    </dgm:pt>
    <dgm:pt modelId="{669363B0-FF19-465F-924B-CDA6B4D3D61E}" type="pres">
      <dgm:prSet presAssocID="{A17AB3D1-5FE2-41EA-9B73-036084783C2F}" presName="text_7" presStyleLbl="node1" presStyleIdx="6" presStyleCnt="7">
        <dgm:presLayoutVars>
          <dgm:bulletEnabled val="1"/>
        </dgm:presLayoutVars>
      </dgm:prSet>
      <dgm:spPr/>
    </dgm:pt>
    <dgm:pt modelId="{14C9CC89-5AB9-4AF6-B707-DFC587F5C1CE}" type="pres">
      <dgm:prSet presAssocID="{A17AB3D1-5FE2-41EA-9B73-036084783C2F}" presName="accent_7" presStyleCnt="0"/>
      <dgm:spPr/>
    </dgm:pt>
    <dgm:pt modelId="{3970847C-7956-4ABA-84D2-B34D65317F20}" type="pres">
      <dgm:prSet presAssocID="{A17AB3D1-5FE2-41EA-9B73-036084783C2F}" presName="accentRepeatNode" presStyleLbl="solidFgAcc1" presStyleIdx="6" presStyleCnt="7"/>
      <dgm:spPr/>
    </dgm:pt>
  </dgm:ptLst>
  <dgm:cxnLst>
    <dgm:cxn modelId="{2E4B7A05-9EB6-4D99-B5B1-2F9C0A21BE9E}" type="presOf" srcId="{DD50623B-4D50-4354-B57C-460D8A85A89A}" destId="{324FB712-5442-4237-96CA-8A1168F50636}" srcOrd="0" destOrd="0" presId="urn:microsoft.com/office/officeart/2008/layout/VerticalCurvedList"/>
    <dgm:cxn modelId="{2A3D8E14-7E67-44CF-96C0-C4EFD6CB5E39}" type="presOf" srcId="{FEF8D6BA-49C5-4AED-A8C0-CEDDC222D2F9}" destId="{2F76E317-39B1-4FB1-8032-00C18DC17035}" srcOrd="0" destOrd="0" presId="urn:microsoft.com/office/officeart/2008/layout/VerticalCurvedList"/>
    <dgm:cxn modelId="{9C327916-E948-4332-8CF1-2F9595D205D9}" type="presOf" srcId="{BDACAC2A-C5C7-4502-9F53-EB992C3AF9E5}" destId="{003B7932-76CF-4B20-9B57-124F0C8CF39A}" srcOrd="0" destOrd="0" presId="urn:microsoft.com/office/officeart/2008/layout/VerticalCurvedList"/>
    <dgm:cxn modelId="{6F21096C-AB9E-49E7-82F5-27B97D772EF2}" srcId="{DD50623B-4D50-4354-B57C-460D8A85A89A}" destId="{A17AB3D1-5FE2-41EA-9B73-036084783C2F}" srcOrd="6" destOrd="0" parTransId="{CDF2B66B-FBEA-4D2F-B17D-D6CC409B346D}" sibTransId="{F4135001-057D-4322-8F1A-10FE1506C98D}"/>
    <dgm:cxn modelId="{C31D3B74-94AA-4088-AC5B-94632F919EF7}" srcId="{DD50623B-4D50-4354-B57C-460D8A85A89A}" destId="{D4EDCBD9-B1BF-4637-A0D9-358C3683B181}" srcOrd="2" destOrd="0" parTransId="{3CA498BB-10CD-4DFC-B012-149DBB63B316}" sibTransId="{9A5A6D06-33E8-4A87-8183-DF40F2A03AA0}"/>
    <dgm:cxn modelId="{1C3CFB56-61E7-4723-8F93-3CD749D03033}" srcId="{DD50623B-4D50-4354-B57C-460D8A85A89A}" destId="{BDACAC2A-C5C7-4502-9F53-EB992C3AF9E5}" srcOrd="5" destOrd="0" parTransId="{61C90F5F-4F40-409E-A77A-8B6230DA042B}" sibTransId="{78F50BC7-3A45-4D28-97F4-E9399A411B2D}"/>
    <dgm:cxn modelId="{FA4DCC79-1311-4E8D-B2F4-FB3C9C00FBCE}" srcId="{DD50623B-4D50-4354-B57C-460D8A85A89A}" destId="{454ED94F-AADA-4A57-BD9A-54E0F21C5391}" srcOrd="1" destOrd="0" parTransId="{75CEB3B1-FDFD-4C4B-93F0-48A795F83B5D}" sibTransId="{6D6F44C0-CC78-4A02-99E3-2407B97C1D4D}"/>
    <dgm:cxn modelId="{215F3B7E-C32C-4253-8745-7C3ACFA64147}" type="presOf" srcId="{8403E3A2-F52A-40A2-AF1B-9E7869905D09}" destId="{5A33F94D-0718-4867-85E1-50B67C86F584}" srcOrd="0" destOrd="0" presId="urn:microsoft.com/office/officeart/2008/layout/VerticalCurvedList"/>
    <dgm:cxn modelId="{9579AF8F-93EB-4AC7-B14E-8BA8E09CF76F}" type="presOf" srcId="{4259035D-647D-4CEA-BC5D-F910DD993E75}" destId="{75AA8EBB-FD8A-4F6A-BFC4-AC0D99BFF6DB}" srcOrd="0" destOrd="0" presId="urn:microsoft.com/office/officeart/2008/layout/VerticalCurvedList"/>
    <dgm:cxn modelId="{4C4B3994-136F-4B35-9635-78D44D29D388}" type="presOf" srcId="{454ED94F-AADA-4A57-BD9A-54E0F21C5391}" destId="{8DA6873C-F8EF-4D73-9A4E-6C19C3885286}" srcOrd="0" destOrd="0" presId="urn:microsoft.com/office/officeart/2008/layout/VerticalCurvedList"/>
    <dgm:cxn modelId="{15EC14AB-6417-4ADB-84A2-EE06F90EC768}" type="presOf" srcId="{A17AB3D1-5FE2-41EA-9B73-036084783C2F}" destId="{669363B0-FF19-465F-924B-CDA6B4D3D61E}" srcOrd="0" destOrd="0" presId="urn:microsoft.com/office/officeart/2008/layout/VerticalCurvedList"/>
    <dgm:cxn modelId="{EB2544B2-B0B3-4F8E-8CF0-77F672F01CCC}" srcId="{DD50623B-4D50-4354-B57C-460D8A85A89A}" destId="{4259035D-647D-4CEA-BC5D-F910DD993E75}" srcOrd="3" destOrd="0" parTransId="{DDD27C7F-7489-403F-A49E-A3C6A4BDDC39}" sibTransId="{A06F4681-475C-4B17-86D6-44C7AE1581C8}"/>
    <dgm:cxn modelId="{C1560ABC-2003-4DF2-BA25-BD09E95FFF1F}" type="presOf" srcId="{3C2C9F4D-0E4D-4728-966F-448A27FCE4D4}" destId="{9A24B19B-CDF6-4577-80B1-6C9317EF972E}" srcOrd="0" destOrd="0" presId="urn:microsoft.com/office/officeart/2008/layout/VerticalCurvedList"/>
    <dgm:cxn modelId="{012C80D0-EF45-413C-8878-3CDC1A18C453}" type="presOf" srcId="{D4EDCBD9-B1BF-4637-A0D9-358C3683B181}" destId="{4C936A8E-282A-495F-BC70-56BEA91E4223}" srcOrd="0" destOrd="0" presId="urn:microsoft.com/office/officeart/2008/layout/VerticalCurvedList"/>
    <dgm:cxn modelId="{145076D9-D9AB-4FA3-8DF6-0B9F132DB344}" srcId="{DD50623B-4D50-4354-B57C-460D8A85A89A}" destId="{FEF8D6BA-49C5-4AED-A8C0-CEDDC222D2F9}" srcOrd="4" destOrd="0" parTransId="{ED5BE93B-7945-46DF-B753-C7E7A7746445}" sibTransId="{FEE0E657-A9CB-48F1-A5DC-45C11009FEF2}"/>
    <dgm:cxn modelId="{332047DD-FEAE-4491-B02A-E615CDD48991}" srcId="{DD50623B-4D50-4354-B57C-460D8A85A89A}" destId="{8403E3A2-F52A-40A2-AF1B-9E7869905D09}" srcOrd="0" destOrd="0" parTransId="{A06BE6DB-BDB1-4F3C-9435-8FDABB296700}" sibTransId="{3C2C9F4D-0E4D-4728-966F-448A27FCE4D4}"/>
    <dgm:cxn modelId="{0C5264DD-BAD2-4019-AF53-8D5DD116D5A2}" type="presParOf" srcId="{324FB712-5442-4237-96CA-8A1168F50636}" destId="{FBCA160A-D1BA-43D1-B13C-D5A7D6838EF3}" srcOrd="0" destOrd="0" presId="urn:microsoft.com/office/officeart/2008/layout/VerticalCurvedList"/>
    <dgm:cxn modelId="{521ED65C-E9EB-49E5-8B34-252794D018BA}" type="presParOf" srcId="{FBCA160A-D1BA-43D1-B13C-D5A7D6838EF3}" destId="{52D035A9-C740-4A21-9922-E6E32E432C89}" srcOrd="0" destOrd="0" presId="urn:microsoft.com/office/officeart/2008/layout/VerticalCurvedList"/>
    <dgm:cxn modelId="{1F68F3BA-3D85-4748-851C-0F521CF6D14E}" type="presParOf" srcId="{52D035A9-C740-4A21-9922-E6E32E432C89}" destId="{BCF43BEF-84D2-4D2A-8E3F-412DC57E1B7F}" srcOrd="0" destOrd="0" presId="urn:microsoft.com/office/officeart/2008/layout/VerticalCurvedList"/>
    <dgm:cxn modelId="{C8DEC0F1-4BCA-41F8-AF31-97930B32EA4E}" type="presParOf" srcId="{52D035A9-C740-4A21-9922-E6E32E432C89}" destId="{9A24B19B-CDF6-4577-80B1-6C9317EF972E}" srcOrd="1" destOrd="0" presId="urn:microsoft.com/office/officeart/2008/layout/VerticalCurvedList"/>
    <dgm:cxn modelId="{F5FF0DB0-540C-47CF-A0A3-4AC4284A6EF8}" type="presParOf" srcId="{52D035A9-C740-4A21-9922-E6E32E432C89}" destId="{1429763D-483D-42E2-AB8D-2DBCE3FA03D8}" srcOrd="2" destOrd="0" presId="urn:microsoft.com/office/officeart/2008/layout/VerticalCurvedList"/>
    <dgm:cxn modelId="{25107F5C-E019-45D6-8D67-B9BDEBA84551}" type="presParOf" srcId="{52D035A9-C740-4A21-9922-E6E32E432C89}" destId="{048EB1C4-B58C-4B61-9012-B247EA9F4EBB}" srcOrd="3" destOrd="0" presId="urn:microsoft.com/office/officeart/2008/layout/VerticalCurvedList"/>
    <dgm:cxn modelId="{31711492-CDE3-4088-9299-E25628B69F30}" type="presParOf" srcId="{FBCA160A-D1BA-43D1-B13C-D5A7D6838EF3}" destId="{5A33F94D-0718-4867-85E1-50B67C86F584}" srcOrd="1" destOrd="0" presId="urn:microsoft.com/office/officeart/2008/layout/VerticalCurvedList"/>
    <dgm:cxn modelId="{314D62CA-BD5E-42D1-A435-E330832C9AC4}" type="presParOf" srcId="{FBCA160A-D1BA-43D1-B13C-D5A7D6838EF3}" destId="{8A748274-0033-4CF8-B64C-344106BE789D}" srcOrd="2" destOrd="0" presId="urn:microsoft.com/office/officeart/2008/layout/VerticalCurvedList"/>
    <dgm:cxn modelId="{211783A6-C542-4BDB-A9D7-4179C892C29B}" type="presParOf" srcId="{8A748274-0033-4CF8-B64C-344106BE789D}" destId="{8C8928A8-CBA1-48F8-B923-587985069926}" srcOrd="0" destOrd="0" presId="urn:microsoft.com/office/officeart/2008/layout/VerticalCurvedList"/>
    <dgm:cxn modelId="{16C08C6A-D326-4D12-BF5F-CC377F95F34A}" type="presParOf" srcId="{FBCA160A-D1BA-43D1-B13C-D5A7D6838EF3}" destId="{8DA6873C-F8EF-4D73-9A4E-6C19C3885286}" srcOrd="3" destOrd="0" presId="urn:microsoft.com/office/officeart/2008/layout/VerticalCurvedList"/>
    <dgm:cxn modelId="{ED4909B6-607A-4E7D-9053-0C37005DD9F6}" type="presParOf" srcId="{FBCA160A-D1BA-43D1-B13C-D5A7D6838EF3}" destId="{06E0B342-EDAF-491A-BDEC-0A35DE441030}" srcOrd="4" destOrd="0" presId="urn:microsoft.com/office/officeart/2008/layout/VerticalCurvedList"/>
    <dgm:cxn modelId="{4D06C87E-C02C-4A2C-825D-45352115A5A7}" type="presParOf" srcId="{06E0B342-EDAF-491A-BDEC-0A35DE441030}" destId="{6DB3151A-CB72-496F-8F46-1B83787AA328}" srcOrd="0" destOrd="0" presId="urn:microsoft.com/office/officeart/2008/layout/VerticalCurvedList"/>
    <dgm:cxn modelId="{ED2F78CB-CD7F-4C4C-A754-E2E5AF79B4B0}" type="presParOf" srcId="{FBCA160A-D1BA-43D1-B13C-D5A7D6838EF3}" destId="{4C936A8E-282A-495F-BC70-56BEA91E4223}" srcOrd="5" destOrd="0" presId="urn:microsoft.com/office/officeart/2008/layout/VerticalCurvedList"/>
    <dgm:cxn modelId="{B940EF79-68D8-4C1D-9C73-E64433C34C74}" type="presParOf" srcId="{FBCA160A-D1BA-43D1-B13C-D5A7D6838EF3}" destId="{0620C7F1-937E-4E9A-993F-36927FA54E3F}" srcOrd="6" destOrd="0" presId="urn:microsoft.com/office/officeart/2008/layout/VerticalCurvedList"/>
    <dgm:cxn modelId="{7322F80A-4D73-4FF2-ABEC-906E41DFAFF8}" type="presParOf" srcId="{0620C7F1-937E-4E9A-993F-36927FA54E3F}" destId="{675DD51A-0EE6-45D9-A688-85DB11465306}" srcOrd="0" destOrd="0" presId="urn:microsoft.com/office/officeart/2008/layout/VerticalCurvedList"/>
    <dgm:cxn modelId="{95BCB11E-1497-4279-8377-C4365D682386}" type="presParOf" srcId="{FBCA160A-D1BA-43D1-B13C-D5A7D6838EF3}" destId="{75AA8EBB-FD8A-4F6A-BFC4-AC0D99BFF6DB}" srcOrd="7" destOrd="0" presId="urn:microsoft.com/office/officeart/2008/layout/VerticalCurvedList"/>
    <dgm:cxn modelId="{02889066-F871-4E0C-9DFD-55E18ADC9DCB}" type="presParOf" srcId="{FBCA160A-D1BA-43D1-B13C-D5A7D6838EF3}" destId="{F9C11331-7DBE-4028-A638-B64FC67013F2}" srcOrd="8" destOrd="0" presId="urn:microsoft.com/office/officeart/2008/layout/VerticalCurvedList"/>
    <dgm:cxn modelId="{14C8E606-2009-4195-83FC-4D61C32BA5D6}" type="presParOf" srcId="{F9C11331-7DBE-4028-A638-B64FC67013F2}" destId="{6741F423-48BF-4AC1-BD80-A9141D380C2F}" srcOrd="0" destOrd="0" presId="urn:microsoft.com/office/officeart/2008/layout/VerticalCurvedList"/>
    <dgm:cxn modelId="{9297AB2C-3E6A-4F98-9165-F53BA086C7F5}" type="presParOf" srcId="{FBCA160A-D1BA-43D1-B13C-D5A7D6838EF3}" destId="{2F76E317-39B1-4FB1-8032-00C18DC17035}" srcOrd="9" destOrd="0" presId="urn:microsoft.com/office/officeart/2008/layout/VerticalCurvedList"/>
    <dgm:cxn modelId="{A07829CF-67CA-42D8-8487-DF7C9643FB63}" type="presParOf" srcId="{FBCA160A-D1BA-43D1-B13C-D5A7D6838EF3}" destId="{AC468FCC-6199-4E7F-8342-6CE171A81AAF}" srcOrd="10" destOrd="0" presId="urn:microsoft.com/office/officeart/2008/layout/VerticalCurvedList"/>
    <dgm:cxn modelId="{326FD967-C547-4375-A0A8-CD7500F532E9}" type="presParOf" srcId="{AC468FCC-6199-4E7F-8342-6CE171A81AAF}" destId="{9CD9156A-5770-43BA-B9D9-DF015FF9B687}" srcOrd="0" destOrd="0" presId="urn:microsoft.com/office/officeart/2008/layout/VerticalCurvedList"/>
    <dgm:cxn modelId="{C1961796-11BC-43BC-AE75-2DBD4406FE51}" type="presParOf" srcId="{FBCA160A-D1BA-43D1-B13C-D5A7D6838EF3}" destId="{003B7932-76CF-4B20-9B57-124F0C8CF39A}" srcOrd="11" destOrd="0" presId="urn:microsoft.com/office/officeart/2008/layout/VerticalCurvedList"/>
    <dgm:cxn modelId="{D7AD7649-7A15-4DD2-99C5-6A8C0D27C9BD}" type="presParOf" srcId="{FBCA160A-D1BA-43D1-B13C-D5A7D6838EF3}" destId="{F74A9D02-2388-463D-80A3-09CE40CB4917}" srcOrd="12" destOrd="0" presId="urn:microsoft.com/office/officeart/2008/layout/VerticalCurvedList"/>
    <dgm:cxn modelId="{DBCAB2D2-6BC0-4F35-86FF-66D434AA2839}" type="presParOf" srcId="{F74A9D02-2388-463D-80A3-09CE40CB4917}" destId="{0EA607FB-F6D0-45B6-8FD4-07E36722F597}" srcOrd="0" destOrd="0" presId="urn:microsoft.com/office/officeart/2008/layout/VerticalCurvedList"/>
    <dgm:cxn modelId="{5888A5B9-8099-49C7-A934-379B4A0772FD}" type="presParOf" srcId="{FBCA160A-D1BA-43D1-B13C-D5A7D6838EF3}" destId="{669363B0-FF19-465F-924B-CDA6B4D3D61E}" srcOrd="13" destOrd="0" presId="urn:microsoft.com/office/officeart/2008/layout/VerticalCurvedList"/>
    <dgm:cxn modelId="{9C97ADEE-643A-494C-AE44-CF7F49C43E2A}" type="presParOf" srcId="{FBCA160A-D1BA-43D1-B13C-D5A7D6838EF3}" destId="{14C9CC89-5AB9-4AF6-B707-DFC587F5C1CE}" srcOrd="14" destOrd="0" presId="urn:microsoft.com/office/officeart/2008/layout/VerticalCurvedList"/>
    <dgm:cxn modelId="{0BBAEBF2-05FC-40CA-8473-2954463C472D}" type="presParOf" srcId="{14C9CC89-5AB9-4AF6-B707-DFC587F5C1CE}" destId="{3970847C-7956-4ABA-84D2-B34D65317F2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50623B-4D50-4354-B57C-460D8A85A89A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403E3A2-F52A-40A2-AF1B-9E7869905D09}">
      <dgm:prSet phldrT="[Text]" custT="1"/>
      <dgm:spPr>
        <a:xfrm>
          <a:off x="0" y="1336"/>
          <a:ext cx="5674577" cy="1136356"/>
        </a:xfrm>
        <a:prstGeom prst="roundRect">
          <a:avLst/>
        </a:prstGeom>
        <a:solidFill>
          <a:srgbClr val="46BE9C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r>
            <a:rPr lang="en-US" sz="1300" dirty="0">
              <a:solidFill>
                <a:sysClr val="window" lastClr="FFFFFF"/>
              </a:solidFill>
              <a:latin typeface="+mn-lt"/>
              <a:ea typeface="+mn-ea"/>
              <a:cs typeface="+mn-cs"/>
            </a:rPr>
            <a:t>Feature implementation process (design, coding, reviewing, Unit Test, Developer IT…)</a:t>
          </a:r>
        </a:p>
      </dgm:t>
    </dgm:pt>
    <dgm:pt modelId="{3C2C9F4D-0E4D-4728-966F-448A27FCE4D4}" type="sibTrans" cxnId="{332047DD-FEAE-4491-B02A-E615CDD48991}">
      <dgm:prSet/>
      <dgm:spPr/>
      <dgm:t>
        <a:bodyPr/>
        <a:lstStyle/>
        <a:p>
          <a:endParaRPr lang="en-US" sz="1300">
            <a:latin typeface="+mn-lt"/>
          </a:endParaRPr>
        </a:p>
      </dgm:t>
    </dgm:pt>
    <dgm:pt modelId="{A06BE6DB-BDB1-4F3C-9435-8FDABB296700}" type="parTrans" cxnId="{332047DD-FEAE-4491-B02A-E615CDD48991}">
      <dgm:prSet/>
      <dgm:spPr/>
      <dgm:t>
        <a:bodyPr/>
        <a:lstStyle/>
        <a:p>
          <a:endParaRPr lang="en-US" sz="1300">
            <a:latin typeface="+mn-lt"/>
          </a:endParaRPr>
        </a:p>
      </dgm:t>
    </dgm:pt>
    <dgm:pt modelId="{454ED94F-AADA-4A57-BD9A-54E0F21C5391}">
      <dgm:prSet phldrT="[Text]" custT="1"/>
      <dgm:spPr>
        <a:xfrm>
          <a:off x="0" y="1142748"/>
          <a:ext cx="5674577" cy="468262"/>
        </a:xfrm>
        <a:prstGeom prst="roundRect">
          <a:avLst/>
        </a:prstGeom>
        <a:solidFill>
          <a:srgbClr val="46BE9C">
            <a:hueOff val="-782318"/>
            <a:satOff val="1368"/>
            <a:lumOff val="-813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r>
            <a:rPr lang="en-US" sz="1300" dirty="0">
              <a:solidFill>
                <a:sysClr val="window" lastClr="FFFFFF"/>
              </a:solidFill>
              <a:latin typeface="+mn-lt"/>
              <a:ea typeface="+mn-ea"/>
              <a:cs typeface="+mn-cs"/>
            </a:rPr>
            <a:t>Defect logging process</a:t>
          </a:r>
        </a:p>
      </dgm:t>
    </dgm:pt>
    <dgm:pt modelId="{6D6F44C0-CC78-4A02-99E3-2407B97C1D4D}" type="sibTrans" cxnId="{FA4DCC79-1311-4E8D-B2F4-FB3C9C00FBCE}">
      <dgm:prSet/>
      <dgm:spPr/>
      <dgm:t>
        <a:bodyPr/>
        <a:lstStyle/>
        <a:p>
          <a:endParaRPr lang="en-US" sz="1300">
            <a:latin typeface="+mn-lt"/>
          </a:endParaRPr>
        </a:p>
      </dgm:t>
    </dgm:pt>
    <dgm:pt modelId="{75CEB3B1-FDFD-4C4B-93F0-48A795F83B5D}" type="parTrans" cxnId="{FA4DCC79-1311-4E8D-B2F4-FB3C9C00FBCE}">
      <dgm:prSet/>
      <dgm:spPr/>
      <dgm:t>
        <a:bodyPr/>
        <a:lstStyle/>
        <a:p>
          <a:endParaRPr lang="en-US" sz="1300">
            <a:latin typeface="+mn-lt"/>
          </a:endParaRPr>
        </a:p>
      </dgm:t>
    </dgm:pt>
    <dgm:pt modelId="{D4EDCBD9-B1BF-4637-A0D9-358C3683B181}">
      <dgm:prSet phldrT="[Text]" custT="1"/>
      <dgm:spPr>
        <a:xfrm>
          <a:off x="0" y="1616066"/>
          <a:ext cx="5674577" cy="468262"/>
        </a:xfrm>
        <a:prstGeom prst="roundRect">
          <a:avLst/>
        </a:prstGeom>
        <a:solidFill>
          <a:srgbClr val="46BE9C">
            <a:hueOff val="-1564635"/>
            <a:satOff val="2737"/>
            <a:lumOff val="-1625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r>
            <a:rPr lang="en-US" sz="1300" dirty="0">
              <a:solidFill>
                <a:sysClr val="window" lastClr="FFFFFF"/>
              </a:solidFill>
              <a:latin typeface="+mn-lt"/>
              <a:ea typeface="+mn-ea"/>
              <a:cs typeface="+mn-cs"/>
            </a:rPr>
            <a:t>Defects resolving process</a:t>
          </a:r>
        </a:p>
      </dgm:t>
    </dgm:pt>
    <dgm:pt modelId="{9A5A6D06-33E8-4A87-8183-DF40F2A03AA0}" type="sibTrans" cxnId="{C31D3B74-94AA-4088-AC5B-94632F919EF7}">
      <dgm:prSet/>
      <dgm:spPr/>
      <dgm:t>
        <a:bodyPr/>
        <a:lstStyle/>
        <a:p>
          <a:endParaRPr lang="en-US" sz="1300">
            <a:latin typeface="+mn-lt"/>
          </a:endParaRPr>
        </a:p>
      </dgm:t>
    </dgm:pt>
    <dgm:pt modelId="{3CA498BB-10CD-4DFC-B012-149DBB63B316}" type="parTrans" cxnId="{C31D3B74-94AA-4088-AC5B-94632F919EF7}">
      <dgm:prSet/>
      <dgm:spPr/>
      <dgm:t>
        <a:bodyPr/>
        <a:lstStyle/>
        <a:p>
          <a:endParaRPr lang="en-US" sz="1300">
            <a:latin typeface="+mn-lt"/>
          </a:endParaRPr>
        </a:p>
      </dgm:t>
    </dgm:pt>
    <dgm:pt modelId="{4259035D-647D-4CEA-BC5D-F910DD993E75}">
      <dgm:prSet phldrT="[Text]" custT="1"/>
      <dgm:spPr>
        <a:xfrm>
          <a:off x="0" y="2089384"/>
          <a:ext cx="5674577" cy="468262"/>
        </a:xfrm>
        <a:prstGeom prst="roundRect">
          <a:avLst/>
        </a:prstGeom>
        <a:solidFill>
          <a:srgbClr val="46BE9C">
            <a:hueOff val="-2346953"/>
            <a:satOff val="4105"/>
            <a:lumOff val="-2438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r>
            <a:rPr lang="en-US" sz="1300" dirty="0">
              <a:solidFill>
                <a:sysClr val="window" lastClr="FFFFFF"/>
              </a:solidFill>
              <a:latin typeface="+mn-lt"/>
              <a:ea typeface="+mn-ea"/>
              <a:cs typeface="+mn-cs"/>
            </a:rPr>
            <a:t>Information reporting process</a:t>
          </a:r>
        </a:p>
      </dgm:t>
    </dgm:pt>
    <dgm:pt modelId="{A06F4681-475C-4B17-86D6-44C7AE1581C8}" type="sibTrans" cxnId="{EB2544B2-B0B3-4F8E-8CF0-77F672F01CCC}">
      <dgm:prSet/>
      <dgm:spPr/>
      <dgm:t>
        <a:bodyPr/>
        <a:lstStyle/>
        <a:p>
          <a:endParaRPr lang="en-US" sz="1300">
            <a:latin typeface="+mn-lt"/>
          </a:endParaRPr>
        </a:p>
      </dgm:t>
    </dgm:pt>
    <dgm:pt modelId="{DDD27C7F-7489-403F-A49E-A3C6A4BDDC39}" type="parTrans" cxnId="{EB2544B2-B0B3-4F8E-8CF0-77F672F01CCC}">
      <dgm:prSet/>
      <dgm:spPr/>
      <dgm:t>
        <a:bodyPr/>
        <a:lstStyle/>
        <a:p>
          <a:endParaRPr lang="en-US" sz="1300">
            <a:latin typeface="+mn-lt"/>
          </a:endParaRPr>
        </a:p>
      </dgm:t>
    </dgm:pt>
    <dgm:pt modelId="{FEF8D6BA-49C5-4AED-A8C0-CEDDC222D2F9}">
      <dgm:prSet phldrT="[Text]" custT="1"/>
      <dgm:spPr>
        <a:xfrm>
          <a:off x="0" y="2562703"/>
          <a:ext cx="5674577" cy="468262"/>
        </a:xfrm>
        <a:prstGeom prst="roundRect">
          <a:avLst/>
        </a:prstGeom>
        <a:solidFill>
          <a:srgbClr val="46BE9C">
            <a:hueOff val="-3129271"/>
            <a:satOff val="5473"/>
            <a:lumOff val="-325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r>
            <a:rPr lang="en-US" sz="1300" dirty="0">
              <a:solidFill>
                <a:sysClr val="window" lastClr="FFFFFF"/>
              </a:solidFill>
              <a:latin typeface="+mn-lt"/>
              <a:ea typeface="+mn-ea"/>
              <a:cs typeface="+mn-cs"/>
            </a:rPr>
            <a:t>Communication ticket resolving process</a:t>
          </a:r>
        </a:p>
      </dgm:t>
    </dgm:pt>
    <dgm:pt modelId="{FEE0E657-A9CB-48F1-A5DC-45C11009FEF2}" type="sibTrans" cxnId="{145076D9-D9AB-4FA3-8DF6-0B9F132DB344}">
      <dgm:prSet/>
      <dgm:spPr/>
      <dgm:t>
        <a:bodyPr/>
        <a:lstStyle/>
        <a:p>
          <a:endParaRPr lang="en-US" sz="1300">
            <a:latin typeface="+mn-lt"/>
          </a:endParaRPr>
        </a:p>
      </dgm:t>
    </dgm:pt>
    <dgm:pt modelId="{ED5BE93B-7945-46DF-B753-C7E7A7746445}" type="parTrans" cxnId="{145076D9-D9AB-4FA3-8DF6-0B9F132DB344}">
      <dgm:prSet/>
      <dgm:spPr/>
      <dgm:t>
        <a:bodyPr/>
        <a:lstStyle/>
        <a:p>
          <a:endParaRPr lang="en-US" sz="1300">
            <a:latin typeface="+mn-lt"/>
          </a:endParaRPr>
        </a:p>
      </dgm:t>
    </dgm:pt>
    <dgm:pt modelId="{BDACAC2A-C5C7-4502-9F53-EB992C3AF9E5}">
      <dgm:prSet phldrT="[Text]" custT="1"/>
      <dgm:spPr>
        <a:xfrm>
          <a:off x="0" y="3036021"/>
          <a:ext cx="5674577" cy="468262"/>
        </a:xfrm>
        <a:prstGeom prst="roundRect">
          <a:avLst/>
        </a:prstGeom>
        <a:solidFill>
          <a:srgbClr val="46BE9C">
            <a:hueOff val="-3911588"/>
            <a:satOff val="6841"/>
            <a:lumOff val="-4063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r>
            <a:rPr lang="en-US" sz="1300" dirty="0">
              <a:solidFill>
                <a:sysClr val="window" lastClr="FFFFFF"/>
              </a:solidFill>
              <a:latin typeface="+mn-lt"/>
              <a:ea typeface="+mn-ea"/>
              <a:cs typeface="+mn-cs"/>
            </a:rPr>
            <a:t>Equipment import/export process</a:t>
          </a:r>
        </a:p>
      </dgm:t>
    </dgm:pt>
    <dgm:pt modelId="{78F50BC7-3A45-4D28-97F4-E9399A411B2D}" type="sibTrans" cxnId="{1C3CFB56-61E7-4723-8F93-3CD749D03033}">
      <dgm:prSet/>
      <dgm:spPr/>
      <dgm:t>
        <a:bodyPr/>
        <a:lstStyle/>
        <a:p>
          <a:endParaRPr lang="en-US" sz="1300">
            <a:latin typeface="+mn-lt"/>
          </a:endParaRPr>
        </a:p>
      </dgm:t>
    </dgm:pt>
    <dgm:pt modelId="{61C90F5F-4F40-409E-A77A-8B6230DA042B}" type="parTrans" cxnId="{1C3CFB56-61E7-4723-8F93-3CD749D03033}">
      <dgm:prSet/>
      <dgm:spPr/>
      <dgm:t>
        <a:bodyPr/>
        <a:lstStyle/>
        <a:p>
          <a:endParaRPr lang="en-US" sz="1300">
            <a:latin typeface="+mn-lt"/>
          </a:endParaRPr>
        </a:p>
      </dgm:t>
    </dgm:pt>
    <dgm:pt modelId="{A17AB3D1-5FE2-41EA-9B73-036084783C2F}">
      <dgm:prSet phldrT="[Text]" custT="1"/>
      <dgm:spPr>
        <a:xfrm>
          <a:off x="0" y="3509339"/>
          <a:ext cx="5674577" cy="468262"/>
        </a:xfrm>
        <a:prstGeom prst="roundRect">
          <a:avLst/>
        </a:prstGeom>
        <a:solidFill>
          <a:srgbClr val="46BE9C">
            <a:hueOff val="-4693906"/>
            <a:satOff val="8210"/>
            <a:lumOff val="-4875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r>
            <a:rPr lang="en-US" sz="1300" dirty="0">
              <a:solidFill>
                <a:sysClr val="window" lastClr="FFFFFF"/>
              </a:solidFill>
              <a:latin typeface="+mn-lt"/>
              <a:ea typeface="+mn-ea"/>
              <a:cs typeface="+mn-cs"/>
            </a:rPr>
            <a:t>New member training process</a:t>
          </a:r>
        </a:p>
      </dgm:t>
    </dgm:pt>
    <dgm:pt modelId="{F4135001-057D-4322-8F1A-10FE1506C98D}" type="sibTrans" cxnId="{6F21096C-AB9E-49E7-82F5-27B97D772EF2}">
      <dgm:prSet/>
      <dgm:spPr/>
      <dgm:t>
        <a:bodyPr/>
        <a:lstStyle/>
        <a:p>
          <a:endParaRPr lang="en-US" sz="1300">
            <a:latin typeface="+mn-lt"/>
          </a:endParaRPr>
        </a:p>
      </dgm:t>
    </dgm:pt>
    <dgm:pt modelId="{CDF2B66B-FBEA-4D2F-B17D-D6CC409B346D}" type="parTrans" cxnId="{6F21096C-AB9E-49E7-82F5-27B97D772EF2}">
      <dgm:prSet/>
      <dgm:spPr/>
      <dgm:t>
        <a:bodyPr/>
        <a:lstStyle/>
        <a:p>
          <a:endParaRPr lang="en-US" sz="1300">
            <a:latin typeface="+mn-lt"/>
          </a:endParaRPr>
        </a:p>
      </dgm:t>
    </dgm:pt>
    <dgm:pt modelId="{0F99225D-ADE7-42BA-8C34-45A67AE8F2DD}">
      <dgm:prSet phldrT="[Text]" custT="1"/>
      <dgm:spPr>
        <a:xfrm>
          <a:off x="0" y="3982657"/>
          <a:ext cx="5674577" cy="468262"/>
        </a:xfrm>
        <a:prstGeom prst="roundRect">
          <a:avLst/>
        </a:prstGeom>
        <a:solidFill>
          <a:srgbClr val="46BE9C">
            <a:hueOff val="-5476224"/>
            <a:satOff val="9578"/>
            <a:lumOff val="-5688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r>
            <a:rPr lang="en-US" sz="1300" dirty="0">
              <a:solidFill>
                <a:sysClr val="window" lastClr="FFFFFF"/>
              </a:solidFill>
              <a:latin typeface="+mn-lt"/>
              <a:ea typeface="+mn-ea"/>
              <a:cs typeface="+mn-cs"/>
            </a:rPr>
            <a:t>Etc…</a:t>
          </a:r>
        </a:p>
      </dgm:t>
    </dgm:pt>
    <dgm:pt modelId="{8986986E-AD20-4A7F-AA9A-33FEC1B5EF00}" type="parTrans" cxnId="{43B10E8D-2ED5-4E6C-A848-5F85E8110066}">
      <dgm:prSet/>
      <dgm:spPr/>
      <dgm:t>
        <a:bodyPr/>
        <a:lstStyle/>
        <a:p>
          <a:endParaRPr lang="en-US" sz="1300">
            <a:latin typeface="+mn-lt"/>
          </a:endParaRPr>
        </a:p>
      </dgm:t>
    </dgm:pt>
    <dgm:pt modelId="{946AF7F8-1856-4712-ADD4-07A1EE45D8C7}" type="sibTrans" cxnId="{43B10E8D-2ED5-4E6C-A848-5F85E8110066}">
      <dgm:prSet/>
      <dgm:spPr/>
      <dgm:t>
        <a:bodyPr/>
        <a:lstStyle/>
        <a:p>
          <a:endParaRPr lang="en-US" sz="1300">
            <a:latin typeface="+mn-lt"/>
          </a:endParaRPr>
        </a:p>
      </dgm:t>
    </dgm:pt>
    <dgm:pt modelId="{A8307BB0-6635-4596-9CA1-22168D6AA314}" type="pres">
      <dgm:prSet presAssocID="{DD50623B-4D50-4354-B57C-460D8A85A89A}" presName="linear" presStyleCnt="0">
        <dgm:presLayoutVars>
          <dgm:animLvl val="lvl"/>
          <dgm:resizeHandles val="exact"/>
        </dgm:presLayoutVars>
      </dgm:prSet>
      <dgm:spPr/>
    </dgm:pt>
    <dgm:pt modelId="{4FB800CE-6526-4CB3-8E0C-1397683760B2}" type="pres">
      <dgm:prSet presAssocID="{8403E3A2-F52A-40A2-AF1B-9E7869905D09}" presName="parentText" presStyleLbl="node1" presStyleIdx="0" presStyleCnt="8" custScaleY="191428">
        <dgm:presLayoutVars>
          <dgm:chMax val="0"/>
          <dgm:bulletEnabled val="1"/>
        </dgm:presLayoutVars>
      </dgm:prSet>
      <dgm:spPr/>
    </dgm:pt>
    <dgm:pt modelId="{5EC4ECCA-6638-4E26-A84A-6BA1A4723E77}" type="pres">
      <dgm:prSet presAssocID="{3C2C9F4D-0E4D-4728-966F-448A27FCE4D4}" presName="spacer" presStyleCnt="0"/>
      <dgm:spPr/>
    </dgm:pt>
    <dgm:pt modelId="{244C470D-DB8B-4338-915C-B4AA7B79DA7B}" type="pres">
      <dgm:prSet presAssocID="{454ED94F-AADA-4A57-BD9A-54E0F21C5391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04F74FA8-0B42-4707-AA20-EF98C09540F0}" type="pres">
      <dgm:prSet presAssocID="{6D6F44C0-CC78-4A02-99E3-2407B97C1D4D}" presName="spacer" presStyleCnt="0"/>
      <dgm:spPr/>
    </dgm:pt>
    <dgm:pt modelId="{A33BBCEC-2E0F-4466-95F4-9C08077EBDC0}" type="pres">
      <dgm:prSet presAssocID="{D4EDCBD9-B1BF-4637-A0D9-358C3683B181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BD87E018-A291-4509-B41E-488368D93805}" type="pres">
      <dgm:prSet presAssocID="{9A5A6D06-33E8-4A87-8183-DF40F2A03AA0}" presName="spacer" presStyleCnt="0"/>
      <dgm:spPr/>
    </dgm:pt>
    <dgm:pt modelId="{7474256F-ADA5-4370-9917-91907AC516DF}" type="pres">
      <dgm:prSet presAssocID="{4259035D-647D-4CEA-BC5D-F910DD993E75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5766C0D8-7D19-46E0-983D-3B6C05FCC02E}" type="pres">
      <dgm:prSet presAssocID="{A06F4681-475C-4B17-86D6-44C7AE1581C8}" presName="spacer" presStyleCnt="0"/>
      <dgm:spPr/>
    </dgm:pt>
    <dgm:pt modelId="{FD92D7B9-97C0-40AD-BE0B-DD7722EFC970}" type="pres">
      <dgm:prSet presAssocID="{FEF8D6BA-49C5-4AED-A8C0-CEDDC222D2F9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8F0862FF-4436-4EC6-866E-786FAE6BA1DD}" type="pres">
      <dgm:prSet presAssocID="{FEE0E657-A9CB-48F1-A5DC-45C11009FEF2}" presName="spacer" presStyleCnt="0"/>
      <dgm:spPr/>
    </dgm:pt>
    <dgm:pt modelId="{3B8D9D38-6B4C-43F8-A234-4E4F7E88F29C}" type="pres">
      <dgm:prSet presAssocID="{BDACAC2A-C5C7-4502-9F53-EB992C3AF9E5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60F7BE4D-5FF9-4F47-A3F1-971BA9C33C1D}" type="pres">
      <dgm:prSet presAssocID="{78F50BC7-3A45-4D28-97F4-E9399A411B2D}" presName="spacer" presStyleCnt="0"/>
      <dgm:spPr/>
    </dgm:pt>
    <dgm:pt modelId="{2D99F548-31A2-4E5F-82E0-3EB0E4ACEC47}" type="pres">
      <dgm:prSet presAssocID="{A17AB3D1-5FE2-41EA-9B73-036084783C2F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5CAB9EE1-4C2A-4D86-9DCB-477132121630}" type="pres">
      <dgm:prSet presAssocID="{F4135001-057D-4322-8F1A-10FE1506C98D}" presName="spacer" presStyleCnt="0"/>
      <dgm:spPr/>
    </dgm:pt>
    <dgm:pt modelId="{BB88848E-FF59-495D-84FA-7A17A4985110}" type="pres">
      <dgm:prSet presAssocID="{0F99225D-ADE7-42BA-8C34-45A67AE8F2DD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B8883909-28D1-45A2-810F-24EEF277914B}" type="presOf" srcId="{FEF8D6BA-49C5-4AED-A8C0-CEDDC222D2F9}" destId="{FD92D7B9-97C0-40AD-BE0B-DD7722EFC970}" srcOrd="0" destOrd="0" presId="urn:microsoft.com/office/officeart/2005/8/layout/vList2"/>
    <dgm:cxn modelId="{2F682829-2077-40F5-B6C6-25A2E0FCA0D5}" type="presOf" srcId="{454ED94F-AADA-4A57-BD9A-54E0F21C5391}" destId="{244C470D-DB8B-4338-915C-B4AA7B79DA7B}" srcOrd="0" destOrd="0" presId="urn:microsoft.com/office/officeart/2005/8/layout/vList2"/>
    <dgm:cxn modelId="{9F9FA461-6330-46D2-B4AF-CF1C556AD498}" type="presOf" srcId="{D4EDCBD9-B1BF-4637-A0D9-358C3683B181}" destId="{A33BBCEC-2E0F-4466-95F4-9C08077EBDC0}" srcOrd="0" destOrd="0" presId="urn:microsoft.com/office/officeart/2005/8/layout/vList2"/>
    <dgm:cxn modelId="{8CBA4544-24D1-46B6-834A-E56D4D83B2BF}" type="presOf" srcId="{8403E3A2-F52A-40A2-AF1B-9E7869905D09}" destId="{4FB800CE-6526-4CB3-8E0C-1397683760B2}" srcOrd="0" destOrd="0" presId="urn:microsoft.com/office/officeart/2005/8/layout/vList2"/>
    <dgm:cxn modelId="{13B8F049-EBF4-43BD-8408-320EEA8021A1}" type="presOf" srcId="{A17AB3D1-5FE2-41EA-9B73-036084783C2F}" destId="{2D99F548-31A2-4E5F-82E0-3EB0E4ACEC47}" srcOrd="0" destOrd="0" presId="urn:microsoft.com/office/officeart/2005/8/layout/vList2"/>
    <dgm:cxn modelId="{46521C6A-2BE2-47F7-A064-A4ED5225BFE1}" type="presOf" srcId="{4259035D-647D-4CEA-BC5D-F910DD993E75}" destId="{7474256F-ADA5-4370-9917-91907AC516DF}" srcOrd="0" destOrd="0" presId="urn:microsoft.com/office/officeart/2005/8/layout/vList2"/>
    <dgm:cxn modelId="{6F21096C-AB9E-49E7-82F5-27B97D772EF2}" srcId="{DD50623B-4D50-4354-B57C-460D8A85A89A}" destId="{A17AB3D1-5FE2-41EA-9B73-036084783C2F}" srcOrd="6" destOrd="0" parTransId="{CDF2B66B-FBEA-4D2F-B17D-D6CC409B346D}" sibTransId="{F4135001-057D-4322-8F1A-10FE1506C98D}"/>
    <dgm:cxn modelId="{C31D3B74-94AA-4088-AC5B-94632F919EF7}" srcId="{DD50623B-4D50-4354-B57C-460D8A85A89A}" destId="{D4EDCBD9-B1BF-4637-A0D9-358C3683B181}" srcOrd="2" destOrd="0" parTransId="{3CA498BB-10CD-4DFC-B012-149DBB63B316}" sibTransId="{9A5A6D06-33E8-4A87-8183-DF40F2A03AA0}"/>
    <dgm:cxn modelId="{1C3CFB56-61E7-4723-8F93-3CD749D03033}" srcId="{DD50623B-4D50-4354-B57C-460D8A85A89A}" destId="{BDACAC2A-C5C7-4502-9F53-EB992C3AF9E5}" srcOrd="5" destOrd="0" parTransId="{61C90F5F-4F40-409E-A77A-8B6230DA042B}" sibTransId="{78F50BC7-3A45-4D28-97F4-E9399A411B2D}"/>
    <dgm:cxn modelId="{FA4DCC79-1311-4E8D-B2F4-FB3C9C00FBCE}" srcId="{DD50623B-4D50-4354-B57C-460D8A85A89A}" destId="{454ED94F-AADA-4A57-BD9A-54E0F21C5391}" srcOrd="1" destOrd="0" parTransId="{75CEB3B1-FDFD-4C4B-93F0-48A795F83B5D}" sibTransId="{6D6F44C0-CC78-4A02-99E3-2407B97C1D4D}"/>
    <dgm:cxn modelId="{43B10E8D-2ED5-4E6C-A848-5F85E8110066}" srcId="{DD50623B-4D50-4354-B57C-460D8A85A89A}" destId="{0F99225D-ADE7-42BA-8C34-45A67AE8F2DD}" srcOrd="7" destOrd="0" parTransId="{8986986E-AD20-4A7F-AA9A-33FEC1B5EF00}" sibTransId="{946AF7F8-1856-4712-ADD4-07A1EE45D8C7}"/>
    <dgm:cxn modelId="{4CF5519D-B220-4890-A8A1-DB4CD5E9688C}" type="presOf" srcId="{0F99225D-ADE7-42BA-8C34-45A67AE8F2DD}" destId="{BB88848E-FF59-495D-84FA-7A17A4985110}" srcOrd="0" destOrd="0" presId="urn:microsoft.com/office/officeart/2005/8/layout/vList2"/>
    <dgm:cxn modelId="{EB2544B2-B0B3-4F8E-8CF0-77F672F01CCC}" srcId="{DD50623B-4D50-4354-B57C-460D8A85A89A}" destId="{4259035D-647D-4CEA-BC5D-F910DD993E75}" srcOrd="3" destOrd="0" parTransId="{DDD27C7F-7489-403F-A49E-A3C6A4BDDC39}" sibTransId="{A06F4681-475C-4B17-86D6-44C7AE1581C8}"/>
    <dgm:cxn modelId="{C3D065BF-C687-40EC-96EA-F9EB9A1ED56B}" type="presOf" srcId="{DD50623B-4D50-4354-B57C-460D8A85A89A}" destId="{A8307BB0-6635-4596-9CA1-22168D6AA314}" srcOrd="0" destOrd="0" presId="urn:microsoft.com/office/officeart/2005/8/layout/vList2"/>
    <dgm:cxn modelId="{E95D35C7-0B1E-4D46-BAC7-43F24DBA7552}" type="presOf" srcId="{BDACAC2A-C5C7-4502-9F53-EB992C3AF9E5}" destId="{3B8D9D38-6B4C-43F8-A234-4E4F7E88F29C}" srcOrd="0" destOrd="0" presId="urn:microsoft.com/office/officeart/2005/8/layout/vList2"/>
    <dgm:cxn modelId="{145076D9-D9AB-4FA3-8DF6-0B9F132DB344}" srcId="{DD50623B-4D50-4354-B57C-460D8A85A89A}" destId="{FEF8D6BA-49C5-4AED-A8C0-CEDDC222D2F9}" srcOrd="4" destOrd="0" parTransId="{ED5BE93B-7945-46DF-B753-C7E7A7746445}" sibTransId="{FEE0E657-A9CB-48F1-A5DC-45C11009FEF2}"/>
    <dgm:cxn modelId="{332047DD-FEAE-4491-B02A-E615CDD48991}" srcId="{DD50623B-4D50-4354-B57C-460D8A85A89A}" destId="{8403E3A2-F52A-40A2-AF1B-9E7869905D09}" srcOrd="0" destOrd="0" parTransId="{A06BE6DB-BDB1-4F3C-9435-8FDABB296700}" sibTransId="{3C2C9F4D-0E4D-4728-966F-448A27FCE4D4}"/>
    <dgm:cxn modelId="{76A3D139-82CE-41DB-83C6-B44C0C3AA7E0}" type="presParOf" srcId="{A8307BB0-6635-4596-9CA1-22168D6AA314}" destId="{4FB800CE-6526-4CB3-8E0C-1397683760B2}" srcOrd="0" destOrd="0" presId="urn:microsoft.com/office/officeart/2005/8/layout/vList2"/>
    <dgm:cxn modelId="{7E2F0D88-14FA-4E7D-BBEA-2368DC6BFE26}" type="presParOf" srcId="{A8307BB0-6635-4596-9CA1-22168D6AA314}" destId="{5EC4ECCA-6638-4E26-A84A-6BA1A4723E77}" srcOrd="1" destOrd="0" presId="urn:microsoft.com/office/officeart/2005/8/layout/vList2"/>
    <dgm:cxn modelId="{35A5118D-09DB-4992-AACE-C65D01898A18}" type="presParOf" srcId="{A8307BB0-6635-4596-9CA1-22168D6AA314}" destId="{244C470D-DB8B-4338-915C-B4AA7B79DA7B}" srcOrd="2" destOrd="0" presId="urn:microsoft.com/office/officeart/2005/8/layout/vList2"/>
    <dgm:cxn modelId="{F7B00176-3A05-4A99-88EA-2EA921E79C4B}" type="presParOf" srcId="{A8307BB0-6635-4596-9CA1-22168D6AA314}" destId="{04F74FA8-0B42-4707-AA20-EF98C09540F0}" srcOrd="3" destOrd="0" presId="urn:microsoft.com/office/officeart/2005/8/layout/vList2"/>
    <dgm:cxn modelId="{1B793F8A-6333-483E-9F9A-3B6A7B9E7ADE}" type="presParOf" srcId="{A8307BB0-6635-4596-9CA1-22168D6AA314}" destId="{A33BBCEC-2E0F-4466-95F4-9C08077EBDC0}" srcOrd="4" destOrd="0" presId="urn:microsoft.com/office/officeart/2005/8/layout/vList2"/>
    <dgm:cxn modelId="{DFF9895F-1777-4371-8C41-78929F269E70}" type="presParOf" srcId="{A8307BB0-6635-4596-9CA1-22168D6AA314}" destId="{BD87E018-A291-4509-B41E-488368D93805}" srcOrd="5" destOrd="0" presId="urn:microsoft.com/office/officeart/2005/8/layout/vList2"/>
    <dgm:cxn modelId="{5FACD6A7-D04A-4EBF-98CD-73EFB5F2FB1A}" type="presParOf" srcId="{A8307BB0-6635-4596-9CA1-22168D6AA314}" destId="{7474256F-ADA5-4370-9917-91907AC516DF}" srcOrd="6" destOrd="0" presId="urn:microsoft.com/office/officeart/2005/8/layout/vList2"/>
    <dgm:cxn modelId="{4DEC7F31-D4DB-47E4-8C1D-C9B174EF1D74}" type="presParOf" srcId="{A8307BB0-6635-4596-9CA1-22168D6AA314}" destId="{5766C0D8-7D19-46E0-983D-3B6C05FCC02E}" srcOrd="7" destOrd="0" presId="urn:microsoft.com/office/officeart/2005/8/layout/vList2"/>
    <dgm:cxn modelId="{B1D8A854-E1DE-497F-92D1-9FCAB3806663}" type="presParOf" srcId="{A8307BB0-6635-4596-9CA1-22168D6AA314}" destId="{FD92D7B9-97C0-40AD-BE0B-DD7722EFC970}" srcOrd="8" destOrd="0" presId="urn:microsoft.com/office/officeart/2005/8/layout/vList2"/>
    <dgm:cxn modelId="{F1D971D9-9D9B-4DF3-BE80-9D9930FEDF6C}" type="presParOf" srcId="{A8307BB0-6635-4596-9CA1-22168D6AA314}" destId="{8F0862FF-4436-4EC6-866E-786FAE6BA1DD}" srcOrd="9" destOrd="0" presId="urn:microsoft.com/office/officeart/2005/8/layout/vList2"/>
    <dgm:cxn modelId="{8955979A-74DF-4565-AE1C-AD45B222AC4D}" type="presParOf" srcId="{A8307BB0-6635-4596-9CA1-22168D6AA314}" destId="{3B8D9D38-6B4C-43F8-A234-4E4F7E88F29C}" srcOrd="10" destOrd="0" presId="urn:microsoft.com/office/officeart/2005/8/layout/vList2"/>
    <dgm:cxn modelId="{CE28781C-3FF4-4189-BE6A-A98FD16931CB}" type="presParOf" srcId="{A8307BB0-6635-4596-9CA1-22168D6AA314}" destId="{60F7BE4D-5FF9-4F47-A3F1-971BA9C33C1D}" srcOrd="11" destOrd="0" presId="urn:microsoft.com/office/officeart/2005/8/layout/vList2"/>
    <dgm:cxn modelId="{28A39059-B263-47AC-ACF4-2D202CA17569}" type="presParOf" srcId="{A8307BB0-6635-4596-9CA1-22168D6AA314}" destId="{2D99F548-31A2-4E5F-82E0-3EB0E4ACEC47}" srcOrd="12" destOrd="0" presId="urn:microsoft.com/office/officeart/2005/8/layout/vList2"/>
    <dgm:cxn modelId="{86952EC7-316A-4BCF-8CDC-2C348D6B6B7F}" type="presParOf" srcId="{A8307BB0-6635-4596-9CA1-22168D6AA314}" destId="{5CAB9EE1-4C2A-4D86-9DCB-477132121630}" srcOrd="13" destOrd="0" presId="urn:microsoft.com/office/officeart/2005/8/layout/vList2"/>
    <dgm:cxn modelId="{705056DB-BCA0-48B7-8ACE-80EB1F18643D}" type="presParOf" srcId="{A8307BB0-6635-4596-9CA1-22168D6AA314}" destId="{BB88848E-FF59-495D-84FA-7A17A4985110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73B6A-1A95-46B2-AF95-68FDD18AE4F2}">
      <dsp:nvSpPr>
        <dsp:cNvPr id="0" name=""/>
        <dsp:cNvSpPr/>
      </dsp:nvSpPr>
      <dsp:spPr>
        <a:xfrm>
          <a:off x="74293" y="0"/>
          <a:ext cx="1958344" cy="3916841"/>
        </a:xfrm>
        <a:prstGeom prst="triangle">
          <a:avLst/>
        </a:prstGeom>
        <a:solidFill>
          <a:srgbClr val="2F5597">
            <a:alpha val="5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C05C689-396F-49B8-95AB-EC50C4C3CDE1}">
      <dsp:nvSpPr>
        <dsp:cNvPr id="0" name=""/>
        <dsp:cNvSpPr/>
      </dsp:nvSpPr>
      <dsp:spPr>
        <a:xfrm>
          <a:off x="926196" y="669009"/>
          <a:ext cx="2736388" cy="1221657"/>
        </a:xfrm>
        <a:prstGeom prst="roundRect">
          <a:avLst/>
        </a:prstGeom>
        <a:solidFill>
          <a:srgbClr val="5ACEF9">
            <a:alpha val="90000"/>
          </a:srgbClr>
        </a:solidFill>
        <a:ln w="6350" cap="flat" cmpd="sng" algn="ctr">
          <a:solidFill>
            <a:srgbClr val="5ACEF9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Level 2: Steering Committee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Problem is at Company level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&lt;Customer&gt;</a:t>
          </a:r>
          <a:r>
            <a:rPr lang="en-US" sz="1100" kern="1200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: Project Director/Senior Manager, Project Manager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FPT</a:t>
          </a:r>
          <a:r>
            <a:rPr lang="en-US" sz="1100" kern="1200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: Project Director, Project Manager, Account Manager</a:t>
          </a:r>
        </a:p>
      </dsp:txBody>
      <dsp:txXfrm>
        <a:off x="985832" y="728645"/>
        <a:ext cx="2617116" cy="1102385"/>
      </dsp:txXfrm>
    </dsp:sp>
    <dsp:sp modelId="{BCE79840-7DEC-40CC-B187-67EF3F285AD1}">
      <dsp:nvSpPr>
        <dsp:cNvPr id="0" name=""/>
        <dsp:cNvSpPr/>
      </dsp:nvSpPr>
      <dsp:spPr>
        <a:xfrm>
          <a:off x="927597" y="2065452"/>
          <a:ext cx="2709927" cy="1380660"/>
        </a:xfrm>
        <a:prstGeom prst="roundRect">
          <a:avLst/>
        </a:prstGeom>
        <a:solidFill>
          <a:srgbClr val="C8EFFD">
            <a:alpha val="90000"/>
          </a:srgbClr>
        </a:solidFill>
        <a:ln w="6350" cap="flat" cmpd="sng" algn="ctr">
          <a:solidFill>
            <a:srgbClr val="C8EFFD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Level 1: Project Delivery (include Technical stuff)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Problem is at Project level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&lt;Customer&gt;</a:t>
          </a:r>
          <a:r>
            <a:rPr lang="en-US" sz="1100" kern="1200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: Project Manager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FPT</a:t>
          </a:r>
          <a:r>
            <a:rPr lang="en-US" sz="1100" kern="1200" dirty="0">
              <a:solidFill>
                <a:schemeClr val="tx1"/>
              </a:solidFill>
              <a:latin typeface="+mn-lt"/>
              <a:cs typeface="Segoe UI Light" panose="020B0502040204020203" pitchFamily="34" charset="0"/>
            </a:rPr>
            <a:t>: Project Manager, Delivery Manager</a:t>
          </a:r>
        </a:p>
      </dsp:txBody>
      <dsp:txXfrm>
        <a:off x="994995" y="2132850"/>
        <a:ext cx="2575131" cy="12458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24B19B-CDF6-4577-80B1-6C9317EF972E}">
      <dsp:nvSpPr>
        <dsp:cNvPr id="0" name=""/>
        <dsp:cNvSpPr/>
      </dsp:nvSpPr>
      <dsp:spPr>
        <a:xfrm>
          <a:off x="-4483907" y="-687725"/>
          <a:ext cx="5342461" cy="5342461"/>
        </a:xfrm>
        <a:prstGeom prst="blockArc">
          <a:avLst>
            <a:gd name="adj1" fmla="val 18900000"/>
            <a:gd name="adj2" fmla="val 2700000"/>
            <a:gd name="adj3" fmla="val 404"/>
          </a:avLst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33F94D-0718-4867-85E1-50B67C86F584}">
      <dsp:nvSpPr>
        <dsp:cNvPr id="0" name=""/>
        <dsp:cNvSpPr/>
      </dsp:nvSpPr>
      <dsp:spPr>
        <a:xfrm>
          <a:off x="278285" y="180340"/>
          <a:ext cx="5514086" cy="36052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164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Official documents of project (project plan, organization, management report, </a:t>
          </a:r>
          <a:r>
            <a:rPr lang="en-US" sz="1000" kern="1200" dirty="0" err="1"/>
            <a:t>etc</a:t>
          </a:r>
          <a:r>
            <a:rPr lang="en-US" sz="1000" kern="1200" dirty="0"/>
            <a:t>…)</a:t>
          </a:r>
        </a:p>
      </dsp:txBody>
      <dsp:txXfrm>
        <a:off x="278285" y="180340"/>
        <a:ext cx="5514086" cy="360521"/>
      </dsp:txXfrm>
    </dsp:sp>
    <dsp:sp modelId="{8C8928A8-CBA1-48F8-B923-587985069926}">
      <dsp:nvSpPr>
        <dsp:cNvPr id="0" name=""/>
        <dsp:cNvSpPr/>
      </dsp:nvSpPr>
      <dsp:spPr>
        <a:xfrm>
          <a:off x="52959" y="135275"/>
          <a:ext cx="450652" cy="4506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A6873C-F8EF-4D73-9A4E-6C19C3885286}">
      <dsp:nvSpPr>
        <dsp:cNvPr id="0" name=""/>
        <dsp:cNvSpPr/>
      </dsp:nvSpPr>
      <dsp:spPr>
        <a:xfrm>
          <a:off x="604770" y="721440"/>
          <a:ext cx="5187601" cy="360521"/>
        </a:xfrm>
        <a:prstGeom prst="rect">
          <a:avLst/>
        </a:prstGeom>
        <a:solidFill>
          <a:schemeClr val="accent2">
            <a:hueOff val="295216"/>
            <a:satOff val="-8274"/>
            <a:lumOff val="81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164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Official input by customer (requirement, designs, attention notes…)</a:t>
          </a:r>
        </a:p>
      </dsp:txBody>
      <dsp:txXfrm>
        <a:off x="604770" y="721440"/>
        <a:ext cx="5187601" cy="360521"/>
      </dsp:txXfrm>
    </dsp:sp>
    <dsp:sp modelId="{6DB3151A-CB72-496F-8F46-1B83787AA328}">
      <dsp:nvSpPr>
        <dsp:cNvPr id="0" name=""/>
        <dsp:cNvSpPr/>
      </dsp:nvSpPr>
      <dsp:spPr>
        <a:xfrm>
          <a:off x="379444" y="676375"/>
          <a:ext cx="450652" cy="4506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95216"/>
              <a:satOff val="-8274"/>
              <a:lumOff val="81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936A8E-282A-495F-BC70-56BEA91E4223}">
      <dsp:nvSpPr>
        <dsp:cNvPr id="0" name=""/>
        <dsp:cNvSpPr/>
      </dsp:nvSpPr>
      <dsp:spPr>
        <a:xfrm>
          <a:off x="783682" y="1262143"/>
          <a:ext cx="5008689" cy="360521"/>
        </a:xfrm>
        <a:prstGeom prst="rect">
          <a:avLst/>
        </a:prstGeom>
        <a:solidFill>
          <a:schemeClr val="accent2">
            <a:hueOff val="590432"/>
            <a:satOff val="-16549"/>
            <a:lumOff val="163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164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Official project processes</a:t>
          </a:r>
        </a:p>
      </dsp:txBody>
      <dsp:txXfrm>
        <a:off x="783682" y="1262143"/>
        <a:ext cx="5008689" cy="360521"/>
      </dsp:txXfrm>
    </dsp:sp>
    <dsp:sp modelId="{675DD51A-0EE6-45D9-A688-85DB11465306}">
      <dsp:nvSpPr>
        <dsp:cNvPr id="0" name=""/>
        <dsp:cNvSpPr/>
      </dsp:nvSpPr>
      <dsp:spPr>
        <a:xfrm>
          <a:off x="558356" y="1217078"/>
          <a:ext cx="450652" cy="4506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590432"/>
              <a:satOff val="-16549"/>
              <a:lumOff val="16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AA8EBB-FD8A-4F6A-BFC4-AC0D99BFF6DB}">
      <dsp:nvSpPr>
        <dsp:cNvPr id="0" name=""/>
        <dsp:cNvSpPr/>
      </dsp:nvSpPr>
      <dsp:spPr>
        <a:xfrm>
          <a:off x="840807" y="1803244"/>
          <a:ext cx="4951564" cy="360521"/>
        </a:xfrm>
        <a:prstGeom prst="rect">
          <a:avLst/>
        </a:prstGeom>
        <a:solidFill>
          <a:schemeClr val="accent2">
            <a:hueOff val="885648"/>
            <a:satOff val="-24823"/>
            <a:lumOff val="2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164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Official released packages &amp; it’s information (version, changelog, date…)</a:t>
          </a:r>
        </a:p>
      </dsp:txBody>
      <dsp:txXfrm>
        <a:off x="840807" y="1803244"/>
        <a:ext cx="4951564" cy="360521"/>
      </dsp:txXfrm>
    </dsp:sp>
    <dsp:sp modelId="{6741F423-48BF-4AC1-BD80-A9141D380C2F}">
      <dsp:nvSpPr>
        <dsp:cNvPr id="0" name=""/>
        <dsp:cNvSpPr/>
      </dsp:nvSpPr>
      <dsp:spPr>
        <a:xfrm>
          <a:off x="615481" y="1758178"/>
          <a:ext cx="450652" cy="4506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885648"/>
              <a:satOff val="-24823"/>
              <a:lumOff val="2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76E317-39B1-4FB1-8032-00C18DC17035}">
      <dsp:nvSpPr>
        <dsp:cNvPr id="0" name=""/>
        <dsp:cNvSpPr/>
      </dsp:nvSpPr>
      <dsp:spPr>
        <a:xfrm>
          <a:off x="783682" y="2344344"/>
          <a:ext cx="5008689" cy="360521"/>
        </a:xfrm>
        <a:prstGeom prst="rect">
          <a:avLst/>
        </a:prstGeom>
        <a:solidFill>
          <a:schemeClr val="accent2">
            <a:hueOff val="1180864"/>
            <a:satOff val="-33097"/>
            <a:lumOff val="32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164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Collaboration place of each team (daily meetings, retrospective meetings, other meeting notes…)</a:t>
          </a:r>
        </a:p>
      </dsp:txBody>
      <dsp:txXfrm>
        <a:off x="783682" y="2344344"/>
        <a:ext cx="5008689" cy="360521"/>
      </dsp:txXfrm>
    </dsp:sp>
    <dsp:sp modelId="{9CD9156A-5770-43BA-B9D9-DF015FF9B687}">
      <dsp:nvSpPr>
        <dsp:cNvPr id="0" name=""/>
        <dsp:cNvSpPr/>
      </dsp:nvSpPr>
      <dsp:spPr>
        <a:xfrm>
          <a:off x="558356" y="2299278"/>
          <a:ext cx="450652" cy="4506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180864"/>
              <a:satOff val="-33097"/>
              <a:lumOff val="326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3B7932-76CF-4B20-9B57-124F0C8CF39A}">
      <dsp:nvSpPr>
        <dsp:cNvPr id="0" name=""/>
        <dsp:cNvSpPr/>
      </dsp:nvSpPr>
      <dsp:spPr>
        <a:xfrm>
          <a:off x="604770" y="2885047"/>
          <a:ext cx="5187601" cy="360521"/>
        </a:xfrm>
        <a:prstGeom prst="rect">
          <a:avLst/>
        </a:prstGeom>
        <a:solidFill>
          <a:schemeClr val="accent2">
            <a:hueOff val="1476080"/>
            <a:satOff val="-41372"/>
            <a:lumOff val="40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164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Server &amp; infrastructure configuration information</a:t>
          </a:r>
        </a:p>
      </dsp:txBody>
      <dsp:txXfrm>
        <a:off x="604770" y="2885047"/>
        <a:ext cx="5187601" cy="360521"/>
      </dsp:txXfrm>
    </dsp:sp>
    <dsp:sp modelId="{0EA607FB-F6D0-45B6-8FD4-07E36722F597}">
      <dsp:nvSpPr>
        <dsp:cNvPr id="0" name=""/>
        <dsp:cNvSpPr/>
      </dsp:nvSpPr>
      <dsp:spPr>
        <a:xfrm>
          <a:off x="379444" y="2839982"/>
          <a:ext cx="450652" cy="4506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476080"/>
              <a:satOff val="-41372"/>
              <a:lumOff val="40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9363B0-FF19-465F-924B-CDA6B4D3D61E}">
      <dsp:nvSpPr>
        <dsp:cNvPr id="0" name=""/>
        <dsp:cNvSpPr/>
      </dsp:nvSpPr>
      <dsp:spPr>
        <a:xfrm>
          <a:off x="278285" y="3426147"/>
          <a:ext cx="5514086" cy="360521"/>
        </a:xfrm>
        <a:prstGeom prst="rect">
          <a:avLst/>
        </a:prstGeom>
        <a:solidFill>
          <a:schemeClr val="accent2">
            <a:hueOff val="1771295"/>
            <a:satOff val="-49646"/>
            <a:lumOff val="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164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Handbook for common knowledge in project’s business area.</a:t>
          </a:r>
        </a:p>
      </dsp:txBody>
      <dsp:txXfrm>
        <a:off x="278285" y="3426147"/>
        <a:ext cx="5514086" cy="360521"/>
      </dsp:txXfrm>
    </dsp:sp>
    <dsp:sp modelId="{3970847C-7956-4ABA-84D2-B34D65317F20}">
      <dsp:nvSpPr>
        <dsp:cNvPr id="0" name=""/>
        <dsp:cNvSpPr/>
      </dsp:nvSpPr>
      <dsp:spPr>
        <a:xfrm>
          <a:off x="52959" y="3381082"/>
          <a:ext cx="450652" cy="4506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771295"/>
              <a:satOff val="-49646"/>
              <a:lumOff val="4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800CE-6526-4CB3-8E0C-1397683760B2}">
      <dsp:nvSpPr>
        <dsp:cNvPr id="0" name=""/>
        <dsp:cNvSpPr/>
      </dsp:nvSpPr>
      <dsp:spPr>
        <a:xfrm>
          <a:off x="0" y="71"/>
          <a:ext cx="4899283" cy="825717"/>
        </a:xfrm>
        <a:prstGeom prst="roundRect">
          <a:avLst/>
        </a:prstGeom>
        <a:solidFill>
          <a:srgbClr val="46BE9C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ysClr val="window" lastClr="FFFFFF"/>
              </a:solidFill>
              <a:latin typeface="+mn-lt"/>
              <a:ea typeface="+mn-ea"/>
              <a:cs typeface="+mn-cs"/>
            </a:rPr>
            <a:t>Feature implementation process (design, coding, reviewing, Unit Test, Developer IT…)</a:t>
          </a:r>
        </a:p>
      </dsp:txBody>
      <dsp:txXfrm>
        <a:off x="40308" y="40379"/>
        <a:ext cx="4818667" cy="745101"/>
      </dsp:txXfrm>
    </dsp:sp>
    <dsp:sp modelId="{244C470D-DB8B-4338-915C-B4AA7B79DA7B}">
      <dsp:nvSpPr>
        <dsp:cNvPr id="0" name=""/>
        <dsp:cNvSpPr/>
      </dsp:nvSpPr>
      <dsp:spPr>
        <a:xfrm>
          <a:off x="0" y="837854"/>
          <a:ext cx="4899283" cy="431346"/>
        </a:xfrm>
        <a:prstGeom prst="roundRect">
          <a:avLst/>
        </a:prstGeom>
        <a:solidFill>
          <a:srgbClr val="46BE9C">
            <a:hueOff val="-782318"/>
            <a:satOff val="1368"/>
            <a:lumOff val="-813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ysClr val="window" lastClr="FFFFFF"/>
              </a:solidFill>
              <a:latin typeface="+mn-lt"/>
              <a:ea typeface="+mn-ea"/>
              <a:cs typeface="+mn-cs"/>
            </a:rPr>
            <a:t>Defect logging process</a:t>
          </a:r>
        </a:p>
      </dsp:txBody>
      <dsp:txXfrm>
        <a:off x="21057" y="858911"/>
        <a:ext cx="4857169" cy="389232"/>
      </dsp:txXfrm>
    </dsp:sp>
    <dsp:sp modelId="{A33BBCEC-2E0F-4466-95F4-9C08077EBDC0}">
      <dsp:nvSpPr>
        <dsp:cNvPr id="0" name=""/>
        <dsp:cNvSpPr/>
      </dsp:nvSpPr>
      <dsp:spPr>
        <a:xfrm>
          <a:off x="0" y="1281265"/>
          <a:ext cx="4899283" cy="431346"/>
        </a:xfrm>
        <a:prstGeom prst="roundRect">
          <a:avLst/>
        </a:prstGeom>
        <a:solidFill>
          <a:srgbClr val="46BE9C">
            <a:hueOff val="-1564635"/>
            <a:satOff val="2737"/>
            <a:lumOff val="-1625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ysClr val="window" lastClr="FFFFFF"/>
              </a:solidFill>
              <a:latin typeface="+mn-lt"/>
              <a:ea typeface="+mn-ea"/>
              <a:cs typeface="+mn-cs"/>
            </a:rPr>
            <a:t>Defects resolving process</a:t>
          </a:r>
        </a:p>
      </dsp:txBody>
      <dsp:txXfrm>
        <a:off x="21057" y="1302322"/>
        <a:ext cx="4857169" cy="389232"/>
      </dsp:txXfrm>
    </dsp:sp>
    <dsp:sp modelId="{7474256F-ADA5-4370-9917-91907AC516DF}">
      <dsp:nvSpPr>
        <dsp:cNvPr id="0" name=""/>
        <dsp:cNvSpPr/>
      </dsp:nvSpPr>
      <dsp:spPr>
        <a:xfrm>
          <a:off x="0" y="1724677"/>
          <a:ext cx="4899283" cy="431346"/>
        </a:xfrm>
        <a:prstGeom prst="roundRect">
          <a:avLst/>
        </a:prstGeom>
        <a:solidFill>
          <a:srgbClr val="46BE9C">
            <a:hueOff val="-2346953"/>
            <a:satOff val="4105"/>
            <a:lumOff val="-2438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ysClr val="window" lastClr="FFFFFF"/>
              </a:solidFill>
              <a:latin typeface="+mn-lt"/>
              <a:ea typeface="+mn-ea"/>
              <a:cs typeface="+mn-cs"/>
            </a:rPr>
            <a:t>Information reporting process</a:t>
          </a:r>
        </a:p>
      </dsp:txBody>
      <dsp:txXfrm>
        <a:off x="21057" y="1745734"/>
        <a:ext cx="4857169" cy="389232"/>
      </dsp:txXfrm>
    </dsp:sp>
    <dsp:sp modelId="{FD92D7B9-97C0-40AD-BE0B-DD7722EFC970}">
      <dsp:nvSpPr>
        <dsp:cNvPr id="0" name=""/>
        <dsp:cNvSpPr/>
      </dsp:nvSpPr>
      <dsp:spPr>
        <a:xfrm>
          <a:off x="0" y="2168089"/>
          <a:ext cx="4899283" cy="431346"/>
        </a:xfrm>
        <a:prstGeom prst="roundRect">
          <a:avLst/>
        </a:prstGeom>
        <a:solidFill>
          <a:srgbClr val="46BE9C">
            <a:hueOff val="-3129271"/>
            <a:satOff val="5473"/>
            <a:lumOff val="-325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ysClr val="window" lastClr="FFFFFF"/>
              </a:solidFill>
              <a:latin typeface="+mn-lt"/>
              <a:ea typeface="+mn-ea"/>
              <a:cs typeface="+mn-cs"/>
            </a:rPr>
            <a:t>Communication ticket resolving process</a:t>
          </a:r>
        </a:p>
      </dsp:txBody>
      <dsp:txXfrm>
        <a:off x="21057" y="2189146"/>
        <a:ext cx="4857169" cy="389232"/>
      </dsp:txXfrm>
    </dsp:sp>
    <dsp:sp modelId="{3B8D9D38-6B4C-43F8-A234-4E4F7E88F29C}">
      <dsp:nvSpPr>
        <dsp:cNvPr id="0" name=""/>
        <dsp:cNvSpPr/>
      </dsp:nvSpPr>
      <dsp:spPr>
        <a:xfrm>
          <a:off x="0" y="2611501"/>
          <a:ext cx="4899283" cy="431346"/>
        </a:xfrm>
        <a:prstGeom prst="roundRect">
          <a:avLst/>
        </a:prstGeom>
        <a:solidFill>
          <a:srgbClr val="46BE9C">
            <a:hueOff val="-3911588"/>
            <a:satOff val="6841"/>
            <a:lumOff val="-4063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ysClr val="window" lastClr="FFFFFF"/>
              </a:solidFill>
              <a:latin typeface="+mn-lt"/>
              <a:ea typeface="+mn-ea"/>
              <a:cs typeface="+mn-cs"/>
            </a:rPr>
            <a:t>Equipment import/export process</a:t>
          </a:r>
        </a:p>
      </dsp:txBody>
      <dsp:txXfrm>
        <a:off x="21057" y="2632558"/>
        <a:ext cx="4857169" cy="389232"/>
      </dsp:txXfrm>
    </dsp:sp>
    <dsp:sp modelId="{2D99F548-31A2-4E5F-82E0-3EB0E4ACEC47}">
      <dsp:nvSpPr>
        <dsp:cNvPr id="0" name=""/>
        <dsp:cNvSpPr/>
      </dsp:nvSpPr>
      <dsp:spPr>
        <a:xfrm>
          <a:off x="0" y="3054912"/>
          <a:ext cx="4899283" cy="431346"/>
        </a:xfrm>
        <a:prstGeom prst="roundRect">
          <a:avLst/>
        </a:prstGeom>
        <a:solidFill>
          <a:srgbClr val="46BE9C">
            <a:hueOff val="-4693906"/>
            <a:satOff val="8210"/>
            <a:lumOff val="-4875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ysClr val="window" lastClr="FFFFFF"/>
              </a:solidFill>
              <a:latin typeface="+mn-lt"/>
              <a:ea typeface="+mn-ea"/>
              <a:cs typeface="+mn-cs"/>
            </a:rPr>
            <a:t>New member training process</a:t>
          </a:r>
        </a:p>
      </dsp:txBody>
      <dsp:txXfrm>
        <a:off x="21057" y="3075969"/>
        <a:ext cx="4857169" cy="389232"/>
      </dsp:txXfrm>
    </dsp:sp>
    <dsp:sp modelId="{BB88848E-FF59-495D-84FA-7A17A4985110}">
      <dsp:nvSpPr>
        <dsp:cNvPr id="0" name=""/>
        <dsp:cNvSpPr/>
      </dsp:nvSpPr>
      <dsp:spPr>
        <a:xfrm>
          <a:off x="0" y="3498324"/>
          <a:ext cx="4899283" cy="431346"/>
        </a:xfrm>
        <a:prstGeom prst="roundRect">
          <a:avLst/>
        </a:prstGeom>
        <a:solidFill>
          <a:srgbClr val="46BE9C">
            <a:hueOff val="-5476224"/>
            <a:satOff val="9578"/>
            <a:lumOff val="-5688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ysClr val="window" lastClr="FFFFFF"/>
              </a:solidFill>
              <a:latin typeface="+mn-lt"/>
              <a:ea typeface="+mn-ea"/>
              <a:cs typeface="+mn-cs"/>
            </a:rPr>
            <a:t>Etc…</a:t>
          </a:r>
        </a:p>
      </dsp:txBody>
      <dsp:txXfrm>
        <a:off x="21057" y="3519381"/>
        <a:ext cx="4857169" cy="3892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12A2A-F338-4228-9EA2-F419D84742A2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1C05B-8EE8-4442-99E6-3E6143A9D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08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</a:t>
            </a:r>
            <a:r>
              <a:rPr lang="en-US" baseline="0" dirty="0"/>
              <a:t> &amp; domains: </a:t>
            </a:r>
            <a:r>
              <a:rPr lang="en-US" baseline="0" dirty="0" err="1"/>
              <a:t>thêm</a:t>
            </a:r>
            <a:r>
              <a:rPr lang="en-US" baseline="0" dirty="0"/>
              <a:t> </a:t>
            </a:r>
            <a:r>
              <a:rPr lang="en-US" baseline="0" dirty="0" err="1"/>
              <a:t>ví</a:t>
            </a:r>
            <a:r>
              <a:rPr lang="en-US" baseline="0" dirty="0"/>
              <a:t> </a:t>
            </a:r>
            <a:r>
              <a:rPr lang="en-US" baseline="0" dirty="0" err="1"/>
              <a:t>dụ</a:t>
            </a:r>
            <a:endParaRPr lang="en-US" baseline="0" dirty="0"/>
          </a:p>
          <a:p>
            <a:r>
              <a:rPr lang="en-US" baseline="0" dirty="0"/>
              <a:t>Challenges: </a:t>
            </a:r>
            <a:r>
              <a:rPr lang="en-US" baseline="0" dirty="0" err="1"/>
              <a:t>chỉ</a:t>
            </a:r>
            <a:r>
              <a:rPr lang="en-US" baseline="0" dirty="0"/>
              <a:t> </a:t>
            </a:r>
            <a:r>
              <a:rPr lang="en-US" baseline="0" dirty="0" err="1"/>
              <a:t>đưa</a:t>
            </a:r>
            <a:r>
              <a:rPr lang="en-US" baseline="0" dirty="0"/>
              <a:t> external factor </a:t>
            </a:r>
            <a:r>
              <a:rPr lang="en-US" baseline="0" dirty="0" err="1"/>
              <a:t>ảnh</a:t>
            </a:r>
            <a:r>
              <a:rPr lang="en-US" baseline="0" dirty="0"/>
              <a:t> </a:t>
            </a:r>
            <a:r>
              <a:rPr lang="en-US" baseline="0" dirty="0" err="1"/>
              <a:t>hưởng</a:t>
            </a:r>
            <a:r>
              <a:rPr lang="en-US" baseline="0" dirty="0"/>
              <a:t> </a:t>
            </a:r>
            <a:r>
              <a:rPr lang="en-US" baseline="0" dirty="0" err="1"/>
              <a:t>đến</a:t>
            </a:r>
            <a:r>
              <a:rPr lang="en-US" baseline="0" dirty="0"/>
              <a:t> project, </a:t>
            </a:r>
            <a:r>
              <a:rPr lang="en-US" baseline="0" dirty="0" err="1"/>
              <a:t>ko</a:t>
            </a:r>
            <a:r>
              <a:rPr lang="en-US" baseline="0" dirty="0"/>
              <a:t> mention internal: communication skill, experience of project team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B1DE8C-D7B2-4D05-9B4A-462DC818F0A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337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</a:t>
            </a:r>
            <a:r>
              <a:rPr lang="en-US" baseline="0" dirty="0"/>
              <a:t> &amp; domains: </a:t>
            </a:r>
            <a:r>
              <a:rPr lang="en-US" baseline="0" dirty="0" err="1"/>
              <a:t>thêm</a:t>
            </a:r>
            <a:r>
              <a:rPr lang="en-US" baseline="0" dirty="0"/>
              <a:t> </a:t>
            </a:r>
            <a:r>
              <a:rPr lang="en-US" baseline="0" dirty="0" err="1"/>
              <a:t>ví</a:t>
            </a:r>
            <a:r>
              <a:rPr lang="en-US" baseline="0" dirty="0"/>
              <a:t> </a:t>
            </a:r>
            <a:r>
              <a:rPr lang="en-US" baseline="0" dirty="0" err="1"/>
              <a:t>dụ</a:t>
            </a:r>
            <a:endParaRPr lang="en-US" baseline="0" dirty="0"/>
          </a:p>
          <a:p>
            <a:r>
              <a:rPr lang="en-US" baseline="0" dirty="0"/>
              <a:t>Challenges: </a:t>
            </a:r>
            <a:r>
              <a:rPr lang="en-US" baseline="0" dirty="0" err="1"/>
              <a:t>chỉ</a:t>
            </a:r>
            <a:r>
              <a:rPr lang="en-US" baseline="0" dirty="0"/>
              <a:t> </a:t>
            </a:r>
            <a:r>
              <a:rPr lang="en-US" baseline="0" dirty="0" err="1"/>
              <a:t>đưa</a:t>
            </a:r>
            <a:r>
              <a:rPr lang="en-US" baseline="0" dirty="0"/>
              <a:t> external factor </a:t>
            </a:r>
            <a:r>
              <a:rPr lang="en-US" baseline="0" dirty="0" err="1"/>
              <a:t>ảnh</a:t>
            </a:r>
            <a:r>
              <a:rPr lang="en-US" baseline="0" dirty="0"/>
              <a:t> </a:t>
            </a:r>
            <a:r>
              <a:rPr lang="en-US" baseline="0" dirty="0" err="1"/>
              <a:t>hưởng</a:t>
            </a:r>
            <a:r>
              <a:rPr lang="en-US" baseline="0" dirty="0"/>
              <a:t> </a:t>
            </a:r>
            <a:r>
              <a:rPr lang="en-US" baseline="0" dirty="0" err="1"/>
              <a:t>đến</a:t>
            </a:r>
            <a:r>
              <a:rPr lang="en-US" baseline="0" dirty="0"/>
              <a:t> project, </a:t>
            </a:r>
            <a:r>
              <a:rPr lang="en-US" baseline="0" dirty="0" err="1"/>
              <a:t>ko</a:t>
            </a:r>
            <a:r>
              <a:rPr lang="en-US" baseline="0" dirty="0"/>
              <a:t> mention internal: communication skill, experience of project team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B1DE8C-D7B2-4D05-9B4A-462DC818F0A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976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6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6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6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6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14.png"/><Relationship Id="rId4" Type="http://schemas.openxmlformats.org/officeDocument/2006/relationships/image" Target="../media/image6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16.png"/><Relationship Id="rId4" Type="http://schemas.openxmlformats.org/officeDocument/2006/relationships/image" Target="../media/image6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Relationship Id="rId3" Type="http://schemas.openxmlformats.org/officeDocument/2006/relationships/image" Target="../media/image6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<Relationship Id="rId3" Type="http://schemas.openxmlformats.org/officeDocument/2006/relationships/image" Target="../media/image14.png"/><Relationship Id="rId4" Type="http://schemas.openxmlformats.org/officeDocument/2006/relationships/image" Target="../media/image19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HM Slid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B718781-064A-FC42-8C5C-7A415C793B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89327" y="5233549"/>
            <a:ext cx="8705652" cy="510023"/>
          </a:xfrm>
        </p:spPr>
        <p:txBody>
          <a:bodyPr>
            <a:noAutofit/>
          </a:bodyPr>
          <a:lstStyle>
            <a:lvl1pPr marL="0" indent="0">
              <a:buNone/>
              <a:defRPr sz="4000" b="1" i="0">
                <a:solidFill>
                  <a:srgbClr val="FF761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MAIN TITLE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EE07582-AEE0-0348-B783-8FF5424191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89327" y="4584227"/>
            <a:ext cx="8705652" cy="510023"/>
          </a:xfrm>
        </p:spPr>
        <p:txBody>
          <a:bodyPr>
            <a:noAutofit/>
          </a:bodyPr>
          <a:lstStyle>
            <a:lvl1pPr marL="0" indent="0">
              <a:buNone/>
              <a:defRPr sz="3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77C22AD-ADAF-7F4C-9625-3A35D1ABFF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84781" y="6024963"/>
            <a:ext cx="2593873" cy="309555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CAA3BE5-6F63-544E-A2A3-484C4169F0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78654" y="6038188"/>
            <a:ext cx="2593873" cy="309555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8"/>
            <a:ext cx="12234996" cy="685493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1E99420-D05E-384A-8916-A0BCBBAB5A6B}"/>
              </a:ext>
            </a:extLst>
          </p:cNvPr>
          <p:cNvSpPr txBox="1"/>
          <p:nvPr userDrawn="1"/>
        </p:nvSpPr>
        <p:spPr>
          <a:xfrm>
            <a:off x="139745" y="6534191"/>
            <a:ext cx="4115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© Copyright by FPT Software </a:t>
            </a:r>
          </a:p>
        </p:txBody>
      </p:sp>
    </p:spTree>
    <p:extLst>
      <p:ext uri="{BB962C8B-B14F-4D97-AF65-F5344CB8AC3E}">
        <p14:creationId xmlns:p14="http://schemas.microsoft.com/office/powerpoint/2010/main" val="2628691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Lef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F11073-6A85-45AE-9246-B5725A4E0DF1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0" y="0"/>
            <a:ext cx="4614042" cy="6875462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Text Placeholder 47"/>
          <p:cNvSpPr>
            <a:spLocks noGrp="1"/>
          </p:cNvSpPr>
          <p:nvPr>
            <p:ph type="body" sz="quarter" idx="41" hasCustomPrompt="1"/>
          </p:nvPr>
        </p:nvSpPr>
        <p:spPr>
          <a:xfrm>
            <a:off x="4999505" y="308307"/>
            <a:ext cx="5156791" cy="488950"/>
          </a:xfrm>
        </p:spPr>
        <p:txBody>
          <a:bodyPr anchor="ctr">
            <a:noAutofit/>
          </a:bodyPr>
          <a:lstStyle>
            <a:lvl1pPr marL="0" indent="0" algn="just">
              <a:buNone/>
              <a:defRPr sz="3000" b="1" baseline="0">
                <a:solidFill>
                  <a:srgbClr val="012A7F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17" name="Text Placeholder 25"/>
          <p:cNvSpPr>
            <a:spLocks noGrp="1"/>
          </p:cNvSpPr>
          <p:nvPr>
            <p:ph type="body" sz="quarter" idx="12" hasCustomPrompt="1"/>
          </p:nvPr>
        </p:nvSpPr>
        <p:spPr>
          <a:xfrm>
            <a:off x="6040193" y="856152"/>
            <a:ext cx="4839975" cy="822960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2200" b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5pPr>
          </a:lstStyle>
          <a:p>
            <a:pPr lvl="0"/>
            <a:r>
              <a:rPr lang="en-US" dirty="0"/>
              <a:t>Agenda 1</a:t>
            </a:r>
          </a:p>
        </p:txBody>
      </p:sp>
      <p:sp>
        <p:nvSpPr>
          <p:cNvPr id="38" name="Text Placeholder 25"/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6040193" y="1853216"/>
            <a:ext cx="4844335" cy="822960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2200" b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dirty="0"/>
              <a:t>Agenda 2</a:t>
            </a:r>
          </a:p>
        </p:txBody>
      </p:sp>
      <p:sp>
        <p:nvSpPr>
          <p:cNvPr id="39" name="Text Placeholder 25"/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6040193" y="2850280"/>
            <a:ext cx="4839975" cy="822960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2200" b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5pPr>
          </a:lstStyle>
          <a:p>
            <a:pPr lvl="0"/>
            <a:r>
              <a:rPr lang="en-US" dirty="0"/>
              <a:t>Agenda 3</a:t>
            </a:r>
          </a:p>
        </p:txBody>
      </p:sp>
      <p:sp>
        <p:nvSpPr>
          <p:cNvPr id="40" name="Text Placeholder 25"/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6040193" y="4734378"/>
            <a:ext cx="4839975" cy="822960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2200" b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5pPr>
          </a:lstStyle>
          <a:p>
            <a:pPr lvl="0"/>
            <a:r>
              <a:rPr lang="en-US" dirty="0"/>
              <a:t>Agenda 5</a:t>
            </a:r>
          </a:p>
        </p:txBody>
      </p:sp>
      <p:sp>
        <p:nvSpPr>
          <p:cNvPr id="41" name="Text Placeholder 25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6040193" y="5726733"/>
            <a:ext cx="4839975" cy="822960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2200" b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5pPr>
          </a:lstStyle>
          <a:p>
            <a:pPr lvl="0"/>
            <a:r>
              <a:rPr lang="en-US" dirty="0"/>
              <a:t>Agenda 6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64286CC-AB62-4EA2-88A5-B5989094F8FD}"/>
              </a:ext>
            </a:extLst>
          </p:cNvPr>
          <p:cNvCxnSpPr/>
          <p:nvPr userDrawn="1"/>
        </p:nvCxnSpPr>
        <p:spPr>
          <a:xfrm>
            <a:off x="4918847" y="308307"/>
            <a:ext cx="0" cy="488950"/>
          </a:xfrm>
          <a:prstGeom prst="line">
            <a:avLst/>
          </a:prstGeom>
          <a:ln w="57150">
            <a:solidFill>
              <a:srgbClr val="012A7F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0" name="Text Placeholder 25">
            <a:extLst>
              <a:ext uri="{FF2B5EF4-FFF2-40B4-BE49-F238E27FC236}">
                <a16:creationId xmlns:a16="http://schemas.microsoft.com/office/drawing/2014/main" id="{D7E1D9AD-1F87-48A4-9F1A-612DCBF6FD10}"/>
              </a:ext>
            </a:extLst>
          </p:cNvPr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6040193" y="3786141"/>
            <a:ext cx="4839975" cy="822960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2200" b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  <a:latin typeface="Robocon"/>
              </a:defRPr>
            </a:lvl5pPr>
          </a:lstStyle>
          <a:p>
            <a:pPr lvl="0"/>
            <a:r>
              <a:rPr lang="en-US" dirty="0"/>
              <a:t>Agenda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E99420-D05E-384A-8916-A0BCBBAB5A6B}"/>
              </a:ext>
            </a:extLst>
          </p:cNvPr>
          <p:cNvSpPr txBox="1"/>
          <p:nvPr userDrawn="1"/>
        </p:nvSpPr>
        <p:spPr>
          <a:xfrm>
            <a:off x="139745" y="6534191"/>
            <a:ext cx="4115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1BFB5"/>
                </a:solidFill>
              </a:rPr>
              <a:t>© Copyright by FPT Software </a:t>
            </a:r>
          </a:p>
        </p:txBody>
      </p:sp>
      <p:sp>
        <p:nvSpPr>
          <p:cNvPr id="12" name="Slide Number Placeholder 20">
            <a:extLst>
              <a:ext uri="{FF2B5EF4-FFF2-40B4-BE49-F238E27FC236}">
                <a16:creationId xmlns:a16="http://schemas.microsoft.com/office/drawing/2014/main" id="{773EDB49-4969-4F63-9886-42CCEFDEE3AC}"/>
              </a:ext>
            </a:extLst>
          </p:cNvPr>
          <p:cNvSpPr txBox="1">
            <a:spLocks/>
          </p:cNvSpPr>
          <p:nvPr userDrawn="1"/>
        </p:nvSpPr>
        <p:spPr>
          <a:xfrm>
            <a:off x="11730567" y="6578600"/>
            <a:ext cx="461432" cy="228600"/>
          </a:xfrm>
          <a:prstGeom prst="rect">
            <a:avLst/>
          </a:prstGeom>
          <a:solidFill>
            <a:srgbClr val="012A7F"/>
          </a:solidFill>
          <a:ln w="19050" cap="flat" cmpd="sng" algn="ctr">
            <a:noFill/>
            <a:prstDash val="solid"/>
            <a:miter lim="800000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100" b="1" kern="120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D07097-456B-4103-BC63-2689E0762910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84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HM Slide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5EFD12-2F3D-1E4E-A5C2-0B23FFC3C0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1449" y="0"/>
            <a:ext cx="8710551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E99420-D05E-384A-8916-A0BCBBAB5A6B}"/>
              </a:ext>
            </a:extLst>
          </p:cNvPr>
          <p:cNvSpPr txBox="1"/>
          <p:nvPr userDrawn="1"/>
        </p:nvSpPr>
        <p:spPr>
          <a:xfrm>
            <a:off x="139745" y="6534191"/>
            <a:ext cx="4115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1BFB5"/>
                </a:solidFill>
              </a:rPr>
              <a:t>© Copyright by FPT Software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5EA24-329A-E24B-B7D2-3A0D8E6DDF82}"/>
              </a:ext>
            </a:extLst>
          </p:cNvPr>
          <p:cNvSpPr txBox="1"/>
          <p:nvPr userDrawn="1"/>
        </p:nvSpPr>
        <p:spPr>
          <a:xfrm>
            <a:off x="11456016" y="6536870"/>
            <a:ext cx="541028" cy="2743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97050D4C-9E5C-3047-95DB-02B67EC7254D}" type="slidenum">
              <a:rPr lang="en-US" sz="1200" smtClean="0">
                <a:solidFill>
                  <a:srgbClr val="C1BFB5"/>
                </a:solidFill>
              </a:rPr>
              <a:pPr algn="r"/>
              <a:t>‹#›</a:t>
            </a:fld>
            <a:endParaRPr lang="en-US" sz="1200" dirty="0">
              <a:solidFill>
                <a:srgbClr val="C1BFB5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8631" y="0"/>
            <a:ext cx="1096067" cy="81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151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HM Slide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6EE971-A1EE-2A46-8899-6DAF23FAAF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380" t="17755" r="10522" b="3541"/>
          <a:stretch/>
        </p:blipFill>
        <p:spPr>
          <a:xfrm>
            <a:off x="-685800" y="0"/>
            <a:ext cx="8143239" cy="5816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E99420-D05E-384A-8916-A0BCBBAB5A6B}"/>
              </a:ext>
            </a:extLst>
          </p:cNvPr>
          <p:cNvSpPr txBox="1"/>
          <p:nvPr userDrawn="1"/>
        </p:nvSpPr>
        <p:spPr>
          <a:xfrm>
            <a:off x="139745" y="6534191"/>
            <a:ext cx="4115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1BFB5"/>
                </a:solidFill>
              </a:rPr>
              <a:t>© Copyright by FPT Software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25EA24-329A-E24B-B7D2-3A0D8E6DDF82}"/>
              </a:ext>
            </a:extLst>
          </p:cNvPr>
          <p:cNvSpPr txBox="1"/>
          <p:nvPr userDrawn="1"/>
        </p:nvSpPr>
        <p:spPr>
          <a:xfrm>
            <a:off x="11456016" y="6536870"/>
            <a:ext cx="541028" cy="2743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97050D4C-9E5C-3047-95DB-02B67EC7254D}" type="slidenum">
              <a:rPr lang="en-US" sz="1200" smtClean="0">
                <a:solidFill>
                  <a:srgbClr val="C1BFB5"/>
                </a:solidFill>
              </a:rPr>
              <a:pPr algn="r"/>
              <a:t>‹#›</a:t>
            </a:fld>
            <a:endParaRPr lang="en-US" sz="1200" dirty="0">
              <a:solidFill>
                <a:srgbClr val="C1BFB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1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HM Style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9C77B14-20A1-4944-8312-3DB08415C7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76"/>
            <a:ext cx="12193588" cy="6853248"/>
          </a:xfrm>
          <a:prstGeom prst="rect">
            <a:avLst/>
          </a:prstGeom>
        </p:spPr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D4E260F-CD44-4641-AA7C-136C161022E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34666" y="1752584"/>
            <a:ext cx="5421348" cy="1523999"/>
          </a:xfrm>
          <a:solidFill>
            <a:srgbClr val="FF7600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1335387-CBCD-0242-BE77-D24F6F95AB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921" t="32343" r="31921" b="32343"/>
          <a:stretch/>
        </p:blipFill>
        <p:spPr>
          <a:xfrm>
            <a:off x="11310626" y="76200"/>
            <a:ext cx="739700" cy="512588"/>
          </a:xfrm>
          <a:prstGeom prst="rect">
            <a:avLst/>
          </a:prstGeom>
          <a:effectLst/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B9FC0A1-B9C3-804B-8496-0E586CE145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11014" y="2004019"/>
            <a:ext cx="3250407" cy="1080873"/>
          </a:xfrm>
        </p:spPr>
        <p:txBody>
          <a:bodyPr wrap="square" anchor="ctr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000" b="1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TITLE LINE 1</a:t>
            </a:r>
          </a:p>
          <a:p>
            <a:pPr lvl="0"/>
            <a:r>
              <a:rPr lang="en-US" dirty="0"/>
              <a:t>LINE 2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C8FFECBD-67C9-9445-A3A9-65B2B8E9DA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1422" y="1993670"/>
            <a:ext cx="1797757" cy="1282915"/>
          </a:xfrm>
        </p:spPr>
        <p:txBody>
          <a:bodyPr wrap="square" anchor="t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9600" b="0">
                <a:solidFill>
                  <a:schemeClr val="bg1">
                    <a:alpha val="34000"/>
                  </a:schemeClr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sz="9600" spc="-133" dirty="0">
                <a:solidFill>
                  <a:schemeClr val="bg1">
                    <a:alpha val="34000"/>
                  </a:schemeClr>
                </a:solidFill>
                <a:latin typeface="Montserrat" pitchFamily="2" charset="77"/>
              </a:rPr>
              <a:t>01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E99420-D05E-384A-8916-A0BCBBAB5A6B}"/>
              </a:ext>
            </a:extLst>
          </p:cNvPr>
          <p:cNvSpPr txBox="1"/>
          <p:nvPr userDrawn="1"/>
        </p:nvSpPr>
        <p:spPr>
          <a:xfrm>
            <a:off x="139745" y="6534191"/>
            <a:ext cx="4115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© Copyright by FPT Software </a:t>
            </a:r>
          </a:p>
        </p:txBody>
      </p:sp>
    </p:spTree>
    <p:extLst>
      <p:ext uri="{BB962C8B-B14F-4D97-AF65-F5344CB8AC3E}">
        <p14:creationId xmlns:p14="http://schemas.microsoft.com/office/powerpoint/2010/main" val="3096222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>
            <a:off x="635700" y="308307"/>
            <a:ext cx="0" cy="488950"/>
          </a:xfrm>
          <a:prstGeom prst="line">
            <a:avLst/>
          </a:prstGeom>
          <a:ln w="57150">
            <a:solidFill>
              <a:srgbClr val="012A7F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3" name="Text Placeholder 47"/>
          <p:cNvSpPr>
            <a:spLocks noGrp="1"/>
          </p:cNvSpPr>
          <p:nvPr>
            <p:ph type="body" sz="quarter" idx="16" hasCustomPrompt="1"/>
          </p:nvPr>
        </p:nvSpPr>
        <p:spPr>
          <a:xfrm>
            <a:off x="731521" y="308307"/>
            <a:ext cx="10024436" cy="488950"/>
          </a:xfrm>
        </p:spPr>
        <p:txBody>
          <a:bodyPr anchor="ctr">
            <a:noAutofit/>
          </a:bodyPr>
          <a:lstStyle>
            <a:lvl1pPr marL="0" indent="0">
              <a:buNone/>
              <a:defRPr sz="3000" b="1" baseline="0">
                <a:solidFill>
                  <a:srgbClr val="012A7F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 Description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0" hasCustomPrompt="1"/>
          </p:nvPr>
        </p:nvSpPr>
        <p:spPr>
          <a:xfrm>
            <a:off x="731521" y="957263"/>
            <a:ext cx="10023792" cy="630959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2"/>
                </a:solidFill>
                <a:latin typeface="Aileron Heavy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Content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A38FBA-C69D-430C-BA04-C79D7967818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31522" y="1773935"/>
            <a:ext cx="10023792" cy="4648699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99420-D05E-384A-8916-A0BCBBAB5A6B}"/>
              </a:ext>
            </a:extLst>
          </p:cNvPr>
          <p:cNvSpPr txBox="1"/>
          <p:nvPr userDrawn="1"/>
        </p:nvSpPr>
        <p:spPr>
          <a:xfrm>
            <a:off x="139745" y="6534191"/>
            <a:ext cx="4115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1BFB5"/>
                </a:solidFill>
              </a:rPr>
              <a:t>© Copyright by FPT Software </a:t>
            </a:r>
          </a:p>
        </p:txBody>
      </p:sp>
      <p:sp>
        <p:nvSpPr>
          <p:cNvPr id="9" name="Slide Number Placeholder 20">
            <a:extLst>
              <a:ext uri="{FF2B5EF4-FFF2-40B4-BE49-F238E27FC236}">
                <a16:creationId xmlns:a16="http://schemas.microsoft.com/office/drawing/2014/main" id="{773EDB49-4969-4F63-9886-42CCEFDEE3AC}"/>
              </a:ext>
            </a:extLst>
          </p:cNvPr>
          <p:cNvSpPr txBox="1">
            <a:spLocks/>
          </p:cNvSpPr>
          <p:nvPr userDrawn="1"/>
        </p:nvSpPr>
        <p:spPr>
          <a:xfrm>
            <a:off x="11730567" y="6578600"/>
            <a:ext cx="461432" cy="228600"/>
          </a:xfrm>
          <a:prstGeom prst="rect">
            <a:avLst/>
          </a:prstGeom>
          <a:solidFill>
            <a:srgbClr val="012A7F"/>
          </a:solidFill>
          <a:ln w="19050" cap="flat" cmpd="sng" algn="ctr">
            <a:noFill/>
            <a:prstDash val="solid"/>
            <a:miter lim="800000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100" b="1" kern="120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D07097-456B-4103-BC63-2689E0762910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90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HM Sl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7F2395-C6D7-A74D-A369-BF21E2D0C0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511"/>
          <a:stretch/>
        </p:blipFill>
        <p:spPr>
          <a:xfrm>
            <a:off x="0" y="0"/>
            <a:ext cx="12192000" cy="1221508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584E4-8D46-494D-A732-B4A9F2B915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2194" y="326243"/>
            <a:ext cx="10066081" cy="507831"/>
          </a:xfrm>
        </p:spPr>
        <p:txBody>
          <a:bodyPr wrap="square" anchor="ctr">
            <a:spAutoFit/>
          </a:bodyPr>
          <a:lstStyle>
            <a:lvl1pPr marL="0" indent="0">
              <a:buNone/>
              <a:defRPr sz="3000" b="1">
                <a:solidFill>
                  <a:srgbClr val="2F559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here to add title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6D459C-13D9-DF4C-A6CA-665EE3FD825D}"/>
              </a:ext>
            </a:extLst>
          </p:cNvPr>
          <p:cNvSpPr/>
          <p:nvPr userDrawn="1"/>
        </p:nvSpPr>
        <p:spPr>
          <a:xfrm flipH="1">
            <a:off x="646475" y="337842"/>
            <a:ext cx="45719" cy="45640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8631" y="0"/>
            <a:ext cx="1096067" cy="8102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E99420-D05E-384A-8916-A0BCBBAB5A6B}"/>
              </a:ext>
            </a:extLst>
          </p:cNvPr>
          <p:cNvSpPr txBox="1"/>
          <p:nvPr userDrawn="1"/>
        </p:nvSpPr>
        <p:spPr>
          <a:xfrm>
            <a:off x="139745" y="6534191"/>
            <a:ext cx="4115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1BFB5"/>
                </a:solidFill>
              </a:rPr>
              <a:t>© Copyright by FPT Software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5EA24-329A-E24B-B7D2-3A0D8E6DDF82}"/>
              </a:ext>
            </a:extLst>
          </p:cNvPr>
          <p:cNvSpPr txBox="1"/>
          <p:nvPr userDrawn="1"/>
        </p:nvSpPr>
        <p:spPr>
          <a:xfrm>
            <a:off x="11456016" y="6536870"/>
            <a:ext cx="541028" cy="2743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97050D4C-9E5C-3047-95DB-02B67EC7254D}" type="slidenum">
              <a:rPr lang="en-US" sz="1200" smtClean="0">
                <a:solidFill>
                  <a:srgbClr val="C1BFB5"/>
                </a:solidFill>
              </a:rPr>
              <a:pPr algn="r"/>
              <a:t>‹#›</a:t>
            </a:fld>
            <a:endParaRPr lang="en-US" sz="1200" dirty="0">
              <a:solidFill>
                <a:srgbClr val="C1BFB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525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HM Style Header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486522-7146-F24F-ACCB-65B99180DA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4B34640E-1FB5-FE48-A1C9-19A0A84621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18250" y="1429810"/>
            <a:ext cx="5999617" cy="1523999"/>
          </a:xfrm>
          <a:solidFill>
            <a:srgbClr val="FF7600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1F8C97C0-392F-0749-89F0-FBD87E07C1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94597" y="1680646"/>
            <a:ext cx="3831359" cy="1078992"/>
          </a:xfrm>
        </p:spPr>
        <p:txBody>
          <a:bodyPr wrap="square" anchor="ctr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000" b="1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TITLE LINE 1</a:t>
            </a:r>
          </a:p>
          <a:p>
            <a:pPr lvl="0"/>
            <a:r>
              <a:rPr lang="en-US" dirty="0"/>
              <a:t>LINE 2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6D854DFD-5076-BB40-A67F-74641404D4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5006" y="1669356"/>
            <a:ext cx="1797757" cy="1282915"/>
          </a:xfrm>
        </p:spPr>
        <p:txBody>
          <a:bodyPr wrap="square" anchor="t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9600" b="0">
                <a:solidFill>
                  <a:schemeClr val="bg1">
                    <a:alpha val="34000"/>
                  </a:schemeClr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sz="9600" spc="-133" dirty="0">
                <a:solidFill>
                  <a:schemeClr val="bg1">
                    <a:alpha val="34000"/>
                  </a:schemeClr>
                </a:solidFill>
                <a:latin typeface="Montserrat" pitchFamily="2" charset="77"/>
              </a:rPr>
              <a:t>01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335387-CBCD-0242-BE77-D24F6F95AB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921" t="32343" r="31921" b="32343"/>
          <a:stretch/>
        </p:blipFill>
        <p:spPr>
          <a:xfrm>
            <a:off x="11310626" y="76200"/>
            <a:ext cx="739700" cy="512588"/>
          </a:xfrm>
          <a:prstGeom prst="rect">
            <a:avLst/>
          </a:prstGeom>
          <a:effectLst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1E99420-D05E-384A-8916-A0BCBBAB5A6B}"/>
              </a:ext>
            </a:extLst>
          </p:cNvPr>
          <p:cNvSpPr txBox="1"/>
          <p:nvPr userDrawn="1"/>
        </p:nvSpPr>
        <p:spPr>
          <a:xfrm>
            <a:off x="139745" y="6534191"/>
            <a:ext cx="4115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© Copyright by FPT Software </a:t>
            </a:r>
          </a:p>
        </p:txBody>
      </p:sp>
    </p:spTree>
    <p:extLst>
      <p:ext uri="{BB962C8B-B14F-4D97-AF65-F5344CB8AC3E}">
        <p14:creationId xmlns:p14="http://schemas.microsoft.com/office/powerpoint/2010/main" val="2773819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HM Slide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04D780-15AA-BD4A-B086-BC2E90EC07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09606" y="0"/>
            <a:ext cx="5182394" cy="68580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C7D00753-94E9-F446-9CE6-ACED9C3489B8}"/>
              </a:ext>
            </a:extLst>
          </p:cNvPr>
          <p:cNvSpPr txBox="1">
            <a:spLocks/>
          </p:cNvSpPr>
          <p:nvPr userDrawn="1"/>
        </p:nvSpPr>
        <p:spPr>
          <a:xfrm>
            <a:off x="722675" y="3429000"/>
            <a:ext cx="3176225" cy="74269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GT America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GT America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GT America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T America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T America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75000"/>
              </a:lnSpc>
              <a:spcBef>
                <a:spcPts val="0"/>
              </a:spcBef>
              <a:buNone/>
            </a:pPr>
            <a:r>
              <a:rPr lang="en-US" sz="5400" b="1" i="0" spc="-300" dirty="0">
                <a:solidFill>
                  <a:srgbClr val="2F559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Question?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5" y="2320290"/>
            <a:ext cx="2839806" cy="9830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335387-CBCD-0242-BE77-D24F6F95AB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921" t="32343" r="31921" b="32343"/>
          <a:stretch/>
        </p:blipFill>
        <p:spPr>
          <a:xfrm>
            <a:off x="11310626" y="76200"/>
            <a:ext cx="739700" cy="512588"/>
          </a:xfrm>
          <a:prstGeom prst="rect">
            <a:avLst/>
          </a:prstGeom>
          <a:effectLst/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1E99420-D05E-384A-8916-A0BCBBAB5A6B}"/>
              </a:ext>
            </a:extLst>
          </p:cNvPr>
          <p:cNvSpPr txBox="1"/>
          <p:nvPr userDrawn="1"/>
        </p:nvSpPr>
        <p:spPr>
          <a:xfrm>
            <a:off x="139745" y="6534191"/>
            <a:ext cx="4115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1BFB5"/>
                </a:solidFill>
              </a:rPr>
              <a:t>© Copyright by FPT Software </a:t>
            </a:r>
          </a:p>
        </p:txBody>
      </p:sp>
    </p:spTree>
    <p:extLst>
      <p:ext uri="{BB962C8B-B14F-4D97-AF65-F5344CB8AC3E}">
        <p14:creationId xmlns:p14="http://schemas.microsoft.com/office/powerpoint/2010/main" val="319073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HM Style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ADBC8E3-80D2-BF47-A52D-DA2D6A77F0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794" cy="6858000"/>
          </a:xfrm>
          <a:prstGeom prst="rect">
            <a:avLst/>
          </a:prstGeom>
        </p:spPr>
      </p:pic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CFB4F7E8-14CC-AA43-8BC5-0112D88EA9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32516" y="4617141"/>
            <a:ext cx="5874061" cy="1523999"/>
          </a:xfrm>
          <a:solidFill>
            <a:srgbClr val="FF7600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1F8C97C0-392F-0749-89F0-FBD87E07C1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01414" y="4869515"/>
            <a:ext cx="3690675" cy="1078992"/>
          </a:xfrm>
        </p:spPr>
        <p:txBody>
          <a:bodyPr wrap="square" anchor="ctr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000" b="1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TITLE LINE 1</a:t>
            </a:r>
          </a:p>
          <a:p>
            <a:pPr lvl="0"/>
            <a:r>
              <a:rPr lang="en-US" dirty="0"/>
              <a:t>LINE 2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6D854DFD-5076-BB40-A67F-74641404D4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71822" y="4858225"/>
            <a:ext cx="1797757" cy="1282915"/>
          </a:xfrm>
        </p:spPr>
        <p:txBody>
          <a:bodyPr wrap="square" anchor="t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9600" b="0">
                <a:solidFill>
                  <a:schemeClr val="bg1">
                    <a:alpha val="34000"/>
                  </a:schemeClr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sz="9600" spc="-133" dirty="0">
                <a:solidFill>
                  <a:schemeClr val="bg1">
                    <a:alpha val="34000"/>
                  </a:schemeClr>
                </a:solidFill>
                <a:latin typeface="Montserrat" pitchFamily="2" charset="77"/>
              </a:rPr>
              <a:t>01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335387-CBCD-0242-BE77-D24F6F95AB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921" t="32343" r="31921" b="32343"/>
          <a:stretch/>
        </p:blipFill>
        <p:spPr>
          <a:xfrm>
            <a:off x="11310626" y="76200"/>
            <a:ext cx="739700" cy="512588"/>
          </a:xfrm>
          <a:prstGeom prst="rect">
            <a:avLst/>
          </a:prstGeom>
          <a:effectLst/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E99420-D05E-384A-8916-A0BCBBAB5A6B}"/>
              </a:ext>
            </a:extLst>
          </p:cNvPr>
          <p:cNvSpPr txBox="1"/>
          <p:nvPr userDrawn="1"/>
        </p:nvSpPr>
        <p:spPr>
          <a:xfrm>
            <a:off x="139745" y="6534191"/>
            <a:ext cx="4115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© Copyright by FPT Software </a:t>
            </a:r>
          </a:p>
        </p:txBody>
      </p:sp>
    </p:spTree>
    <p:extLst>
      <p:ext uri="{BB962C8B-B14F-4D97-AF65-F5344CB8AC3E}">
        <p14:creationId xmlns:p14="http://schemas.microsoft.com/office/powerpoint/2010/main" val="849881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HM Style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C8A5A5B-8A92-6943-B5E9-0CCFA292D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1606" y="0"/>
            <a:ext cx="12496800" cy="6858000"/>
          </a:xfrm>
          <a:prstGeom prst="rect">
            <a:avLst/>
          </a:prstGeom>
        </p:spPr>
      </p:pic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7CD86513-7FEC-1245-8308-51B1D0B442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00977" y="4391363"/>
            <a:ext cx="6536267" cy="1523999"/>
          </a:xfrm>
          <a:solidFill>
            <a:srgbClr val="FF7600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1F8C97C0-392F-0749-89F0-FBD87E07C1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77324" y="4643737"/>
            <a:ext cx="4356719" cy="1078992"/>
          </a:xfrm>
        </p:spPr>
        <p:txBody>
          <a:bodyPr wrap="square" anchor="ctr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000" b="1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LINE 1</a:t>
            </a:r>
          </a:p>
          <a:p>
            <a:pPr lvl="0"/>
            <a:r>
              <a:rPr lang="en-US" dirty="0"/>
              <a:t>LINE 2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6D854DFD-5076-BB40-A67F-74641404D4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47733" y="4632447"/>
            <a:ext cx="1797757" cy="1282915"/>
          </a:xfrm>
        </p:spPr>
        <p:txBody>
          <a:bodyPr wrap="square" anchor="t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9600" b="0">
                <a:solidFill>
                  <a:schemeClr val="bg1">
                    <a:alpha val="34000"/>
                  </a:schemeClr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sz="9600" spc="-133" dirty="0">
                <a:solidFill>
                  <a:schemeClr val="bg1">
                    <a:alpha val="34000"/>
                  </a:schemeClr>
                </a:solidFill>
                <a:latin typeface="Montserrat" pitchFamily="2" charset="77"/>
              </a:rPr>
              <a:t>01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335387-CBCD-0242-BE77-D24F6F95AB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921" t="32343" r="31921" b="32343"/>
          <a:stretch/>
        </p:blipFill>
        <p:spPr>
          <a:xfrm>
            <a:off x="11310626" y="76200"/>
            <a:ext cx="739700" cy="512588"/>
          </a:xfrm>
          <a:prstGeom prst="rect">
            <a:avLst/>
          </a:prstGeom>
          <a:effectLst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1E99420-D05E-384A-8916-A0BCBBAB5A6B}"/>
              </a:ext>
            </a:extLst>
          </p:cNvPr>
          <p:cNvSpPr txBox="1"/>
          <p:nvPr userDrawn="1"/>
        </p:nvSpPr>
        <p:spPr>
          <a:xfrm>
            <a:off x="139745" y="6534191"/>
            <a:ext cx="4115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© Copyright by FPT Software </a:t>
            </a:r>
          </a:p>
        </p:txBody>
      </p:sp>
    </p:spTree>
    <p:extLst>
      <p:ext uri="{BB962C8B-B14F-4D97-AF65-F5344CB8AC3E}">
        <p14:creationId xmlns:p14="http://schemas.microsoft.com/office/powerpoint/2010/main" val="1665165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HM Style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AA81326-3708-1440-A1A3-F3127606BF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193019C-BDE0-F147-A614-17F92A8D3E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6200000">
            <a:off x="-1741310" y="1741312"/>
            <a:ext cx="6858000" cy="3375376"/>
          </a:xfrm>
          <a:prstGeom prst="rect">
            <a:avLst/>
          </a:prstGeom>
        </p:spPr>
      </p:pic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C0C230E8-F876-514F-A146-B539BA5A6B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300" y="3760724"/>
            <a:ext cx="6013589" cy="1523999"/>
          </a:xfrm>
          <a:solidFill>
            <a:srgbClr val="FF7600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1F8C97C0-392F-0749-89F0-FBD87E07C1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79648" y="4011560"/>
            <a:ext cx="3788886" cy="1078992"/>
          </a:xfrm>
        </p:spPr>
        <p:txBody>
          <a:bodyPr wrap="square" anchor="ctr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000" b="1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TITLE LINE 1</a:t>
            </a:r>
          </a:p>
          <a:p>
            <a:pPr lvl="0"/>
            <a:r>
              <a:rPr lang="en-US" dirty="0"/>
              <a:t>LINE 2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6D854DFD-5076-BB40-A67F-74641404D4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0056" y="4000270"/>
            <a:ext cx="1797757" cy="1282915"/>
          </a:xfrm>
        </p:spPr>
        <p:txBody>
          <a:bodyPr wrap="square" anchor="t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9600" b="0">
                <a:solidFill>
                  <a:schemeClr val="bg1">
                    <a:alpha val="34000"/>
                  </a:schemeClr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sz="9600" spc="-133" dirty="0">
                <a:solidFill>
                  <a:schemeClr val="bg1">
                    <a:alpha val="34000"/>
                  </a:schemeClr>
                </a:solidFill>
                <a:latin typeface="Montserrat" pitchFamily="2" charset="77"/>
              </a:rPr>
              <a:t>01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335387-CBCD-0242-BE77-D24F6F95AB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921" t="32343" r="31921" b="32343"/>
          <a:stretch/>
        </p:blipFill>
        <p:spPr>
          <a:xfrm>
            <a:off x="11310626" y="76200"/>
            <a:ext cx="739700" cy="512588"/>
          </a:xfrm>
          <a:prstGeom prst="rect">
            <a:avLst/>
          </a:prstGeom>
          <a:effectLst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1E99420-D05E-384A-8916-A0BCBBAB5A6B}"/>
              </a:ext>
            </a:extLst>
          </p:cNvPr>
          <p:cNvSpPr txBox="1"/>
          <p:nvPr userDrawn="1"/>
        </p:nvSpPr>
        <p:spPr>
          <a:xfrm>
            <a:off x="139745" y="6534191"/>
            <a:ext cx="4115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© Copyright by FPT Software </a:t>
            </a:r>
          </a:p>
        </p:txBody>
      </p:sp>
    </p:spTree>
    <p:extLst>
      <p:ext uri="{BB962C8B-B14F-4D97-AF65-F5344CB8AC3E}">
        <p14:creationId xmlns:p14="http://schemas.microsoft.com/office/powerpoint/2010/main" val="213336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HM Style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DF6B9F9-28F6-774D-A166-84515EE93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3588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0302417-9574-5D46-B42C-0EDEC7ED09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alphaModFix amt="8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790" y="3939822"/>
            <a:ext cx="12191999" cy="2918176"/>
          </a:xfrm>
          <a:prstGeom prst="rect">
            <a:avLst/>
          </a:prstGeom>
        </p:spPr>
      </p:pic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818D79E6-1483-3646-BB9E-F014CBBB34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40028" y="4400095"/>
            <a:ext cx="6013589" cy="1523999"/>
          </a:xfrm>
          <a:solidFill>
            <a:srgbClr val="FF7600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1F8C97C0-392F-0749-89F0-FBD87E07C1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17175" y="4649623"/>
            <a:ext cx="3788886" cy="1078992"/>
          </a:xfrm>
        </p:spPr>
        <p:txBody>
          <a:bodyPr wrap="square" anchor="ctr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000" b="1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TITLE LINE 1</a:t>
            </a:r>
          </a:p>
          <a:p>
            <a:pPr lvl="0"/>
            <a:r>
              <a:rPr lang="en-US" dirty="0"/>
              <a:t>LINE 2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6D854DFD-5076-BB40-A67F-74641404D4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87583" y="4638333"/>
            <a:ext cx="1797757" cy="1282915"/>
          </a:xfrm>
        </p:spPr>
        <p:txBody>
          <a:bodyPr wrap="square" anchor="t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9600" b="0">
                <a:solidFill>
                  <a:schemeClr val="bg1">
                    <a:alpha val="34000"/>
                  </a:schemeClr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sz="9600" spc="-133" dirty="0">
                <a:solidFill>
                  <a:schemeClr val="bg1">
                    <a:alpha val="34000"/>
                  </a:schemeClr>
                </a:solidFill>
                <a:latin typeface="Montserrat" pitchFamily="2" charset="77"/>
              </a:rPr>
              <a:t>01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335387-CBCD-0242-BE77-D24F6F95AB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921" t="32343" r="31921" b="32343"/>
          <a:stretch/>
        </p:blipFill>
        <p:spPr>
          <a:xfrm>
            <a:off x="11310626" y="76200"/>
            <a:ext cx="739700" cy="512588"/>
          </a:xfrm>
          <a:prstGeom prst="rect">
            <a:avLst/>
          </a:prstGeom>
          <a:effectLst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1E99420-D05E-384A-8916-A0BCBBAB5A6B}"/>
              </a:ext>
            </a:extLst>
          </p:cNvPr>
          <p:cNvSpPr txBox="1"/>
          <p:nvPr userDrawn="1"/>
        </p:nvSpPr>
        <p:spPr>
          <a:xfrm>
            <a:off x="139745" y="6534191"/>
            <a:ext cx="4115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© Copyright by FPT Software </a:t>
            </a:r>
          </a:p>
        </p:txBody>
      </p:sp>
    </p:spTree>
    <p:extLst>
      <p:ext uri="{BB962C8B-B14F-4D97-AF65-F5344CB8AC3E}">
        <p14:creationId xmlns:p14="http://schemas.microsoft.com/office/powerpoint/2010/main" val="503207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HM Style Header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2361A1-49AB-6941-87D0-60FBB57E7E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509"/>
            <a:ext cx="12192000" cy="6852492"/>
          </a:xfrm>
          <a:prstGeom prst="rect">
            <a:avLst/>
          </a:prstGeom>
        </p:spPr>
      </p:pic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77EB1EA1-F758-9541-BC92-6199BCB955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40232" y="4906670"/>
            <a:ext cx="5999617" cy="1523999"/>
          </a:xfrm>
          <a:solidFill>
            <a:srgbClr val="FF7600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1F8C97C0-392F-0749-89F0-FBD87E07C1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16579" y="5148689"/>
            <a:ext cx="3831359" cy="1078992"/>
          </a:xfrm>
        </p:spPr>
        <p:txBody>
          <a:bodyPr wrap="square" anchor="ctr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000" b="1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TITLE LINE 1</a:t>
            </a:r>
          </a:p>
          <a:p>
            <a:pPr lvl="0"/>
            <a:r>
              <a:rPr lang="en-US" dirty="0"/>
              <a:t>LINE 2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6D854DFD-5076-BB40-A67F-74641404D4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86988" y="5137399"/>
            <a:ext cx="1797757" cy="1282915"/>
          </a:xfrm>
        </p:spPr>
        <p:txBody>
          <a:bodyPr wrap="square" anchor="t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9600" b="0">
                <a:solidFill>
                  <a:schemeClr val="bg1">
                    <a:alpha val="34000"/>
                  </a:schemeClr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sz="9600" spc="-133" dirty="0">
                <a:solidFill>
                  <a:schemeClr val="bg1">
                    <a:alpha val="34000"/>
                  </a:schemeClr>
                </a:solidFill>
                <a:latin typeface="Montserrat" pitchFamily="2" charset="77"/>
              </a:rPr>
              <a:t>01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335387-CBCD-0242-BE77-D24F6F95AB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921" t="32343" r="31921" b="32343"/>
          <a:stretch/>
        </p:blipFill>
        <p:spPr>
          <a:xfrm>
            <a:off x="11310626" y="76200"/>
            <a:ext cx="739700" cy="512588"/>
          </a:xfrm>
          <a:prstGeom prst="rect">
            <a:avLst/>
          </a:prstGeom>
          <a:effectLst/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E99420-D05E-384A-8916-A0BCBBAB5A6B}"/>
              </a:ext>
            </a:extLst>
          </p:cNvPr>
          <p:cNvSpPr txBox="1"/>
          <p:nvPr userDrawn="1"/>
        </p:nvSpPr>
        <p:spPr>
          <a:xfrm>
            <a:off x="139745" y="6534191"/>
            <a:ext cx="4115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© Copyright by FPT Software </a:t>
            </a:r>
          </a:p>
        </p:txBody>
      </p:sp>
    </p:spTree>
    <p:extLst>
      <p:ext uri="{BB962C8B-B14F-4D97-AF65-F5344CB8AC3E}">
        <p14:creationId xmlns:p14="http://schemas.microsoft.com/office/powerpoint/2010/main" val="2206926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bedclothes&#10;&#10;Description automatically generated">
            <a:extLst>
              <a:ext uri="{FF2B5EF4-FFF2-40B4-BE49-F238E27FC236}">
                <a16:creationId xmlns:a16="http://schemas.microsoft.com/office/drawing/2014/main" id="{FF1F0521-C5F1-40DE-9FDF-2EBD49774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98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34E6B91-7894-A141-BE7C-BB99606B54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6200000">
            <a:off x="479735" y="-488051"/>
            <a:ext cx="6908180" cy="78676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5AE0CE1-ED81-9F45-9936-947FE68D84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451" y="2229964"/>
            <a:ext cx="2211664" cy="69695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893451" y="3109111"/>
            <a:ext cx="3418667" cy="817562"/>
          </a:xfrm>
        </p:spPr>
        <p:txBody>
          <a:bodyPr anchor="ctr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9565161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8631" y="0"/>
            <a:ext cx="1096067" cy="81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214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5" r:id="rId2"/>
    <p:sldLayoutId id="2147483707" r:id="rId3"/>
    <p:sldLayoutId id="2147483714" r:id="rId4"/>
    <p:sldLayoutId id="2147483708" r:id="rId5"/>
    <p:sldLayoutId id="2147483716" r:id="rId6"/>
    <p:sldLayoutId id="2147483709" r:id="rId7"/>
    <p:sldLayoutId id="2147483710" r:id="rId8"/>
    <p:sldLayoutId id="2147483712" r:id="rId9"/>
    <p:sldLayoutId id="2147483664" r:id="rId10"/>
    <p:sldLayoutId id="2147483665" r:id="rId11"/>
    <p:sldLayoutId id="2147483666" r:id="rId12"/>
    <p:sldLayoutId id="2147483668" r:id="rId13"/>
    <p:sldLayoutId id="2147483671" r:id="rId14"/>
    <p:sldLayoutId id="214748371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jp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emf"/><Relationship Id="rId3" Type="http://schemas.openxmlformats.org/officeDocument/2006/relationships/image" Target="../media/image36.emf"/><Relationship Id="rId4" Type="http://schemas.openxmlformats.org/officeDocument/2006/relationships/image" Target="../media/image37.emf"/><Relationship Id="rId5" Type="http://schemas.openxmlformats.org/officeDocument/2006/relationships/image" Target="../media/image38.emf"/><Relationship Id="rId6" Type="http://schemas.openxmlformats.org/officeDocument/2006/relationships/image" Target="../media/image39.emf"/><Relationship Id="rId7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6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Relationship Id="rId3" Type="http://schemas.openxmlformats.org/officeDocument/2006/relationships/image" Target="../media/image49.jpe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jpg"/><Relationship Id="rId10" Type="http://schemas.openxmlformats.org/officeDocument/2006/relationships/image" Target="../media/image5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0.png"/><Relationship Id="rId3" Type="http://schemas.openxmlformats.org/officeDocument/2006/relationships/image" Target="../media/image61.jpeg"/><Relationship Id="rId4" Type="http://schemas.openxmlformats.org/officeDocument/2006/relationships/image" Target="../media/image6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diagramData" Target="../diagrams/data2.xml"/><Relationship Id="rId6" Type="http://schemas.openxmlformats.org/officeDocument/2006/relationships/diagramLayout" Target="../diagrams/layout2.xml"/><Relationship Id="rId7" Type="http://schemas.openxmlformats.org/officeDocument/2006/relationships/diagramQuickStyle" Target="../diagrams/quickStyle2.xml"/><Relationship Id="rId8" Type="http://schemas.openxmlformats.org/officeDocument/2006/relationships/diagramColors" Target="../diagrams/colors2.xml"/><Relationship Id="rId9" Type="http://schemas.microsoft.com/office/2007/relationships/diagramDrawing" Target="../diagrams/drawing2.xml"/><Relationship Id="rId10" Type="http://schemas.openxmlformats.org/officeDocument/2006/relationships/image" Target="../media/image6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diagramData" Target="../diagrams/data3.xml"/><Relationship Id="rId5" Type="http://schemas.openxmlformats.org/officeDocument/2006/relationships/diagramLayout" Target="../diagrams/layout3.xml"/><Relationship Id="rId6" Type="http://schemas.openxmlformats.org/officeDocument/2006/relationships/diagramQuickStyle" Target="../diagrams/quickStyle3.xml"/><Relationship Id="rId7" Type="http://schemas.openxmlformats.org/officeDocument/2006/relationships/diagramColors" Target="../diagrams/colors3.xml"/><Relationship Id="rId8" Type="http://schemas.microsoft.com/office/2007/relationships/diagramDrawing" Target="../diagrams/drawing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0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gif"/><Relationship Id="rId9" Type="http://schemas.openxmlformats.org/officeDocument/2006/relationships/image" Target="../media/image78.png"/><Relationship Id="rId10" Type="http://schemas.openxmlformats.org/officeDocument/2006/relationships/image" Target="../media/image79.png"/><Relationship Id="rId11" Type="http://schemas.openxmlformats.org/officeDocument/2006/relationships/image" Target="../media/image80.png"/><Relationship Id="rId12" Type="http://schemas.openxmlformats.org/officeDocument/2006/relationships/image" Target="../media/image8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5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jpe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jpeg"/><Relationship Id="rId10" Type="http://schemas.openxmlformats.org/officeDocument/2006/relationships/image" Target="../media/image94.png"/><Relationship Id="rId11" Type="http://schemas.openxmlformats.org/officeDocument/2006/relationships/image" Target="../media/image95.png"/><Relationship Id="rId12" Type="http://schemas.openxmlformats.org/officeDocument/2006/relationships/image" Target="../media/image96.png"/><Relationship Id="rId13" Type="http://schemas.openxmlformats.org/officeDocument/2006/relationships/image" Target="../media/image97.jpeg"/><Relationship Id="rId14" Type="http://schemas.openxmlformats.org/officeDocument/2006/relationships/image" Target="../media/image98.png"/><Relationship Id="rId15" Type="http://schemas.openxmlformats.org/officeDocument/2006/relationships/image" Target="../media/image99.png"/><Relationship Id="rId16" Type="http://schemas.openxmlformats.org/officeDocument/2006/relationships/image" Target="../media/image100.png"/><Relationship Id="rId17" Type="http://schemas.openxmlformats.org/officeDocument/2006/relationships/image" Target="../media/image101.png"/><Relationship Id="rId18" Type="http://schemas.openxmlformats.org/officeDocument/2006/relationships/image" Target="../media/image102.png"/><Relationship Id="rId19" Type="http://schemas.openxmlformats.org/officeDocument/2006/relationships/image" Target="../media/image10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9B6A250-A94A-422D-9047-DE1E5F47469E}"/>
              </a:ext>
            </a:extLst>
          </p:cNvPr>
          <p:cNvSpPr/>
          <p:nvPr/>
        </p:nvSpPr>
        <p:spPr>
          <a:xfrm>
            <a:off x="0" y="4594854"/>
            <a:ext cx="12192000" cy="1746235"/>
          </a:xfrm>
          <a:prstGeom prst="rect">
            <a:avLst/>
          </a:prstGeom>
          <a:solidFill>
            <a:schemeClr val="accent6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03505-033D-B848-9C6C-51465F9CB7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89327" y="4594854"/>
            <a:ext cx="8705652" cy="510023"/>
          </a:xfrm>
        </p:spPr>
        <p:txBody>
          <a:bodyPr/>
          <a:lstStyle/>
          <a:p>
            <a:r>
              <a:rPr lang="en-US" dirty="0"/>
              <a:t>&lt;Project Name&gt;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5B206B-FAF6-384E-8782-5C54D51254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32871" y="5934554"/>
            <a:ext cx="2593873" cy="672816"/>
          </a:xfrm>
        </p:spPr>
        <p:txBody>
          <a:bodyPr/>
          <a:lstStyle/>
          <a:p>
            <a:r>
              <a:rPr lang="en-US" dirty="0"/>
              <a:t>&lt;PMO / Project Team&gt;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17D4DC-3FE6-7142-B17D-8C6DF2D92E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73854" y="5928171"/>
            <a:ext cx="2593873" cy="309555"/>
          </a:xfrm>
        </p:spPr>
        <p:txBody>
          <a:bodyPr/>
          <a:lstStyle/>
          <a:p>
            <a:r>
              <a:rPr lang="en-US" dirty="0"/>
              <a:t>&lt;Kick-off Date&gt;</a:t>
            </a:r>
            <a:r>
              <a:rPr lang="en-US" baseline="30000" dirty="0" err="1"/>
              <a:t/>
            </a:r>
            <a:r>
              <a:rPr lang="en-US" dirty="0"/>
              <a:t/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D80183A-4085-4743-B4FE-FD8AB688968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454" t="32185" r="31454" b="32185"/>
          <a:stretch/>
        </p:blipFill>
        <p:spPr>
          <a:xfrm>
            <a:off x="468562" y="4567258"/>
            <a:ext cx="1752204" cy="1194219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648D02C-9926-4EA8-AD7A-A229B9F1F673}"/>
              </a:ext>
            </a:extLst>
          </p:cNvPr>
          <p:cNvCxnSpPr/>
          <p:nvPr/>
        </p:nvCxnSpPr>
        <p:spPr>
          <a:xfrm>
            <a:off x="1241490" y="5850137"/>
            <a:ext cx="10353570" cy="0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807301" y="5276075"/>
            <a:ext cx="6623777" cy="517301"/>
          </a:xfrm>
          <a:prstGeom prst="rect">
            <a:avLst/>
          </a:prstGeom>
          <a:solidFill>
            <a:schemeClr val="bg1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4AF571-F61C-DB4C-AE5D-D31C277ECC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63758" y="5222910"/>
            <a:ext cx="8705652" cy="510023"/>
          </a:xfrm>
        </p:spPr>
        <p:txBody>
          <a:bodyPr/>
          <a:lstStyle/>
          <a:p>
            <a:r>
              <a:rPr lang="en-US" dirty="0">
                <a:solidFill>
                  <a:srgbClr val="FF6600"/>
                </a:solidFill>
              </a:rPr>
              <a:t>PROJECT </a:t>
            </a:r>
            <a:r>
              <a:rPr lang="en-US">
                <a:solidFill>
                  <a:srgbClr val="FF6600"/>
                </a:solidFill>
              </a:rPr>
              <a:t>KICK OFF Template</a:t>
            </a:r>
            <a:endParaRPr lang="en-US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338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C1E31-5361-4943-9ADD-40DCE65E001A}"/>
              </a:ext>
            </a:extLst>
          </p:cNvPr>
          <p:cNvSpPr txBox="1">
            <a:spLocks/>
          </p:cNvSpPr>
          <p:nvPr/>
        </p:nvSpPr>
        <p:spPr>
          <a:xfrm>
            <a:off x="5212040" y="1235352"/>
            <a:ext cx="1080000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540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atin typeface="iCiel Gotham Black" pitchFamily="50" charset="0"/>
                <a:cs typeface="iCiel Gotham Black" pitchFamily="50" charset="0"/>
              </a:defRPr>
            </a:lvl1pPr>
          </a:lstStyle>
          <a:p>
            <a:r>
              <a:rPr lang="en-US" sz="4200" b="1" dirty="0">
                <a:solidFill>
                  <a:srgbClr val="FF692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36B1DA-0628-1046-A3DF-E6029370F38C}"/>
              </a:ext>
            </a:extLst>
          </p:cNvPr>
          <p:cNvSpPr txBox="1">
            <a:spLocks/>
          </p:cNvSpPr>
          <p:nvPr/>
        </p:nvSpPr>
        <p:spPr>
          <a:xfrm>
            <a:off x="5212040" y="2183654"/>
            <a:ext cx="10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540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atin typeface="iCiel Gotham Black" pitchFamily="50" charset="0"/>
                <a:cs typeface="iCiel Gotham Black" pitchFamily="50" charset="0"/>
              </a:defRPr>
            </a:lvl1pPr>
          </a:lstStyle>
          <a:p>
            <a:r>
              <a:rPr lang="en-US" sz="4200" b="1" dirty="0">
                <a:solidFill>
                  <a:srgbClr val="FF692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02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A09AD86-CAD1-4B4D-BB8A-C947D98D6E83}"/>
              </a:ext>
            </a:extLst>
          </p:cNvPr>
          <p:cNvSpPr txBox="1">
            <a:spLocks/>
          </p:cNvSpPr>
          <p:nvPr/>
        </p:nvSpPr>
        <p:spPr>
          <a:xfrm>
            <a:off x="5212040" y="3259808"/>
            <a:ext cx="10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540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atin typeface="iCiel Gotham Black" pitchFamily="50" charset="0"/>
                <a:cs typeface="iCiel Gotham Black" pitchFamily="50" charset="0"/>
              </a:defRPr>
            </a:lvl1pPr>
          </a:lstStyle>
          <a:p>
            <a:r>
              <a:rPr lang="en-US" sz="4200" b="1" dirty="0">
                <a:solidFill>
                  <a:srgbClr val="FF692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03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280E0F2-A96E-B14B-AC29-79FBA82460B7}"/>
              </a:ext>
            </a:extLst>
          </p:cNvPr>
          <p:cNvSpPr txBox="1">
            <a:spLocks/>
          </p:cNvSpPr>
          <p:nvPr/>
        </p:nvSpPr>
        <p:spPr>
          <a:xfrm>
            <a:off x="5212040" y="4299433"/>
            <a:ext cx="10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540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atin typeface="iCiel Gotham Black" pitchFamily="50" charset="0"/>
                <a:cs typeface="iCiel Gotham Black" pitchFamily="50" charset="0"/>
              </a:defRPr>
            </a:lvl1pPr>
          </a:lstStyle>
          <a:p>
            <a:r>
              <a:rPr lang="en-US" sz="4200" b="1" dirty="0">
                <a:solidFill>
                  <a:srgbClr val="FF692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6174808" y="1235352"/>
            <a:ext cx="4839975" cy="822960"/>
          </a:xfrm>
        </p:spPr>
        <p:txBody>
          <a:bodyPr>
            <a:normAutofit/>
          </a:bodyPr>
          <a:lstStyle/>
          <a:p>
            <a:r>
              <a:rPr lang="en-US" sz="3000" b="1">
                <a:latin typeface="Calibri" panose="020F0502020204030204" pitchFamily="34" charset="0"/>
                <a:cs typeface="Calibri" panose="020F0502020204030204" pitchFamily="34" charset="0"/>
              </a:rPr>
              <a:t>Project Overview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37"/>
          </p:nvPr>
        </p:nvSpPr>
        <p:spPr>
          <a:xfrm>
            <a:off x="6174808" y="2171568"/>
            <a:ext cx="5396684" cy="822960"/>
          </a:xfrm>
        </p:spPr>
        <p:txBody>
          <a:bodyPr>
            <a:normAutofit/>
          </a:bodyPr>
          <a:lstStyle/>
          <a:p>
            <a:r>
              <a:rPr lang="en-US" sz="3000" b="1">
                <a:latin typeface="Calibri" panose="020F0502020204030204" pitchFamily="34" charset="0"/>
                <a:cs typeface="Calibri" panose="020F0502020204030204" pitchFamily="34" charset="0"/>
              </a:rPr>
              <a:t>Project Management Approach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174807" y="3217660"/>
            <a:ext cx="4839975" cy="822960"/>
          </a:xfrm>
        </p:spPr>
        <p:txBody>
          <a:bodyPr/>
          <a:lstStyle/>
          <a:p>
            <a:r>
              <a:rPr lang="en-US" sz="3000" b="1">
                <a:latin typeface="Calibri" panose="020F0502020204030204" pitchFamily="34" charset="0"/>
                <a:cs typeface="Calibri" panose="020F0502020204030204" pitchFamily="34" charset="0"/>
              </a:rPr>
              <a:t>Process &amp; Tools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6174807" y="4305900"/>
            <a:ext cx="4839975" cy="822960"/>
          </a:xfrm>
        </p:spPr>
        <p:txBody>
          <a:bodyPr/>
          <a:lstStyle/>
          <a:p>
            <a:r>
              <a:rPr lang="en-US" sz="3000" b="1">
                <a:latin typeface="Calibri" panose="020F0502020204030204" pitchFamily="34" charset="0"/>
                <a:cs typeface="Calibri" panose="020F0502020204030204" pitchFamily="34" charset="0"/>
              </a:rPr>
              <a:t>Q&amp;A</a:t>
            </a:r>
            <a:endParaRPr lang="en-US" sz="3000"/>
          </a:p>
        </p:txBody>
      </p:sp>
      <p:pic>
        <p:nvPicPr>
          <p:cNvPr id="19" name="Picture Placeholder 18"/>
          <p:cNvPicPr>
            <a:picLocks noGrp="1" noChangeAspect="1"/>
          </p:cNvPicPr>
          <p:nvPr>
            <p:ph type="pic" sz="quarter" idx="4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28" r="20128"/>
          <a:stretch>
            <a:fillRect/>
          </a:stretch>
        </p:blipFill>
        <p:spPr>
          <a:xfrm>
            <a:off x="1" y="0"/>
            <a:ext cx="4763386" cy="6875462"/>
          </a:xfrm>
        </p:spPr>
      </p:pic>
      <p:sp>
        <p:nvSpPr>
          <p:cNvPr id="20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5112916" y="149330"/>
            <a:ext cx="4839975" cy="822960"/>
          </a:xfrm>
        </p:spPr>
        <p:txBody>
          <a:bodyPr>
            <a:normAutofit/>
          </a:bodyPr>
          <a:lstStyle/>
          <a:p>
            <a:r>
              <a:rPr lang="en-US" sz="3400" b="1"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469940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41" y="0"/>
            <a:ext cx="11058047" cy="686070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buFont typeface="+mj-lt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Slide Road map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CE0170-C9B1-0B45-9BFA-3EDF7C7BBC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76088" y="6405563"/>
            <a:ext cx="315912" cy="244475"/>
          </a:xfrm>
        </p:spPr>
        <p:txBody>
          <a:bodyPr/>
          <a:lstStyle/>
          <a:p>
            <a:pPr algn="ctr"/>
            <a:fld id="{34BBD95C-5847-41D4-A95D-7A604938DF3E}" type="slidenum">
              <a:rPr lang="en-US" sz="1050" smtClean="0"/>
              <a:pPr algn="ctr"/>
              <a:t>3</a:t>
            </a:fld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2685275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AC2842-1D9C-5343-9EA9-DFB9C27DD9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66086" y="1742424"/>
            <a:ext cx="5326804" cy="15239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D7251-3864-9D40-B22B-E2D04381DC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2434" y="1747638"/>
            <a:ext cx="3350456" cy="1573316"/>
          </a:xfrm>
        </p:spPr>
        <p:txBody>
          <a:bodyPr/>
          <a:lstStyle/>
          <a:p>
            <a:r>
              <a:rPr lang="en-US" dirty="0"/>
              <a:t>PROJECT</a:t>
            </a:r>
          </a:p>
          <a:p>
            <a:r>
              <a:rPr lang="en-US" dirty="0"/>
              <a:t>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D600A-86A7-3A4D-A6D6-CC165EBE6F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12842" y="1983510"/>
            <a:ext cx="1797757" cy="1282915"/>
          </a:xfrm>
        </p:spPr>
        <p:txBody>
          <a:bodyPr/>
          <a:lstStyle/>
          <a:p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7513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E" sz="3000" dirty="0"/>
              <a:t>Product Overview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199618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1D222E-0CEB-A445-9BAD-ABD903C01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Product Scope - Background</a:t>
            </a:r>
          </a:p>
        </p:txBody>
      </p:sp>
    </p:spTree>
    <p:extLst>
      <p:ext uri="{BB962C8B-B14F-4D97-AF65-F5344CB8AC3E}">
        <p14:creationId xmlns:p14="http://schemas.microsoft.com/office/powerpoint/2010/main" val="2930327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1D222E-0CEB-A445-9BAD-ABD903C01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Project Scope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359874" y="963587"/>
            <a:ext cx="8984366" cy="5633295"/>
            <a:chOff x="457197" y="843704"/>
            <a:chExt cx="8984366" cy="5633295"/>
          </a:xfrm>
        </p:grpSpPr>
        <p:sp>
          <p:nvSpPr>
            <p:cNvPr id="4" name="Freeform 3"/>
            <p:cNvSpPr/>
            <p:nvPr/>
          </p:nvSpPr>
          <p:spPr>
            <a:xfrm>
              <a:off x="533399" y="843704"/>
              <a:ext cx="2169508" cy="1619492"/>
            </a:xfrm>
            <a:custGeom>
              <a:avLst/>
              <a:gdLst>
                <a:gd name="connsiteX0" fmla="*/ 129559 w 2169508"/>
                <a:gd name="connsiteY0" fmla="*/ 0 h 1619492"/>
                <a:gd name="connsiteX1" fmla="*/ 2039949 w 2169508"/>
                <a:gd name="connsiteY1" fmla="*/ 0 h 1619492"/>
                <a:gd name="connsiteX2" fmla="*/ 2169508 w 2169508"/>
                <a:gd name="connsiteY2" fmla="*/ 129559 h 1619492"/>
                <a:gd name="connsiteX3" fmla="*/ 2169508 w 2169508"/>
                <a:gd name="connsiteY3" fmla="*/ 1619492 h 1619492"/>
                <a:gd name="connsiteX4" fmla="*/ 2169508 w 2169508"/>
                <a:gd name="connsiteY4" fmla="*/ 1619492 h 1619492"/>
                <a:gd name="connsiteX5" fmla="*/ 0 w 2169508"/>
                <a:gd name="connsiteY5" fmla="*/ 1619492 h 1619492"/>
                <a:gd name="connsiteX6" fmla="*/ 0 w 2169508"/>
                <a:gd name="connsiteY6" fmla="*/ 1619492 h 1619492"/>
                <a:gd name="connsiteX7" fmla="*/ 0 w 2169508"/>
                <a:gd name="connsiteY7" fmla="*/ 129559 h 1619492"/>
                <a:gd name="connsiteX8" fmla="*/ 129559 w 2169508"/>
                <a:gd name="connsiteY8" fmla="*/ 0 h 1619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9508" h="1619492">
                  <a:moveTo>
                    <a:pt x="129559" y="0"/>
                  </a:moveTo>
                  <a:lnTo>
                    <a:pt x="2039949" y="0"/>
                  </a:lnTo>
                  <a:cubicBezTo>
                    <a:pt x="2111502" y="0"/>
                    <a:pt x="2169508" y="58006"/>
                    <a:pt x="2169508" y="129559"/>
                  </a:cubicBezTo>
                  <a:lnTo>
                    <a:pt x="2169508" y="1619492"/>
                  </a:lnTo>
                  <a:lnTo>
                    <a:pt x="2169508" y="1619492"/>
                  </a:lnTo>
                  <a:lnTo>
                    <a:pt x="0" y="1619492"/>
                  </a:lnTo>
                  <a:lnTo>
                    <a:pt x="0" y="1619492"/>
                  </a:lnTo>
                  <a:lnTo>
                    <a:pt x="0" y="129559"/>
                  </a:lnTo>
                  <a:cubicBezTo>
                    <a:pt x="0" y="58006"/>
                    <a:pt x="58006" y="0"/>
                    <a:pt x="129559" y="0"/>
                  </a:cubicBezTo>
                  <a:close/>
                </a:path>
              </a:pathLst>
            </a:custGeom>
            <a:ln>
              <a:solidFill>
                <a:srgbClr val="006699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8267" tIns="98907" rIns="58267" bIns="20320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600" b="1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BMM</a:t>
              </a:r>
              <a:r>
                <a:rPr lang="en-US" sz="1600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: &lt;BMM&gt;</a:t>
              </a:r>
            </a:p>
            <a:p>
              <a:pPr marL="400050" lvl="2" indent="-28575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ü"/>
              </a:pPr>
              <a:r>
                <a:rPr lang="en-US" sz="1400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Onsite: &lt;Onsite MM&gt;</a:t>
              </a:r>
            </a:p>
            <a:p>
              <a:pPr marL="400050" lvl="2" indent="-28575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ü"/>
              </a:pPr>
              <a:r>
                <a:rPr lang="en-US" sz="1400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Offshore: &lt;Offshore MM&gt;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600" b="1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Cost</a:t>
              </a:r>
              <a:r>
                <a:rPr lang="en-US" sz="1600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: &lt;Cost&gt;</a:t>
              </a:r>
            </a:p>
          </p:txBody>
        </p:sp>
        <p:sp>
          <p:nvSpPr>
            <p:cNvPr id="5" name="Freeform 4"/>
            <p:cNvSpPr/>
            <p:nvPr/>
          </p:nvSpPr>
          <p:spPr>
            <a:xfrm>
              <a:off x="533399" y="2463196"/>
              <a:ext cx="2169508" cy="696381"/>
            </a:xfrm>
            <a:custGeom>
              <a:avLst/>
              <a:gdLst>
                <a:gd name="connsiteX0" fmla="*/ 0 w 2169508"/>
                <a:gd name="connsiteY0" fmla="*/ 0 h 696381"/>
                <a:gd name="connsiteX1" fmla="*/ 2169508 w 2169508"/>
                <a:gd name="connsiteY1" fmla="*/ 0 h 696381"/>
                <a:gd name="connsiteX2" fmla="*/ 2169508 w 2169508"/>
                <a:gd name="connsiteY2" fmla="*/ 696381 h 696381"/>
                <a:gd name="connsiteX3" fmla="*/ 0 w 2169508"/>
                <a:gd name="connsiteY3" fmla="*/ 696381 h 696381"/>
                <a:gd name="connsiteX4" fmla="*/ 0 w 2169508"/>
                <a:gd name="connsiteY4" fmla="*/ 0 h 696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9508" h="696381">
                  <a:moveTo>
                    <a:pt x="0" y="0"/>
                  </a:moveTo>
                  <a:lnTo>
                    <a:pt x="2169508" y="0"/>
                  </a:lnTo>
                  <a:lnTo>
                    <a:pt x="2169508" y="696381"/>
                  </a:lnTo>
                  <a:lnTo>
                    <a:pt x="0" y="696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99"/>
            </a:solidFill>
            <a:ln>
              <a:solidFill>
                <a:srgbClr val="006699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0" tIns="0" rIns="673436" bIns="0" numCol="1" spcCol="1270" anchor="ctr" anchorCtr="0">
              <a:noAutofit/>
            </a:bodyPr>
            <a:lstStyle/>
            <a:p>
              <a:pPr lvl="0" algn="l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b="1" kern="1200" dirty="0">
                  <a:solidFill>
                    <a:schemeClr val="bg1"/>
                  </a:solidFill>
                  <a:cs typeface="Segoe UI Light" panose="020B0502040204020203" pitchFamily="34" charset="0"/>
                </a:rPr>
                <a:t>Cost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2122602" y="2573810"/>
              <a:ext cx="759327" cy="759327"/>
            </a:xfrm>
            <a:prstGeom prst="ellipse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Freeform 6"/>
            <p:cNvSpPr/>
            <p:nvPr/>
          </p:nvSpPr>
          <p:spPr>
            <a:xfrm>
              <a:off x="3742806" y="843704"/>
              <a:ext cx="2169508" cy="1619492"/>
            </a:xfrm>
            <a:custGeom>
              <a:avLst/>
              <a:gdLst>
                <a:gd name="connsiteX0" fmla="*/ 129559 w 2169508"/>
                <a:gd name="connsiteY0" fmla="*/ 0 h 1619492"/>
                <a:gd name="connsiteX1" fmla="*/ 2039949 w 2169508"/>
                <a:gd name="connsiteY1" fmla="*/ 0 h 1619492"/>
                <a:gd name="connsiteX2" fmla="*/ 2169508 w 2169508"/>
                <a:gd name="connsiteY2" fmla="*/ 129559 h 1619492"/>
                <a:gd name="connsiteX3" fmla="*/ 2169508 w 2169508"/>
                <a:gd name="connsiteY3" fmla="*/ 1619492 h 1619492"/>
                <a:gd name="connsiteX4" fmla="*/ 2169508 w 2169508"/>
                <a:gd name="connsiteY4" fmla="*/ 1619492 h 1619492"/>
                <a:gd name="connsiteX5" fmla="*/ 0 w 2169508"/>
                <a:gd name="connsiteY5" fmla="*/ 1619492 h 1619492"/>
                <a:gd name="connsiteX6" fmla="*/ 0 w 2169508"/>
                <a:gd name="connsiteY6" fmla="*/ 1619492 h 1619492"/>
                <a:gd name="connsiteX7" fmla="*/ 0 w 2169508"/>
                <a:gd name="connsiteY7" fmla="*/ 129559 h 1619492"/>
                <a:gd name="connsiteX8" fmla="*/ 129559 w 2169508"/>
                <a:gd name="connsiteY8" fmla="*/ 0 h 1619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9508" h="1619492">
                  <a:moveTo>
                    <a:pt x="129559" y="0"/>
                  </a:moveTo>
                  <a:lnTo>
                    <a:pt x="2039949" y="0"/>
                  </a:lnTo>
                  <a:cubicBezTo>
                    <a:pt x="2111502" y="0"/>
                    <a:pt x="2169508" y="58006"/>
                    <a:pt x="2169508" y="129559"/>
                  </a:cubicBezTo>
                  <a:lnTo>
                    <a:pt x="2169508" y="1619492"/>
                  </a:lnTo>
                  <a:lnTo>
                    <a:pt x="2169508" y="1619492"/>
                  </a:lnTo>
                  <a:lnTo>
                    <a:pt x="0" y="1619492"/>
                  </a:lnTo>
                  <a:lnTo>
                    <a:pt x="0" y="1619492"/>
                  </a:lnTo>
                  <a:lnTo>
                    <a:pt x="0" y="129559"/>
                  </a:lnTo>
                  <a:cubicBezTo>
                    <a:pt x="0" y="58006"/>
                    <a:pt x="58006" y="0"/>
                    <a:pt x="129559" y="0"/>
                  </a:cubicBezTo>
                  <a:close/>
                </a:path>
              </a:pathLst>
            </a:custGeom>
            <a:ln>
              <a:solidFill>
                <a:srgbClr val="006699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8267" tIns="98907" rIns="58267" bIns="20320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600" b="1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Start date</a:t>
              </a:r>
              <a:r>
                <a:rPr lang="en-US" sz="1600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: &lt;Start Date&gt;</a:t>
              </a:r>
            </a:p>
            <a:p>
              <a:pPr marL="400050" lvl="2" indent="-28575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ü"/>
              </a:pPr>
              <a:r>
                <a:rPr lang="en-US" sz="1400" b="1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BD</a:t>
              </a:r>
              <a:r>
                <a:rPr lang="en-US" sz="1400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: &lt;BD Date&gt;</a:t>
              </a:r>
            </a:p>
            <a:p>
              <a:pPr marL="400050" lvl="2" indent="-28575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ü"/>
              </a:pPr>
              <a:r>
                <a:rPr lang="en-US" sz="1400" b="1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DD~IT</a:t>
              </a:r>
              <a:r>
                <a:rPr lang="en-US" sz="1400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:</a:t>
              </a:r>
              <a:r>
                <a:rPr lang="en-US" sz="1400" b="1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 &lt;DD~IT Date&gt;</a:t>
              </a:r>
            </a:p>
            <a:p>
              <a:pPr marL="400050" lvl="2" indent="-28575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ü"/>
              </a:pPr>
              <a:r>
                <a:rPr lang="en-US" sz="1400" b="1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ST</a:t>
              </a:r>
              <a:r>
                <a:rPr lang="en-US" sz="1400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: &lt;ST Date&gt;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600" b="1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End date</a:t>
              </a:r>
              <a:r>
                <a:rPr lang="en-US" sz="1600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: &lt;End Date&gt;</a:t>
              </a:r>
            </a:p>
          </p:txBody>
        </p:sp>
        <p:sp>
          <p:nvSpPr>
            <p:cNvPr id="8" name="Freeform 7"/>
            <p:cNvSpPr/>
            <p:nvPr/>
          </p:nvSpPr>
          <p:spPr>
            <a:xfrm>
              <a:off x="3742806" y="2463196"/>
              <a:ext cx="2169508" cy="696381"/>
            </a:xfrm>
            <a:custGeom>
              <a:avLst/>
              <a:gdLst>
                <a:gd name="connsiteX0" fmla="*/ 0 w 2169508"/>
                <a:gd name="connsiteY0" fmla="*/ 0 h 696381"/>
                <a:gd name="connsiteX1" fmla="*/ 2169508 w 2169508"/>
                <a:gd name="connsiteY1" fmla="*/ 0 h 696381"/>
                <a:gd name="connsiteX2" fmla="*/ 2169508 w 2169508"/>
                <a:gd name="connsiteY2" fmla="*/ 696381 h 696381"/>
                <a:gd name="connsiteX3" fmla="*/ 0 w 2169508"/>
                <a:gd name="connsiteY3" fmla="*/ 696381 h 696381"/>
                <a:gd name="connsiteX4" fmla="*/ 0 w 2169508"/>
                <a:gd name="connsiteY4" fmla="*/ 0 h 696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9508" h="696381">
                  <a:moveTo>
                    <a:pt x="0" y="0"/>
                  </a:moveTo>
                  <a:lnTo>
                    <a:pt x="2169508" y="0"/>
                  </a:lnTo>
                  <a:lnTo>
                    <a:pt x="2169508" y="696381"/>
                  </a:lnTo>
                  <a:lnTo>
                    <a:pt x="0" y="696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99"/>
            </a:solidFill>
            <a:ln>
              <a:solidFill>
                <a:srgbClr val="006699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hueOff val="0"/>
                <a:satOff val="0"/>
                <a:lumOff val="-483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0" tIns="0" rIns="673436" bIns="0" numCol="1" spcCol="1270" anchor="ctr" anchorCtr="0">
              <a:noAutofit/>
            </a:bodyPr>
            <a:lstStyle/>
            <a:p>
              <a:pPr lvl="0" algn="l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b="1" kern="1200" dirty="0">
                  <a:solidFill>
                    <a:schemeClr val="bg1"/>
                  </a:solidFill>
                  <a:cs typeface="Segoe UI Light" panose="020B0502040204020203" pitchFamily="34" charset="0"/>
                </a:rPr>
                <a:t>Milestone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489075" y="2573810"/>
              <a:ext cx="759327" cy="759327"/>
            </a:xfrm>
            <a:prstGeom prst="ellipse">
              <a:avLst/>
            </a:prstGeom>
            <a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5">
                <a:tint val="40000"/>
                <a:alpha val="90000"/>
                <a:hueOff val="0"/>
                <a:satOff val="0"/>
                <a:lumOff val="-1407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6871614" y="843704"/>
              <a:ext cx="2169508" cy="1619492"/>
            </a:xfrm>
            <a:custGeom>
              <a:avLst/>
              <a:gdLst>
                <a:gd name="connsiteX0" fmla="*/ 129559 w 2169508"/>
                <a:gd name="connsiteY0" fmla="*/ 0 h 1619492"/>
                <a:gd name="connsiteX1" fmla="*/ 2039949 w 2169508"/>
                <a:gd name="connsiteY1" fmla="*/ 0 h 1619492"/>
                <a:gd name="connsiteX2" fmla="*/ 2169508 w 2169508"/>
                <a:gd name="connsiteY2" fmla="*/ 129559 h 1619492"/>
                <a:gd name="connsiteX3" fmla="*/ 2169508 w 2169508"/>
                <a:gd name="connsiteY3" fmla="*/ 1619492 h 1619492"/>
                <a:gd name="connsiteX4" fmla="*/ 2169508 w 2169508"/>
                <a:gd name="connsiteY4" fmla="*/ 1619492 h 1619492"/>
                <a:gd name="connsiteX5" fmla="*/ 0 w 2169508"/>
                <a:gd name="connsiteY5" fmla="*/ 1619492 h 1619492"/>
                <a:gd name="connsiteX6" fmla="*/ 0 w 2169508"/>
                <a:gd name="connsiteY6" fmla="*/ 1619492 h 1619492"/>
                <a:gd name="connsiteX7" fmla="*/ 0 w 2169508"/>
                <a:gd name="connsiteY7" fmla="*/ 129559 h 1619492"/>
                <a:gd name="connsiteX8" fmla="*/ 129559 w 2169508"/>
                <a:gd name="connsiteY8" fmla="*/ 0 h 1619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9508" h="1619492">
                  <a:moveTo>
                    <a:pt x="129559" y="0"/>
                  </a:moveTo>
                  <a:lnTo>
                    <a:pt x="2039949" y="0"/>
                  </a:lnTo>
                  <a:cubicBezTo>
                    <a:pt x="2111502" y="0"/>
                    <a:pt x="2169508" y="58006"/>
                    <a:pt x="2169508" y="129559"/>
                  </a:cubicBezTo>
                  <a:lnTo>
                    <a:pt x="2169508" y="1619492"/>
                  </a:lnTo>
                  <a:lnTo>
                    <a:pt x="2169508" y="1619492"/>
                  </a:lnTo>
                  <a:lnTo>
                    <a:pt x="0" y="1619492"/>
                  </a:lnTo>
                  <a:lnTo>
                    <a:pt x="0" y="1619492"/>
                  </a:lnTo>
                  <a:lnTo>
                    <a:pt x="0" y="129559"/>
                  </a:lnTo>
                  <a:cubicBezTo>
                    <a:pt x="0" y="58006"/>
                    <a:pt x="58006" y="0"/>
                    <a:pt x="129559" y="0"/>
                  </a:cubicBezTo>
                  <a:close/>
                </a:path>
              </a:pathLst>
            </a:custGeom>
            <a:ln>
              <a:solidFill>
                <a:srgbClr val="006699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8267" tIns="98907" rIns="58267" bIns="20320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600" b="1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Backend</a:t>
              </a:r>
              <a:r>
                <a:rPr lang="en-US" sz="1600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:</a:t>
              </a:r>
              <a:r>
                <a:rPr lang="en-US" sz="1400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 &lt;Backend tech stack&gt;</a:t>
              </a:r>
              <a:endParaRPr lang="en-US" sz="1400" kern="1200" dirty="0">
                <a:solidFill>
                  <a:schemeClr val="tx1"/>
                </a:solidFill>
              </a:endParaRP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600" b="1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Frontend</a:t>
              </a:r>
              <a:r>
                <a:rPr lang="en-US" sz="1600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: &lt;Frontend tech stack&gt;</a:t>
              </a:r>
              <a:r>
                <a:rPr lang="en-US" sz="1400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/>
              </a:r>
              <a:r>
                <a:rPr lang="en-US" sz="1400" kern="1200" dirty="0" err="1">
                  <a:solidFill>
                    <a:schemeClr val="tx1"/>
                  </a:solidFill>
                  <a:cs typeface="Segoe UI Light" panose="020B0502040204020203" pitchFamily="34" charset="0"/>
                </a:rPr>
                <a:t/>
              </a:r>
              <a:r>
                <a:rPr lang="en-US" sz="1400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/>
              </a:r>
              <a:r>
                <a:rPr lang="en-US" sz="1400" kern="1200" dirty="0" err="1">
                  <a:solidFill>
                    <a:schemeClr val="tx1"/>
                  </a:solidFill>
                  <a:cs typeface="Segoe UI Light" panose="020B0502040204020203" pitchFamily="34" charset="0"/>
                </a:rPr>
                <a:t/>
              </a:r>
              <a:r>
                <a:rPr lang="en-US" sz="1400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/>
              </a:r>
              <a:r>
                <a:rPr lang="en-US" sz="1400" kern="1200" dirty="0" err="1">
                  <a:solidFill>
                    <a:schemeClr val="tx1"/>
                  </a:solidFill>
                  <a:cs typeface="Segoe UI Light" panose="020B0502040204020203" pitchFamily="34" charset="0"/>
                </a:rPr>
                <a:t/>
              </a:r>
              <a:endParaRPr lang="en-US" sz="1400" kern="1200" dirty="0">
                <a:solidFill>
                  <a:schemeClr val="tx1"/>
                </a:solidFill>
                <a:cs typeface="Segoe UI Light" panose="020B0502040204020203" pitchFamily="34" charset="0"/>
              </a:endParaRP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600" b="1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Compatible Browser</a:t>
              </a:r>
              <a:r>
                <a:rPr lang="en-US" sz="1400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: &lt;Compatible Browser&gt;</a:t>
              </a:r>
            </a:p>
          </p:txBody>
        </p:sp>
        <p:sp>
          <p:nvSpPr>
            <p:cNvPr id="11" name="Freeform 10"/>
            <p:cNvSpPr/>
            <p:nvPr/>
          </p:nvSpPr>
          <p:spPr>
            <a:xfrm>
              <a:off x="6871614" y="2463196"/>
              <a:ext cx="2169508" cy="696381"/>
            </a:xfrm>
            <a:custGeom>
              <a:avLst/>
              <a:gdLst>
                <a:gd name="connsiteX0" fmla="*/ 0 w 2169508"/>
                <a:gd name="connsiteY0" fmla="*/ 0 h 696381"/>
                <a:gd name="connsiteX1" fmla="*/ 2169508 w 2169508"/>
                <a:gd name="connsiteY1" fmla="*/ 0 h 696381"/>
                <a:gd name="connsiteX2" fmla="*/ 2169508 w 2169508"/>
                <a:gd name="connsiteY2" fmla="*/ 696381 h 696381"/>
                <a:gd name="connsiteX3" fmla="*/ 0 w 2169508"/>
                <a:gd name="connsiteY3" fmla="*/ 696381 h 696381"/>
                <a:gd name="connsiteX4" fmla="*/ 0 w 2169508"/>
                <a:gd name="connsiteY4" fmla="*/ 0 h 696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9508" h="696381">
                  <a:moveTo>
                    <a:pt x="0" y="0"/>
                  </a:moveTo>
                  <a:lnTo>
                    <a:pt x="2169508" y="0"/>
                  </a:lnTo>
                  <a:lnTo>
                    <a:pt x="2169508" y="696381"/>
                  </a:lnTo>
                  <a:lnTo>
                    <a:pt x="0" y="696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99"/>
            </a:solidFill>
            <a:ln>
              <a:solidFill>
                <a:srgbClr val="006699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hueOff val="0"/>
                <a:satOff val="0"/>
                <a:lumOff val="-9673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0" tIns="0" rIns="673436" bIns="0" numCol="1" spcCol="1270" anchor="ctr" anchorCtr="0">
              <a:noAutofit/>
            </a:bodyPr>
            <a:lstStyle/>
            <a:p>
              <a:pPr lvl="0" algn="l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b="1" kern="1200" dirty="0">
                  <a:solidFill>
                    <a:schemeClr val="bg1"/>
                  </a:solidFill>
                  <a:cs typeface="Segoe UI Light" panose="020B0502040204020203" pitchFamily="34" charset="0"/>
                </a:rPr>
                <a:t>Tech Stack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460872" y="2573810"/>
              <a:ext cx="759327" cy="759327"/>
            </a:xfrm>
            <a:prstGeom prst="ellipse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5">
                <a:tint val="40000"/>
                <a:alpha val="90000"/>
                <a:hueOff val="0"/>
                <a:satOff val="0"/>
                <a:lumOff val="-2815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457197" y="3398534"/>
              <a:ext cx="8694110" cy="2165180"/>
            </a:xfrm>
            <a:custGeom>
              <a:avLst/>
              <a:gdLst>
                <a:gd name="connsiteX0" fmla="*/ 173214 w 8694110"/>
                <a:gd name="connsiteY0" fmla="*/ 0 h 2165180"/>
                <a:gd name="connsiteX1" fmla="*/ 8520896 w 8694110"/>
                <a:gd name="connsiteY1" fmla="*/ 0 h 2165180"/>
                <a:gd name="connsiteX2" fmla="*/ 8694110 w 8694110"/>
                <a:gd name="connsiteY2" fmla="*/ 173214 h 2165180"/>
                <a:gd name="connsiteX3" fmla="*/ 8694110 w 8694110"/>
                <a:gd name="connsiteY3" fmla="*/ 2165180 h 2165180"/>
                <a:gd name="connsiteX4" fmla="*/ 8694110 w 8694110"/>
                <a:gd name="connsiteY4" fmla="*/ 2165180 h 2165180"/>
                <a:gd name="connsiteX5" fmla="*/ 0 w 8694110"/>
                <a:gd name="connsiteY5" fmla="*/ 2165180 h 2165180"/>
                <a:gd name="connsiteX6" fmla="*/ 0 w 8694110"/>
                <a:gd name="connsiteY6" fmla="*/ 2165180 h 2165180"/>
                <a:gd name="connsiteX7" fmla="*/ 0 w 8694110"/>
                <a:gd name="connsiteY7" fmla="*/ 173214 h 2165180"/>
                <a:gd name="connsiteX8" fmla="*/ 173214 w 8694110"/>
                <a:gd name="connsiteY8" fmla="*/ 0 h 2165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94110" h="2165180">
                  <a:moveTo>
                    <a:pt x="173214" y="0"/>
                  </a:moveTo>
                  <a:lnTo>
                    <a:pt x="8520896" y="0"/>
                  </a:lnTo>
                  <a:cubicBezTo>
                    <a:pt x="8616559" y="0"/>
                    <a:pt x="8694110" y="77551"/>
                    <a:pt x="8694110" y="173214"/>
                  </a:cubicBezTo>
                  <a:lnTo>
                    <a:pt x="8694110" y="2165180"/>
                  </a:lnTo>
                  <a:lnTo>
                    <a:pt x="8694110" y="2165180"/>
                  </a:lnTo>
                  <a:lnTo>
                    <a:pt x="0" y="2165180"/>
                  </a:lnTo>
                  <a:lnTo>
                    <a:pt x="0" y="2165180"/>
                  </a:lnTo>
                  <a:lnTo>
                    <a:pt x="0" y="173214"/>
                  </a:lnTo>
                  <a:cubicBezTo>
                    <a:pt x="0" y="77551"/>
                    <a:pt x="77551" y="0"/>
                    <a:pt x="173214" y="0"/>
                  </a:cubicBezTo>
                  <a:close/>
                </a:path>
              </a:pathLst>
            </a:custGeom>
            <a:ln>
              <a:solidFill>
                <a:srgbClr val="006699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1053" tIns="111693" rIns="71053" bIns="20320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600" b="1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Total LOC</a:t>
              </a:r>
              <a:r>
                <a:rPr lang="en-US" sz="1600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: </a:t>
              </a:r>
              <a:r>
                <a:rPr lang="en-US" sz="1600" kern="1200" baseline="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&lt;Total LOC&gt;</a:t>
              </a:r>
              <a:endParaRPr lang="en-US" sz="1600" kern="1200" dirty="0">
                <a:solidFill>
                  <a:schemeClr val="tx1"/>
                </a:solidFill>
                <a:cs typeface="Segoe UI Light" panose="020B0502040204020203" pitchFamily="34" charset="0"/>
              </a:endParaRP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600" b="1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Screen</a:t>
              </a:r>
              <a:r>
                <a:rPr lang="en-US" sz="1600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: &lt;Screen count&gt;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600" b="1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Report</a:t>
              </a:r>
              <a:r>
                <a:rPr lang="en-US" sz="1600" kern="120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:</a:t>
              </a:r>
              <a:r>
                <a:rPr lang="en-US" sz="1600" kern="1200" baseline="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 &lt;Report count&gt;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600" b="1" kern="1200" baseline="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Batch</a:t>
              </a:r>
              <a:r>
                <a:rPr lang="en-US" sz="1600" kern="1200" baseline="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: &lt;Batch count&gt;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600" b="1" kern="1200" baseline="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IF</a:t>
              </a:r>
              <a:r>
                <a:rPr lang="en-US" sz="1600" kern="1200" baseline="0" dirty="0">
                  <a:solidFill>
                    <a:schemeClr val="tx1"/>
                  </a:solidFill>
                  <a:cs typeface="Segoe UI Light" panose="020B0502040204020203" pitchFamily="34" charset="0"/>
                </a:rPr>
                <a:t>: &lt;IF count&gt;</a:t>
              </a:r>
            </a:p>
          </p:txBody>
        </p:sp>
        <p:sp>
          <p:nvSpPr>
            <p:cNvPr id="14" name="Freeform 13"/>
            <p:cNvSpPr/>
            <p:nvPr/>
          </p:nvSpPr>
          <p:spPr>
            <a:xfrm>
              <a:off x="457197" y="5575237"/>
              <a:ext cx="8694110" cy="696381"/>
            </a:xfrm>
            <a:custGeom>
              <a:avLst/>
              <a:gdLst>
                <a:gd name="connsiteX0" fmla="*/ 0 w 8694110"/>
                <a:gd name="connsiteY0" fmla="*/ 0 h 696381"/>
                <a:gd name="connsiteX1" fmla="*/ 8694110 w 8694110"/>
                <a:gd name="connsiteY1" fmla="*/ 0 h 696381"/>
                <a:gd name="connsiteX2" fmla="*/ 8694110 w 8694110"/>
                <a:gd name="connsiteY2" fmla="*/ 696381 h 696381"/>
                <a:gd name="connsiteX3" fmla="*/ 0 w 8694110"/>
                <a:gd name="connsiteY3" fmla="*/ 696381 h 696381"/>
                <a:gd name="connsiteX4" fmla="*/ 0 w 8694110"/>
                <a:gd name="connsiteY4" fmla="*/ 0 h 696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94110" h="696381">
                  <a:moveTo>
                    <a:pt x="0" y="0"/>
                  </a:moveTo>
                  <a:lnTo>
                    <a:pt x="8694110" y="0"/>
                  </a:lnTo>
                  <a:lnTo>
                    <a:pt x="8694110" y="696381"/>
                  </a:lnTo>
                  <a:lnTo>
                    <a:pt x="0" y="696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99"/>
            </a:solidFill>
            <a:ln>
              <a:solidFill>
                <a:srgbClr val="006699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hueOff val="0"/>
                <a:satOff val="0"/>
                <a:lumOff val="-1451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0" tIns="0" rIns="2603248" bIns="0" numCol="1" spcCol="1270" anchor="ctr" anchorCtr="0">
              <a:noAutofit/>
            </a:bodyPr>
            <a:lstStyle/>
            <a:p>
              <a:pPr lvl="0" algn="l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b="1" kern="1200" dirty="0">
                  <a:solidFill>
                    <a:schemeClr val="bg1"/>
                  </a:solidFill>
                  <a:cs typeface="Segoe UI Light" panose="020B0502040204020203" pitchFamily="34" charset="0"/>
                </a:rPr>
                <a:t>Scope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8682236" y="5717672"/>
              <a:ext cx="759327" cy="759327"/>
            </a:xfrm>
            <a:prstGeom prst="ellipse">
              <a:avLst/>
            </a:prstGeom>
            <a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5">
                <a:tint val="40000"/>
                <a:alpha val="90000"/>
                <a:hueOff val="0"/>
                <a:satOff val="0"/>
                <a:lumOff val="-4222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  <p:grpSp>
        <p:nvGrpSpPr>
          <p:cNvPr id="20" name="Group 19"/>
          <p:cNvGrpSpPr/>
          <p:nvPr/>
        </p:nvGrpSpPr>
        <p:grpSpPr>
          <a:xfrm>
            <a:off x="3758095" y="3619854"/>
            <a:ext cx="6165454" cy="1986429"/>
            <a:chOff x="36018" y="4198572"/>
            <a:chExt cx="6165454" cy="1986429"/>
          </a:xfrm>
        </p:grpSpPr>
        <p:sp>
          <p:nvSpPr>
            <p:cNvPr id="21" name="Rounded Rectangle 20"/>
            <p:cNvSpPr/>
            <p:nvPr/>
          </p:nvSpPr>
          <p:spPr>
            <a:xfrm>
              <a:off x="36018" y="4213412"/>
              <a:ext cx="1164664" cy="282388"/>
            </a:xfrm>
            <a:prstGeom prst="roundRect">
              <a:avLst/>
            </a:prstGeom>
            <a:solidFill>
              <a:srgbClr val="8064A2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Segoe UI" panose="020B0502040204020203" pitchFamily="34" charset="0"/>
                </a:rPr>
                <a:t>SRS definition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151217" y="4502434"/>
              <a:ext cx="1025339" cy="280894"/>
            </a:xfrm>
            <a:prstGeom prst="roundRect">
              <a:avLst/>
            </a:prstGeom>
            <a:solidFill>
              <a:srgbClr val="006699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Segoe UI" panose="020B0502040204020203" pitchFamily="34" charset="0"/>
                </a:rPr>
                <a:t>SRS analysis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476561" y="4799203"/>
              <a:ext cx="885639" cy="282388"/>
            </a:xfrm>
            <a:prstGeom prst="roundRect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Segoe UI" panose="020B0502040204020203" pitchFamily="34" charset="0"/>
                </a:rPr>
                <a:t>BD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741767" y="5091867"/>
              <a:ext cx="790389" cy="280894"/>
            </a:xfrm>
            <a:prstGeom prst="roundRect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Segoe UI" panose="020B0502040204020203" pitchFamily="34" charset="0"/>
                </a:rPr>
                <a:t>DD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303556" y="5383780"/>
              <a:ext cx="1544544" cy="280895"/>
            </a:xfrm>
            <a:prstGeom prst="roundRect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Segoe UI" panose="020B0502040204020203" pitchFamily="34" charset="0"/>
                </a:rPr>
                <a:t>Coding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3625850" y="5095042"/>
              <a:ext cx="787400" cy="280894"/>
            </a:xfrm>
            <a:prstGeom prst="roundRect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Segoe UI" panose="020B0502040204020203" pitchFamily="34" charset="0"/>
                </a:rPr>
                <a:t>UT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810000" y="4800853"/>
              <a:ext cx="787400" cy="282388"/>
            </a:xfrm>
            <a:prstGeom prst="roundRect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Segoe UI" panose="020B0502040204020203" pitchFamily="34" charset="0"/>
                </a:rPr>
                <a:t>IT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4165600" y="4503336"/>
              <a:ext cx="787400" cy="280894"/>
            </a:xfrm>
            <a:prstGeom prst="roundRect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Segoe UI" panose="020B0502040204020203" pitchFamily="34" charset="0"/>
                </a:rPr>
                <a:t>ST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5077522" y="4198572"/>
              <a:ext cx="1123950" cy="282388"/>
            </a:xfrm>
            <a:prstGeom prst="roundRect">
              <a:avLst/>
            </a:prstGeom>
            <a:solidFill>
              <a:srgbClr val="9BBB59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Segoe UI" panose="020B0502040204020203" pitchFamily="34" charset="0"/>
                </a:rPr>
                <a:t>Deployment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070594" y="4493912"/>
              <a:ext cx="1123950" cy="280894"/>
            </a:xfrm>
            <a:prstGeom prst="roundRect">
              <a:avLst/>
            </a:prstGeom>
            <a:solidFill>
              <a:srgbClr val="9BBB59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Segoe UI" panose="020B0502040204020203" pitchFamily="34" charset="0"/>
                </a:rPr>
                <a:t>Migration DB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5070594" y="4791923"/>
              <a:ext cx="1123950" cy="280894"/>
            </a:xfrm>
            <a:prstGeom prst="roundRect">
              <a:avLst/>
            </a:prstGeom>
            <a:solidFill>
              <a:srgbClr val="9BBB59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Segoe UI" panose="020B0502040204020203" pitchFamily="34" charset="0"/>
                </a:rPr>
                <a:t>User training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5121" y="4512710"/>
              <a:ext cx="923364" cy="506132"/>
            </a:xfrm>
            <a:prstGeom prst="roundRect">
              <a:avLst/>
            </a:prstGeom>
            <a:solidFill>
              <a:srgbClr val="9BBB59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Segoe UI" panose="020B0502040204020203" pitchFamily="34" charset="0"/>
                </a:rPr>
                <a:t>Operation Design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1888441" y="5889811"/>
              <a:ext cx="1039097" cy="282389"/>
            </a:xfrm>
            <a:prstGeom prst="roundRect">
              <a:avLst/>
            </a:prstGeom>
            <a:solidFill>
              <a:srgbClr val="9BBB59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Segoe UI" panose="020B0502040204020203" pitchFamily="34" charset="0"/>
                </a:rPr>
                <a:t>Customer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2982508" y="5902956"/>
              <a:ext cx="1191935" cy="274215"/>
            </a:xfrm>
            <a:prstGeom prst="roundRect">
              <a:avLst/>
            </a:prstGeom>
            <a:solidFill>
              <a:srgbClr val="006699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kern="0" dirty="0">
                  <a:solidFill>
                    <a:schemeClr val="bg1"/>
                  </a:solidFill>
                  <a:cs typeface="Segoe UI" panose="020B0502040204020203" pitchFamily="34" charset="0"/>
                </a:rPr>
                <a:t>Customer</a:t>
              </a: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Segoe UI" panose="020B0502040204020203" pitchFamily="34" charset="0"/>
                </a:rPr>
                <a:t> &amp; FPT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4236002" y="5904107"/>
              <a:ext cx="1047750" cy="280894"/>
            </a:xfrm>
            <a:prstGeom prst="roundRect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Segoe UI" panose="020B0502040204020203" pitchFamily="34" charset="0"/>
                </a:rPr>
                <a:t>FPT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889186" y="5887671"/>
              <a:ext cx="944284" cy="282388"/>
            </a:xfrm>
            <a:prstGeom prst="roundRect">
              <a:avLst/>
            </a:prstGeom>
            <a:solidFill>
              <a:srgbClr val="8064A2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Segoe UI" panose="020B0502040204020203" pitchFamily="34" charset="0"/>
                </a:rPr>
                <a:t>End</a:t>
              </a:r>
              <a:r>
                <a:rPr kumimoji="0" lang="en-US" sz="1100" b="0" i="0" u="none" strike="noStrike" kern="0" cap="none" spc="0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Segoe UI" panose="020B0502040204020203" pitchFamily="34" charset="0"/>
                </a:rPr>
                <a:t> User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Segoe UI" panose="020B0502040204020203" pitchFamily="34" charset="0"/>
                </a:rPr>
                <a:t> 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028485" y="4466766"/>
              <a:ext cx="4042109" cy="1324434"/>
            </a:xfrm>
            <a:prstGeom prst="roundRect">
              <a:avLst/>
            </a:prstGeom>
            <a:noFill/>
            <a:ln w="12700">
              <a:solidFill>
                <a:srgbClr val="FFC000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/>
                </a:solidFill>
                <a:cs typeface="Segoe UI" panose="020B0502040204020203" pitchFamily="34" charset="0"/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1512277" y="5085957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  <a:cs typeface="Segoe UI Light" panose="020B0502040204020203" pitchFamily="34" charset="0"/>
              </a:rPr>
              <a:t>(baseline &lt;YYYY-MMM&gt;)</a:t>
            </a:r>
          </a:p>
        </p:txBody>
      </p:sp>
    </p:spTree>
    <p:extLst>
      <p:ext uri="{BB962C8B-B14F-4D97-AF65-F5344CB8AC3E}">
        <p14:creationId xmlns:p14="http://schemas.microsoft.com/office/powerpoint/2010/main" val="4237114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B915BB-5740-D149-BC24-36D1DC5C18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Technical Solution Overview</a:t>
            </a:r>
          </a:p>
        </p:txBody>
      </p:sp>
    </p:spTree>
    <p:extLst>
      <p:ext uri="{BB962C8B-B14F-4D97-AF65-F5344CB8AC3E}">
        <p14:creationId xmlns:p14="http://schemas.microsoft.com/office/powerpoint/2010/main" val="4290124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4774F1-CA9E-214D-AE9D-CD5A376986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010FB-6F3B-D842-9CE7-E573A6F23C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94597" y="1679705"/>
            <a:ext cx="3831359" cy="1080873"/>
          </a:xfrm>
        </p:spPr>
        <p:txBody>
          <a:bodyPr/>
          <a:lstStyle/>
          <a:p>
            <a:r>
              <a:rPr lang="en-US" dirty="0">
                <a:latin typeface="Montserrat"/>
              </a:rPr>
              <a:t>Management</a:t>
            </a:r>
            <a:endParaRPr lang="vi-VN"/>
          </a:p>
          <a:p>
            <a:r>
              <a:rPr lang="en-US" dirty="0">
                <a:latin typeface="Montserrat"/>
              </a:rPr>
              <a:t>Approach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7A7D1E-CFA2-F24A-B0BB-9F9C93D36E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69763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12">
            <a:extLst>
              <a:ext uri="{FF2B5EF4-FFF2-40B4-BE49-F238E27FC236}">
                <a16:creationId xmlns:a16="http://schemas.microsoft.com/office/drawing/2014/main" id="{260DAC62-CD84-AC41-84B2-501843C1B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1331" y="6015832"/>
            <a:ext cx="730544" cy="765705"/>
          </a:xfrm>
          <a:custGeom>
            <a:avLst/>
            <a:gdLst>
              <a:gd name="T0" fmla="*/ 2219 w 2473"/>
              <a:gd name="T1" fmla="*/ 41 h 2594"/>
              <a:gd name="T2" fmla="*/ 2219 w 2473"/>
              <a:gd name="T3" fmla="*/ 41 h 2594"/>
              <a:gd name="T4" fmla="*/ 2338 w 2473"/>
              <a:gd name="T5" fmla="*/ 342 h 2594"/>
              <a:gd name="T6" fmla="*/ 2457 w 2473"/>
              <a:gd name="T7" fmla="*/ 1337 h 2594"/>
              <a:gd name="T8" fmla="*/ 2457 w 2473"/>
              <a:gd name="T9" fmla="*/ 1337 h 2594"/>
              <a:gd name="T10" fmla="*/ 2367 w 2473"/>
              <a:gd name="T11" fmla="*/ 1743 h 2594"/>
              <a:gd name="T12" fmla="*/ 1844 w 2473"/>
              <a:gd name="T13" fmla="*/ 2499 h 2594"/>
              <a:gd name="T14" fmla="*/ 1844 w 2473"/>
              <a:gd name="T15" fmla="*/ 2499 h 2594"/>
              <a:gd name="T16" fmla="*/ 1633 w 2473"/>
              <a:gd name="T17" fmla="*/ 2424 h 2594"/>
              <a:gd name="T18" fmla="*/ 1349 w 2473"/>
              <a:gd name="T19" fmla="*/ 1675 h 2594"/>
              <a:gd name="T20" fmla="*/ 1349 w 2473"/>
              <a:gd name="T21" fmla="*/ 1675 h 2594"/>
              <a:gd name="T22" fmla="*/ 997 w 2473"/>
              <a:gd name="T23" fmla="*/ 1425 h 2594"/>
              <a:gd name="T24" fmla="*/ 205 w 2473"/>
              <a:gd name="T25" fmla="*/ 1410 h 2594"/>
              <a:gd name="T26" fmla="*/ 205 w 2473"/>
              <a:gd name="T27" fmla="*/ 1410 h 2594"/>
              <a:gd name="T28" fmla="*/ 64 w 2473"/>
              <a:gd name="T29" fmla="*/ 1234 h 2594"/>
              <a:gd name="T30" fmla="*/ 587 w 2473"/>
              <a:gd name="T31" fmla="*/ 478 h 2594"/>
              <a:gd name="T32" fmla="*/ 587 w 2473"/>
              <a:gd name="T33" fmla="*/ 478 h 2594"/>
              <a:gd name="T34" fmla="*/ 934 w 2473"/>
              <a:gd name="T35" fmla="*/ 254 h 2594"/>
              <a:gd name="T36" fmla="*/ 1897 w 2473"/>
              <a:gd name="T37" fmla="*/ 28 h 2594"/>
              <a:gd name="T38" fmla="*/ 1897 w 2473"/>
              <a:gd name="T39" fmla="*/ 28 h 2594"/>
              <a:gd name="T40" fmla="*/ 2219 w 2473"/>
              <a:gd name="T41" fmla="*/ 41 h 2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73" h="2594">
                <a:moveTo>
                  <a:pt x="2219" y="41"/>
                </a:moveTo>
                <a:lnTo>
                  <a:pt x="2219" y="41"/>
                </a:lnTo>
                <a:cubicBezTo>
                  <a:pt x="2268" y="77"/>
                  <a:pt x="2323" y="213"/>
                  <a:pt x="2338" y="342"/>
                </a:cubicBezTo>
                <a:lnTo>
                  <a:pt x="2457" y="1337"/>
                </a:lnTo>
                <a:lnTo>
                  <a:pt x="2457" y="1337"/>
                </a:lnTo>
                <a:cubicBezTo>
                  <a:pt x="2472" y="1468"/>
                  <a:pt x="2431" y="1650"/>
                  <a:pt x="2367" y="1743"/>
                </a:cubicBezTo>
                <a:lnTo>
                  <a:pt x="1844" y="2499"/>
                </a:lnTo>
                <a:lnTo>
                  <a:pt x="1844" y="2499"/>
                </a:lnTo>
                <a:cubicBezTo>
                  <a:pt x="1780" y="2593"/>
                  <a:pt x="1684" y="2559"/>
                  <a:pt x="1633" y="2424"/>
                </a:cubicBezTo>
                <a:lnTo>
                  <a:pt x="1349" y="1675"/>
                </a:lnTo>
                <a:lnTo>
                  <a:pt x="1349" y="1675"/>
                </a:lnTo>
                <a:cubicBezTo>
                  <a:pt x="1298" y="1540"/>
                  <a:pt x="1140" y="1428"/>
                  <a:pt x="997" y="1425"/>
                </a:cubicBezTo>
                <a:lnTo>
                  <a:pt x="205" y="1410"/>
                </a:lnTo>
                <a:lnTo>
                  <a:pt x="205" y="1410"/>
                </a:lnTo>
                <a:cubicBezTo>
                  <a:pt x="64" y="1407"/>
                  <a:pt x="0" y="1328"/>
                  <a:pt x="64" y="1234"/>
                </a:cubicBezTo>
                <a:lnTo>
                  <a:pt x="587" y="478"/>
                </a:lnTo>
                <a:lnTo>
                  <a:pt x="587" y="478"/>
                </a:lnTo>
                <a:cubicBezTo>
                  <a:pt x="653" y="385"/>
                  <a:pt x="809" y="284"/>
                  <a:pt x="934" y="254"/>
                </a:cubicBezTo>
                <a:lnTo>
                  <a:pt x="1897" y="28"/>
                </a:lnTo>
                <a:lnTo>
                  <a:pt x="1897" y="28"/>
                </a:lnTo>
                <a:cubicBezTo>
                  <a:pt x="2023" y="0"/>
                  <a:pt x="2167" y="4"/>
                  <a:pt x="2219" y="41"/>
                </a:cubicBezTo>
              </a:path>
            </a:pathLst>
          </a:custGeom>
          <a:solidFill>
            <a:srgbClr val="54B8A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Lato Light" panose="020F0502020204030203" pitchFamily="34" charset="0"/>
            </a:endParaRPr>
          </a:p>
        </p:txBody>
      </p:sp>
      <p:sp>
        <p:nvSpPr>
          <p:cNvPr id="30" name="Freeform 14">
            <a:extLst>
              <a:ext uri="{FF2B5EF4-FFF2-40B4-BE49-F238E27FC236}">
                <a16:creationId xmlns:a16="http://schemas.microsoft.com/office/drawing/2014/main" id="{BB67A3D3-BEEF-8D47-A820-D11506F3B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3139" y="6027552"/>
            <a:ext cx="737056" cy="755287"/>
          </a:xfrm>
          <a:custGeom>
            <a:avLst/>
            <a:gdLst>
              <a:gd name="T0" fmla="*/ 205 w 2497"/>
              <a:gd name="T1" fmla="*/ 47 h 2556"/>
              <a:gd name="T2" fmla="*/ 205 w 2497"/>
              <a:gd name="T3" fmla="*/ 47 h 2556"/>
              <a:gd name="T4" fmla="*/ 528 w 2497"/>
              <a:gd name="T5" fmla="*/ 26 h 2556"/>
              <a:gd name="T6" fmla="*/ 1510 w 2497"/>
              <a:gd name="T7" fmla="*/ 221 h 2556"/>
              <a:gd name="T8" fmla="*/ 1510 w 2497"/>
              <a:gd name="T9" fmla="*/ 221 h 2556"/>
              <a:gd name="T10" fmla="*/ 1870 w 2497"/>
              <a:gd name="T11" fmla="*/ 431 h 2556"/>
              <a:gd name="T12" fmla="*/ 2427 w 2497"/>
              <a:gd name="T13" fmla="*/ 1163 h 2556"/>
              <a:gd name="T14" fmla="*/ 2427 w 2497"/>
              <a:gd name="T15" fmla="*/ 1163 h 2556"/>
              <a:gd name="T16" fmla="*/ 2289 w 2497"/>
              <a:gd name="T17" fmla="*/ 1339 h 2556"/>
              <a:gd name="T18" fmla="*/ 1490 w 2497"/>
              <a:gd name="T19" fmla="*/ 1379 h 2556"/>
              <a:gd name="T20" fmla="*/ 1490 w 2497"/>
              <a:gd name="T21" fmla="*/ 1379 h 2556"/>
              <a:gd name="T22" fmla="*/ 1143 w 2497"/>
              <a:gd name="T23" fmla="*/ 1635 h 2556"/>
              <a:gd name="T24" fmla="*/ 884 w 2497"/>
              <a:gd name="T25" fmla="*/ 2384 h 2556"/>
              <a:gd name="T26" fmla="*/ 884 w 2497"/>
              <a:gd name="T27" fmla="*/ 2384 h 2556"/>
              <a:gd name="T28" fmla="*/ 673 w 2497"/>
              <a:gd name="T29" fmla="*/ 2465 h 2556"/>
              <a:gd name="T30" fmla="*/ 116 w 2497"/>
              <a:gd name="T31" fmla="*/ 1733 h 2556"/>
              <a:gd name="T32" fmla="*/ 116 w 2497"/>
              <a:gd name="T33" fmla="*/ 1733 h 2556"/>
              <a:gd name="T34" fmla="*/ 11 w 2497"/>
              <a:gd name="T35" fmla="*/ 1335 h 2556"/>
              <a:gd name="T36" fmla="*/ 95 w 2497"/>
              <a:gd name="T37" fmla="*/ 348 h 2556"/>
              <a:gd name="T38" fmla="*/ 95 w 2497"/>
              <a:gd name="T39" fmla="*/ 348 h 2556"/>
              <a:gd name="T40" fmla="*/ 205 w 2497"/>
              <a:gd name="T41" fmla="*/ 47 h 25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97" h="2556">
                <a:moveTo>
                  <a:pt x="205" y="47"/>
                </a:moveTo>
                <a:lnTo>
                  <a:pt x="205" y="47"/>
                </a:lnTo>
                <a:cubicBezTo>
                  <a:pt x="254" y="10"/>
                  <a:pt x="400" y="0"/>
                  <a:pt x="528" y="26"/>
                </a:cubicBezTo>
                <a:lnTo>
                  <a:pt x="1510" y="221"/>
                </a:lnTo>
                <a:lnTo>
                  <a:pt x="1510" y="221"/>
                </a:lnTo>
                <a:cubicBezTo>
                  <a:pt x="1640" y="246"/>
                  <a:pt x="1801" y="341"/>
                  <a:pt x="1870" y="431"/>
                </a:cubicBezTo>
                <a:lnTo>
                  <a:pt x="2427" y="1163"/>
                </a:lnTo>
                <a:lnTo>
                  <a:pt x="2427" y="1163"/>
                </a:lnTo>
                <a:cubicBezTo>
                  <a:pt x="2496" y="1253"/>
                  <a:pt x="2434" y="1332"/>
                  <a:pt x="2289" y="1339"/>
                </a:cubicBezTo>
                <a:lnTo>
                  <a:pt x="1490" y="1379"/>
                </a:lnTo>
                <a:lnTo>
                  <a:pt x="1490" y="1379"/>
                </a:lnTo>
                <a:cubicBezTo>
                  <a:pt x="1347" y="1386"/>
                  <a:pt x="1190" y="1501"/>
                  <a:pt x="1143" y="1635"/>
                </a:cubicBezTo>
                <a:lnTo>
                  <a:pt x="884" y="2384"/>
                </a:lnTo>
                <a:lnTo>
                  <a:pt x="884" y="2384"/>
                </a:lnTo>
                <a:cubicBezTo>
                  <a:pt x="837" y="2518"/>
                  <a:pt x="742" y="2555"/>
                  <a:pt x="673" y="2465"/>
                </a:cubicBezTo>
                <a:lnTo>
                  <a:pt x="116" y="1733"/>
                </a:lnTo>
                <a:lnTo>
                  <a:pt x="116" y="1733"/>
                </a:lnTo>
                <a:cubicBezTo>
                  <a:pt x="48" y="1642"/>
                  <a:pt x="0" y="1463"/>
                  <a:pt x="11" y="1335"/>
                </a:cubicBezTo>
                <a:lnTo>
                  <a:pt x="95" y="348"/>
                </a:lnTo>
                <a:lnTo>
                  <a:pt x="95" y="348"/>
                </a:lnTo>
                <a:cubicBezTo>
                  <a:pt x="105" y="220"/>
                  <a:pt x="154" y="84"/>
                  <a:pt x="205" y="47"/>
                </a:cubicBezTo>
              </a:path>
            </a:pathLst>
          </a:custGeom>
          <a:solidFill>
            <a:srgbClr val="437D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Lato Light" panose="020F0502020204030203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B17CE2-8399-BE4A-8BBF-96453C6542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/>
              <a:t>Project OKR</a:t>
            </a:r>
            <a:endParaRPr lang="en-US" sz="3000" dirty="0"/>
          </a:p>
        </p:txBody>
      </p:sp>
      <p:sp>
        <p:nvSpPr>
          <p:cNvPr id="5" name="Freeform 1">
            <a:extLst>
              <a:ext uri="{FF2B5EF4-FFF2-40B4-BE49-F238E27FC236}">
                <a16:creationId xmlns:a16="http://schemas.microsoft.com/office/drawing/2014/main" id="{59FF6BEA-6C83-D44A-AF88-106BF0A4D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5410" y="2828002"/>
            <a:ext cx="3288101" cy="3288101"/>
          </a:xfrm>
          <a:custGeom>
            <a:avLst/>
            <a:gdLst>
              <a:gd name="T0" fmla="*/ 5571 w 11134"/>
              <a:gd name="T1" fmla="*/ 11132 h 11134"/>
              <a:gd name="T2" fmla="*/ 5571 w 11134"/>
              <a:gd name="T3" fmla="*/ 11132 h 11134"/>
              <a:gd name="T4" fmla="*/ 11131 w 11134"/>
              <a:gd name="T5" fmla="*/ 5563 h 11134"/>
              <a:gd name="T6" fmla="*/ 11131 w 11134"/>
              <a:gd name="T7" fmla="*/ 5563 h 11134"/>
              <a:gd name="T8" fmla="*/ 5563 w 11134"/>
              <a:gd name="T9" fmla="*/ 3 h 11134"/>
              <a:gd name="T10" fmla="*/ 5563 w 11134"/>
              <a:gd name="T11" fmla="*/ 3 h 11134"/>
              <a:gd name="T12" fmla="*/ 2 w 11134"/>
              <a:gd name="T13" fmla="*/ 5571 h 11134"/>
              <a:gd name="T14" fmla="*/ 2 w 11134"/>
              <a:gd name="T15" fmla="*/ 5571 h 11134"/>
              <a:gd name="T16" fmla="*/ 5571 w 11134"/>
              <a:gd name="T17" fmla="*/ 11132 h 11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134" h="11134">
                <a:moveTo>
                  <a:pt x="5571" y="11132"/>
                </a:moveTo>
                <a:lnTo>
                  <a:pt x="5571" y="11132"/>
                </a:lnTo>
                <a:cubicBezTo>
                  <a:pt x="8644" y="11128"/>
                  <a:pt x="11133" y="8636"/>
                  <a:pt x="11131" y="5563"/>
                </a:cubicBezTo>
                <a:lnTo>
                  <a:pt x="11131" y="5563"/>
                </a:lnTo>
                <a:cubicBezTo>
                  <a:pt x="11129" y="2489"/>
                  <a:pt x="8635" y="0"/>
                  <a:pt x="5563" y="3"/>
                </a:cubicBezTo>
                <a:lnTo>
                  <a:pt x="5563" y="3"/>
                </a:lnTo>
                <a:cubicBezTo>
                  <a:pt x="2491" y="5"/>
                  <a:pt x="0" y="2498"/>
                  <a:pt x="2" y="5571"/>
                </a:cubicBezTo>
                <a:lnTo>
                  <a:pt x="2" y="5571"/>
                </a:lnTo>
                <a:cubicBezTo>
                  <a:pt x="4" y="8644"/>
                  <a:pt x="2498" y="11133"/>
                  <a:pt x="5571" y="11132"/>
                </a:cubicBezTo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1B9A44A9-9F43-914E-BFC7-3634DDC6C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7506" y="2594489"/>
            <a:ext cx="1879223" cy="3757021"/>
          </a:xfrm>
          <a:custGeom>
            <a:avLst/>
            <a:gdLst>
              <a:gd name="connsiteX0" fmla="*/ 2882 w 4156546"/>
              <a:gd name="connsiteY0" fmla="*/ 3371527 h 8309941"/>
              <a:gd name="connsiteX1" fmla="*/ 785018 w 4156546"/>
              <a:gd name="connsiteY1" fmla="*/ 4150918 h 8309941"/>
              <a:gd name="connsiteX2" fmla="*/ 3535 w 4156546"/>
              <a:gd name="connsiteY2" fmla="*/ 4934226 h 8309941"/>
              <a:gd name="connsiteX3" fmla="*/ 2 w 4156546"/>
              <a:gd name="connsiteY3" fmla="*/ 1695844 h 8309941"/>
              <a:gd name="connsiteX4" fmla="*/ 2461354 w 4156546"/>
              <a:gd name="connsiteY4" fmla="*/ 4153009 h 8309941"/>
              <a:gd name="connsiteX5" fmla="*/ 3268 w 4156546"/>
              <a:gd name="connsiteY5" fmla="*/ 6613440 h 8309941"/>
              <a:gd name="connsiteX6" fmla="*/ 2615 w 4156546"/>
              <a:gd name="connsiteY6" fmla="*/ 5668729 h 8309941"/>
              <a:gd name="connsiteX7" fmla="*/ 1516791 w 4156546"/>
              <a:gd name="connsiteY7" fmla="*/ 4153663 h 8309941"/>
              <a:gd name="connsiteX8" fmla="*/ 655 w 4156546"/>
              <a:gd name="connsiteY8" fmla="*/ 2639249 h 8309941"/>
              <a:gd name="connsiteX9" fmla="*/ 0 w 4156546"/>
              <a:gd name="connsiteY9" fmla="*/ 1 h 8309941"/>
              <a:gd name="connsiteX10" fmla="*/ 4156545 w 4156546"/>
              <a:gd name="connsiteY10" fmla="*/ 4152031 h 8309941"/>
              <a:gd name="connsiteX11" fmla="*/ 5877 w 4156546"/>
              <a:gd name="connsiteY11" fmla="*/ 8309941 h 8309941"/>
              <a:gd name="connsiteX12" fmla="*/ 4571 w 4156546"/>
              <a:gd name="connsiteY12" fmla="*/ 7365348 h 8309941"/>
              <a:gd name="connsiteX13" fmla="*/ 3212914 w 4156546"/>
              <a:gd name="connsiteY13" fmla="*/ 4153338 h 8309941"/>
              <a:gd name="connsiteX14" fmla="*/ 0 w 4156546"/>
              <a:gd name="connsiteY14" fmla="*/ 943288 h 8309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56546" h="8309941">
                <a:moveTo>
                  <a:pt x="2882" y="3371527"/>
                </a:moveTo>
                <a:cubicBezTo>
                  <a:pt x="435081" y="3370874"/>
                  <a:pt x="784365" y="3719446"/>
                  <a:pt x="785018" y="4150918"/>
                </a:cubicBezTo>
                <a:cubicBezTo>
                  <a:pt x="785671" y="4583043"/>
                  <a:pt x="436387" y="4934226"/>
                  <a:pt x="3535" y="4934226"/>
                </a:cubicBezTo>
                <a:close/>
                <a:moveTo>
                  <a:pt x="2" y="1695844"/>
                </a:moveTo>
                <a:cubicBezTo>
                  <a:pt x="1355444" y="1694538"/>
                  <a:pt x="2460701" y="2796701"/>
                  <a:pt x="2461354" y="4153009"/>
                </a:cubicBezTo>
                <a:cubicBezTo>
                  <a:pt x="2462008" y="5507357"/>
                  <a:pt x="1359364" y="6612788"/>
                  <a:pt x="3268" y="6613440"/>
                </a:cubicBezTo>
                <a:lnTo>
                  <a:pt x="2615" y="5668729"/>
                </a:lnTo>
                <a:cubicBezTo>
                  <a:pt x="839396" y="5668076"/>
                  <a:pt x="1517444" y="4989269"/>
                  <a:pt x="1516791" y="4153663"/>
                </a:cubicBezTo>
                <a:cubicBezTo>
                  <a:pt x="1515484" y="3316750"/>
                  <a:pt x="837437" y="2638596"/>
                  <a:pt x="655" y="2639249"/>
                </a:cubicBezTo>
                <a:close/>
                <a:moveTo>
                  <a:pt x="0" y="1"/>
                </a:moveTo>
                <a:cubicBezTo>
                  <a:pt x="2290834" y="-1959"/>
                  <a:pt x="4154586" y="1860445"/>
                  <a:pt x="4156545" y="4152031"/>
                </a:cubicBezTo>
                <a:cubicBezTo>
                  <a:pt x="4158504" y="6442964"/>
                  <a:pt x="2296712" y="8308634"/>
                  <a:pt x="5877" y="8309941"/>
                </a:cubicBezTo>
                <a:lnTo>
                  <a:pt x="4571" y="7365348"/>
                </a:lnTo>
                <a:cubicBezTo>
                  <a:pt x="1774939" y="7364041"/>
                  <a:pt x="3214220" y="5922980"/>
                  <a:pt x="3212914" y="4153338"/>
                </a:cubicBezTo>
                <a:cubicBezTo>
                  <a:pt x="3210956" y="2381735"/>
                  <a:pt x="1770368" y="941981"/>
                  <a:pt x="0" y="943288"/>
                </a:cubicBezTo>
                <a:close/>
              </a:path>
            </a:pathLst>
          </a:custGeom>
          <a:solidFill>
            <a:srgbClr val="62CD7F">
              <a:lumMod val="50000"/>
            </a:srgbClr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F33BA2A3-4ED0-B042-9B83-B1F57FC4C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0593" y="2593603"/>
            <a:ext cx="1880525" cy="3756726"/>
          </a:xfrm>
          <a:custGeom>
            <a:avLst/>
            <a:gdLst>
              <a:gd name="connsiteX0" fmla="*/ 4153013 w 4159426"/>
              <a:gd name="connsiteY0" fmla="*/ 3372833 h 8309289"/>
              <a:gd name="connsiteX1" fmla="*/ 4153667 w 4159426"/>
              <a:gd name="connsiteY1" fmla="*/ 4936185 h 8309289"/>
              <a:gd name="connsiteX2" fmla="*/ 3370878 w 4159426"/>
              <a:gd name="connsiteY2" fmla="*/ 4153856 h 8309289"/>
              <a:gd name="connsiteX3" fmla="*/ 4153013 w 4159426"/>
              <a:gd name="connsiteY3" fmla="*/ 3372833 h 8309289"/>
              <a:gd name="connsiteX4" fmla="*/ 4150404 w 4159426"/>
              <a:gd name="connsiteY4" fmla="*/ 1696497 h 8309289"/>
              <a:gd name="connsiteX5" fmla="*/ 4151057 w 4159426"/>
              <a:gd name="connsiteY5" fmla="*/ 2639475 h 8309289"/>
              <a:gd name="connsiteX6" fmla="*/ 2639808 w 4159426"/>
              <a:gd name="connsiteY6" fmla="*/ 4155162 h 8309289"/>
              <a:gd name="connsiteX7" fmla="*/ 4153016 w 4159426"/>
              <a:gd name="connsiteY7" fmla="*/ 5667584 h 8309289"/>
              <a:gd name="connsiteX8" fmla="*/ 4153668 w 4159426"/>
              <a:gd name="connsiteY8" fmla="*/ 6611868 h 8309289"/>
              <a:gd name="connsiteX9" fmla="*/ 1695196 w 4159426"/>
              <a:gd name="connsiteY9" fmla="*/ 4156468 h 8309289"/>
              <a:gd name="connsiteX10" fmla="*/ 4150404 w 4159426"/>
              <a:gd name="connsiteY10" fmla="*/ 1696497 h 8309289"/>
              <a:gd name="connsiteX11" fmla="*/ 4152893 w 4159426"/>
              <a:gd name="connsiteY11" fmla="*/ 0 h 8309289"/>
              <a:gd name="connsiteX12" fmla="*/ 4153546 w 4159426"/>
              <a:gd name="connsiteY12" fmla="*/ 943213 h 8309289"/>
              <a:gd name="connsiteX13" fmla="*/ 944791 w 4159426"/>
              <a:gd name="connsiteY13" fmla="*/ 4157583 h 8309289"/>
              <a:gd name="connsiteX14" fmla="*/ 4158120 w 4159426"/>
              <a:gd name="connsiteY14" fmla="*/ 7364768 h 8309289"/>
              <a:gd name="connsiteX15" fmla="*/ 4159426 w 4159426"/>
              <a:gd name="connsiteY15" fmla="*/ 8309287 h 8309289"/>
              <a:gd name="connsiteX16" fmla="*/ 2 w 4159426"/>
              <a:gd name="connsiteY16" fmla="*/ 4157583 h 8309289"/>
              <a:gd name="connsiteX17" fmla="*/ 4152893 w 4159426"/>
              <a:gd name="connsiteY17" fmla="*/ 0 h 8309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159426" h="8309289">
                <a:moveTo>
                  <a:pt x="4153013" y="3372833"/>
                </a:moveTo>
                <a:lnTo>
                  <a:pt x="4153667" y="4936185"/>
                </a:lnTo>
                <a:cubicBezTo>
                  <a:pt x="3722414" y="4936185"/>
                  <a:pt x="3370878" y="4586161"/>
                  <a:pt x="3370878" y="4153856"/>
                </a:cubicBezTo>
                <a:cubicBezTo>
                  <a:pt x="3370878" y="3722857"/>
                  <a:pt x="3721761" y="3372833"/>
                  <a:pt x="4153013" y="3372833"/>
                </a:cubicBezTo>
                <a:close/>
                <a:moveTo>
                  <a:pt x="4150404" y="1696497"/>
                </a:moveTo>
                <a:lnTo>
                  <a:pt x="4151057" y="2639475"/>
                </a:lnTo>
                <a:cubicBezTo>
                  <a:pt x="3316116" y="2641434"/>
                  <a:pt x="2639155" y="3319281"/>
                  <a:pt x="2639808" y="4155162"/>
                </a:cubicBezTo>
                <a:cubicBezTo>
                  <a:pt x="2639808" y="4990390"/>
                  <a:pt x="3318075" y="5668237"/>
                  <a:pt x="4153016" y="5667584"/>
                </a:cubicBezTo>
                <a:lnTo>
                  <a:pt x="4153668" y="6611868"/>
                </a:lnTo>
                <a:cubicBezTo>
                  <a:pt x="2799746" y="6612521"/>
                  <a:pt x="1695849" y="5510856"/>
                  <a:pt x="1695196" y="4156468"/>
                </a:cubicBezTo>
                <a:cubicBezTo>
                  <a:pt x="1694543" y="2800774"/>
                  <a:pt x="2796482" y="1697803"/>
                  <a:pt x="4150404" y="1696497"/>
                </a:cubicBezTo>
                <a:close/>
                <a:moveTo>
                  <a:pt x="4152893" y="0"/>
                </a:moveTo>
                <a:lnTo>
                  <a:pt x="4153546" y="943213"/>
                </a:lnTo>
                <a:cubicBezTo>
                  <a:pt x="2383536" y="945173"/>
                  <a:pt x="943485" y="2386120"/>
                  <a:pt x="944791" y="4157583"/>
                </a:cubicBezTo>
                <a:cubicBezTo>
                  <a:pt x="946098" y="5926433"/>
                  <a:pt x="2387457" y="7366074"/>
                  <a:pt x="4158120" y="7364768"/>
                </a:cubicBezTo>
                <a:lnTo>
                  <a:pt x="4159426" y="8309287"/>
                </a:lnTo>
                <a:cubicBezTo>
                  <a:pt x="1868019" y="8311900"/>
                  <a:pt x="1962" y="6448336"/>
                  <a:pt x="2" y="4157583"/>
                </a:cubicBezTo>
                <a:cubicBezTo>
                  <a:pt x="-1958" y="1865524"/>
                  <a:pt x="1861485" y="1960"/>
                  <a:pt x="4152893" y="0"/>
                </a:cubicBezTo>
                <a:close/>
              </a:path>
            </a:pathLst>
          </a:custGeom>
          <a:solidFill>
            <a:srgbClr val="62CD7F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2523D65-4561-8E40-8DF4-62C1A874C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1952" y="1816178"/>
            <a:ext cx="652412" cy="700594"/>
          </a:xfrm>
          <a:custGeom>
            <a:avLst/>
            <a:gdLst>
              <a:gd name="T0" fmla="*/ 1145 w 2211"/>
              <a:gd name="T1" fmla="*/ 2371 h 2372"/>
              <a:gd name="T2" fmla="*/ 1145 w 2211"/>
              <a:gd name="T3" fmla="*/ 2371 h 2372"/>
              <a:gd name="T4" fmla="*/ 870 w 2211"/>
              <a:gd name="T5" fmla="*/ 2197 h 2372"/>
              <a:gd name="T6" fmla="*/ 190 w 2211"/>
              <a:gd name="T7" fmla="*/ 1461 h 2372"/>
              <a:gd name="T8" fmla="*/ 190 w 2211"/>
              <a:gd name="T9" fmla="*/ 1461 h 2372"/>
              <a:gd name="T10" fmla="*/ 23 w 2211"/>
              <a:gd name="T11" fmla="*/ 1081 h 2372"/>
              <a:gd name="T12" fmla="*/ 2 w 2211"/>
              <a:gd name="T13" fmla="*/ 161 h 2372"/>
              <a:gd name="T14" fmla="*/ 2 w 2211"/>
              <a:gd name="T15" fmla="*/ 161 h 2372"/>
              <a:gd name="T16" fmla="*/ 218 w 2211"/>
              <a:gd name="T17" fmla="*/ 99 h 2372"/>
              <a:gd name="T18" fmla="*/ 887 w 2211"/>
              <a:gd name="T19" fmla="*/ 536 h 2372"/>
              <a:gd name="T20" fmla="*/ 887 w 2211"/>
              <a:gd name="T21" fmla="*/ 536 h 2372"/>
              <a:gd name="T22" fmla="*/ 1319 w 2211"/>
              <a:gd name="T23" fmla="*/ 532 h 2372"/>
              <a:gd name="T24" fmla="*/ 1969 w 2211"/>
              <a:gd name="T25" fmla="*/ 80 h 2372"/>
              <a:gd name="T26" fmla="*/ 1969 w 2211"/>
              <a:gd name="T27" fmla="*/ 80 h 2372"/>
              <a:gd name="T28" fmla="*/ 2186 w 2211"/>
              <a:gd name="T29" fmla="*/ 138 h 2372"/>
              <a:gd name="T30" fmla="*/ 2208 w 2211"/>
              <a:gd name="T31" fmla="*/ 1058 h 2372"/>
              <a:gd name="T32" fmla="*/ 2208 w 2211"/>
              <a:gd name="T33" fmla="*/ 1058 h 2372"/>
              <a:gd name="T34" fmla="*/ 2058 w 2211"/>
              <a:gd name="T35" fmla="*/ 1443 h 2372"/>
              <a:gd name="T36" fmla="*/ 1411 w 2211"/>
              <a:gd name="T37" fmla="*/ 2191 h 2372"/>
              <a:gd name="T38" fmla="*/ 1411 w 2211"/>
              <a:gd name="T39" fmla="*/ 2191 h 2372"/>
              <a:gd name="T40" fmla="*/ 1145 w 2211"/>
              <a:gd name="T41" fmla="*/ 2371 h 2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211" h="2372">
                <a:moveTo>
                  <a:pt x="1145" y="2371"/>
                </a:moveTo>
                <a:lnTo>
                  <a:pt x="1145" y="2371"/>
                </a:lnTo>
                <a:cubicBezTo>
                  <a:pt x="1083" y="2371"/>
                  <a:pt x="959" y="2293"/>
                  <a:pt x="870" y="2197"/>
                </a:cubicBezTo>
                <a:lnTo>
                  <a:pt x="190" y="1461"/>
                </a:lnTo>
                <a:lnTo>
                  <a:pt x="190" y="1461"/>
                </a:lnTo>
                <a:cubicBezTo>
                  <a:pt x="101" y="1366"/>
                  <a:pt x="27" y="1194"/>
                  <a:pt x="23" y="1081"/>
                </a:cubicBezTo>
                <a:lnTo>
                  <a:pt x="2" y="161"/>
                </a:lnTo>
                <a:lnTo>
                  <a:pt x="2" y="161"/>
                </a:lnTo>
                <a:cubicBezTo>
                  <a:pt x="0" y="47"/>
                  <a:pt x="97" y="20"/>
                  <a:pt x="218" y="99"/>
                </a:cubicBezTo>
                <a:lnTo>
                  <a:pt x="887" y="536"/>
                </a:lnTo>
                <a:lnTo>
                  <a:pt x="887" y="536"/>
                </a:lnTo>
                <a:cubicBezTo>
                  <a:pt x="1009" y="615"/>
                  <a:pt x="1202" y="614"/>
                  <a:pt x="1319" y="532"/>
                </a:cubicBezTo>
                <a:lnTo>
                  <a:pt x="1969" y="80"/>
                </a:lnTo>
                <a:lnTo>
                  <a:pt x="1969" y="80"/>
                </a:lnTo>
                <a:cubicBezTo>
                  <a:pt x="2086" y="0"/>
                  <a:pt x="2184" y="25"/>
                  <a:pt x="2186" y="138"/>
                </a:cubicBezTo>
                <a:lnTo>
                  <a:pt x="2208" y="1058"/>
                </a:lnTo>
                <a:lnTo>
                  <a:pt x="2208" y="1058"/>
                </a:lnTo>
                <a:cubicBezTo>
                  <a:pt x="2210" y="1172"/>
                  <a:pt x="2142" y="1344"/>
                  <a:pt x="2058" y="1443"/>
                </a:cubicBezTo>
                <a:lnTo>
                  <a:pt x="1411" y="2191"/>
                </a:lnTo>
                <a:lnTo>
                  <a:pt x="1411" y="2191"/>
                </a:lnTo>
                <a:cubicBezTo>
                  <a:pt x="1327" y="2289"/>
                  <a:pt x="1207" y="2370"/>
                  <a:pt x="1145" y="2371"/>
                </a:cubicBezTo>
              </a:path>
            </a:pathLst>
          </a:custGeom>
          <a:solidFill>
            <a:srgbClr val="3E8E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31A804A-8C1F-A144-8302-46AC235CC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116" y="1951609"/>
            <a:ext cx="108084" cy="2345296"/>
          </a:xfrm>
          <a:custGeom>
            <a:avLst/>
            <a:gdLst>
              <a:gd name="T0" fmla="*/ 0 w 367"/>
              <a:gd name="T1" fmla="*/ 250 h 7944"/>
              <a:gd name="T2" fmla="*/ 0 w 367"/>
              <a:gd name="T3" fmla="*/ 250 h 7944"/>
              <a:gd name="T4" fmla="*/ 183 w 367"/>
              <a:gd name="T5" fmla="*/ 0 h 7944"/>
              <a:gd name="T6" fmla="*/ 183 w 367"/>
              <a:gd name="T7" fmla="*/ 0 h 7944"/>
              <a:gd name="T8" fmla="*/ 366 w 367"/>
              <a:gd name="T9" fmla="*/ 250 h 7944"/>
              <a:gd name="T10" fmla="*/ 366 w 367"/>
              <a:gd name="T11" fmla="*/ 7693 h 7944"/>
              <a:gd name="T12" fmla="*/ 366 w 367"/>
              <a:gd name="T13" fmla="*/ 7693 h 7944"/>
              <a:gd name="T14" fmla="*/ 183 w 367"/>
              <a:gd name="T15" fmla="*/ 7943 h 7944"/>
              <a:gd name="T16" fmla="*/ 183 w 367"/>
              <a:gd name="T17" fmla="*/ 7943 h 7944"/>
              <a:gd name="T18" fmla="*/ 0 w 367"/>
              <a:gd name="T19" fmla="*/ 7693 h 7944"/>
              <a:gd name="T20" fmla="*/ 0 w 367"/>
              <a:gd name="T21" fmla="*/ 250 h 7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67" h="7944">
                <a:moveTo>
                  <a:pt x="0" y="250"/>
                </a:moveTo>
                <a:lnTo>
                  <a:pt x="0" y="250"/>
                </a:lnTo>
                <a:cubicBezTo>
                  <a:pt x="0" y="111"/>
                  <a:pt x="82" y="0"/>
                  <a:pt x="183" y="0"/>
                </a:cubicBezTo>
                <a:lnTo>
                  <a:pt x="183" y="0"/>
                </a:lnTo>
                <a:cubicBezTo>
                  <a:pt x="284" y="0"/>
                  <a:pt x="366" y="111"/>
                  <a:pt x="366" y="250"/>
                </a:cubicBezTo>
                <a:lnTo>
                  <a:pt x="366" y="7693"/>
                </a:lnTo>
                <a:lnTo>
                  <a:pt x="366" y="7693"/>
                </a:lnTo>
                <a:cubicBezTo>
                  <a:pt x="366" y="7831"/>
                  <a:pt x="284" y="7943"/>
                  <a:pt x="183" y="7943"/>
                </a:cubicBezTo>
                <a:lnTo>
                  <a:pt x="183" y="7943"/>
                </a:lnTo>
                <a:cubicBezTo>
                  <a:pt x="82" y="7943"/>
                  <a:pt x="0" y="7831"/>
                  <a:pt x="0" y="7693"/>
                </a:cubicBezTo>
                <a:lnTo>
                  <a:pt x="0" y="250"/>
                </a:lnTo>
              </a:path>
            </a:pathLst>
          </a:custGeom>
          <a:solidFill>
            <a:srgbClr val="FFFFFF">
              <a:lumMod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E874E5B-243B-5946-9EDF-460011E37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5675" y="3343680"/>
            <a:ext cx="763100" cy="713616"/>
          </a:xfrm>
          <a:custGeom>
            <a:avLst/>
            <a:gdLst>
              <a:gd name="T0" fmla="*/ 2563 w 2583"/>
              <a:gd name="T1" fmla="*/ 1714 h 2415"/>
              <a:gd name="T2" fmla="*/ 2563 w 2583"/>
              <a:gd name="T3" fmla="*/ 1714 h 2415"/>
              <a:gd name="T4" fmla="*/ 2313 w 2583"/>
              <a:gd name="T5" fmla="*/ 1921 h 2415"/>
              <a:gd name="T6" fmla="*/ 1404 w 2583"/>
              <a:gd name="T7" fmla="*/ 2340 h 2415"/>
              <a:gd name="T8" fmla="*/ 1404 w 2583"/>
              <a:gd name="T9" fmla="*/ 2340 h 2415"/>
              <a:gd name="T10" fmla="*/ 990 w 2583"/>
              <a:gd name="T11" fmla="*/ 2381 h 2415"/>
              <a:gd name="T12" fmla="*/ 109 w 2583"/>
              <a:gd name="T13" fmla="*/ 2117 h 2415"/>
              <a:gd name="T14" fmla="*/ 109 w 2583"/>
              <a:gd name="T15" fmla="*/ 2117 h 2415"/>
              <a:gd name="T16" fmla="*/ 116 w 2583"/>
              <a:gd name="T17" fmla="*/ 1894 h 2415"/>
              <a:gd name="T18" fmla="*/ 740 w 2583"/>
              <a:gd name="T19" fmla="*/ 1392 h 2415"/>
              <a:gd name="T20" fmla="*/ 740 w 2583"/>
              <a:gd name="T21" fmla="*/ 1392 h 2415"/>
              <a:gd name="T22" fmla="*/ 869 w 2583"/>
              <a:gd name="T23" fmla="*/ 980 h 2415"/>
              <a:gd name="T24" fmla="*/ 640 w 2583"/>
              <a:gd name="T25" fmla="*/ 222 h 2415"/>
              <a:gd name="T26" fmla="*/ 640 w 2583"/>
              <a:gd name="T27" fmla="*/ 222 h 2415"/>
              <a:gd name="T28" fmla="*/ 763 w 2583"/>
              <a:gd name="T29" fmla="*/ 33 h 2415"/>
              <a:gd name="T30" fmla="*/ 1644 w 2583"/>
              <a:gd name="T31" fmla="*/ 297 h 2415"/>
              <a:gd name="T32" fmla="*/ 1644 w 2583"/>
              <a:gd name="T33" fmla="*/ 297 h 2415"/>
              <a:gd name="T34" fmla="*/ 1962 w 2583"/>
              <a:gd name="T35" fmla="*/ 559 h 2415"/>
              <a:gd name="T36" fmla="*/ 2475 w 2583"/>
              <a:gd name="T37" fmla="*/ 1405 h 2415"/>
              <a:gd name="T38" fmla="*/ 2475 w 2583"/>
              <a:gd name="T39" fmla="*/ 1405 h 2415"/>
              <a:gd name="T40" fmla="*/ 2563 w 2583"/>
              <a:gd name="T41" fmla="*/ 1714 h 2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583" h="2415">
                <a:moveTo>
                  <a:pt x="2563" y="1714"/>
                </a:moveTo>
                <a:lnTo>
                  <a:pt x="2563" y="1714"/>
                </a:lnTo>
                <a:cubicBezTo>
                  <a:pt x="2545" y="1772"/>
                  <a:pt x="2432" y="1865"/>
                  <a:pt x="2313" y="1921"/>
                </a:cubicBezTo>
                <a:lnTo>
                  <a:pt x="1404" y="2340"/>
                </a:lnTo>
                <a:lnTo>
                  <a:pt x="1404" y="2340"/>
                </a:lnTo>
                <a:cubicBezTo>
                  <a:pt x="1285" y="2395"/>
                  <a:pt x="1099" y="2414"/>
                  <a:pt x="990" y="2381"/>
                </a:cubicBezTo>
                <a:lnTo>
                  <a:pt x="109" y="2117"/>
                </a:lnTo>
                <a:lnTo>
                  <a:pt x="109" y="2117"/>
                </a:lnTo>
                <a:cubicBezTo>
                  <a:pt x="0" y="2085"/>
                  <a:pt x="4" y="1984"/>
                  <a:pt x="116" y="1894"/>
                </a:cubicBezTo>
                <a:lnTo>
                  <a:pt x="740" y="1392"/>
                </a:lnTo>
                <a:lnTo>
                  <a:pt x="740" y="1392"/>
                </a:lnTo>
                <a:cubicBezTo>
                  <a:pt x="852" y="1301"/>
                  <a:pt x="910" y="1116"/>
                  <a:pt x="869" y="980"/>
                </a:cubicBezTo>
                <a:lnTo>
                  <a:pt x="640" y="222"/>
                </a:lnTo>
                <a:lnTo>
                  <a:pt x="640" y="222"/>
                </a:lnTo>
                <a:cubicBezTo>
                  <a:pt x="599" y="86"/>
                  <a:pt x="654" y="0"/>
                  <a:pt x="763" y="33"/>
                </a:cubicBezTo>
                <a:lnTo>
                  <a:pt x="1644" y="297"/>
                </a:lnTo>
                <a:lnTo>
                  <a:pt x="1644" y="297"/>
                </a:lnTo>
                <a:cubicBezTo>
                  <a:pt x="1752" y="330"/>
                  <a:pt x="1895" y="448"/>
                  <a:pt x="1962" y="559"/>
                </a:cubicBezTo>
                <a:lnTo>
                  <a:pt x="2475" y="1405"/>
                </a:lnTo>
                <a:lnTo>
                  <a:pt x="2475" y="1405"/>
                </a:lnTo>
                <a:cubicBezTo>
                  <a:pt x="2543" y="1515"/>
                  <a:pt x="2582" y="1655"/>
                  <a:pt x="2563" y="1714"/>
                </a:cubicBezTo>
              </a:path>
            </a:pathLst>
          </a:custGeom>
          <a:solidFill>
            <a:srgbClr val="62CD7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B52F67B-87D8-6745-AEAB-CDF44446E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728" y="3644492"/>
            <a:ext cx="2250233" cy="807375"/>
          </a:xfrm>
          <a:custGeom>
            <a:avLst/>
            <a:gdLst>
              <a:gd name="T0" fmla="*/ 213 w 7619"/>
              <a:gd name="T1" fmla="*/ 391 h 2735"/>
              <a:gd name="T2" fmla="*/ 213 w 7619"/>
              <a:gd name="T3" fmla="*/ 391 h 2735"/>
              <a:gd name="T4" fmla="*/ 32 w 7619"/>
              <a:gd name="T5" fmla="*/ 140 h 2735"/>
              <a:gd name="T6" fmla="*/ 32 w 7619"/>
              <a:gd name="T7" fmla="*/ 140 h 2735"/>
              <a:gd name="T8" fmla="*/ 326 w 7619"/>
              <a:gd name="T9" fmla="*/ 42 h 2735"/>
              <a:gd name="T10" fmla="*/ 7406 w 7619"/>
              <a:gd name="T11" fmla="*/ 2343 h 2735"/>
              <a:gd name="T12" fmla="*/ 7406 w 7619"/>
              <a:gd name="T13" fmla="*/ 2343 h 2735"/>
              <a:gd name="T14" fmla="*/ 7586 w 7619"/>
              <a:gd name="T15" fmla="*/ 2594 h 2735"/>
              <a:gd name="T16" fmla="*/ 7586 w 7619"/>
              <a:gd name="T17" fmla="*/ 2594 h 2735"/>
              <a:gd name="T18" fmla="*/ 7293 w 7619"/>
              <a:gd name="T19" fmla="*/ 2691 h 2735"/>
              <a:gd name="T20" fmla="*/ 213 w 7619"/>
              <a:gd name="T21" fmla="*/ 391 h 27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619" h="2735">
                <a:moveTo>
                  <a:pt x="213" y="391"/>
                </a:moveTo>
                <a:lnTo>
                  <a:pt x="213" y="391"/>
                </a:lnTo>
                <a:cubicBezTo>
                  <a:pt x="83" y="348"/>
                  <a:pt x="0" y="235"/>
                  <a:pt x="32" y="140"/>
                </a:cubicBezTo>
                <a:lnTo>
                  <a:pt x="32" y="140"/>
                </a:lnTo>
                <a:cubicBezTo>
                  <a:pt x="63" y="43"/>
                  <a:pt x="196" y="0"/>
                  <a:pt x="326" y="42"/>
                </a:cubicBezTo>
                <a:lnTo>
                  <a:pt x="7406" y="2343"/>
                </a:lnTo>
                <a:lnTo>
                  <a:pt x="7406" y="2343"/>
                </a:lnTo>
                <a:cubicBezTo>
                  <a:pt x="7537" y="2386"/>
                  <a:pt x="7618" y="2498"/>
                  <a:pt x="7586" y="2594"/>
                </a:cubicBezTo>
                <a:lnTo>
                  <a:pt x="7586" y="2594"/>
                </a:lnTo>
                <a:cubicBezTo>
                  <a:pt x="7556" y="2690"/>
                  <a:pt x="7424" y="2734"/>
                  <a:pt x="7293" y="2691"/>
                </a:cubicBezTo>
                <a:lnTo>
                  <a:pt x="213" y="391"/>
                </a:lnTo>
              </a:path>
            </a:pathLst>
          </a:custGeom>
          <a:solidFill>
            <a:srgbClr val="FFFFFF">
              <a:lumMod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A0F06397-DA20-A746-AAEA-62ED8B251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9956" y="4576881"/>
            <a:ext cx="1427231" cy="1932492"/>
          </a:xfrm>
          <a:custGeom>
            <a:avLst/>
            <a:gdLst>
              <a:gd name="T0" fmla="*/ 377 w 4834"/>
              <a:gd name="T1" fmla="*/ 6392 h 6546"/>
              <a:gd name="T2" fmla="*/ 377 w 4834"/>
              <a:gd name="T3" fmla="*/ 6392 h 6546"/>
              <a:gd name="T4" fmla="*/ 82 w 4834"/>
              <a:gd name="T5" fmla="*/ 6486 h 6546"/>
              <a:gd name="T6" fmla="*/ 82 w 4834"/>
              <a:gd name="T7" fmla="*/ 6486 h 6546"/>
              <a:gd name="T8" fmla="*/ 81 w 4834"/>
              <a:gd name="T9" fmla="*/ 6177 h 6546"/>
              <a:gd name="T10" fmla="*/ 4455 w 4834"/>
              <a:gd name="T11" fmla="*/ 154 h 6546"/>
              <a:gd name="T12" fmla="*/ 4455 w 4834"/>
              <a:gd name="T13" fmla="*/ 154 h 6546"/>
              <a:gd name="T14" fmla="*/ 4750 w 4834"/>
              <a:gd name="T15" fmla="*/ 59 h 6546"/>
              <a:gd name="T16" fmla="*/ 4750 w 4834"/>
              <a:gd name="T17" fmla="*/ 59 h 6546"/>
              <a:gd name="T18" fmla="*/ 4753 w 4834"/>
              <a:gd name="T19" fmla="*/ 369 h 6546"/>
              <a:gd name="T20" fmla="*/ 377 w 4834"/>
              <a:gd name="T21" fmla="*/ 6392 h 6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834" h="6546">
                <a:moveTo>
                  <a:pt x="377" y="6392"/>
                </a:moveTo>
                <a:lnTo>
                  <a:pt x="377" y="6392"/>
                </a:lnTo>
                <a:cubicBezTo>
                  <a:pt x="296" y="6503"/>
                  <a:pt x="163" y="6545"/>
                  <a:pt x="82" y="6486"/>
                </a:cubicBezTo>
                <a:lnTo>
                  <a:pt x="82" y="6486"/>
                </a:lnTo>
                <a:cubicBezTo>
                  <a:pt x="0" y="6426"/>
                  <a:pt x="0" y="6288"/>
                  <a:pt x="81" y="6177"/>
                </a:cubicBezTo>
                <a:lnTo>
                  <a:pt x="4455" y="154"/>
                </a:lnTo>
                <a:lnTo>
                  <a:pt x="4455" y="154"/>
                </a:lnTo>
                <a:cubicBezTo>
                  <a:pt x="4537" y="43"/>
                  <a:pt x="4669" y="0"/>
                  <a:pt x="4750" y="59"/>
                </a:cubicBezTo>
                <a:lnTo>
                  <a:pt x="4750" y="59"/>
                </a:lnTo>
                <a:cubicBezTo>
                  <a:pt x="4832" y="120"/>
                  <a:pt x="4833" y="258"/>
                  <a:pt x="4753" y="369"/>
                </a:cubicBezTo>
                <a:lnTo>
                  <a:pt x="377" y="6392"/>
                </a:lnTo>
              </a:path>
            </a:pathLst>
          </a:custGeom>
          <a:solidFill>
            <a:srgbClr val="FFFFFF">
              <a:lumMod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</a:endParaRPr>
          </a:p>
        </p:txBody>
      </p:sp>
      <p:sp>
        <p:nvSpPr>
          <p:cNvPr id="13" name="Freeform 15">
            <a:extLst>
              <a:ext uri="{FF2B5EF4-FFF2-40B4-BE49-F238E27FC236}">
                <a16:creationId xmlns:a16="http://schemas.microsoft.com/office/drawing/2014/main" id="{6C5F8A79-A6E5-BB4A-A00C-627EE658A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734" y="4575579"/>
            <a:ext cx="1427231" cy="1932492"/>
          </a:xfrm>
          <a:custGeom>
            <a:avLst/>
            <a:gdLst>
              <a:gd name="T0" fmla="*/ 4753 w 4835"/>
              <a:gd name="T1" fmla="*/ 6175 h 6546"/>
              <a:gd name="T2" fmla="*/ 4753 w 4835"/>
              <a:gd name="T3" fmla="*/ 6175 h 6546"/>
              <a:gd name="T4" fmla="*/ 4752 w 4835"/>
              <a:gd name="T5" fmla="*/ 6486 h 6546"/>
              <a:gd name="T6" fmla="*/ 4752 w 4835"/>
              <a:gd name="T7" fmla="*/ 6486 h 6546"/>
              <a:gd name="T8" fmla="*/ 4456 w 4835"/>
              <a:gd name="T9" fmla="*/ 6391 h 6546"/>
              <a:gd name="T10" fmla="*/ 81 w 4835"/>
              <a:gd name="T11" fmla="*/ 369 h 6546"/>
              <a:gd name="T12" fmla="*/ 81 w 4835"/>
              <a:gd name="T13" fmla="*/ 369 h 6546"/>
              <a:gd name="T14" fmla="*/ 82 w 4835"/>
              <a:gd name="T15" fmla="*/ 59 h 6546"/>
              <a:gd name="T16" fmla="*/ 82 w 4835"/>
              <a:gd name="T17" fmla="*/ 59 h 6546"/>
              <a:gd name="T18" fmla="*/ 377 w 4835"/>
              <a:gd name="T19" fmla="*/ 154 h 6546"/>
              <a:gd name="T20" fmla="*/ 4753 w 4835"/>
              <a:gd name="T21" fmla="*/ 6175 h 6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835" h="6546">
                <a:moveTo>
                  <a:pt x="4753" y="6175"/>
                </a:moveTo>
                <a:lnTo>
                  <a:pt x="4753" y="6175"/>
                </a:lnTo>
                <a:cubicBezTo>
                  <a:pt x="4834" y="6287"/>
                  <a:pt x="4833" y="6426"/>
                  <a:pt x="4752" y="6486"/>
                </a:cubicBezTo>
                <a:lnTo>
                  <a:pt x="4752" y="6486"/>
                </a:lnTo>
                <a:cubicBezTo>
                  <a:pt x="4671" y="6545"/>
                  <a:pt x="4538" y="6502"/>
                  <a:pt x="4456" y="6391"/>
                </a:cubicBezTo>
                <a:lnTo>
                  <a:pt x="81" y="369"/>
                </a:lnTo>
                <a:lnTo>
                  <a:pt x="81" y="369"/>
                </a:lnTo>
                <a:cubicBezTo>
                  <a:pt x="0" y="258"/>
                  <a:pt x="1" y="118"/>
                  <a:pt x="82" y="59"/>
                </a:cubicBezTo>
                <a:lnTo>
                  <a:pt x="82" y="59"/>
                </a:lnTo>
                <a:cubicBezTo>
                  <a:pt x="165" y="0"/>
                  <a:pt x="297" y="42"/>
                  <a:pt x="377" y="154"/>
                </a:cubicBezTo>
                <a:lnTo>
                  <a:pt x="4753" y="6175"/>
                </a:lnTo>
              </a:path>
            </a:pathLst>
          </a:custGeom>
          <a:solidFill>
            <a:srgbClr val="FFFFFF">
              <a:lumMod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</a:endParaRPr>
          </a:p>
        </p:txBody>
      </p:sp>
      <p:sp>
        <p:nvSpPr>
          <p:cNvPr id="14" name="Freeform 16">
            <a:extLst>
              <a:ext uri="{FF2B5EF4-FFF2-40B4-BE49-F238E27FC236}">
                <a16:creationId xmlns:a16="http://schemas.microsoft.com/office/drawing/2014/main" id="{5723DB4D-95F7-6647-8CBE-11F7549B4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6657" y="3337169"/>
            <a:ext cx="759194" cy="722732"/>
          </a:xfrm>
          <a:custGeom>
            <a:avLst/>
            <a:gdLst>
              <a:gd name="T0" fmla="*/ 18 w 2571"/>
              <a:gd name="T1" fmla="*/ 1806 h 2449"/>
              <a:gd name="T2" fmla="*/ 18 w 2571"/>
              <a:gd name="T3" fmla="*/ 1806 h 2449"/>
              <a:gd name="T4" fmla="*/ 99 w 2571"/>
              <a:gd name="T5" fmla="*/ 1491 h 2449"/>
              <a:gd name="T6" fmla="*/ 588 w 2571"/>
              <a:gd name="T7" fmla="*/ 617 h 2449"/>
              <a:gd name="T8" fmla="*/ 588 w 2571"/>
              <a:gd name="T9" fmla="*/ 617 h 2449"/>
              <a:gd name="T10" fmla="*/ 898 w 2571"/>
              <a:gd name="T11" fmla="*/ 341 h 2449"/>
              <a:gd name="T12" fmla="*/ 1767 w 2571"/>
              <a:gd name="T13" fmla="*/ 38 h 2449"/>
              <a:gd name="T14" fmla="*/ 1767 w 2571"/>
              <a:gd name="T15" fmla="*/ 38 h 2449"/>
              <a:gd name="T16" fmla="*/ 1892 w 2571"/>
              <a:gd name="T17" fmla="*/ 222 h 2449"/>
              <a:gd name="T18" fmla="*/ 1683 w 2571"/>
              <a:gd name="T19" fmla="*/ 994 h 2449"/>
              <a:gd name="T20" fmla="*/ 1683 w 2571"/>
              <a:gd name="T21" fmla="*/ 994 h 2449"/>
              <a:gd name="T22" fmla="*/ 1820 w 2571"/>
              <a:gd name="T23" fmla="*/ 1405 h 2449"/>
              <a:gd name="T24" fmla="*/ 2451 w 2571"/>
              <a:gd name="T25" fmla="*/ 1882 h 2449"/>
              <a:gd name="T26" fmla="*/ 2451 w 2571"/>
              <a:gd name="T27" fmla="*/ 1882 h 2449"/>
              <a:gd name="T28" fmla="*/ 2463 w 2571"/>
              <a:gd name="T29" fmla="*/ 2107 h 2449"/>
              <a:gd name="T30" fmla="*/ 1595 w 2571"/>
              <a:gd name="T31" fmla="*/ 2411 h 2449"/>
              <a:gd name="T32" fmla="*/ 1595 w 2571"/>
              <a:gd name="T33" fmla="*/ 2411 h 2449"/>
              <a:gd name="T34" fmla="*/ 1183 w 2571"/>
              <a:gd name="T35" fmla="*/ 2388 h 2449"/>
              <a:gd name="T36" fmla="*/ 272 w 2571"/>
              <a:gd name="T37" fmla="*/ 2004 h 2449"/>
              <a:gd name="T38" fmla="*/ 272 w 2571"/>
              <a:gd name="T39" fmla="*/ 2004 h 2449"/>
              <a:gd name="T40" fmla="*/ 18 w 2571"/>
              <a:gd name="T41" fmla="*/ 1806 h 2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571" h="2449">
                <a:moveTo>
                  <a:pt x="18" y="1806"/>
                </a:moveTo>
                <a:lnTo>
                  <a:pt x="18" y="1806"/>
                </a:lnTo>
                <a:cubicBezTo>
                  <a:pt x="0" y="1748"/>
                  <a:pt x="36" y="1606"/>
                  <a:pt x="99" y="1491"/>
                </a:cubicBezTo>
                <a:lnTo>
                  <a:pt x="588" y="617"/>
                </a:lnTo>
                <a:lnTo>
                  <a:pt x="588" y="617"/>
                </a:lnTo>
                <a:cubicBezTo>
                  <a:pt x="652" y="503"/>
                  <a:pt x="792" y="379"/>
                  <a:pt x="898" y="341"/>
                </a:cubicBezTo>
                <a:lnTo>
                  <a:pt x="1767" y="38"/>
                </a:lnTo>
                <a:lnTo>
                  <a:pt x="1767" y="38"/>
                </a:lnTo>
                <a:cubicBezTo>
                  <a:pt x="1874" y="0"/>
                  <a:pt x="1931" y="84"/>
                  <a:pt x="1892" y="222"/>
                </a:cubicBezTo>
                <a:lnTo>
                  <a:pt x="1683" y="994"/>
                </a:lnTo>
                <a:lnTo>
                  <a:pt x="1683" y="994"/>
                </a:lnTo>
                <a:cubicBezTo>
                  <a:pt x="1645" y="1134"/>
                  <a:pt x="1707" y="1318"/>
                  <a:pt x="1820" y="1405"/>
                </a:cubicBezTo>
                <a:lnTo>
                  <a:pt x="2451" y="1882"/>
                </a:lnTo>
                <a:lnTo>
                  <a:pt x="2451" y="1882"/>
                </a:lnTo>
                <a:cubicBezTo>
                  <a:pt x="2565" y="1968"/>
                  <a:pt x="2570" y="2070"/>
                  <a:pt x="2463" y="2107"/>
                </a:cubicBezTo>
                <a:lnTo>
                  <a:pt x="1595" y="2411"/>
                </a:lnTo>
                <a:lnTo>
                  <a:pt x="1595" y="2411"/>
                </a:lnTo>
                <a:cubicBezTo>
                  <a:pt x="1487" y="2448"/>
                  <a:pt x="1303" y="2438"/>
                  <a:pt x="1183" y="2388"/>
                </a:cubicBezTo>
                <a:lnTo>
                  <a:pt x="272" y="2004"/>
                </a:lnTo>
                <a:lnTo>
                  <a:pt x="272" y="2004"/>
                </a:lnTo>
                <a:cubicBezTo>
                  <a:pt x="152" y="1953"/>
                  <a:pt x="39" y="1865"/>
                  <a:pt x="18" y="1806"/>
                </a:cubicBezTo>
              </a:path>
            </a:pathLst>
          </a:custGeom>
          <a:solidFill>
            <a:srgbClr val="4A63A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</a:endParaRPr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B6FDC530-332E-2440-8A20-E550CB892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5960" y="3643191"/>
            <a:ext cx="2250233" cy="807375"/>
          </a:xfrm>
          <a:custGeom>
            <a:avLst/>
            <a:gdLst>
              <a:gd name="T0" fmla="*/ 7292 w 7618"/>
              <a:gd name="T1" fmla="*/ 43 h 2735"/>
              <a:gd name="T2" fmla="*/ 7292 w 7618"/>
              <a:gd name="T3" fmla="*/ 43 h 2735"/>
              <a:gd name="T4" fmla="*/ 7586 w 7618"/>
              <a:gd name="T5" fmla="*/ 141 h 2735"/>
              <a:gd name="T6" fmla="*/ 7586 w 7618"/>
              <a:gd name="T7" fmla="*/ 141 h 2735"/>
              <a:gd name="T8" fmla="*/ 7404 w 7618"/>
              <a:gd name="T9" fmla="*/ 392 h 2735"/>
              <a:gd name="T10" fmla="*/ 325 w 7618"/>
              <a:gd name="T11" fmla="*/ 2693 h 2735"/>
              <a:gd name="T12" fmla="*/ 325 w 7618"/>
              <a:gd name="T13" fmla="*/ 2693 h 2735"/>
              <a:gd name="T14" fmla="*/ 31 w 7618"/>
              <a:gd name="T15" fmla="*/ 2595 h 2735"/>
              <a:gd name="T16" fmla="*/ 31 w 7618"/>
              <a:gd name="T17" fmla="*/ 2595 h 2735"/>
              <a:gd name="T18" fmla="*/ 212 w 7618"/>
              <a:gd name="T19" fmla="*/ 2344 h 2735"/>
              <a:gd name="T20" fmla="*/ 7292 w 7618"/>
              <a:gd name="T21" fmla="*/ 43 h 27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618" h="2735">
                <a:moveTo>
                  <a:pt x="7292" y="43"/>
                </a:moveTo>
                <a:lnTo>
                  <a:pt x="7292" y="43"/>
                </a:lnTo>
                <a:cubicBezTo>
                  <a:pt x="7422" y="0"/>
                  <a:pt x="7555" y="44"/>
                  <a:pt x="7586" y="141"/>
                </a:cubicBezTo>
                <a:lnTo>
                  <a:pt x="7586" y="141"/>
                </a:lnTo>
                <a:cubicBezTo>
                  <a:pt x="7617" y="236"/>
                  <a:pt x="7536" y="349"/>
                  <a:pt x="7404" y="392"/>
                </a:cubicBezTo>
                <a:lnTo>
                  <a:pt x="325" y="2693"/>
                </a:lnTo>
                <a:lnTo>
                  <a:pt x="325" y="2693"/>
                </a:lnTo>
                <a:cubicBezTo>
                  <a:pt x="194" y="2734"/>
                  <a:pt x="63" y="2692"/>
                  <a:pt x="31" y="2595"/>
                </a:cubicBezTo>
                <a:lnTo>
                  <a:pt x="31" y="2595"/>
                </a:lnTo>
                <a:cubicBezTo>
                  <a:pt x="0" y="2500"/>
                  <a:pt x="81" y="2387"/>
                  <a:pt x="212" y="2344"/>
                </a:cubicBezTo>
                <a:lnTo>
                  <a:pt x="7292" y="43"/>
                </a:lnTo>
              </a:path>
            </a:pathLst>
          </a:custGeom>
          <a:solidFill>
            <a:srgbClr val="FFFFFF">
              <a:lumMod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CF857D-14C0-1641-9053-4A3794DE947D}"/>
              </a:ext>
            </a:extLst>
          </p:cNvPr>
          <p:cNvSpPr txBox="1"/>
          <p:nvPr/>
        </p:nvSpPr>
        <p:spPr>
          <a:xfrm>
            <a:off x="7286235" y="1463253"/>
            <a:ext cx="3229474" cy="43088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defTabSz="914217"/>
            <a:r>
              <a:rPr lang="en-US" sz="2200" b="1" dirty="0">
                <a:solidFill>
                  <a:srgbClr val="3E8E99"/>
                </a:solidFill>
                <a:ea typeface="League Spartan" charset="0"/>
                <a:cs typeface="Poppins" pitchFamily="2" charset="77"/>
              </a:rPr>
              <a:t>CUSTOMER SATISFACTION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D4F171D1-068B-2848-B3C5-17DE61DB7919}"/>
              </a:ext>
            </a:extLst>
          </p:cNvPr>
          <p:cNvSpPr txBox="1">
            <a:spLocks/>
          </p:cNvSpPr>
          <p:nvPr/>
        </p:nvSpPr>
        <p:spPr>
          <a:xfrm>
            <a:off x="7491124" y="1884880"/>
            <a:ext cx="3941387" cy="620717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indent="-233363" algn="just" defTabSz="543818">
              <a:lnSpc>
                <a:spcPts val="175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&lt;CSAT target&gt; point</a:t>
            </a:r>
          </a:p>
          <a:p>
            <a:pPr marL="233363" indent="-233363" algn="just" defTabSz="543818">
              <a:lnSpc>
                <a:spcPts val="175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&lt;No-complaint target/level&gt;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DD6223-BA4B-F74C-9BC7-17D97FECA483}"/>
              </a:ext>
            </a:extLst>
          </p:cNvPr>
          <p:cNvSpPr txBox="1"/>
          <p:nvPr/>
        </p:nvSpPr>
        <p:spPr>
          <a:xfrm>
            <a:off x="8705851" y="3570308"/>
            <a:ext cx="3029419" cy="43088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defTabSz="914217"/>
            <a:r>
              <a:rPr lang="en-US" sz="2200" b="1" dirty="0">
                <a:solidFill>
                  <a:srgbClr val="4A63A2"/>
                </a:solidFill>
                <a:ea typeface="League Spartan" charset="0"/>
                <a:cs typeface="Poppins" pitchFamily="2" charset="77"/>
              </a:rPr>
              <a:t>HAPPY WORKING PLACE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EBA118C0-3AD2-AD4F-A87A-29271C15BF73}"/>
              </a:ext>
            </a:extLst>
          </p:cNvPr>
          <p:cNvSpPr txBox="1">
            <a:spLocks/>
          </p:cNvSpPr>
          <p:nvPr/>
        </p:nvSpPr>
        <p:spPr>
          <a:xfrm>
            <a:off x="8871618" y="4015756"/>
            <a:ext cx="3288182" cy="857705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defPPr>
              <a:defRPr lang="en-US"/>
            </a:defPPr>
            <a:lvl1pPr marL="171450" indent="-171450" algn="just" defTabSz="543818">
              <a:lnSpc>
                <a:spcPts val="175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233363" indent="-233363">
              <a:buFont typeface="+mj-lt"/>
              <a:buAutoNum type="arabicPeriod"/>
            </a:pPr>
            <a:r>
              <a:rPr lang="en-US" sz="1600" dirty="0">
                <a:latin typeface="+mn-lt"/>
              </a:rPr>
              <a:t>&lt;% members happy target&gt;% members happy with Program</a:t>
            </a:r>
          </a:p>
          <a:p>
            <a:pPr marL="233363" indent="-233363">
              <a:buFont typeface="+mj-lt"/>
              <a:buAutoNum type="arabicPeriod"/>
            </a:pPr>
            <a:r>
              <a:rPr lang="en-US" sz="1600" dirty="0">
                <a:latin typeface="+mn-lt"/>
              </a:rPr>
              <a:t>Attrition Rate: &lt;Target&gt;%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B74C78-F8EA-8343-A0EA-E32D18A34FC9}"/>
              </a:ext>
            </a:extLst>
          </p:cNvPr>
          <p:cNvSpPr txBox="1"/>
          <p:nvPr/>
        </p:nvSpPr>
        <p:spPr>
          <a:xfrm>
            <a:off x="8047048" y="5687021"/>
            <a:ext cx="1710533" cy="43088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defTabSz="914217"/>
            <a:r>
              <a:rPr lang="en-US" sz="2200" b="1" dirty="0">
                <a:solidFill>
                  <a:srgbClr val="437DB2"/>
                </a:solidFill>
                <a:ea typeface="League Spartan" charset="0"/>
                <a:cs typeface="Poppins" pitchFamily="2" charset="77"/>
              </a:rPr>
              <a:t>INNOVATION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C0AFA8E1-C56A-C243-BBEF-F2D20A34433A}"/>
              </a:ext>
            </a:extLst>
          </p:cNvPr>
          <p:cNvSpPr txBox="1">
            <a:spLocks/>
          </p:cNvSpPr>
          <p:nvPr/>
        </p:nvSpPr>
        <p:spPr>
          <a:xfrm>
            <a:off x="8178451" y="6077113"/>
            <a:ext cx="2250234" cy="340640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543818">
              <a:lnSpc>
                <a:spcPts val="1750"/>
              </a:lnSpc>
            </a:pPr>
            <a:r>
              <a:rPr lang="en-US" sz="1600">
                <a:solidFill>
                  <a:schemeClr val="accent1">
                    <a:lumMod val="75000"/>
                  </a:schemeClr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&lt;Number of IPs target&gt;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6D4A39-30A1-9F4A-BFDB-CB3F02DD17C4}"/>
              </a:ext>
            </a:extLst>
          </p:cNvPr>
          <p:cNvSpPr txBox="1"/>
          <p:nvPr/>
        </p:nvSpPr>
        <p:spPr>
          <a:xfrm>
            <a:off x="1467169" y="1475735"/>
            <a:ext cx="2458366" cy="43088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r" defTabSz="914217"/>
            <a:r>
              <a:rPr lang="en-US" sz="2200" b="1" dirty="0">
                <a:solidFill>
                  <a:srgbClr val="62CD7F"/>
                </a:solidFill>
                <a:ea typeface="League Spartan" charset="0"/>
                <a:cs typeface="Poppins" pitchFamily="2" charset="77"/>
              </a:rPr>
              <a:t>THE BIGGEST TEAM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51A9053D-87AB-864F-B951-8B8E974BBB90}"/>
              </a:ext>
            </a:extLst>
          </p:cNvPr>
          <p:cNvSpPr txBox="1">
            <a:spLocks/>
          </p:cNvSpPr>
          <p:nvPr/>
        </p:nvSpPr>
        <p:spPr>
          <a:xfrm>
            <a:off x="1634421" y="1906927"/>
            <a:ext cx="2928905" cy="848472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indent="-233363" algn="l" defTabSz="543818">
              <a:lnSpc>
                <a:spcPts val="175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&lt;Team ramp-up target&gt;</a:t>
            </a:r>
          </a:p>
          <a:p>
            <a:pPr marL="233363" indent="-233363" algn="l" defTabSz="543818">
              <a:lnSpc>
                <a:spcPts val="175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&lt;Go-live milestone target&gt;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2E2AD8-50A0-E544-941A-39FA987B7028}"/>
              </a:ext>
            </a:extLst>
          </p:cNvPr>
          <p:cNvSpPr txBox="1"/>
          <p:nvPr/>
        </p:nvSpPr>
        <p:spPr>
          <a:xfrm>
            <a:off x="494265" y="4125479"/>
            <a:ext cx="2711641" cy="43088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r" defTabSz="914217"/>
            <a:r>
              <a:rPr lang="en-US" sz="2200" b="1" dirty="0">
                <a:solidFill>
                  <a:srgbClr val="54B8A8"/>
                </a:solidFill>
                <a:ea typeface="League Spartan" charset="0"/>
                <a:cs typeface="Poppins" pitchFamily="2" charset="77"/>
              </a:rPr>
              <a:t>PROFESSIONAL TEAM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D996C68-D212-264B-A701-CC04BFCEF2E9}"/>
              </a:ext>
            </a:extLst>
          </p:cNvPr>
          <p:cNvSpPr txBox="1">
            <a:spLocks/>
          </p:cNvSpPr>
          <p:nvPr/>
        </p:nvSpPr>
        <p:spPr>
          <a:xfrm>
            <a:off x="690619" y="4568459"/>
            <a:ext cx="3681907" cy="1082382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indent="-233363" algn="l" defTabSz="543818">
              <a:lnSpc>
                <a:spcPts val="175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&lt;English competency targets&gt;</a:t>
            </a:r>
          </a:p>
          <a:p>
            <a:pPr marL="233363" indent="-233363" algn="l" defTabSz="543818">
              <a:lnSpc>
                <a:spcPts val="175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&lt;Certification targets&gt;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5138" y="838795"/>
            <a:ext cx="1125945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&lt;Project OKR statement, e.g., To become the best-run project managing a team of X members by YYYY&gt;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/>
            </a:r>
            <a:r>
              <a:rPr lang="en-US" sz="2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/>
            </a:r>
            <a:r>
              <a:rPr lang="en-US" sz="2000">
                <a:solidFill>
                  <a:schemeClr val="accent1">
                    <a:lumMod val="75000"/>
                  </a:schemeClr>
                </a:solidFill>
              </a:rPr>
              <a:t/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/>
            </a:r>
            <a:r>
              <a:rPr lang="en-US" sz="2000">
                <a:solidFill>
                  <a:schemeClr val="accent1">
                    <a:lumMod val="75000"/>
                  </a:schemeClr>
                </a:solidFill>
              </a:rPr>
              <a:t/>
            </a:r>
            <a:r>
              <a:rPr lang="en-US" sz="2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/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/>
            </a:r>
          </a:p>
          <a:p>
            <a:endParaRPr lang="en-US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734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B17CE2-8399-BE4A-8BBF-96453C6542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Project 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2655" y="1019286"/>
            <a:ext cx="4900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&lt;Metrics as required by customer, organization, project specifics&gt;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7084210-AC6E-0049-AB10-4154C751F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500633"/>
              </p:ext>
            </p:extLst>
          </p:nvPr>
        </p:nvGraphicFramePr>
        <p:xfrm>
          <a:off x="572656" y="1419782"/>
          <a:ext cx="10183301" cy="49413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6280">
                  <a:extLst>
                    <a:ext uri="{9D8B030D-6E8A-4147-A177-3AD203B41FA5}">
                      <a16:colId xmlns:a16="http://schemas.microsoft.com/office/drawing/2014/main" val="3441368848"/>
                    </a:ext>
                  </a:extLst>
                </a:gridCol>
                <a:gridCol w="2147660">
                  <a:extLst>
                    <a:ext uri="{9D8B030D-6E8A-4147-A177-3AD203B41FA5}">
                      <a16:colId xmlns:a16="http://schemas.microsoft.com/office/drawing/2014/main" val="190377146"/>
                    </a:ext>
                  </a:extLst>
                </a:gridCol>
                <a:gridCol w="1621182">
                  <a:extLst>
                    <a:ext uri="{9D8B030D-6E8A-4147-A177-3AD203B41FA5}">
                      <a16:colId xmlns:a16="http://schemas.microsoft.com/office/drawing/2014/main" val="2612483504"/>
                    </a:ext>
                  </a:extLst>
                </a:gridCol>
                <a:gridCol w="1272967">
                  <a:extLst>
                    <a:ext uri="{9D8B030D-6E8A-4147-A177-3AD203B41FA5}">
                      <a16:colId xmlns:a16="http://schemas.microsoft.com/office/drawing/2014/main" val="1394739190"/>
                    </a:ext>
                  </a:extLst>
                </a:gridCol>
                <a:gridCol w="4705212">
                  <a:extLst>
                    <a:ext uri="{9D8B030D-6E8A-4147-A177-3AD203B41FA5}">
                      <a16:colId xmlns:a16="http://schemas.microsoft.com/office/drawing/2014/main" val="933956691"/>
                    </a:ext>
                  </a:extLst>
                </a:gridCol>
              </a:tblGrid>
              <a:tr h="32824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#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Metrics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Unit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Target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Basic</a:t>
                      </a:r>
                      <a:r>
                        <a:rPr lang="en-US" sz="12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for setting Goals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1953174444"/>
                  </a:ext>
                </a:extLst>
              </a:tr>
              <a:tr h="283975">
                <a:tc gridSpan="5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Quality</a:t>
                      </a:r>
                    </a:p>
                  </a:txBody>
                  <a:tcPr marL="73025" marR="73025" marT="18415" marB="1841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285750" marR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080947"/>
                  </a:ext>
                </a:extLst>
              </a:tr>
              <a:tr h="748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1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indent="0" algn="l" defTabSz="457200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Customer</a:t>
                      </a: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Satisfaction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Point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&lt;Target&gt;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 &lt;Refer</a:t>
                      </a: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customer metrics&gt;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457200" rtl="0" eaLnBrk="1" fontAlgn="ctr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 &lt;Refer to FSU target in year YYYY, y% higher than previous project (A project)&gt;</a:t>
                      </a:r>
                    </a:p>
                    <a:p>
                      <a:pPr marL="0" algn="l" defTabSz="457200" rtl="0" eaLnBrk="1" fontAlgn="ctr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 &lt; Refer</a:t>
                      </a: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old projects&gt;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3232862044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Leakage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Def/MM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&lt;Target&gt;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4104874094"/>
                  </a:ext>
                </a:extLst>
              </a:tr>
              <a:tr h="32327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Process Compliance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&lt;Target&gt;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621019063"/>
                  </a:ext>
                </a:extLst>
              </a:tr>
              <a:tr h="212436">
                <a:tc gridSpan="5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Cost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2800861522"/>
                  </a:ext>
                </a:extLst>
              </a:tr>
              <a:tr h="3224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Effort Efficiency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&lt;Target&gt;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3073208618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Correction Cost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&lt;Target&gt;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1470231809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Internal Defect Rate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Def/size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&lt;Target&gt;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3756168905"/>
                  </a:ext>
                </a:extLst>
              </a:tr>
              <a:tr h="295564">
                <a:tc gridSpan="5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Delivery</a:t>
                      </a:r>
                    </a:p>
                  </a:txBody>
                  <a:tcPr marL="73025" marR="73025" marT="18415" marB="1841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4066310577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Timeliness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&lt;Target&gt;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1874827196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Project Productivity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KLOC/ MM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&lt;Target&gt;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1078716324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1022777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909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49ABF5F-38CF-554B-83A0-48FAE4AC02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Development Methodology</a:t>
            </a:r>
          </a:p>
        </p:txBody>
      </p:sp>
    </p:spTree>
    <p:extLst>
      <p:ext uri="{BB962C8B-B14F-4D97-AF65-F5344CB8AC3E}">
        <p14:creationId xmlns:p14="http://schemas.microsoft.com/office/powerpoint/2010/main" val="1717401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F8262F-E9A6-794A-A448-61E6D13D374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Project Approach</a:t>
            </a:r>
            <a:endParaRPr lang="en-US" sz="3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0000000-0008-0000-0600-000043000000}"/>
              </a:ext>
            </a:extLst>
          </p:cNvPr>
          <p:cNvGrpSpPr/>
          <p:nvPr/>
        </p:nvGrpSpPr>
        <p:grpSpPr>
          <a:xfrm>
            <a:off x="581959" y="886690"/>
            <a:ext cx="11028083" cy="5323609"/>
            <a:chOff x="0" y="0"/>
            <a:chExt cx="11125201" cy="5562600"/>
          </a:xfrm>
        </p:grpSpPr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00000000-0008-0000-0600-000044000000}"/>
                </a:ext>
              </a:extLst>
            </p:cNvPr>
            <p:cNvSpPr/>
            <p:nvPr/>
          </p:nvSpPr>
          <p:spPr>
            <a:xfrm>
              <a:off x="315059" y="801011"/>
              <a:ext cx="10810142" cy="4379218"/>
            </a:xfrm>
            <a:prstGeom prst="flowChartProcess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0" name="Up Arrow 9">
              <a:extLst>
                <a:ext uri="{FF2B5EF4-FFF2-40B4-BE49-F238E27FC236}">
                  <a16:creationId xmlns:a16="http://schemas.microsoft.com/office/drawing/2014/main" id="{00000000-0008-0000-0600-000045000000}"/>
                </a:ext>
              </a:extLst>
            </p:cNvPr>
            <p:cNvSpPr/>
            <p:nvPr/>
          </p:nvSpPr>
          <p:spPr>
            <a:xfrm>
              <a:off x="27404" y="812013"/>
              <a:ext cx="541671" cy="4315339"/>
            </a:xfrm>
            <a:prstGeom prst="upArrow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>
                  <a:latin typeface="Segoe UI Light" panose="020B0502040204020203" pitchFamily="34" charset="0"/>
                  <a:cs typeface="Segoe UI Light" panose="020B0502040204020203" pitchFamily="34" charset="0"/>
                </a:rPr>
                <a:t>c</a:t>
              </a:r>
            </a:p>
          </p:txBody>
        </p:sp>
        <p:sp>
          <p:nvSpPr>
            <p:cNvPr id="11" name="Pentagon 10">
              <a:extLst>
                <a:ext uri="{FF2B5EF4-FFF2-40B4-BE49-F238E27FC236}">
                  <a16:creationId xmlns:a16="http://schemas.microsoft.com/office/drawing/2014/main" id="{00000000-0008-0000-0600-000046000000}"/>
                </a:ext>
              </a:extLst>
            </p:cNvPr>
            <p:cNvSpPr/>
            <p:nvPr/>
          </p:nvSpPr>
          <p:spPr>
            <a:xfrm>
              <a:off x="0" y="0"/>
              <a:ext cx="2160000" cy="228600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300">
                  <a:latin typeface="Segoe UI Light" panose="020B0502040204020203" pitchFamily="34" charset="0"/>
                  <a:cs typeface="Segoe UI Light" panose="020B0502040204020203" pitchFamily="34" charset="0"/>
                </a:rPr>
                <a:t>Basic Design</a:t>
              </a:r>
            </a:p>
          </p:txBody>
        </p:sp>
        <p:sp>
          <p:nvSpPr>
            <p:cNvPr id="12" name="Pentagon 11">
              <a:extLst>
                <a:ext uri="{FF2B5EF4-FFF2-40B4-BE49-F238E27FC236}">
                  <a16:creationId xmlns:a16="http://schemas.microsoft.com/office/drawing/2014/main" id="{00000000-0008-0000-0600-000047000000}"/>
                </a:ext>
              </a:extLst>
            </p:cNvPr>
            <p:cNvSpPr/>
            <p:nvPr/>
          </p:nvSpPr>
          <p:spPr>
            <a:xfrm>
              <a:off x="315059" y="266700"/>
              <a:ext cx="6480000" cy="228600"/>
            </a:xfrm>
            <a:prstGeom prst="homePlate">
              <a:avLst/>
            </a:prstGeom>
            <a:solidFill>
              <a:srgbClr val="BFCF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30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Detail Design ~ IT1</a:t>
              </a:r>
            </a:p>
          </p:txBody>
        </p:sp>
        <p:sp>
          <p:nvSpPr>
            <p:cNvPr id="13" name="Chevron 12">
              <a:extLst>
                <a:ext uri="{FF2B5EF4-FFF2-40B4-BE49-F238E27FC236}">
                  <a16:creationId xmlns:a16="http://schemas.microsoft.com/office/drawing/2014/main" id="{00000000-0008-0000-0600-000049000000}"/>
                </a:ext>
              </a:extLst>
            </p:cNvPr>
            <p:cNvSpPr/>
            <p:nvPr/>
          </p:nvSpPr>
          <p:spPr>
            <a:xfrm>
              <a:off x="6765301" y="272844"/>
              <a:ext cx="1620000" cy="228600"/>
            </a:xfrm>
            <a:prstGeom prst="chevron">
              <a:avLst/>
            </a:prstGeom>
            <a:solidFill>
              <a:srgbClr val="7C9C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300">
                  <a:latin typeface="Segoe UI Light" panose="020B0502040204020203" pitchFamily="34" charset="0"/>
                  <a:cs typeface="Segoe UI Light" panose="020B0502040204020203" pitchFamily="34" charset="0"/>
                </a:rPr>
                <a:t>IT2</a:t>
              </a:r>
            </a:p>
          </p:txBody>
        </p:sp>
        <p:sp>
          <p:nvSpPr>
            <p:cNvPr id="14" name="Chevron 13">
              <a:extLst>
                <a:ext uri="{FF2B5EF4-FFF2-40B4-BE49-F238E27FC236}">
                  <a16:creationId xmlns:a16="http://schemas.microsoft.com/office/drawing/2014/main" id="{00000000-0008-0000-0600-00004B000000}"/>
                </a:ext>
              </a:extLst>
            </p:cNvPr>
            <p:cNvSpPr/>
            <p:nvPr/>
          </p:nvSpPr>
          <p:spPr>
            <a:xfrm>
              <a:off x="8337805" y="272844"/>
              <a:ext cx="1620000" cy="228600"/>
            </a:xfrm>
            <a:prstGeom prst="chevron">
              <a:avLst/>
            </a:prstGeom>
            <a:solidFill>
              <a:srgbClr val="537D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300">
                  <a:latin typeface="Segoe UI Light" panose="020B0502040204020203" pitchFamily="34" charset="0"/>
                  <a:cs typeface="Segoe UI Light" panose="020B0502040204020203" pitchFamily="34" charset="0"/>
                </a:rPr>
                <a:t>ST</a:t>
              </a:r>
            </a:p>
          </p:txBody>
        </p:sp>
        <p:sp>
          <p:nvSpPr>
            <p:cNvPr id="15" name="Chevron 14">
              <a:extLst>
                <a:ext uri="{FF2B5EF4-FFF2-40B4-BE49-F238E27FC236}">
                  <a16:creationId xmlns:a16="http://schemas.microsoft.com/office/drawing/2014/main" id="{00000000-0008-0000-0600-00004C000000}"/>
                </a:ext>
              </a:extLst>
            </p:cNvPr>
            <p:cNvSpPr/>
            <p:nvPr/>
          </p:nvSpPr>
          <p:spPr>
            <a:xfrm>
              <a:off x="9892553" y="266699"/>
              <a:ext cx="1080000" cy="228600"/>
            </a:xfrm>
            <a:prstGeom prst="chevron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300">
                  <a:latin typeface="Segoe UI Light" panose="020B0502040204020203" pitchFamily="34" charset="0"/>
                  <a:cs typeface="Segoe UI Light" panose="020B0502040204020203" pitchFamily="34" charset="0"/>
                </a:rPr>
                <a:t>UAT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0000000-0008-0000-0600-000053000000}"/>
                </a:ext>
              </a:extLst>
            </p:cNvPr>
            <p:cNvCxnSpPr/>
            <p:nvPr/>
          </p:nvCxnSpPr>
          <p:spPr>
            <a:xfrm>
              <a:off x="315059" y="1972056"/>
              <a:ext cx="10810142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0000000-0008-0000-0600-000054000000}"/>
                </a:ext>
              </a:extLst>
            </p:cNvPr>
            <p:cNvCxnSpPr/>
            <p:nvPr/>
          </p:nvCxnSpPr>
          <p:spPr>
            <a:xfrm>
              <a:off x="315059" y="3429000"/>
              <a:ext cx="10810142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0000000-0008-0000-0600-000056000000}"/>
                </a:ext>
              </a:extLst>
            </p:cNvPr>
            <p:cNvCxnSpPr/>
            <p:nvPr/>
          </p:nvCxnSpPr>
          <p:spPr>
            <a:xfrm>
              <a:off x="315059" y="495300"/>
              <a:ext cx="0" cy="102870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0000000-0008-0000-0600-000058000000}"/>
                </a:ext>
              </a:extLst>
            </p:cNvPr>
            <p:cNvSpPr/>
            <p:nvPr/>
          </p:nvSpPr>
          <p:spPr>
            <a:xfrm>
              <a:off x="9547012" y="903765"/>
              <a:ext cx="990600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300" b="1">
                  <a:solidFill>
                    <a:srgbClr val="0070C0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SYSTEM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0000000-0008-0000-0600-000059000000}"/>
                </a:ext>
              </a:extLst>
            </p:cNvPr>
            <p:cNvSpPr/>
            <p:nvPr/>
          </p:nvSpPr>
          <p:spPr>
            <a:xfrm>
              <a:off x="8846574" y="2155448"/>
              <a:ext cx="2245100" cy="2401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1300" b="1" dirty="0">
                  <a:solidFill>
                    <a:srgbClr val="0070C0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ITERATION/SERVICE GROUP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0000000-0008-0000-0600-00005A000000}"/>
                </a:ext>
              </a:extLst>
            </p:cNvPr>
            <p:cNvSpPr/>
            <p:nvPr/>
          </p:nvSpPr>
          <p:spPr>
            <a:xfrm>
              <a:off x="9308563" y="3506572"/>
              <a:ext cx="1663989" cy="3372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300" b="1">
                  <a:solidFill>
                    <a:srgbClr val="0070C0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PROCESS/MODULE</a:t>
              </a:r>
            </a:p>
          </p:txBody>
        </p:sp>
        <p:sp>
          <p:nvSpPr>
            <p:cNvPr id="22" name="Flowchart: Document 21">
              <a:extLst>
                <a:ext uri="{FF2B5EF4-FFF2-40B4-BE49-F238E27FC236}">
                  <a16:creationId xmlns:a16="http://schemas.microsoft.com/office/drawing/2014/main" id="{00000000-0008-0000-0600-00005B000000}"/>
                </a:ext>
              </a:extLst>
            </p:cNvPr>
            <p:cNvSpPr/>
            <p:nvPr/>
          </p:nvSpPr>
          <p:spPr>
            <a:xfrm>
              <a:off x="883921" y="1143000"/>
              <a:ext cx="721433" cy="580764"/>
            </a:xfrm>
            <a:prstGeom prst="flowChartDocument">
              <a:avLst/>
            </a:prstGeom>
            <a:solidFill>
              <a:srgbClr val="006699"/>
            </a:solidFill>
            <a:ln>
              <a:solidFill>
                <a:schemeClr val="accent5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>
                  <a:latin typeface="Segoe UI Light" panose="020B0502040204020203" pitchFamily="34" charset="0"/>
                  <a:cs typeface="Segoe UI Light" panose="020B0502040204020203" pitchFamily="34" charset="0"/>
                </a:rPr>
                <a:t>Project Scope</a:t>
              </a:r>
            </a:p>
          </p:txBody>
        </p:sp>
        <p:sp>
          <p:nvSpPr>
            <p:cNvPr id="23" name="Flowchart: Document 22">
              <a:extLst>
                <a:ext uri="{FF2B5EF4-FFF2-40B4-BE49-F238E27FC236}">
                  <a16:creationId xmlns:a16="http://schemas.microsoft.com/office/drawing/2014/main" id="{00000000-0008-0000-0600-00005C000000}"/>
                </a:ext>
              </a:extLst>
            </p:cNvPr>
            <p:cNvSpPr/>
            <p:nvPr/>
          </p:nvSpPr>
          <p:spPr>
            <a:xfrm>
              <a:off x="826009" y="2321997"/>
              <a:ext cx="842539" cy="580764"/>
            </a:xfrm>
            <a:prstGeom prst="flowChartDocument">
              <a:avLst/>
            </a:prstGeom>
            <a:solidFill>
              <a:srgbClr val="006699"/>
            </a:solidFill>
            <a:ln>
              <a:solidFill>
                <a:schemeClr val="accent5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10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24" name="Flowchart: Document 23">
              <a:extLst>
                <a:ext uri="{FF2B5EF4-FFF2-40B4-BE49-F238E27FC236}">
                  <a16:creationId xmlns:a16="http://schemas.microsoft.com/office/drawing/2014/main" id="{00000000-0008-0000-0600-00005E000000}"/>
                </a:ext>
              </a:extLst>
            </p:cNvPr>
            <p:cNvSpPr/>
            <p:nvPr/>
          </p:nvSpPr>
          <p:spPr>
            <a:xfrm>
              <a:off x="934009" y="2407920"/>
              <a:ext cx="842539" cy="580764"/>
            </a:xfrm>
            <a:prstGeom prst="flowChartDocument">
              <a:avLst/>
            </a:prstGeom>
            <a:solidFill>
              <a:srgbClr val="006699"/>
            </a:solidFill>
            <a:ln>
              <a:solidFill>
                <a:schemeClr val="accent5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>
                  <a:latin typeface="Segoe UI Light" panose="020B0502040204020203" pitchFamily="34" charset="0"/>
                  <a:cs typeface="Segoe UI Light" panose="020B0502040204020203" pitchFamily="34" charset="0"/>
                </a:rPr>
                <a:t>Iteration Scope</a:t>
              </a:r>
            </a:p>
          </p:txBody>
        </p: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00000000-0008-0000-0600-00005F000000}"/>
                </a:ext>
              </a:extLst>
            </p:cNvPr>
            <p:cNvCxnSpPr>
              <a:stCxn id="22" idx="2"/>
              <a:endCxn id="23" idx="0"/>
            </p:cNvCxnSpPr>
            <p:nvPr/>
          </p:nvCxnSpPr>
          <p:spPr>
            <a:xfrm rot="16200000" flipH="1">
              <a:off x="927644" y="2002362"/>
              <a:ext cx="636628" cy="2641"/>
            </a:xfrm>
            <a:prstGeom prst="bentConnector3">
              <a:avLst/>
            </a:prstGeom>
            <a:ln w="19050"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lowchart: Document 25">
              <a:extLst>
                <a:ext uri="{FF2B5EF4-FFF2-40B4-BE49-F238E27FC236}">
                  <a16:creationId xmlns:a16="http://schemas.microsoft.com/office/drawing/2014/main" id="{00000000-0008-0000-0600-000060000000}"/>
                </a:ext>
              </a:extLst>
            </p:cNvPr>
            <p:cNvSpPr/>
            <p:nvPr/>
          </p:nvSpPr>
          <p:spPr>
            <a:xfrm>
              <a:off x="820663" y="3590544"/>
              <a:ext cx="733074" cy="580764"/>
            </a:xfrm>
            <a:prstGeom prst="flowChartDocument">
              <a:avLst/>
            </a:prstGeom>
            <a:solidFill>
              <a:srgbClr val="006699"/>
            </a:solidFill>
            <a:ln>
              <a:solidFill>
                <a:schemeClr val="accent5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10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27" name="Flowchart: Document 26">
              <a:extLst>
                <a:ext uri="{FF2B5EF4-FFF2-40B4-BE49-F238E27FC236}">
                  <a16:creationId xmlns:a16="http://schemas.microsoft.com/office/drawing/2014/main" id="{00000000-0008-0000-0600-000061000000}"/>
                </a:ext>
              </a:extLst>
            </p:cNvPr>
            <p:cNvSpPr/>
            <p:nvPr/>
          </p:nvSpPr>
          <p:spPr>
            <a:xfrm>
              <a:off x="910062" y="3680397"/>
              <a:ext cx="842539" cy="580764"/>
            </a:xfrm>
            <a:prstGeom prst="flowChartDocument">
              <a:avLst/>
            </a:prstGeom>
            <a:solidFill>
              <a:srgbClr val="006699"/>
            </a:solidFill>
            <a:ln>
              <a:solidFill>
                <a:schemeClr val="accent5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>
                  <a:latin typeface="Segoe UI Light" panose="020B0502040204020203" pitchFamily="34" charset="0"/>
                  <a:cs typeface="Segoe UI Light" panose="020B0502040204020203" pitchFamily="34" charset="0"/>
                </a:rPr>
                <a:t>Module Scope</a:t>
              </a:r>
            </a:p>
          </p:txBody>
        </p:sp>
        <p:cxnSp>
          <p:nvCxnSpPr>
            <p:cNvPr id="28" name="Elbow Connector 27">
              <a:extLst>
                <a:ext uri="{FF2B5EF4-FFF2-40B4-BE49-F238E27FC236}">
                  <a16:creationId xmlns:a16="http://schemas.microsoft.com/office/drawing/2014/main" id="{00000000-0008-0000-0600-000062000000}"/>
                </a:ext>
              </a:extLst>
            </p:cNvPr>
            <p:cNvCxnSpPr>
              <a:stCxn id="24" idx="2"/>
              <a:endCxn id="26" idx="0"/>
            </p:cNvCxnSpPr>
            <p:nvPr/>
          </p:nvCxnSpPr>
          <p:spPr>
            <a:xfrm rot="5400000">
              <a:off x="951113" y="3186377"/>
              <a:ext cx="640255" cy="168079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0000000-0008-0000-0600-000063000000}"/>
                </a:ext>
              </a:extLst>
            </p:cNvPr>
            <p:cNvSpPr/>
            <p:nvPr/>
          </p:nvSpPr>
          <p:spPr>
            <a:xfrm>
              <a:off x="3135816" y="3834182"/>
              <a:ext cx="1035713" cy="129317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1. Evaluate Basic Design </a:t>
              </a:r>
            </a:p>
            <a:p>
              <a:r>
                <a:rPr lang="en-US" sz="100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2. Re-estimate</a:t>
              </a:r>
            </a:p>
            <a:p>
              <a:r>
                <a:rPr lang="en-US" sz="100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3. Create Schedule</a:t>
              </a:r>
            </a:p>
            <a:p>
              <a:r>
                <a:rPr lang="en-US" sz="100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4. Build team</a:t>
              </a:r>
            </a:p>
            <a:p>
              <a:pPr algn="ctr"/>
              <a:endParaRPr lang="en-US" sz="100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0000000-0008-0000-0600-000064000000}"/>
                </a:ext>
              </a:extLst>
            </p:cNvPr>
            <p:cNvSpPr/>
            <p:nvPr/>
          </p:nvSpPr>
          <p:spPr>
            <a:xfrm>
              <a:off x="4196993" y="3834182"/>
              <a:ext cx="1171904" cy="129317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1. Define solution + Create High-level design</a:t>
              </a:r>
            </a:p>
            <a:p>
              <a:r>
                <a:rPr lang="en-US" sz="100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2. Brush-up BD</a:t>
              </a:r>
            </a:p>
            <a:p>
              <a:r>
                <a:rPr lang="en-US" sz="100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3. Develop common modules</a:t>
              </a:r>
            </a:p>
            <a:p>
              <a:endParaRPr lang="en-US" sz="100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0000000-0008-0000-0600-000065000000}"/>
                </a:ext>
              </a:extLst>
            </p:cNvPr>
            <p:cNvSpPr/>
            <p:nvPr/>
          </p:nvSpPr>
          <p:spPr>
            <a:xfrm>
              <a:off x="5430310" y="3834182"/>
              <a:ext cx="1217980" cy="129317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1. Update Basic Design (if any)</a:t>
              </a:r>
            </a:p>
            <a:p>
              <a:r>
                <a:rPr lang="en-US" sz="100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2. Create Detail Design, Coding, UT</a:t>
              </a:r>
            </a:p>
            <a:p>
              <a:r>
                <a:rPr lang="en-US" sz="100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3. IT1 (module-level)</a:t>
              </a:r>
            </a:p>
            <a:p>
              <a:endParaRPr lang="en-US" sz="100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endParaRPr lang="en-US" sz="100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0000000-0008-0000-0600-000066000000}"/>
                </a:ext>
              </a:extLst>
            </p:cNvPr>
            <p:cNvSpPr/>
            <p:nvPr/>
          </p:nvSpPr>
          <p:spPr>
            <a:xfrm>
              <a:off x="6681915" y="3834182"/>
              <a:ext cx="1171904" cy="1294355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1. Internal release by module completeness</a:t>
              </a:r>
            </a:p>
            <a:p>
              <a:r>
                <a:rPr lang="en-US" sz="100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2. Fix bugs from internal acceptance test</a:t>
              </a:r>
            </a:p>
            <a:p>
              <a:endParaRPr lang="en-US" sz="100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33" name="Flowchart: Document 32">
              <a:extLst>
                <a:ext uri="{FF2B5EF4-FFF2-40B4-BE49-F238E27FC236}">
                  <a16:creationId xmlns:a16="http://schemas.microsoft.com/office/drawing/2014/main" id="{00000000-0008-0000-0600-000067000000}"/>
                </a:ext>
              </a:extLst>
            </p:cNvPr>
            <p:cNvSpPr/>
            <p:nvPr/>
          </p:nvSpPr>
          <p:spPr>
            <a:xfrm>
              <a:off x="1817339" y="2395630"/>
              <a:ext cx="1064418" cy="440024"/>
            </a:xfrm>
            <a:prstGeom prst="flowChartDocument">
              <a:avLst/>
            </a:prstGeom>
            <a:solidFill>
              <a:srgbClr val="006699"/>
            </a:solidFill>
            <a:ln>
              <a:solidFill>
                <a:schemeClr val="accent5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>
                  <a:latin typeface="Segoe UI Light" panose="020B0502040204020203" pitchFamily="34" charset="0"/>
                  <a:cs typeface="Segoe UI Light" panose="020B0502040204020203" pitchFamily="34" charset="0"/>
                </a:rPr>
                <a:t>System common scope</a:t>
              </a:r>
            </a:p>
          </p:txBody>
        </p:sp>
        <p:cxnSp>
          <p:nvCxnSpPr>
            <p:cNvPr id="34" name="Elbow Connector 33">
              <a:extLst>
                <a:ext uri="{FF2B5EF4-FFF2-40B4-BE49-F238E27FC236}">
                  <a16:creationId xmlns:a16="http://schemas.microsoft.com/office/drawing/2014/main" id="{00000000-0008-0000-0600-000068000000}"/>
                </a:ext>
              </a:extLst>
            </p:cNvPr>
            <p:cNvCxnSpPr>
              <a:stCxn id="22" idx="2"/>
              <a:endCxn id="33" idx="0"/>
            </p:cNvCxnSpPr>
            <p:nvPr/>
          </p:nvCxnSpPr>
          <p:spPr>
            <a:xfrm rot="16200000" flipH="1">
              <a:off x="1441963" y="1488044"/>
              <a:ext cx="710261" cy="1104910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Flowchart: Process 34">
              <a:extLst>
                <a:ext uri="{FF2B5EF4-FFF2-40B4-BE49-F238E27FC236}">
                  <a16:creationId xmlns:a16="http://schemas.microsoft.com/office/drawing/2014/main" id="{00000000-0008-0000-0600-000069000000}"/>
                </a:ext>
              </a:extLst>
            </p:cNvPr>
            <p:cNvSpPr/>
            <p:nvPr/>
          </p:nvSpPr>
          <p:spPr>
            <a:xfrm rot="16200000">
              <a:off x="-81456" y="2965294"/>
              <a:ext cx="746345" cy="239108"/>
            </a:xfrm>
            <a:prstGeom prst="flowChartProcess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39700" prst="cross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Schedule</a:t>
              </a:r>
            </a:p>
          </p:txBody>
        </p:sp>
        <p:sp>
          <p:nvSpPr>
            <p:cNvPr id="36" name="Flowchart: Process 35">
              <a:extLst>
                <a:ext uri="{FF2B5EF4-FFF2-40B4-BE49-F238E27FC236}">
                  <a16:creationId xmlns:a16="http://schemas.microsoft.com/office/drawing/2014/main" id="{00000000-0008-0000-0600-00006A000000}"/>
                </a:ext>
              </a:extLst>
            </p:cNvPr>
            <p:cNvSpPr/>
            <p:nvPr/>
          </p:nvSpPr>
          <p:spPr>
            <a:xfrm rot="16200000">
              <a:off x="-146149" y="3712356"/>
              <a:ext cx="853888" cy="257955"/>
            </a:xfrm>
            <a:prstGeom prst="flowChartProcess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39700" prst="cross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Estimation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0000000-0008-0000-0600-00006E000000}"/>
                </a:ext>
              </a:extLst>
            </p:cNvPr>
            <p:cNvSpPr/>
            <p:nvPr/>
          </p:nvSpPr>
          <p:spPr>
            <a:xfrm>
              <a:off x="9098035" y="2379248"/>
              <a:ext cx="1874518" cy="2363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1100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(5 service groups)</a:t>
              </a:r>
            </a:p>
            <a:p>
              <a:pPr algn="r"/>
              <a:endParaRPr lang="en-US" sz="11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0000000-0008-0000-0600-00006F000000}"/>
                </a:ext>
              </a:extLst>
            </p:cNvPr>
            <p:cNvSpPr/>
            <p:nvPr/>
          </p:nvSpPr>
          <p:spPr>
            <a:xfrm>
              <a:off x="9547012" y="3774468"/>
              <a:ext cx="1291402" cy="3968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110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(5 service groups x 5 module teams)</a:t>
              </a:r>
            </a:p>
            <a:p>
              <a:pPr algn="r"/>
              <a:endParaRPr lang="en-US" sz="110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0000000-0008-0000-0600-000070000000}"/>
                </a:ext>
              </a:extLst>
            </p:cNvPr>
            <p:cNvSpPr/>
            <p:nvPr/>
          </p:nvSpPr>
          <p:spPr>
            <a:xfrm>
              <a:off x="7896944" y="3841525"/>
              <a:ext cx="1171904" cy="1294355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1. Apply horizontal – deployment (TKN)</a:t>
              </a:r>
            </a:p>
            <a:p>
              <a:r>
                <a:rPr lang="en-US" sz="100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2. Fix bug (if any)</a:t>
              </a:r>
            </a:p>
            <a:p>
              <a:endParaRPr lang="en-US" sz="100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endParaRPr lang="en-US" sz="100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endParaRPr lang="en-US" sz="100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endParaRPr lang="en-US" sz="100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endParaRPr lang="en-US" sz="100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endParaRPr lang="en-US" sz="100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0000000-0008-0000-0600-000071000000}"/>
                </a:ext>
              </a:extLst>
            </p:cNvPr>
            <p:cNvGrpSpPr/>
            <p:nvPr/>
          </p:nvGrpSpPr>
          <p:grpSpPr>
            <a:xfrm>
              <a:off x="3120976" y="3571038"/>
              <a:ext cx="6160585" cy="235480"/>
              <a:chOff x="3120976" y="3571038"/>
              <a:chExt cx="6160585" cy="235480"/>
            </a:xfrm>
          </p:grpSpPr>
          <p:sp>
            <p:nvSpPr>
              <p:cNvPr id="75" name="Chevron 74">
                <a:extLst>
                  <a:ext uri="{FF2B5EF4-FFF2-40B4-BE49-F238E27FC236}">
                    <a16:creationId xmlns:a16="http://schemas.microsoft.com/office/drawing/2014/main" id="{00000000-0008-0000-0600-0000A5000000}"/>
                  </a:ext>
                </a:extLst>
              </p:cNvPr>
              <p:cNvSpPr/>
              <p:nvPr/>
            </p:nvSpPr>
            <p:spPr>
              <a:xfrm>
                <a:off x="4156689" y="3575610"/>
                <a:ext cx="1336095" cy="224028"/>
              </a:xfrm>
              <a:prstGeom prst="chevron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30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Solution</a:t>
                </a:r>
              </a:p>
            </p:txBody>
          </p:sp>
          <p:sp>
            <p:nvSpPr>
              <p:cNvPr id="76" name="Chevron 75">
                <a:extLst>
                  <a:ext uri="{FF2B5EF4-FFF2-40B4-BE49-F238E27FC236}">
                    <a16:creationId xmlns:a16="http://schemas.microsoft.com/office/drawing/2014/main" id="{00000000-0008-0000-0600-0000A6000000}"/>
                  </a:ext>
                </a:extLst>
              </p:cNvPr>
              <p:cNvSpPr/>
              <p:nvPr/>
            </p:nvSpPr>
            <p:spPr>
              <a:xfrm>
                <a:off x="6646006" y="3575610"/>
                <a:ext cx="1295400" cy="228600"/>
              </a:xfrm>
              <a:prstGeom prst="chevron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30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Transition</a:t>
                </a:r>
              </a:p>
            </p:txBody>
          </p:sp>
          <p:sp>
            <p:nvSpPr>
              <p:cNvPr id="77" name="Chevron 76">
                <a:extLst>
                  <a:ext uri="{FF2B5EF4-FFF2-40B4-BE49-F238E27FC236}">
                    <a16:creationId xmlns:a16="http://schemas.microsoft.com/office/drawing/2014/main" id="{00000000-0008-0000-0600-0000A7000000}"/>
                  </a:ext>
                </a:extLst>
              </p:cNvPr>
              <p:cNvSpPr/>
              <p:nvPr/>
            </p:nvSpPr>
            <p:spPr>
              <a:xfrm>
                <a:off x="5423208" y="3579237"/>
                <a:ext cx="1297094" cy="224028"/>
              </a:xfrm>
              <a:prstGeom prst="chevron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30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Construction</a:t>
                </a:r>
              </a:p>
            </p:txBody>
          </p:sp>
          <p:sp>
            <p:nvSpPr>
              <p:cNvPr id="78" name="Chevron 77">
                <a:extLst>
                  <a:ext uri="{FF2B5EF4-FFF2-40B4-BE49-F238E27FC236}">
                    <a16:creationId xmlns:a16="http://schemas.microsoft.com/office/drawing/2014/main" id="{00000000-0008-0000-0600-0000A8000000}"/>
                  </a:ext>
                </a:extLst>
              </p:cNvPr>
              <p:cNvSpPr/>
              <p:nvPr/>
            </p:nvSpPr>
            <p:spPr>
              <a:xfrm>
                <a:off x="7857267" y="3571038"/>
                <a:ext cx="1424294" cy="235480"/>
              </a:xfrm>
              <a:prstGeom prst="chevron">
                <a:avLst/>
              </a:prstGeom>
              <a:solidFill>
                <a:srgbClr val="AF21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30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Maintenance</a:t>
                </a:r>
              </a:p>
            </p:txBody>
          </p:sp>
          <p:sp>
            <p:nvSpPr>
              <p:cNvPr id="79" name="Pentagon 78">
                <a:extLst>
                  <a:ext uri="{FF2B5EF4-FFF2-40B4-BE49-F238E27FC236}">
                    <a16:creationId xmlns:a16="http://schemas.microsoft.com/office/drawing/2014/main" id="{00000000-0008-0000-0600-0000A9000000}"/>
                  </a:ext>
                </a:extLst>
              </p:cNvPr>
              <p:cNvSpPr/>
              <p:nvPr/>
            </p:nvSpPr>
            <p:spPr>
              <a:xfrm>
                <a:off x="3120976" y="3579237"/>
                <a:ext cx="1105109" cy="220401"/>
              </a:xfrm>
              <a:prstGeom prst="homePlat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30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Initiation</a:t>
                </a:r>
              </a:p>
            </p:txBody>
          </p:sp>
        </p:grpSp>
        <p:sp>
          <p:nvSpPr>
            <p:cNvPr id="41" name="Flowchart: Document 40">
              <a:extLst>
                <a:ext uri="{FF2B5EF4-FFF2-40B4-BE49-F238E27FC236}">
                  <a16:creationId xmlns:a16="http://schemas.microsoft.com/office/drawing/2014/main" id="{00000000-0008-0000-0600-000072000000}"/>
                </a:ext>
              </a:extLst>
            </p:cNvPr>
            <p:cNvSpPr/>
            <p:nvPr/>
          </p:nvSpPr>
          <p:spPr>
            <a:xfrm>
              <a:off x="1858457" y="3572767"/>
              <a:ext cx="1064418" cy="440024"/>
            </a:xfrm>
            <a:prstGeom prst="flowChartDocument">
              <a:avLst/>
            </a:prstGeom>
            <a:solidFill>
              <a:srgbClr val="006699"/>
            </a:solidFill>
            <a:ln>
              <a:solidFill>
                <a:schemeClr val="accent5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>
                  <a:latin typeface="Segoe UI Light" panose="020B0502040204020203" pitchFamily="34" charset="0"/>
                  <a:cs typeface="Segoe UI Light" panose="020B0502040204020203" pitchFamily="34" charset="0"/>
                </a:rPr>
                <a:t>Service common scope</a:t>
              </a:r>
            </a:p>
          </p:txBody>
        </p:sp>
        <p:cxnSp>
          <p:nvCxnSpPr>
            <p:cNvPr id="42" name="Elbow Connector 41">
              <a:extLst>
                <a:ext uri="{FF2B5EF4-FFF2-40B4-BE49-F238E27FC236}">
                  <a16:creationId xmlns:a16="http://schemas.microsoft.com/office/drawing/2014/main" id="{00000000-0008-0000-0600-000073000000}"/>
                </a:ext>
              </a:extLst>
            </p:cNvPr>
            <p:cNvCxnSpPr>
              <a:stCxn id="24" idx="2"/>
              <a:endCxn id="41" idx="0"/>
            </p:cNvCxnSpPr>
            <p:nvPr/>
          </p:nvCxnSpPr>
          <p:spPr>
            <a:xfrm rot="16200000" flipH="1">
              <a:off x="1561733" y="2743834"/>
              <a:ext cx="622478" cy="1035387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Flowchart: Document 42">
              <a:extLst>
                <a:ext uri="{FF2B5EF4-FFF2-40B4-BE49-F238E27FC236}">
                  <a16:creationId xmlns:a16="http://schemas.microsoft.com/office/drawing/2014/main" id="{00000000-0008-0000-0600-000074000000}"/>
                </a:ext>
              </a:extLst>
            </p:cNvPr>
            <p:cNvSpPr/>
            <p:nvPr/>
          </p:nvSpPr>
          <p:spPr>
            <a:xfrm>
              <a:off x="1888184" y="4516238"/>
              <a:ext cx="1063824" cy="468518"/>
            </a:xfrm>
            <a:prstGeom prst="flowChartDocument">
              <a:avLst/>
            </a:prstGeom>
            <a:solidFill>
              <a:srgbClr val="006699"/>
            </a:solidFill>
            <a:ln>
              <a:solidFill>
                <a:schemeClr val="accent5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>
                  <a:latin typeface="Segoe UI Light" panose="020B0502040204020203" pitchFamily="34" charset="0"/>
                  <a:cs typeface="Segoe UI Light" panose="020B0502040204020203" pitchFamily="34" charset="0"/>
                </a:rPr>
                <a:t>Module common scope</a:t>
              </a:r>
            </a:p>
          </p:txBody>
        </p:sp>
        <p:sp>
          <p:nvSpPr>
            <p:cNvPr id="44" name="Flowchart: Document 43">
              <a:extLst>
                <a:ext uri="{FF2B5EF4-FFF2-40B4-BE49-F238E27FC236}">
                  <a16:creationId xmlns:a16="http://schemas.microsoft.com/office/drawing/2014/main" id="{00000000-0008-0000-0600-000075000000}"/>
                </a:ext>
              </a:extLst>
            </p:cNvPr>
            <p:cNvSpPr/>
            <p:nvPr/>
          </p:nvSpPr>
          <p:spPr>
            <a:xfrm>
              <a:off x="893065" y="4511100"/>
              <a:ext cx="886416" cy="624064"/>
            </a:xfrm>
            <a:prstGeom prst="flowChartDocument">
              <a:avLst/>
            </a:prstGeom>
            <a:solidFill>
              <a:srgbClr val="006699"/>
            </a:solidFill>
            <a:ln>
              <a:solidFill>
                <a:schemeClr val="accent5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>
                  <a:latin typeface="Segoe UI Light" panose="020B0502040204020203" pitchFamily="34" charset="0"/>
                  <a:cs typeface="Segoe UI Light" panose="020B0502040204020203" pitchFamily="34" charset="0"/>
                </a:rPr>
                <a:t>Screen/ Report/ Batch/ IF</a:t>
              </a:r>
            </a:p>
          </p:txBody>
        </p: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00000000-0008-0000-0600-000076000000}"/>
                </a:ext>
              </a:extLst>
            </p:cNvPr>
            <p:cNvCxnSpPr>
              <a:stCxn id="27" idx="2"/>
              <a:endCxn id="44" idx="0"/>
            </p:cNvCxnSpPr>
            <p:nvPr/>
          </p:nvCxnSpPr>
          <p:spPr>
            <a:xfrm rot="16200000" flipH="1">
              <a:off x="1189635" y="4364462"/>
              <a:ext cx="288334" cy="4941"/>
            </a:xfrm>
            <a:prstGeom prst="bentConnector3">
              <a:avLst/>
            </a:prstGeom>
            <a:ln w="19050"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Flowchart: Process 45">
              <a:extLst>
                <a:ext uri="{FF2B5EF4-FFF2-40B4-BE49-F238E27FC236}">
                  <a16:creationId xmlns:a16="http://schemas.microsoft.com/office/drawing/2014/main" id="{00000000-0008-0000-0600-000077000000}"/>
                </a:ext>
              </a:extLst>
            </p:cNvPr>
            <p:cNvSpPr/>
            <p:nvPr/>
          </p:nvSpPr>
          <p:spPr>
            <a:xfrm>
              <a:off x="457201" y="5257800"/>
              <a:ext cx="10668000" cy="304800"/>
            </a:xfrm>
            <a:prstGeom prst="flowChartProcess">
              <a:avLst/>
            </a:prstGeom>
            <a:solidFill>
              <a:srgbClr val="006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47" name="Flowchart: Process 46">
              <a:extLst>
                <a:ext uri="{FF2B5EF4-FFF2-40B4-BE49-F238E27FC236}">
                  <a16:creationId xmlns:a16="http://schemas.microsoft.com/office/drawing/2014/main" id="{00000000-0008-0000-0600-000078000000}"/>
                </a:ext>
              </a:extLst>
            </p:cNvPr>
            <p:cNvSpPr/>
            <p:nvPr/>
          </p:nvSpPr>
          <p:spPr>
            <a:xfrm>
              <a:off x="466887" y="5283032"/>
              <a:ext cx="2808000" cy="25200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Unified Process &amp; Template&amp; Checklist</a:t>
              </a:r>
            </a:p>
          </p:txBody>
        </p:sp>
        <p:sp>
          <p:nvSpPr>
            <p:cNvPr id="48" name="Flowchart: Process 47">
              <a:extLst>
                <a:ext uri="{FF2B5EF4-FFF2-40B4-BE49-F238E27FC236}">
                  <a16:creationId xmlns:a16="http://schemas.microsoft.com/office/drawing/2014/main" id="{00000000-0008-0000-0600-000079000000}"/>
                </a:ext>
              </a:extLst>
            </p:cNvPr>
            <p:cNvSpPr/>
            <p:nvPr/>
          </p:nvSpPr>
          <p:spPr>
            <a:xfrm>
              <a:off x="3261001" y="5282936"/>
              <a:ext cx="1692000" cy="25200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Unified Target Metrics</a:t>
              </a:r>
            </a:p>
          </p:txBody>
        </p:sp>
        <p:sp>
          <p:nvSpPr>
            <p:cNvPr id="49" name="Flowchart: Process 48">
              <a:extLst>
                <a:ext uri="{FF2B5EF4-FFF2-40B4-BE49-F238E27FC236}">
                  <a16:creationId xmlns:a16="http://schemas.microsoft.com/office/drawing/2014/main" id="{00000000-0008-0000-0600-00007A000000}"/>
                </a:ext>
              </a:extLst>
            </p:cNvPr>
            <p:cNvSpPr/>
            <p:nvPr/>
          </p:nvSpPr>
          <p:spPr>
            <a:xfrm>
              <a:off x="7569585" y="5282936"/>
              <a:ext cx="1980000" cy="25200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latin typeface="Segoe UI Light" panose="020B0502040204020203" pitchFamily="34" charset="0"/>
                  <a:cs typeface="Segoe UI Light" panose="020B0502040204020203" pitchFamily="34" charset="0"/>
                </a:rPr>
                <a:t>Common Training Program</a:t>
              </a:r>
            </a:p>
          </p:txBody>
        </p:sp>
        <p:sp>
          <p:nvSpPr>
            <p:cNvPr id="50" name="Flowchart: Process 49">
              <a:extLst>
                <a:ext uri="{FF2B5EF4-FFF2-40B4-BE49-F238E27FC236}">
                  <a16:creationId xmlns:a16="http://schemas.microsoft.com/office/drawing/2014/main" id="{00000000-0008-0000-0600-00007B000000}"/>
                </a:ext>
              </a:extLst>
            </p:cNvPr>
            <p:cNvSpPr/>
            <p:nvPr/>
          </p:nvSpPr>
          <p:spPr>
            <a:xfrm>
              <a:off x="9571705" y="5282936"/>
              <a:ext cx="1512000" cy="25200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latin typeface="Segoe UI Light" panose="020B0502040204020203" pitchFamily="34" charset="0"/>
                  <a:cs typeface="Segoe UI Light" panose="020B0502040204020203" pitchFamily="34" charset="0"/>
                </a:rPr>
                <a:t>Centralized CICD</a:t>
              </a:r>
            </a:p>
          </p:txBody>
        </p:sp>
        <p:sp>
          <p:nvSpPr>
            <p:cNvPr id="51" name="Flowchart: Process 50">
              <a:extLst>
                <a:ext uri="{FF2B5EF4-FFF2-40B4-BE49-F238E27FC236}">
                  <a16:creationId xmlns:a16="http://schemas.microsoft.com/office/drawing/2014/main" id="{00000000-0008-0000-0600-00007C000000}"/>
                </a:ext>
              </a:extLst>
            </p:cNvPr>
            <p:cNvSpPr/>
            <p:nvPr/>
          </p:nvSpPr>
          <p:spPr>
            <a:xfrm rot="16200000">
              <a:off x="-82955" y="2204339"/>
              <a:ext cx="746345" cy="239108"/>
            </a:xfrm>
            <a:prstGeom prst="flowChartProcess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39700" prst="cross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Progress</a:t>
              </a:r>
            </a:p>
          </p:txBody>
        </p:sp>
        <p:sp>
          <p:nvSpPr>
            <p:cNvPr id="52" name="Flowchart: Process 51">
              <a:extLst>
                <a:ext uri="{FF2B5EF4-FFF2-40B4-BE49-F238E27FC236}">
                  <a16:creationId xmlns:a16="http://schemas.microsoft.com/office/drawing/2014/main" id="{00000000-0008-0000-0600-00007D000000}"/>
                </a:ext>
              </a:extLst>
            </p:cNvPr>
            <p:cNvSpPr/>
            <p:nvPr/>
          </p:nvSpPr>
          <p:spPr>
            <a:xfrm rot="16200000">
              <a:off x="-82658" y="1442753"/>
              <a:ext cx="746345" cy="239108"/>
            </a:xfrm>
            <a:prstGeom prst="flowChartProcess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39700" prst="cross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Metrics</a:t>
              </a:r>
            </a:p>
          </p:txBody>
        </p:sp>
        <p:sp>
          <p:nvSpPr>
            <p:cNvPr id="53" name="Flowchart: Process 52">
              <a:extLst>
                <a:ext uri="{FF2B5EF4-FFF2-40B4-BE49-F238E27FC236}">
                  <a16:creationId xmlns:a16="http://schemas.microsoft.com/office/drawing/2014/main" id="{00000000-0008-0000-0600-00007E000000}"/>
                </a:ext>
              </a:extLst>
            </p:cNvPr>
            <p:cNvSpPr/>
            <p:nvPr/>
          </p:nvSpPr>
          <p:spPr>
            <a:xfrm rot="16200000">
              <a:off x="-186811" y="4583307"/>
              <a:ext cx="951373" cy="245212"/>
            </a:xfrm>
            <a:prstGeom prst="flowChartProcess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b="1" dirty="0">
                  <a:solidFill>
                    <a:schemeClr val="accent5">
                      <a:lumMod val="7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Consolidate</a:t>
              </a:r>
            </a:p>
          </p:txBody>
        </p:sp>
        <p:cxnSp>
          <p:nvCxnSpPr>
            <p:cNvPr id="54" name="Elbow Connector 53">
              <a:extLst>
                <a:ext uri="{FF2B5EF4-FFF2-40B4-BE49-F238E27FC236}">
                  <a16:creationId xmlns:a16="http://schemas.microsoft.com/office/drawing/2014/main" id="{00000000-0008-0000-0600-00007F000000}"/>
                </a:ext>
              </a:extLst>
            </p:cNvPr>
            <p:cNvCxnSpPr>
              <a:stCxn id="27" idx="2"/>
              <a:endCxn id="43" idx="0"/>
            </p:cNvCxnSpPr>
            <p:nvPr/>
          </p:nvCxnSpPr>
          <p:spPr>
            <a:xfrm rot="16200000" flipH="1">
              <a:off x="1728978" y="3825120"/>
              <a:ext cx="293472" cy="1088764"/>
            </a:xfrm>
            <a:prstGeom prst="bentConnector3">
              <a:avLst/>
            </a:prstGeom>
            <a:ln w="19050"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Flowchart: Process 54">
              <a:extLst>
                <a:ext uri="{FF2B5EF4-FFF2-40B4-BE49-F238E27FC236}">
                  <a16:creationId xmlns:a16="http://schemas.microsoft.com/office/drawing/2014/main" id="{00000000-0008-0000-0600-000080000000}"/>
                </a:ext>
              </a:extLst>
            </p:cNvPr>
            <p:cNvSpPr/>
            <p:nvPr/>
          </p:nvSpPr>
          <p:spPr>
            <a:xfrm>
              <a:off x="3130284" y="1386180"/>
              <a:ext cx="1334285" cy="339164"/>
            </a:xfrm>
            <a:prstGeom prst="flowChartProcess">
              <a:avLst/>
            </a:prstGeom>
            <a:solidFill>
              <a:srgbClr val="0679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>
                  <a:latin typeface="Segoe UI Light" panose="020B0502040204020203" pitchFamily="34" charset="0"/>
                  <a:cs typeface="Segoe UI Light" panose="020B0502040204020203" pitchFamily="34" charset="0"/>
                </a:rPr>
                <a:t>Product Management</a:t>
              </a:r>
            </a:p>
          </p:txBody>
        </p:sp>
        <p:sp>
          <p:nvSpPr>
            <p:cNvPr id="56" name="Flowchart: Process 55">
              <a:extLst>
                <a:ext uri="{FF2B5EF4-FFF2-40B4-BE49-F238E27FC236}">
                  <a16:creationId xmlns:a16="http://schemas.microsoft.com/office/drawing/2014/main" id="{00000000-0008-0000-0600-000081000000}"/>
                </a:ext>
              </a:extLst>
            </p:cNvPr>
            <p:cNvSpPr/>
            <p:nvPr/>
          </p:nvSpPr>
          <p:spPr>
            <a:xfrm>
              <a:off x="4572001" y="990600"/>
              <a:ext cx="1334285" cy="339164"/>
            </a:xfrm>
            <a:prstGeom prst="flowChartProcess">
              <a:avLst/>
            </a:prstGeom>
            <a:solidFill>
              <a:srgbClr val="0679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>
                  <a:latin typeface="Segoe UI Light" panose="020B0502040204020203" pitchFamily="34" charset="0"/>
                  <a:cs typeface="Segoe UI Light" panose="020B0502040204020203" pitchFamily="34" charset="0"/>
                </a:rPr>
                <a:t>Quality Strategy</a:t>
              </a:r>
            </a:p>
          </p:txBody>
        </p:sp>
        <p:sp>
          <p:nvSpPr>
            <p:cNvPr id="57" name="Flowchart: Process 56">
              <a:extLst>
                <a:ext uri="{FF2B5EF4-FFF2-40B4-BE49-F238E27FC236}">
                  <a16:creationId xmlns:a16="http://schemas.microsoft.com/office/drawing/2014/main" id="{00000000-0008-0000-0600-000082000000}"/>
                </a:ext>
              </a:extLst>
            </p:cNvPr>
            <p:cNvSpPr/>
            <p:nvPr/>
          </p:nvSpPr>
          <p:spPr>
            <a:xfrm>
              <a:off x="4542961" y="1410923"/>
              <a:ext cx="1334285" cy="339164"/>
            </a:xfrm>
            <a:prstGeom prst="flowChartProcess">
              <a:avLst/>
            </a:prstGeom>
            <a:solidFill>
              <a:srgbClr val="0679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>
                  <a:latin typeface="Segoe UI Light" panose="020B0502040204020203" pitchFamily="34" charset="0"/>
                  <a:cs typeface="Segoe UI Light" panose="020B0502040204020203" pitchFamily="34" charset="0"/>
                </a:rPr>
                <a:t>Productivity Strategy</a:t>
              </a:r>
            </a:p>
          </p:txBody>
        </p:sp>
        <p:sp>
          <p:nvSpPr>
            <p:cNvPr id="58" name="Chevron 57">
              <a:extLst>
                <a:ext uri="{FF2B5EF4-FFF2-40B4-BE49-F238E27FC236}">
                  <a16:creationId xmlns:a16="http://schemas.microsoft.com/office/drawing/2014/main" id="{00000000-0008-0000-0600-000083000000}"/>
                </a:ext>
              </a:extLst>
            </p:cNvPr>
            <p:cNvSpPr/>
            <p:nvPr/>
          </p:nvSpPr>
          <p:spPr>
            <a:xfrm>
              <a:off x="3141534" y="2083214"/>
              <a:ext cx="2109335" cy="381554"/>
            </a:xfrm>
            <a:prstGeom prst="chevron">
              <a:avLst/>
            </a:prstGeom>
            <a:solidFill>
              <a:srgbClr val="5B9B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300">
                  <a:latin typeface="Segoe UI Light" panose="020B0502040204020203" pitchFamily="34" charset="0"/>
                  <a:cs typeface="Segoe UI Light" panose="020B0502040204020203" pitchFamily="34" charset="0"/>
                </a:rPr>
                <a:t>Continuous Exploration</a:t>
              </a:r>
            </a:p>
          </p:txBody>
        </p:sp>
        <p:sp>
          <p:nvSpPr>
            <p:cNvPr id="59" name="Chevron 58">
              <a:extLst>
                <a:ext uri="{FF2B5EF4-FFF2-40B4-BE49-F238E27FC236}">
                  <a16:creationId xmlns:a16="http://schemas.microsoft.com/office/drawing/2014/main" id="{00000000-0008-0000-0600-000084000000}"/>
                </a:ext>
              </a:extLst>
            </p:cNvPr>
            <p:cNvSpPr/>
            <p:nvPr/>
          </p:nvSpPr>
          <p:spPr>
            <a:xfrm>
              <a:off x="5098883" y="2078736"/>
              <a:ext cx="2194601" cy="397392"/>
            </a:xfrm>
            <a:prstGeom prst="chevron">
              <a:avLst/>
            </a:prstGeom>
            <a:solidFill>
              <a:srgbClr val="1281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300">
                  <a:latin typeface="Segoe UI Light" panose="020B0502040204020203" pitchFamily="34" charset="0"/>
                  <a:cs typeface="Segoe UI Light" panose="020B0502040204020203" pitchFamily="34" charset="0"/>
                </a:rPr>
                <a:t>Continuous Integration &amp; Deployment</a:t>
              </a:r>
            </a:p>
          </p:txBody>
        </p:sp>
        <p:sp>
          <p:nvSpPr>
            <p:cNvPr id="60" name="Chevron 59">
              <a:extLst>
                <a:ext uri="{FF2B5EF4-FFF2-40B4-BE49-F238E27FC236}">
                  <a16:creationId xmlns:a16="http://schemas.microsoft.com/office/drawing/2014/main" id="{00000000-0008-0000-0600-000085000000}"/>
                </a:ext>
              </a:extLst>
            </p:cNvPr>
            <p:cNvSpPr/>
            <p:nvPr/>
          </p:nvSpPr>
          <p:spPr>
            <a:xfrm>
              <a:off x="7139587" y="2082516"/>
              <a:ext cx="1706987" cy="389349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300">
                  <a:latin typeface="Segoe UI Light" panose="020B0502040204020203" pitchFamily="34" charset="0"/>
                  <a:cs typeface="Segoe UI Light" panose="020B0502040204020203" pitchFamily="34" charset="0"/>
                </a:rPr>
                <a:t>Continuous Release </a:t>
              </a:r>
            </a:p>
          </p:txBody>
        </p:sp>
        <p:sp>
          <p:nvSpPr>
            <p:cNvPr id="61" name="Flowchart: Process 60">
              <a:extLst>
                <a:ext uri="{FF2B5EF4-FFF2-40B4-BE49-F238E27FC236}">
                  <a16:creationId xmlns:a16="http://schemas.microsoft.com/office/drawing/2014/main" id="{00000000-0008-0000-0600-000086000000}"/>
                </a:ext>
              </a:extLst>
            </p:cNvPr>
            <p:cNvSpPr/>
            <p:nvPr/>
          </p:nvSpPr>
          <p:spPr>
            <a:xfrm>
              <a:off x="4953001" y="5287296"/>
              <a:ext cx="2592000" cy="25200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latin typeface="Segoe UI Light" panose="020B0502040204020203" pitchFamily="34" charset="0"/>
                  <a:cs typeface="Segoe UI Light" panose="020B0502040204020203" pitchFamily="34" charset="0"/>
                </a:rPr>
                <a:t>Common Management Framework</a:t>
              </a:r>
            </a:p>
          </p:txBody>
        </p:sp>
        <p:sp>
          <p:nvSpPr>
            <p:cNvPr id="62" name="Flowchart: Process 61">
              <a:extLst>
                <a:ext uri="{FF2B5EF4-FFF2-40B4-BE49-F238E27FC236}">
                  <a16:creationId xmlns:a16="http://schemas.microsoft.com/office/drawing/2014/main" id="{00000000-0008-0000-0600-000087000000}"/>
                </a:ext>
              </a:extLst>
            </p:cNvPr>
            <p:cNvSpPr/>
            <p:nvPr/>
          </p:nvSpPr>
          <p:spPr>
            <a:xfrm>
              <a:off x="3130282" y="996772"/>
              <a:ext cx="1334285" cy="339164"/>
            </a:xfrm>
            <a:prstGeom prst="flowChartProcess">
              <a:avLst/>
            </a:prstGeom>
            <a:solidFill>
              <a:srgbClr val="0679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>
                  <a:latin typeface="Segoe UI Light" panose="020B0502040204020203" pitchFamily="34" charset="0"/>
                  <a:cs typeface="Segoe UI Light" panose="020B0502040204020203" pitchFamily="34" charset="0"/>
                </a:rPr>
                <a:t>Development Roadmap</a:t>
              </a:r>
            </a:p>
          </p:txBody>
        </p:sp>
        <p:sp>
          <p:nvSpPr>
            <p:cNvPr id="63" name="Flowchart: Process 62">
              <a:extLst>
                <a:ext uri="{FF2B5EF4-FFF2-40B4-BE49-F238E27FC236}">
                  <a16:creationId xmlns:a16="http://schemas.microsoft.com/office/drawing/2014/main" id="{00000000-0008-0000-0600-000092000000}"/>
                </a:ext>
              </a:extLst>
            </p:cNvPr>
            <p:cNvSpPr/>
            <p:nvPr/>
          </p:nvSpPr>
          <p:spPr>
            <a:xfrm>
              <a:off x="5989495" y="990600"/>
              <a:ext cx="1748129" cy="789012"/>
            </a:xfrm>
            <a:prstGeom prst="flowChartProcess">
              <a:avLst/>
            </a:prstGeom>
            <a:solidFill>
              <a:srgbClr val="0679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>
                  <a:latin typeface="Segoe UI Light" panose="020B0502040204020203" pitchFamily="34" charset="0"/>
                  <a:cs typeface="Segoe UI Light" panose="020B0502040204020203" pitchFamily="34" charset="0"/>
                </a:rPr>
                <a:t>Consolidate planning, monitoring and control: estimation, schedule, progress, metrics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00000000-0008-0000-0600-000095000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flipH="1">
              <a:off x="9839558" y="4277306"/>
              <a:ext cx="542308" cy="430494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00000000-0008-0000-0600-000097000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flipH="1">
              <a:off x="9755793" y="1330738"/>
              <a:ext cx="708725" cy="380504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00000000-0008-0000-0600-000098000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flipH="1">
              <a:off x="9825940" y="2687514"/>
              <a:ext cx="509876" cy="430494"/>
            </a:xfrm>
            <a:prstGeom prst="rect">
              <a:avLst/>
            </a:prstGeom>
          </p:spPr>
        </p:pic>
        <p:sp>
          <p:nvSpPr>
            <p:cNvPr id="67" name="Flowchart: Process 66">
              <a:extLst>
                <a:ext uri="{FF2B5EF4-FFF2-40B4-BE49-F238E27FC236}">
                  <a16:creationId xmlns:a16="http://schemas.microsoft.com/office/drawing/2014/main" id="{00000000-0008-0000-0600-000099000000}"/>
                </a:ext>
              </a:extLst>
            </p:cNvPr>
            <p:cNvSpPr/>
            <p:nvPr/>
          </p:nvSpPr>
          <p:spPr>
            <a:xfrm>
              <a:off x="9677401" y="1676400"/>
              <a:ext cx="819147" cy="245194"/>
            </a:xfrm>
            <a:prstGeom prst="flowChartProces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>
                  <a:solidFill>
                    <a:schemeClr val="accent5">
                      <a:lumMod val="7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PMO Team</a:t>
              </a:r>
            </a:p>
          </p:txBody>
        </p:sp>
        <p:sp>
          <p:nvSpPr>
            <p:cNvPr id="68" name="Flowchart: Process 67">
              <a:extLst>
                <a:ext uri="{FF2B5EF4-FFF2-40B4-BE49-F238E27FC236}">
                  <a16:creationId xmlns:a16="http://schemas.microsoft.com/office/drawing/2014/main" id="{00000000-0008-0000-0600-00009A000000}"/>
                </a:ext>
              </a:extLst>
            </p:cNvPr>
            <p:cNvSpPr/>
            <p:nvPr/>
          </p:nvSpPr>
          <p:spPr>
            <a:xfrm>
              <a:off x="9671304" y="3118008"/>
              <a:ext cx="819147" cy="245194"/>
            </a:xfrm>
            <a:prstGeom prst="flowChartProces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>
                  <a:solidFill>
                    <a:schemeClr val="accent5">
                      <a:lumMod val="7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Tech Team</a:t>
              </a:r>
            </a:p>
          </p:txBody>
        </p:sp>
        <p:sp>
          <p:nvSpPr>
            <p:cNvPr id="69" name="Flowchart: Process 68">
              <a:extLst>
                <a:ext uri="{FF2B5EF4-FFF2-40B4-BE49-F238E27FC236}">
                  <a16:creationId xmlns:a16="http://schemas.microsoft.com/office/drawing/2014/main" id="{00000000-0008-0000-0600-00009B000000}"/>
                </a:ext>
              </a:extLst>
            </p:cNvPr>
            <p:cNvSpPr/>
            <p:nvPr/>
          </p:nvSpPr>
          <p:spPr>
            <a:xfrm>
              <a:off x="9626445" y="4786597"/>
              <a:ext cx="967420" cy="198693"/>
            </a:xfrm>
            <a:prstGeom prst="flowChartProces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>
                  <a:solidFill>
                    <a:schemeClr val="accent5">
                      <a:lumMod val="7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Development Team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0000000-0008-0000-0600-00009C000000}"/>
                </a:ext>
              </a:extLst>
            </p:cNvPr>
            <p:cNvSpPr/>
            <p:nvPr/>
          </p:nvSpPr>
          <p:spPr>
            <a:xfrm>
              <a:off x="3141535" y="2497445"/>
              <a:ext cx="1954699" cy="878678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1. Planning for iteration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2. Develop/Maintain System Design, Database Design, FW &amp; System Common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3. Develop/Maintain Test Plan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0000000-0008-0000-0600-00009D000000}"/>
                </a:ext>
              </a:extLst>
            </p:cNvPr>
            <p:cNvSpPr/>
            <p:nvPr/>
          </p:nvSpPr>
          <p:spPr>
            <a:xfrm>
              <a:off x="7146740" y="2515181"/>
              <a:ext cx="1699833" cy="86094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1. External release by service completeness</a:t>
              </a:r>
            </a:p>
            <a:p>
              <a:endParaRPr lang="en-US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endParaRPr lang="en-US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pic>
          <p:nvPicPr>
            <p:cNvPr id="72" name="Picture 71" descr="Enterprise Application Development Services | iShore Software ...">
              <a:extLst>
                <a:ext uri="{FF2B5EF4-FFF2-40B4-BE49-F238E27FC236}">
                  <a16:creationId xmlns:a16="http://schemas.microsoft.com/office/drawing/2014/main" id="{00000000-0008-0000-0600-00009E0000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827" y="2049106"/>
              <a:ext cx="233477" cy="2334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" name="Picture 72" descr="Enterprise Application Development Services | iShore Software ...">
              <a:extLst>
                <a:ext uri="{FF2B5EF4-FFF2-40B4-BE49-F238E27FC236}">
                  <a16:creationId xmlns:a16="http://schemas.microsoft.com/office/drawing/2014/main" id="{00000000-0008-0000-0600-00009F0000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021006" y="4251507"/>
              <a:ext cx="206883" cy="2068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0000000-0008-0000-0600-0000A3000000}"/>
                </a:ext>
              </a:extLst>
            </p:cNvPr>
            <p:cNvSpPr/>
            <p:nvPr/>
          </p:nvSpPr>
          <p:spPr>
            <a:xfrm>
              <a:off x="5131041" y="2500473"/>
              <a:ext cx="1980893" cy="875649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1. Continuous integration (service level)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2. Internal acceptance test of module delivery</a:t>
              </a:r>
            </a:p>
            <a:p>
              <a:endParaRPr lang="en-US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endParaRPr lang="en-US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5113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F8262F-E9A6-794A-A448-61E6D13D374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Project Iteration Process</a:t>
            </a:r>
            <a:endParaRPr lang="en-US" dirty="0"/>
          </a:p>
        </p:txBody>
      </p:sp>
      <p:pic>
        <p:nvPicPr>
          <p:cNvPr id="80" name="Picture 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50" y="881785"/>
            <a:ext cx="11384720" cy="556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944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B17CE2-8399-BE4A-8BBF-96453C6542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Project Organization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92194" y="1074685"/>
            <a:ext cx="11007437" cy="11203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191979" y="1040569"/>
            <a:ext cx="1886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STEERING COMMITTEE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1552" y="1332206"/>
            <a:ext cx="1807324" cy="64607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Project Director/ Senior Manager</a:t>
            </a:r>
          </a:p>
          <a:p>
            <a:pPr algn="ctr"/>
            <a:r>
              <a:rPr lang="en-US" sz="1200" dirty="0"/>
              <a:t>&lt;ABC&gt;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54667" y="1352640"/>
            <a:ext cx="1680974" cy="6284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Account Manager</a:t>
            </a:r>
          </a:p>
          <a:p>
            <a:pPr algn="ctr"/>
            <a:r>
              <a:rPr lang="en-US" sz="1200" dirty="0"/>
              <a:t>&lt;ABC&gt;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21298" y="1383091"/>
            <a:ext cx="1716629" cy="669729"/>
          </a:xfrm>
          <a:prstGeom prst="roundRect">
            <a:avLst/>
          </a:prstGeom>
          <a:solidFill>
            <a:srgbClr val="FF69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Project Director/ Senior Manager</a:t>
            </a:r>
          </a:p>
          <a:p>
            <a:pPr algn="ctr"/>
            <a:r>
              <a:rPr lang="en-US" sz="1200" dirty="0"/>
              <a:t>&lt;ABC&gt;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692194" y="2287385"/>
            <a:ext cx="11007437" cy="420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486916" y="2389344"/>
            <a:ext cx="15787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PROJECT DELIVERY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90398" y="2557386"/>
            <a:ext cx="1578428" cy="488971"/>
          </a:xfrm>
          <a:prstGeom prst="roundRect">
            <a:avLst/>
          </a:prstGeom>
          <a:solidFill>
            <a:srgbClr val="FF69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Project manager</a:t>
            </a:r>
          </a:p>
          <a:p>
            <a:pPr algn="ctr"/>
            <a:r>
              <a:rPr lang="en-US" sz="1200" dirty="0"/>
              <a:t>&lt;ABC&gt;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120" y="4028596"/>
            <a:ext cx="1578428" cy="50455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Technical Owner</a:t>
            </a:r>
          </a:p>
          <a:p>
            <a:pPr algn="ctr"/>
            <a:r>
              <a:rPr lang="en-US" sz="1200" dirty="0"/>
              <a:t>&lt;ABC&gt;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121" y="5243956"/>
            <a:ext cx="1578428" cy="50455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Infrastructure Owner</a:t>
            </a:r>
          </a:p>
          <a:p>
            <a:pPr algn="ctr"/>
            <a:r>
              <a:rPr lang="en-US" sz="1200" dirty="0"/>
              <a:t>&lt;ABC&gt;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07585" y="2565443"/>
            <a:ext cx="1578428" cy="504556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Delivery Manager</a:t>
            </a:r>
          </a:p>
          <a:p>
            <a:pPr algn="ctr"/>
            <a:r>
              <a:rPr lang="en-US" sz="1200" dirty="0"/>
              <a:t>&lt;ABC&gt;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121" y="2750223"/>
            <a:ext cx="1578428" cy="55059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Project Manager</a:t>
            </a:r>
          </a:p>
          <a:p>
            <a:pPr algn="ctr"/>
            <a:r>
              <a:rPr lang="en-US" sz="1200" dirty="0"/>
              <a:t>&lt;ABC&gt;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6400" y="3467263"/>
            <a:ext cx="1279521" cy="834747"/>
          </a:xfrm>
          <a:prstGeom prst="roundRect">
            <a:avLst/>
          </a:prstGeom>
          <a:solidFill>
            <a:srgbClr val="FF69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Dev Team 3</a:t>
            </a:r>
          </a:p>
          <a:p>
            <a:pPr algn="ctr"/>
            <a:r>
              <a:rPr lang="en-US" sz="1200" dirty="0"/>
              <a:t>&lt;ABC&gt;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14196" y="4488125"/>
            <a:ext cx="5602946" cy="477384"/>
          </a:xfrm>
          <a:prstGeom prst="roundRect">
            <a:avLst/>
          </a:prstGeom>
          <a:solidFill>
            <a:srgbClr val="FF69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Technical Solution</a:t>
            </a:r>
          </a:p>
          <a:p>
            <a:pPr algn="ctr"/>
            <a:r>
              <a:rPr lang="en-US" sz="1200" dirty="0"/>
              <a:t>&lt;ABC&gt;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25667" y="3448658"/>
            <a:ext cx="1329246" cy="853354"/>
          </a:xfrm>
          <a:prstGeom prst="roundRect">
            <a:avLst/>
          </a:prstGeom>
          <a:solidFill>
            <a:srgbClr val="FF69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Dev Team 1</a:t>
            </a:r>
          </a:p>
          <a:p>
            <a:pPr algn="ctr"/>
            <a:r>
              <a:rPr lang="en-US" sz="1200" dirty="0"/>
              <a:t>&lt;ABC&gt;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97426" y="3473614"/>
            <a:ext cx="1291555" cy="828397"/>
          </a:xfrm>
          <a:prstGeom prst="roundRect">
            <a:avLst/>
          </a:prstGeom>
          <a:solidFill>
            <a:srgbClr val="FF69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Dev Team 2</a:t>
            </a:r>
          </a:p>
          <a:p>
            <a:pPr algn="ctr"/>
            <a:r>
              <a:rPr lang="en-US" sz="1200" dirty="0"/>
              <a:t>&lt;ABC&gt;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13636" y="3473615"/>
            <a:ext cx="1274979" cy="828395"/>
          </a:xfrm>
          <a:prstGeom prst="roundRect">
            <a:avLst/>
          </a:prstGeom>
          <a:solidFill>
            <a:srgbClr val="FF69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Dev Team 4</a:t>
            </a:r>
          </a:p>
          <a:p>
            <a:pPr algn="ctr"/>
            <a:r>
              <a:rPr lang="en-US" sz="1200" dirty="0"/>
              <a:t>&lt;ABC&gt;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17272" y="458036"/>
            <a:ext cx="1076140" cy="2794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Customer</a:t>
            </a:r>
            <a:endParaRPr lang="en-US" sz="1200" dirty="0"/>
          </a:p>
        </p:txBody>
      </p:sp>
      <p:sp>
        <p:nvSpPr>
          <p:cNvPr id="24" name="Rounded Rectangle 23"/>
          <p:cNvSpPr/>
          <p:nvPr/>
        </p:nvSpPr>
        <p:spPr>
          <a:xfrm>
            <a:off x="9926710" y="465276"/>
            <a:ext cx="1076140" cy="279485"/>
          </a:xfrm>
          <a:prstGeom prst="roundRect">
            <a:avLst/>
          </a:prstGeom>
          <a:solidFill>
            <a:srgbClr val="FF69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FPT Offshore</a:t>
            </a:r>
            <a:endParaRPr lang="en-US" sz="1200" dirty="0"/>
          </a:p>
        </p:txBody>
      </p:sp>
      <p:sp>
        <p:nvSpPr>
          <p:cNvPr id="25" name="Rounded Rectangle 24"/>
          <p:cNvSpPr/>
          <p:nvPr/>
        </p:nvSpPr>
        <p:spPr>
          <a:xfrm>
            <a:off x="8771991" y="460337"/>
            <a:ext cx="1076140" cy="279485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FPT Onsite</a:t>
            </a:r>
            <a:endParaRPr lang="en-US" sz="1200" dirty="0"/>
          </a:p>
        </p:txBody>
      </p:sp>
      <p:cxnSp>
        <p:nvCxnSpPr>
          <p:cNvPr id="27" name="Elbow Connector 26"/>
          <p:cNvCxnSpPr>
            <a:stCxn id="12" idx="2"/>
            <a:endCxn id="20" idx="0"/>
          </p:cNvCxnSpPr>
          <p:nvPr/>
        </p:nvCxnSpPr>
        <p:spPr>
          <a:xfrm rot="5400000">
            <a:off x="7283801" y="2352846"/>
            <a:ext cx="402301" cy="178932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>
            <a:stCxn id="12" idx="2"/>
            <a:endCxn id="18" idx="0"/>
          </p:cNvCxnSpPr>
          <p:nvPr/>
        </p:nvCxnSpPr>
        <p:spPr>
          <a:xfrm rot="16200000" flipH="1">
            <a:off x="8712433" y="2713535"/>
            <a:ext cx="420906" cy="108654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/>
          <p:cNvCxnSpPr>
            <a:stCxn id="15" idx="1"/>
            <a:endCxn id="17" idx="3"/>
          </p:cNvCxnSpPr>
          <p:nvPr/>
        </p:nvCxnSpPr>
        <p:spPr>
          <a:xfrm rot="10800000" flipV="1">
            <a:off x="2721549" y="2817721"/>
            <a:ext cx="1086036" cy="20779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15" idx="0"/>
            <a:endCxn id="7" idx="2"/>
          </p:cNvCxnSpPr>
          <p:nvPr/>
        </p:nvCxnSpPr>
        <p:spPr>
          <a:xfrm rot="16200000" flipV="1">
            <a:off x="4303821" y="2272464"/>
            <a:ext cx="584313" cy="164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901771" y="5011645"/>
            <a:ext cx="5574419" cy="417729"/>
          </a:xfrm>
          <a:prstGeom prst="roundRect">
            <a:avLst/>
          </a:prstGeom>
          <a:solidFill>
            <a:srgbClr val="FF69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Test team</a:t>
            </a:r>
          </a:p>
          <a:p>
            <a:pPr algn="ctr"/>
            <a:r>
              <a:rPr lang="en-US" sz="1200" dirty="0"/>
              <a:t>&lt;ABC&gt;</a:t>
            </a:r>
          </a:p>
        </p:txBody>
      </p:sp>
      <p:cxnSp>
        <p:nvCxnSpPr>
          <p:cNvPr id="44" name="Straight Connector 43"/>
          <p:cNvCxnSpPr>
            <a:stCxn id="8" idx="2"/>
            <a:endCxn id="12" idx="0"/>
          </p:cNvCxnSpPr>
          <p:nvPr/>
        </p:nvCxnSpPr>
        <p:spPr>
          <a:xfrm flipH="1">
            <a:off x="8379612" y="2052820"/>
            <a:ext cx="1" cy="5045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5" idx="3"/>
            <a:endCxn id="12" idx="1"/>
          </p:cNvCxnSpPr>
          <p:nvPr/>
        </p:nvCxnSpPr>
        <p:spPr>
          <a:xfrm flipV="1">
            <a:off x="5386013" y="2801872"/>
            <a:ext cx="2204385" cy="15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6" idx="2"/>
            <a:endCxn id="17" idx="0"/>
          </p:cNvCxnSpPr>
          <p:nvPr/>
        </p:nvCxnSpPr>
        <p:spPr>
          <a:xfrm rot="5400000">
            <a:off x="1587805" y="2322814"/>
            <a:ext cx="771940" cy="8287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17" idx="1"/>
            <a:endCxn id="13" idx="1"/>
          </p:cNvCxnSpPr>
          <p:nvPr/>
        </p:nvCxnSpPr>
        <p:spPr>
          <a:xfrm rot="10800000" flipV="1">
            <a:off x="1143121" y="3025518"/>
            <a:ext cx="1" cy="1255355"/>
          </a:xfrm>
          <a:prstGeom prst="bentConnector3">
            <a:avLst>
              <a:gd name="adj1" fmla="val 22860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/>
          <p:cNvCxnSpPr>
            <a:stCxn id="17" idx="1"/>
            <a:endCxn id="14" idx="1"/>
          </p:cNvCxnSpPr>
          <p:nvPr/>
        </p:nvCxnSpPr>
        <p:spPr>
          <a:xfrm rot="10800000" flipV="1">
            <a:off x="1143121" y="3025518"/>
            <a:ext cx="12700" cy="2470715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901770" y="5476517"/>
            <a:ext cx="5574419" cy="436792"/>
          </a:xfrm>
          <a:prstGeom prst="roundRect">
            <a:avLst/>
          </a:prstGeom>
          <a:solidFill>
            <a:srgbClr val="FF69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PMO</a:t>
            </a:r>
          </a:p>
          <a:p>
            <a:pPr algn="ctr"/>
            <a:r>
              <a:rPr lang="en-US" sz="1200" dirty="0"/>
              <a:t>&lt;ABC&gt;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25667" y="5960452"/>
            <a:ext cx="5550522" cy="428625"/>
          </a:xfrm>
          <a:prstGeom prst="roundRect">
            <a:avLst/>
          </a:prstGeom>
          <a:solidFill>
            <a:srgbClr val="FF69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QA</a:t>
            </a:r>
          </a:p>
          <a:p>
            <a:pPr algn="ctr"/>
            <a:r>
              <a:rPr lang="en-US" sz="1200" dirty="0"/>
              <a:t>&lt;ABC&gt;</a:t>
            </a:r>
          </a:p>
        </p:txBody>
      </p:sp>
      <p:cxnSp>
        <p:nvCxnSpPr>
          <p:cNvPr id="76" name="Elbow Connector 75"/>
          <p:cNvCxnSpPr>
            <a:endCxn id="21" idx="0"/>
          </p:cNvCxnSpPr>
          <p:nvPr/>
        </p:nvCxnSpPr>
        <p:spPr>
          <a:xfrm rot="5400000">
            <a:off x="8009601" y="3103603"/>
            <a:ext cx="403615" cy="33640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/>
          <p:cNvCxnSpPr>
            <a:stCxn id="12" idx="2"/>
            <a:endCxn id="22" idx="0"/>
          </p:cNvCxnSpPr>
          <p:nvPr/>
        </p:nvCxnSpPr>
        <p:spPr>
          <a:xfrm rot="16200000" flipH="1">
            <a:off x="9401740" y="2024229"/>
            <a:ext cx="427258" cy="247151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537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5AFFD4-F566-3F4B-BA97-F2B1B4A9E1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Project Schedule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628073" y="896480"/>
            <a:ext cx="10023792" cy="4648699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&lt;Add your master schedule/project schedule here&gt;</a:t>
            </a:r>
          </a:p>
        </p:txBody>
      </p:sp>
    </p:spTree>
    <p:extLst>
      <p:ext uri="{BB962C8B-B14F-4D97-AF65-F5344CB8AC3E}">
        <p14:creationId xmlns:p14="http://schemas.microsoft.com/office/powerpoint/2010/main" val="3970212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777AE8-C046-ED4E-970E-B77EEDE58B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Staffing 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590863"/>
              </p:ext>
            </p:extLst>
          </p:nvPr>
        </p:nvGraphicFramePr>
        <p:xfrm>
          <a:off x="1038439" y="4390711"/>
          <a:ext cx="9525989" cy="1318261"/>
        </p:xfrm>
        <a:graphic>
          <a:graphicData uri="http://schemas.openxmlformats.org/drawingml/2006/table">
            <a:tbl>
              <a:tblPr firstRow="1" lastRow="1" bandRow="1"/>
              <a:tblGrid>
                <a:gridCol w="2264741">
                  <a:extLst>
                    <a:ext uri="{9D8B030D-6E8A-4147-A177-3AD203B41FA5}">
                      <a16:colId xmlns:a16="http://schemas.microsoft.com/office/drawing/2014/main" val="3806088444"/>
                    </a:ext>
                  </a:extLst>
                </a:gridCol>
                <a:gridCol w="757383">
                  <a:extLst>
                    <a:ext uri="{9D8B030D-6E8A-4147-A177-3AD203B41FA5}">
                      <a16:colId xmlns:a16="http://schemas.microsoft.com/office/drawing/2014/main" val="1423016925"/>
                    </a:ext>
                  </a:extLst>
                </a:gridCol>
                <a:gridCol w="733762">
                  <a:extLst>
                    <a:ext uri="{9D8B030D-6E8A-4147-A177-3AD203B41FA5}">
                      <a16:colId xmlns:a16="http://schemas.microsoft.com/office/drawing/2014/main" val="2703948654"/>
                    </a:ext>
                  </a:extLst>
                </a:gridCol>
                <a:gridCol w="773723">
                  <a:extLst>
                    <a:ext uri="{9D8B030D-6E8A-4147-A177-3AD203B41FA5}">
                      <a16:colId xmlns:a16="http://schemas.microsoft.com/office/drawing/2014/main" val="3283472706"/>
                    </a:ext>
                  </a:extLst>
                </a:gridCol>
                <a:gridCol w="844062">
                  <a:extLst>
                    <a:ext uri="{9D8B030D-6E8A-4147-A177-3AD203B41FA5}">
                      <a16:colId xmlns:a16="http://schemas.microsoft.com/office/drawing/2014/main" val="305084287"/>
                    </a:ext>
                  </a:extLst>
                </a:gridCol>
                <a:gridCol w="785446">
                  <a:extLst>
                    <a:ext uri="{9D8B030D-6E8A-4147-A177-3AD203B41FA5}">
                      <a16:colId xmlns:a16="http://schemas.microsoft.com/office/drawing/2014/main" val="979068409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105716697"/>
                    </a:ext>
                  </a:extLst>
                </a:gridCol>
                <a:gridCol w="679938">
                  <a:extLst>
                    <a:ext uri="{9D8B030D-6E8A-4147-A177-3AD203B41FA5}">
                      <a16:colId xmlns:a16="http://schemas.microsoft.com/office/drawing/2014/main" val="316520089"/>
                    </a:ext>
                  </a:extLst>
                </a:gridCol>
                <a:gridCol w="668216">
                  <a:extLst>
                    <a:ext uri="{9D8B030D-6E8A-4147-A177-3AD203B41FA5}">
                      <a16:colId xmlns:a16="http://schemas.microsoft.com/office/drawing/2014/main" val="2142646312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581969285"/>
                    </a:ext>
                  </a:extLst>
                </a:gridCol>
                <a:gridCol w="799518">
                  <a:extLst>
                    <a:ext uri="{9D8B030D-6E8A-4147-A177-3AD203B41FA5}">
                      <a16:colId xmlns:a16="http://schemas.microsoft.com/office/drawing/2014/main" val="1520356584"/>
                    </a:ext>
                  </a:extLst>
                </a:gridCol>
              </a:tblGrid>
              <a:tr h="18542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Resource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Mar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Apr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May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Jun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Jul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249991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84478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Dev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60713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Test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25702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Technical Solution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15582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Project Manager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3507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19242F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839820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5123A7B-0BBA-D440-BC51-AD12DF704B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0918670"/>
              </p:ext>
            </p:extLst>
          </p:nvPr>
        </p:nvGraphicFramePr>
        <p:xfrm>
          <a:off x="692194" y="1052879"/>
          <a:ext cx="10817679" cy="2944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14484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87E571-8DBC-7D48-9299-AA2767924F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Roles and Responsibilities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7084210-AC6E-0049-AB10-4154C751F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945182"/>
              </p:ext>
            </p:extLst>
          </p:nvPr>
        </p:nvGraphicFramePr>
        <p:xfrm>
          <a:off x="692194" y="937850"/>
          <a:ext cx="11007437" cy="32176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8391">
                  <a:extLst>
                    <a:ext uri="{9D8B030D-6E8A-4147-A177-3AD203B41FA5}">
                      <a16:colId xmlns:a16="http://schemas.microsoft.com/office/drawing/2014/main" val="3441368848"/>
                    </a:ext>
                  </a:extLst>
                </a:gridCol>
                <a:gridCol w="2714729">
                  <a:extLst>
                    <a:ext uri="{9D8B030D-6E8A-4147-A177-3AD203B41FA5}">
                      <a16:colId xmlns:a16="http://schemas.microsoft.com/office/drawing/2014/main" val="190377146"/>
                    </a:ext>
                  </a:extLst>
                </a:gridCol>
                <a:gridCol w="7824317">
                  <a:extLst>
                    <a:ext uri="{9D8B030D-6E8A-4147-A177-3AD203B41FA5}">
                      <a16:colId xmlns:a16="http://schemas.microsoft.com/office/drawing/2014/main" val="3355285471"/>
                    </a:ext>
                  </a:extLst>
                </a:gridCol>
              </a:tblGrid>
              <a:tr h="32824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#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Role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Responsibilities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1953174444"/>
                  </a:ext>
                </a:extLst>
              </a:tr>
              <a:tr h="52555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1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&lt;Customer&gt; Project Director/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Senior Manager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285750" marR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Make critical business decisions to project’s success.</a:t>
                      </a:r>
                    </a:p>
                    <a:p>
                      <a:pPr marL="285750" marR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Approve scope and budget for the project.</a:t>
                      </a: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3232862044"/>
                  </a:ext>
                </a:extLst>
              </a:tr>
              <a:tr h="100641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&lt;Customer&gt; Project Manager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Responsible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 for ensuring support. timely response and timely decision from &lt;Customer&gt;.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Responsible for prioritizing works for FPT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Escalation point for handling challenges/slowness from &lt;Customer&gt; side on dependencies, approval…</a:t>
                      </a: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4104874094"/>
                  </a:ext>
                </a:extLst>
              </a:tr>
              <a:tr h="7659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&lt;Customer&gt; Technical Owner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Technical requirement walkthrough with FPT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Responsible for responding on technical questions from FPT team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Review and approve technical solution of automated test scripts </a:t>
                      </a: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621019063"/>
                  </a:ext>
                </a:extLst>
              </a:tr>
              <a:tr h="59142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&lt;Customer&gt; Infrastructure Owner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Provide needed license , tool, library for FPT to setup environment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Support to resolve all dependencies relate to software, hardware…</a:t>
                      </a: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2800861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8143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87E571-8DBC-7D48-9299-AA2767924F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Roles and Responsibilities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7084210-AC6E-0049-AB10-4154C751F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518589"/>
              </p:ext>
            </p:extLst>
          </p:nvPr>
        </p:nvGraphicFramePr>
        <p:xfrm>
          <a:off x="692193" y="935448"/>
          <a:ext cx="11030884" cy="48133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1693">
                  <a:extLst>
                    <a:ext uri="{9D8B030D-6E8A-4147-A177-3AD203B41FA5}">
                      <a16:colId xmlns:a16="http://schemas.microsoft.com/office/drawing/2014/main" val="3441368848"/>
                    </a:ext>
                  </a:extLst>
                </a:gridCol>
                <a:gridCol w="2733205">
                  <a:extLst>
                    <a:ext uri="{9D8B030D-6E8A-4147-A177-3AD203B41FA5}">
                      <a16:colId xmlns:a16="http://schemas.microsoft.com/office/drawing/2014/main" val="190377146"/>
                    </a:ext>
                  </a:extLst>
                </a:gridCol>
                <a:gridCol w="7835986">
                  <a:extLst>
                    <a:ext uri="{9D8B030D-6E8A-4147-A177-3AD203B41FA5}">
                      <a16:colId xmlns:a16="http://schemas.microsoft.com/office/drawing/2014/main" val="3355285471"/>
                    </a:ext>
                  </a:extLst>
                </a:gridCol>
              </a:tblGrid>
              <a:tr h="2127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#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Role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Responsibilities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1953174444"/>
                  </a:ext>
                </a:extLst>
              </a:tr>
              <a:tr h="3898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1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FPT Project Director/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Senior Manager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285750" marR="0" indent="-28575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Make critical business decisions to meet customer expectation.</a:t>
                      </a:r>
                    </a:p>
                    <a:p>
                      <a:pPr marL="285750" marR="0" indent="-28575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Develop scope and budget for the project.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3232862044"/>
                  </a:ext>
                </a:extLst>
              </a:tr>
              <a:tr h="16294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FPT Project Manager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95000"/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 a detailed project plan to monitor &amp; control across project.</a:t>
                      </a:r>
                    </a:p>
                    <a:p>
                      <a:pPr marL="285750" marR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9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Developing project scopes and objectives, involving all relevant stakeholders and ensuring technical feasibility.</a:t>
                      </a: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Ensure that all projects' requirements are delivered on-time, within scope and within budget.</a:t>
                      </a:r>
                    </a:p>
                    <a:p>
                      <a:pPr marL="285750" marR="0" indent="-285750" algn="just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95000"/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Control Project's Quality across project.</a:t>
                      </a:r>
                    </a:p>
                    <a:p>
                      <a:pPr marL="285750" marR="0" indent="-285750" algn="just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95000"/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Ensure resource availability and allocation</a:t>
                      </a:r>
                    </a:p>
                    <a:p>
                      <a:pPr marL="285750" marR="0" indent="-285750" algn="just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95000"/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 and escalate to management as needed</a:t>
                      </a:r>
                    </a:p>
                    <a:p>
                      <a:pPr marL="285750" marR="0" indent="-285750" algn="just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95000"/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Manage the relationship with the client and all stakeholders</a:t>
                      </a:r>
                    </a:p>
                    <a:p>
                      <a:pPr marL="285750" marR="0" indent="-285750" algn="just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95000"/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 risk management to minimize project risks</a:t>
                      </a:r>
                    </a:p>
                    <a:p>
                      <a:pPr marL="285750" marR="0" indent="-285750" algn="just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95000"/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and maintain comprehensive project documentation</a:t>
                      </a: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4104874094"/>
                  </a:ext>
                </a:extLst>
              </a:tr>
              <a:tr h="3898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FPT Development Team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The team includes Development Lead, Developer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</a:rPr>
                        <a:t>who are responsible for developing and delivering product to customer.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2800861522"/>
                  </a:ext>
                </a:extLst>
              </a:tr>
              <a:tr h="142287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FPT Testing Team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285750" indent="-285750" algn="just" defTabSz="914400" rtl="0" eaLnBrk="1" latinLnBrk="0" hangingPunct="1">
                        <a:spcBef>
                          <a:spcPts val="200"/>
                        </a:spcBef>
                        <a:buClr>
                          <a:schemeClr val="tx1"/>
                        </a:buClr>
                        <a:buSzPct val="95000"/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Overall responsible for the quality of product</a:t>
                      </a:r>
                    </a:p>
                    <a:p>
                      <a:pPr marL="285750" indent="-285750" algn="just" defTabSz="914400" rtl="0" eaLnBrk="1" latinLnBrk="0" hangingPunct="1">
                        <a:spcBef>
                          <a:spcPts val="200"/>
                        </a:spcBef>
                        <a:buClr>
                          <a:schemeClr val="tx1"/>
                        </a:buClr>
                        <a:buSzPct val="95000"/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Develop Test Cases, execute test cases (manual or automated) and analyze results</a:t>
                      </a:r>
                    </a:p>
                    <a:p>
                      <a:pPr marL="285750" indent="-285750" algn="just" defTabSz="914400" rtl="0" eaLnBrk="1" latinLnBrk="0" hangingPunct="1">
                        <a:spcBef>
                          <a:spcPts val="200"/>
                        </a:spcBef>
                        <a:buClr>
                          <a:schemeClr val="tx1"/>
                        </a:buClr>
                        <a:buSzPct val="95000"/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Evaluate product code according to specifications</a:t>
                      </a:r>
                    </a:p>
                    <a:p>
                      <a:pPr marL="285750" indent="-285750" algn="just" defTabSz="914400" rtl="0" eaLnBrk="1" latinLnBrk="0" hangingPunct="1">
                        <a:spcBef>
                          <a:spcPts val="200"/>
                        </a:spcBef>
                        <a:buClr>
                          <a:schemeClr val="tx1"/>
                        </a:buClr>
                        <a:buSzPct val="95000"/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Create logs to document testing phases and defects</a:t>
                      </a:r>
                    </a:p>
                    <a:p>
                      <a:pPr marL="285750" indent="-285750" algn="just" defTabSz="914400" rtl="0" eaLnBrk="1" latinLnBrk="0" hangingPunct="1">
                        <a:spcBef>
                          <a:spcPts val="200"/>
                        </a:spcBef>
                        <a:buClr>
                          <a:schemeClr val="tx1"/>
                        </a:buClr>
                        <a:buSzPct val="95000"/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Report bugs and errors to development teams</a:t>
                      </a:r>
                    </a:p>
                    <a:p>
                      <a:pPr marL="285750" indent="-285750" algn="just" defTabSz="914400" rtl="0" eaLnBrk="1" latinLnBrk="0" hangingPunct="1">
                        <a:spcBef>
                          <a:spcPts val="200"/>
                        </a:spcBef>
                        <a:buClr>
                          <a:schemeClr val="tx1"/>
                        </a:buClr>
                        <a:buSzPct val="95000"/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Conduct post-release/ post-implementation testing</a:t>
                      </a:r>
                    </a:p>
                    <a:p>
                      <a:pPr marL="285750" indent="-285750" algn="just" defTabSz="914400" rtl="0" eaLnBrk="1" latinLnBrk="0" hangingPunct="1">
                        <a:spcBef>
                          <a:spcPts val="200"/>
                        </a:spcBef>
                        <a:buClr>
                          <a:schemeClr val="tx1"/>
                        </a:buClr>
                        <a:buSzPct val="95000"/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Work with cross-functional teams to ensure quality throughout the software development lifecycle</a:t>
                      </a: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3809517165"/>
                  </a:ext>
                </a:extLst>
              </a:tr>
              <a:tr h="61205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FPT PMO Team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spcBef>
                          <a:spcPts val="200"/>
                        </a:spcBef>
                        <a:buClr>
                          <a:schemeClr val="tx1"/>
                        </a:buClr>
                        <a:buSzPct val="95000"/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 up the Management framework for Project</a:t>
                      </a:r>
                    </a:p>
                    <a:p>
                      <a:pPr marL="285750" indent="-285750" algn="l" defTabSz="914400" rtl="0" eaLnBrk="1" latinLnBrk="0" hangingPunct="1">
                        <a:spcBef>
                          <a:spcPts val="200"/>
                        </a:spcBef>
                        <a:buClr>
                          <a:schemeClr val="tx1"/>
                        </a:buClr>
                        <a:buSzPct val="95000"/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 guideline/template on project activities</a:t>
                      </a:r>
                    </a:p>
                    <a:p>
                      <a:pPr marL="285750" indent="-285750" algn="l" defTabSz="914400" rtl="0" eaLnBrk="1" latinLnBrk="0" hangingPunct="1">
                        <a:spcBef>
                          <a:spcPts val="200"/>
                        </a:spcBef>
                        <a:buClr>
                          <a:schemeClr val="tx1"/>
                        </a:buClr>
                        <a:buSzPct val="95000"/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Train/guide team understand about process, templates to make sure team know and follow</a:t>
                      </a: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2152058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94884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87E571-8DBC-7D48-9299-AA2767924F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1521" y="304800"/>
            <a:ext cx="10371908" cy="492457"/>
          </a:xfrm>
        </p:spPr>
        <p:txBody>
          <a:bodyPr/>
          <a:lstStyle/>
          <a:p>
            <a:r>
              <a:rPr lang="en-US" sz="3000" dirty="0"/>
              <a:t>Roles and Responsibilities - RACI Matrix 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1" y="690669"/>
            <a:ext cx="898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Sample 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808771"/>
              </p:ext>
            </p:extLst>
          </p:nvPr>
        </p:nvGraphicFramePr>
        <p:xfrm>
          <a:off x="731521" y="1027088"/>
          <a:ext cx="7354594" cy="4936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344">
                  <a:extLst>
                    <a:ext uri="{9D8B030D-6E8A-4147-A177-3AD203B41FA5}">
                      <a16:colId xmlns:a16="http://schemas.microsoft.com/office/drawing/2014/main" val="1130445652"/>
                    </a:ext>
                  </a:extLst>
                </a:gridCol>
                <a:gridCol w="2309382">
                  <a:extLst>
                    <a:ext uri="{9D8B030D-6E8A-4147-A177-3AD203B41FA5}">
                      <a16:colId xmlns:a16="http://schemas.microsoft.com/office/drawing/2014/main" val="1668763952"/>
                    </a:ext>
                  </a:extLst>
                </a:gridCol>
                <a:gridCol w="1067285">
                  <a:extLst>
                    <a:ext uri="{9D8B030D-6E8A-4147-A177-3AD203B41FA5}">
                      <a16:colId xmlns:a16="http://schemas.microsoft.com/office/drawing/2014/main" val="2060832875"/>
                    </a:ext>
                  </a:extLst>
                </a:gridCol>
                <a:gridCol w="793051">
                  <a:extLst>
                    <a:ext uri="{9D8B030D-6E8A-4147-A177-3AD203B41FA5}">
                      <a16:colId xmlns:a16="http://schemas.microsoft.com/office/drawing/2014/main" val="3772264664"/>
                    </a:ext>
                  </a:extLst>
                </a:gridCol>
                <a:gridCol w="1225766">
                  <a:extLst>
                    <a:ext uri="{9D8B030D-6E8A-4147-A177-3AD203B41FA5}">
                      <a16:colId xmlns:a16="http://schemas.microsoft.com/office/drawing/2014/main" val="2557012285"/>
                    </a:ext>
                  </a:extLst>
                </a:gridCol>
                <a:gridCol w="1225766">
                  <a:extLst>
                    <a:ext uri="{9D8B030D-6E8A-4147-A177-3AD203B41FA5}">
                      <a16:colId xmlns:a16="http://schemas.microsoft.com/office/drawing/2014/main" val="2341264181"/>
                    </a:ext>
                  </a:extLst>
                </a:gridCol>
              </a:tblGrid>
              <a:tr h="2213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Deliverable Item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Client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Customer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FPT BD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FPT DD~ST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72003708"/>
                  </a:ext>
                </a:extLst>
              </a:tr>
              <a:tr h="221332">
                <a:tc row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Detail Design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Common Function List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A/R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R/C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50961007"/>
                  </a:ext>
                </a:extLst>
              </a:tr>
              <a:tr h="221332">
                <a:tc vMerge="1"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Common Function Specs Document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A/R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R/C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18860569"/>
                  </a:ext>
                </a:extLst>
              </a:tr>
              <a:tr h="221332">
                <a:tc vMerge="1"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Physical Data Model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A/R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R/C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69837337"/>
                  </a:ext>
                </a:extLst>
              </a:tr>
              <a:tr h="221332">
                <a:tc vMerge="1"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Program List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A/R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R/C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993634"/>
                  </a:ext>
                </a:extLst>
              </a:tr>
              <a:tr h="221332">
                <a:tc vMerge="1"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Program Specs Document (Screen, Report, Batch)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A/R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R/C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50107463"/>
                  </a:ext>
                </a:extLst>
              </a:tr>
              <a:tr h="221332">
                <a:tc vMerge="1"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Overall Test Plan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A/R/C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73024510"/>
                  </a:ext>
                </a:extLst>
              </a:tr>
              <a:tr h="221332">
                <a:tc row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Coding/UT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Program Specs Document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R/C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A/R/DP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839634"/>
                  </a:ext>
                </a:extLst>
              </a:tr>
              <a:tr h="221332">
                <a:tc vMerge="1"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JAVADOC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R/C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A/R/DP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0790905"/>
                  </a:ext>
                </a:extLst>
              </a:tr>
              <a:tr h="221332">
                <a:tc vMerge="1"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UT Test Plan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R/C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A/R/DP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69179962"/>
                  </a:ext>
                </a:extLst>
              </a:tr>
              <a:tr h="221332">
                <a:tc vMerge="1"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UT Spec Document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R/C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A/R/DP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06198130"/>
                  </a:ext>
                </a:extLst>
              </a:tr>
              <a:tr h="221332">
                <a:tc vMerge="1"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UT Test Report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R/C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A/R/DP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47341651"/>
                  </a:ext>
                </a:extLst>
              </a:tr>
              <a:tr h="221332">
                <a:tc vMerge="1"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Test environment preparation</a:t>
                      </a:r>
                      <a:endParaRPr lang="vi-VN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6185561"/>
                  </a:ext>
                </a:extLst>
              </a:tr>
              <a:tr h="221332"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IT Test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IT Test Plan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R/C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A/R/DP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23546609"/>
                  </a:ext>
                </a:extLst>
              </a:tr>
              <a:tr h="221332">
                <a:tc vMerge="1"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IT Test Specs Document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R/C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A/R/DP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57430593"/>
                  </a:ext>
                </a:extLst>
              </a:tr>
              <a:tr h="221332">
                <a:tc vMerge="1"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IT Test Report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R/C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A/R/DP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62603989"/>
                  </a:ext>
                </a:extLst>
              </a:tr>
              <a:tr h="221332">
                <a:tc vMerge="1"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Test environment preparation</a:t>
                      </a:r>
                      <a:endParaRPr lang="vi-VN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12389863"/>
                  </a:ext>
                </a:extLst>
              </a:tr>
              <a:tr h="221332"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 Test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System Test Plan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A/R/C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R/DS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34432736"/>
                  </a:ext>
                </a:extLst>
              </a:tr>
              <a:tr h="221332">
                <a:tc vMerge="1"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System Test Spec Document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R/C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R/DS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A/R/DP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05495775"/>
                  </a:ext>
                </a:extLst>
              </a:tr>
              <a:tr h="221332">
                <a:tc vMerge="1"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System Test Report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A/R/C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06915114"/>
                  </a:ext>
                </a:extLst>
              </a:tr>
              <a:tr h="2213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Test environment preparation</a:t>
                      </a:r>
                      <a:endParaRPr lang="vi-VN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48997853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965499"/>
              </p:ext>
            </p:extLst>
          </p:nvPr>
        </p:nvGraphicFramePr>
        <p:xfrm>
          <a:off x="8785531" y="1065348"/>
          <a:ext cx="231789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765">
                  <a:extLst>
                    <a:ext uri="{9D8B030D-6E8A-4147-A177-3AD203B41FA5}">
                      <a16:colId xmlns:a16="http://schemas.microsoft.com/office/drawing/2014/main" val="4265112251"/>
                    </a:ext>
                  </a:extLst>
                </a:gridCol>
                <a:gridCol w="1467133">
                  <a:extLst>
                    <a:ext uri="{9D8B030D-6E8A-4147-A177-3AD203B41FA5}">
                      <a16:colId xmlns:a16="http://schemas.microsoft.com/office/drawing/2014/main" val="1987897116"/>
                    </a:ext>
                  </a:extLst>
                </a:gridCol>
              </a:tblGrid>
              <a:tr h="141001"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73802958"/>
                  </a:ext>
                </a:extLst>
              </a:tr>
              <a:tr h="14100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Approver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01126954"/>
                  </a:ext>
                </a:extLst>
              </a:tr>
              <a:tr h="14100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Reviewer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54402469"/>
                  </a:ext>
                </a:extLst>
              </a:tr>
              <a:tr h="14100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Doer Primary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83857024"/>
                  </a:ext>
                </a:extLst>
              </a:tr>
              <a:tr h="14100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Doer Secondary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95411103"/>
                  </a:ext>
                </a:extLst>
              </a:tr>
              <a:tr h="14100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Consult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44383600"/>
                  </a:ext>
                </a:extLst>
              </a:tr>
              <a:tr h="14100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Inform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37525489"/>
                  </a:ext>
                </a:extLst>
              </a:tr>
              <a:tr h="14100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Omit (Blank)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74398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909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0177F7-42AD-7547-B2E9-07F1200C5A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Project Deliverables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3BCC5E1-B9F4-A140-9BC4-78A9FE70F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883105"/>
              </p:ext>
            </p:extLst>
          </p:nvPr>
        </p:nvGraphicFramePr>
        <p:xfrm>
          <a:off x="692194" y="931335"/>
          <a:ext cx="10215949" cy="55805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059">
                  <a:extLst>
                    <a:ext uri="{9D8B030D-6E8A-4147-A177-3AD203B41FA5}">
                      <a16:colId xmlns:a16="http://schemas.microsoft.com/office/drawing/2014/main" val="3441368848"/>
                    </a:ext>
                  </a:extLst>
                </a:gridCol>
                <a:gridCol w="765656">
                  <a:extLst>
                    <a:ext uri="{9D8B030D-6E8A-4147-A177-3AD203B41FA5}">
                      <a16:colId xmlns:a16="http://schemas.microsoft.com/office/drawing/2014/main" val="2961757278"/>
                    </a:ext>
                  </a:extLst>
                </a:gridCol>
                <a:gridCol w="1089891">
                  <a:extLst>
                    <a:ext uri="{9D8B030D-6E8A-4147-A177-3AD203B41FA5}">
                      <a16:colId xmlns:a16="http://schemas.microsoft.com/office/drawing/2014/main" val="3388871950"/>
                    </a:ext>
                  </a:extLst>
                </a:gridCol>
                <a:gridCol w="1662545">
                  <a:extLst>
                    <a:ext uri="{9D8B030D-6E8A-4147-A177-3AD203B41FA5}">
                      <a16:colId xmlns:a16="http://schemas.microsoft.com/office/drawing/2014/main" val="1324256687"/>
                    </a:ext>
                  </a:extLst>
                </a:gridCol>
                <a:gridCol w="3223491">
                  <a:extLst>
                    <a:ext uri="{9D8B030D-6E8A-4147-A177-3AD203B41FA5}">
                      <a16:colId xmlns:a16="http://schemas.microsoft.com/office/drawing/2014/main" val="190377146"/>
                    </a:ext>
                  </a:extLst>
                </a:gridCol>
                <a:gridCol w="1145309">
                  <a:extLst>
                    <a:ext uri="{9D8B030D-6E8A-4147-A177-3AD203B41FA5}">
                      <a16:colId xmlns:a16="http://schemas.microsoft.com/office/drawing/2014/main" val="3355285471"/>
                    </a:ext>
                  </a:extLst>
                </a:gridCol>
                <a:gridCol w="2031998">
                  <a:extLst>
                    <a:ext uri="{9D8B030D-6E8A-4147-A177-3AD203B41FA5}">
                      <a16:colId xmlns:a16="http://schemas.microsoft.com/office/drawing/2014/main" val="297415751"/>
                    </a:ext>
                  </a:extLst>
                </a:gridCol>
              </a:tblGrid>
              <a:tr h="4243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#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Release Name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Release Scope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Items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Release</a:t>
                      </a:r>
                      <a:r>
                        <a:rPr lang="en-US" sz="12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Date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Acceptance</a:t>
                      </a:r>
                      <a:r>
                        <a:rPr lang="en-US" sz="12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criteria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1953174444"/>
                  </a:ext>
                </a:extLst>
              </a:tr>
              <a:tr h="87584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DD~IT1</a:t>
                      </a: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Deliverable 1</a:t>
                      </a: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&lt;Scope items - Deliverable 1&gt;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/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/>
                      </a: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&lt;Detailed deliverable items - Deliverable 1&gt;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/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/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/>
                      </a: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&lt;Release Date 1&gt;</a:t>
                      </a:r>
                    </a:p>
                  </a:txBody>
                  <a:tcPr marL="73025" marR="73025" marT="18415" marB="18415" anchor="ctr"/>
                </a:tc>
                <a:tc rowSpan="5">
                  <a:txBody>
                    <a:bodyPr/>
                    <a:lstStyle/>
                    <a:p>
                      <a:pPr marL="171450" lvl="1" indent="-171450" defTabSz="91440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100% Requirement is done (including coding, testing, and fixing bugs/defects and committed source code) as committed.</a:t>
                      </a:r>
                    </a:p>
                    <a:p>
                      <a:pPr marL="171450" lvl="1" indent="-171450" defTabSz="91440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 show stopper/ blocker defect</a:t>
                      </a:r>
                    </a:p>
                    <a:p>
                      <a:pPr marL="171450" lvl="1" indent="-171450" defTabSz="91440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Fix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all comments of customer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indent="0" defTabSz="91440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621019063"/>
                  </a:ext>
                </a:extLst>
              </a:tr>
              <a:tr h="10814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Deliverable 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&lt;Scope items - Deliverable 2&gt;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/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/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&lt;Detailed deliverable items - Deliverable 2&gt;</a:t>
                      </a:r>
                      <a:endParaRPr kumimoji="0" lang="vi-VN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/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/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/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/>
                      </a: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&lt;Release Date 2&gt;</a:t>
                      </a:r>
                    </a:p>
                  </a:txBody>
                  <a:tcPr marL="73025" marR="73025" marT="18415" marB="18415" anchor="ctr"/>
                </a:tc>
                <a:tc vMerge="1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solidFill>
                          <a:schemeClr val="bg2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2800861522"/>
                  </a:ext>
                </a:extLst>
              </a:tr>
              <a:tr h="87584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Deliverable 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&lt;Scope items - Deliverable 3&gt;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/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/>
                      </a: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&lt;Detailed deliverable items - Deliverable 3&gt;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/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/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/>
                      </a: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&lt;Release Date 3&gt;</a:t>
                      </a:r>
                    </a:p>
                  </a:txBody>
                  <a:tcPr marL="73025" marR="73025" marT="18415" marB="18415" anchor="ctr"/>
                </a:tc>
                <a:tc vMerge="1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solidFill>
                          <a:schemeClr val="bg2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1598520067"/>
                  </a:ext>
                </a:extLst>
              </a:tr>
              <a:tr h="67023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IT2</a:t>
                      </a: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Deliverable 4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Finish IT2</a:t>
                      </a: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Software Package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Integration Test spec and Test report</a:t>
                      </a: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&lt;Release Date 4&gt;</a:t>
                      </a:r>
                    </a:p>
                  </a:txBody>
                  <a:tcPr marL="73025" marR="73025" marT="18415" marB="18415" anchor="ctr"/>
                </a:tc>
                <a:tc vMerge="1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solidFill>
                          <a:schemeClr val="bg2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742336042"/>
                  </a:ext>
                </a:extLst>
              </a:tr>
              <a:tr h="8253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STC</a:t>
                      </a: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Deliverable 5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Finish ST case</a:t>
                      </a: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System test spec</a:t>
                      </a: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&lt;Release Date 5&gt;</a:t>
                      </a:r>
                    </a:p>
                  </a:txBody>
                  <a:tcPr marL="73025" marR="73025" marT="18415" marB="18415" anchor="ctr"/>
                </a:tc>
                <a:tc vMerge="1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solidFill>
                          <a:schemeClr val="bg2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14832430"/>
                  </a:ext>
                </a:extLst>
              </a:tr>
              <a:tr h="67023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System Test</a:t>
                      </a: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Deliverable 6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Execute ST</a:t>
                      </a: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ST specs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ST report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Software Package</a:t>
                      </a:r>
                    </a:p>
                  </a:txBody>
                  <a:tcPr marL="51435" marR="51435" marT="25721" marB="25721" anchor="ctr" horzOverflow="overflow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&lt;Release Date 6&gt;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 defTabSz="91440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Fix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all comments of client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1556863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4251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C2B762-D300-0C45-A230-F57E4623A2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Quality Management Plan – Acceptance Criteria</a:t>
            </a:r>
          </a:p>
        </p:txBody>
      </p:sp>
      <p:graphicFrame>
        <p:nvGraphicFramePr>
          <p:cNvPr id="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0039641"/>
              </p:ext>
            </p:extLst>
          </p:nvPr>
        </p:nvGraphicFramePr>
        <p:xfrm>
          <a:off x="646012" y="1364343"/>
          <a:ext cx="11107920" cy="344563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082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5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9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316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Category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142875" marT="66675" marB="66675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Product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142875" marT="66675" marB="66675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Criteria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142875" marT="66675" marB="66675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668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Product acceptance criteria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Test Case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100% test coverage.</a:t>
                      </a:r>
                    </a:p>
                    <a:p>
                      <a:pPr marL="1714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Test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cases must be reviewed and approved before testing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43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95250" marT="66675" marB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Source Code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2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100% source code must be reviewed.</a:t>
                      </a:r>
                    </a:p>
                    <a:p>
                      <a:pPr marL="171450" lvl="2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100% source code be scanned by Blackduck, SonarQ, Coverity.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55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95250" marT="66675" marB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100% of Show Stopper/Must Fix defects must be resolved/closed.</a:t>
                      </a:r>
                    </a:p>
                    <a:p>
                      <a:pPr marL="1714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Zero obvious defects.</a:t>
                      </a:r>
                    </a:p>
                    <a:p>
                      <a:pPr marL="171450" lvl="2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&lt;10% complicated defects.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966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Project acceptance criteria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1" indent="0">
                        <a:buFontTx/>
                        <a:buNone/>
                      </a:pPr>
                      <a:endParaRPr lang="en-US" sz="1000" dirty="0">
                        <a:solidFill>
                          <a:schemeClr val="bg2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95250" marT="66675" marB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100% scope and deliverables are delivered on time as committed.</a:t>
                      </a:r>
                    </a:p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 show stopper/ blocker defect.</a:t>
                      </a:r>
                    </a:p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Approved by Client.</a:t>
                      </a:r>
                    </a:p>
                    <a:p>
                      <a:pPr marL="0" lvl="1" indent="0">
                        <a:buFont typeface="Wingdings" panose="05000000000000000000" pitchFamily="2" charset="2"/>
                        <a:buNone/>
                      </a:pP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283439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2655" y="1019286"/>
            <a:ext cx="4389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&lt;Refer to Acceptance Criteria of project contract in FCMS&gt;</a:t>
            </a:r>
          </a:p>
        </p:txBody>
      </p:sp>
    </p:spTree>
    <p:extLst>
      <p:ext uri="{BB962C8B-B14F-4D97-AF65-F5344CB8AC3E}">
        <p14:creationId xmlns:p14="http://schemas.microsoft.com/office/powerpoint/2010/main" val="759121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C2B762-D300-0C45-A230-F57E4623A2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Quality Management Plan – Test Strategy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4837355"/>
              </p:ext>
            </p:extLst>
          </p:nvPr>
        </p:nvGraphicFramePr>
        <p:xfrm>
          <a:off x="692194" y="974472"/>
          <a:ext cx="11129692" cy="56540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878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0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7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61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63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7196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Test Type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142875" marT="66675" marB="66675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Objective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142875" marT="66675" marB="66675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Technique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142875" marT="66675" marB="66675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Using Tool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142875" marT="66675" marB="66675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Completion Criteria</a:t>
                      </a:r>
                      <a:endParaRPr kumimoji="0" 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142875" marT="66675" marB="66675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Output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142875" marT="66675" marB="66675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002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Function Test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Ensure proper target-of-test functionality, including navigation, data entry, processing, and retrieval.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Black box test technique will be used</a:t>
                      </a:r>
                    </a:p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Test leader creates checklists for common features to support review and test execution</a:t>
                      </a:r>
                    </a:p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Testers will create test scenarios against User Stories approved by customers</a:t>
                      </a:r>
                    </a:p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Testers execute test based on test scenarios and make reports. </a:t>
                      </a:r>
                    </a:p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Common defects will be collected for improvement checklists. 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Manual Test</a:t>
                      </a:r>
                    </a:p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Automation script (optional)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All planned tests have been executed.</a:t>
                      </a:r>
                    </a:p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All identified defects have been addressed and closed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Test report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511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User Interface Testing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Verify a user’s interaction with the software</a:t>
                      </a:r>
                    </a:p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Ensure the GUI provides appropriate access and navigation through the functions of the target-of-test</a:t>
                      </a:r>
                    </a:p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Ensures that the objects within the GUI function as expected and conform to corporate or industry standards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Black box test technique will be used</a:t>
                      </a:r>
                    </a:p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Test leader creates checklists for common GUI features to support review and test execution</a:t>
                      </a:r>
                    </a:p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Testers will create specific test scenarios against GUI prototypes approved by customers</a:t>
                      </a:r>
                    </a:p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Testers execute test based on test scenarios and make reports </a:t>
                      </a:r>
                    </a:p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Common defects will be collected for improvement checklists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Manual Test </a:t>
                      </a:r>
                    </a:p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Using PSD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Each screen successfully verified to remain consistent with benchmark version or within acceptable standard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Test report</a:t>
                      </a:r>
                    </a:p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4762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Data and Database Integrity Testing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Ensure database access methods and processes function property and without data corruption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White box test technique will be used</a:t>
                      </a:r>
                    </a:p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Invoke each database accesses method and process, seeding each with valid and invalid data or request for data</a:t>
                      </a:r>
                    </a:p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Query to the database to check all database event occurred properly, or review the returned data to ensure that the correct data was retrieved for the correct reason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120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PuTTY</a:t>
                      </a:r>
                      <a:endParaRPr kumimoji="0" lang="en-US" sz="120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120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Robo</a:t>
                      </a: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3T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All database access method and processes function as designed and without any data corruption 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Test report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92597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C2B762-D300-0C45-A230-F57E4623A2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Quality Management Plan – Test Strategy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0587315"/>
              </p:ext>
            </p:extLst>
          </p:nvPr>
        </p:nvGraphicFramePr>
        <p:xfrm>
          <a:off x="692194" y="979713"/>
          <a:ext cx="11076077" cy="556128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009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8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9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00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99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836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Test Type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142875" marT="66675" marB="66675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Objective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142875" marT="66675" marB="66675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Technique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142875" marT="66675" marB="66675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Using Tool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142875" marT="66675" marB="66675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Completion Criteria</a:t>
                      </a:r>
                      <a:endParaRPr kumimoji="0" 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142875" marT="66675" marB="66675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Output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142875" marT="66675" marB="66675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3267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Security and Access Control Testing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Application level: Verify that an actor can access only those functions or data for which their user type is provided permission</a:t>
                      </a:r>
                    </a:p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System level: Verify that only those actions with access to the system and application is permitted to access them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Identify and list each user type and the functions or data each type has permission for.</a:t>
                      </a:r>
                    </a:p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Modify user type and re-run tests for same users. In each case, verify those additional functions or data are correctly available or denied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Manual Test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 each known actor type the appropriate function or data are available, and all transactions function as expected and run in prior application function tests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Test report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355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Regression Test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Verify part of software to make sure that the modification does not cause errors other part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Reuse the set of functional test cases to test a modified module</a:t>
                      </a:r>
                    </a:p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Amount of test cases (depend on each sprint plan) are randomly select from existing Test case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Manual Test</a:t>
                      </a:r>
                    </a:p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Automation Script (optional)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All selected test cases are performed and passed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Test report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48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Abnormal Test 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Verify all abnormal cases those are not follow any standard functionalities of application. E.g. network disconnect, power runs out.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Reference lesson learn from other projects for all abnormal cases</a:t>
                      </a:r>
                    </a:p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Brainstorming with team to gather difference ideas </a:t>
                      </a:r>
                    </a:p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Common defects will be collected for improvement checklists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Manual Test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All defects are closed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Test report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8367228"/>
                  </a:ext>
                </a:extLst>
              </a:tr>
              <a:tr h="131340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Performance testing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Verify performance behaviors for designated transactions or business functions under the following conditions: normal anticipated workload anticipated worst case workload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Modify data files to increase the number of transactions to increase the number of iterations each transaction occurs.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REST and Postman</a:t>
                      </a:r>
                    </a:p>
                    <a:p>
                      <a:pPr marL="117475" marR="0" lvl="0" indent="-117475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Automation Script (optional)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Successful completion of the test scripts without any failures and within the expected or required time allocation per transaction.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Test report</a:t>
                      </a:r>
                    </a:p>
                  </a:txBody>
                  <a:tcPr marL="95250" marR="95250" marT="66675" marB="66675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378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9188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C2B762-D300-0C45-A230-F57E4623A2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Quality Management Plan – Code Strategy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1619851"/>
              </p:ext>
            </p:extLst>
          </p:nvPr>
        </p:nvGraphicFramePr>
        <p:xfrm>
          <a:off x="692194" y="979713"/>
          <a:ext cx="11097034" cy="265136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37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2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5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55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3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28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841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Review Areas</a:t>
                      </a:r>
                      <a:endParaRPr kumimoji="0" 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b="1" u="none" strike="noStrike" kern="1200" cap="none" normalizeH="0" baseline="0">
                          <a:ln>
                            <a:noFill/>
                          </a:ln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Reviewer</a:t>
                      </a:r>
                      <a:endParaRPr kumimoji="0" lang="en-US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b="1" u="none" strike="noStrike" kern="1200" cap="none" normalizeH="0" baseline="0">
                          <a:ln>
                            <a:noFill/>
                          </a:ln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Review Type</a:t>
                      </a:r>
                      <a:endParaRPr kumimoji="0" lang="en-US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b="1" u="none" strike="noStrike" kern="1200" cap="none" normalizeH="0" baseline="0">
                          <a:ln>
                            <a:noFill/>
                          </a:ln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Review Method</a:t>
                      </a:r>
                      <a:endParaRPr kumimoji="0" lang="en-US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b="1" u="none" strike="noStrike" kern="1200" cap="none" normalizeH="0" baseline="0">
                          <a:ln>
                            <a:noFill/>
                          </a:ln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Completion Criteria</a:t>
                      </a:r>
                      <a:endParaRPr kumimoji="0" lang="en-US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b="1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Output</a:t>
                      </a:r>
                      <a:endParaRPr kumimoji="0" 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16"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Coding, Naming convention</a:t>
                      </a:r>
                    </a:p>
                  </a:txBody>
                  <a:tcPr marL="45720" marR="45720" anchor="b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Dev/TL</a:t>
                      </a:r>
                    </a:p>
                  </a:txBody>
                  <a:tcPr marL="45720" marR="45720" anchor="b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Using tool</a:t>
                      </a:r>
                    </a:p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Self review</a:t>
                      </a:r>
                    </a:p>
                  </a:txBody>
                  <a:tcPr marL="45720" marR="45720" anchor="b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Using tool Sonar Code review tool (provided by FPT)</a:t>
                      </a:r>
                    </a:p>
                  </a:txBody>
                  <a:tcPr marL="45720" marR="45720" anchor="b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100% critical issues must be fixed</a:t>
                      </a:r>
                    </a:p>
                  </a:txBody>
                  <a:tcPr marL="45720" marR="45720" anchor="b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Review report</a:t>
                      </a:r>
                    </a:p>
                  </a:txBody>
                  <a:tcPr marL="45720" marR="45720" anchor="b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603"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Functionalities/ Code logic</a:t>
                      </a:r>
                    </a:p>
                  </a:txBody>
                  <a:tcPr marL="45720" marR="45720" anchor="b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TL/Dev</a:t>
                      </a:r>
                    </a:p>
                  </a:txBody>
                  <a:tcPr marL="45720" marR="45720" anchor="b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Group review</a:t>
                      </a:r>
                    </a:p>
                  </a:txBody>
                  <a:tcPr marL="45720" marR="45720" anchor="b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Using code reviewed checklist (customized by team)</a:t>
                      </a:r>
                    </a:p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Using common defects checklist</a:t>
                      </a:r>
                    </a:p>
                  </a:txBody>
                  <a:tcPr marL="45720" marR="45720" anchor="b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100% critical issues must be fixed</a:t>
                      </a:r>
                    </a:p>
                  </a:txBody>
                  <a:tcPr marL="45720" marR="45720" anchor="b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Review report</a:t>
                      </a:r>
                    </a:p>
                  </a:txBody>
                  <a:tcPr marL="45720" marR="45720" anchor="b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709"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Security Code</a:t>
                      </a:r>
                    </a:p>
                  </a:txBody>
                  <a:tcPr marL="45720" marR="45720" anchor="b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TL/Dev</a:t>
                      </a:r>
                    </a:p>
                  </a:txBody>
                  <a:tcPr marL="45720" marR="45720" anchor="b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Using tool</a:t>
                      </a:r>
                    </a:p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Group review</a:t>
                      </a:r>
                    </a:p>
                  </a:txBody>
                  <a:tcPr marL="45720" marR="45720" anchor="b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Using Coverity (provided by FPT)</a:t>
                      </a:r>
                    </a:p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Using best practice Security Code Review checklist (customized by team)</a:t>
                      </a:r>
                    </a:p>
                  </a:txBody>
                  <a:tcPr marL="45720" marR="45720" anchor="b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100% critical issues must be fixed</a:t>
                      </a:r>
                    </a:p>
                  </a:txBody>
                  <a:tcPr marL="45720" marR="45720" anchor="b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Review report</a:t>
                      </a:r>
                    </a:p>
                  </a:txBody>
                  <a:tcPr marL="45720" marR="45720" anchor="b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532180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15994" y="4028210"/>
            <a:ext cx="69409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+mj-lt"/>
              <a:buAutoNum type="arabicPeriod"/>
            </a:pPr>
            <a:r>
              <a:rPr lang="en-US" sz="1200" dirty="0">
                <a:solidFill>
                  <a:schemeClr val="bg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Code review activities will be taken before each sprint’s deliverables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200" dirty="0">
                <a:solidFill>
                  <a:schemeClr val="bg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Review report will be shared with Client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200" dirty="0">
                <a:solidFill>
                  <a:schemeClr val="bg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CI/CD will be implemented for automating code analyst </a:t>
            </a:r>
          </a:p>
        </p:txBody>
      </p:sp>
    </p:spTree>
    <p:extLst>
      <p:ext uri="{BB962C8B-B14F-4D97-AF65-F5344CB8AC3E}">
        <p14:creationId xmlns:p14="http://schemas.microsoft.com/office/powerpoint/2010/main" val="872598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B17CE2-8399-BE4A-8BBF-96453C6542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Quality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2211" y="732209"/>
            <a:ext cx="629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</a:t>
            </a:r>
            <a:r>
              <a:rPr lang="en-US" sz="1400" i="1" dirty="0"/>
              <a:t>Set your Target base on customer request, </a:t>
            </a:r>
            <a:r>
              <a:rPr lang="en-US" sz="1400" i="1" dirty="0" err="1"/>
              <a:t>Fsoft</a:t>
            </a:r>
            <a:r>
              <a:rPr lang="en-US" sz="1400" i="1" dirty="0"/>
              <a:t> Norm, pilot stage or old project…</a:t>
            </a:r>
            <a:r>
              <a:rPr lang="en-US" dirty="0"/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2626" y="1331526"/>
            <a:ext cx="1640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Quality Control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7370618" y="3527509"/>
            <a:ext cx="4472410" cy="431346"/>
            <a:chOff x="0" y="837854"/>
            <a:chExt cx="4899283" cy="431346"/>
          </a:xfrm>
          <a:solidFill>
            <a:schemeClr val="tx1">
              <a:lumMod val="10000"/>
              <a:lumOff val="90000"/>
            </a:schemeClr>
          </a:solidFill>
        </p:grpSpPr>
        <p:sp>
          <p:nvSpPr>
            <p:cNvPr id="35" name="Rounded Rectangle 34"/>
            <p:cNvSpPr/>
            <p:nvPr/>
          </p:nvSpPr>
          <p:spPr>
            <a:xfrm>
              <a:off x="0" y="837854"/>
              <a:ext cx="4899283" cy="431346"/>
            </a:xfrm>
            <a:prstGeom prst="roundRect">
              <a:avLst/>
            </a:prstGeom>
            <a:grpFill/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36" name="Rounded Rectangle 6"/>
            <p:cNvSpPr txBox="1"/>
            <p:nvPr/>
          </p:nvSpPr>
          <p:spPr>
            <a:xfrm>
              <a:off x="61025" y="858911"/>
              <a:ext cx="4817200" cy="3892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l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Each metric is deviated from Targe</a:t>
              </a:r>
              <a:r>
                <a:rPr lang="en-US" sz="1300" dirty="0">
                  <a:solidFill>
                    <a:schemeClr val="tx1"/>
                  </a:solidFill>
                </a:rPr>
                <a:t>t +-20%</a:t>
              </a:r>
              <a:endParaRPr lang="en-US" sz="1300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370618" y="4026339"/>
            <a:ext cx="4472410" cy="431346"/>
            <a:chOff x="0" y="1281265"/>
            <a:chExt cx="4899283" cy="431346"/>
          </a:xfrm>
          <a:solidFill>
            <a:schemeClr val="tx1">
              <a:lumMod val="10000"/>
              <a:lumOff val="90000"/>
            </a:schemeClr>
          </a:solidFill>
        </p:grpSpPr>
        <p:sp>
          <p:nvSpPr>
            <p:cNvPr id="33" name="Rounded Rectangle 32"/>
            <p:cNvSpPr/>
            <p:nvPr/>
          </p:nvSpPr>
          <p:spPr>
            <a:xfrm>
              <a:off x="0" y="1281265"/>
              <a:ext cx="4899283" cy="431346"/>
            </a:xfrm>
            <a:prstGeom prst="roundRect">
              <a:avLst/>
            </a:prstGeom>
            <a:grpFill/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34" name="Rounded Rectangle 8"/>
            <p:cNvSpPr txBox="1"/>
            <p:nvPr/>
          </p:nvSpPr>
          <p:spPr>
            <a:xfrm>
              <a:off x="61025" y="1302322"/>
              <a:ext cx="4817201" cy="3892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l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Not satisfy Entry Criteria/Exit Criteria in Test plan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370618" y="4506695"/>
            <a:ext cx="4472410" cy="1891190"/>
            <a:chOff x="0" y="1724677"/>
            <a:chExt cx="4899283" cy="431346"/>
          </a:xfrm>
          <a:solidFill>
            <a:schemeClr val="tx1">
              <a:lumMod val="10000"/>
              <a:lumOff val="90000"/>
            </a:schemeClr>
          </a:solidFill>
        </p:grpSpPr>
        <p:sp>
          <p:nvSpPr>
            <p:cNvPr id="31" name="Rounded Rectangle 30"/>
            <p:cNvSpPr/>
            <p:nvPr/>
          </p:nvSpPr>
          <p:spPr>
            <a:xfrm>
              <a:off x="0" y="1724677"/>
              <a:ext cx="4899283" cy="431346"/>
            </a:xfrm>
            <a:prstGeom prst="roundRect">
              <a:avLst/>
            </a:prstGeom>
            <a:grpFill/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32" name="Rounded Rectangle 10"/>
            <p:cNvSpPr txBox="1"/>
            <p:nvPr/>
          </p:nvSpPr>
          <p:spPr>
            <a:xfrm>
              <a:off x="61025" y="1745734"/>
              <a:ext cx="4817200" cy="3892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l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Violate the Suspension Criteria in Test plan:</a:t>
              </a:r>
            </a:p>
            <a:p>
              <a:pPr lvl="0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- The build contains many serious defects which seriously or limit testing progress.</a:t>
              </a:r>
            </a:p>
            <a:p>
              <a:pPr lvl="0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- Significant change in requirements suggested by client</a:t>
              </a:r>
            </a:p>
            <a:p>
              <a:pPr lvl="0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- Software/Hardware problems</a:t>
              </a:r>
            </a:p>
            <a:p>
              <a:pPr lvl="0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dirty="0">
                  <a:solidFill>
                    <a:schemeClr val="tx1"/>
                  </a:solidFill>
                </a:rPr>
                <a:t>- Assigned resources are not available when needed by test team</a:t>
              </a:r>
              <a:endParaRPr lang="en-US" sz="1300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052626" y="1795150"/>
            <a:ext cx="4790402" cy="561004"/>
            <a:chOff x="0" y="2166153"/>
            <a:chExt cx="4899283" cy="433282"/>
          </a:xfrm>
          <a:solidFill>
            <a:schemeClr val="tx1">
              <a:lumMod val="25000"/>
              <a:lumOff val="75000"/>
            </a:schemeClr>
          </a:solidFill>
        </p:grpSpPr>
        <p:sp>
          <p:nvSpPr>
            <p:cNvPr id="29" name="Rounded Rectangle 28"/>
            <p:cNvSpPr/>
            <p:nvPr/>
          </p:nvSpPr>
          <p:spPr>
            <a:xfrm>
              <a:off x="0" y="2168089"/>
              <a:ext cx="4899283" cy="431346"/>
            </a:xfrm>
            <a:prstGeom prst="roundRect">
              <a:avLst/>
            </a:prstGeom>
            <a:grpFill/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30" name="Rounded Rectangle 12"/>
            <p:cNvSpPr txBox="1"/>
            <p:nvPr/>
          </p:nvSpPr>
          <p:spPr>
            <a:xfrm>
              <a:off x="108881" y="2166153"/>
              <a:ext cx="4789086" cy="38923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dirty="0">
                  <a:solidFill>
                    <a:sysClr val="window" lastClr="FFFFFF"/>
                  </a:solidFill>
                </a:rPr>
                <a:t>Quality Analysis must be conducted at end of each stage: DD, Coding, UT, IT, ST before moving to next stage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052625" y="2978373"/>
            <a:ext cx="4771179" cy="540685"/>
            <a:chOff x="0" y="3498324"/>
            <a:chExt cx="4899283" cy="431346"/>
          </a:xfrm>
          <a:solidFill>
            <a:schemeClr val="tx1">
              <a:lumMod val="25000"/>
              <a:lumOff val="75000"/>
            </a:schemeClr>
          </a:solidFill>
        </p:grpSpPr>
        <p:sp>
          <p:nvSpPr>
            <p:cNvPr id="23" name="Rounded Rectangle 22"/>
            <p:cNvSpPr/>
            <p:nvPr/>
          </p:nvSpPr>
          <p:spPr>
            <a:xfrm>
              <a:off x="0" y="3498324"/>
              <a:ext cx="4899283" cy="431346"/>
            </a:xfrm>
            <a:prstGeom prst="roundRect">
              <a:avLst/>
            </a:prstGeom>
            <a:grpFill/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24" name="Rounded Rectangle 18"/>
            <p:cNvSpPr txBox="1"/>
            <p:nvPr/>
          </p:nvSpPr>
          <p:spPr>
            <a:xfrm>
              <a:off x="128118" y="3519381"/>
              <a:ext cx="4750107" cy="38923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dirty="0">
                  <a:solidFill>
                    <a:sysClr val="window" lastClr="FFFFFF"/>
                  </a:solidFill>
                </a:rPr>
                <a:t>Quality Up must be proceeded when having some below issues: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7389840" y="2370524"/>
            <a:ext cx="4433964" cy="581455"/>
            <a:chOff x="0" y="71"/>
            <a:chExt cx="4899283" cy="825717"/>
          </a:xfrm>
        </p:grpSpPr>
        <p:sp>
          <p:nvSpPr>
            <p:cNvPr id="40" name="Rounded Rectangle 39"/>
            <p:cNvSpPr/>
            <p:nvPr/>
          </p:nvSpPr>
          <p:spPr>
            <a:xfrm>
              <a:off x="0" y="71"/>
              <a:ext cx="4899283" cy="825717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41" name="Rounded Rectangle 4"/>
            <p:cNvSpPr txBox="1"/>
            <p:nvPr/>
          </p:nvSpPr>
          <p:spPr>
            <a:xfrm>
              <a:off x="40308" y="40378"/>
              <a:ext cx="4818667" cy="6960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300" dirty="0">
                  <a:solidFill>
                    <a:schemeClr val="tx1"/>
                  </a:solidFill>
                </a:rPr>
                <a:t>Base on deviation in Quality report Test lead/Team lead/PM will evaluate and give actions for next step</a:t>
              </a:r>
            </a:p>
          </p:txBody>
        </p:sp>
      </p:grp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57084210-AC6E-0049-AB10-4154C751F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143370"/>
              </p:ext>
            </p:extLst>
          </p:nvPr>
        </p:nvGraphicFramePr>
        <p:xfrm>
          <a:off x="408985" y="1044268"/>
          <a:ext cx="6450415" cy="56921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4458">
                  <a:extLst>
                    <a:ext uri="{9D8B030D-6E8A-4147-A177-3AD203B41FA5}">
                      <a16:colId xmlns:a16="http://schemas.microsoft.com/office/drawing/2014/main" val="3441368848"/>
                    </a:ext>
                  </a:extLst>
                </a:gridCol>
                <a:gridCol w="662322">
                  <a:extLst>
                    <a:ext uri="{9D8B030D-6E8A-4147-A177-3AD203B41FA5}">
                      <a16:colId xmlns:a16="http://schemas.microsoft.com/office/drawing/2014/main" val="1691824667"/>
                    </a:ext>
                  </a:extLst>
                </a:gridCol>
                <a:gridCol w="672740">
                  <a:extLst>
                    <a:ext uri="{9D8B030D-6E8A-4147-A177-3AD203B41FA5}">
                      <a16:colId xmlns:a16="http://schemas.microsoft.com/office/drawing/2014/main" val="2947436915"/>
                    </a:ext>
                  </a:extLst>
                </a:gridCol>
                <a:gridCol w="1015649">
                  <a:extLst>
                    <a:ext uri="{9D8B030D-6E8A-4147-A177-3AD203B41FA5}">
                      <a16:colId xmlns:a16="http://schemas.microsoft.com/office/drawing/2014/main" val="2612483504"/>
                    </a:ext>
                  </a:extLst>
                </a:gridCol>
                <a:gridCol w="797496">
                  <a:extLst>
                    <a:ext uri="{9D8B030D-6E8A-4147-A177-3AD203B41FA5}">
                      <a16:colId xmlns:a16="http://schemas.microsoft.com/office/drawing/2014/main" val="1394739190"/>
                    </a:ext>
                  </a:extLst>
                </a:gridCol>
                <a:gridCol w="2947750">
                  <a:extLst>
                    <a:ext uri="{9D8B030D-6E8A-4147-A177-3AD203B41FA5}">
                      <a16:colId xmlns:a16="http://schemas.microsoft.com/office/drawing/2014/main" val="933956691"/>
                    </a:ext>
                  </a:extLst>
                </a:gridCol>
              </a:tblGrid>
              <a:tr h="16005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#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 grid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Metrics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Unit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Target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Basic</a:t>
                      </a:r>
                      <a:r>
                        <a:rPr lang="en-US" sz="12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for setting Goals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1953174444"/>
                  </a:ext>
                </a:extLst>
              </a:tr>
              <a:tr h="160053">
                <a:tc gridSpan="6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Density</a:t>
                      </a:r>
                    </a:p>
                  </a:txBody>
                  <a:tcPr marL="73025" marR="73025" marT="18415" marB="1841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285750" marR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080947"/>
                  </a:ext>
                </a:extLst>
              </a:tr>
              <a:tr h="7976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1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 gridSpan="2">
                  <a:txBody>
                    <a:bodyPr/>
                    <a:lstStyle/>
                    <a:p>
                      <a:pPr marL="0" indent="0" algn="l" defTabSz="457200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Detail Design</a:t>
                      </a:r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Page/KLOC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 &lt;Refer</a:t>
                      </a: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customer metrics&gt;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457200" rtl="0" eaLnBrk="1" fontAlgn="ctr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 &lt;Refer to FSU target in year YYYY, y% higher than previous project (A project)&gt;</a:t>
                      </a:r>
                    </a:p>
                    <a:p>
                      <a:pPr marL="0" algn="l" defTabSz="457200" rtl="0" eaLnBrk="1" fontAlgn="ctr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 &lt; Refer</a:t>
                      </a: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old projects&gt;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3232862044"/>
                  </a:ext>
                </a:extLst>
              </a:tr>
              <a:tr h="160053">
                <a:tc row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3025" marR="73025" marT="18415" marB="18415" anchor="ctr"/>
                </a:tc>
                <a:tc row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UTC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Screen</a:t>
                      </a:r>
                    </a:p>
                  </a:txBody>
                  <a:tcPr marL="73025" marR="73025" marT="18415" marB="18415" anchor="ctr"/>
                </a:tc>
                <a:tc row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TC/KLOC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93</a:t>
                      </a:r>
                    </a:p>
                  </a:txBody>
                  <a:tcPr marL="73025" marR="73025" marT="18415" marB="18415" anchor="ctr"/>
                </a:tc>
                <a:tc rowSpan="3">
                  <a:txBody>
                    <a:bodyPr/>
                    <a:lstStyle/>
                    <a:p>
                      <a:endParaRPr lang="en-US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4104874094"/>
                  </a:ext>
                </a:extLst>
              </a:tr>
              <a:tr h="1600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Batch</a:t>
                      </a:r>
                    </a:p>
                  </a:txBody>
                  <a:tcPr marL="73025" marR="73025" marT="18415" marB="18415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 marL="73025" marR="73025" marT="18415" marB="18415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286275"/>
                  </a:ext>
                </a:extLst>
              </a:tr>
              <a:tr h="1600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Report</a:t>
                      </a:r>
                    </a:p>
                  </a:txBody>
                  <a:tcPr marL="73025" marR="73025" marT="18415" marB="18415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45.5</a:t>
                      </a:r>
                    </a:p>
                  </a:txBody>
                  <a:tcPr marL="73025" marR="73025" marT="18415" marB="18415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96058"/>
                  </a:ext>
                </a:extLst>
              </a:tr>
              <a:tr h="226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ITC</a:t>
                      </a:r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TC/KLOC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26.5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621019063"/>
                  </a:ext>
                </a:extLst>
              </a:tr>
              <a:tr h="226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3025" marR="73025" marT="18415" marB="18415" anchor="ctr"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STC</a:t>
                      </a:r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TC/KLOC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13.8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3073208618"/>
                  </a:ext>
                </a:extLst>
              </a:tr>
              <a:tr h="160053">
                <a:tc gridSpan="6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Defect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Rate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4066310577"/>
                  </a:ext>
                </a:extLst>
              </a:tr>
              <a:tr h="226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73025" marR="73025" marT="18415" marB="18415" anchor="ctr"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Design</a:t>
                      </a:r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Defect/Page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1.7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1874827196"/>
                  </a:ext>
                </a:extLst>
              </a:tr>
              <a:tr h="226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73025" marR="73025" marT="18415" marB="18415" anchor="ctr"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Design</a:t>
                      </a:r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Defect/KLOC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20.2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1078716324"/>
                  </a:ext>
                </a:extLst>
              </a:tr>
              <a:tr h="226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73025" marR="73025" marT="18415" marB="18415" anchor="ctr"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Code Review</a:t>
                      </a:r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Defect/KLOC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7.0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3706843842"/>
                  </a:ext>
                </a:extLst>
              </a:tr>
              <a:tr h="226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73025" marR="73025" marT="18415" marB="18415" anchor="ctr"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Unit Test</a:t>
                      </a:r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Defect/KLOC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9.8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4038184486"/>
                  </a:ext>
                </a:extLst>
              </a:tr>
              <a:tr h="226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73025" marR="73025" marT="18415" marB="18415" anchor="ctr"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Integration Test</a:t>
                      </a:r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Defect/KLOC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6.0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2745476459"/>
                  </a:ext>
                </a:extLst>
              </a:tr>
              <a:tr h="226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73025" marR="73025" marT="18415" marB="18415" anchor="ctr"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System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Test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Defect/KLOC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1.7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826996736"/>
                  </a:ext>
                </a:extLst>
              </a:tr>
              <a:tr h="226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73025" marR="73025" marT="18415" marB="18415" anchor="ctr"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UTC Review</a:t>
                      </a:r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Defect/Case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0.03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441983413"/>
                  </a:ext>
                </a:extLst>
              </a:tr>
              <a:tr h="226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73025" marR="73025" marT="18415" marB="18415" anchor="ctr"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ITC Review</a:t>
                      </a:r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Defect/Case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1133555717"/>
                  </a:ext>
                </a:extLst>
              </a:tr>
              <a:tr h="22666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15</a:t>
                      </a:r>
                    </a:p>
                  </a:txBody>
                  <a:tcPr marL="73025" marR="73025" marT="18415" marB="18415" anchor="ctr"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STC</a:t>
                      </a: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Review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18415" marB="1841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Defect/Case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1445535450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978215" y="1266836"/>
            <a:ext cx="5004747" cy="525590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66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319583-D81D-5D41-AE7F-F06F54217E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Communication Plan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FPT - Customer Meeting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0000000-0008-0000-0A00-00007F000000}"/>
              </a:ext>
            </a:extLst>
          </p:cNvPr>
          <p:cNvGrpSpPr/>
          <p:nvPr/>
        </p:nvGrpSpPr>
        <p:grpSpPr>
          <a:xfrm>
            <a:off x="192853" y="1870555"/>
            <a:ext cx="11101128" cy="3934794"/>
            <a:chOff x="0" y="0"/>
            <a:chExt cx="10617200" cy="398459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0000000-0008-0000-0A00-000080000000}"/>
                </a:ext>
              </a:extLst>
            </p:cNvPr>
            <p:cNvGrpSpPr/>
            <p:nvPr/>
          </p:nvGrpSpPr>
          <p:grpSpPr>
            <a:xfrm>
              <a:off x="0" y="0"/>
              <a:ext cx="10617200" cy="3984599"/>
              <a:chOff x="0" y="0"/>
              <a:chExt cx="10617200" cy="3984599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0000000-0008-0000-0A00-000082000000}"/>
                  </a:ext>
                </a:extLst>
              </p:cNvPr>
              <p:cNvGrpSpPr/>
              <p:nvPr/>
            </p:nvGrpSpPr>
            <p:grpSpPr>
              <a:xfrm>
                <a:off x="0" y="157207"/>
                <a:ext cx="10617200" cy="3677947"/>
                <a:chOff x="0" y="157207"/>
                <a:chExt cx="9293887" cy="3677947"/>
              </a:xfrm>
            </p:grpSpPr>
            <p:sp>
              <p:nvSpPr>
                <p:cNvPr id="18" name="Line 8">
                  <a:extLst>
                    <a:ext uri="{FF2B5EF4-FFF2-40B4-BE49-F238E27FC236}">
                      <a16:creationId xmlns:a16="http://schemas.microsoft.com/office/drawing/2014/main" id="{00000000-0008-0000-0A00-00008A0000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gray">
                <a:xfrm flipH="1">
                  <a:off x="0" y="1479304"/>
                  <a:ext cx="4267200" cy="0"/>
                </a:xfrm>
                <a:prstGeom prst="line">
                  <a:avLst/>
                </a:prstGeom>
                <a:noFill/>
                <a:ln w="76200">
                  <a:solidFill>
                    <a:srgbClr val="FFFFFF"/>
                  </a:solidFill>
                  <a:round/>
                  <a:headEnd/>
                  <a:tailEnd/>
                </a:ln>
                <a:effectLst/>
              </p:spPr>
              <p:txBody>
                <a:bodyPr wrap="square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4572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000" kern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endParaRPr>
                </a:p>
              </p:txBody>
            </p:sp>
            <p:sp>
              <p:nvSpPr>
                <p:cNvPr id="19" name="Line 9">
                  <a:extLst>
                    <a:ext uri="{FF2B5EF4-FFF2-40B4-BE49-F238E27FC236}">
                      <a16:creationId xmlns:a16="http://schemas.microsoft.com/office/drawing/2014/main" id="{00000000-0008-0000-0A00-00008B0000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gray">
                <a:xfrm flipH="1">
                  <a:off x="0" y="2656171"/>
                  <a:ext cx="4267200" cy="0"/>
                </a:xfrm>
                <a:prstGeom prst="line">
                  <a:avLst/>
                </a:prstGeom>
                <a:noFill/>
                <a:ln w="76200">
                  <a:solidFill>
                    <a:srgbClr val="FFFFFF"/>
                  </a:solidFill>
                  <a:round/>
                  <a:headEnd/>
                  <a:tailEnd/>
                </a:ln>
                <a:effectLst/>
              </p:spPr>
              <p:txBody>
                <a:bodyPr wrap="square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4572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000" kern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endParaRPr>
                </a:p>
              </p:txBody>
            </p:sp>
            <p:sp>
              <p:nvSpPr>
                <p:cNvPr id="20" name="Line 10">
                  <a:extLst>
                    <a:ext uri="{FF2B5EF4-FFF2-40B4-BE49-F238E27FC236}">
                      <a16:creationId xmlns:a16="http://schemas.microsoft.com/office/drawing/2014/main" id="{00000000-0008-0000-0A00-00008C0000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gray">
                <a:xfrm flipH="1">
                  <a:off x="0" y="3835154"/>
                  <a:ext cx="4267200" cy="0"/>
                </a:xfrm>
                <a:prstGeom prst="line">
                  <a:avLst/>
                </a:prstGeom>
                <a:noFill/>
                <a:ln w="76200">
                  <a:solidFill>
                    <a:srgbClr val="FFFFFF"/>
                  </a:solidFill>
                  <a:round/>
                  <a:headEnd/>
                  <a:tailEnd/>
                </a:ln>
                <a:effectLst/>
              </p:spPr>
              <p:txBody>
                <a:bodyPr wrap="square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4572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000" kern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endParaRPr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00000000-0008-0000-0A00-00008D000000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257410" y="2846292"/>
                  <a:ext cx="1828800" cy="884238"/>
                </a:xfrm>
                <a:custGeom>
                  <a:avLst/>
                  <a:gdLst/>
                  <a:ahLst/>
                  <a:cxnLst>
                    <a:cxn ang="0">
                      <a:pos x="1152" y="576"/>
                    </a:cxn>
                    <a:cxn ang="0">
                      <a:pos x="0" y="576"/>
                    </a:cxn>
                    <a:cxn ang="0">
                      <a:pos x="288" y="0"/>
                    </a:cxn>
                    <a:cxn ang="0">
                      <a:pos x="1152" y="0"/>
                    </a:cxn>
                    <a:cxn ang="0">
                      <a:pos x="1152" y="576"/>
                    </a:cxn>
                  </a:cxnLst>
                  <a:rect l="0" t="0" r="r" b="b"/>
                  <a:pathLst>
                    <a:path w="1152" h="576">
                      <a:moveTo>
                        <a:pt x="1152" y="576"/>
                      </a:moveTo>
                      <a:lnTo>
                        <a:pt x="0" y="576"/>
                      </a:lnTo>
                      <a:lnTo>
                        <a:pt x="288" y="0"/>
                      </a:lnTo>
                      <a:lnTo>
                        <a:pt x="1152" y="0"/>
                      </a:lnTo>
                      <a:lnTo>
                        <a:pt x="1152" y="576"/>
                      </a:lnTo>
                      <a:close/>
                    </a:path>
                  </a:pathLst>
                </a:custGeom>
                <a:solidFill>
                  <a:srgbClr val="08A1D9">
                    <a:lumMod val="20000"/>
                    <a:lumOff val="80000"/>
                  </a:srgbClr>
                </a:solidFill>
                <a:ln w="9525" cap="flat" cmpd="sng">
                  <a:noFill/>
                  <a:prstDash val="solid"/>
                  <a:round/>
                  <a:headEnd/>
                  <a:tailEnd/>
                </a:ln>
                <a:effectLst/>
              </p:spPr>
              <p:txBody>
                <a:bodyPr wrap="square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endParaRPr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00000000-0008-0000-0A00-00008E000000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714606" y="1963642"/>
                  <a:ext cx="1371600" cy="882650"/>
                </a:xfrm>
                <a:custGeom>
                  <a:avLst/>
                  <a:gdLst/>
                  <a:ahLst/>
                  <a:cxnLst>
                    <a:cxn ang="0">
                      <a:pos x="0" y="576"/>
                    </a:cxn>
                    <a:cxn ang="0">
                      <a:pos x="864" y="576"/>
                    </a:cxn>
                    <a:cxn ang="0">
                      <a:pos x="864" y="0"/>
                    </a:cxn>
                    <a:cxn ang="0">
                      <a:pos x="288" y="0"/>
                    </a:cxn>
                    <a:cxn ang="0">
                      <a:pos x="0" y="576"/>
                    </a:cxn>
                  </a:cxnLst>
                  <a:rect l="0" t="0" r="r" b="b"/>
                  <a:pathLst>
                    <a:path w="864" h="576">
                      <a:moveTo>
                        <a:pt x="0" y="576"/>
                      </a:moveTo>
                      <a:lnTo>
                        <a:pt x="864" y="576"/>
                      </a:lnTo>
                      <a:lnTo>
                        <a:pt x="864" y="0"/>
                      </a:lnTo>
                      <a:lnTo>
                        <a:pt x="288" y="0"/>
                      </a:lnTo>
                      <a:lnTo>
                        <a:pt x="0" y="576"/>
                      </a:lnTo>
                      <a:close/>
                    </a:path>
                  </a:pathLst>
                </a:custGeom>
                <a:solidFill>
                  <a:srgbClr val="08A1D9">
                    <a:lumMod val="60000"/>
                    <a:lumOff val="40000"/>
                  </a:srgbClr>
                </a:solidFill>
                <a:ln w="9525" cap="flat" cmpd="sng">
                  <a:noFill/>
                  <a:prstDash val="solid"/>
                  <a:round/>
                  <a:headEnd/>
                  <a:tailEnd/>
                </a:ln>
                <a:effectLst/>
              </p:spPr>
              <p:txBody>
                <a:bodyPr wrap="square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endParaRPr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00000000-0008-0000-0A00-00008F000000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171811" y="1079405"/>
                  <a:ext cx="914400" cy="884237"/>
                </a:xfrm>
                <a:custGeom>
                  <a:avLst/>
                  <a:gdLst/>
                  <a:ahLst/>
                  <a:cxnLst>
                    <a:cxn ang="0">
                      <a:pos x="0" y="576"/>
                    </a:cxn>
                    <a:cxn ang="0">
                      <a:pos x="576" y="576"/>
                    </a:cxn>
                    <a:cxn ang="0">
                      <a:pos x="576" y="0"/>
                    </a:cxn>
                    <a:cxn ang="0">
                      <a:pos x="288" y="0"/>
                    </a:cxn>
                    <a:cxn ang="0">
                      <a:pos x="0" y="576"/>
                    </a:cxn>
                  </a:cxnLst>
                  <a:rect l="0" t="0" r="r" b="b"/>
                  <a:pathLst>
                    <a:path w="576" h="576">
                      <a:moveTo>
                        <a:pt x="0" y="576"/>
                      </a:moveTo>
                      <a:lnTo>
                        <a:pt x="576" y="576"/>
                      </a:lnTo>
                      <a:lnTo>
                        <a:pt x="576" y="0"/>
                      </a:lnTo>
                      <a:lnTo>
                        <a:pt x="288" y="0"/>
                      </a:lnTo>
                      <a:lnTo>
                        <a:pt x="0" y="576"/>
                      </a:lnTo>
                      <a:close/>
                    </a:path>
                  </a:pathLst>
                </a:custGeom>
                <a:solidFill>
                  <a:srgbClr val="08A1D9">
                    <a:lumMod val="75000"/>
                  </a:srgbClr>
                </a:solidFill>
                <a:ln w="9525" cap="flat" cmpd="sng">
                  <a:noFill/>
                  <a:prstDash val="solid"/>
                  <a:round/>
                  <a:headEnd/>
                  <a:tailEnd/>
                </a:ln>
                <a:effectLst/>
              </p:spPr>
              <p:txBody>
                <a:bodyPr wrap="square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endParaRPr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00000000-0008-0000-0A00-000090000000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629010" y="195167"/>
                  <a:ext cx="457200" cy="884238"/>
                </a:xfrm>
                <a:custGeom>
                  <a:avLst/>
                  <a:gdLst/>
                  <a:ahLst/>
                  <a:cxnLst>
                    <a:cxn ang="0">
                      <a:pos x="0" y="576"/>
                    </a:cxn>
                    <a:cxn ang="0">
                      <a:pos x="288" y="576"/>
                    </a:cxn>
                    <a:cxn ang="0">
                      <a:pos x="288" y="0"/>
                    </a:cxn>
                    <a:cxn ang="0">
                      <a:pos x="0" y="576"/>
                    </a:cxn>
                  </a:cxnLst>
                  <a:rect l="0" t="0" r="r" b="b"/>
                  <a:pathLst>
                    <a:path w="288" h="576">
                      <a:moveTo>
                        <a:pt x="0" y="576"/>
                      </a:moveTo>
                      <a:lnTo>
                        <a:pt x="288" y="576"/>
                      </a:lnTo>
                      <a:lnTo>
                        <a:pt x="288" y="0"/>
                      </a:lnTo>
                      <a:lnTo>
                        <a:pt x="0" y="576"/>
                      </a:lnTo>
                      <a:close/>
                    </a:path>
                  </a:pathLst>
                </a:custGeom>
                <a:solidFill>
                  <a:srgbClr val="08A1D9">
                    <a:lumMod val="50000"/>
                  </a:srgbClr>
                </a:solidFill>
                <a:ln w="9525" cap="flat" cmpd="sng">
                  <a:noFill/>
                  <a:prstDash val="solid"/>
                  <a:round/>
                  <a:headEnd/>
                  <a:tailEnd/>
                </a:ln>
                <a:effectLst/>
              </p:spPr>
              <p:txBody>
                <a:bodyPr wrap="square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endParaRPr>
                </a:p>
              </p:txBody>
            </p:sp>
            <p:sp>
              <p:nvSpPr>
                <p:cNvPr id="25" name="Line 7">
                  <a:extLst>
                    <a:ext uri="{FF2B5EF4-FFF2-40B4-BE49-F238E27FC236}">
                      <a16:creationId xmlns:a16="http://schemas.microsoft.com/office/drawing/2014/main" id="{00000000-0008-0000-0A00-0000910000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gray">
                <a:xfrm flipH="1">
                  <a:off x="635358" y="1077817"/>
                  <a:ext cx="3200400" cy="0"/>
                </a:xfrm>
                <a:prstGeom prst="line">
                  <a:avLst/>
                </a:prstGeom>
                <a:noFill/>
                <a:ln w="76200">
                  <a:solidFill>
                    <a:srgbClr val="FFFFFF"/>
                  </a:solidFill>
                  <a:round/>
                  <a:headEnd/>
                  <a:tailEnd/>
                </a:ln>
                <a:effectLst/>
              </p:spPr>
              <p:txBody>
                <a:bodyPr wrap="square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4572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000" kern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endParaRPr>
                </a:p>
              </p:txBody>
            </p:sp>
            <p:sp>
              <p:nvSpPr>
                <p:cNvPr id="26" name="Line 8">
                  <a:extLst>
                    <a:ext uri="{FF2B5EF4-FFF2-40B4-BE49-F238E27FC236}">
                      <a16:creationId xmlns:a16="http://schemas.microsoft.com/office/drawing/2014/main" id="{00000000-0008-0000-0A00-0000920000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gray">
                <a:xfrm flipH="1">
                  <a:off x="635358" y="1962055"/>
                  <a:ext cx="3200400" cy="0"/>
                </a:xfrm>
                <a:prstGeom prst="line">
                  <a:avLst/>
                </a:prstGeom>
                <a:noFill/>
                <a:ln w="76200">
                  <a:solidFill>
                    <a:srgbClr val="FFFFFF"/>
                  </a:solidFill>
                  <a:round/>
                  <a:headEnd/>
                  <a:tailEnd/>
                </a:ln>
                <a:effectLst/>
              </p:spPr>
              <p:txBody>
                <a:bodyPr wrap="square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4572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000" kern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endParaRPr>
                </a:p>
              </p:txBody>
            </p:sp>
            <p:sp>
              <p:nvSpPr>
                <p:cNvPr id="27" name="Line 9">
                  <a:extLst>
                    <a:ext uri="{FF2B5EF4-FFF2-40B4-BE49-F238E27FC236}">
                      <a16:creationId xmlns:a16="http://schemas.microsoft.com/office/drawing/2014/main" id="{00000000-0008-0000-0A00-0000930000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gray">
                <a:xfrm flipH="1">
                  <a:off x="635358" y="2844705"/>
                  <a:ext cx="3200400" cy="0"/>
                </a:xfrm>
                <a:prstGeom prst="line">
                  <a:avLst/>
                </a:prstGeom>
                <a:noFill/>
                <a:ln w="76200">
                  <a:solidFill>
                    <a:srgbClr val="FFFFFF"/>
                  </a:solidFill>
                  <a:round/>
                  <a:headEnd/>
                  <a:tailEnd/>
                </a:ln>
                <a:effectLst/>
              </p:spPr>
              <p:txBody>
                <a:bodyPr wrap="square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4572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000" kern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endParaRPr>
                </a:p>
              </p:txBody>
            </p:sp>
            <p:sp>
              <p:nvSpPr>
                <p:cNvPr id="28" name="Line 10">
                  <a:extLst>
                    <a:ext uri="{FF2B5EF4-FFF2-40B4-BE49-F238E27FC236}">
                      <a16:creationId xmlns:a16="http://schemas.microsoft.com/office/drawing/2014/main" id="{00000000-0008-0000-0A00-0000940000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gray">
                <a:xfrm flipH="1">
                  <a:off x="635358" y="3728942"/>
                  <a:ext cx="3200400" cy="0"/>
                </a:xfrm>
                <a:prstGeom prst="line">
                  <a:avLst/>
                </a:prstGeom>
                <a:noFill/>
                <a:ln w="76200">
                  <a:solidFill>
                    <a:srgbClr val="FFFFFF"/>
                  </a:solidFill>
                  <a:round/>
                  <a:headEnd/>
                  <a:tailEnd/>
                </a:ln>
                <a:effectLst/>
              </p:spPr>
              <p:txBody>
                <a:bodyPr wrap="square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4572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000" kern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endParaRPr>
                </a:p>
              </p:txBody>
            </p:sp>
            <p:sp>
              <p:nvSpPr>
                <p:cNvPr id="29" name="Line 11">
                  <a:extLst>
                    <a:ext uri="{FF2B5EF4-FFF2-40B4-BE49-F238E27FC236}">
                      <a16:creationId xmlns:a16="http://schemas.microsoft.com/office/drawing/2014/main" id="{00000000-0008-0000-0A00-0000950000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gray">
                <a:xfrm flipH="1" flipV="1">
                  <a:off x="330557" y="1079404"/>
                  <a:ext cx="8896625" cy="9715"/>
                </a:xfrm>
                <a:prstGeom prst="line">
                  <a:avLst/>
                </a:prstGeom>
                <a:noFill/>
                <a:ln w="9525">
                  <a:solidFill>
                    <a:srgbClr val="7889FB"/>
                  </a:solidFill>
                  <a:round/>
                  <a:headEnd/>
                  <a:tailEnd/>
                </a:ln>
                <a:effectLst/>
              </p:spPr>
              <p:txBody>
                <a:bodyPr wrap="square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4572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000" kern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endParaRPr>
                </a:p>
              </p:txBody>
            </p:sp>
            <p:sp>
              <p:nvSpPr>
                <p:cNvPr id="30" name="Line 12">
                  <a:extLst>
                    <a:ext uri="{FF2B5EF4-FFF2-40B4-BE49-F238E27FC236}">
                      <a16:creationId xmlns:a16="http://schemas.microsoft.com/office/drawing/2014/main" id="{00000000-0008-0000-0A00-0000960000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gray">
                <a:xfrm flipH="1">
                  <a:off x="330556" y="1959839"/>
                  <a:ext cx="8900786" cy="3803"/>
                </a:xfrm>
                <a:prstGeom prst="line">
                  <a:avLst/>
                </a:prstGeom>
                <a:noFill/>
                <a:ln w="9525">
                  <a:solidFill>
                    <a:srgbClr val="7889FB"/>
                  </a:solidFill>
                  <a:round/>
                  <a:headEnd/>
                  <a:tailEnd/>
                </a:ln>
                <a:effectLst/>
              </p:spPr>
              <p:txBody>
                <a:bodyPr wrap="square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4572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000" kern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endParaRPr>
                </a:p>
              </p:txBody>
            </p:sp>
            <p:sp>
              <p:nvSpPr>
                <p:cNvPr id="31" name="Line 13">
                  <a:extLst>
                    <a:ext uri="{FF2B5EF4-FFF2-40B4-BE49-F238E27FC236}">
                      <a16:creationId xmlns:a16="http://schemas.microsoft.com/office/drawing/2014/main" id="{00000000-0008-0000-0A00-0000970000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gray">
                <a:xfrm flipH="1">
                  <a:off x="330556" y="2844075"/>
                  <a:ext cx="8900786" cy="2218"/>
                </a:xfrm>
                <a:prstGeom prst="line">
                  <a:avLst/>
                </a:prstGeom>
                <a:noFill/>
                <a:ln w="9525">
                  <a:solidFill>
                    <a:srgbClr val="7889FB"/>
                  </a:solidFill>
                  <a:round/>
                  <a:headEnd/>
                  <a:tailEnd/>
                </a:ln>
                <a:effectLst/>
              </p:spPr>
              <p:txBody>
                <a:bodyPr wrap="square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4572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000" kern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endParaRPr>
                </a:p>
              </p:txBody>
            </p:sp>
            <p:sp>
              <p:nvSpPr>
                <p:cNvPr id="32" name="Line 18">
                  <a:extLst>
                    <a:ext uri="{FF2B5EF4-FFF2-40B4-BE49-F238E27FC236}">
                      <a16:creationId xmlns:a16="http://schemas.microsoft.com/office/drawing/2014/main" id="{00000000-0008-0000-0A00-0000980000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gray">
                <a:xfrm flipV="1">
                  <a:off x="573937" y="195167"/>
                  <a:ext cx="0" cy="3535363"/>
                </a:xfrm>
                <a:prstGeom prst="line">
                  <a:avLst/>
                </a:prstGeom>
                <a:noFill/>
                <a:ln w="28575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square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457200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000" kern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endParaRP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00000000-0008-0000-0A00-0000990000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66810" y="698405"/>
                  <a:ext cx="2362200" cy="38100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 lIns="0" anchor="b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r" defTabSz="457200" fontAlgn="auto"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lang="en-US" sz="1000" kern="0">
                      <a:solidFill>
                        <a:sysClr val="windowText" lastClr="000000"/>
                      </a:solidFill>
                      <a:latin typeface="+mn-lt"/>
                      <a:cs typeface="Segoe UI Light" panose="020B0502040204020203" pitchFamily="34" charset="0"/>
                    </a:rPr>
                    <a:t>Quarterly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00000000-0008-0000-0A00-00009A0000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66810" y="1582642"/>
                  <a:ext cx="1905000" cy="38100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 lIns="0" anchor="b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r" defTabSz="457200" fontAlgn="auto"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lang="en-US" sz="1000" kern="0">
                      <a:solidFill>
                        <a:sysClr val="windowText" lastClr="000000"/>
                      </a:solidFill>
                      <a:latin typeface="+mn-lt"/>
                      <a:cs typeface="Segoe UI Light" panose="020B0502040204020203" pitchFamily="34" charset="0"/>
                    </a:rPr>
                    <a:t>Monthly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00000000-0008-0000-0A00-00009B0000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66810" y="2465292"/>
                  <a:ext cx="1447800" cy="38100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 lIns="0" anchor="b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r" defTabSz="457200" fontAlgn="auto"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lang="en-US" sz="1000" kern="0">
                      <a:solidFill>
                        <a:sysClr val="windowText" lastClr="000000"/>
                      </a:solidFill>
                      <a:latin typeface="+mn-lt"/>
                      <a:cs typeface="Segoe UI Light" panose="020B0502040204020203" pitchFamily="34" charset="0"/>
                    </a:rPr>
                    <a:t>Weekly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00000000-0008-0000-0A00-00009C0000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66810" y="3349530"/>
                  <a:ext cx="990600" cy="38100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 lIns="0" anchor="b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r" defTabSz="457200" fontAlgn="auto"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lang="en-US" sz="1000" kern="0">
                      <a:solidFill>
                        <a:sysClr val="windowText" lastClr="000000"/>
                      </a:solidFill>
                      <a:latin typeface="+mn-lt"/>
                      <a:cs typeface="Segoe UI Light" panose="020B0502040204020203" pitchFamily="34" charset="0"/>
                    </a:rPr>
                    <a:t>Ad-hoc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00000000-0008-0000-0A00-00009D0000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5396763" y="2059600"/>
                  <a:ext cx="3889503" cy="812478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 anchor="b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457200" fontAlgn="auto"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lang="en-US" sz="1000" b="1" kern="0" dirty="0">
                      <a:latin typeface="+mn-lt"/>
                      <a:cs typeface="Segoe UI Light" panose="020B0502040204020203" pitchFamily="34" charset="0"/>
                    </a:rPr>
                    <a:t>Operational Project Meeting / Weekly Progress Report</a:t>
                  </a:r>
                </a:p>
                <a:p>
                  <a:pPr defTabSz="457200" fontAlgn="auto"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lang="en-US" sz="1000" b="1" kern="0" dirty="0">
                      <a:latin typeface="+mn-lt"/>
                      <a:cs typeface="Segoe UI Light" panose="020B0502040204020203" pitchFamily="34" charset="0"/>
                    </a:rPr>
                    <a:t>Time:</a:t>
                  </a:r>
                  <a:r>
                    <a:rPr lang="en-US" sz="1000" kern="0" dirty="0">
                      <a:latin typeface="+mn-lt"/>
                      <a:cs typeface="Segoe UI Light" panose="020B0502040204020203" pitchFamily="34" charset="0"/>
                    </a:rPr>
                    <a:t> Friday (Weekly report is created on Thursday)</a:t>
                  </a:r>
                  <a:endParaRPr lang="en-US" sz="1000" b="1" kern="0" dirty="0">
                    <a:latin typeface="+mn-lt"/>
                    <a:cs typeface="Segoe UI Light" panose="020B0502040204020203" pitchFamily="34" charset="0"/>
                  </a:endParaRPr>
                </a:p>
                <a:p>
                  <a:pPr defTabSz="457200" fontAlgn="auto"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lang="en-US" sz="1000" b="1" kern="0" dirty="0">
                      <a:latin typeface="+mn-lt"/>
                      <a:cs typeface="Segoe UI Light" panose="020B0502040204020203" pitchFamily="34" charset="0"/>
                    </a:rPr>
                    <a:t>Agenda:</a:t>
                  </a:r>
                  <a:r>
                    <a:rPr lang="en-US" sz="1000" kern="0" dirty="0">
                      <a:latin typeface="+mn-lt"/>
                      <a:cs typeface="Segoe UI Light" panose="020B0502040204020203" pitchFamily="34" charset="0"/>
                    </a:rPr>
                    <a:t> confirm project progress; tracking follow up items; </a:t>
                  </a:r>
                  <a:br>
                    <a:rPr lang="en-US" sz="1000" kern="0" dirty="0">
                      <a:latin typeface="+mn-lt"/>
                      <a:cs typeface="Segoe UI Light" panose="020B0502040204020203" pitchFamily="34" charset="0"/>
                    </a:rPr>
                  </a:br>
                  <a:r>
                    <a:rPr lang="en-US" sz="1000" kern="0" dirty="0">
                      <a:latin typeface="+mn-lt"/>
                      <a:cs typeface="Segoe UI Light" panose="020B0502040204020203" pitchFamily="34" charset="0"/>
                    </a:rPr>
                    <a:t>issue resolution; escalation issue/risk – decision making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00000000-0008-0000-0A00-00009E0000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5404383" y="2900608"/>
                  <a:ext cx="3889503" cy="807404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 anchor="b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457200" fontAlgn="auto"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lang="en-US" sz="1000" b="1" kern="0" dirty="0">
                      <a:latin typeface="+mn-lt"/>
                      <a:cs typeface="Segoe UI Light" panose="020B0502040204020203" pitchFamily="34" charset="0"/>
                    </a:rPr>
                    <a:t>Operational Status Meetings</a:t>
                  </a:r>
                </a:p>
                <a:p>
                  <a:pPr defTabSz="457200" fontAlgn="auto"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lang="en-US" sz="1000" b="1" kern="0" dirty="0">
                      <a:latin typeface="+mn-lt"/>
                      <a:cs typeface="Segoe UI Light" panose="020B0502040204020203" pitchFamily="34" charset="0"/>
                    </a:rPr>
                    <a:t>Agenda:</a:t>
                  </a:r>
                  <a:r>
                    <a:rPr lang="en-US" sz="1000" kern="0" dirty="0">
                      <a:latin typeface="+mn-lt"/>
                      <a:cs typeface="Segoe UI Light" panose="020B0502040204020203" pitchFamily="34" charset="0"/>
                    </a:rPr>
                    <a:t> project status meeting as coordination</a:t>
                  </a:r>
                  <a:br>
                    <a:rPr lang="en-US" sz="1000" kern="0" dirty="0">
                      <a:latin typeface="+mn-lt"/>
                      <a:cs typeface="Segoe UI Light" panose="020B0502040204020203" pitchFamily="34" charset="0"/>
                    </a:rPr>
                  </a:br>
                  <a:r>
                    <a:rPr lang="en-US" sz="1000" kern="0" dirty="0">
                      <a:latin typeface="+mn-lt"/>
                      <a:cs typeface="Segoe UI Light" panose="020B0502040204020203" pitchFamily="34" charset="0"/>
                    </a:rPr>
                    <a:t>meeting and risk mitigation; handling issue related to development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00000000-0008-0000-0A00-00009F0000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5404384" y="157207"/>
                  <a:ext cx="3889503" cy="91440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 anchor="b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457200" fontAlgn="auto"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lang="en-US" sz="1000" b="1" kern="0" dirty="0">
                      <a:latin typeface="+mn-lt"/>
                      <a:cs typeface="Segoe UI Light" panose="020B0502040204020203" pitchFamily="34" charset="0"/>
                    </a:rPr>
                    <a:t>Steering Committee Meetings</a:t>
                  </a:r>
                </a:p>
                <a:p>
                  <a:pPr defTabSz="457200" fontAlgn="auto"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lang="en-US" sz="1000" b="1" kern="0" dirty="0">
                      <a:latin typeface="+mn-lt"/>
                      <a:cs typeface="Segoe UI Light" panose="020B0502040204020203" pitchFamily="34" charset="0"/>
                    </a:rPr>
                    <a:t>Time:</a:t>
                  </a:r>
                  <a:r>
                    <a:rPr lang="en-US" sz="1000" kern="0" dirty="0">
                      <a:latin typeface="+mn-lt"/>
                      <a:cs typeface="Segoe UI Light" panose="020B0502040204020203" pitchFamily="34" charset="0"/>
                    </a:rPr>
                    <a:t> End of Quarter</a:t>
                  </a:r>
                  <a:endParaRPr lang="en-US" sz="1000" b="1" kern="0" dirty="0">
                    <a:latin typeface="+mn-lt"/>
                    <a:cs typeface="Segoe UI Light" panose="020B0502040204020203" pitchFamily="34" charset="0"/>
                  </a:endParaRPr>
                </a:p>
                <a:p>
                  <a:pPr defTabSz="457200" fontAlgn="auto"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lang="en-US" sz="1000" b="1" kern="0" dirty="0">
                      <a:latin typeface="+mn-lt"/>
                      <a:cs typeface="Segoe UI Light" panose="020B0502040204020203" pitchFamily="34" charset="0"/>
                    </a:rPr>
                    <a:t>Agenda:</a:t>
                  </a:r>
                  <a:r>
                    <a:rPr lang="en-US" sz="1000" kern="0" dirty="0">
                      <a:latin typeface="+mn-lt"/>
                      <a:cs typeface="Segoe UI Light" panose="020B0502040204020203" pitchFamily="34" charset="0"/>
                    </a:rPr>
                    <a:t> review plan &amp; forecasts, governance change</a:t>
                  </a:r>
                  <a:br>
                    <a:rPr lang="en-US" sz="1000" kern="0" dirty="0">
                      <a:latin typeface="+mn-lt"/>
                      <a:cs typeface="Segoe UI Light" panose="020B0502040204020203" pitchFamily="34" charset="0"/>
                    </a:rPr>
                  </a:br>
                  <a:r>
                    <a:rPr lang="en-US" sz="1000" kern="0" dirty="0">
                      <a:latin typeface="+mn-lt"/>
                      <a:cs typeface="Segoe UI Light" panose="020B0502040204020203" pitchFamily="34" charset="0"/>
                    </a:rPr>
                    <a:t>control, performance review (SLA, costs etc.)</a:t>
                  </a: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00000000-0008-0000-0A00-0000A00000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5404383" y="1175874"/>
                  <a:ext cx="3889503" cy="795968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 anchor="b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457200" fontAlgn="auto"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lang="en-US" sz="1000" b="1" kern="0" dirty="0">
                      <a:latin typeface="+mn-lt"/>
                      <a:cs typeface="Segoe UI Light" panose="020B0502040204020203" pitchFamily="34" charset="0"/>
                    </a:rPr>
                    <a:t>Monthly Progress Report / Planning Meeting</a:t>
                  </a:r>
                </a:p>
                <a:p>
                  <a:pPr defTabSz="457200" fontAlgn="auto"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lang="en-US" sz="1000" b="1" kern="0" dirty="0">
                      <a:latin typeface="+mn-lt"/>
                      <a:cs typeface="Segoe UI Light" panose="020B0502040204020203" pitchFamily="34" charset="0"/>
                    </a:rPr>
                    <a:t>Time:</a:t>
                  </a:r>
                  <a:r>
                    <a:rPr lang="en-US" sz="1000" kern="0" dirty="0">
                      <a:latin typeface="+mn-lt"/>
                      <a:cs typeface="Segoe UI Light" panose="020B0502040204020203" pitchFamily="34" charset="0"/>
                    </a:rPr>
                    <a:t> End of Month</a:t>
                  </a:r>
                  <a:endParaRPr lang="en-US" sz="1000" b="1" kern="0" dirty="0">
                    <a:latin typeface="+mn-lt"/>
                    <a:cs typeface="Segoe UI Light" panose="020B0502040204020203" pitchFamily="34" charset="0"/>
                  </a:endParaRPr>
                </a:p>
                <a:p>
                  <a:pPr defTabSz="457200" fontAlgn="auto">
                    <a:spcAft>
                      <a:spcPts val="0"/>
                    </a:spcAft>
                    <a:buFont typeface="Wingdings" pitchFamily="2" charset="2"/>
                    <a:buNone/>
                    <a:defRPr/>
                  </a:pPr>
                  <a:r>
                    <a:rPr lang="en-US" sz="1000" b="1" kern="0" dirty="0">
                      <a:latin typeface="+mn-lt"/>
                      <a:cs typeface="Segoe UI Light" panose="020B0502040204020203" pitchFamily="34" charset="0"/>
                    </a:rPr>
                    <a:t>Agenda:</a:t>
                  </a:r>
                  <a:r>
                    <a:rPr lang="en-US" sz="1000" kern="0" dirty="0">
                      <a:latin typeface="+mn-lt"/>
                      <a:cs typeface="Segoe UI Light" panose="020B0502040204020203" pitchFamily="34" charset="0"/>
                    </a:rPr>
                    <a:t> review of forecast versus actuals, resource capacity review, rolling forecast, prioritizing, delivery progress, escalation</a:t>
                  </a:r>
                </a:p>
              </p:txBody>
            </p:sp>
          </p:grp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0000000-0008-0000-0A00-00008300000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525642" y="0"/>
                <a:ext cx="2595758" cy="108358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square" anchor="b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en-US" sz="1000" b="1" kern="0" dirty="0">
                    <a:solidFill>
                      <a:sysClr val="windowText" lastClr="000000"/>
                    </a:solidFill>
                    <a:cs typeface="Segoe UI Light" panose="020B0502040204020203" pitchFamily="34" charset="0"/>
                  </a:rPr>
                  <a:t>Customer</a:t>
                </a:r>
                <a:r>
                  <a:rPr lang="en-US" sz="1000" b="1" kern="0" dirty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rPr>
                  <a:t>: </a:t>
                </a:r>
                <a:r>
                  <a:rPr lang="en-US" sz="1000" kern="0" dirty="0">
                    <a:solidFill>
                      <a:sysClr val="windowText" lastClr="000000"/>
                    </a:solidFill>
                    <a:cs typeface="Segoe UI Light" panose="020B0502040204020203" pitchFamily="34" charset="0"/>
                  </a:rPr>
                  <a:t>Project Director/Senior Manager</a:t>
                </a:r>
                <a:endParaRPr lang="en-US" sz="1000" kern="0" dirty="0">
                  <a:solidFill>
                    <a:srgbClr val="727272"/>
                  </a:solidFill>
                  <a:cs typeface="Segoe UI Light" panose="020B0502040204020203" pitchFamily="34" charset="0"/>
                </a:endParaRPr>
              </a:p>
              <a:p>
                <a:pPr defTabSz="457200" fontAlgn="auto">
                  <a:spcAft>
                    <a:spcPts val="0"/>
                  </a:spcAft>
                  <a:buFont typeface="Wingdings" pitchFamily="2" charset="2"/>
                  <a:buNone/>
                  <a:defRPr/>
                </a:pPr>
                <a:r>
                  <a:rPr lang="en-US" sz="1000" b="1" kern="0" dirty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rPr>
                  <a:t>FPT: </a:t>
                </a:r>
                <a:r>
                  <a:rPr lang="en-US" sz="1000" kern="0" dirty="0">
                    <a:solidFill>
                      <a:sysClr val="windowText" lastClr="000000"/>
                    </a:solidFill>
                    <a:cs typeface="Segoe UI Light" panose="020B0502040204020203" pitchFamily="34" charset="0"/>
                  </a:rPr>
                  <a:t>Project Director/Senior Manager</a:t>
                </a:r>
                <a:endParaRPr lang="en-US" sz="1000" kern="0" dirty="0">
                  <a:solidFill>
                    <a:srgbClr val="727272"/>
                  </a:solidFill>
                  <a:latin typeface="+mn-lt"/>
                  <a:cs typeface="Segoe UI Light" panose="020B0502040204020203" pitchFamily="34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0000000-0008-0000-0A00-00008400000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525636" y="880042"/>
                <a:ext cx="2572049" cy="108358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square" anchor="b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en-US" sz="1000" b="1" kern="0" dirty="0">
                    <a:solidFill>
                      <a:sysClr val="windowText" lastClr="000000"/>
                    </a:solidFill>
                    <a:cs typeface="Segoe UI Light" panose="020B0502040204020203" pitchFamily="34" charset="0"/>
                  </a:rPr>
                  <a:t>Customer</a:t>
                </a:r>
                <a:r>
                  <a:rPr lang="en-US" sz="1000" b="1" kern="0" dirty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rPr>
                  <a:t>: </a:t>
                </a:r>
                <a:r>
                  <a:rPr lang="en-US" sz="1000" kern="0" dirty="0">
                    <a:solidFill>
                      <a:sysClr val="windowText" lastClr="000000"/>
                    </a:solidFill>
                    <a:cs typeface="Segoe UI Light" panose="020B0502040204020203" pitchFamily="34" charset="0"/>
                  </a:rPr>
                  <a:t>Project Director/Senior Manager</a:t>
                </a:r>
                <a:endParaRPr lang="en-US" sz="1000" kern="0" dirty="0">
                  <a:solidFill>
                    <a:srgbClr val="727272"/>
                  </a:solidFill>
                  <a:cs typeface="Segoe UI Light" panose="020B0502040204020203" pitchFamily="34" charset="0"/>
                </a:endParaRPr>
              </a:p>
              <a:p>
                <a:pPr>
                  <a:defRPr/>
                </a:pPr>
                <a:r>
                  <a:rPr lang="en-US" sz="1000" b="1" kern="0" dirty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rPr>
                  <a:t>FPT: </a:t>
                </a:r>
                <a:r>
                  <a:rPr lang="en-US" sz="1000" kern="0" dirty="0">
                    <a:solidFill>
                      <a:sysClr val="windowText" lastClr="000000"/>
                    </a:solidFill>
                    <a:cs typeface="Segoe UI Light" panose="020B0502040204020203" pitchFamily="34" charset="0"/>
                  </a:rPr>
                  <a:t>Account Manager/Delivery Manager, PM</a:t>
                </a:r>
                <a:endParaRPr lang="en-US" sz="1000" kern="0" dirty="0">
                  <a:solidFill>
                    <a:srgbClr val="727272"/>
                  </a:solidFill>
                  <a:cs typeface="Segoe UI Light" panose="020B0502040204020203" pitchFamily="34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0000000-0008-0000-0A00-00008500000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525637" y="1760073"/>
                <a:ext cx="2572048" cy="108358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square" anchor="b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457200" fontAlgn="auto">
                  <a:spcAft>
                    <a:spcPts val="0"/>
                  </a:spcAft>
                  <a:buFont typeface="Wingdings" pitchFamily="2" charset="2"/>
                  <a:buNone/>
                  <a:defRPr/>
                </a:pPr>
                <a:r>
                  <a:rPr lang="en-US" sz="1000" b="1" kern="0" dirty="0">
                    <a:solidFill>
                      <a:sysClr val="windowText" lastClr="000000"/>
                    </a:solidFill>
                    <a:cs typeface="Segoe UI Light" panose="020B0502040204020203" pitchFamily="34" charset="0"/>
                  </a:rPr>
                  <a:t>Customer</a:t>
                </a:r>
                <a:r>
                  <a:rPr lang="en-US" sz="1000" b="1" kern="0" dirty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rPr>
                  <a:t>: </a:t>
                </a:r>
                <a:r>
                  <a:rPr lang="en-US" sz="1000" kern="0" dirty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rPr>
                  <a:t>PM</a:t>
                </a:r>
              </a:p>
              <a:p>
                <a:pPr defTabSz="457200" fontAlgn="auto">
                  <a:spcAft>
                    <a:spcPts val="0"/>
                  </a:spcAft>
                  <a:buFont typeface="Wingdings" pitchFamily="2" charset="2"/>
                  <a:buNone/>
                  <a:defRPr/>
                </a:pPr>
                <a:r>
                  <a:rPr lang="en-US" sz="1000" b="1" kern="0" dirty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rPr>
                  <a:t>FPT: </a:t>
                </a:r>
                <a:r>
                  <a:rPr lang="en-US" sz="1000" kern="0" dirty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rPr>
                  <a:t>PM, PMO, Onsite Leader</a:t>
                </a:r>
                <a:endParaRPr lang="en-US" sz="1000" kern="0" dirty="0">
                  <a:solidFill>
                    <a:srgbClr val="727272"/>
                  </a:solidFill>
                  <a:latin typeface="+mn-lt"/>
                  <a:cs typeface="Segoe UI Light" panose="020B0502040204020203" pitchFamily="34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0000000-0008-0000-0A00-00008600000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525642" y="2602502"/>
                <a:ext cx="2546765" cy="108358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square" anchor="b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457200" fontAlgn="auto">
                  <a:spcAft>
                    <a:spcPts val="0"/>
                  </a:spcAft>
                  <a:buFont typeface="Wingdings" pitchFamily="2" charset="2"/>
                  <a:buNone/>
                  <a:defRPr/>
                </a:pPr>
                <a:r>
                  <a:rPr lang="en-US" sz="1000" b="1" kern="0" dirty="0">
                    <a:solidFill>
                      <a:sysClr val="windowText" lastClr="000000"/>
                    </a:solidFill>
                    <a:cs typeface="Segoe UI Light" panose="020B0502040204020203" pitchFamily="34" charset="0"/>
                  </a:rPr>
                  <a:t>Customer</a:t>
                </a:r>
                <a:r>
                  <a:rPr lang="en-US" sz="1000" b="1" kern="0" dirty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rPr>
                  <a:t>: </a:t>
                </a:r>
                <a:r>
                  <a:rPr lang="en-US" sz="1000" kern="0" dirty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rPr>
                  <a:t>PM / Related PIC</a:t>
                </a:r>
              </a:p>
              <a:p>
                <a:pPr defTabSz="457200" fontAlgn="auto">
                  <a:spcAft>
                    <a:spcPts val="0"/>
                  </a:spcAft>
                  <a:buFont typeface="Wingdings" pitchFamily="2" charset="2"/>
                  <a:buNone/>
                  <a:defRPr/>
                </a:pPr>
                <a:r>
                  <a:rPr lang="en-US" sz="1000" b="1" kern="0" dirty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rPr>
                  <a:t>FPT: </a:t>
                </a:r>
                <a:r>
                  <a:rPr lang="en-US" sz="1000" kern="0" dirty="0">
                    <a:solidFill>
                      <a:sysClr val="windowText" lastClr="000000"/>
                    </a:solidFill>
                    <a:latin typeface="+mn-lt"/>
                    <a:cs typeface="Segoe UI Light" panose="020B0502040204020203" pitchFamily="34" charset="0"/>
                  </a:rPr>
                  <a:t>PM / Related PIC</a:t>
                </a:r>
                <a:endParaRPr lang="en-US" sz="1000" kern="0" dirty="0">
                  <a:solidFill>
                    <a:srgbClr val="727272"/>
                  </a:solidFill>
                  <a:latin typeface="+mn-lt"/>
                  <a:cs typeface="Segoe UI Light" panose="020B0502040204020203" pitchFamily="34" charset="0"/>
                </a:endParaRPr>
              </a:p>
            </p:txBody>
          </p:sp>
          <p:sp>
            <p:nvSpPr>
              <p:cNvPr id="15" name="Line 12">
                <a:extLst>
                  <a:ext uri="{FF2B5EF4-FFF2-40B4-BE49-F238E27FC236}">
                    <a16:creationId xmlns:a16="http://schemas.microsoft.com/office/drawing/2014/main" id="{00000000-0008-0000-0A00-000087000000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 flipV="1">
                <a:off x="6121400" y="635163"/>
                <a:ext cx="0" cy="3115078"/>
              </a:xfrm>
              <a:prstGeom prst="line">
                <a:avLst/>
              </a:prstGeom>
              <a:noFill/>
              <a:ln w="9525">
                <a:solidFill>
                  <a:srgbClr val="7889FB"/>
                </a:solidFill>
                <a:round/>
                <a:headEnd/>
                <a:tailEnd/>
              </a:ln>
              <a:effectLst/>
            </p:spPr>
            <p:txBody>
              <a:bodyPr wrap="square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4572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000" kern="0">
                  <a:solidFill>
                    <a:sysClr val="windowText" lastClr="000000"/>
                  </a:solidFill>
                  <a:latin typeface="+mn-lt"/>
                  <a:cs typeface="Segoe UI Light" panose="020B0502040204020203" pitchFamily="34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0000000-0008-0000-0A00-000088000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5637" y="3682847"/>
                <a:ext cx="2595763" cy="301752"/>
              </a:xfrm>
              <a:prstGeom prst="rect">
                <a:avLst/>
              </a:prstGeom>
              <a:solidFill>
                <a:srgbClr val="04516D"/>
              </a:solidFill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+mn-lt"/>
                    <a:cs typeface="Segoe UI Light" panose="020B0502040204020203" pitchFamily="34" charset="0"/>
                  </a:rPr>
                  <a:t>Participants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0000000-0008-0000-0A00-000089000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6191" y="3682847"/>
                <a:ext cx="4429559" cy="301752"/>
              </a:xfrm>
              <a:prstGeom prst="rect">
                <a:avLst/>
              </a:prstGeom>
              <a:solidFill>
                <a:srgbClr val="04516D"/>
              </a:solidFill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+mn-lt"/>
                    <a:cs typeface="Segoe UI Light" panose="020B0502040204020203" pitchFamily="34" charset="0"/>
                  </a:rPr>
                  <a:t>Content</a:t>
                </a: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000000-0008-0000-0A00-000081000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662" y="3682847"/>
              <a:ext cx="2889980" cy="301752"/>
            </a:xfrm>
            <a:prstGeom prst="rect">
              <a:avLst/>
            </a:prstGeom>
            <a:solidFill>
              <a:srgbClr val="04516D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square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b="1">
                  <a:solidFill>
                    <a:schemeClr val="bg1"/>
                  </a:solidFill>
                  <a:latin typeface="+mn-lt"/>
                  <a:cs typeface="Segoe UI Light" panose="020B0502040204020203" pitchFamily="34" charset="0"/>
                </a:rPr>
                <a:t>Frequency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62209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319583-D81D-5D41-AE7F-F06F54217E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Communication Plan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667723" y="842292"/>
            <a:ext cx="10023792" cy="630959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+mn-lt"/>
              </a:rPr>
              <a:t>FPT Meeting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27B089-C848-744A-B8E5-FA2ED5CC8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34221"/>
              </p:ext>
            </p:extLst>
          </p:nvPr>
        </p:nvGraphicFramePr>
        <p:xfrm>
          <a:off x="731522" y="1364192"/>
          <a:ext cx="11129692" cy="41762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11891">
                  <a:extLst>
                    <a:ext uri="{9D8B030D-6E8A-4147-A177-3AD203B41FA5}">
                      <a16:colId xmlns:a16="http://schemas.microsoft.com/office/drawing/2014/main" val="3441368848"/>
                    </a:ext>
                  </a:extLst>
                </a:gridCol>
                <a:gridCol w="1454016">
                  <a:extLst>
                    <a:ext uri="{9D8B030D-6E8A-4147-A177-3AD203B41FA5}">
                      <a16:colId xmlns:a16="http://schemas.microsoft.com/office/drawing/2014/main" val="190377146"/>
                    </a:ext>
                  </a:extLst>
                </a:gridCol>
                <a:gridCol w="2001184">
                  <a:extLst>
                    <a:ext uri="{9D8B030D-6E8A-4147-A177-3AD203B41FA5}">
                      <a16:colId xmlns:a16="http://schemas.microsoft.com/office/drawing/2014/main" val="2281224440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5824">
                  <a:extLst>
                    <a:ext uri="{9D8B030D-6E8A-4147-A177-3AD203B41FA5}">
                      <a16:colId xmlns:a16="http://schemas.microsoft.com/office/drawing/2014/main" val="3187905163"/>
                    </a:ext>
                  </a:extLst>
                </a:gridCol>
                <a:gridCol w="2566434">
                  <a:extLst>
                    <a:ext uri="{9D8B030D-6E8A-4147-A177-3AD203B41FA5}">
                      <a16:colId xmlns:a16="http://schemas.microsoft.com/office/drawing/2014/main" val="18257311"/>
                    </a:ext>
                  </a:extLst>
                </a:gridCol>
              </a:tblGrid>
              <a:tr h="36619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Meeting Type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When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Duration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Attendee</a:t>
                      </a: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1953174444"/>
                  </a:ext>
                </a:extLst>
              </a:tr>
              <a:tr h="42783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ahoma"/>
                        </a:rPr>
                        <a:t>Kick off meeting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One time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Initiation Stage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2hrs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Face to face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WebEx as need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All project team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PM, SM, QA</a:t>
                      </a:r>
                    </a:p>
                  </a:txBody>
                  <a:tcPr marT="45726" marB="45726" anchor="ctr" horzOverflow="overflow"/>
                </a:tc>
                <a:extLst>
                  <a:ext uri="{0D108BD9-81ED-4DB2-BD59-A6C34878D82A}">
                    <a16:rowId xmlns:a16="http://schemas.microsoft.com/office/drawing/2014/main" val="621019063"/>
                  </a:ext>
                </a:extLst>
              </a:tr>
              <a:tr h="23664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ahoma"/>
                        </a:rPr>
                        <a:t>Daily meeting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Daily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 8.45AM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15’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Stand-up Meeting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All project team</a:t>
                      </a:r>
                    </a:p>
                  </a:txBody>
                  <a:tcPr marT="45726" marB="45726" anchor="ctr" horzOverflow="overflow"/>
                </a:tc>
                <a:extLst>
                  <a:ext uri="{0D108BD9-81ED-4DB2-BD59-A6C34878D82A}">
                    <a16:rowId xmlns:a16="http://schemas.microsoft.com/office/drawing/2014/main" val="2800861522"/>
                  </a:ext>
                </a:extLst>
              </a:tr>
              <a:tr h="42783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ahoma"/>
                        </a:rPr>
                        <a:t>Weekly meeting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Weekly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Every Friday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14:00 PM-15:00 PM CST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1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Face to face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WebEx as need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All project team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PM, QA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endParaRPr kumimoji="0" lang="en-US" sz="13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ahoma"/>
                      </a:endParaRPr>
                    </a:p>
                  </a:txBody>
                  <a:tcPr marT="45726" marB="45726" anchor="ctr" horzOverflow="overflow"/>
                </a:tc>
                <a:extLst>
                  <a:ext uri="{0D108BD9-81ED-4DB2-BD59-A6C34878D82A}">
                    <a16:rowId xmlns:a16="http://schemas.microsoft.com/office/drawing/2014/main" val="1598520067"/>
                  </a:ext>
                </a:extLst>
              </a:tr>
              <a:tr h="30423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ahoma"/>
                        </a:rPr>
                        <a:t>Milestone meeting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Milestone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End of Stage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1hr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Face to face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WebEx as need 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All project team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PM, QA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553340500"/>
                  </a:ext>
                </a:extLst>
              </a:tr>
              <a:tr h="23664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CAR meeting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Milestone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1hr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Face to face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All project team</a:t>
                      </a:r>
                    </a:p>
                  </a:txBody>
                  <a:tcPr marT="45726" marB="45726" anchor="ctr" horzOverflow="overflow"/>
                </a:tc>
                <a:extLst>
                  <a:ext uri="{0D108BD9-81ED-4DB2-BD59-A6C34878D82A}">
                    <a16:rowId xmlns:a16="http://schemas.microsoft.com/office/drawing/2014/main" val="2738041925"/>
                  </a:ext>
                </a:extLst>
              </a:tr>
              <a:tr h="92221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Steering Committee Meeting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Monthly/Quarterly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The middle week of next quarter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30’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Face to face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FPT: Account Manager, Delivery Manager, Project Manager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Customer: Project Director/ Senior Manager</a:t>
                      </a:r>
                    </a:p>
                  </a:txBody>
                  <a:tcPr marT="45726" marB="45726" anchor="ctr" horzOverflow="overflow"/>
                </a:tc>
                <a:extLst>
                  <a:ext uri="{0D108BD9-81ED-4DB2-BD59-A6C34878D82A}">
                    <a16:rowId xmlns:a16="http://schemas.microsoft.com/office/drawing/2014/main" val="3793354430"/>
                  </a:ext>
                </a:extLst>
              </a:tr>
              <a:tr h="30424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Project Closing / Postmortem Meeting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One time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 End of project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1.5hr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Face to face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WebEx as need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All project team</a:t>
                      </a:r>
                    </a:p>
                  </a:txBody>
                  <a:tcPr marT="45726" marB="45726" anchor="ctr" horzOverflow="overflow"/>
                </a:tc>
                <a:extLst>
                  <a:ext uri="{0D108BD9-81ED-4DB2-BD59-A6C34878D82A}">
                    <a16:rowId xmlns:a16="http://schemas.microsoft.com/office/drawing/2014/main" val="224638792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31521" y="5698897"/>
            <a:ext cx="11129693" cy="461665"/>
          </a:xfrm>
          <a:prstGeom prst="rect">
            <a:avLst/>
          </a:prstGeom>
          <a:solidFill>
            <a:srgbClr val="FFFF8B"/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cs typeface="Tahoma"/>
              </a:rPr>
              <a:t>Notes*</a:t>
            </a:r>
            <a:r>
              <a:rPr lang="en-US" sz="1200" dirty="0">
                <a:solidFill>
                  <a:srgbClr val="2668B2"/>
                </a:solidFill>
                <a:cs typeface="Tahoma"/>
              </a:rPr>
              <a:t>: to address all critical issues for project we do suggest to host a Steering Meeting monthly/quarterly where in-charged managers from both customer &amp; FPT could discuss and turn any issue in to actions/plan timely.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682734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319583-D81D-5D41-AE7F-F06F54217E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Communication Plan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639028" y="797257"/>
            <a:ext cx="10023792" cy="630959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+mn-lt"/>
              </a:rPr>
              <a:t>FPT – Customer Report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27B089-C848-744A-B8E5-FA2ED5CC8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413592"/>
              </p:ext>
            </p:extLst>
          </p:nvPr>
        </p:nvGraphicFramePr>
        <p:xfrm>
          <a:off x="731521" y="1286207"/>
          <a:ext cx="11129692" cy="17378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28907">
                  <a:extLst>
                    <a:ext uri="{9D8B030D-6E8A-4147-A177-3AD203B41FA5}">
                      <a16:colId xmlns:a16="http://schemas.microsoft.com/office/drawing/2014/main" val="3441368848"/>
                    </a:ext>
                  </a:extLst>
                </a:gridCol>
                <a:gridCol w="1779845">
                  <a:extLst>
                    <a:ext uri="{9D8B030D-6E8A-4147-A177-3AD203B41FA5}">
                      <a16:colId xmlns:a16="http://schemas.microsoft.com/office/drawing/2014/main" val="190377146"/>
                    </a:ext>
                  </a:extLst>
                </a:gridCol>
                <a:gridCol w="1801091">
                  <a:extLst>
                    <a:ext uri="{9D8B030D-6E8A-4147-A177-3AD203B41FA5}">
                      <a16:colId xmlns:a16="http://schemas.microsoft.com/office/drawing/2014/main" val="2281224440"/>
                    </a:ext>
                  </a:extLst>
                </a:gridCol>
                <a:gridCol w="1791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1560">
                  <a:extLst>
                    <a:ext uri="{9D8B030D-6E8A-4147-A177-3AD203B41FA5}">
                      <a16:colId xmlns:a16="http://schemas.microsoft.com/office/drawing/2014/main" val="3187905163"/>
                    </a:ext>
                  </a:extLst>
                </a:gridCol>
                <a:gridCol w="2566434">
                  <a:extLst>
                    <a:ext uri="{9D8B030D-6E8A-4147-A177-3AD203B41FA5}">
                      <a16:colId xmlns:a16="http://schemas.microsoft.com/office/drawing/2014/main" val="18257311"/>
                    </a:ext>
                  </a:extLst>
                </a:gridCol>
              </a:tblGrid>
              <a:tr h="36619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Report Type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When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73025" marR="73025" marT="18415" marB="1841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Template</a:t>
                      </a:r>
                    </a:p>
                  </a:txBody>
                  <a:tcPr marL="73025" marR="73025" marT="18415" marB="18415" anchor="ctr"/>
                </a:tc>
                <a:extLst>
                  <a:ext uri="{0D108BD9-81ED-4DB2-BD59-A6C34878D82A}">
                    <a16:rowId xmlns:a16="http://schemas.microsoft.com/office/drawing/2014/main" val="1953174444"/>
                  </a:ext>
                </a:extLst>
              </a:tr>
              <a:tr h="42783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Weekly report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Weekly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Every Tuesday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Weekly progress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Plan for next week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Project's Risks/Issue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By email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Template weekly report/WBS</a:t>
                      </a:r>
                    </a:p>
                  </a:txBody>
                  <a:tcPr marT="45726" marB="45726" anchor="ctr" horzOverflow="overflow"/>
                </a:tc>
                <a:extLst>
                  <a:ext uri="{0D108BD9-81ED-4DB2-BD59-A6C34878D82A}">
                    <a16:rowId xmlns:a16="http://schemas.microsoft.com/office/drawing/2014/main" val="621019063"/>
                  </a:ext>
                </a:extLst>
              </a:tr>
              <a:tr h="23664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ahoma"/>
                        </a:rPr>
                        <a:t>CAR report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/>
                      </a:endParaRP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 On event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/>
                        </a:rPr>
                        <a:t>Critical Issues Report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By email</a:t>
                      </a:r>
                    </a:p>
                  </a:txBody>
                  <a:tcPr marT="45726" marB="45726" anchor="ctr" horzOverflow="overflow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ahoma"/>
                        </a:rPr>
                        <a:t>CAR Report</a:t>
                      </a:r>
                    </a:p>
                  </a:txBody>
                  <a:tcPr marT="45726" marB="45726" anchor="ctr" horzOverflow="overflow"/>
                </a:tc>
                <a:extLst>
                  <a:ext uri="{0D108BD9-81ED-4DB2-BD59-A6C34878D82A}">
                    <a16:rowId xmlns:a16="http://schemas.microsoft.com/office/drawing/2014/main" val="2800861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2111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319583-D81D-5D41-AE7F-F06F54217E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Communication Methodology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87698" y="963587"/>
            <a:ext cx="7540790" cy="55339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20094" y="1276909"/>
            <a:ext cx="1548225" cy="990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88480" y="3269133"/>
            <a:ext cx="812214" cy="8271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300894" y="1306272"/>
            <a:ext cx="106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cs typeface="Segoe UI Light" panose="020B0502040204020203" pitchFamily="34" charset="0"/>
              </a:rPr>
              <a:t>Project Meeting</a:t>
            </a: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gray">
          <a:xfrm>
            <a:off x="8157403" y="1276909"/>
            <a:ext cx="3620491" cy="106411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defTabSz="45720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400" b="1" kern="0" dirty="0">
                <a:cs typeface="Segoe UI Light" panose="020B0502040204020203" pitchFamily="34" charset="0"/>
              </a:rPr>
              <a:t>Polycom:</a:t>
            </a:r>
            <a:r>
              <a:rPr lang="en-US" sz="1200" kern="0" dirty="0">
                <a:cs typeface="Segoe UI Light" panose="020B0502040204020203" pitchFamily="34" charset="0"/>
              </a:rPr>
              <a:t> setup at project working area</a:t>
            </a:r>
          </a:p>
          <a:p>
            <a:pPr defTabSz="45720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200" kern="0" dirty="0">
                <a:cs typeface="Segoe UI Light" panose="020B0502040204020203" pitchFamily="34" charset="0"/>
              </a:rPr>
              <a:t>Always available for project meeting any time</a:t>
            </a:r>
          </a:p>
          <a:p>
            <a:pPr defTabSz="457200" fontAlgn="auto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1200" kern="0" dirty="0">
              <a:cs typeface="Segoe UI Light" panose="020B0502040204020203" pitchFamily="34" charset="0"/>
            </a:endParaRPr>
          </a:p>
          <a:p>
            <a:pPr defTabSz="45720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200" kern="0" dirty="0">
                <a:cs typeface="Segoe UI Light" panose="020B0502040204020203" pitchFamily="34" charset="0"/>
              </a:rPr>
              <a:t>Others can be used if need: </a:t>
            </a:r>
            <a:r>
              <a:rPr lang="en-US" sz="1400" b="1" kern="0" dirty="0" err="1">
                <a:cs typeface="Segoe UI Light" panose="020B0502040204020203" pitchFamily="34" charset="0"/>
              </a:rPr>
              <a:t>LiveOn</a:t>
            </a:r>
            <a:r>
              <a:rPr lang="en-US" sz="1400" b="1" kern="0" dirty="0">
                <a:cs typeface="Segoe UI Light" panose="020B0502040204020203" pitchFamily="34" charset="0"/>
              </a:rPr>
              <a:t>, MS Teams </a:t>
            </a:r>
            <a:r>
              <a:rPr lang="en-US" sz="1400" kern="0" dirty="0">
                <a:cs typeface="Segoe UI Light" panose="020B0502040204020203" pitchFamily="34" charset="0"/>
              </a:rPr>
              <a:t>(Onsite)</a:t>
            </a:r>
          </a:p>
        </p:txBody>
      </p:sp>
      <p:sp>
        <p:nvSpPr>
          <p:cNvPr id="10" name="Rectangle 24"/>
          <p:cNvSpPr>
            <a:spLocks noChangeArrowheads="1"/>
          </p:cNvSpPr>
          <p:nvPr/>
        </p:nvSpPr>
        <p:spPr bwMode="gray">
          <a:xfrm>
            <a:off x="1262294" y="2866784"/>
            <a:ext cx="2107614" cy="5794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defTabSz="45720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400" b="1" kern="0" dirty="0">
                <a:solidFill>
                  <a:sysClr val="windowText" lastClr="000000"/>
                </a:solidFill>
                <a:cs typeface="Segoe UI Light" panose="020B0502040204020203" pitchFamily="34" charset="0"/>
              </a:rPr>
              <a:t>Encrypt email attachment </a:t>
            </a:r>
            <a:r>
              <a:rPr lang="en-US" sz="1200" kern="0" dirty="0">
                <a:solidFill>
                  <a:sysClr val="windowText" lastClr="000000"/>
                </a:solidFill>
                <a:cs typeface="Segoe UI Light" panose="020B0502040204020203" pitchFamily="34" charset="0"/>
              </a:rPr>
              <a:t>by password</a:t>
            </a:r>
            <a:endParaRPr lang="en-US" sz="1200" kern="0" dirty="0">
              <a:solidFill>
                <a:srgbClr val="727272"/>
              </a:solidFill>
              <a:cs typeface="Segoe UI Light" panose="020B05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30213" y="3398711"/>
            <a:ext cx="106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cs typeface="Segoe UI Light" panose="020B0502040204020203" pitchFamily="34" charset="0"/>
              </a:rPr>
              <a:t>Project Deliver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842" t="16112" r="22105" b="13981"/>
          <a:stretch/>
        </p:blipFill>
        <p:spPr>
          <a:xfrm>
            <a:off x="9035813" y="3792952"/>
            <a:ext cx="914400" cy="762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079" r="-2781" b="19602"/>
          <a:stretch/>
        </p:blipFill>
        <p:spPr>
          <a:xfrm>
            <a:off x="8805707" y="4443330"/>
            <a:ext cx="974139" cy="60960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419" r="-1804" b="16916"/>
          <a:stretch/>
        </p:blipFill>
        <p:spPr>
          <a:xfrm>
            <a:off x="8403123" y="2998955"/>
            <a:ext cx="1399681" cy="914400"/>
          </a:xfrm>
          <a:prstGeom prst="rect">
            <a:avLst/>
          </a:prstGeom>
        </p:spPr>
      </p:pic>
      <p:sp>
        <p:nvSpPr>
          <p:cNvPr id="15" name="Rectangle 24"/>
          <p:cNvSpPr>
            <a:spLocks noChangeArrowheads="1"/>
          </p:cNvSpPr>
          <p:nvPr/>
        </p:nvSpPr>
        <p:spPr bwMode="gray">
          <a:xfrm>
            <a:off x="9687388" y="3203255"/>
            <a:ext cx="2504612" cy="5794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defTabSz="45720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200" kern="0" dirty="0">
                <a:solidFill>
                  <a:sysClr val="windowText" lastClr="000000"/>
                </a:solidFill>
                <a:cs typeface="Segoe UI Light" panose="020B0502040204020203" pitchFamily="34" charset="0"/>
              </a:rPr>
              <a:t>for document sharing</a:t>
            </a:r>
            <a:endParaRPr lang="en-US" sz="1200" kern="0" dirty="0">
              <a:solidFill>
                <a:srgbClr val="727272"/>
              </a:solidFill>
              <a:cs typeface="Segoe UI Light" panose="020B0502040204020203" pitchFamily="34" charset="0"/>
            </a:endParaRPr>
          </a:p>
        </p:txBody>
      </p:sp>
      <p:sp>
        <p:nvSpPr>
          <p:cNvPr id="16" name="Rectangle 24"/>
          <p:cNvSpPr>
            <a:spLocks noChangeArrowheads="1"/>
          </p:cNvSpPr>
          <p:nvPr/>
        </p:nvSpPr>
        <p:spPr bwMode="gray">
          <a:xfrm>
            <a:off x="9701444" y="3904348"/>
            <a:ext cx="2362200" cy="5794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defTabSz="45720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200" kern="0" dirty="0">
                <a:solidFill>
                  <a:sysClr val="windowText" lastClr="000000"/>
                </a:solidFill>
                <a:cs typeface="Segoe UI Light" panose="020B0502040204020203" pitchFamily="34" charset="0"/>
              </a:rPr>
              <a:t>for Q&amp;A, review ticket</a:t>
            </a:r>
            <a:endParaRPr lang="en-US" sz="1200" kern="0" dirty="0">
              <a:solidFill>
                <a:srgbClr val="727272"/>
              </a:solidFill>
              <a:cs typeface="Segoe UI Light" panose="020B0502040204020203" pitchFamily="34" charset="0"/>
            </a:endParaRPr>
          </a:p>
        </p:txBody>
      </p:sp>
      <p:sp>
        <p:nvSpPr>
          <p:cNvPr id="17" name="Rectangle 24"/>
          <p:cNvSpPr>
            <a:spLocks noChangeArrowheads="1"/>
          </p:cNvSpPr>
          <p:nvPr/>
        </p:nvSpPr>
        <p:spPr bwMode="gray">
          <a:xfrm>
            <a:off x="9701444" y="4355053"/>
            <a:ext cx="2362200" cy="5794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defTabSz="45720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200" kern="0" dirty="0">
                <a:solidFill>
                  <a:sysClr val="windowText" lastClr="000000"/>
                </a:solidFill>
                <a:cs typeface="Segoe UI Light" panose="020B0502040204020203" pitchFamily="34" charset="0"/>
              </a:rPr>
              <a:t>for source code sharing</a:t>
            </a:r>
            <a:endParaRPr lang="en-US" sz="1200" kern="0" dirty="0">
              <a:solidFill>
                <a:srgbClr val="727272"/>
              </a:solidFill>
              <a:cs typeface="Segoe UI Light" panose="020B0502040204020203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8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2210" y="5315509"/>
            <a:ext cx="876868" cy="920912"/>
          </a:xfrm>
          <a:prstGeom prst="rect">
            <a:avLst/>
          </a:prstGeom>
          <a:noFill/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19" name="Rectangle 24"/>
          <p:cNvSpPr>
            <a:spLocks noChangeArrowheads="1"/>
          </p:cNvSpPr>
          <p:nvPr/>
        </p:nvSpPr>
        <p:spPr bwMode="gray">
          <a:xfrm>
            <a:off x="6509002" y="5694156"/>
            <a:ext cx="2096777" cy="5794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defTabSz="45720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200" kern="0" dirty="0">
                <a:solidFill>
                  <a:sysClr val="windowText" lastClr="000000"/>
                </a:solidFill>
                <a:cs typeface="Segoe UI Light" panose="020B0502040204020203" pitchFamily="34" charset="0"/>
              </a:rPr>
              <a:t>Using </a:t>
            </a:r>
            <a:r>
              <a:rPr lang="en-US" sz="1400" b="1" kern="0" dirty="0">
                <a:solidFill>
                  <a:sysClr val="windowText" lastClr="000000"/>
                </a:solidFill>
                <a:cs typeface="Segoe UI Light" panose="020B0502040204020203" pitchFamily="34" charset="0"/>
              </a:rPr>
              <a:t>Japanese</a:t>
            </a:r>
            <a:r>
              <a:rPr lang="en-US" sz="1200" kern="0" dirty="0">
                <a:solidFill>
                  <a:sysClr val="windowText" lastClr="000000"/>
                </a:solidFill>
                <a:cs typeface="Segoe UI Light" panose="020B0502040204020203" pitchFamily="34" charset="0"/>
              </a:rPr>
              <a:t> in communication with customer is required</a:t>
            </a:r>
            <a:endParaRPr lang="en-US" sz="1200" kern="0" dirty="0">
              <a:solidFill>
                <a:srgbClr val="727272"/>
              </a:solidFill>
              <a:cs typeface="Segoe UI Light" panose="020B0502040204020203" pitchFamily="34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9881" y="5052931"/>
            <a:ext cx="569555" cy="52799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9381" y="5639101"/>
            <a:ext cx="610055" cy="61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4768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21934E-E87C-0E41-89A2-34962F5637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Communication Plan - Escalation Path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212953772"/>
              </p:ext>
            </p:extLst>
          </p:nvPr>
        </p:nvGraphicFramePr>
        <p:xfrm>
          <a:off x="0" y="1693798"/>
          <a:ext cx="3819970" cy="3916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/>
          <p:cNvSpPr/>
          <p:nvPr/>
        </p:nvSpPr>
        <p:spPr>
          <a:xfrm>
            <a:off x="4374749" y="1532212"/>
            <a:ext cx="7471578" cy="11203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74749" y="1491552"/>
            <a:ext cx="16474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STEERING COMMITTEE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27636" y="1809211"/>
            <a:ext cx="1606918" cy="64607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Project Director/ Senior Manager</a:t>
            </a:r>
          </a:p>
          <a:p>
            <a:pPr algn="ctr"/>
            <a:r>
              <a:rPr lang="en-US" sz="1200" dirty="0"/>
              <a:t>&lt;ABC&gt;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30985" y="1825486"/>
            <a:ext cx="1680974" cy="6284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Account Manager</a:t>
            </a:r>
          </a:p>
          <a:p>
            <a:pPr algn="ctr"/>
            <a:r>
              <a:rPr lang="en-US" sz="1200" dirty="0"/>
              <a:t>&lt;ABC&gt;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30603" y="1812364"/>
            <a:ext cx="1716629" cy="669729"/>
          </a:xfrm>
          <a:prstGeom prst="roundRect">
            <a:avLst/>
          </a:prstGeom>
          <a:solidFill>
            <a:srgbClr val="FF69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Project Director/ Senior Manager</a:t>
            </a:r>
          </a:p>
          <a:p>
            <a:pPr algn="ctr"/>
            <a:r>
              <a:rPr lang="en-US" sz="1200" dirty="0"/>
              <a:t>&lt;ABC&gt;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2177" y="2803528"/>
            <a:ext cx="7471578" cy="30345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460474" y="2907544"/>
            <a:ext cx="13844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PROJECT DELIVERY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10036" y="3401173"/>
            <a:ext cx="1578428" cy="629637"/>
          </a:xfrm>
          <a:prstGeom prst="roundRect">
            <a:avLst/>
          </a:prstGeom>
          <a:solidFill>
            <a:srgbClr val="FF69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Project manager</a:t>
            </a:r>
          </a:p>
          <a:p>
            <a:pPr algn="ctr"/>
            <a:r>
              <a:rPr lang="en-US" sz="1200" dirty="0"/>
              <a:t>&lt;ABC&gt;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6125" y="5053468"/>
            <a:ext cx="1535493" cy="56992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SME/Project Team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3903" y="3437727"/>
            <a:ext cx="1578428" cy="547929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Delivery Manager</a:t>
            </a:r>
          </a:p>
          <a:p>
            <a:pPr algn="ctr"/>
            <a:r>
              <a:rPr lang="en-US" sz="1200" dirty="0"/>
              <a:t>&lt;ABC&gt;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35068" y="3437727"/>
            <a:ext cx="1578428" cy="55059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Project Manager</a:t>
            </a:r>
          </a:p>
          <a:p>
            <a:pPr algn="ctr"/>
            <a:r>
              <a:rPr lang="en-US" sz="1200" dirty="0"/>
              <a:t>&lt;ABC&gt;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49047" y="4399437"/>
            <a:ext cx="1698185" cy="751723"/>
          </a:xfrm>
          <a:prstGeom prst="roundRect">
            <a:avLst/>
          </a:prstGeom>
          <a:solidFill>
            <a:srgbClr val="FF69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Project Team</a:t>
            </a:r>
          </a:p>
          <a:p>
            <a:pPr algn="ctr"/>
            <a:r>
              <a:rPr lang="en-US" sz="1400" dirty="0"/>
              <a:t>(TL, SA, BA, Dev, Test…)</a:t>
            </a:r>
            <a:endParaRPr lang="en-US" sz="1200" dirty="0"/>
          </a:p>
        </p:txBody>
      </p:sp>
      <p:sp>
        <p:nvSpPr>
          <p:cNvPr id="25" name="Rounded Rectangle 24"/>
          <p:cNvSpPr/>
          <p:nvPr/>
        </p:nvSpPr>
        <p:spPr>
          <a:xfrm>
            <a:off x="8448837" y="1008652"/>
            <a:ext cx="1076140" cy="2794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Customer</a:t>
            </a:r>
            <a:endParaRPr lang="en-US" sz="1200" dirty="0"/>
          </a:p>
        </p:txBody>
      </p:sp>
      <p:sp>
        <p:nvSpPr>
          <p:cNvPr id="26" name="Rounded Rectangle 25"/>
          <p:cNvSpPr/>
          <p:nvPr/>
        </p:nvSpPr>
        <p:spPr>
          <a:xfrm>
            <a:off x="10758275" y="1015892"/>
            <a:ext cx="1076140" cy="279485"/>
          </a:xfrm>
          <a:prstGeom prst="roundRect">
            <a:avLst/>
          </a:prstGeom>
          <a:solidFill>
            <a:srgbClr val="FF69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FPT Offshore</a:t>
            </a:r>
            <a:endParaRPr lang="en-US" sz="1200" dirty="0"/>
          </a:p>
        </p:txBody>
      </p:sp>
      <p:sp>
        <p:nvSpPr>
          <p:cNvPr id="27" name="Rounded Rectangle 26"/>
          <p:cNvSpPr/>
          <p:nvPr/>
        </p:nvSpPr>
        <p:spPr>
          <a:xfrm>
            <a:off x="9603556" y="1010953"/>
            <a:ext cx="1076140" cy="279485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FPT Onsite</a:t>
            </a:r>
            <a:endParaRPr lang="en-US" sz="1200" dirty="0"/>
          </a:p>
        </p:txBody>
      </p:sp>
      <p:cxnSp>
        <p:nvCxnSpPr>
          <p:cNvPr id="29" name="Elbow Connector 28"/>
          <p:cNvCxnSpPr>
            <a:stCxn id="14" idx="2"/>
            <a:endCxn id="23" idx="0"/>
          </p:cNvCxnSpPr>
          <p:nvPr/>
        </p:nvCxnSpPr>
        <p:spPr>
          <a:xfrm rot="5400000">
            <a:off x="10514382" y="4214568"/>
            <a:ext cx="368627" cy="111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17" idx="1"/>
            <a:endCxn id="19" idx="3"/>
          </p:cNvCxnSpPr>
          <p:nvPr/>
        </p:nvCxnSpPr>
        <p:spPr>
          <a:xfrm rot="10800000" flipV="1">
            <a:off x="6813497" y="3711691"/>
            <a:ext cx="770407" cy="133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/>
          <p:cNvCxnSpPr>
            <a:stCxn id="17" idx="0"/>
            <a:endCxn id="8" idx="2"/>
          </p:cNvCxnSpPr>
          <p:nvPr/>
        </p:nvCxnSpPr>
        <p:spPr>
          <a:xfrm rot="16200000" flipV="1">
            <a:off x="7880420" y="2945029"/>
            <a:ext cx="983751" cy="164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9" idx="2"/>
            <a:endCxn id="14" idx="0"/>
          </p:cNvCxnSpPr>
          <p:nvPr/>
        </p:nvCxnSpPr>
        <p:spPr>
          <a:xfrm>
            <a:off x="10688918" y="2482093"/>
            <a:ext cx="10332" cy="919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7" idx="3"/>
            <a:endCxn id="14" idx="1"/>
          </p:cNvCxnSpPr>
          <p:nvPr/>
        </p:nvCxnSpPr>
        <p:spPr>
          <a:xfrm>
            <a:off x="9162331" y="3711692"/>
            <a:ext cx="747705" cy="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>
            <a:stCxn id="19" idx="1"/>
            <a:endCxn id="16" idx="1"/>
          </p:cNvCxnSpPr>
          <p:nvPr/>
        </p:nvCxnSpPr>
        <p:spPr>
          <a:xfrm rot="10800000" flipH="1" flipV="1">
            <a:off x="5235067" y="3713023"/>
            <a:ext cx="21057" cy="1625410"/>
          </a:xfrm>
          <a:prstGeom prst="bentConnector3">
            <a:avLst>
              <a:gd name="adj1" fmla="val -108562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/>
          <p:nvPr/>
        </p:nvCxnSpPr>
        <p:spPr>
          <a:xfrm rot="10800000" flipV="1">
            <a:off x="6031096" y="3968642"/>
            <a:ext cx="3903091" cy="806656"/>
          </a:xfrm>
          <a:prstGeom prst="bentConnector3">
            <a:avLst>
              <a:gd name="adj1" fmla="val 1734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6031424" y="3999593"/>
            <a:ext cx="8907" cy="798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8" idx="3"/>
            <a:endCxn id="9" idx="1"/>
          </p:cNvCxnSpPr>
          <p:nvPr/>
        </p:nvCxnSpPr>
        <p:spPr>
          <a:xfrm>
            <a:off x="9211959" y="2139731"/>
            <a:ext cx="618644" cy="7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endCxn id="8" idx="1"/>
          </p:cNvCxnSpPr>
          <p:nvPr/>
        </p:nvCxnSpPr>
        <p:spPr>
          <a:xfrm>
            <a:off x="6834554" y="2132249"/>
            <a:ext cx="696431" cy="74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6022188" y="2453976"/>
            <a:ext cx="0" cy="9837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7375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0F7981-14A1-CE43-BB43-50C0ABEA096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Risks &amp; Mitigation Plan</a:t>
            </a:r>
          </a:p>
        </p:txBody>
      </p:sp>
      <p:graphicFrame>
        <p:nvGraphicFramePr>
          <p:cNvPr id="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958170"/>
              </p:ext>
            </p:extLst>
          </p:nvPr>
        </p:nvGraphicFramePr>
        <p:xfrm>
          <a:off x="731521" y="982500"/>
          <a:ext cx="11097035" cy="321982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57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2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915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778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200" b="1" u="none" strike="noStrike" dirty="0">
                          <a:effectLst/>
                        </a:rPr>
                        <a:t>No.</a:t>
                      </a:r>
                      <a:endParaRPr lang="it-IT" sz="1200" b="1" i="0" u="none" strike="noStrike" dirty="0">
                        <a:solidFill>
                          <a:srgbClr val="FFFFFF"/>
                        </a:solidFill>
                        <a:effectLst/>
                        <a:latin typeface="Helvetica" charset="0"/>
                      </a:endParaRPr>
                    </a:p>
                  </a:txBody>
                  <a:tcPr marL="72000" marR="0" marT="635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Risk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Helvetica" charset="0"/>
                      </a:endParaRPr>
                    </a:p>
                  </a:txBody>
                  <a:tcPr marL="72000" marR="0" marT="635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Helvetica" charset="0"/>
                        </a:rPr>
                        <a:t>Severity</a:t>
                      </a:r>
                    </a:p>
                  </a:txBody>
                  <a:tcPr marL="72000" marR="0" marT="635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Mitigation Plan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Helvetica" charset="0"/>
                      </a:endParaRPr>
                    </a:p>
                  </a:txBody>
                  <a:tcPr marL="72000" marR="0" marT="635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41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Helvetica" charset="0"/>
                      </a:endParaRPr>
                    </a:p>
                  </a:txBody>
                  <a:tcPr marL="72000" marR="0" marT="635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&lt;Risk description 1&gt;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Helvetica" charset="0"/>
                      </a:endParaRPr>
                    </a:p>
                  </a:txBody>
                  <a:tcPr marL="72000" marR="0" marT="635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" charset="0"/>
                        </a:rPr>
                        <a:t>&lt;Severity&gt;</a:t>
                      </a:r>
                    </a:p>
                  </a:txBody>
                  <a:tcPr marL="72000" marR="0" marT="635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&lt;Mitigation plan 1&gt;</a:t>
                      </a:r>
                      <a:b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  <a:b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Helvetica" charset="0"/>
                      </a:endParaRPr>
                    </a:p>
                  </a:txBody>
                  <a:tcPr marL="72000" marR="0" marT="635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9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Helvetica" charset="0"/>
                      </a:endParaRPr>
                    </a:p>
                  </a:txBody>
                  <a:tcPr marL="72000" marR="0" marT="635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&lt;Risk description 2&gt;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Helvetica" charset="0"/>
                      </a:endParaRPr>
                    </a:p>
                  </a:txBody>
                  <a:tcPr marL="72000" marR="0" marT="635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&lt;Severity&gt;</a:t>
                      </a:r>
                    </a:p>
                  </a:txBody>
                  <a:tcPr marL="72000" marR="0" marT="635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&lt;Mitigation plan 2&gt;</a:t>
                      </a:r>
                    </a:p>
                  </a:txBody>
                  <a:tcPr marL="72000" marR="0" marT="635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49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Helvetica" charset="0"/>
                      </a:endParaRPr>
                    </a:p>
                  </a:txBody>
                  <a:tcPr marL="72000" marR="0" marT="635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&lt;Risk description 3&gt;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Helvetica" charset="0"/>
                      </a:endParaRPr>
                    </a:p>
                  </a:txBody>
                  <a:tcPr marL="72000" marR="0" marT="635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&lt;Severity&gt;</a:t>
                      </a:r>
                    </a:p>
                  </a:txBody>
                  <a:tcPr marL="72000" marR="0" marT="635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&lt;Mitigation plan 3&gt;</a:t>
                      </a:r>
                    </a:p>
                    <a:p>
                      <a:pPr algn="l" fontAlgn="ctr"/>
                      <a:r>
                        <a:rPr lang="en-US" sz="12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72000" marR="0" marT="635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532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22604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2725F0-F0DA-194B-B45D-95A0BA25F3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Assumptions &amp; Constraints</a:t>
            </a:r>
          </a:p>
        </p:txBody>
      </p:sp>
      <p:graphicFrame>
        <p:nvGraphicFramePr>
          <p:cNvPr id="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8881181"/>
              </p:ext>
            </p:extLst>
          </p:nvPr>
        </p:nvGraphicFramePr>
        <p:xfrm>
          <a:off x="731521" y="980473"/>
          <a:ext cx="11129692" cy="256623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2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0304">
                  <a:extLst>
                    <a:ext uri="{9D8B030D-6E8A-4147-A177-3AD203B41FA5}">
                      <a16:colId xmlns:a16="http://schemas.microsoft.com/office/drawing/2014/main" val="588798707"/>
                    </a:ext>
                  </a:extLst>
                </a:gridCol>
              </a:tblGrid>
              <a:tr h="283028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200" b="1" u="none" strike="noStrike" dirty="0">
                          <a:effectLst/>
                          <a:latin typeface="+mn-lt"/>
                        </a:rPr>
                        <a:t>No.</a:t>
                      </a:r>
                      <a:endParaRPr lang="it-IT" sz="12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72000" marR="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+mn-lt"/>
                        </a:rPr>
                        <a:t>Description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72000" marR="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Type</a:t>
                      </a:r>
                    </a:p>
                  </a:txBody>
                  <a:tcPr marL="72000" marR="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82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cs typeface="Segoe UI Light" panose="020B0502040204020203" pitchFamily="34" charset="0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&lt;Assumption/Constraint description 1&gt;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Constraint</a:t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5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cs typeface="Segoe UI Light" panose="020B0502040204020203" pitchFamily="34" charset="0"/>
                        </a:rPr>
                        <a:t>2</a:t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&lt;Assumption/Constraint description 2&gt;</a:t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Constraint</a:t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82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cs typeface="Segoe UI Light" panose="020B0502040204020203" pitchFamily="34" charset="0"/>
                        </a:rPr>
                        <a:t>3</a:t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&lt;Assumption/Constraint description 3&gt;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Constraint</a:t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532180"/>
                  </a:ext>
                </a:extLst>
              </a:tr>
              <a:tr h="3585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cs typeface="Segoe UI Light" panose="020B0502040204020203" pitchFamily="34" charset="0"/>
                        </a:rPr>
                        <a:t>4</a:t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&lt;Assumption/Constraint description 4&gt;</a:t>
                      </a: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Assumption</a:t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5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cs typeface="Segoe UI Light" panose="020B0502040204020203" pitchFamily="34" charset="0"/>
                        </a:rPr>
                        <a:t>5</a:t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&lt;Assumption/Constraint description 5&gt;</a:t>
                      </a: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r>
                        <a:rPr lang="en-US" sz="12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Assumption</a:t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53038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2725F0-F0DA-194B-B45D-95A0BA25F3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Project Rules</a:t>
            </a:r>
          </a:p>
        </p:txBody>
      </p:sp>
      <p:graphicFrame>
        <p:nvGraphicFramePr>
          <p:cNvPr id="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9326594"/>
              </p:ext>
            </p:extLst>
          </p:nvPr>
        </p:nvGraphicFramePr>
        <p:xfrm>
          <a:off x="731521" y="980473"/>
          <a:ext cx="11129692" cy="3531371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82668">
                  <a:extLst>
                    <a:ext uri="{9D8B030D-6E8A-4147-A177-3AD203B41FA5}">
                      <a16:colId xmlns:a16="http://schemas.microsoft.com/office/drawing/2014/main" val="588798707"/>
                    </a:ext>
                  </a:extLst>
                </a:gridCol>
              </a:tblGrid>
              <a:tr h="283028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200" b="1" u="none" strike="noStrike" dirty="0">
                          <a:effectLst/>
                          <a:latin typeface="+mn-lt"/>
                        </a:rPr>
                        <a:t>No.</a:t>
                      </a:r>
                      <a:endParaRPr lang="it-IT" sz="12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72000" marR="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lt1"/>
                          </a:solidFill>
                          <a:effectLst/>
                          <a:latin typeface="+mn-lt"/>
                        </a:rPr>
                        <a:t>Type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72000" marR="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Description</a:t>
                      </a:r>
                    </a:p>
                  </a:txBody>
                  <a:tcPr marL="72000" marR="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82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cs typeface="Segoe UI Light" panose="020B0502040204020203" pitchFamily="34" charset="0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Meeting</a:t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Be on time for all team meetings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Avoid informal/social talk during team meetings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Team leader must create and disseminate agendas for each team meeting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Meeting</a:t>
                      </a:r>
                      <a:r>
                        <a:rPr lang="en-US" sz="12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minute must be sent out after end of meeting 1 day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5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cs typeface="Segoe UI Light" panose="020B0502040204020203" pitchFamily="34" charset="0"/>
                        </a:rPr>
                        <a:t>2</a:t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Project Reward</a:t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Refer to Project Productivity/ Quality Campaign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82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cs typeface="Segoe UI Light" panose="020B0502040204020203" pitchFamily="34" charset="0"/>
                        </a:rPr>
                        <a:t>3</a:t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Knowledge sharing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Team leader must share knowledge by selected topic every 2 weeks</a:t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532180"/>
                  </a:ext>
                </a:extLst>
              </a:tr>
              <a:tr h="3585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cs typeface="Segoe UI Light" panose="020B0502040204020203" pitchFamily="34" charset="0"/>
                        </a:rPr>
                        <a:t>4</a:t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Security</a:t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1. Follow strictly security rules of company and customer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2. Do not use </a:t>
                      </a:r>
                      <a:r>
                        <a:rPr lang="en-US" sz="12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Fsoft</a:t>
                      </a: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email to sign up for </a:t>
                      </a:r>
                      <a:r>
                        <a:rPr lang="en-US" sz="12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Github</a:t>
                      </a: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without approval by BUL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3. Do not use blacklist software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4. Only use Open source with customer approval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5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  <a:cs typeface="Segoe UI Light" panose="020B0502040204020203" pitchFamily="34" charset="0"/>
                        </a:rPr>
                        <a:t>5</a:t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Attitude</a:t>
                      </a: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Keep a positive attitude toward the team, individual members, projects and course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Confront issues directly and promptly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Take high responsibility</a:t>
                      </a:r>
                      <a:r>
                        <a:rPr lang="en-US" sz="12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 task commitment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6812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634678"/>
              </p:ext>
            </p:extLst>
          </p:nvPr>
        </p:nvGraphicFramePr>
        <p:xfrm>
          <a:off x="504416" y="1810193"/>
          <a:ext cx="7156783" cy="482448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39011">
                  <a:extLst>
                    <a:ext uri="{9D8B030D-6E8A-4147-A177-3AD203B41FA5}">
                      <a16:colId xmlns:a16="http://schemas.microsoft.com/office/drawing/2014/main" val="1484967022"/>
                    </a:ext>
                  </a:extLst>
                </a:gridCol>
                <a:gridCol w="1197429">
                  <a:extLst>
                    <a:ext uri="{9D8B030D-6E8A-4147-A177-3AD203B41FA5}">
                      <a16:colId xmlns:a16="http://schemas.microsoft.com/office/drawing/2014/main" val="1267115209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260324869"/>
                    </a:ext>
                  </a:extLst>
                </a:gridCol>
                <a:gridCol w="2100943">
                  <a:extLst>
                    <a:ext uri="{9D8B030D-6E8A-4147-A177-3AD203B41FA5}">
                      <a16:colId xmlns:a16="http://schemas.microsoft.com/office/drawing/2014/main" val="924294043"/>
                    </a:ext>
                  </a:extLst>
                </a:gridCol>
              </a:tblGrid>
              <a:tr h="42243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User/Customer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Change Assessment 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Delivery</a:t>
                      </a:r>
                      <a:r>
                        <a:rPr lang="en-US" sz="1200" baseline="0" dirty="0"/>
                        <a:t> Team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025505"/>
                  </a:ext>
                </a:extLst>
              </a:tr>
              <a:tr h="599093">
                <a:tc>
                  <a:txBody>
                    <a:bodyPr/>
                    <a:lstStyle/>
                    <a:p>
                      <a:r>
                        <a:rPr lang="en-US" sz="1000" dirty="0"/>
                        <a:t>Creation &amp; Log</a:t>
                      </a:r>
                      <a:endParaRPr lang="en-US" sz="1000" b="1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1899914"/>
                  </a:ext>
                </a:extLst>
              </a:tr>
              <a:tr h="739148">
                <a:tc>
                  <a:txBody>
                    <a:bodyPr/>
                    <a:lstStyle/>
                    <a:p>
                      <a:r>
                        <a:rPr lang="en-US" sz="1000" dirty="0"/>
                        <a:t>Assessment</a:t>
                      </a:r>
                      <a:endParaRPr lang="en-US" sz="1000" b="1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78735"/>
                  </a:ext>
                </a:extLst>
              </a:tr>
              <a:tr h="1119329">
                <a:tc>
                  <a:txBody>
                    <a:bodyPr/>
                    <a:lstStyle/>
                    <a:p>
                      <a:r>
                        <a:rPr lang="en-US" sz="1000" dirty="0"/>
                        <a:t>Authorization</a:t>
                      </a:r>
                      <a:endParaRPr lang="en-US" sz="1000" b="1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522034"/>
                  </a:ext>
                </a:extLst>
              </a:tr>
              <a:tr h="1134188">
                <a:tc>
                  <a:txBody>
                    <a:bodyPr/>
                    <a:lstStyle/>
                    <a:p>
                      <a:r>
                        <a:rPr lang="en-US" sz="1000" dirty="0"/>
                        <a:t>Implementation</a:t>
                      </a:r>
                      <a:endParaRPr lang="en-US" sz="1000" b="1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167138"/>
                  </a:ext>
                </a:extLst>
              </a:tr>
              <a:tr h="810293">
                <a:tc>
                  <a:txBody>
                    <a:bodyPr/>
                    <a:lstStyle/>
                    <a:p>
                      <a:r>
                        <a:rPr lang="en-US" sz="1000" dirty="0"/>
                        <a:t>Closure</a:t>
                      </a:r>
                      <a:endParaRPr lang="en-US" sz="1000" b="1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251463"/>
                  </a:ext>
                </a:extLst>
              </a:tr>
            </a:tbl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8A6E98-D70A-B341-80A4-E1D7ECB72C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Project Warranty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1703" y="1015546"/>
            <a:ext cx="6872972" cy="7218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Warranty Period</a:t>
            </a:r>
            <a:r>
              <a:rPr lang="th-TH" sz="1600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6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3 months after Project completion date.</a:t>
            </a:r>
          </a:p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Warranty Scope: </a:t>
            </a:r>
            <a:r>
              <a:rPr lang="en-US" sz="16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Bug of Production/After Go live in Project/Product Scope.</a:t>
            </a:r>
            <a:endParaRPr lang="en-US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438695" y="2352339"/>
            <a:ext cx="1017428" cy="4895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i="0" dirty="0">
                <a:solidFill>
                  <a:schemeClr val="bg1"/>
                </a:solidFill>
              </a:rPr>
              <a:t>Log Request for Warranty (RFW)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41147" y="3012235"/>
            <a:ext cx="968881" cy="42726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en-US" sz="1200" i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Assess &amp; Evaluate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704" y="4017781"/>
            <a:ext cx="957541" cy="4093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bg1"/>
                </a:solidFill>
              </a:rPr>
              <a:t>Authorize for Warranty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82975" y="5157510"/>
            <a:ext cx="911618" cy="4458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bg1"/>
                </a:solidFill>
              </a:rPr>
              <a:t>Bug Fixing</a:t>
            </a:r>
          </a:p>
        </p:txBody>
      </p:sp>
      <p:sp>
        <p:nvSpPr>
          <p:cNvPr id="14" name="TextBox 15"/>
          <p:cNvSpPr txBox="1"/>
          <p:nvPr/>
        </p:nvSpPr>
        <p:spPr>
          <a:xfrm>
            <a:off x="2595871" y="3468897"/>
            <a:ext cx="1084681" cy="26411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  <a:sym typeface="Symbol"/>
              </a:rPr>
              <a:t></a:t>
            </a:r>
            <a:r>
              <a:rPr lang="en-US" sz="900" dirty="0">
                <a:solidFill>
                  <a:schemeClr val="tx1"/>
                </a:solidFill>
              </a:rPr>
              <a:t> </a:t>
            </a:r>
            <a:r>
              <a:rPr lang="en-US" sz="900" i="0" u="none" strike="noStrike" dirty="0">
                <a:solidFill>
                  <a:schemeClr val="tx1"/>
                </a:solidFill>
              </a:rPr>
              <a:t>Impact</a:t>
            </a:r>
            <a:r>
              <a:rPr lang="en-US" sz="900" dirty="0">
                <a:solidFill>
                  <a:schemeClr val="tx1"/>
                </a:solidFill>
              </a:rPr>
              <a:t> and </a:t>
            </a:r>
            <a:r>
              <a:rPr lang="en-US" sz="900" i="0" u="none" strike="noStrike" dirty="0">
                <a:solidFill>
                  <a:schemeClr val="tx1"/>
                </a:solidFill>
              </a:rPr>
              <a:t>risk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5" name="TextBox 16"/>
          <p:cNvSpPr txBox="1"/>
          <p:nvPr/>
        </p:nvSpPr>
        <p:spPr>
          <a:xfrm>
            <a:off x="3042283" y="3891616"/>
            <a:ext cx="1153938" cy="24216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  <a:sym typeface="Symbol"/>
              </a:rPr>
              <a:t></a:t>
            </a:r>
            <a:r>
              <a:rPr lang="en-US" sz="900" dirty="0">
                <a:solidFill>
                  <a:schemeClr val="tx1"/>
                </a:solidFill>
              </a:rPr>
              <a:t> Rejected RFW</a:t>
            </a:r>
          </a:p>
        </p:txBody>
      </p:sp>
      <p:sp>
        <p:nvSpPr>
          <p:cNvPr id="16" name="TextBox 17"/>
          <p:cNvSpPr txBox="1"/>
          <p:nvPr/>
        </p:nvSpPr>
        <p:spPr>
          <a:xfrm>
            <a:off x="6238785" y="5603329"/>
            <a:ext cx="1379707" cy="7410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sym typeface="Symbol"/>
              </a:rPr>
              <a:t>Update the Release schedule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sym typeface="Symbol"/>
              </a:rPr>
              <a:t>Follow Bug Fixing workflow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0800" y="6106402"/>
            <a:ext cx="904109" cy="47590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bg1"/>
                </a:solidFill>
              </a:rPr>
              <a:t>Release &amp; Deployment</a:t>
            </a:r>
          </a:p>
        </p:txBody>
      </p:sp>
      <p:sp>
        <p:nvSpPr>
          <p:cNvPr id="21" name="Flowchart: Decision 20"/>
          <p:cNvSpPr/>
          <p:nvPr/>
        </p:nvSpPr>
        <p:spPr>
          <a:xfrm>
            <a:off x="3896774" y="3071683"/>
            <a:ext cx="822706" cy="4865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In Scope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22327" y="6123252"/>
            <a:ext cx="945013" cy="43357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bg1"/>
                </a:solidFill>
              </a:rPr>
              <a:t>Review &amp; Close RFW</a:t>
            </a:r>
          </a:p>
        </p:txBody>
      </p:sp>
      <p:sp>
        <p:nvSpPr>
          <p:cNvPr id="24" name="TextBox 16"/>
          <p:cNvSpPr txBox="1"/>
          <p:nvPr/>
        </p:nvSpPr>
        <p:spPr>
          <a:xfrm>
            <a:off x="4808299" y="3492473"/>
            <a:ext cx="1126227" cy="2578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  <a:sym typeface="Symbol"/>
              </a:rPr>
              <a:t></a:t>
            </a:r>
            <a:r>
              <a:rPr lang="en-US" sz="900" dirty="0">
                <a:solidFill>
                  <a:schemeClr val="tx1"/>
                </a:solidFill>
              </a:rPr>
              <a:t> Approved RFW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3770" y="4164208"/>
            <a:ext cx="968881" cy="42726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en-US" sz="1000" i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Inform</a:t>
            </a:r>
            <a:r>
              <a:rPr lang="en-US" sz="1000" i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status to Requester</a:t>
            </a:r>
            <a:endParaRPr lang="en-US" sz="1000" i="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7" name="Elbow Connector 26"/>
          <p:cNvCxnSpPr>
            <a:stCxn id="9" idx="3"/>
            <a:endCxn id="10" idx="0"/>
          </p:cNvCxnSpPr>
          <p:nvPr/>
        </p:nvCxnSpPr>
        <p:spPr>
          <a:xfrm>
            <a:off x="2456123" y="2597138"/>
            <a:ext cx="669465" cy="41509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10" idx="3"/>
            <a:endCxn id="21" idx="1"/>
          </p:cNvCxnSpPr>
          <p:nvPr/>
        </p:nvCxnSpPr>
        <p:spPr>
          <a:xfrm>
            <a:off x="3610028" y="3225867"/>
            <a:ext cx="286746" cy="89093"/>
          </a:xfrm>
          <a:prstGeom prst="bentConnector3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Elbow Connector 31"/>
          <p:cNvCxnSpPr>
            <a:stCxn id="21" idx="3"/>
            <a:endCxn id="11" idx="0"/>
          </p:cNvCxnSpPr>
          <p:nvPr/>
        </p:nvCxnSpPr>
        <p:spPr>
          <a:xfrm>
            <a:off x="4719480" y="3314960"/>
            <a:ext cx="105995" cy="7028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21" idx="2"/>
            <a:endCxn id="25" idx="0"/>
          </p:cNvCxnSpPr>
          <p:nvPr/>
        </p:nvCxnSpPr>
        <p:spPr>
          <a:xfrm rot="5400000">
            <a:off x="3420183" y="3276264"/>
            <a:ext cx="605972" cy="11699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/>
          <p:cNvCxnSpPr>
            <a:stCxn id="11" idx="3"/>
            <a:endCxn id="12" idx="0"/>
          </p:cNvCxnSpPr>
          <p:nvPr/>
        </p:nvCxnSpPr>
        <p:spPr>
          <a:xfrm>
            <a:off x="5304245" y="4222435"/>
            <a:ext cx="934539" cy="9350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stCxn id="11" idx="2"/>
            <a:endCxn id="25" idx="3"/>
          </p:cNvCxnSpPr>
          <p:nvPr/>
        </p:nvCxnSpPr>
        <p:spPr>
          <a:xfrm rot="5400000" flipH="1">
            <a:off x="4199438" y="3801053"/>
            <a:ext cx="49249" cy="1202824"/>
          </a:xfrm>
          <a:prstGeom prst="bentConnector4">
            <a:avLst>
              <a:gd name="adj1" fmla="val -464172"/>
              <a:gd name="adj2" fmla="val 6990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stCxn id="12" idx="2"/>
            <a:endCxn id="17" idx="0"/>
          </p:cNvCxnSpPr>
          <p:nvPr/>
        </p:nvCxnSpPr>
        <p:spPr>
          <a:xfrm rot="5400000">
            <a:off x="5604284" y="5471902"/>
            <a:ext cx="503072" cy="7659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16"/>
          <p:cNvSpPr txBox="1"/>
          <p:nvPr/>
        </p:nvSpPr>
        <p:spPr>
          <a:xfrm>
            <a:off x="4505336" y="3518681"/>
            <a:ext cx="467165" cy="26099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57" name="TextBox 16"/>
          <p:cNvSpPr txBox="1"/>
          <p:nvPr/>
        </p:nvSpPr>
        <p:spPr>
          <a:xfrm>
            <a:off x="3949352" y="3630623"/>
            <a:ext cx="467165" cy="26099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No</a:t>
            </a:r>
          </a:p>
        </p:txBody>
      </p:sp>
      <p:graphicFrame>
        <p:nvGraphicFramePr>
          <p:cNvPr id="120" name="Table 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657694"/>
              </p:ext>
            </p:extLst>
          </p:nvPr>
        </p:nvGraphicFramePr>
        <p:xfrm>
          <a:off x="7831014" y="1680480"/>
          <a:ext cx="4044253" cy="2468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71393">
                  <a:extLst>
                    <a:ext uri="{9D8B030D-6E8A-4147-A177-3AD203B41FA5}">
                      <a16:colId xmlns:a16="http://schemas.microsoft.com/office/drawing/2014/main" val="1999905360"/>
                    </a:ext>
                  </a:extLst>
                </a:gridCol>
                <a:gridCol w="2672860">
                  <a:extLst>
                    <a:ext uri="{9D8B030D-6E8A-4147-A177-3AD203B41FA5}">
                      <a16:colId xmlns:a16="http://schemas.microsoft.com/office/drawing/2014/main" val="468877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Severity</a:t>
                      </a:r>
                      <a:r>
                        <a:rPr lang="en-US" sz="1200" baseline="0" dirty="0"/>
                        <a:t> Level of Bug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Reso</a:t>
                      </a:r>
                      <a:r>
                        <a:rPr lang="en-US" sz="1200" baseline="0" dirty="0"/>
                        <a:t>lution Time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166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effectLst/>
                        </a:rPr>
                        <a:t>Critical – Priority 1 (P1)</a:t>
                      </a:r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effectLst/>
                        </a:rPr>
                        <a:t>By 24 hours upon responding </a:t>
                      </a:r>
                    </a:p>
                    <a:p>
                      <a:pPr algn="l"/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928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effectLst/>
                        </a:rPr>
                        <a:t>High –</a:t>
                      </a:r>
                    </a:p>
                    <a:p>
                      <a:pPr algn="ctr"/>
                      <a:r>
                        <a:rPr lang="en-US" sz="1200" kern="1200" dirty="0">
                          <a:effectLst/>
                        </a:rPr>
                        <a:t>Priority 2 (P2)</a:t>
                      </a:r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effectLst/>
                        </a:rPr>
                        <a:t>By 3 working</a:t>
                      </a:r>
                      <a:r>
                        <a:rPr lang="en-US" sz="1200" kern="1200" baseline="0" dirty="0">
                          <a:effectLst/>
                        </a:rPr>
                        <a:t> days</a:t>
                      </a:r>
                      <a:r>
                        <a:rPr lang="en-US" sz="1200" kern="1200" dirty="0">
                          <a:effectLst/>
                        </a:rPr>
                        <a:t> upon responding</a:t>
                      </a:r>
                    </a:p>
                    <a:p>
                      <a:pPr algn="l"/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779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effectLst/>
                        </a:rPr>
                        <a:t>Medium – Priority 3 (P3)</a:t>
                      </a:r>
                    </a:p>
                    <a:p>
                      <a:pPr algn="ctr"/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effectLst/>
                        </a:rPr>
                        <a:t>By 8 working days upon responding</a:t>
                      </a:r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73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effectLst/>
                        </a:rPr>
                        <a:t>Low – Priority 4 (P4)</a:t>
                      </a:r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 dirty="0">
                          <a:effectLst/>
                        </a:rPr>
                        <a:t>By 15 working days upon responding</a:t>
                      </a:r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814637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750160" y="1311148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SLA:</a:t>
            </a:r>
          </a:p>
        </p:txBody>
      </p:sp>
      <p:cxnSp>
        <p:nvCxnSpPr>
          <p:cNvPr id="5" name="Straight Arrow Connector 4"/>
          <p:cNvCxnSpPr>
            <a:endCxn id="23" idx="3"/>
          </p:cNvCxnSpPr>
          <p:nvPr/>
        </p:nvCxnSpPr>
        <p:spPr>
          <a:xfrm flipH="1" flipV="1">
            <a:off x="2467340" y="6340041"/>
            <a:ext cx="2553460" cy="4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93720" y="4057757"/>
            <a:ext cx="1622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2"/>
                </a:solidFill>
              </a:rPr>
              <a:t>Exit criteria: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121075"/>
              </p:ext>
            </p:extLst>
          </p:nvPr>
        </p:nvGraphicFramePr>
        <p:xfrm>
          <a:off x="7883533" y="4480813"/>
          <a:ext cx="3894810" cy="2026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15638">
                  <a:extLst>
                    <a:ext uri="{9D8B030D-6E8A-4147-A177-3AD203B41FA5}">
                      <a16:colId xmlns:a16="http://schemas.microsoft.com/office/drawing/2014/main" val="1999905360"/>
                    </a:ext>
                  </a:extLst>
                </a:gridCol>
                <a:gridCol w="2079172">
                  <a:extLst>
                    <a:ext uri="{9D8B030D-6E8A-4147-A177-3AD203B41FA5}">
                      <a16:colId xmlns:a16="http://schemas.microsoft.com/office/drawing/2014/main" val="468877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Severity</a:t>
                      </a:r>
                      <a:r>
                        <a:rPr lang="en-US" sz="1200" baseline="0" dirty="0"/>
                        <a:t> Level of Bug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Exit</a:t>
                      </a:r>
                      <a:r>
                        <a:rPr lang="en-US" sz="1200" baseline="0" dirty="0"/>
                        <a:t> Criteria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166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effectLst/>
                        </a:rPr>
                        <a:t>Critical – Priority 1 (P1)</a:t>
                      </a:r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effectLst/>
                        </a:rPr>
                        <a:t>100% Passed Test Case</a:t>
                      </a:r>
                      <a:endParaRPr lang="en-US" sz="1200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928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effectLst/>
                        </a:rPr>
                        <a:t>High –</a:t>
                      </a:r>
                    </a:p>
                    <a:p>
                      <a:pPr algn="ctr"/>
                      <a:r>
                        <a:rPr lang="en-US" sz="1200" kern="1200" dirty="0">
                          <a:effectLst/>
                        </a:rPr>
                        <a:t>Priority 2 (P2)</a:t>
                      </a:r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effectLst/>
                        </a:rPr>
                        <a:t>100% Passed Test Case</a:t>
                      </a:r>
                    </a:p>
                    <a:p>
                      <a:pPr algn="l"/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779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effectLst/>
                        </a:rPr>
                        <a:t>Medium – Priority 3 (P3)</a:t>
                      </a:r>
                    </a:p>
                    <a:p>
                      <a:pPr algn="ctr"/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effectLst/>
                        </a:rPr>
                        <a:t>80% Passed Test Case</a:t>
                      </a:r>
                      <a:endParaRPr lang="en-US" sz="1200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73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effectLst/>
                        </a:rPr>
                        <a:t>Low – Priority 4 (P4)</a:t>
                      </a:r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effectLst/>
                        </a:rPr>
                        <a:t>80% Passed Test Case</a:t>
                      </a:r>
                      <a:endParaRPr lang="en-US" sz="1200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814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50517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2327768"/>
              </p:ext>
            </p:extLst>
          </p:nvPr>
        </p:nvGraphicFramePr>
        <p:xfrm>
          <a:off x="731521" y="3582431"/>
          <a:ext cx="10297358" cy="2362200"/>
        </p:xfrm>
        <a:graphic>
          <a:graphicData uri="http://schemas.openxmlformats.org/drawingml/2006/table">
            <a:tbl>
              <a:tblPr firstRow="1" bandRow="1"/>
              <a:tblGrid>
                <a:gridCol w="1748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44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48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9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Function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Full Name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Account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Position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Contact Information (Email)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Executive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&lt;ABC&gt;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CEO, FPT Software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endParaRPr kumimoji="0" 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Executive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&lt;ABC&gt;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CDO, FPT Software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endParaRPr kumimoji="0" 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Delivery 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&lt;ABC&gt;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Project Director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algn="l" defTabSz="457200" rtl="0" eaLnBrk="1" latinLnBrk="0" hangingPunct="1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endParaRPr kumimoji="0" 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Customer Engagement, Delivery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&lt;ABC&gt;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Onsite Delivery Manager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endParaRPr kumimoji="0" 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Executive, Customer Engagement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&lt;ABC&gt;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Account Manager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algn="l" defTabSz="457200" rtl="0" eaLnBrk="1" latinLnBrk="0" hangingPunct="1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endParaRPr kumimoji="0" 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Delivery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&lt;ABC&gt;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Project Manager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endParaRPr kumimoji="0" 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6233576"/>
              </p:ext>
            </p:extLst>
          </p:nvPr>
        </p:nvGraphicFramePr>
        <p:xfrm>
          <a:off x="705884" y="1196004"/>
          <a:ext cx="10322995" cy="1491819"/>
        </p:xfrm>
        <a:graphic>
          <a:graphicData uri="http://schemas.openxmlformats.org/drawingml/2006/table">
            <a:tbl>
              <a:tblPr firstRow="1" bandRow="1"/>
              <a:tblGrid>
                <a:gridCol w="1753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6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6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6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1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Function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Full Name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Account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b="1"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Position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100" b="1" dirty="0"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Contact Information (Email)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Sponsors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&lt;ABC&gt;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Senior Director, Software Development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algn="l" defTabSz="457200" rtl="0" eaLnBrk="1" latinLnBrk="0" hangingPunct="1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endParaRPr kumimoji="0" 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2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Sponsors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&lt;ABC&gt;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Project Manager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endParaRPr kumimoji="0" 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2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Manager/SPOC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&lt;ABC&gt;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Solution Architect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endParaRPr kumimoji="0" 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201">
                <a:tc>
                  <a:txBody>
                    <a:bodyPr/>
                    <a:lstStyle/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Infrastructure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&lt;ABC&gt;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IT lead</a:t>
                      </a: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endParaRPr kumimoji="0" 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7589" marR="67589" marT="0" marB="0" anchor="ctr">
                    <a:lnL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24DA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13218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80548" y="919005"/>
            <a:ext cx="14886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 defTabSz="91440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&lt;Customer&gt;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980548" y="3282003"/>
            <a:ext cx="9541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 defTabSz="91440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FPT Team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Stakeholder Register</a:t>
            </a:r>
          </a:p>
        </p:txBody>
      </p:sp>
    </p:spTree>
    <p:extLst>
      <p:ext uri="{BB962C8B-B14F-4D97-AF65-F5344CB8AC3E}">
        <p14:creationId xmlns:p14="http://schemas.microsoft.com/office/powerpoint/2010/main" val="18460009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2725F0-F0DA-194B-B45D-95A0BA25F3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1520" y="308307"/>
            <a:ext cx="10342879" cy="488950"/>
          </a:xfrm>
        </p:spPr>
        <p:txBody>
          <a:bodyPr/>
          <a:lstStyle/>
          <a:p>
            <a:r>
              <a:rPr lang="en-US" sz="3000"/>
              <a:t>Contract - Other Highlights: Intellectual </a:t>
            </a:r>
            <a:r>
              <a:rPr lang="en-US" sz="3000" dirty="0"/>
              <a:t>Property (internal use)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07" y="1542703"/>
            <a:ext cx="7224689" cy="4499553"/>
          </a:xfrm>
          <a:prstGeom prst="rect">
            <a:avLst/>
          </a:prstGeom>
        </p:spPr>
      </p:pic>
      <p:sp>
        <p:nvSpPr>
          <p:cNvPr id="4" name="Rectangular Callout 3"/>
          <p:cNvSpPr/>
          <p:nvPr/>
        </p:nvSpPr>
        <p:spPr>
          <a:xfrm>
            <a:off x="8081819" y="1169980"/>
            <a:ext cx="2992581" cy="5366327"/>
          </a:xfrm>
          <a:prstGeom prst="wedgeRectCallout">
            <a:avLst>
              <a:gd name="adj1" fmla="val -61161"/>
              <a:gd name="adj2" fmla="val 2526"/>
            </a:avLst>
          </a:prstGeom>
          <a:solidFill>
            <a:schemeClr val="bg1"/>
          </a:solidFill>
          <a:ln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</a:rPr>
              <a:t>Các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điều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khoản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về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sở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hữu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trí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tuệ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</a:p>
          <a:p>
            <a:r>
              <a:rPr lang="en-US" sz="1400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(A) </a:t>
            </a:r>
            <a:r>
              <a:rPr lang="en-US" sz="1400" dirty="0" err="1">
                <a:solidFill>
                  <a:schemeClr val="tx1"/>
                </a:solidFill>
              </a:rPr>
              <a:t>Đoạn</a:t>
            </a:r>
            <a:r>
              <a:rPr lang="en-US" sz="1400" dirty="0">
                <a:solidFill>
                  <a:schemeClr val="tx1"/>
                </a:solidFill>
              </a:rPr>
              <a:t> A </a:t>
            </a:r>
            <a:r>
              <a:rPr lang="en-US" sz="1400" dirty="0" err="1">
                <a:solidFill>
                  <a:schemeClr val="tx1"/>
                </a:solidFill>
              </a:rPr>
              <a:t>của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điều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khoản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quy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định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rằng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 err="1">
                <a:solidFill>
                  <a:schemeClr val="tx1"/>
                </a:solidFill>
              </a:rPr>
              <a:t>Fsoft</a:t>
            </a:r>
            <a:r>
              <a:rPr lang="en-US" sz="1400" dirty="0">
                <a:solidFill>
                  <a:schemeClr val="tx1"/>
                </a:solidFill>
              </a:rPr>
              <a:t> cam </a:t>
            </a:r>
            <a:r>
              <a:rPr lang="en-US" sz="1400" dirty="0" err="1">
                <a:solidFill>
                  <a:schemeClr val="tx1"/>
                </a:solidFill>
              </a:rPr>
              <a:t>kết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sản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phẩm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bàn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giao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của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dự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án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sẽ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không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tích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hợp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các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sản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phẩm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trí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tuệ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có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sẵn</a:t>
            </a:r>
            <a:r>
              <a:rPr lang="en-US" sz="1400" dirty="0">
                <a:solidFill>
                  <a:schemeClr val="tx1"/>
                </a:solidFill>
              </a:rPr>
              <a:t>. 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(B) </a:t>
            </a:r>
            <a:r>
              <a:rPr lang="en-US" sz="1400" dirty="0" err="1">
                <a:solidFill>
                  <a:schemeClr val="tx1"/>
                </a:solidFill>
              </a:rPr>
              <a:t>Đoạn</a:t>
            </a:r>
            <a:r>
              <a:rPr lang="en-US" sz="1400" dirty="0">
                <a:solidFill>
                  <a:schemeClr val="tx1"/>
                </a:solidFill>
              </a:rPr>
              <a:t> B </a:t>
            </a:r>
            <a:r>
              <a:rPr lang="en-US" sz="1400" dirty="0" err="1">
                <a:solidFill>
                  <a:schemeClr val="tx1"/>
                </a:solidFill>
              </a:rPr>
              <a:t>quy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định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nếu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Fsoft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sử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dụng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các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sản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phẩm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trí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tuệ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có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sẵn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của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Fsoft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vào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sản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phẩm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bàn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giao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 err="1">
                <a:solidFill>
                  <a:schemeClr val="tx1"/>
                </a:solidFill>
              </a:rPr>
              <a:t>thì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phải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mô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tả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rõ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trong</a:t>
            </a:r>
            <a:r>
              <a:rPr lang="en-US" sz="1400" dirty="0">
                <a:solidFill>
                  <a:schemeClr val="tx1"/>
                </a:solidFill>
              </a:rPr>
              <a:t> SOW. 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(C) </a:t>
            </a:r>
            <a:r>
              <a:rPr lang="en-US" sz="1400" dirty="0" err="1">
                <a:solidFill>
                  <a:schemeClr val="tx1"/>
                </a:solidFill>
              </a:rPr>
              <a:t>Đoạn</a:t>
            </a:r>
            <a:r>
              <a:rPr lang="en-US" sz="1400" dirty="0">
                <a:solidFill>
                  <a:schemeClr val="tx1"/>
                </a:solidFill>
              </a:rPr>
              <a:t> C </a:t>
            </a:r>
            <a:r>
              <a:rPr lang="en-US" sz="1400" dirty="0" err="1">
                <a:solidFill>
                  <a:schemeClr val="tx1"/>
                </a:solidFill>
              </a:rPr>
              <a:t>quy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định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 err="1">
                <a:solidFill>
                  <a:schemeClr val="tx1"/>
                </a:solidFill>
              </a:rPr>
              <a:t>tất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cả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các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quyền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sở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hữu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trí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tuệ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là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kết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quả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thực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hiện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hợp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đồng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sẽ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thuộc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về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quyền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sở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hữu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của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khách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hàng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(D) </a:t>
            </a:r>
            <a:r>
              <a:rPr lang="en-US" sz="1400" dirty="0" err="1">
                <a:solidFill>
                  <a:schemeClr val="tx1"/>
                </a:solidFill>
              </a:rPr>
              <a:t>Đoạn</a:t>
            </a:r>
            <a:r>
              <a:rPr lang="en-US" sz="1400" dirty="0">
                <a:solidFill>
                  <a:schemeClr val="tx1"/>
                </a:solidFill>
              </a:rPr>
              <a:t> D </a:t>
            </a:r>
            <a:r>
              <a:rPr lang="en-US" sz="1400" dirty="0" err="1">
                <a:solidFill>
                  <a:schemeClr val="tx1"/>
                </a:solidFill>
              </a:rPr>
              <a:t>quy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định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Fsoft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phải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cung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cấp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các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thông</a:t>
            </a:r>
            <a:r>
              <a:rPr lang="en-US" sz="1400" dirty="0">
                <a:solidFill>
                  <a:schemeClr val="tx1"/>
                </a:solidFill>
              </a:rPr>
              <a:t> tin, </a:t>
            </a:r>
            <a:r>
              <a:rPr lang="en-US" sz="1400" dirty="0" err="1">
                <a:solidFill>
                  <a:schemeClr val="tx1"/>
                </a:solidFill>
              </a:rPr>
              <a:t>ký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kết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các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tài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liệu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cần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thiết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để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Khách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hàng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có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thể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đăng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ký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bảo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hộ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quyền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sở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hữu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trí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tuệ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 err="1">
                <a:solidFill>
                  <a:schemeClr val="tx1"/>
                </a:solidFill>
              </a:rPr>
              <a:t>hoặc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bảo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vệ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các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quyền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sở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hữu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trí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tuệ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này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207" y="1000703"/>
            <a:ext cx="67278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&lt; </a:t>
            </a:r>
            <a:r>
              <a:rPr lang="en-US" sz="1600" i="1" dirty="0"/>
              <a:t>Add the highlight of contract intellectual property terms in FCMS tool here</a:t>
            </a:r>
            <a:r>
              <a:rPr lang="en-US" sz="16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8257979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2725F0-F0DA-194B-B45D-95A0BA25F3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Contract - Other Highlights: </a:t>
            </a:r>
            <a:r>
              <a:rPr lang="en-US" sz="3000" dirty="0"/>
              <a:t>Confidentiality (internal use)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18" y="1542703"/>
            <a:ext cx="7293637" cy="44903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207" y="1000703"/>
            <a:ext cx="61456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&lt; </a:t>
            </a:r>
            <a:r>
              <a:rPr lang="en-US" sz="1600" i="1" dirty="0"/>
              <a:t>Add the highlight of contract confidentiality terms in FCMS tool here</a:t>
            </a:r>
            <a:r>
              <a:rPr lang="en-US" sz="1600" dirty="0"/>
              <a:t>&gt;</a:t>
            </a:r>
          </a:p>
        </p:txBody>
      </p:sp>
      <p:sp>
        <p:nvSpPr>
          <p:cNvPr id="6" name="Rectangular Callout 5"/>
          <p:cNvSpPr/>
          <p:nvPr/>
        </p:nvSpPr>
        <p:spPr>
          <a:xfrm>
            <a:off x="8211128" y="1995055"/>
            <a:ext cx="2937163" cy="3888510"/>
          </a:xfrm>
          <a:prstGeom prst="wedgeRectCallout">
            <a:avLst>
              <a:gd name="adj1" fmla="val -61085"/>
              <a:gd name="adj2" fmla="val 5006"/>
            </a:avLst>
          </a:prstGeom>
          <a:solidFill>
            <a:schemeClr val="bg1"/>
          </a:solidFill>
          <a:ln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khoản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</a:t>
            </a:r>
            <a:r>
              <a:rPr lang="vi-V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phạm bảo mật thông tin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(A) </a:t>
            </a:r>
            <a:r>
              <a:rPr lang="vi-V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Đoạn A quy định định nghĩa về Confidential information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(B) </a:t>
            </a:r>
            <a:r>
              <a:rPr lang="vi-V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Đoạn B quy định về nghĩa vụ bảo mật thông tin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(C) </a:t>
            </a:r>
            <a:r>
              <a:rPr lang="vi-V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Đoạn C quy định các trường hợp ngoại lệ có thể tiết lộ thông tin mật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(D) </a:t>
            </a:r>
            <a:r>
              <a:rPr lang="vi-V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Và đoạn D quy định rằng nghĩa vụ bảo mật thông tin sẽ tiếp tục có hiệu lực trong vòng 2 năm kể từ ngày hợp đồng chấm dứt hiệu lực.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0131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2725F0-F0DA-194B-B45D-95A0BA25F3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Contract - Other Highlights: Contract </a:t>
            </a:r>
            <a:r>
              <a:rPr lang="en-US" sz="3000" dirty="0"/>
              <a:t>Violation (internal use)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207" y="1000703"/>
            <a:ext cx="57701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&lt; </a:t>
            </a:r>
            <a:r>
              <a:rPr lang="en-US" sz="1600" i="1" dirty="0"/>
              <a:t>Add the highlight of contract violation terms in FCMS tool here</a:t>
            </a:r>
            <a:r>
              <a:rPr lang="en-US" sz="1600" dirty="0"/>
              <a:t>&gt;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07" y="1542703"/>
            <a:ext cx="7779447" cy="432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2136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7EE845-C526-B741-9DAC-8D245574ED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31231-EFE5-294E-A21A-FA0CCC7BB1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79648" y="4010619"/>
            <a:ext cx="3788886" cy="1080873"/>
          </a:xfrm>
        </p:spPr>
        <p:txBody>
          <a:bodyPr/>
          <a:lstStyle/>
          <a:p>
            <a:r>
              <a:rPr lang="en-US" dirty="0"/>
              <a:t>Process and</a:t>
            </a:r>
          </a:p>
          <a:p>
            <a:r>
              <a:rPr lang="en-US" dirty="0"/>
              <a:t>Tools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194CA1-BF72-074E-8087-6BE15F2DE0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AF31231-EFE5-294E-A21A-FA0CCC7BB1E4}"/>
              </a:ext>
            </a:extLst>
          </p:cNvPr>
          <p:cNvSpPr txBox="1">
            <a:spLocks/>
          </p:cNvSpPr>
          <p:nvPr/>
        </p:nvSpPr>
        <p:spPr>
          <a:xfrm>
            <a:off x="703300" y="3051001"/>
            <a:ext cx="3788886" cy="58477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APPENDIX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840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878454-AC89-DE44-A95B-E7380A8955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Daily Task Workflow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80EA9B9-AB4B-4AB6-90A1-A19DCEDF5B54}"/>
              </a:ext>
            </a:extLst>
          </p:cNvPr>
          <p:cNvGrpSpPr/>
          <p:nvPr/>
        </p:nvGrpSpPr>
        <p:grpSpPr>
          <a:xfrm>
            <a:off x="916833" y="1240975"/>
            <a:ext cx="9979917" cy="4953001"/>
            <a:chOff x="1830491" y="2481949"/>
            <a:chExt cx="8839200" cy="4386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96734DC-5138-48D8-934D-ECAD5D18CF15}"/>
                </a:ext>
              </a:extLst>
            </p:cNvPr>
            <p:cNvCxnSpPr>
              <a:cxnSpLocks/>
            </p:cNvCxnSpPr>
            <p:nvPr/>
          </p:nvCxnSpPr>
          <p:spPr>
            <a:xfrm>
              <a:off x="4531672" y="3382460"/>
              <a:ext cx="0" cy="344105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2093E47-E8ED-45C5-9A5A-66B806941606}"/>
                </a:ext>
              </a:extLst>
            </p:cNvPr>
            <p:cNvCxnSpPr>
              <a:cxnSpLocks/>
            </p:cNvCxnSpPr>
            <p:nvPr/>
          </p:nvCxnSpPr>
          <p:spPr>
            <a:xfrm>
              <a:off x="6521560" y="3364833"/>
              <a:ext cx="0" cy="344105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DDBA831-F1EE-4B85-8C2C-AC201EEB1F50}"/>
                </a:ext>
              </a:extLst>
            </p:cNvPr>
            <p:cNvCxnSpPr>
              <a:cxnSpLocks/>
            </p:cNvCxnSpPr>
            <p:nvPr/>
          </p:nvCxnSpPr>
          <p:spPr>
            <a:xfrm>
              <a:off x="8444640" y="3349552"/>
              <a:ext cx="0" cy="344105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E3601BA-3C8A-415F-BE00-AB3CD0660D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2891" y="5110265"/>
              <a:ext cx="8534400" cy="1414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9E35C70-C917-4DAB-A770-B70D13723B88}"/>
                </a:ext>
              </a:extLst>
            </p:cNvPr>
            <p:cNvGrpSpPr/>
            <p:nvPr/>
          </p:nvGrpSpPr>
          <p:grpSpPr>
            <a:xfrm>
              <a:off x="1885341" y="3044752"/>
              <a:ext cx="8631949" cy="3824064"/>
              <a:chOff x="477034" y="779067"/>
              <a:chExt cx="7899493" cy="3862905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C6AD598-FE37-48B9-B73E-AD2E4E4E4E79}"/>
                  </a:ext>
                </a:extLst>
              </p:cNvPr>
              <p:cNvSpPr/>
              <p:nvPr/>
            </p:nvSpPr>
            <p:spPr>
              <a:xfrm>
                <a:off x="1379148" y="1770185"/>
                <a:ext cx="1327337" cy="43815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217"/>
                <a:r>
                  <a:rPr lang="en-US" sz="900" b="1" dirty="0">
                    <a:solidFill>
                      <a:prstClr val="white"/>
                    </a:solidFill>
                  </a:rPr>
                  <a:t>Waiting task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37920F6-A1FC-4BBA-B537-32016AB1560F}"/>
                  </a:ext>
                </a:extLst>
              </p:cNvPr>
              <p:cNvSpPr/>
              <p:nvPr/>
            </p:nvSpPr>
            <p:spPr>
              <a:xfrm>
                <a:off x="3251517" y="1760660"/>
                <a:ext cx="1315010" cy="447673"/>
              </a:xfrm>
              <a:prstGeom prst="rect">
                <a:avLst/>
              </a:prstGeom>
              <a:solidFill>
                <a:srgbClr val="FF7600"/>
              </a:solidFill>
              <a:ln>
                <a:noFill/>
              </a:ln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217"/>
                <a:r>
                  <a:rPr lang="en-US" sz="900" b="1" dirty="0">
                    <a:solidFill>
                      <a:prstClr val="white"/>
                    </a:solidFill>
                  </a:rPr>
                  <a:t>Perform work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4DC1072-CD9C-4A53-B279-5DFCBDFD92B5}"/>
                  </a:ext>
                </a:extLst>
              </p:cNvPr>
              <p:cNvSpPr/>
              <p:nvPr/>
            </p:nvSpPr>
            <p:spPr>
              <a:xfrm>
                <a:off x="4945631" y="3091267"/>
                <a:ext cx="1315011" cy="43815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217"/>
                <a:r>
                  <a:rPr lang="en-US" sz="900" b="1">
                    <a:solidFill>
                      <a:prstClr val="white"/>
                    </a:solidFill>
                  </a:rPr>
                  <a:t>Review output</a:t>
                </a:r>
              </a:p>
            </p:txBody>
          </p:sp>
          <p:sp>
            <p:nvSpPr>
              <p:cNvPr id="35" name="Flowchart: Decision 34">
                <a:extLst>
                  <a:ext uri="{FF2B5EF4-FFF2-40B4-BE49-F238E27FC236}">
                    <a16:creationId xmlns:a16="http://schemas.microsoft.com/office/drawing/2014/main" id="{53493D00-6B7F-4704-B085-F5199EC08CAD}"/>
                  </a:ext>
                </a:extLst>
              </p:cNvPr>
              <p:cNvSpPr/>
              <p:nvPr/>
            </p:nvSpPr>
            <p:spPr>
              <a:xfrm>
                <a:off x="4949784" y="3767748"/>
                <a:ext cx="1306705" cy="638175"/>
              </a:xfrm>
              <a:prstGeom prst="flowChartDecision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217"/>
                <a:r>
                  <a:rPr lang="en-US" sz="900" b="1" dirty="0">
                    <a:solidFill>
                      <a:prstClr val="white"/>
                    </a:solidFill>
                  </a:rPr>
                  <a:t>Comments?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E19EA53-B1C5-4B4D-80C6-40156D95448C}"/>
                  </a:ext>
                </a:extLst>
              </p:cNvPr>
              <p:cNvSpPr/>
              <p:nvPr/>
            </p:nvSpPr>
            <p:spPr>
              <a:xfrm>
                <a:off x="6951774" y="1824730"/>
                <a:ext cx="1315010" cy="43815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217"/>
                <a:r>
                  <a:rPr lang="en-US" sz="900" b="1">
                    <a:solidFill>
                      <a:prstClr val="white"/>
                    </a:solidFill>
                  </a:rPr>
                  <a:t>Finished task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EBAF7F89-D29D-4729-90E1-107D8CC62F6F}"/>
                  </a:ext>
                </a:extLst>
              </p:cNvPr>
              <p:cNvCxnSpPr>
                <a:stCxn id="32" idx="3"/>
                <a:endCxn id="33" idx="1"/>
              </p:cNvCxnSpPr>
              <p:nvPr/>
            </p:nvCxnSpPr>
            <p:spPr>
              <a:xfrm flipV="1">
                <a:off x="2706485" y="1989259"/>
                <a:ext cx="545032" cy="1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A8186518-A28C-470B-9D39-4080F81CC8F5}"/>
                  </a:ext>
                </a:extLst>
              </p:cNvPr>
              <p:cNvCxnSpPr>
                <a:stCxn id="34" idx="2"/>
                <a:endCxn id="35" idx="0"/>
              </p:cNvCxnSpPr>
              <p:nvPr/>
            </p:nvCxnSpPr>
            <p:spPr>
              <a:xfrm>
                <a:off x="5603137" y="3529416"/>
                <a:ext cx="0" cy="238331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44A2905-AEAF-4E22-984D-21FBF08FAA80}"/>
                  </a:ext>
                </a:extLst>
              </p:cNvPr>
              <p:cNvSpPr/>
              <p:nvPr/>
            </p:nvSpPr>
            <p:spPr>
              <a:xfrm>
                <a:off x="1085700" y="780103"/>
                <a:ext cx="1813113" cy="32333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217"/>
                <a:r>
                  <a:rPr lang="en-US" sz="900" b="1">
                    <a:solidFill>
                      <a:prstClr val="white"/>
                    </a:solidFill>
                  </a:rPr>
                  <a:t>TO DO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5921D0D-74A4-4A34-B725-05CD7FDAF291}"/>
                  </a:ext>
                </a:extLst>
              </p:cNvPr>
              <p:cNvSpPr/>
              <p:nvPr/>
            </p:nvSpPr>
            <p:spPr>
              <a:xfrm>
                <a:off x="2914079" y="780103"/>
                <a:ext cx="1802044" cy="323332"/>
              </a:xfrm>
              <a:prstGeom prst="rect">
                <a:avLst/>
              </a:prstGeom>
              <a:solidFill>
                <a:srgbClr val="FF7600"/>
              </a:solidFill>
              <a:ln>
                <a:noFill/>
              </a:ln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217"/>
                <a:r>
                  <a:rPr lang="en-US" sz="900" b="1" dirty="0">
                    <a:solidFill>
                      <a:prstClr val="white"/>
                    </a:solidFill>
                  </a:rPr>
                  <a:t>DOING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5E68B6B-7D11-47D0-BDD5-B9109E9A86E4}"/>
                  </a:ext>
                </a:extLst>
              </p:cNvPr>
              <p:cNvSpPr/>
              <p:nvPr/>
            </p:nvSpPr>
            <p:spPr>
              <a:xfrm>
                <a:off x="4744642" y="780103"/>
                <a:ext cx="1726886" cy="323332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217"/>
                <a:r>
                  <a:rPr lang="en-US" sz="900" b="1" dirty="0">
                    <a:solidFill>
                      <a:prstClr val="white"/>
                    </a:solidFill>
                  </a:rPr>
                  <a:t>UNDER QA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6255A2A-2BAE-4EAF-9C99-A24D3801FF15}"/>
                  </a:ext>
                </a:extLst>
              </p:cNvPr>
              <p:cNvSpPr/>
              <p:nvPr/>
            </p:nvSpPr>
            <p:spPr>
              <a:xfrm>
                <a:off x="6500047" y="779067"/>
                <a:ext cx="1876480" cy="32333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217"/>
                <a:r>
                  <a:rPr lang="en-US" sz="900" b="1" dirty="0">
                    <a:solidFill>
                      <a:prstClr val="white"/>
                    </a:solidFill>
                  </a:rPr>
                  <a:t>DONE</a:t>
                </a:r>
              </a:p>
            </p:txBody>
          </p:sp>
          <p:sp>
            <p:nvSpPr>
              <p:cNvPr id="43" name="TextBox 91">
                <a:extLst>
                  <a:ext uri="{FF2B5EF4-FFF2-40B4-BE49-F238E27FC236}">
                    <a16:creationId xmlns:a16="http://schemas.microsoft.com/office/drawing/2014/main" id="{98F1F448-37C0-4332-9C70-7FCAED4890A9}"/>
                  </a:ext>
                </a:extLst>
              </p:cNvPr>
              <p:cNvSpPr txBox="1"/>
              <p:nvPr/>
            </p:nvSpPr>
            <p:spPr>
              <a:xfrm>
                <a:off x="2414470" y="1500710"/>
                <a:ext cx="972109" cy="238125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lIns="0" tIns="0" rIns="0" bIns="0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217"/>
                <a:r>
                  <a:rPr lang="en-US" sz="900" b="1" dirty="0">
                    <a:solidFill>
                      <a:srgbClr val="445469"/>
                    </a:solidFill>
                  </a:rPr>
                  <a:t>Start working</a:t>
                </a:r>
              </a:p>
              <a:p>
                <a:pPr algn="ctr" defTabSz="914217"/>
                <a:r>
                  <a:rPr lang="en-US" sz="900" dirty="0">
                    <a:solidFill>
                      <a:srgbClr val="445469"/>
                    </a:solidFill>
                  </a:rPr>
                  <a:t>Change assignee</a:t>
                </a:r>
              </a:p>
            </p:txBody>
          </p:sp>
          <p:sp>
            <p:nvSpPr>
              <p:cNvPr id="44" name="TextBox 94">
                <a:extLst>
                  <a:ext uri="{FF2B5EF4-FFF2-40B4-BE49-F238E27FC236}">
                    <a16:creationId xmlns:a16="http://schemas.microsoft.com/office/drawing/2014/main" id="{BC709798-FC82-4870-9C5D-D65782E120A7}"/>
                  </a:ext>
                </a:extLst>
              </p:cNvPr>
              <p:cNvSpPr txBox="1"/>
              <p:nvPr/>
            </p:nvSpPr>
            <p:spPr>
              <a:xfrm>
                <a:off x="4602230" y="1694279"/>
                <a:ext cx="1495984" cy="238125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lIns="0" tIns="0" rIns="0" bIns="0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217"/>
                <a:r>
                  <a:rPr lang="en-US" sz="900" b="1" dirty="0">
                    <a:solidFill>
                      <a:srgbClr val="445469"/>
                    </a:solidFill>
                  </a:rPr>
                  <a:t>Finished work</a:t>
                </a:r>
              </a:p>
              <a:p>
                <a:pPr algn="ctr" defTabSz="914217"/>
                <a:r>
                  <a:rPr lang="en-US" sz="900" dirty="0">
                    <a:solidFill>
                      <a:srgbClr val="445469"/>
                    </a:solidFill>
                  </a:rPr>
                  <a:t>Change status + </a:t>
                </a:r>
                <a:r>
                  <a:rPr lang="en-US" sz="900" b="1" dirty="0" err="1">
                    <a:solidFill>
                      <a:srgbClr val="FF0000"/>
                    </a:solidFill>
                  </a:rPr>
                  <a:t>logwork</a:t>
                </a:r>
                <a:endParaRPr lang="en-US" sz="9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5" name="TextBox 95">
                <a:extLst>
                  <a:ext uri="{FF2B5EF4-FFF2-40B4-BE49-F238E27FC236}">
                    <a16:creationId xmlns:a16="http://schemas.microsoft.com/office/drawing/2014/main" id="{B5AE68BA-BF3D-43BB-B979-31AD79B5D1E6}"/>
                  </a:ext>
                </a:extLst>
              </p:cNvPr>
              <p:cNvSpPr txBox="1"/>
              <p:nvPr/>
            </p:nvSpPr>
            <p:spPr>
              <a:xfrm>
                <a:off x="2917520" y="3782936"/>
                <a:ext cx="1495984" cy="238125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lIns="0" tIns="0" rIns="0" bIns="0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217"/>
                <a:r>
                  <a:rPr lang="en-US" sz="900" b="1" dirty="0">
                    <a:solidFill>
                      <a:srgbClr val="445469"/>
                    </a:solidFill>
                  </a:rPr>
                  <a:t>NG output</a:t>
                </a:r>
              </a:p>
              <a:p>
                <a:pPr algn="ctr" defTabSz="914217"/>
                <a:r>
                  <a:rPr lang="en-US" sz="900" dirty="0">
                    <a:solidFill>
                      <a:srgbClr val="445469"/>
                    </a:solidFill>
                  </a:rPr>
                  <a:t>Change status</a:t>
                </a:r>
              </a:p>
            </p:txBody>
          </p:sp>
          <p:sp>
            <p:nvSpPr>
              <p:cNvPr id="46" name="TextBox 96">
                <a:extLst>
                  <a:ext uri="{FF2B5EF4-FFF2-40B4-BE49-F238E27FC236}">
                    <a16:creationId xmlns:a16="http://schemas.microsoft.com/office/drawing/2014/main" id="{7DECAD2F-2D19-43D3-9E60-8010D9ECB101}"/>
                  </a:ext>
                </a:extLst>
              </p:cNvPr>
              <p:cNvSpPr txBox="1"/>
              <p:nvPr/>
            </p:nvSpPr>
            <p:spPr>
              <a:xfrm>
                <a:off x="6135064" y="3782116"/>
                <a:ext cx="1495985" cy="238125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lIns="0" tIns="0" rIns="0" bIns="0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217"/>
                <a:r>
                  <a:rPr lang="en-US" sz="900" b="1" dirty="0">
                    <a:solidFill>
                      <a:srgbClr val="445469"/>
                    </a:solidFill>
                  </a:rPr>
                  <a:t>Output OK</a:t>
                </a:r>
              </a:p>
              <a:p>
                <a:pPr algn="ctr" defTabSz="914217"/>
                <a:r>
                  <a:rPr lang="en-US" sz="900" dirty="0">
                    <a:solidFill>
                      <a:srgbClr val="445469"/>
                    </a:solidFill>
                  </a:rPr>
                  <a:t>Change status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A8A26E5-0965-417E-B7BC-7A0B5EC59231}"/>
                  </a:ext>
                </a:extLst>
              </p:cNvPr>
              <p:cNvSpPr/>
              <p:nvPr/>
            </p:nvSpPr>
            <p:spPr>
              <a:xfrm>
                <a:off x="477035" y="2879847"/>
                <a:ext cx="599141" cy="176212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217"/>
                <a:r>
                  <a:rPr lang="en-US" sz="900" b="1">
                    <a:solidFill>
                      <a:prstClr val="white"/>
                    </a:solidFill>
                  </a:rPr>
                  <a:t>Reviewer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D1E7B53-F84C-4437-BA7C-55BCF5B75456}"/>
                  </a:ext>
                </a:extLst>
              </p:cNvPr>
              <p:cNvSpPr/>
              <p:nvPr/>
            </p:nvSpPr>
            <p:spPr>
              <a:xfrm>
                <a:off x="477034" y="1108197"/>
                <a:ext cx="599142" cy="1762125"/>
              </a:xfrm>
              <a:prstGeom prst="rect">
                <a:avLst/>
              </a:prstGeom>
              <a:solidFill>
                <a:srgbClr val="FF7600"/>
              </a:solidFill>
              <a:ln>
                <a:noFill/>
              </a:ln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217"/>
                <a:r>
                  <a:rPr lang="en-US" sz="900" b="1" dirty="0">
                    <a:solidFill>
                      <a:prstClr val="white"/>
                    </a:solidFill>
                  </a:rPr>
                  <a:t>Task's PIC</a:t>
                </a:r>
              </a:p>
            </p:txBody>
          </p:sp>
          <p:cxnSp>
            <p:nvCxnSpPr>
              <p:cNvPr id="49" name="Elbow Connector 21">
                <a:extLst>
                  <a:ext uri="{FF2B5EF4-FFF2-40B4-BE49-F238E27FC236}">
                    <a16:creationId xmlns:a16="http://schemas.microsoft.com/office/drawing/2014/main" id="{F5D48DD3-1299-413C-A21E-4A88CAF4FE0A}"/>
                  </a:ext>
                </a:extLst>
              </p:cNvPr>
              <p:cNvCxnSpPr>
                <a:stCxn id="33" idx="3"/>
                <a:endCxn id="34" idx="0"/>
              </p:cNvCxnSpPr>
              <p:nvPr/>
            </p:nvCxnSpPr>
            <p:spPr>
              <a:xfrm>
                <a:off x="4566526" y="1984496"/>
                <a:ext cx="1036611" cy="1106770"/>
              </a:xfrm>
              <a:prstGeom prst="bentConnector2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Elbow Connector 22">
                <a:extLst>
                  <a:ext uri="{FF2B5EF4-FFF2-40B4-BE49-F238E27FC236}">
                    <a16:creationId xmlns:a16="http://schemas.microsoft.com/office/drawing/2014/main" id="{7CD330ED-4FE1-4819-9240-A9D9430F229F}"/>
                  </a:ext>
                </a:extLst>
              </p:cNvPr>
              <p:cNvCxnSpPr>
                <a:stCxn id="35" idx="3"/>
                <a:endCxn id="36" idx="2"/>
              </p:cNvCxnSpPr>
              <p:nvPr/>
            </p:nvCxnSpPr>
            <p:spPr>
              <a:xfrm flipV="1">
                <a:off x="6256489" y="2262880"/>
                <a:ext cx="1352790" cy="1823956"/>
              </a:xfrm>
              <a:prstGeom prst="bentConnector2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Elbow Connector 23">
                <a:extLst>
                  <a:ext uri="{FF2B5EF4-FFF2-40B4-BE49-F238E27FC236}">
                    <a16:creationId xmlns:a16="http://schemas.microsoft.com/office/drawing/2014/main" id="{52EA13B2-FE4E-4ADC-BE45-41420C2BAF31}"/>
                  </a:ext>
                </a:extLst>
              </p:cNvPr>
              <p:cNvCxnSpPr>
                <a:stCxn id="35" idx="1"/>
                <a:endCxn id="32" idx="2"/>
              </p:cNvCxnSpPr>
              <p:nvPr/>
            </p:nvCxnSpPr>
            <p:spPr>
              <a:xfrm rot="10800000">
                <a:off x="2042818" y="2208335"/>
                <a:ext cx="2906967" cy="1878501"/>
              </a:xfrm>
              <a:prstGeom prst="bentConnector2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Rounded Rectangle 27">
              <a:extLst>
                <a:ext uri="{FF2B5EF4-FFF2-40B4-BE49-F238E27FC236}">
                  <a16:creationId xmlns:a16="http://schemas.microsoft.com/office/drawing/2014/main" id="{974E2C40-FCF0-4300-B500-56246DA26AC2}"/>
                </a:ext>
              </a:extLst>
            </p:cNvPr>
            <p:cNvSpPr/>
            <p:nvPr/>
          </p:nvSpPr>
          <p:spPr>
            <a:xfrm>
              <a:off x="1830491" y="2481949"/>
              <a:ext cx="8839200" cy="365815"/>
            </a:xfrm>
            <a:prstGeom prst="roundRect">
              <a:avLst>
                <a:gd name="adj" fmla="val 7088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r>
                <a:rPr lang="en-US" sz="1000" dirty="0">
                  <a:solidFill>
                    <a:prstClr val="white"/>
                  </a:solidFill>
                </a:rPr>
                <a:t>According to the status of actual works, team members will drag the tasks through this flow.</a:t>
              </a:r>
            </a:p>
          </p:txBody>
        </p:sp>
        <p:sp>
          <p:nvSpPr>
            <p:cNvPr id="30" name="Circular Arrow 55">
              <a:extLst>
                <a:ext uri="{FF2B5EF4-FFF2-40B4-BE49-F238E27FC236}">
                  <a16:creationId xmlns:a16="http://schemas.microsoft.com/office/drawing/2014/main" id="{C21CE845-5FC9-4163-9F0A-0A33C5CB13E7}"/>
                </a:ext>
              </a:extLst>
            </p:cNvPr>
            <p:cNvSpPr/>
            <p:nvPr/>
          </p:nvSpPr>
          <p:spPr>
            <a:xfrm rot="10990609">
              <a:off x="5996481" y="4208401"/>
              <a:ext cx="685800" cy="688751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6113957"/>
                <a:gd name="adj5" fmla="val 12500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914217"/>
              <a:endParaRPr lang="en-US" sz="3600">
                <a:solidFill>
                  <a:srgbClr val="445469"/>
                </a:solidFill>
                <a:latin typeface="Lato Light"/>
              </a:endParaRPr>
            </a:p>
          </p:txBody>
        </p:sp>
        <p:sp>
          <p:nvSpPr>
            <p:cNvPr id="31" name="TextBox 94">
              <a:extLst>
                <a:ext uri="{FF2B5EF4-FFF2-40B4-BE49-F238E27FC236}">
                  <a16:creationId xmlns:a16="http://schemas.microsoft.com/office/drawing/2014/main" id="{85235D72-E719-4392-BF42-DE7829B75109}"/>
                </a:ext>
              </a:extLst>
            </p:cNvPr>
            <p:cNvSpPr txBox="1"/>
            <p:nvPr/>
          </p:nvSpPr>
          <p:spPr>
            <a:xfrm>
              <a:off x="4907768" y="4670877"/>
              <a:ext cx="1634694" cy="235731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lIns="0" tIns="0" rIns="0" bIns="0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217"/>
              <a:r>
                <a:rPr lang="en-US" sz="900" b="1" dirty="0">
                  <a:solidFill>
                    <a:srgbClr val="445469"/>
                  </a:solidFill>
                </a:rPr>
                <a:t>End of day</a:t>
              </a:r>
            </a:p>
            <a:p>
              <a:pPr algn="ctr" defTabSz="914217"/>
              <a:r>
                <a:rPr lang="en-US" sz="900" b="1" dirty="0" err="1">
                  <a:solidFill>
                    <a:srgbClr val="FF0000"/>
                  </a:solidFill>
                </a:rPr>
                <a:t>Logwork</a:t>
              </a:r>
              <a:endParaRPr lang="en-US" sz="9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43004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878454-AC89-DE44-A95B-E7380A8955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3000" dirty="0"/>
              <a:t>Bug Fixing Workflow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1DCEE7C2-93CD-450B-8EA8-506630ECA6D0}"/>
              </a:ext>
            </a:extLst>
          </p:cNvPr>
          <p:cNvGrpSpPr/>
          <p:nvPr/>
        </p:nvGrpSpPr>
        <p:grpSpPr>
          <a:xfrm>
            <a:off x="553528" y="1240975"/>
            <a:ext cx="10919623" cy="4977790"/>
            <a:chOff x="539601" y="1743999"/>
            <a:chExt cx="23838049" cy="11664368"/>
          </a:xfrm>
        </p:grpSpPr>
        <p:sp>
          <p:nvSpPr>
            <p:cNvPr id="178" name="対角する 2 つの角を丸めた四角形 5">
              <a:extLst>
                <a:ext uri="{FF2B5EF4-FFF2-40B4-BE49-F238E27FC236}">
                  <a16:creationId xmlns:a16="http://schemas.microsoft.com/office/drawing/2014/main" id="{9082D6C1-FA97-4A08-8643-E256A91F6EBE}"/>
                </a:ext>
              </a:extLst>
            </p:cNvPr>
            <p:cNvSpPr/>
            <p:nvPr/>
          </p:nvSpPr>
          <p:spPr>
            <a:xfrm>
              <a:off x="6106769" y="3534375"/>
              <a:ext cx="12668700" cy="1055725"/>
            </a:xfrm>
            <a:prstGeom prst="round2DiagRect">
              <a:avLst/>
            </a:prstGeom>
            <a:solidFill>
              <a:srgbClr val="445469">
                <a:lumMod val="20000"/>
                <a:lumOff val="80000"/>
              </a:srgbClr>
            </a:solidFill>
            <a:ln w="2857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1343664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+mn-ea"/>
                  <a:cs typeface="+mn-cs"/>
                </a:rPr>
                <a:t>(Agile, Mainline, Team Leader)</a:t>
              </a:r>
              <a:r>
                <a:rPr kumimoji="0" lang="en-US" altLang="ja-JP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+mn-ea"/>
                  <a:cs typeface="+mn-cs"/>
                </a:rPr>
                <a:t> </a:t>
              </a:r>
            </a:p>
            <a:p>
              <a:pPr marL="1343664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rPr>
                <a:t>Assign Proper PIC for Analysis.</a:t>
              </a: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79" name="対角する 2 つの角を丸めた四角形 6">
              <a:extLst>
                <a:ext uri="{FF2B5EF4-FFF2-40B4-BE49-F238E27FC236}">
                  <a16:creationId xmlns:a16="http://schemas.microsoft.com/office/drawing/2014/main" id="{8D07E00D-8EC2-4A98-A08B-EDD9F3AAEF4C}"/>
                </a:ext>
              </a:extLst>
            </p:cNvPr>
            <p:cNvSpPr/>
            <p:nvPr/>
          </p:nvSpPr>
          <p:spPr>
            <a:xfrm>
              <a:off x="6106769" y="1875026"/>
              <a:ext cx="12668700" cy="1055725"/>
            </a:xfrm>
            <a:prstGeom prst="round2DiagRect">
              <a:avLst/>
            </a:prstGeom>
            <a:solidFill>
              <a:srgbClr val="445469">
                <a:lumMod val="20000"/>
                <a:lumOff val="80000"/>
              </a:srgbClr>
            </a:solidFill>
            <a:ln w="2857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1343664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+mn-ea"/>
                  <a:cs typeface="+mn-cs"/>
                </a:rPr>
                <a:t>(DEV/QA </a:t>
              </a:r>
              <a:r>
                <a:rPr kumimoji="0" lang="en-US" altLang="ja-JP" sz="9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+mn-ea"/>
                  <a:cs typeface="+mn-cs"/>
                </a:rPr>
                <a:t>menber</a:t>
              </a:r>
              <a:r>
                <a:rPr kumimoji="0" lang="en-US" altLang="ja-JP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+mn-ea"/>
                  <a:cs typeface="+mn-cs"/>
                </a:rPr>
                <a:t>/Mainline/Supporter)</a:t>
              </a:r>
            </a:p>
            <a:p>
              <a:pPr marL="1343664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rPr>
                <a:t>Register Defects in Detail.</a:t>
              </a: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0" name="対角する 2 つの角を丸めた四角形 7">
              <a:extLst>
                <a:ext uri="{FF2B5EF4-FFF2-40B4-BE49-F238E27FC236}">
                  <a16:creationId xmlns:a16="http://schemas.microsoft.com/office/drawing/2014/main" id="{6B2D5D7C-ECB4-47CA-962B-4AE0286F0226}"/>
                </a:ext>
              </a:extLst>
            </p:cNvPr>
            <p:cNvSpPr/>
            <p:nvPr/>
          </p:nvSpPr>
          <p:spPr>
            <a:xfrm>
              <a:off x="6106769" y="5199829"/>
              <a:ext cx="12668700" cy="1055725"/>
            </a:xfrm>
            <a:prstGeom prst="round2DiagRect">
              <a:avLst/>
            </a:prstGeom>
            <a:solidFill>
              <a:srgbClr val="445469">
                <a:lumMod val="20000"/>
                <a:lumOff val="80000"/>
              </a:srgbClr>
            </a:solidFill>
            <a:ln w="2857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1343664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+mn-ea"/>
                  <a:cs typeface="+mn-cs"/>
                </a:rPr>
                <a:t>(DEV </a:t>
              </a:r>
              <a:r>
                <a:rPr kumimoji="0" lang="en-US" altLang="ja-JP" sz="9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+mn-ea"/>
                  <a:cs typeface="+mn-cs"/>
                </a:rPr>
                <a:t>menber</a:t>
              </a:r>
              <a:r>
                <a:rPr kumimoji="0" lang="en-US" altLang="ja-JP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+mn-ea"/>
                  <a:cs typeface="+mn-cs"/>
                </a:rPr>
                <a:t>)</a:t>
              </a:r>
              <a:endParaRPr kumimoji="0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  <a:ea typeface="+mn-ea"/>
                <a:cs typeface="+mn-cs"/>
              </a:endParaRPr>
            </a:p>
            <a:p>
              <a:pPr marL="1343664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rPr>
                <a:t>Analyzing / Studying Defect by PIC.</a:t>
              </a: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1" name="対角する 2 つの角を丸めた四角形 8">
              <a:extLst>
                <a:ext uri="{FF2B5EF4-FFF2-40B4-BE49-F238E27FC236}">
                  <a16:creationId xmlns:a16="http://schemas.microsoft.com/office/drawing/2014/main" id="{CC704E51-D562-4990-9C9A-E74652646D06}"/>
                </a:ext>
              </a:extLst>
            </p:cNvPr>
            <p:cNvSpPr/>
            <p:nvPr/>
          </p:nvSpPr>
          <p:spPr>
            <a:xfrm>
              <a:off x="6106769" y="6825827"/>
              <a:ext cx="12668700" cy="959729"/>
            </a:xfrm>
            <a:prstGeom prst="round2DiagRect">
              <a:avLst/>
            </a:prstGeom>
            <a:solidFill>
              <a:srgbClr val="445469">
                <a:lumMod val="20000"/>
                <a:lumOff val="80000"/>
              </a:srgbClr>
            </a:solidFill>
            <a:ln w="2857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1343664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+mn-ea"/>
                  <a:cs typeface="+mn-cs"/>
                </a:rPr>
                <a:t>(DEV </a:t>
              </a:r>
              <a:r>
                <a:rPr kumimoji="0" lang="en-US" altLang="ja-JP" sz="9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+mn-ea"/>
                  <a:cs typeface="+mn-cs"/>
                </a:rPr>
                <a:t>menber</a:t>
              </a:r>
              <a:r>
                <a:rPr kumimoji="0" lang="en-US" altLang="ja-JP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+mn-ea"/>
                  <a:cs typeface="+mn-cs"/>
                </a:rPr>
                <a:t>)</a:t>
              </a:r>
              <a:endParaRPr kumimoji="0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  <a:ea typeface="+mn-ea"/>
                <a:cs typeface="+mn-cs"/>
              </a:endParaRPr>
            </a:p>
            <a:p>
              <a:pPr marL="1343664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rPr>
                <a:t>Found Root Cause / Countermeasures.</a:t>
              </a:r>
              <a:endParaRPr kumimoji="0" lang="ja-JP" alt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2" name="対角する 2 つの角を丸めた四角形 9">
              <a:extLst>
                <a:ext uri="{FF2B5EF4-FFF2-40B4-BE49-F238E27FC236}">
                  <a16:creationId xmlns:a16="http://schemas.microsoft.com/office/drawing/2014/main" id="{F2A48334-25AA-4592-BAA6-BA15B5C6D8CC}"/>
                </a:ext>
              </a:extLst>
            </p:cNvPr>
            <p:cNvSpPr/>
            <p:nvPr/>
          </p:nvSpPr>
          <p:spPr>
            <a:xfrm>
              <a:off x="6106769" y="10305038"/>
              <a:ext cx="12668700" cy="1352245"/>
            </a:xfrm>
            <a:prstGeom prst="round2DiagRect">
              <a:avLst/>
            </a:prstGeom>
            <a:solidFill>
              <a:srgbClr val="445469">
                <a:lumMod val="20000"/>
                <a:lumOff val="80000"/>
              </a:srgbClr>
            </a:solidFill>
            <a:ln w="2857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1343664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rPr>
                <a:t>Applied Countermeasures. Released </a:t>
              </a:r>
              <a:r>
                <a:rPr kumimoji="0" lang="en-US" altLang="ja-JP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rPr>
                <a:t>apk</a:t>
              </a:r>
              <a:r>
                <a:rPr kumimoji="0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rPr>
                <a:t>.</a:t>
              </a:r>
            </a:p>
            <a:p>
              <a:pPr marL="1343664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ea typeface="+mn-ea"/>
                  <a:cs typeface="+mn-cs"/>
                </a:rPr>
                <a:t>Ready to Verify</a:t>
              </a:r>
              <a:endParaRPr kumimoji="0" lang="en-US" altLang="ja-JP" sz="10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3" name="対角する 2 つの角を丸めた四角形 10">
              <a:extLst>
                <a:ext uri="{FF2B5EF4-FFF2-40B4-BE49-F238E27FC236}">
                  <a16:creationId xmlns:a16="http://schemas.microsoft.com/office/drawing/2014/main" id="{502AD2D2-7531-461A-9946-43CFA3F9FCE3}"/>
                </a:ext>
              </a:extLst>
            </p:cNvPr>
            <p:cNvSpPr/>
            <p:nvPr/>
          </p:nvSpPr>
          <p:spPr>
            <a:xfrm>
              <a:off x="6106769" y="11971061"/>
              <a:ext cx="12668700" cy="1413965"/>
            </a:xfrm>
            <a:prstGeom prst="round2DiagRect">
              <a:avLst/>
            </a:prstGeom>
            <a:solidFill>
              <a:srgbClr val="445469">
                <a:lumMod val="20000"/>
                <a:lumOff val="80000"/>
              </a:srgbClr>
            </a:solidFill>
            <a:ln w="2857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1343664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+mn-ea"/>
                  <a:cs typeface="+mn-cs"/>
                </a:rPr>
                <a:t>(DEV/QA member/Mainline/Supporter)</a:t>
              </a:r>
              <a:endParaRPr kumimoji="0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  <a:ea typeface="+mn-ea"/>
                <a:cs typeface="+mn-cs"/>
              </a:endParaRPr>
            </a:p>
            <a:p>
              <a:pPr marL="1343664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rPr>
                <a:t>Verified Countermeasures.</a:t>
              </a:r>
            </a:p>
            <a:p>
              <a:pPr marL="1343664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ea typeface="+mn-ea"/>
                  <a:cs typeface="+mn-cs"/>
                </a:rPr>
                <a:t>Basically by detector </a:t>
              </a:r>
            </a:p>
          </p:txBody>
        </p:sp>
        <p:sp>
          <p:nvSpPr>
            <p:cNvPr id="184" name="対角する 2 つの角を丸めた四角形 11">
              <a:extLst>
                <a:ext uri="{FF2B5EF4-FFF2-40B4-BE49-F238E27FC236}">
                  <a16:creationId xmlns:a16="http://schemas.microsoft.com/office/drawing/2014/main" id="{59AAEEB1-5119-4568-827E-679B3A1216F7}"/>
                </a:ext>
              </a:extLst>
            </p:cNvPr>
            <p:cNvSpPr/>
            <p:nvPr/>
          </p:nvSpPr>
          <p:spPr>
            <a:xfrm>
              <a:off x="8489061" y="8301827"/>
              <a:ext cx="10269325" cy="1243772"/>
            </a:xfrm>
            <a:prstGeom prst="round2DiagRect">
              <a:avLst/>
            </a:prstGeom>
            <a:solidFill>
              <a:srgbClr val="445469">
                <a:lumMod val="20000"/>
                <a:lumOff val="80000"/>
              </a:srgbClr>
            </a:solidFill>
            <a:ln w="2857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844340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rPr>
                <a:t>Internal verification</a:t>
              </a:r>
              <a:r>
                <a:rPr kumimoji="0" lang="ja-JP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rPr>
                <a:t> </a:t>
              </a:r>
              <a:r>
                <a:rPr kumimoji="0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rPr>
                <a:t>/ Check Sub Status</a:t>
              </a:r>
            </a:p>
          </p:txBody>
        </p:sp>
        <p:sp>
          <p:nvSpPr>
            <p:cNvPr id="185" name="正方形/長方形 12">
              <a:extLst>
                <a:ext uri="{FF2B5EF4-FFF2-40B4-BE49-F238E27FC236}">
                  <a16:creationId xmlns:a16="http://schemas.microsoft.com/office/drawing/2014/main" id="{3156D6FA-ADB9-413F-BA30-0CC047DBB1B8}"/>
                </a:ext>
              </a:extLst>
            </p:cNvPr>
            <p:cNvSpPr/>
            <p:nvPr/>
          </p:nvSpPr>
          <p:spPr>
            <a:xfrm>
              <a:off x="2554926" y="1743999"/>
              <a:ext cx="3359125" cy="1151700"/>
            </a:xfrm>
            <a:prstGeom prst="rect">
              <a:avLst/>
            </a:prstGeom>
            <a:gradFill rotWithShape="1">
              <a:gsLst>
                <a:gs pos="0">
                  <a:srgbClr val="D53E23">
                    <a:satMod val="103000"/>
                    <a:lumMod val="102000"/>
                    <a:tint val="94000"/>
                  </a:srgbClr>
                </a:gs>
                <a:gs pos="50000">
                  <a:srgbClr val="D53E23">
                    <a:satMod val="110000"/>
                    <a:lumMod val="100000"/>
                    <a:shade val="100000"/>
                  </a:srgbClr>
                </a:gs>
                <a:gs pos="100000">
                  <a:srgbClr val="D53E23">
                    <a:lumMod val="99000"/>
                    <a:satMod val="120000"/>
                    <a:shade val="78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D53E23"/>
              </a:solidFill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ea typeface="+mn-ea"/>
                  <a:cs typeface="+mn-cs"/>
                </a:rPr>
                <a:t>Open</a:t>
              </a:r>
              <a:r>
                <a:rPr kumimoji="1" lang="en-US" altLang="ja-JP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ea typeface="+mn-ea"/>
                  <a:cs typeface="+mn-cs"/>
                </a:rPr>
                <a:t>(New)</a:t>
              </a:r>
              <a:endParaRPr kumimoji="1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6" name="正方形/長方形 13">
              <a:extLst>
                <a:ext uri="{FF2B5EF4-FFF2-40B4-BE49-F238E27FC236}">
                  <a16:creationId xmlns:a16="http://schemas.microsoft.com/office/drawing/2014/main" id="{962C5B9B-8968-4178-9FE4-9AD6B0DA7C76}"/>
                </a:ext>
              </a:extLst>
            </p:cNvPr>
            <p:cNvSpPr/>
            <p:nvPr/>
          </p:nvSpPr>
          <p:spPr>
            <a:xfrm>
              <a:off x="2554926" y="3403348"/>
              <a:ext cx="3359125" cy="1151700"/>
            </a:xfrm>
            <a:prstGeom prst="rect">
              <a:avLst/>
            </a:prstGeom>
            <a:gradFill rotWithShape="1">
              <a:gsLst>
                <a:gs pos="0">
                  <a:srgbClr val="D53E23">
                    <a:satMod val="103000"/>
                    <a:lumMod val="102000"/>
                    <a:tint val="94000"/>
                  </a:srgbClr>
                </a:gs>
                <a:gs pos="50000">
                  <a:srgbClr val="D53E23">
                    <a:satMod val="110000"/>
                    <a:lumMod val="100000"/>
                    <a:shade val="100000"/>
                  </a:srgbClr>
                </a:gs>
                <a:gs pos="100000">
                  <a:srgbClr val="D53E23">
                    <a:lumMod val="99000"/>
                    <a:satMod val="120000"/>
                    <a:shade val="78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D53E23"/>
              </a:solidFill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ea typeface="+mn-ea"/>
                  <a:cs typeface="+mn-cs"/>
                </a:rPr>
                <a:t>Assigned</a:t>
              </a:r>
              <a:endParaRPr kumimoji="1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7" name="正方形/長方形 14">
              <a:extLst>
                <a:ext uri="{FF2B5EF4-FFF2-40B4-BE49-F238E27FC236}">
                  <a16:creationId xmlns:a16="http://schemas.microsoft.com/office/drawing/2014/main" id="{42E0572F-0138-49C6-95B8-E143DE3C0D33}"/>
                </a:ext>
              </a:extLst>
            </p:cNvPr>
            <p:cNvSpPr/>
            <p:nvPr/>
          </p:nvSpPr>
          <p:spPr>
            <a:xfrm>
              <a:off x="2295645" y="5068802"/>
              <a:ext cx="3618407" cy="1151700"/>
            </a:xfrm>
            <a:prstGeom prst="rect">
              <a:avLst/>
            </a:prstGeom>
            <a:gradFill rotWithShape="1">
              <a:gsLst>
                <a:gs pos="0">
                  <a:srgbClr val="FB8635">
                    <a:satMod val="103000"/>
                    <a:lumMod val="102000"/>
                    <a:tint val="94000"/>
                  </a:srgbClr>
                </a:gs>
                <a:gs pos="50000">
                  <a:srgbClr val="FB8635">
                    <a:satMod val="110000"/>
                    <a:lumMod val="100000"/>
                    <a:shade val="100000"/>
                  </a:srgbClr>
                </a:gs>
                <a:gs pos="100000">
                  <a:srgbClr val="FB8635">
                    <a:lumMod val="99000"/>
                    <a:satMod val="120000"/>
                    <a:shade val="78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FB8635"/>
              </a:solidFill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ea typeface="+mn-ea"/>
                  <a:cs typeface="+mn-cs"/>
                </a:rPr>
                <a:t>Investigating</a:t>
              </a:r>
              <a:br>
                <a:rPr kumimoji="1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ea typeface="+mn-ea"/>
                  <a:cs typeface="+mn-cs"/>
                </a:rPr>
              </a:br>
              <a:r>
                <a:rPr kumimoji="1" lang="en-US" altLang="ja-JP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ea typeface="+mn-ea"/>
                  <a:cs typeface="+mn-cs"/>
                </a:rPr>
                <a:t>(Working)</a:t>
              </a:r>
              <a:endParaRPr kumimoji="1" lang="ja-JP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8" name="正方形/長方形 15">
              <a:extLst>
                <a:ext uri="{FF2B5EF4-FFF2-40B4-BE49-F238E27FC236}">
                  <a16:creationId xmlns:a16="http://schemas.microsoft.com/office/drawing/2014/main" id="{E991B112-B92B-424F-8070-28C2E80E6EC1}"/>
                </a:ext>
              </a:extLst>
            </p:cNvPr>
            <p:cNvSpPr/>
            <p:nvPr/>
          </p:nvSpPr>
          <p:spPr>
            <a:xfrm>
              <a:off x="2554926" y="6755744"/>
              <a:ext cx="3359125" cy="1151700"/>
            </a:xfrm>
            <a:prstGeom prst="rect">
              <a:avLst/>
            </a:prstGeom>
            <a:gradFill rotWithShape="1">
              <a:gsLst>
                <a:gs pos="0">
                  <a:srgbClr val="46BE9C">
                    <a:satMod val="103000"/>
                    <a:lumMod val="102000"/>
                    <a:tint val="94000"/>
                  </a:srgbClr>
                </a:gs>
                <a:gs pos="50000">
                  <a:srgbClr val="46BE9C">
                    <a:satMod val="110000"/>
                    <a:lumMod val="100000"/>
                    <a:shade val="100000"/>
                  </a:srgbClr>
                </a:gs>
                <a:gs pos="100000">
                  <a:srgbClr val="46BE9C">
                    <a:lumMod val="99000"/>
                    <a:satMod val="120000"/>
                    <a:shade val="78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46BE9C"/>
              </a:solidFill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ea typeface="+mn-ea"/>
                  <a:cs typeface="+mn-cs"/>
                </a:rPr>
                <a:t>Resolved</a:t>
              </a:r>
              <a:endParaRPr kumimoji="1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9" name="正方形/長方形 16">
              <a:extLst>
                <a:ext uri="{FF2B5EF4-FFF2-40B4-BE49-F238E27FC236}">
                  <a16:creationId xmlns:a16="http://schemas.microsoft.com/office/drawing/2014/main" id="{8978B31E-FBD9-48F2-9FBF-76353FE2A838}"/>
                </a:ext>
              </a:extLst>
            </p:cNvPr>
            <p:cNvSpPr/>
            <p:nvPr/>
          </p:nvSpPr>
          <p:spPr>
            <a:xfrm>
              <a:off x="2554926" y="10278832"/>
              <a:ext cx="3359125" cy="1186768"/>
            </a:xfrm>
            <a:prstGeom prst="rect">
              <a:avLst/>
            </a:prstGeom>
            <a:gradFill rotWithShape="1">
              <a:gsLst>
                <a:gs pos="0">
                  <a:srgbClr val="9CB631">
                    <a:satMod val="103000"/>
                    <a:lumMod val="102000"/>
                    <a:tint val="94000"/>
                  </a:srgbClr>
                </a:gs>
                <a:gs pos="50000">
                  <a:srgbClr val="9CB631">
                    <a:satMod val="110000"/>
                    <a:lumMod val="100000"/>
                    <a:shade val="100000"/>
                  </a:srgbClr>
                </a:gs>
                <a:gs pos="100000">
                  <a:srgbClr val="9CB631">
                    <a:lumMod val="99000"/>
                    <a:satMod val="120000"/>
                    <a:shade val="78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9CB631"/>
              </a:solidFill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ea typeface="+mn-ea"/>
                  <a:cs typeface="+mn-cs"/>
                </a:rPr>
                <a:t>Released</a:t>
              </a:r>
            </a:p>
          </p:txBody>
        </p:sp>
        <p:sp>
          <p:nvSpPr>
            <p:cNvPr id="190" name="正方形/長方形 17">
              <a:extLst>
                <a:ext uri="{FF2B5EF4-FFF2-40B4-BE49-F238E27FC236}">
                  <a16:creationId xmlns:a16="http://schemas.microsoft.com/office/drawing/2014/main" id="{5CB0832D-78D1-45DF-82B8-8C50A9624735}"/>
                </a:ext>
              </a:extLst>
            </p:cNvPr>
            <p:cNvSpPr/>
            <p:nvPr/>
          </p:nvSpPr>
          <p:spPr>
            <a:xfrm>
              <a:off x="2554926" y="12127246"/>
              <a:ext cx="3359125" cy="1151700"/>
            </a:xfrm>
            <a:prstGeom prst="rect">
              <a:avLst/>
            </a:prstGeom>
            <a:gradFill rotWithShape="1">
              <a:gsLst>
                <a:gs pos="0">
                  <a:srgbClr val="9CB631">
                    <a:satMod val="103000"/>
                    <a:lumMod val="102000"/>
                    <a:tint val="94000"/>
                  </a:srgbClr>
                </a:gs>
                <a:gs pos="50000">
                  <a:srgbClr val="9CB631">
                    <a:satMod val="110000"/>
                    <a:lumMod val="100000"/>
                    <a:shade val="100000"/>
                  </a:srgbClr>
                </a:gs>
                <a:gs pos="100000">
                  <a:srgbClr val="9CB631">
                    <a:lumMod val="99000"/>
                    <a:satMod val="120000"/>
                    <a:shade val="78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9CB631"/>
              </a:solidFill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ea typeface="+mn-ea"/>
                  <a:cs typeface="+mn-cs"/>
                </a:rPr>
                <a:t>Verified</a:t>
              </a:r>
            </a:p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ea typeface="+mn-ea"/>
                  <a:cs typeface="+mn-cs"/>
                </a:rPr>
                <a:t>Close</a:t>
              </a:r>
              <a:endParaRPr kumimoji="1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1" name="二等辺三角形 18">
              <a:extLst>
                <a:ext uri="{FF2B5EF4-FFF2-40B4-BE49-F238E27FC236}">
                  <a16:creationId xmlns:a16="http://schemas.microsoft.com/office/drawing/2014/main" id="{F4F9CB49-0E3F-484D-868E-ED7CBBA7AF88}"/>
                </a:ext>
              </a:extLst>
            </p:cNvPr>
            <p:cNvSpPr/>
            <p:nvPr/>
          </p:nvSpPr>
          <p:spPr>
            <a:xfrm flipV="1">
              <a:off x="4042539" y="3025046"/>
              <a:ext cx="383900" cy="287925"/>
            </a:xfrm>
            <a:prstGeom prst="triangle">
              <a:avLst/>
            </a:prstGeom>
            <a:solidFill>
              <a:srgbClr val="FF5050"/>
            </a:solidFill>
            <a:ln w="12700" cap="flat" cmpd="sng" algn="ctr">
              <a:solidFill>
                <a:srgbClr val="FF5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2" name="二等辺三角形 19">
              <a:extLst>
                <a:ext uri="{FF2B5EF4-FFF2-40B4-BE49-F238E27FC236}">
                  <a16:creationId xmlns:a16="http://schemas.microsoft.com/office/drawing/2014/main" id="{ED8DC2E9-F256-400B-AED3-FA0ABC55B478}"/>
                </a:ext>
              </a:extLst>
            </p:cNvPr>
            <p:cNvSpPr/>
            <p:nvPr/>
          </p:nvSpPr>
          <p:spPr>
            <a:xfrm flipV="1">
              <a:off x="4042539" y="4664374"/>
              <a:ext cx="383900" cy="287925"/>
            </a:xfrm>
            <a:prstGeom prst="triangle">
              <a:avLst/>
            </a:prstGeom>
            <a:solidFill>
              <a:srgbClr val="FF5050"/>
            </a:solidFill>
            <a:ln w="12700" cap="flat" cmpd="sng" algn="ctr">
              <a:solidFill>
                <a:srgbClr val="FF5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3" name="二等辺三角形 20">
              <a:extLst>
                <a:ext uri="{FF2B5EF4-FFF2-40B4-BE49-F238E27FC236}">
                  <a16:creationId xmlns:a16="http://schemas.microsoft.com/office/drawing/2014/main" id="{D1134C5D-CC26-43B0-9046-CCB089F8FB00}"/>
                </a:ext>
              </a:extLst>
            </p:cNvPr>
            <p:cNvSpPr/>
            <p:nvPr/>
          </p:nvSpPr>
          <p:spPr>
            <a:xfrm flipV="1">
              <a:off x="4042539" y="6343542"/>
              <a:ext cx="383900" cy="287925"/>
            </a:xfrm>
            <a:prstGeom prst="triangl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4" name="二等辺三角形 21">
              <a:extLst>
                <a:ext uri="{FF2B5EF4-FFF2-40B4-BE49-F238E27FC236}">
                  <a16:creationId xmlns:a16="http://schemas.microsoft.com/office/drawing/2014/main" id="{3C9EE3FA-C563-418E-B769-06BCCA15EEEB}"/>
                </a:ext>
              </a:extLst>
            </p:cNvPr>
            <p:cNvSpPr/>
            <p:nvPr/>
          </p:nvSpPr>
          <p:spPr>
            <a:xfrm flipV="1">
              <a:off x="4067930" y="8050799"/>
              <a:ext cx="383900" cy="287925"/>
            </a:xfrm>
            <a:prstGeom prst="triangl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5" name="二等辺三角形 22">
              <a:extLst>
                <a:ext uri="{FF2B5EF4-FFF2-40B4-BE49-F238E27FC236}">
                  <a16:creationId xmlns:a16="http://schemas.microsoft.com/office/drawing/2014/main" id="{20C1BD3E-8F13-4D3B-A21C-0B6281926D2D}"/>
                </a:ext>
              </a:extLst>
            </p:cNvPr>
            <p:cNvSpPr/>
            <p:nvPr/>
          </p:nvSpPr>
          <p:spPr>
            <a:xfrm flipV="1">
              <a:off x="4042539" y="11615020"/>
              <a:ext cx="383900" cy="287925"/>
            </a:xfrm>
            <a:prstGeom prst="triangle">
              <a:avLst/>
            </a:prstGeom>
            <a:solidFill>
              <a:srgbClr val="0066FF"/>
            </a:solidFill>
            <a:ln w="12700" cap="flat" cmpd="sng" algn="ctr">
              <a:solidFill>
                <a:srgbClr val="0066FF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6" name="正方形/長方形 23">
              <a:extLst>
                <a:ext uri="{FF2B5EF4-FFF2-40B4-BE49-F238E27FC236}">
                  <a16:creationId xmlns:a16="http://schemas.microsoft.com/office/drawing/2014/main" id="{488C8917-D0BF-419E-8A5C-3465923E2EAE}"/>
                </a:ext>
              </a:extLst>
            </p:cNvPr>
            <p:cNvSpPr/>
            <p:nvPr/>
          </p:nvSpPr>
          <p:spPr>
            <a:xfrm>
              <a:off x="3019741" y="11424340"/>
              <a:ext cx="742581" cy="5769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b="1" i="1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</a:rPr>
                <a:t>OK</a:t>
              </a:r>
              <a:endParaRPr kumimoji="0" lang="ja-JP" altLang="en-US" sz="1000" b="1" i="1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</a:endParaRPr>
            </a:p>
          </p:txBody>
        </p:sp>
        <p:sp>
          <p:nvSpPr>
            <p:cNvPr id="197" name="正方形/長方形 24">
              <a:extLst>
                <a:ext uri="{FF2B5EF4-FFF2-40B4-BE49-F238E27FC236}">
                  <a16:creationId xmlns:a16="http://schemas.microsoft.com/office/drawing/2014/main" id="{AE47F266-EB23-48B0-AAB3-94C58A893A1D}"/>
                </a:ext>
              </a:extLst>
            </p:cNvPr>
            <p:cNvSpPr/>
            <p:nvPr/>
          </p:nvSpPr>
          <p:spPr>
            <a:xfrm>
              <a:off x="4954941" y="8427938"/>
              <a:ext cx="3359125" cy="1151700"/>
            </a:xfrm>
            <a:prstGeom prst="rect">
              <a:avLst/>
            </a:prstGeom>
            <a:gradFill rotWithShape="1">
              <a:gsLst>
                <a:gs pos="0">
                  <a:srgbClr val="46BE9C">
                    <a:satMod val="103000"/>
                    <a:lumMod val="102000"/>
                    <a:tint val="94000"/>
                  </a:srgbClr>
                </a:gs>
                <a:gs pos="50000">
                  <a:srgbClr val="46BE9C">
                    <a:satMod val="110000"/>
                    <a:lumMod val="100000"/>
                    <a:shade val="100000"/>
                  </a:srgbClr>
                </a:gs>
                <a:gs pos="100000">
                  <a:srgbClr val="46BE9C">
                    <a:lumMod val="99000"/>
                    <a:satMod val="120000"/>
                    <a:shade val="78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46BE9C"/>
              </a:solidFill>
              <a:prstDash val="solid"/>
              <a:miter lim="800000"/>
            </a:ln>
            <a:effectLst/>
          </p:spPr>
          <p:txBody>
            <a:bodyPr vert="horz" rtlCol="0" anchor="ctr"/>
            <a:lstStyle/>
            <a:p>
              <a:pPr marL="0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ea typeface="+mn-ea"/>
                  <a:cs typeface="+mn-cs"/>
                </a:rPr>
                <a:t>(Sub Status)</a:t>
              </a:r>
              <a:endParaRPr kumimoji="1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ea typeface="+mn-ea"/>
                  <a:cs typeface="+mn-cs"/>
                </a:rPr>
                <a:t>Local Only</a:t>
              </a:r>
              <a:endParaRPr kumimoji="1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8" name="二等辺三角形 25">
              <a:extLst>
                <a:ext uri="{FF2B5EF4-FFF2-40B4-BE49-F238E27FC236}">
                  <a16:creationId xmlns:a16="http://schemas.microsoft.com/office/drawing/2014/main" id="{F8ACFFC5-E9E1-415E-9CE2-AECC75A7AA4A}"/>
                </a:ext>
              </a:extLst>
            </p:cNvPr>
            <p:cNvSpPr/>
            <p:nvPr/>
          </p:nvSpPr>
          <p:spPr>
            <a:xfrm rot="5400000" flipV="1">
              <a:off x="1994515" y="10745414"/>
              <a:ext cx="383900" cy="287925"/>
            </a:xfrm>
            <a:prstGeom prst="triangle">
              <a:avLst/>
            </a:prstGeom>
            <a:solidFill>
              <a:srgbClr val="FF5050"/>
            </a:solidFill>
            <a:ln w="12700" cap="flat" cmpd="sng" algn="ctr">
              <a:solidFill>
                <a:srgbClr val="FF5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9" name="二等辺三角形 26">
              <a:extLst>
                <a:ext uri="{FF2B5EF4-FFF2-40B4-BE49-F238E27FC236}">
                  <a16:creationId xmlns:a16="http://schemas.microsoft.com/office/drawing/2014/main" id="{2A8B5ECE-E532-4505-A2A6-2664B2CAB628}"/>
                </a:ext>
              </a:extLst>
            </p:cNvPr>
            <p:cNvSpPr/>
            <p:nvPr/>
          </p:nvSpPr>
          <p:spPr>
            <a:xfrm rot="5400000" flipV="1">
              <a:off x="1547082" y="10745414"/>
              <a:ext cx="383900" cy="287925"/>
            </a:xfrm>
            <a:prstGeom prst="triangle">
              <a:avLst/>
            </a:prstGeom>
            <a:solidFill>
              <a:srgbClr val="FF5050"/>
            </a:solidFill>
            <a:ln w="12700" cap="flat" cmpd="sng" algn="ctr">
              <a:solidFill>
                <a:srgbClr val="FF5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0" name="二等辺三角形 27">
              <a:extLst>
                <a:ext uri="{FF2B5EF4-FFF2-40B4-BE49-F238E27FC236}">
                  <a16:creationId xmlns:a16="http://schemas.microsoft.com/office/drawing/2014/main" id="{0D86A9EE-8BCF-4938-9F13-BC41F7043305}"/>
                </a:ext>
              </a:extLst>
            </p:cNvPr>
            <p:cNvSpPr/>
            <p:nvPr/>
          </p:nvSpPr>
          <p:spPr>
            <a:xfrm rot="10800000" flipV="1">
              <a:off x="1069985" y="9734973"/>
              <a:ext cx="383900" cy="287925"/>
            </a:xfrm>
            <a:prstGeom prst="triangle">
              <a:avLst/>
            </a:prstGeom>
            <a:solidFill>
              <a:srgbClr val="FF5050"/>
            </a:solidFill>
            <a:ln w="12700" cap="flat" cmpd="sng" algn="ctr">
              <a:solidFill>
                <a:srgbClr val="FF5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1" name="二等辺三角形 28">
              <a:extLst>
                <a:ext uri="{FF2B5EF4-FFF2-40B4-BE49-F238E27FC236}">
                  <a16:creationId xmlns:a16="http://schemas.microsoft.com/office/drawing/2014/main" id="{300675BC-EB71-445E-825C-31A2B0B9FDE9}"/>
                </a:ext>
              </a:extLst>
            </p:cNvPr>
            <p:cNvSpPr/>
            <p:nvPr/>
          </p:nvSpPr>
          <p:spPr>
            <a:xfrm rot="10800000" flipV="1">
              <a:off x="1069985" y="9259654"/>
              <a:ext cx="383900" cy="287925"/>
            </a:xfrm>
            <a:prstGeom prst="triangle">
              <a:avLst/>
            </a:prstGeom>
            <a:solidFill>
              <a:srgbClr val="FF5050"/>
            </a:solidFill>
            <a:ln w="12700" cap="flat" cmpd="sng" algn="ctr">
              <a:solidFill>
                <a:srgbClr val="FF5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2" name="二等辺三角形 29">
              <a:extLst>
                <a:ext uri="{FF2B5EF4-FFF2-40B4-BE49-F238E27FC236}">
                  <a16:creationId xmlns:a16="http://schemas.microsoft.com/office/drawing/2014/main" id="{A1346681-39F1-40C3-9CE3-DC5E2D71C3EF}"/>
                </a:ext>
              </a:extLst>
            </p:cNvPr>
            <p:cNvSpPr/>
            <p:nvPr/>
          </p:nvSpPr>
          <p:spPr>
            <a:xfrm rot="10800000" flipV="1">
              <a:off x="1069985" y="8760206"/>
              <a:ext cx="383900" cy="287925"/>
            </a:xfrm>
            <a:prstGeom prst="triangle">
              <a:avLst/>
            </a:prstGeom>
            <a:solidFill>
              <a:srgbClr val="FF5050"/>
            </a:solidFill>
            <a:ln w="12700" cap="flat" cmpd="sng" algn="ctr">
              <a:solidFill>
                <a:srgbClr val="FF5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3" name="二等辺三角形 30">
              <a:extLst>
                <a:ext uri="{FF2B5EF4-FFF2-40B4-BE49-F238E27FC236}">
                  <a16:creationId xmlns:a16="http://schemas.microsoft.com/office/drawing/2014/main" id="{22501549-D2F7-404C-A355-AD8884B2A8BF}"/>
                </a:ext>
              </a:extLst>
            </p:cNvPr>
            <p:cNvSpPr/>
            <p:nvPr/>
          </p:nvSpPr>
          <p:spPr>
            <a:xfrm rot="10800000" flipV="1">
              <a:off x="1069985" y="8284892"/>
              <a:ext cx="383900" cy="287925"/>
            </a:xfrm>
            <a:prstGeom prst="triangle">
              <a:avLst/>
            </a:prstGeom>
            <a:solidFill>
              <a:srgbClr val="FF5050"/>
            </a:solidFill>
            <a:ln w="12700" cap="flat" cmpd="sng" algn="ctr">
              <a:solidFill>
                <a:srgbClr val="FF5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4" name="二等辺三角形 31">
              <a:extLst>
                <a:ext uri="{FF2B5EF4-FFF2-40B4-BE49-F238E27FC236}">
                  <a16:creationId xmlns:a16="http://schemas.microsoft.com/office/drawing/2014/main" id="{740B9045-7890-46F4-9373-F541F52D2D8C}"/>
                </a:ext>
              </a:extLst>
            </p:cNvPr>
            <p:cNvSpPr/>
            <p:nvPr/>
          </p:nvSpPr>
          <p:spPr>
            <a:xfrm rot="10800000" flipV="1">
              <a:off x="1069985" y="7809579"/>
              <a:ext cx="383900" cy="287925"/>
            </a:xfrm>
            <a:prstGeom prst="triangle">
              <a:avLst/>
            </a:prstGeom>
            <a:solidFill>
              <a:srgbClr val="FF5050"/>
            </a:solidFill>
            <a:ln w="12700" cap="flat" cmpd="sng" algn="ctr">
              <a:solidFill>
                <a:srgbClr val="FF5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5" name="二等辺三角形 32">
              <a:extLst>
                <a:ext uri="{FF2B5EF4-FFF2-40B4-BE49-F238E27FC236}">
                  <a16:creationId xmlns:a16="http://schemas.microsoft.com/office/drawing/2014/main" id="{C4782DD2-E6FF-4CB5-AAF6-9E47E7CF2A1B}"/>
                </a:ext>
              </a:extLst>
            </p:cNvPr>
            <p:cNvSpPr/>
            <p:nvPr/>
          </p:nvSpPr>
          <p:spPr>
            <a:xfrm rot="10800000" flipV="1">
              <a:off x="1069985" y="7334265"/>
              <a:ext cx="383900" cy="287925"/>
            </a:xfrm>
            <a:prstGeom prst="triangle">
              <a:avLst/>
            </a:prstGeom>
            <a:solidFill>
              <a:srgbClr val="FF5050"/>
            </a:solidFill>
            <a:ln w="12700" cap="flat" cmpd="sng" algn="ctr">
              <a:solidFill>
                <a:srgbClr val="FF5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6" name="二等辺三角形 33">
              <a:extLst>
                <a:ext uri="{FF2B5EF4-FFF2-40B4-BE49-F238E27FC236}">
                  <a16:creationId xmlns:a16="http://schemas.microsoft.com/office/drawing/2014/main" id="{0D2F864A-62BB-4505-944A-D3FDB256A43A}"/>
                </a:ext>
              </a:extLst>
            </p:cNvPr>
            <p:cNvSpPr/>
            <p:nvPr/>
          </p:nvSpPr>
          <p:spPr>
            <a:xfrm rot="10800000" flipV="1">
              <a:off x="1069985" y="6858952"/>
              <a:ext cx="383900" cy="287925"/>
            </a:xfrm>
            <a:prstGeom prst="triangle">
              <a:avLst/>
            </a:prstGeom>
            <a:solidFill>
              <a:srgbClr val="FF5050"/>
            </a:solidFill>
            <a:ln w="12700" cap="flat" cmpd="sng" algn="ctr">
              <a:solidFill>
                <a:srgbClr val="FF5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7" name="二等辺三角形 34">
              <a:extLst>
                <a:ext uri="{FF2B5EF4-FFF2-40B4-BE49-F238E27FC236}">
                  <a16:creationId xmlns:a16="http://schemas.microsoft.com/office/drawing/2014/main" id="{2A7CAC2B-1645-412B-B24C-EB41705EB9D6}"/>
                </a:ext>
              </a:extLst>
            </p:cNvPr>
            <p:cNvSpPr/>
            <p:nvPr/>
          </p:nvSpPr>
          <p:spPr>
            <a:xfrm rot="10800000" flipV="1">
              <a:off x="1069985" y="6383638"/>
              <a:ext cx="383900" cy="287925"/>
            </a:xfrm>
            <a:prstGeom prst="triangle">
              <a:avLst/>
            </a:prstGeom>
            <a:solidFill>
              <a:srgbClr val="FF5050"/>
            </a:solidFill>
            <a:ln w="12700" cap="flat" cmpd="sng" algn="ctr">
              <a:solidFill>
                <a:srgbClr val="FF5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8" name="二等辺三角形 35">
              <a:extLst>
                <a:ext uri="{FF2B5EF4-FFF2-40B4-BE49-F238E27FC236}">
                  <a16:creationId xmlns:a16="http://schemas.microsoft.com/office/drawing/2014/main" id="{60F9880C-63AB-46AC-BCB1-39F287C124D6}"/>
                </a:ext>
              </a:extLst>
            </p:cNvPr>
            <p:cNvSpPr/>
            <p:nvPr/>
          </p:nvSpPr>
          <p:spPr>
            <a:xfrm rot="10800000" flipV="1">
              <a:off x="1069985" y="5908325"/>
              <a:ext cx="383900" cy="287925"/>
            </a:xfrm>
            <a:prstGeom prst="triangle">
              <a:avLst/>
            </a:prstGeom>
            <a:solidFill>
              <a:srgbClr val="FF5050"/>
            </a:solidFill>
            <a:ln w="12700" cap="flat" cmpd="sng" algn="ctr">
              <a:solidFill>
                <a:srgbClr val="FF5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9" name="二等辺三角形 36">
              <a:extLst>
                <a:ext uri="{FF2B5EF4-FFF2-40B4-BE49-F238E27FC236}">
                  <a16:creationId xmlns:a16="http://schemas.microsoft.com/office/drawing/2014/main" id="{B6FC14BB-5443-4B1F-A501-4D1D73824BC7}"/>
                </a:ext>
              </a:extLst>
            </p:cNvPr>
            <p:cNvSpPr/>
            <p:nvPr/>
          </p:nvSpPr>
          <p:spPr>
            <a:xfrm rot="10800000" flipV="1">
              <a:off x="1069985" y="5433011"/>
              <a:ext cx="383900" cy="287925"/>
            </a:xfrm>
            <a:prstGeom prst="triangle">
              <a:avLst/>
            </a:prstGeom>
            <a:solidFill>
              <a:srgbClr val="FF5050"/>
            </a:solidFill>
            <a:ln w="12700" cap="flat" cmpd="sng" algn="ctr">
              <a:solidFill>
                <a:srgbClr val="FF5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0" name="二等辺三角形 37">
              <a:extLst>
                <a:ext uri="{FF2B5EF4-FFF2-40B4-BE49-F238E27FC236}">
                  <a16:creationId xmlns:a16="http://schemas.microsoft.com/office/drawing/2014/main" id="{364B403F-918E-45B5-9034-CE470B4E41F8}"/>
                </a:ext>
              </a:extLst>
            </p:cNvPr>
            <p:cNvSpPr/>
            <p:nvPr/>
          </p:nvSpPr>
          <p:spPr>
            <a:xfrm rot="10800000" flipV="1">
              <a:off x="1069985" y="4957698"/>
              <a:ext cx="383900" cy="287925"/>
            </a:xfrm>
            <a:prstGeom prst="triangle">
              <a:avLst/>
            </a:prstGeom>
            <a:solidFill>
              <a:srgbClr val="FF5050"/>
            </a:solidFill>
            <a:ln w="12700" cap="flat" cmpd="sng" algn="ctr">
              <a:solidFill>
                <a:srgbClr val="FF5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1" name="二等辺三角形 38">
              <a:extLst>
                <a:ext uri="{FF2B5EF4-FFF2-40B4-BE49-F238E27FC236}">
                  <a16:creationId xmlns:a16="http://schemas.microsoft.com/office/drawing/2014/main" id="{AFB817F6-0293-4197-A5A3-03C4CC09F9C7}"/>
                </a:ext>
              </a:extLst>
            </p:cNvPr>
            <p:cNvSpPr/>
            <p:nvPr/>
          </p:nvSpPr>
          <p:spPr>
            <a:xfrm rot="16200000" flipH="1" flipV="1">
              <a:off x="1994515" y="4017009"/>
              <a:ext cx="383900" cy="287925"/>
            </a:xfrm>
            <a:prstGeom prst="triangle">
              <a:avLst/>
            </a:prstGeom>
            <a:solidFill>
              <a:srgbClr val="FF5050"/>
            </a:solidFill>
            <a:ln w="12700" cap="flat" cmpd="sng" algn="ctr">
              <a:solidFill>
                <a:srgbClr val="FF5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2" name="二等辺三角形 39">
              <a:extLst>
                <a:ext uri="{FF2B5EF4-FFF2-40B4-BE49-F238E27FC236}">
                  <a16:creationId xmlns:a16="http://schemas.microsoft.com/office/drawing/2014/main" id="{BB155321-37F7-4A88-B2AB-C315AE5A9B4A}"/>
                </a:ext>
              </a:extLst>
            </p:cNvPr>
            <p:cNvSpPr/>
            <p:nvPr/>
          </p:nvSpPr>
          <p:spPr>
            <a:xfrm rot="16200000" flipH="1" flipV="1">
              <a:off x="1547082" y="4017009"/>
              <a:ext cx="383900" cy="287925"/>
            </a:xfrm>
            <a:prstGeom prst="triangle">
              <a:avLst/>
            </a:prstGeom>
            <a:solidFill>
              <a:srgbClr val="FF5050"/>
            </a:solidFill>
            <a:ln w="12700" cap="flat" cmpd="sng" algn="ctr">
              <a:solidFill>
                <a:srgbClr val="FF5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3" name="二等辺三角形 40">
              <a:extLst>
                <a:ext uri="{FF2B5EF4-FFF2-40B4-BE49-F238E27FC236}">
                  <a16:creationId xmlns:a16="http://schemas.microsoft.com/office/drawing/2014/main" id="{9263C519-FD2B-47D0-927A-74EEC9574482}"/>
                </a:ext>
              </a:extLst>
            </p:cNvPr>
            <p:cNvSpPr/>
            <p:nvPr/>
          </p:nvSpPr>
          <p:spPr>
            <a:xfrm rot="16200000" flipH="1" flipV="1">
              <a:off x="1112353" y="4017009"/>
              <a:ext cx="383900" cy="287925"/>
            </a:xfrm>
            <a:prstGeom prst="triangle">
              <a:avLst/>
            </a:prstGeom>
            <a:solidFill>
              <a:srgbClr val="FF5050"/>
            </a:solidFill>
            <a:ln w="12700" cap="flat" cmpd="sng" algn="ctr">
              <a:solidFill>
                <a:srgbClr val="FF5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4" name="二等辺三角形 41">
              <a:extLst>
                <a:ext uri="{FF2B5EF4-FFF2-40B4-BE49-F238E27FC236}">
                  <a16:creationId xmlns:a16="http://schemas.microsoft.com/office/drawing/2014/main" id="{011D07ED-4DFB-4D57-B580-B7508D3E1C98}"/>
                </a:ext>
              </a:extLst>
            </p:cNvPr>
            <p:cNvSpPr/>
            <p:nvPr/>
          </p:nvSpPr>
          <p:spPr>
            <a:xfrm flipV="1">
              <a:off x="5242525" y="8056600"/>
              <a:ext cx="383900" cy="287925"/>
            </a:xfrm>
            <a:prstGeom prst="triangl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5" name="二等辺三角形 42">
              <a:extLst>
                <a:ext uri="{FF2B5EF4-FFF2-40B4-BE49-F238E27FC236}">
                  <a16:creationId xmlns:a16="http://schemas.microsoft.com/office/drawing/2014/main" id="{557C0F3D-1AF0-4336-8976-97C402044E16}"/>
                </a:ext>
              </a:extLst>
            </p:cNvPr>
            <p:cNvSpPr/>
            <p:nvPr/>
          </p:nvSpPr>
          <p:spPr>
            <a:xfrm flipV="1">
              <a:off x="5242525" y="9738679"/>
              <a:ext cx="383900" cy="287925"/>
            </a:xfrm>
            <a:prstGeom prst="triangl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6" name="二等辺三角形 43">
              <a:extLst>
                <a:ext uri="{FF2B5EF4-FFF2-40B4-BE49-F238E27FC236}">
                  <a16:creationId xmlns:a16="http://schemas.microsoft.com/office/drawing/2014/main" id="{A6CF60FD-E593-4126-9F36-BB4054F7494A}"/>
                </a:ext>
              </a:extLst>
            </p:cNvPr>
            <p:cNvSpPr/>
            <p:nvPr/>
          </p:nvSpPr>
          <p:spPr>
            <a:xfrm rot="10800000" flipV="1">
              <a:off x="1069985" y="4482384"/>
              <a:ext cx="383900" cy="287925"/>
            </a:xfrm>
            <a:prstGeom prst="triangle">
              <a:avLst/>
            </a:prstGeom>
            <a:solidFill>
              <a:srgbClr val="FF5050"/>
            </a:solidFill>
            <a:ln w="12700" cap="flat" cmpd="sng" algn="ctr">
              <a:solidFill>
                <a:srgbClr val="FF5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7" name="正方形/長方形 44">
              <a:extLst>
                <a:ext uri="{FF2B5EF4-FFF2-40B4-BE49-F238E27FC236}">
                  <a16:creationId xmlns:a16="http://schemas.microsoft.com/office/drawing/2014/main" id="{CB75E070-3197-4184-84E4-AD77A130A299}"/>
                </a:ext>
              </a:extLst>
            </p:cNvPr>
            <p:cNvSpPr/>
            <p:nvPr/>
          </p:nvSpPr>
          <p:spPr>
            <a:xfrm>
              <a:off x="1516436" y="10991826"/>
              <a:ext cx="767075" cy="5769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b="1" i="1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</a:rPr>
                <a:t>NG</a:t>
              </a:r>
              <a:endParaRPr kumimoji="0" lang="ja-JP" altLang="en-US" sz="1000" b="1" i="1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</a:endParaRPr>
            </a:p>
          </p:txBody>
        </p:sp>
        <p:grpSp>
          <p:nvGrpSpPr>
            <p:cNvPr id="218" name="グループ化 128">
              <a:extLst>
                <a:ext uri="{FF2B5EF4-FFF2-40B4-BE49-F238E27FC236}">
                  <a16:creationId xmlns:a16="http://schemas.microsoft.com/office/drawing/2014/main" id="{262BB401-DC58-435C-950D-B6390425A09A}"/>
                </a:ext>
              </a:extLst>
            </p:cNvPr>
            <p:cNvGrpSpPr>
              <a:grpSpLocks noChangeAspect="1"/>
            </p:cNvGrpSpPr>
            <p:nvPr/>
          </p:nvGrpSpPr>
          <p:grpSpPr>
            <a:xfrm flipH="1">
              <a:off x="7309448" y="3789383"/>
              <a:ext cx="287909" cy="575850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00" name="Oval 17">
                <a:extLst>
                  <a:ext uri="{FF2B5EF4-FFF2-40B4-BE49-F238E27FC236}">
                    <a16:creationId xmlns:a16="http://schemas.microsoft.com/office/drawing/2014/main" id="{FD9F82FB-79A5-4389-AA09-4D913646B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1986AF">
                      <a:lumMod val="110000"/>
                      <a:satMod val="105000"/>
                      <a:tint val="67000"/>
                    </a:srgbClr>
                  </a:gs>
                  <a:gs pos="50000">
                    <a:srgbClr val="1986AF">
                      <a:lumMod val="105000"/>
                      <a:satMod val="103000"/>
                      <a:tint val="73000"/>
                    </a:srgbClr>
                  </a:gs>
                  <a:gs pos="100000">
                    <a:srgbClr val="1986AF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1986AF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01" name="AutoShape 18">
                <a:extLst>
                  <a:ext uri="{FF2B5EF4-FFF2-40B4-BE49-F238E27FC236}">
                    <a16:creationId xmlns:a16="http://schemas.microsoft.com/office/drawing/2014/main" id="{53B04A4F-D572-43D4-A67A-9EC68A0673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1986AF">
                      <a:lumMod val="110000"/>
                      <a:satMod val="105000"/>
                      <a:tint val="67000"/>
                    </a:srgbClr>
                  </a:gs>
                  <a:gs pos="50000">
                    <a:srgbClr val="1986AF">
                      <a:lumMod val="105000"/>
                      <a:satMod val="103000"/>
                      <a:tint val="73000"/>
                    </a:srgbClr>
                  </a:gs>
                  <a:gs pos="100000">
                    <a:srgbClr val="1986AF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1986AF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219" name="グループ化 134">
              <a:extLst>
                <a:ext uri="{FF2B5EF4-FFF2-40B4-BE49-F238E27FC236}">
                  <a16:creationId xmlns:a16="http://schemas.microsoft.com/office/drawing/2014/main" id="{191EA237-9799-4379-8A18-08F8DE47B4C1}"/>
                </a:ext>
              </a:extLst>
            </p:cNvPr>
            <p:cNvGrpSpPr>
              <a:grpSpLocks noChangeAspect="1"/>
            </p:cNvGrpSpPr>
            <p:nvPr/>
          </p:nvGrpSpPr>
          <p:grpSpPr>
            <a:xfrm flipH="1">
              <a:off x="6298826" y="3597389"/>
              <a:ext cx="383900" cy="767845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98" name="Oval 17">
                <a:extLst>
                  <a:ext uri="{FF2B5EF4-FFF2-40B4-BE49-F238E27FC236}">
                    <a16:creationId xmlns:a16="http://schemas.microsoft.com/office/drawing/2014/main" id="{80916419-D903-41EF-B445-4001ADAD6B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9CB631">
                      <a:lumMod val="110000"/>
                      <a:satMod val="105000"/>
                      <a:tint val="67000"/>
                    </a:srgbClr>
                  </a:gs>
                  <a:gs pos="50000">
                    <a:srgbClr val="9CB631">
                      <a:lumMod val="105000"/>
                      <a:satMod val="103000"/>
                      <a:tint val="73000"/>
                    </a:srgbClr>
                  </a:gs>
                  <a:gs pos="100000">
                    <a:srgbClr val="9CB631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9CB631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99" name="AutoShape 18">
                <a:extLst>
                  <a:ext uri="{FF2B5EF4-FFF2-40B4-BE49-F238E27FC236}">
                    <a16:creationId xmlns:a16="http://schemas.microsoft.com/office/drawing/2014/main" id="{7DCA745C-E1E3-4339-831C-B66AA69076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9CB631">
                      <a:lumMod val="110000"/>
                      <a:satMod val="105000"/>
                      <a:tint val="67000"/>
                    </a:srgbClr>
                  </a:gs>
                  <a:gs pos="50000">
                    <a:srgbClr val="9CB631">
                      <a:lumMod val="105000"/>
                      <a:satMod val="103000"/>
                      <a:tint val="73000"/>
                    </a:srgbClr>
                  </a:gs>
                  <a:gs pos="100000">
                    <a:srgbClr val="9CB631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9CB631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220" name="グループ化 143">
              <a:extLst>
                <a:ext uri="{FF2B5EF4-FFF2-40B4-BE49-F238E27FC236}">
                  <a16:creationId xmlns:a16="http://schemas.microsoft.com/office/drawing/2014/main" id="{E62B97CD-3AD7-473D-8F13-73DEBE157DC7}"/>
                </a:ext>
              </a:extLst>
            </p:cNvPr>
            <p:cNvGrpSpPr>
              <a:grpSpLocks noChangeAspect="1"/>
            </p:cNvGrpSpPr>
            <p:nvPr/>
          </p:nvGrpSpPr>
          <p:grpSpPr>
            <a:xfrm flipH="1">
              <a:off x="7258661" y="5264832"/>
              <a:ext cx="383900" cy="767845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96" name="Oval 17">
                <a:extLst>
                  <a:ext uri="{FF2B5EF4-FFF2-40B4-BE49-F238E27FC236}">
                    <a16:creationId xmlns:a16="http://schemas.microsoft.com/office/drawing/2014/main" id="{22A200EF-9D6C-4531-8A9B-6D62A3080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1986AF">
                      <a:lumMod val="110000"/>
                      <a:satMod val="105000"/>
                      <a:tint val="67000"/>
                    </a:srgbClr>
                  </a:gs>
                  <a:gs pos="50000">
                    <a:srgbClr val="1986AF">
                      <a:lumMod val="105000"/>
                      <a:satMod val="103000"/>
                      <a:tint val="73000"/>
                    </a:srgbClr>
                  </a:gs>
                  <a:gs pos="100000">
                    <a:srgbClr val="1986AF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1986AF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97" name="AutoShape 18">
                <a:extLst>
                  <a:ext uri="{FF2B5EF4-FFF2-40B4-BE49-F238E27FC236}">
                    <a16:creationId xmlns:a16="http://schemas.microsoft.com/office/drawing/2014/main" id="{CE16A52E-3B65-4C16-A6E9-D99A48FB6A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1986AF">
                      <a:lumMod val="110000"/>
                      <a:satMod val="105000"/>
                      <a:tint val="67000"/>
                    </a:srgbClr>
                  </a:gs>
                  <a:gs pos="50000">
                    <a:srgbClr val="1986AF">
                      <a:lumMod val="105000"/>
                      <a:satMod val="103000"/>
                      <a:tint val="73000"/>
                    </a:srgbClr>
                  </a:gs>
                  <a:gs pos="100000">
                    <a:srgbClr val="1986AF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1986AF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221" name="グループ化 158">
              <a:extLst>
                <a:ext uri="{FF2B5EF4-FFF2-40B4-BE49-F238E27FC236}">
                  <a16:creationId xmlns:a16="http://schemas.microsoft.com/office/drawing/2014/main" id="{B7A687C3-1BF9-46DF-8FAE-B418CD3C3036}"/>
                </a:ext>
              </a:extLst>
            </p:cNvPr>
            <p:cNvGrpSpPr>
              <a:grpSpLocks noChangeAspect="1"/>
            </p:cNvGrpSpPr>
            <p:nvPr/>
          </p:nvGrpSpPr>
          <p:grpSpPr>
            <a:xfrm flipH="1">
              <a:off x="7258661" y="6904035"/>
              <a:ext cx="383900" cy="767845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94" name="Oval 17">
                <a:extLst>
                  <a:ext uri="{FF2B5EF4-FFF2-40B4-BE49-F238E27FC236}">
                    <a16:creationId xmlns:a16="http://schemas.microsoft.com/office/drawing/2014/main" id="{33AA8657-9632-4C00-8F50-9611E9DE45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1986AF">
                      <a:lumMod val="110000"/>
                      <a:satMod val="105000"/>
                      <a:tint val="67000"/>
                    </a:srgbClr>
                  </a:gs>
                  <a:gs pos="50000">
                    <a:srgbClr val="1986AF">
                      <a:lumMod val="105000"/>
                      <a:satMod val="103000"/>
                      <a:tint val="73000"/>
                    </a:srgbClr>
                  </a:gs>
                  <a:gs pos="100000">
                    <a:srgbClr val="1986AF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1986AF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95" name="AutoShape 18">
                <a:extLst>
                  <a:ext uri="{FF2B5EF4-FFF2-40B4-BE49-F238E27FC236}">
                    <a16:creationId xmlns:a16="http://schemas.microsoft.com/office/drawing/2014/main" id="{BC26C579-031B-4FC3-B8E7-FC5210A27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1986AF">
                      <a:lumMod val="110000"/>
                      <a:satMod val="105000"/>
                      <a:tint val="67000"/>
                    </a:srgbClr>
                  </a:gs>
                  <a:gs pos="50000">
                    <a:srgbClr val="1986AF">
                      <a:lumMod val="105000"/>
                      <a:satMod val="103000"/>
                      <a:tint val="73000"/>
                    </a:srgbClr>
                  </a:gs>
                  <a:gs pos="100000">
                    <a:srgbClr val="1986AF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1986AF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222" name="グループ化 179">
              <a:extLst>
                <a:ext uri="{FF2B5EF4-FFF2-40B4-BE49-F238E27FC236}">
                  <a16:creationId xmlns:a16="http://schemas.microsoft.com/office/drawing/2014/main" id="{102CD68A-C98F-49EE-AFC1-82AF536E5E61}"/>
                </a:ext>
              </a:extLst>
            </p:cNvPr>
            <p:cNvGrpSpPr>
              <a:grpSpLocks noChangeAspect="1"/>
            </p:cNvGrpSpPr>
            <p:nvPr/>
          </p:nvGrpSpPr>
          <p:grpSpPr>
            <a:xfrm flipH="1">
              <a:off x="6349615" y="10506852"/>
              <a:ext cx="287909" cy="575850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92" name="Oval 17">
                <a:extLst>
                  <a:ext uri="{FF2B5EF4-FFF2-40B4-BE49-F238E27FC236}">
                    <a16:creationId xmlns:a16="http://schemas.microsoft.com/office/drawing/2014/main" id="{CD544A13-25C7-4EDB-8763-20D96D776A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9CB631">
                      <a:lumMod val="110000"/>
                      <a:satMod val="105000"/>
                      <a:tint val="67000"/>
                    </a:srgbClr>
                  </a:gs>
                  <a:gs pos="50000">
                    <a:srgbClr val="9CB631">
                      <a:lumMod val="105000"/>
                      <a:satMod val="103000"/>
                      <a:tint val="73000"/>
                    </a:srgbClr>
                  </a:gs>
                  <a:gs pos="100000">
                    <a:srgbClr val="9CB631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9CB631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93" name="AutoShape 18">
                <a:extLst>
                  <a:ext uri="{FF2B5EF4-FFF2-40B4-BE49-F238E27FC236}">
                    <a16:creationId xmlns:a16="http://schemas.microsoft.com/office/drawing/2014/main" id="{E091B031-63D5-4189-B73F-83600D4A67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9CB631">
                      <a:lumMod val="110000"/>
                      <a:satMod val="105000"/>
                      <a:tint val="67000"/>
                    </a:srgbClr>
                  </a:gs>
                  <a:gs pos="50000">
                    <a:srgbClr val="9CB631">
                      <a:lumMod val="105000"/>
                      <a:satMod val="103000"/>
                      <a:tint val="73000"/>
                    </a:srgbClr>
                  </a:gs>
                  <a:gs pos="100000">
                    <a:srgbClr val="9CB631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9CB631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223" name="グループ化 188">
              <a:extLst>
                <a:ext uri="{FF2B5EF4-FFF2-40B4-BE49-F238E27FC236}">
                  <a16:creationId xmlns:a16="http://schemas.microsoft.com/office/drawing/2014/main" id="{4386E550-E552-47C2-AA17-41AA8074C4C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195669" y="8524421"/>
              <a:ext cx="383900" cy="767845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90" name="Oval 17">
                <a:extLst>
                  <a:ext uri="{FF2B5EF4-FFF2-40B4-BE49-F238E27FC236}">
                    <a16:creationId xmlns:a16="http://schemas.microsoft.com/office/drawing/2014/main" id="{71817AB1-5B1A-4304-B7A1-DF8C22F325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1986AF">
                      <a:lumMod val="110000"/>
                      <a:satMod val="105000"/>
                      <a:tint val="67000"/>
                    </a:srgbClr>
                  </a:gs>
                  <a:gs pos="50000">
                    <a:srgbClr val="1986AF">
                      <a:lumMod val="105000"/>
                      <a:satMod val="103000"/>
                      <a:tint val="73000"/>
                    </a:srgbClr>
                  </a:gs>
                  <a:gs pos="100000">
                    <a:srgbClr val="1986AF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1986AF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91" name="AutoShape 18">
                <a:extLst>
                  <a:ext uri="{FF2B5EF4-FFF2-40B4-BE49-F238E27FC236}">
                    <a16:creationId xmlns:a16="http://schemas.microsoft.com/office/drawing/2014/main" id="{DB3D5F3C-E113-40AC-943C-BF2478577F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1986AF">
                      <a:lumMod val="110000"/>
                      <a:satMod val="105000"/>
                      <a:tint val="67000"/>
                    </a:srgbClr>
                  </a:gs>
                  <a:gs pos="50000">
                    <a:srgbClr val="1986AF">
                      <a:lumMod val="105000"/>
                      <a:satMod val="103000"/>
                      <a:tint val="73000"/>
                    </a:srgbClr>
                  </a:gs>
                  <a:gs pos="100000">
                    <a:srgbClr val="1986AF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1986AF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224" name="グループ化 222">
              <a:extLst>
                <a:ext uri="{FF2B5EF4-FFF2-40B4-BE49-F238E27FC236}">
                  <a16:creationId xmlns:a16="http://schemas.microsoft.com/office/drawing/2014/main" id="{2AA6F1EC-AF49-49E8-B7F6-84964B67D720}"/>
                </a:ext>
              </a:extLst>
            </p:cNvPr>
            <p:cNvGrpSpPr>
              <a:grpSpLocks noChangeAspect="1"/>
            </p:cNvGrpSpPr>
            <p:nvPr/>
          </p:nvGrpSpPr>
          <p:grpSpPr>
            <a:xfrm flipH="1">
              <a:off x="7258661" y="12029852"/>
              <a:ext cx="383900" cy="767845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88" name="Oval 17">
                <a:extLst>
                  <a:ext uri="{FF2B5EF4-FFF2-40B4-BE49-F238E27FC236}">
                    <a16:creationId xmlns:a16="http://schemas.microsoft.com/office/drawing/2014/main" id="{736459EC-503B-4FED-9362-2CB48036E2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1986AF">
                      <a:lumMod val="110000"/>
                      <a:satMod val="105000"/>
                      <a:tint val="67000"/>
                    </a:srgbClr>
                  </a:gs>
                  <a:gs pos="50000">
                    <a:srgbClr val="1986AF">
                      <a:lumMod val="105000"/>
                      <a:satMod val="103000"/>
                      <a:tint val="73000"/>
                    </a:srgbClr>
                  </a:gs>
                  <a:gs pos="100000">
                    <a:srgbClr val="1986AF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1986AF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89" name="AutoShape 18">
                <a:extLst>
                  <a:ext uri="{FF2B5EF4-FFF2-40B4-BE49-F238E27FC236}">
                    <a16:creationId xmlns:a16="http://schemas.microsoft.com/office/drawing/2014/main" id="{E207BA90-911F-4083-8F79-73DAA27D32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1986AF">
                      <a:lumMod val="110000"/>
                      <a:satMod val="105000"/>
                      <a:tint val="67000"/>
                    </a:srgbClr>
                  </a:gs>
                  <a:gs pos="50000">
                    <a:srgbClr val="1986AF">
                      <a:lumMod val="105000"/>
                      <a:satMod val="103000"/>
                      <a:tint val="73000"/>
                    </a:srgbClr>
                  </a:gs>
                  <a:gs pos="100000">
                    <a:srgbClr val="1986AF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1986AF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225" name="グループ化 225">
              <a:extLst>
                <a:ext uri="{FF2B5EF4-FFF2-40B4-BE49-F238E27FC236}">
                  <a16:creationId xmlns:a16="http://schemas.microsoft.com/office/drawing/2014/main" id="{168D17BC-C7A9-4D54-AC7A-FF692DA9A0AC}"/>
                </a:ext>
              </a:extLst>
            </p:cNvPr>
            <p:cNvGrpSpPr>
              <a:grpSpLocks noChangeAspect="1"/>
            </p:cNvGrpSpPr>
            <p:nvPr/>
          </p:nvGrpSpPr>
          <p:grpSpPr>
            <a:xfrm flipH="1">
              <a:off x="6829533" y="12221845"/>
              <a:ext cx="287909" cy="575850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86" name="Oval 17">
                <a:extLst>
                  <a:ext uri="{FF2B5EF4-FFF2-40B4-BE49-F238E27FC236}">
                    <a16:creationId xmlns:a16="http://schemas.microsoft.com/office/drawing/2014/main" id="{613BD65A-0137-489B-8CD1-6784FD2724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FB8635">
                      <a:lumMod val="110000"/>
                      <a:satMod val="105000"/>
                      <a:tint val="67000"/>
                    </a:srgbClr>
                  </a:gs>
                  <a:gs pos="50000">
                    <a:srgbClr val="FB8635">
                      <a:lumMod val="105000"/>
                      <a:satMod val="103000"/>
                      <a:tint val="73000"/>
                    </a:srgbClr>
                  </a:gs>
                  <a:gs pos="100000">
                    <a:srgbClr val="FB8635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FB8635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87" name="AutoShape 18">
                <a:extLst>
                  <a:ext uri="{FF2B5EF4-FFF2-40B4-BE49-F238E27FC236}">
                    <a16:creationId xmlns:a16="http://schemas.microsoft.com/office/drawing/2014/main" id="{F65602DA-8124-4C85-93F6-AAFF0ECA29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FB8635">
                      <a:lumMod val="110000"/>
                      <a:satMod val="105000"/>
                      <a:tint val="67000"/>
                    </a:srgbClr>
                  </a:gs>
                  <a:gs pos="50000">
                    <a:srgbClr val="FB8635">
                      <a:lumMod val="105000"/>
                      <a:satMod val="103000"/>
                      <a:tint val="73000"/>
                    </a:srgbClr>
                  </a:gs>
                  <a:gs pos="100000">
                    <a:srgbClr val="FB8635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FB8635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sp>
          <p:nvSpPr>
            <p:cNvPr id="226" name="二等辺三角形 133">
              <a:extLst>
                <a:ext uri="{FF2B5EF4-FFF2-40B4-BE49-F238E27FC236}">
                  <a16:creationId xmlns:a16="http://schemas.microsoft.com/office/drawing/2014/main" id="{F261C525-3128-4BE9-8B0E-5D784A49F9B2}"/>
                </a:ext>
              </a:extLst>
            </p:cNvPr>
            <p:cNvSpPr/>
            <p:nvPr/>
          </p:nvSpPr>
          <p:spPr>
            <a:xfrm rot="10800000" flipV="1">
              <a:off x="1065984" y="10189538"/>
              <a:ext cx="383900" cy="287925"/>
            </a:xfrm>
            <a:prstGeom prst="triangle">
              <a:avLst/>
            </a:prstGeom>
            <a:solidFill>
              <a:srgbClr val="FF5050"/>
            </a:solidFill>
            <a:ln w="12700" cap="flat" cmpd="sng" algn="ctr">
              <a:solidFill>
                <a:srgbClr val="FF5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7" name="二等辺三角形 134">
              <a:extLst>
                <a:ext uri="{FF2B5EF4-FFF2-40B4-BE49-F238E27FC236}">
                  <a16:creationId xmlns:a16="http://schemas.microsoft.com/office/drawing/2014/main" id="{A32054B0-ECFF-4E0F-8F3C-C88A702EE19F}"/>
                </a:ext>
              </a:extLst>
            </p:cNvPr>
            <p:cNvSpPr/>
            <p:nvPr/>
          </p:nvSpPr>
          <p:spPr>
            <a:xfrm rot="10800000" flipV="1">
              <a:off x="1061982" y="10716507"/>
              <a:ext cx="383900" cy="287925"/>
            </a:xfrm>
            <a:prstGeom prst="triangle">
              <a:avLst/>
            </a:prstGeom>
            <a:solidFill>
              <a:srgbClr val="FF5050"/>
            </a:solidFill>
            <a:ln w="12700" cap="flat" cmpd="sng" algn="ctr">
              <a:solidFill>
                <a:srgbClr val="FF5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8" name="二等辺三角形 136">
              <a:extLst>
                <a:ext uri="{FF2B5EF4-FFF2-40B4-BE49-F238E27FC236}">
                  <a16:creationId xmlns:a16="http://schemas.microsoft.com/office/drawing/2014/main" id="{661F7898-743B-4958-AB80-16F5D5FE8198}"/>
                </a:ext>
              </a:extLst>
            </p:cNvPr>
            <p:cNvSpPr/>
            <p:nvPr/>
          </p:nvSpPr>
          <p:spPr>
            <a:xfrm flipV="1">
              <a:off x="4063928" y="8642532"/>
              <a:ext cx="383900" cy="287925"/>
            </a:xfrm>
            <a:prstGeom prst="triangl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9" name="二等辺三角形 137">
              <a:extLst>
                <a:ext uri="{FF2B5EF4-FFF2-40B4-BE49-F238E27FC236}">
                  <a16:creationId xmlns:a16="http://schemas.microsoft.com/office/drawing/2014/main" id="{8CC0FDAA-4139-4CFC-B04B-B452FB0F58C1}"/>
                </a:ext>
              </a:extLst>
            </p:cNvPr>
            <p:cNvSpPr/>
            <p:nvPr/>
          </p:nvSpPr>
          <p:spPr>
            <a:xfrm flipV="1">
              <a:off x="4059926" y="9241907"/>
              <a:ext cx="383900" cy="287925"/>
            </a:xfrm>
            <a:prstGeom prst="triangl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30" name="二等辺三角形 138">
              <a:extLst>
                <a:ext uri="{FF2B5EF4-FFF2-40B4-BE49-F238E27FC236}">
                  <a16:creationId xmlns:a16="http://schemas.microsoft.com/office/drawing/2014/main" id="{E7575544-6CBE-47B9-8EC9-9990C167D0DC}"/>
                </a:ext>
              </a:extLst>
            </p:cNvPr>
            <p:cNvSpPr/>
            <p:nvPr/>
          </p:nvSpPr>
          <p:spPr>
            <a:xfrm flipV="1">
              <a:off x="4031790" y="9841282"/>
              <a:ext cx="383900" cy="287925"/>
            </a:xfrm>
            <a:prstGeom prst="triangle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231" name="グループ化 158">
              <a:extLst>
                <a:ext uri="{FF2B5EF4-FFF2-40B4-BE49-F238E27FC236}">
                  <a16:creationId xmlns:a16="http://schemas.microsoft.com/office/drawing/2014/main" id="{0558848D-F782-4779-A7E5-5CDDB0464CF0}"/>
                </a:ext>
              </a:extLst>
            </p:cNvPr>
            <p:cNvGrpSpPr>
              <a:grpSpLocks noChangeAspect="1"/>
            </p:cNvGrpSpPr>
            <p:nvPr/>
          </p:nvGrpSpPr>
          <p:grpSpPr>
            <a:xfrm flipH="1">
              <a:off x="7254638" y="10324634"/>
              <a:ext cx="383900" cy="767845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84" name="Oval 17">
                <a:extLst>
                  <a:ext uri="{FF2B5EF4-FFF2-40B4-BE49-F238E27FC236}">
                    <a16:creationId xmlns:a16="http://schemas.microsoft.com/office/drawing/2014/main" id="{7522698F-EEE2-48AE-AED2-091A8198F2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1986AF">
                      <a:lumMod val="110000"/>
                      <a:satMod val="105000"/>
                      <a:tint val="67000"/>
                    </a:srgbClr>
                  </a:gs>
                  <a:gs pos="50000">
                    <a:srgbClr val="1986AF">
                      <a:lumMod val="105000"/>
                      <a:satMod val="103000"/>
                      <a:tint val="73000"/>
                    </a:srgbClr>
                  </a:gs>
                  <a:gs pos="100000">
                    <a:srgbClr val="1986AF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1986AF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85" name="AutoShape 18">
                <a:extLst>
                  <a:ext uri="{FF2B5EF4-FFF2-40B4-BE49-F238E27FC236}">
                    <a16:creationId xmlns:a16="http://schemas.microsoft.com/office/drawing/2014/main" id="{A2E83685-11C8-489B-B7DA-06C1B8B8A6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1986AF">
                      <a:lumMod val="110000"/>
                      <a:satMod val="105000"/>
                      <a:tint val="67000"/>
                    </a:srgbClr>
                  </a:gs>
                  <a:gs pos="50000">
                    <a:srgbClr val="1986AF">
                      <a:lumMod val="105000"/>
                      <a:satMod val="103000"/>
                      <a:tint val="73000"/>
                    </a:srgbClr>
                  </a:gs>
                  <a:gs pos="100000">
                    <a:srgbClr val="1986AF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1986AF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232" name="グループ化 161">
              <a:extLst>
                <a:ext uri="{FF2B5EF4-FFF2-40B4-BE49-F238E27FC236}">
                  <a16:creationId xmlns:a16="http://schemas.microsoft.com/office/drawing/2014/main" id="{B5ED9A0C-3195-4562-A3FA-2A5DF7F1D3C9}"/>
                </a:ext>
              </a:extLst>
            </p:cNvPr>
            <p:cNvGrpSpPr>
              <a:grpSpLocks noChangeAspect="1"/>
            </p:cNvGrpSpPr>
            <p:nvPr/>
          </p:nvGrpSpPr>
          <p:grpSpPr>
            <a:xfrm flipH="1">
              <a:off x="6801375" y="10492493"/>
              <a:ext cx="287909" cy="575850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82" name="Oval 17">
                <a:extLst>
                  <a:ext uri="{FF2B5EF4-FFF2-40B4-BE49-F238E27FC236}">
                    <a16:creationId xmlns:a16="http://schemas.microsoft.com/office/drawing/2014/main" id="{D7CF13C3-DA18-4580-9AF0-4D4B07457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FB8635">
                      <a:lumMod val="110000"/>
                      <a:satMod val="105000"/>
                      <a:tint val="67000"/>
                    </a:srgbClr>
                  </a:gs>
                  <a:gs pos="50000">
                    <a:srgbClr val="FB8635">
                      <a:lumMod val="105000"/>
                      <a:satMod val="103000"/>
                      <a:tint val="73000"/>
                    </a:srgbClr>
                  </a:gs>
                  <a:gs pos="100000">
                    <a:srgbClr val="FB8635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FB8635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83" name="AutoShape 18">
                <a:extLst>
                  <a:ext uri="{FF2B5EF4-FFF2-40B4-BE49-F238E27FC236}">
                    <a16:creationId xmlns:a16="http://schemas.microsoft.com/office/drawing/2014/main" id="{03CA6E09-5B15-4D61-96A3-D84331E23B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FB8635">
                      <a:lumMod val="110000"/>
                      <a:satMod val="105000"/>
                      <a:tint val="67000"/>
                    </a:srgbClr>
                  </a:gs>
                  <a:gs pos="50000">
                    <a:srgbClr val="FB8635">
                      <a:lumMod val="105000"/>
                      <a:satMod val="103000"/>
                      <a:tint val="73000"/>
                    </a:srgbClr>
                  </a:gs>
                  <a:gs pos="100000">
                    <a:srgbClr val="FB8635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FB8635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sp>
          <p:nvSpPr>
            <p:cNvPr id="233" name="正方形/長方形 145">
              <a:extLst>
                <a:ext uri="{FF2B5EF4-FFF2-40B4-BE49-F238E27FC236}">
                  <a16:creationId xmlns:a16="http://schemas.microsoft.com/office/drawing/2014/main" id="{BBED19A4-1128-4C35-A7EC-E1503C0BB9C0}"/>
                </a:ext>
              </a:extLst>
            </p:cNvPr>
            <p:cNvSpPr/>
            <p:nvPr/>
          </p:nvSpPr>
          <p:spPr>
            <a:xfrm>
              <a:off x="6796530" y="12831402"/>
              <a:ext cx="1382975" cy="5769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</a:rPr>
                <a:t>Detector</a:t>
              </a:r>
              <a:endParaRPr kumimoji="0" lang="ja-JP" alt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</a:endParaRPr>
            </a:p>
          </p:txBody>
        </p:sp>
        <p:sp>
          <p:nvSpPr>
            <p:cNvPr id="234" name="角丸四角形 226">
              <a:extLst>
                <a:ext uri="{FF2B5EF4-FFF2-40B4-BE49-F238E27FC236}">
                  <a16:creationId xmlns:a16="http://schemas.microsoft.com/office/drawing/2014/main" id="{1C64FA47-CFD8-49F7-9C43-39C19B6DE64C}"/>
                </a:ext>
              </a:extLst>
            </p:cNvPr>
            <p:cNvSpPr/>
            <p:nvPr/>
          </p:nvSpPr>
          <p:spPr>
            <a:xfrm>
              <a:off x="19437779" y="5740078"/>
              <a:ext cx="4606800" cy="4101204"/>
            </a:xfrm>
            <a:prstGeom prst="roundRect">
              <a:avLst>
                <a:gd name="adj" fmla="val 5146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65000"/>
                </a:sysClr>
              </a:solidFill>
              <a:prstDash val="sysDash"/>
              <a:miter lim="800000"/>
            </a:ln>
            <a:effectLst/>
          </p:spPr>
          <p:txBody>
            <a:bodyPr vert="horz" rtlCol="0" anchor="ctr"/>
            <a:lstStyle/>
            <a:p>
              <a:pPr marL="0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235" name="角丸四角形 227">
              <a:extLst>
                <a:ext uri="{FF2B5EF4-FFF2-40B4-BE49-F238E27FC236}">
                  <a16:creationId xmlns:a16="http://schemas.microsoft.com/office/drawing/2014/main" id="{6BC5123F-464F-413C-9115-F47ADE49EC9F}"/>
                </a:ext>
              </a:extLst>
            </p:cNvPr>
            <p:cNvSpPr/>
            <p:nvPr/>
          </p:nvSpPr>
          <p:spPr>
            <a:xfrm>
              <a:off x="19437780" y="10106815"/>
              <a:ext cx="4675555" cy="1309467"/>
            </a:xfrm>
            <a:prstGeom prst="roundRect">
              <a:avLst>
                <a:gd name="adj" fmla="val 8971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65000"/>
                </a:sysClr>
              </a:solidFill>
              <a:prstDash val="sysDash"/>
              <a:miter lim="800000"/>
            </a:ln>
            <a:effectLst/>
          </p:spPr>
          <p:txBody>
            <a:bodyPr vert="horz" rtlCol="0" anchor="ctr"/>
            <a:lstStyle/>
            <a:p>
              <a:pPr marL="0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  <a:cs typeface="+mn-cs"/>
              </a:endParaRPr>
            </a:p>
          </p:txBody>
        </p:sp>
        <p:grpSp>
          <p:nvGrpSpPr>
            <p:cNvPr id="236" name="グループ化 275">
              <a:extLst>
                <a:ext uri="{FF2B5EF4-FFF2-40B4-BE49-F238E27FC236}">
                  <a16:creationId xmlns:a16="http://schemas.microsoft.com/office/drawing/2014/main" id="{0982CF85-8780-44DC-AD6E-841A677E174E}"/>
                </a:ext>
              </a:extLst>
            </p:cNvPr>
            <p:cNvGrpSpPr>
              <a:grpSpLocks noChangeAspect="1"/>
            </p:cNvGrpSpPr>
            <p:nvPr/>
          </p:nvGrpSpPr>
          <p:grpSpPr>
            <a:xfrm flipH="1">
              <a:off x="19747235" y="7837037"/>
              <a:ext cx="383900" cy="767845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80" name="Oval 17">
                <a:extLst>
                  <a:ext uri="{FF2B5EF4-FFF2-40B4-BE49-F238E27FC236}">
                    <a16:creationId xmlns:a16="http://schemas.microsoft.com/office/drawing/2014/main" id="{312C9D21-06D1-44DC-B0D2-37055B5405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1986AF">
                      <a:lumMod val="110000"/>
                      <a:satMod val="105000"/>
                      <a:tint val="67000"/>
                    </a:srgbClr>
                  </a:gs>
                  <a:gs pos="50000">
                    <a:srgbClr val="1986AF">
                      <a:lumMod val="105000"/>
                      <a:satMod val="103000"/>
                      <a:tint val="73000"/>
                    </a:srgbClr>
                  </a:gs>
                  <a:gs pos="100000">
                    <a:srgbClr val="1986AF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1986AF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81" name="AutoShape 18">
                <a:extLst>
                  <a:ext uri="{FF2B5EF4-FFF2-40B4-BE49-F238E27FC236}">
                    <a16:creationId xmlns:a16="http://schemas.microsoft.com/office/drawing/2014/main" id="{FD96047D-1645-4355-82DC-D602A43FD7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1986AF">
                      <a:lumMod val="110000"/>
                      <a:satMod val="105000"/>
                      <a:tint val="67000"/>
                    </a:srgbClr>
                  </a:gs>
                  <a:gs pos="50000">
                    <a:srgbClr val="1986AF">
                      <a:lumMod val="105000"/>
                      <a:satMod val="103000"/>
                      <a:tint val="73000"/>
                    </a:srgbClr>
                  </a:gs>
                  <a:gs pos="100000">
                    <a:srgbClr val="1986AF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1986AF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237" name="グループ化 278">
              <a:extLst>
                <a:ext uri="{FF2B5EF4-FFF2-40B4-BE49-F238E27FC236}">
                  <a16:creationId xmlns:a16="http://schemas.microsoft.com/office/drawing/2014/main" id="{4E1A2079-93CE-403F-AD32-88CE9DD85F2F}"/>
                </a:ext>
              </a:extLst>
            </p:cNvPr>
            <p:cNvGrpSpPr>
              <a:grpSpLocks noChangeAspect="1"/>
            </p:cNvGrpSpPr>
            <p:nvPr/>
          </p:nvGrpSpPr>
          <p:grpSpPr>
            <a:xfrm flipH="1">
              <a:off x="19747235" y="6925173"/>
              <a:ext cx="383900" cy="767845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78" name="Oval 17">
                <a:extLst>
                  <a:ext uri="{FF2B5EF4-FFF2-40B4-BE49-F238E27FC236}">
                    <a16:creationId xmlns:a16="http://schemas.microsoft.com/office/drawing/2014/main" id="{1B8FF56D-87BE-4C44-B4E4-6DE01B3E43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FB8635">
                      <a:lumMod val="110000"/>
                      <a:satMod val="105000"/>
                      <a:tint val="67000"/>
                    </a:srgbClr>
                  </a:gs>
                  <a:gs pos="50000">
                    <a:srgbClr val="FB8635">
                      <a:lumMod val="105000"/>
                      <a:satMod val="103000"/>
                      <a:tint val="73000"/>
                    </a:srgbClr>
                  </a:gs>
                  <a:gs pos="100000">
                    <a:srgbClr val="FB8635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FB8635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9" name="AutoShape 18">
                <a:extLst>
                  <a:ext uri="{FF2B5EF4-FFF2-40B4-BE49-F238E27FC236}">
                    <a16:creationId xmlns:a16="http://schemas.microsoft.com/office/drawing/2014/main" id="{0043C3DD-35C8-41DC-A2C0-CB5F11E89F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FB8635">
                      <a:lumMod val="110000"/>
                      <a:satMod val="105000"/>
                      <a:tint val="67000"/>
                    </a:srgbClr>
                  </a:gs>
                  <a:gs pos="50000">
                    <a:srgbClr val="FB8635">
                      <a:lumMod val="105000"/>
                      <a:satMod val="103000"/>
                      <a:tint val="73000"/>
                    </a:srgbClr>
                  </a:gs>
                  <a:gs pos="100000">
                    <a:srgbClr val="FB8635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FB8635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238" name="グループ化 281">
              <a:extLst>
                <a:ext uri="{FF2B5EF4-FFF2-40B4-BE49-F238E27FC236}">
                  <a16:creationId xmlns:a16="http://schemas.microsoft.com/office/drawing/2014/main" id="{64360693-5C2F-43CC-A9E2-0E676BCFA879}"/>
                </a:ext>
              </a:extLst>
            </p:cNvPr>
            <p:cNvGrpSpPr>
              <a:grpSpLocks noChangeAspect="1"/>
            </p:cNvGrpSpPr>
            <p:nvPr/>
          </p:nvGrpSpPr>
          <p:grpSpPr>
            <a:xfrm flipH="1">
              <a:off x="19747235" y="6013310"/>
              <a:ext cx="383900" cy="767845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76" name="Oval 17">
                <a:extLst>
                  <a:ext uri="{FF2B5EF4-FFF2-40B4-BE49-F238E27FC236}">
                    <a16:creationId xmlns:a16="http://schemas.microsoft.com/office/drawing/2014/main" id="{BBC0ABAB-AE34-4A4E-BEF1-D914701AB0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9CB631">
                      <a:lumMod val="110000"/>
                      <a:satMod val="105000"/>
                      <a:tint val="67000"/>
                    </a:srgbClr>
                  </a:gs>
                  <a:gs pos="50000">
                    <a:srgbClr val="9CB631">
                      <a:lumMod val="105000"/>
                      <a:satMod val="103000"/>
                      <a:tint val="73000"/>
                    </a:srgbClr>
                  </a:gs>
                  <a:gs pos="100000">
                    <a:srgbClr val="9CB631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9CB631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7" name="AutoShape 18">
                <a:extLst>
                  <a:ext uri="{FF2B5EF4-FFF2-40B4-BE49-F238E27FC236}">
                    <a16:creationId xmlns:a16="http://schemas.microsoft.com/office/drawing/2014/main" id="{8339E194-B372-4CE2-A8BD-4DE181B02A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9CB631">
                      <a:lumMod val="110000"/>
                      <a:satMod val="105000"/>
                      <a:tint val="67000"/>
                    </a:srgbClr>
                  </a:gs>
                  <a:gs pos="50000">
                    <a:srgbClr val="9CB631">
                      <a:lumMod val="105000"/>
                      <a:satMod val="103000"/>
                      <a:tint val="73000"/>
                    </a:srgbClr>
                  </a:gs>
                  <a:gs pos="100000">
                    <a:srgbClr val="9CB631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9CB631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239" name="グループ化 284">
              <a:extLst>
                <a:ext uri="{FF2B5EF4-FFF2-40B4-BE49-F238E27FC236}">
                  <a16:creationId xmlns:a16="http://schemas.microsoft.com/office/drawing/2014/main" id="{7AE69742-32EF-448E-85AB-5330EBF5895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9747235" y="8773036"/>
              <a:ext cx="383900" cy="767845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74" name="Oval 17">
                <a:extLst>
                  <a:ext uri="{FF2B5EF4-FFF2-40B4-BE49-F238E27FC236}">
                    <a16:creationId xmlns:a16="http://schemas.microsoft.com/office/drawing/2014/main" id="{E467FD2A-172D-44DA-9F1C-58E8F3BE4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D53E23">
                      <a:lumMod val="110000"/>
                      <a:satMod val="105000"/>
                      <a:tint val="67000"/>
                    </a:srgbClr>
                  </a:gs>
                  <a:gs pos="50000">
                    <a:srgbClr val="D53E23">
                      <a:lumMod val="105000"/>
                      <a:satMod val="103000"/>
                      <a:tint val="73000"/>
                    </a:srgbClr>
                  </a:gs>
                  <a:gs pos="100000">
                    <a:srgbClr val="D53E23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D53E23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5" name="AutoShape 18">
                <a:extLst>
                  <a:ext uri="{FF2B5EF4-FFF2-40B4-BE49-F238E27FC236}">
                    <a16:creationId xmlns:a16="http://schemas.microsoft.com/office/drawing/2014/main" id="{498E0D46-90CD-4666-BE34-DD46CC1F61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D53E23">
                      <a:lumMod val="110000"/>
                      <a:satMod val="105000"/>
                      <a:tint val="67000"/>
                    </a:srgbClr>
                  </a:gs>
                  <a:gs pos="50000">
                    <a:srgbClr val="D53E23">
                      <a:lumMod val="105000"/>
                      <a:satMod val="103000"/>
                      <a:tint val="73000"/>
                    </a:srgbClr>
                  </a:gs>
                  <a:gs pos="100000">
                    <a:srgbClr val="D53E23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D53E23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sp>
          <p:nvSpPr>
            <p:cNvPr id="240" name="正方形/長方形 243">
              <a:extLst>
                <a:ext uri="{FF2B5EF4-FFF2-40B4-BE49-F238E27FC236}">
                  <a16:creationId xmlns:a16="http://schemas.microsoft.com/office/drawing/2014/main" id="{C841EEF1-6B8F-456E-9649-86982F4E7C35}"/>
                </a:ext>
              </a:extLst>
            </p:cNvPr>
            <p:cNvSpPr/>
            <p:nvPr/>
          </p:nvSpPr>
          <p:spPr>
            <a:xfrm>
              <a:off x="20204252" y="6053940"/>
              <a:ext cx="3838222" cy="5769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</a:rPr>
                <a:t>FPT Project managers</a:t>
              </a:r>
              <a:endParaRPr kumimoji="0" lang="ja-JP" alt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</a:endParaRPr>
            </a:p>
          </p:txBody>
        </p:sp>
        <p:sp>
          <p:nvSpPr>
            <p:cNvPr id="241" name="正方形/長方形 245">
              <a:extLst>
                <a:ext uri="{FF2B5EF4-FFF2-40B4-BE49-F238E27FC236}">
                  <a16:creationId xmlns:a16="http://schemas.microsoft.com/office/drawing/2014/main" id="{AA2E7052-BFA2-437A-8A12-16D151B5E123}"/>
                </a:ext>
              </a:extLst>
            </p:cNvPr>
            <p:cNvSpPr/>
            <p:nvPr/>
          </p:nvSpPr>
          <p:spPr>
            <a:xfrm>
              <a:off x="20205664" y="7841825"/>
              <a:ext cx="3838999" cy="5769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</a:rPr>
                <a:t>Developer PIC</a:t>
              </a:r>
              <a:endParaRPr kumimoji="0" lang="ja-JP" alt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</a:endParaRPr>
            </a:p>
          </p:txBody>
        </p:sp>
        <p:sp>
          <p:nvSpPr>
            <p:cNvPr id="242" name="正方形/長方形 246">
              <a:extLst>
                <a:ext uri="{FF2B5EF4-FFF2-40B4-BE49-F238E27FC236}">
                  <a16:creationId xmlns:a16="http://schemas.microsoft.com/office/drawing/2014/main" id="{59D23A4F-E394-4D3A-AE27-B9E13B795896}"/>
                </a:ext>
              </a:extLst>
            </p:cNvPr>
            <p:cNvSpPr/>
            <p:nvPr/>
          </p:nvSpPr>
          <p:spPr>
            <a:xfrm>
              <a:off x="20205664" y="6980441"/>
              <a:ext cx="4171986" cy="5769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</a:rPr>
                <a:t>Feature Leaders</a:t>
              </a:r>
              <a:endParaRPr kumimoji="0" lang="ja-JP" alt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</a:endParaRPr>
            </a:p>
          </p:txBody>
        </p:sp>
        <p:sp>
          <p:nvSpPr>
            <p:cNvPr id="243" name="正方形/長方形 247">
              <a:extLst>
                <a:ext uri="{FF2B5EF4-FFF2-40B4-BE49-F238E27FC236}">
                  <a16:creationId xmlns:a16="http://schemas.microsoft.com/office/drawing/2014/main" id="{AD4A5136-791B-4E7E-B003-42C84832CDAE}"/>
                </a:ext>
              </a:extLst>
            </p:cNvPr>
            <p:cNvSpPr/>
            <p:nvPr/>
          </p:nvSpPr>
          <p:spPr>
            <a:xfrm>
              <a:off x="20185126" y="8801680"/>
              <a:ext cx="4179834" cy="5769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</a:rPr>
                <a:t>Testers</a:t>
              </a:r>
              <a:endParaRPr kumimoji="0" lang="ja-JP" alt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</a:endParaRPr>
            </a:p>
          </p:txBody>
        </p:sp>
        <p:grpSp>
          <p:nvGrpSpPr>
            <p:cNvPr id="244" name="グループ化 157">
              <a:extLst>
                <a:ext uri="{FF2B5EF4-FFF2-40B4-BE49-F238E27FC236}">
                  <a16:creationId xmlns:a16="http://schemas.microsoft.com/office/drawing/2014/main" id="{AB10262D-CBA2-4B56-8E1C-C9D2953F148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9747235" y="10321387"/>
              <a:ext cx="383900" cy="767845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72" name="Oval 17">
                <a:extLst>
                  <a:ext uri="{FF2B5EF4-FFF2-40B4-BE49-F238E27FC236}">
                    <a16:creationId xmlns:a16="http://schemas.microsoft.com/office/drawing/2014/main" id="{1FEA9998-37B3-4261-8D7D-B1A85CF000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445469">
                      <a:lumMod val="110000"/>
                      <a:satMod val="105000"/>
                      <a:tint val="67000"/>
                    </a:srgbClr>
                  </a:gs>
                  <a:gs pos="50000">
                    <a:srgbClr val="445469">
                      <a:lumMod val="105000"/>
                      <a:satMod val="103000"/>
                      <a:tint val="73000"/>
                    </a:srgbClr>
                  </a:gs>
                  <a:gs pos="100000">
                    <a:srgbClr val="445469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445469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3" name="AutoShape 18">
                <a:extLst>
                  <a:ext uri="{FF2B5EF4-FFF2-40B4-BE49-F238E27FC236}">
                    <a16:creationId xmlns:a16="http://schemas.microsoft.com/office/drawing/2014/main" id="{2EEA4F33-3889-4C52-9DF9-5257DA7C20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445469">
                      <a:lumMod val="110000"/>
                      <a:satMod val="105000"/>
                      <a:tint val="67000"/>
                    </a:srgbClr>
                  </a:gs>
                  <a:gs pos="50000">
                    <a:srgbClr val="445469">
                      <a:lumMod val="105000"/>
                      <a:satMod val="103000"/>
                      <a:tint val="73000"/>
                    </a:srgbClr>
                  </a:gs>
                  <a:gs pos="100000">
                    <a:srgbClr val="445469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445469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sp>
          <p:nvSpPr>
            <p:cNvPr id="245" name="正方形/長方形 251">
              <a:extLst>
                <a:ext uri="{FF2B5EF4-FFF2-40B4-BE49-F238E27FC236}">
                  <a16:creationId xmlns:a16="http://schemas.microsoft.com/office/drawing/2014/main" id="{C485F11F-57DE-4E90-938C-1258FE9AD22D}"/>
                </a:ext>
              </a:extLst>
            </p:cNvPr>
            <p:cNvSpPr/>
            <p:nvPr/>
          </p:nvSpPr>
          <p:spPr>
            <a:xfrm>
              <a:off x="20205664" y="10402646"/>
              <a:ext cx="3838999" cy="5769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</a:rPr>
                <a:t>Main</a:t>
              </a:r>
              <a:endParaRPr kumimoji="0" lang="ja-JP" alt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</a:endParaRPr>
            </a:p>
          </p:txBody>
        </p:sp>
        <p:grpSp>
          <p:nvGrpSpPr>
            <p:cNvPr id="246" name="グループ化 167">
              <a:extLst>
                <a:ext uri="{FF2B5EF4-FFF2-40B4-BE49-F238E27FC236}">
                  <a16:creationId xmlns:a16="http://schemas.microsoft.com/office/drawing/2014/main" id="{272238C1-F1D1-4D12-8502-D3E228C3958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1836053" y="10474726"/>
              <a:ext cx="287925" cy="575885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70" name="Oval 17">
                <a:extLst>
                  <a:ext uri="{FF2B5EF4-FFF2-40B4-BE49-F238E27FC236}">
                    <a16:creationId xmlns:a16="http://schemas.microsoft.com/office/drawing/2014/main" id="{5DD9F6A0-DD72-4080-A680-4F83BA543C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445469">
                      <a:lumMod val="110000"/>
                      <a:satMod val="105000"/>
                      <a:tint val="67000"/>
                    </a:srgbClr>
                  </a:gs>
                  <a:gs pos="50000">
                    <a:srgbClr val="445469">
                      <a:lumMod val="105000"/>
                      <a:satMod val="103000"/>
                      <a:tint val="73000"/>
                    </a:srgbClr>
                  </a:gs>
                  <a:gs pos="100000">
                    <a:srgbClr val="445469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445469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" name="AutoShape 18">
                <a:extLst>
                  <a:ext uri="{FF2B5EF4-FFF2-40B4-BE49-F238E27FC236}">
                    <a16:creationId xmlns:a16="http://schemas.microsoft.com/office/drawing/2014/main" id="{89DA783F-4792-4A02-AEC8-7DC5E346A2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445469">
                      <a:lumMod val="110000"/>
                      <a:satMod val="105000"/>
                      <a:tint val="67000"/>
                    </a:srgbClr>
                  </a:gs>
                  <a:gs pos="50000">
                    <a:srgbClr val="445469">
                      <a:lumMod val="105000"/>
                      <a:satMod val="103000"/>
                      <a:tint val="73000"/>
                    </a:srgbClr>
                  </a:gs>
                  <a:gs pos="100000">
                    <a:srgbClr val="445469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445469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sp>
          <p:nvSpPr>
            <p:cNvPr id="247" name="正方形/長方形 255">
              <a:extLst>
                <a:ext uri="{FF2B5EF4-FFF2-40B4-BE49-F238E27FC236}">
                  <a16:creationId xmlns:a16="http://schemas.microsoft.com/office/drawing/2014/main" id="{97A92CDF-D4EA-4F30-8B0D-2BAC4192957F}"/>
                </a:ext>
              </a:extLst>
            </p:cNvPr>
            <p:cNvSpPr/>
            <p:nvPr/>
          </p:nvSpPr>
          <p:spPr>
            <a:xfrm>
              <a:off x="22257250" y="10445324"/>
              <a:ext cx="1373359" cy="5769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</a:rPr>
                <a:t>Sub</a:t>
              </a:r>
              <a:endParaRPr kumimoji="0" lang="ja-JP" alt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</a:endParaRPr>
            </a:p>
          </p:txBody>
        </p:sp>
        <p:grpSp>
          <p:nvGrpSpPr>
            <p:cNvPr id="248" name="グループ化 116">
              <a:extLst>
                <a:ext uri="{FF2B5EF4-FFF2-40B4-BE49-F238E27FC236}">
                  <a16:creationId xmlns:a16="http://schemas.microsoft.com/office/drawing/2014/main" id="{EB3D48F6-323D-42DE-983E-D028F7F97FA8}"/>
                </a:ext>
              </a:extLst>
            </p:cNvPr>
            <p:cNvGrpSpPr>
              <a:grpSpLocks noChangeAspect="1"/>
            </p:cNvGrpSpPr>
            <p:nvPr/>
          </p:nvGrpSpPr>
          <p:grpSpPr>
            <a:xfrm flipH="1">
              <a:off x="6808472" y="2114341"/>
              <a:ext cx="287925" cy="575885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68" name="Oval 17">
                <a:extLst>
                  <a:ext uri="{FF2B5EF4-FFF2-40B4-BE49-F238E27FC236}">
                    <a16:creationId xmlns:a16="http://schemas.microsoft.com/office/drawing/2014/main" id="{6A8F9DB3-3539-405F-B4D9-F1C9A4DDF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FB8635">
                      <a:lumMod val="110000"/>
                      <a:satMod val="105000"/>
                      <a:tint val="67000"/>
                    </a:srgbClr>
                  </a:gs>
                  <a:gs pos="50000">
                    <a:srgbClr val="FB8635">
                      <a:lumMod val="105000"/>
                      <a:satMod val="103000"/>
                      <a:tint val="73000"/>
                    </a:srgbClr>
                  </a:gs>
                  <a:gs pos="100000">
                    <a:srgbClr val="FB8635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FB8635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9" name="AutoShape 18">
                <a:extLst>
                  <a:ext uri="{FF2B5EF4-FFF2-40B4-BE49-F238E27FC236}">
                    <a16:creationId xmlns:a16="http://schemas.microsoft.com/office/drawing/2014/main" id="{867EF889-49CF-4971-B706-EBBBB347F1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FB8635">
                      <a:lumMod val="110000"/>
                      <a:satMod val="105000"/>
                      <a:tint val="67000"/>
                    </a:srgbClr>
                  </a:gs>
                  <a:gs pos="50000">
                    <a:srgbClr val="FB8635">
                      <a:lumMod val="105000"/>
                      <a:satMod val="103000"/>
                      <a:tint val="73000"/>
                    </a:srgbClr>
                  </a:gs>
                  <a:gs pos="100000">
                    <a:srgbClr val="FB8635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FB8635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249" name="グループ化 119">
              <a:extLst>
                <a:ext uri="{FF2B5EF4-FFF2-40B4-BE49-F238E27FC236}">
                  <a16:creationId xmlns:a16="http://schemas.microsoft.com/office/drawing/2014/main" id="{F36CFF77-368A-4AFC-B2DF-C9E3BACD83CA}"/>
                </a:ext>
              </a:extLst>
            </p:cNvPr>
            <p:cNvGrpSpPr>
              <a:grpSpLocks noChangeAspect="1"/>
            </p:cNvGrpSpPr>
            <p:nvPr/>
          </p:nvGrpSpPr>
          <p:grpSpPr>
            <a:xfrm flipH="1">
              <a:off x="6328554" y="2114341"/>
              <a:ext cx="287925" cy="575885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66" name="Oval 17">
                <a:extLst>
                  <a:ext uri="{FF2B5EF4-FFF2-40B4-BE49-F238E27FC236}">
                    <a16:creationId xmlns:a16="http://schemas.microsoft.com/office/drawing/2014/main" id="{1245AE56-40A2-4454-8841-D5DE9902C4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9CB631">
                      <a:lumMod val="110000"/>
                      <a:satMod val="105000"/>
                      <a:tint val="67000"/>
                    </a:srgbClr>
                  </a:gs>
                  <a:gs pos="50000">
                    <a:srgbClr val="9CB631">
                      <a:lumMod val="105000"/>
                      <a:satMod val="103000"/>
                      <a:tint val="73000"/>
                    </a:srgbClr>
                  </a:gs>
                  <a:gs pos="100000">
                    <a:srgbClr val="9CB631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9CB631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7" name="AutoShape 18">
                <a:extLst>
                  <a:ext uri="{FF2B5EF4-FFF2-40B4-BE49-F238E27FC236}">
                    <a16:creationId xmlns:a16="http://schemas.microsoft.com/office/drawing/2014/main" id="{B9A1D068-A4AA-4E10-B38E-326AB44CB3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9CB631">
                      <a:lumMod val="110000"/>
                      <a:satMod val="105000"/>
                      <a:tint val="67000"/>
                    </a:srgbClr>
                  </a:gs>
                  <a:gs pos="50000">
                    <a:srgbClr val="9CB631">
                      <a:lumMod val="105000"/>
                      <a:satMod val="103000"/>
                      <a:tint val="73000"/>
                    </a:srgbClr>
                  </a:gs>
                  <a:gs pos="100000">
                    <a:srgbClr val="9CB631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9CB631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250" name="グループ化 122">
              <a:extLst>
                <a:ext uri="{FF2B5EF4-FFF2-40B4-BE49-F238E27FC236}">
                  <a16:creationId xmlns:a16="http://schemas.microsoft.com/office/drawing/2014/main" id="{B0E54234-0941-4366-AF10-AA531AD31B3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261453" y="1935972"/>
              <a:ext cx="383900" cy="767845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64" name="Oval 17">
                <a:extLst>
                  <a:ext uri="{FF2B5EF4-FFF2-40B4-BE49-F238E27FC236}">
                    <a16:creationId xmlns:a16="http://schemas.microsoft.com/office/drawing/2014/main" id="{FEF39672-B908-47F5-B6B4-478B326D54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D53E23">
                      <a:lumMod val="110000"/>
                      <a:satMod val="105000"/>
                      <a:tint val="67000"/>
                    </a:srgbClr>
                  </a:gs>
                  <a:gs pos="50000">
                    <a:srgbClr val="D53E23">
                      <a:lumMod val="105000"/>
                      <a:satMod val="103000"/>
                      <a:tint val="73000"/>
                    </a:srgbClr>
                  </a:gs>
                  <a:gs pos="100000">
                    <a:srgbClr val="D53E23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D53E23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5" name="AutoShape 18">
                <a:extLst>
                  <a:ext uri="{FF2B5EF4-FFF2-40B4-BE49-F238E27FC236}">
                    <a16:creationId xmlns:a16="http://schemas.microsoft.com/office/drawing/2014/main" id="{C3911BE0-F49C-4369-94CB-DB307408BF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D53E23">
                      <a:lumMod val="110000"/>
                      <a:satMod val="105000"/>
                      <a:tint val="67000"/>
                    </a:srgbClr>
                  </a:gs>
                  <a:gs pos="50000">
                    <a:srgbClr val="D53E23">
                      <a:lumMod val="105000"/>
                      <a:satMod val="103000"/>
                      <a:tint val="73000"/>
                    </a:srgbClr>
                  </a:gs>
                  <a:gs pos="100000">
                    <a:srgbClr val="D53E23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D53E23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251" name="グループ化 122">
              <a:extLst>
                <a:ext uri="{FF2B5EF4-FFF2-40B4-BE49-F238E27FC236}">
                  <a16:creationId xmlns:a16="http://schemas.microsoft.com/office/drawing/2014/main" id="{9769F63B-2D6C-418E-9D4A-690B57C6A17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34597" y="12041227"/>
              <a:ext cx="383900" cy="767845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62" name="Oval 17">
                <a:extLst>
                  <a:ext uri="{FF2B5EF4-FFF2-40B4-BE49-F238E27FC236}">
                    <a16:creationId xmlns:a16="http://schemas.microsoft.com/office/drawing/2014/main" id="{1EC66EAE-3EFC-4BF5-9119-6F930880B1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D53E23">
                      <a:lumMod val="110000"/>
                      <a:satMod val="105000"/>
                      <a:tint val="67000"/>
                    </a:srgbClr>
                  </a:gs>
                  <a:gs pos="50000">
                    <a:srgbClr val="D53E23">
                      <a:lumMod val="105000"/>
                      <a:satMod val="103000"/>
                      <a:tint val="73000"/>
                    </a:srgbClr>
                  </a:gs>
                  <a:gs pos="100000">
                    <a:srgbClr val="D53E23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D53E23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3" name="AutoShape 18">
                <a:extLst>
                  <a:ext uri="{FF2B5EF4-FFF2-40B4-BE49-F238E27FC236}">
                    <a16:creationId xmlns:a16="http://schemas.microsoft.com/office/drawing/2014/main" id="{2E291F8B-E92C-49D7-B3A9-ACEFEDC31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D53E23">
                      <a:lumMod val="110000"/>
                      <a:satMod val="105000"/>
                      <a:tint val="67000"/>
                    </a:srgbClr>
                  </a:gs>
                  <a:gs pos="50000">
                    <a:srgbClr val="D53E23">
                      <a:lumMod val="105000"/>
                      <a:satMod val="103000"/>
                      <a:tint val="73000"/>
                    </a:srgbClr>
                  </a:gs>
                  <a:gs pos="100000">
                    <a:srgbClr val="D53E23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D53E23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252" name="グループ化 116">
              <a:extLst>
                <a:ext uri="{FF2B5EF4-FFF2-40B4-BE49-F238E27FC236}">
                  <a16:creationId xmlns:a16="http://schemas.microsoft.com/office/drawing/2014/main" id="{AD0AC8CE-B52E-4905-A1AE-F287834B790E}"/>
                </a:ext>
              </a:extLst>
            </p:cNvPr>
            <p:cNvGrpSpPr>
              <a:grpSpLocks noChangeAspect="1"/>
            </p:cNvGrpSpPr>
            <p:nvPr/>
          </p:nvGrpSpPr>
          <p:grpSpPr>
            <a:xfrm flipH="1">
              <a:off x="6813628" y="3786489"/>
              <a:ext cx="287925" cy="575885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60" name="Oval 17">
                <a:extLst>
                  <a:ext uri="{FF2B5EF4-FFF2-40B4-BE49-F238E27FC236}">
                    <a16:creationId xmlns:a16="http://schemas.microsoft.com/office/drawing/2014/main" id="{7E4297F9-B19E-44DD-A83E-F7EF50F08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FB8635">
                      <a:lumMod val="110000"/>
                      <a:satMod val="105000"/>
                      <a:tint val="67000"/>
                    </a:srgbClr>
                  </a:gs>
                  <a:gs pos="50000">
                    <a:srgbClr val="FB8635">
                      <a:lumMod val="105000"/>
                      <a:satMod val="103000"/>
                      <a:tint val="73000"/>
                    </a:srgbClr>
                  </a:gs>
                  <a:gs pos="100000">
                    <a:srgbClr val="FB8635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FB8635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1" name="AutoShape 18">
                <a:extLst>
                  <a:ext uri="{FF2B5EF4-FFF2-40B4-BE49-F238E27FC236}">
                    <a16:creationId xmlns:a16="http://schemas.microsoft.com/office/drawing/2014/main" id="{08A13A0B-1B1C-4E3A-A976-BA223361E2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FB8635">
                      <a:lumMod val="110000"/>
                      <a:satMod val="105000"/>
                      <a:tint val="67000"/>
                    </a:srgbClr>
                  </a:gs>
                  <a:gs pos="50000">
                    <a:srgbClr val="FB8635">
                      <a:lumMod val="105000"/>
                      <a:satMod val="103000"/>
                      <a:tint val="73000"/>
                    </a:srgbClr>
                  </a:gs>
                  <a:gs pos="100000">
                    <a:srgbClr val="FB8635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FB8635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253" name="グループ化 257">
              <a:extLst>
                <a:ext uri="{FF2B5EF4-FFF2-40B4-BE49-F238E27FC236}">
                  <a16:creationId xmlns:a16="http://schemas.microsoft.com/office/drawing/2014/main" id="{3B288B88-E8B3-4F1C-AE5E-BAC108B72B9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26080" y="2895828"/>
              <a:ext cx="383900" cy="767845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58" name="Oval 17">
                <a:extLst>
                  <a:ext uri="{FF2B5EF4-FFF2-40B4-BE49-F238E27FC236}">
                    <a16:creationId xmlns:a16="http://schemas.microsoft.com/office/drawing/2014/main" id="{7C3F1812-355E-4156-9921-27CFD851F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1986AF">
                      <a:lumMod val="110000"/>
                      <a:satMod val="105000"/>
                      <a:tint val="67000"/>
                    </a:srgbClr>
                  </a:gs>
                  <a:gs pos="50000">
                    <a:srgbClr val="1986AF">
                      <a:lumMod val="105000"/>
                      <a:satMod val="103000"/>
                      <a:tint val="73000"/>
                    </a:srgbClr>
                  </a:gs>
                  <a:gs pos="100000">
                    <a:srgbClr val="1986AF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1986AF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59" name="AutoShape 18">
                <a:extLst>
                  <a:ext uri="{FF2B5EF4-FFF2-40B4-BE49-F238E27FC236}">
                    <a16:creationId xmlns:a16="http://schemas.microsoft.com/office/drawing/2014/main" id="{545AF208-CD27-4A96-B0F0-727FA714B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1986AF">
                      <a:lumMod val="110000"/>
                      <a:satMod val="105000"/>
                      <a:tint val="67000"/>
                    </a:srgbClr>
                  </a:gs>
                  <a:gs pos="50000">
                    <a:srgbClr val="1986AF">
                      <a:lumMod val="105000"/>
                      <a:satMod val="103000"/>
                      <a:tint val="73000"/>
                    </a:srgbClr>
                  </a:gs>
                  <a:gs pos="100000">
                    <a:srgbClr val="1986AF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1986AF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254" name="グループ化 260">
              <a:extLst>
                <a:ext uri="{FF2B5EF4-FFF2-40B4-BE49-F238E27FC236}">
                  <a16:creationId xmlns:a16="http://schemas.microsoft.com/office/drawing/2014/main" id="{2686B146-020E-4B39-8AEB-491926A8D1B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1511" y="2895828"/>
              <a:ext cx="383900" cy="767845"/>
              <a:chOff x="2627784" y="1916832"/>
              <a:chExt cx="144000" cy="288017"/>
            </a:xfrm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56" name="Oval 17">
                <a:extLst>
                  <a:ext uri="{FF2B5EF4-FFF2-40B4-BE49-F238E27FC236}">
                    <a16:creationId xmlns:a16="http://schemas.microsoft.com/office/drawing/2014/main" id="{58EB9D91-DF7D-4170-BD5F-4E24D5221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1916832"/>
                <a:ext cx="144000" cy="144000"/>
              </a:xfrm>
              <a:prstGeom prst="ellipse">
                <a:avLst/>
              </a:prstGeom>
              <a:gradFill rotWithShape="1">
                <a:gsLst>
                  <a:gs pos="0">
                    <a:srgbClr val="D53E23">
                      <a:lumMod val="110000"/>
                      <a:satMod val="105000"/>
                      <a:tint val="67000"/>
                    </a:srgbClr>
                  </a:gs>
                  <a:gs pos="50000">
                    <a:srgbClr val="D53E23">
                      <a:lumMod val="105000"/>
                      <a:satMod val="103000"/>
                      <a:tint val="73000"/>
                    </a:srgbClr>
                  </a:gs>
                  <a:gs pos="100000">
                    <a:srgbClr val="D53E23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D53E23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57" name="AutoShape 18">
                <a:extLst>
                  <a:ext uri="{FF2B5EF4-FFF2-40B4-BE49-F238E27FC236}">
                    <a16:creationId xmlns:a16="http://schemas.microsoft.com/office/drawing/2014/main" id="{431A6088-2D30-4C96-ACA7-00D9821A2B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784" y="2060849"/>
                <a:ext cx="144000" cy="144000"/>
              </a:xfrm>
              <a:prstGeom prst="flowChartDelay">
                <a:avLst/>
              </a:prstGeom>
              <a:gradFill rotWithShape="1">
                <a:gsLst>
                  <a:gs pos="0">
                    <a:srgbClr val="D53E23">
                      <a:lumMod val="110000"/>
                      <a:satMod val="105000"/>
                      <a:tint val="67000"/>
                    </a:srgbClr>
                  </a:gs>
                  <a:gs pos="50000">
                    <a:srgbClr val="D53E23">
                      <a:lumMod val="105000"/>
                      <a:satMod val="103000"/>
                      <a:tint val="73000"/>
                    </a:srgbClr>
                  </a:gs>
                  <a:gs pos="100000">
                    <a:srgbClr val="D53E23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6350" cap="flat" cmpd="sng" algn="ctr">
                <a:solidFill>
                  <a:srgbClr val="D53E23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21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sp>
          <p:nvSpPr>
            <p:cNvPr id="255" name="正方形/長方形 286">
              <a:extLst>
                <a:ext uri="{FF2B5EF4-FFF2-40B4-BE49-F238E27FC236}">
                  <a16:creationId xmlns:a16="http://schemas.microsoft.com/office/drawing/2014/main" id="{423DDB24-60A5-40AB-89EF-CC7E86FECB23}"/>
                </a:ext>
              </a:extLst>
            </p:cNvPr>
            <p:cNvSpPr/>
            <p:nvPr/>
          </p:nvSpPr>
          <p:spPr>
            <a:xfrm>
              <a:off x="539601" y="1743999"/>
              <a:ext cx="1382975" cy="9375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</a:rPr>
                <a:t>by </a:t>
              </a:r>
            </a:p>
            <a:p>
              <a:pPr marL="0" marR="0" lvl="0" indent="0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</a:rPr>
                <a:t>Detector</a:t>
              </a:r>
              <a:endParaRPr kumimoji="0" lang="ja-JP" alt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445469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02853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878454-AC89-DE44-A95B-E7380A8955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Log Work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781CE8-7D67-42EF-8E12-8D51CA1F8D0B}"/>
              </a:ext>
            </a:extLst>
          </p:cNvPr>
          <p:cNvGrpSpPr/>
          <p:nvPr/>
        </p:nvGrpSpPr>
        <p:grpSpPr>
          <a:xfrm>
            <a:off x="838370" y="1243687"/>
            <a:ext cx="10351678" cy="4897287"/>
            <a:chOff x="152400" y="561147"/>
            <a:chExt cx="8839200" cy="4181747"/>
          </a:xfrm>
        </p:grpSpPr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C86F1649-0773-4916-93AE-6423B9321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83975" y="1315005"/>
              <a:ext cx="3276600" cy="342788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30" name="Rounded Rectangle 3">
              <a:extLst>
                <a:ext uri="{FF2B5EF4-FFF2-40B4-BE49-F238E27FC236}">
                  <a16:creationId xmlns:a16="http://schemas.microsoft.com/office/drawing/2014/main" id="{B31BC46B-E190-470F-A74C-D546FF4FD8F7}"/>
                </a:ext>
              </a:extLst>
            </p:cNvPr>
            <p:cNvSpPr/>
            <p:nvPr/>
          </p:nvSpPr>
          <p:spPr>
            <a:xfrm>
              <a:off x="152400" y="561147"/>
              <a:ext cx="8839200" cy="486603"/>
            </a:xfrm>
            <a:prstGeom prst="roundRect">
              <a:avLst>
                <a:gd name="adj" fmla="val 7088"/>
              </a:avLst>
            </a:prstGeom>
            <a:solidFill>
              <a:srgbClr val="2F5597"/>
            </a:solidFill>
            <a:ln w="6350" cap="flat" cmpd="sng" algn="ctr">
              <a:solidFill>
                <a:srgbClr val="46546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Logwork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 is the </a:t>
              </a: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MOST IMPORTANT 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activity. It’s not only logging the spent efforts, but also re-estimating the size of remaining work.</a:t>
              </a:r>
            </a:p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This activity will provide data for calculating progress, spent efforts, remaining efforts, charts….</a:t>
              </a:r>
            </a:p>
          </p:txBody>
        </p:sp>
        <p:sp>
          <p:nvSpPr>
            <p:cNvPr id="131" name="Line Callout 2 5">
              <a:extLst>
                <a:ext uri="{FF2B5EF4-FFF2-40B4-BE49-F238E27FC236}">
                  <a16:creationId xmlns:a16="http://schemas.microsoft.com/office/drawing/2014/main" id="{DD404FBB-0A8C-4AD4-A69D-85919E0AEF69}"/>
                </a:ext>
              </a:extLst>
            </p:cNvPr>
            <p:cNvSpPr/>
            <p:nvPr/>
          </p:nvSpPr>
          <p:spPr>
            <a:xfrm>
              <a:off x="182508" y="2343150"/>
              <a:ext cx="1812571" cy="762000"/>
            </a:xfrm>
            <a:prstGeom prst="borderCallout2">
              <a:avLst>
                <a:gd name="adj1" fmla="val 49970"/>
                <a:gd name="adj2" fmla="val 99960"/>
                <a:gd name="adj3" fmla="val 49970"/>
                <a:gd name="adj4" fmla="val 114463"/>
                <a:gd name="adj5" fmla="val 98841"/>
                <a:gd name="adj6" fmla="val 126940"/>
              </a:avLst>
            </a:prstGeom>
            <a:solidFill>
              <a:srgbClr val="D53E23"/>
            </a:solidFill>
            <a:ln w="12700" cap="flat" cmpd="sng" algn="ctr">
              <a:solidFill>
                <a:srgbClr val="D53E23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Enter the ACTUAL spent efforts to this task.</a:t>
              </a:r>
            </a:p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1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Leader must review to avoid bad logging data such as (8h, 7h, 4h - ½ day)</a:t>
              </a:r>
              <a:r>
                <a:rPr kumimoji="0" lang="en-US" sz="900" b="1" i="1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 </a:t>
              </a:r>
              <a:endPara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32" name="Line Callout 2 6">
              <a:extLst>
                <a:ext uri="{FF2B5EF4-FFF2-40B4-BE49-F238E27FC236}">
                  <a16:creationId xmlns:a16="http://schemas.microsoft.com/office/drawing/2014/main" id="{97320188-11B2-43DF-8E72-79DA636DC208}"/>
                </a:ext>
              </a:extLst>
            </p:cNvPr>
            <p:cNvSpPr/>
            <p:nvPr/>
          </p:nvSpPr>
          <p:spPr>
            <a:xfrm>
              <a:off x="3050525" y="3273162"/>
              <a:ext cx="2010951" cy="914400"/>
            </a:xfrm>
            <a:prstGeom prst="borderCallout2">
              <a:avLst>
                <a:gd name="adj1" fmla="val 36312"/>
                <a:gd name="adj2" fmla="val 367"/>
                <a:gd name="adj3" fmla="val 36312"/>
                <a:gd name="adj4" fmla="val -16183"/>
                <a:gd name="adj5" fmla="val 6646"/>
                <a:gd name="adj6" fmla="val -27883"/>
              </a:avLst>
            </a:prstGeom>
            <a:solidFill>
              <a:srgbClr val="D53E23"/>
            </a:solidFill>
            <a:ln w="12700" cap="flat" cmpd="sng" algn="ctr">
              <a:solidFill>
                <a:srgbClr val="D53E23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Basically, this field is auto-</a:t>
              </a:r>
              <a:r>
                <a:rPr kumimoji="0" lang="en-US" sz="9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substract</a:t>
              </a: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 by JIRA.</a:t>
              </a:r>
            </a:p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But if the task is not finished. member have to re-estimate the remaining time to complete the task.</a:t>
              </a:r>
            </a:p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If the task is done, it should be 0</a:t>
              </a:r>
            </a:p>
          </p:txBody>
        </p:sp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1676735E-FAC0-4C85-9B0B-5FCE250A4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36241" y="2464409"/>
              <a:ext cx="2448691" cy="14478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34" name="Rounded Rectangle 9">
              <a:extLst>
                <a:ext uri="{FF2B5EF4-FFF2-40B4-BE49-F238E27FC236}">
                  <a16:creationId xmlns:a16="http://schemas.microsoft.com/office/drawing/2014/main" id="{AA6C6042-C517-4ECA-93F2-04ED1724A641}"/>
                </a:ext>
              </a:extLst>
            </p:cNvPr>
            <p:cNvSpPr/>
            <p:nvPr/>
          </p:nvSpPr>
          <p:spPr>
            <a:xfrm>
              <a:off x="5211351" y="1885950"/>
              <a:ext cx="3733800" cy="486603"/>
            </a:xfrm>
            <a:prstGeom prst="roundRect">
              <a:avLst>
                <a:gd name="adj" fmla="val 7088"/>
              </a:avLst>
            </a:prstGeom>
            <a:solidFill>
              <a:srgbClr val="D53E23"/>
            </a:solidFill>
            <a:ln w="12700" cap="flat" cmpd="sng" algn="ctr">
              <a:solidFill>
                <a:srgbClr val="D53E23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Leader </a:t>
              </a: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MUST REVIEW 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this data every day.</a:t>
              </a:r>
            </a:p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We can use tempo timesheet to help on tracking it.</a:t>
              </a:r>
            </a:p>
          </p:txBody>
        </p:sp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4917ECB6-0E77-415F-8070-D5DCED4FB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90950" y="3199317"/>
              <a:ext cx="2495449" cy="146293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36" name="Oval Callout 8">
              <a:extLst>
                <a:ext uri="{FF2B5EF4-FFF2-40B4-BE49-F238E27FC236}">
                  <a16:creationId xmlns:a16="http://schemas.microsoft.com/office/drawing/2014/main" id="{4196D553-A87E-4171-B978-2F547FDFF5AB}"/>
                </a:ext>
              </a:extLst>
            </p:cNvPr>
            <p:cNvSpPr/>
            <p:nvPr/>
          </p:nvSpPr>
          <p:spPr>
            <a:xfrm>
              <a:off x="3505200" y="1242831"/>
              <a:ext cx="2590800" cy="685800"/>
            </a:xfrm>
            <a:prstGeom prst="wedgeEllipseCallout">
              <a:avLst>
                <a:gd name="adj1" fmla="val -49570"/>
                <a:gd name="adj2" fmla="val 46890"/>
              </a:avLst>
            </a:prstGeom>
            <a:gradFill rotWithShape="1">
              <a:gsLst>
                <a:gs pos="0">
                  <a:srgbClr val="46BE9C">
                    <a:lumMod val="110000"/>
                    <a:satMod val="105000"/>
                    <a:tint val="67000"/>
                  </a:srgbClr>
                </a:gs>
                <a:gs pos="50000">
                  <a:srgbClr val="46BE9C">
                    <a:lumMod val="105000"/>
                    <a:satMod val="103000"/>
                    <a:tint val="73000"/>
                  </a:srgbClr>
                </a:gs>
                <a:gs pos="100000">
                  <a:srgbClr val="46BE9C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46BE9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2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445469"/>
                  </a:solidFill>
                  <a:effectLst/>
                  <a:uLnTx/>
                  <a:uFillTx/>
                </a:rPr>
                <a:t>Today I’ve spent 1h 30min to this task. But I still need more 5hrs to finish it.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61274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878454-AC89-DE44-A95B-E7380A8955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Bug Resolving Status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7EDC34F-5C4C-44BD-A618-A7191DEF5CE8}"/>
              </a:ext>
            </a:extLst>
          </p:cNvPr>
          <p:cNvGrpSpPr/>
          <p:nvPr/>
        </p:nvGrpSpPr>
        <p:grpSpPr>
          <a:xfrm>
            <a:off x="905081" y="1240975"/>
            <a:ext cx="10381838" cy="5165874"/>
            <a:chOff x="366029" y="569888"/>
            <a:chExt cx="8473171" cy="4216145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20A3EE9-8539-4ACF-97D1-770235704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52600" y="1200150"/>
              <a:ext cx="5715000" cy="358588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7" name="Rounded Rectangle 4">
              <a:extLst>
                <a:ext uri="{FF2B5EF4-FFF2-40B4-BE49-F238E27FC236}">
                  <a16:creationId xmlns:a16="http://schemas.microsoft.com/office/drawing/2014/main" id="{86D0CC5A-E3F2-4166-BF8D-5B8B6FC99658}"/>
                </a:ext>
              </a:extLst>
            </p:cNvPr>
            <p:cNvSpPr/>
            <p:nvPr/>
          </p:nvSpPr>
          <p:spPr>
            <a:xfrm>
              <a:off x="490282" y="569888"/>
              <a:ext cx="8348918" cy="380999"/>
            </a:xfrm>
            <a:prstGeom prst="roundRect">
              <a:avLst>
                <a:gd name="adj" fmla="val 7088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r>
                <a:rPr lang="en-US" sz="1400" dirty="0">
                  <a:solidFill>
                    <a:prstClr val="white"/>
                  </a:solidFill>
                </a:rPr>
                <a:t>Created/Resolved Chart of JIRA can help us to analyze the bug detection/resolving speed.</a:t>
              </a: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27DBC4CC-A4A0-429B-A458-8BB773419F79}"/>
                </a:ext>
              </a:extLst>
            </p:cNvPr>
            <p:cNvSpPr/>
            <p:nvPr/>
          </p:nvSpPr>
          <p:spPr>
            <a:xfrm>
              <a:off x="3505200" y="2119978"/>
              <a:ext cx="2988527" cy="1746225"/>
            </a:xfrm>
            <a:custGeom>
              <a:avLst/>
              <a:gdLst>
                <a:gd name="connsiteX0" fmla="*/ 0 w 2988527"/>
                <a:gd name="connsiteY0" fmla="*/ 1746225 h 1746225"/>
                <a:gd name="connsiteX1" fmla="*/ 1703906 w 2988527"/>
                <a:gd name="connsiteY1" fmla="*/ 278725 h 1746225"/>
                <a:gd name="connsiteX2" fmla="*/ 2988527 w 2988527"/>
                <a:gd name="connsiteY2" fmla="*/ 2175 h 174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88527" h="1746225">
                  <a:moveTo>
                    <a:pt x="0" y="1746225"/>
                  </a:moveTo>
                  <a:cubicBezTo>
                    <a:pt x="602909" y="1157812"/>
                    <a:pt x="1205818" y="569400"/>
                    <a:pt x="1703906" y="278725"/>
                  </a:cubicBezTo>
                  <a:cubicBezTo>
                    <a:pt x="2201994" y="-11950"/>
                    <a:pt x="2595260" y="-4888"/>
                    <a:pt x="2988527" y="2175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 sz="4000">
                <a:solidFill>
                  <a:prstClr val="white"/>
                </a:solidFill>
                <a:latin typeface="Lato Light"/>
              </a:endParaRPr>
            </a:p>
          </p:txBody>
        </p:sp>
        <p:sp>
          <p:nvSpPr>
            <p:cNvPr id="29" name="Line Callout 2 10">
              <a:extLst>
                <a:ext uri="{FF2B5EF4-FFF2-40B4-BE49-F238E27FC236}">
                  <a16:creationId xmlns:a16="http://schemas.microsoft.com/office/drawing/2014/main" id="{A08F18F3-8F67-4AD8-8FF4-E3835F6E59A8}"/>
                </a:ext>
              </a:extLst>
            </p:cNvPr>
            <p:cNvSpPr/>
            <p:nvPr/>
          </p:nvSpPr>
          <p:spPr>
            <a:xfrm>
              <a:off x="4664741" y="3105150"/>
              <a:ext cx="1737181" cy="447695"/>
            </a:xfrm>
            <a:prstGeom prst="borderCallout2">
              <a:avLst>
                <a:gd name="adj1" fmla="val -1317"/>
                <a:gd name="adj2" fmla="val 31262"/>
                <a:gd name="adj3" fmla="val -56115"/>
                <a:gd name="adj4" fmla="val 5660"/>
                <a:gd name="adj5" fmla="val -532"/>
                <a:gd name="adj6" fmla="val 31047"/>
              </a:avLst>
            </a:prstGeom>
            <a:solidFill>
              <a:srgbClr val="C3DEB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r>
                <a:rPr lang="en-US" sz="900" dirty="0">
                  <a:solidFill>
                    <a:schemeClr val="tx1"/>
                  </a:solidFill>
                </a:rPr>
                <a:t>Basically, the overall trends should be a curve like this.</a:t>
              </a:r>
              <a:endParaRPr lang="en-US" sz="900" i="1" dirty="0">
                <a:solidFill>
                  <a:schemeClr val="tx1"/>
                </a:solidFill>
              </a:endParaRPr>
            </a:p>
          </p:txBody>
        </p:sp>
        <p:sp>
          <p:nvSpPr>
            <p:cNvPr id="30" name="Line Callout 2 11">
              <a:extLst>
                <a:ext uri="{FF2B5EF4-FFF2-40B4-BE49-F238E27FC236}">
                  <a16:creationId xmlns:a16="http://schemas.microsoft.com/office/drawing/2014/main" id="{4E3480B9-EDF7-4387-851C-00F10ADEA34B}"/>
                </a:ext>
              </a:extLst>
            </p:cNvPr>
            <p:cNvSpPr/>
            <p:nvPr/>
          </p:nvSpPr>
          <p:spPr>
            <a:xfrm>
              <a:off x="1981200" y="1745668"/>
              <a:ext cx="2194381" cy="624835"/>
            </a:xfrm>
            <a:prstGeom prst="borderCallout2">
              <a:avLst>
                <a:gd name="adj1" fmla="val 18610"/>
                <a:gd name="adj2" fmla="val 135766"/>
                <a:gd name="adj3" fmla="val 17613"/>
                <a:gd name="adj4" fmla="val 137637"/>
                <a:gd name="adj5" fmla="val 27365"/>
                <a:gd name="adj6" fmla="val 99347"/>
              </a:avLst>
            </a:prstGeom>
            <a:solidFill>
              <a:srgbClr val="C3DEB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r>
                <a:rPr lang="en-US" sz="900" dirty="0">
                  <a:solidFill>
                    <a:schemeClr val="tx1"/>
                  </a:solidFill>
                </a:rPr>
                <a:t>If there’s many detected bugs &amp; team cannot resolve it quickly, the space between these lines (red area) will be a warning for team.</a:t>
              </a:r>
              <a:endParaRPr lang="en-US" sz="900" i="1" dirty="0">
                <a:solidFill>
                  <a:schemeClr val="tx1"/>
                </a:solidFill>
              </a:endParaRPr>
            </a:p>
          </p:txBody>
        </p:sp>
        <p:sp>
          <p:nvSpPr>
            <p:cNvPr id="31" name="Line Callout 2 12">
              <a:extLst>
                <a:ext uri="{FF2B5EF4-FFF2-40B4-BE49-F238E27FC236}">
                  <a16:creationId xmlns:a16="http://schemas.microsoft.com/office/drawing/2014/main" id="{8A67BE65-7F2D-4C5B-BC59-7FC9F450F878}"/>
                </a:ext>
              </a:extLst>
            </p:cNvPr>
            <p:cNvSpPr/>
            <p:nvPr/>
          </p:nvSpPr>
          <p:spPr>
            <a:xfrm>
              <a:off x="366029" y="3866203"/>
              <a:ext cx="1737181" cy="624835"/>
            </a:xfrm>
            <a:prstGeom prst="borderCallout2">
              <a:avLst>
                <a:gd name="adj1" fmla="val 18610"/>
                <a:gd name="adj2" fmla="val 135766"/>
                <a:gd name="adj3" fmla="val 17613"/>
                <a:gd name="adj4" fmla="val 137637"/>
                <a:gd name="adj5" fmla="val 27365"/>
                <a:gd name="adj6" fmla="val 99347"/>
              </a:avLst>
            </a:prstGeom>
            <a:solidFill>
              <a:srgbClr val="C3DEB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r>
                <a:rPr lang="en-US" sz="900" dirty="0">
                  <a:solidFill>
                    <a:schemeClr val="tx1"/>
                  </a:solidFill>
                </a:rPr>
                <a:t>The red line is detected bugs, and green line is resolved bugs. The trends represent the speed of detecting/resolving</a:t>
              </a:r>
              <a:endParaRPr lang="en-US" sz="900" i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35168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90ED54-ABD8-924A-B83C-57708FA7A4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Knowledge Management &amp; Sharing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CA0D0D-D941-40FE-97A6-3BD4F1CC75A4}"/>
              </a:ext>
            </a:extLst>
          </p:cNvPr>
          <p:cNvGrpSpPr/>
          <p:nvPr/>
        </p:nvGrpSpPr>
        <p:grpSpPr>
          <a:xfrm>
            <a:off x="467434" y="1346032"/>
            <a:ext cx="11230854" cy="5075957"/>
            <a:chOff x="201252" y="649288"/>
            <a:chExt cx="8637948" cy="4753180"/>
          </a:xfrm>
        </p:grpSpPr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BDEEE870-E6A4-43C2-AF85-F014960FF32D}"/>
                </a:ext>
              </a:extLst>
            </p:cNvPr>
            <p:cNvSpPr txBox="1">
              <a:spLocks/>
            </p:cNvSpPr>
            <p:nvPr/>
          </p:nvSpPr>
          <p:spPr>
            <a:xfrm>
              <a:off x="201252" y="649288"/>
              <a:ext cx="8637948" cy="69979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lIns="45720" tIns="22860" rIns="45720" bIns="22860" rtlCol="0" anchor="ctr">
              <a:normAutofit/>
            </a:bodyPr>
            <a:lstStyle>
              <a:lvl1pPr marL="266700" indent="-2667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720725" indent="-263525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kumimoji="1"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kumimoji="1" sz="1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kumimoji="1" sz="1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defTabSz="457200">
                <a:buNone/>
              </a:pPr>
              <a:r>
                <a:rPr lang="en-US" sz="1400" dirty="0">
                  <a:solidFill>
                    <a:prstClr val="white"/>
                  </a:solidFill>
                </a:rPr>
                <a:t>To control &amp; share the knowledge within project. We use Confluence system.</a:t>
              </a:r>
            </a:p>
            <a:p>
              <a:pPr marL="0" indent="0" algn="ctr" defTabSz="457200">
                <a:buNone/>
              </a:pPr>
              <a:r>
                <a:rPr lang="en-US" sz="1400" dirty="0">
                  <a:solidFill>
                    <a:prstClr val="white"/>
                  </a:solidFill>
                </a:rPr>
                <a:t>This is a knowledge management system which centralize all information in the project and make it visible to everybody.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F68687-BB01-4D0B-824C-FC001D081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2900" y="1689746"/>
              <a:ext cx="2773679" cy="176400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7CCED9D-A265-4119-AA9B-6A69E2CF3D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70075" y="2301870"/>
              <a:ext cx="2048800" cy="189901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9212075-2ACC-46B8-BE30-9FD9A9D57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1054" y="2986627"/>
              <a:ext cx="2237370" cy="157439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graphicFrame>
          <p:nvGraphicFramePr>
            <p:cNvPr id="8" name="Diagram 7">
              <a:extLst>
                <a:ext uri="{FF2B5EF4-FFF2-40B4-BE49-F238E27FC236}">
                  <a16:creationId xmlns:a16="http://schemas.microsoft.com/office/drawing/2014/main" id="{F492DCA0-790B-40EC-906A-3131F30ED9E2}"/>
                </a:ext>
              </a:extLst>
            </p:cNvPr>
            <p:cNvGraphicFramePr/>
            <p:nvPr/>
          </p:nvGraphicFramePr>
          <p:xfrm>
            <a:off x="4343400" y="1428750"/>
            <a:ext cx="4495800" cy="37147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6" r:qs="rId7" r:cs="rId8"/>
            </a:graphicData>
          </a:graphic>
        </p:graphicFrame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9F47C24-7594-4840-B182-6DCD636A6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00658" y="4368814"/>
              <a:ext cx="1777885" cy="10336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50898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90ED54-ABD8-924A-B83C-57708FA7A4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Knowledge Management &amp; Sharing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73FFDE6-99D3-44CD-AA69-78063B0F0278}"/>
              </a:ext>
            </a:extLst>
          </p:cNvPr>
          <p:cNvSpPr txBox="1">
            <a:spLocks/>
          </p:cNvSpPr>
          <p:nvPr/>
        </p:nvSpPr>
        <p:spPr>
          <a:xfrm>
            <a:off x="711767" y="1318777"/>
            <a:ext cx="11090757" cy="5814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45720" tIns="22860" rIns="45720" bIns="22860" rtlCol="0" anchor="ctr">
            <a:normAutofit/>
          </a:bodyPr>
          <a:lstStyle>
            <a:lvl1pPr marL="266700" indent="-2667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20725" indent="-263525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57200">
              <a:buNone/>
            </a:pPr>
            <a:r>
              <a:rPr lang="en-US" sz="1500" dirty="0">
                <a:solidFill>
                  <a:prstClr val="white"/>
                </a:solidFill>
              </a:rPr>
              <a:t>All project processes will be documented in PFD (Process Flow Diagram) format and keep in Confluence system. So it’s easy to transfer, training and refer it to all members.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39BEC6-E5DF-4754-A7F1-CFFF810C7CC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956" y="2278248"/>
            <a:ext cx="4193210" cy="23889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596061-7281-42FC-8882-FCAA284D044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7719" y="3670222"/>
            <a:ext cx="4286813" cy="25544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058C24E0-4EFB-4A56-B9B6-57E7AB3C3015}"/>
              </a:ext>
            </a:extLst>
          </p:cNvPr>
          <p:cNvGraphicFramePr/>
          <p:nvPr/>
        </p:nvGraphicFramePr>
        <p:xfrm>
          <a:off x="6694003" y="2294968"/>
          <a:ext cx="4899283" cy="39297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240056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519A09-A502-3645-9443-13A3DACFD9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Change Management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3FFDE6-99D3-44CD-AA69-78063B0F0278}"/>
              </a:ext>
            </a:extLst>
          </p:cNvPr>
          <p:cNvSpPr txBox="1">
            <a:spLocks/>
          </p:cNvSpPr>
          <p:nvPr/>
        </p:nvSpPr>
        <p:spPr>
          <a:xfrm>
            <a:off x="595941" y="944595"/>
            <a:ext cx="10890206" cy="5814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45720" tIns="22860" rIns="45720" bIns="22860" rtlCol="0" anchor="ctr">
            <a:normAutofit/>
          </a:bodyPr>
          <a:lstStyle>
            <a:lvl1pPr marL="266700" indent="-2667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20725" indent="-263525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57200">
              <a:buNone/>
            </a:pPr>
            <a:r>
              <a:rPr lang="en-US" sz="1400" dirty="0"/>
              <a:t>All changes to a service or service component </a:t>
            </a:r>
            <a:r>
              <a:rPr lang="en-US" altLang="en-US" sz="1400" dirty="0">
                <a:solidFill>
                  <a:schemeClr val="bg1"/>
                </a:solidFill>
              </a:rPr>
              <a:t>incurs additional costs during system development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/>
              <a:t>must be raised using a request for change (RFC) and approved before implementation. Back-out plan must be clearly validated before implement change.</a:t>
            </a:r>
            <a:endParaRPr lang="en-US" sz="1400" dirty="0">
              <a:solidFill>
                <a:prstClr val="white"/>
              </a:solidFill>
              <a:latin typeface="Lato Ligh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1596944"/>
            <a:ext cx="9439563" cy="504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823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F8262F-E9A6-794A-A448-61E6D13D374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Engineering Processes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BC44DCB-E5C0-47B1-8D25-B438958CE079}"/>
              </a:ext>
            </a:extLst>
          </p:cNvPr>
          <p:cNvGrpSpPr/>
          <p:nvPr/>
        </p:nvGrpSpPr>
        <p:grpSpPr>
          <a:xfrm>
            <a:off x="509456" y="1530496"/>
            <a:ext cx="11071516" cy="4704904"/>
            <a:chOff x="1015737" y="1779319"/>
            <a:chExt cx="22143032" cy="108799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47E9DC1-A207-4655-B010-203FB37A10D7}"/>
                </a:ext>
              </a:extLst>
            </p:cNvPr>
            <p:cNvGrpSpPr/>
            <p:nvPr/>
          </p:nvGrpSpPr>
          <p:grpSpPr>
            <a:xfrm>
              <a:off x="13455788" y="6993245"/>
              <a:ext cx="5361361" cy="3914639"/>
              <a:chOff x="5436096" y="3120505"/>
              <a:chExt cx="2011034" cy="1468372"/>
            </a:xfrm>
          </p:grpSpPr>
          <p:sp>
            <p:nvSpPr>
              <p:cNvPr id="45" name="Right Arrow 4">
                <a:extLst>
                  <a:ext uri="{FF2B5EF4-FFF2-40B4-BE49-F238E27FC236}">
                    <a16:creationId xmlns:a16="http://schemas.microsoft.com/office/drawing/2014/main" id="{62B19FAF-1B7B-4489-9F8B-5B2624D97672}"/>
                  </a:ext>
                </a:extLst>
              </p:cNvPr>
              <p:cNvSpPr/>
              <p:nvPr/>
            </p:nvSpPr>
            <p:spPr>
              <a:xfrm rot="5400000">
                <a:off x="6740093" y="3291791"/>
                <a:ext cx="575552" cy="232979"/>
              </a:xfrm>
              <a:prstGeom prst="rightArrow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895"/>
                <a:endParaRPr kumimoji="1" lang="en-US" sz="24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ED8E91F0-7C1B-4D91-B4F7-2BD06A3AABFA}"/>
                  </a:ext>
                </a:extLst>
              </p:cNvPr>
              <p:cNvGrpSpPr/>
              <p:nvPr/>
            </p:nvGrpSpPr>
            <p:grpSpPr>
              <a:xfrm>
                <a:off x="5436096" y="3795886"/>
                <a:ext cx="2011034" cy="792991"/>
                <a:chOff x="5436096" y="3795886"/>
                <a:chExt cx="2011034" cy="792991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45DB1FD-A39E-4C76-B5EB-EE0CB89E71B1}"/>
                    </a:ext>
                  </a:extLst>
                </p:cNvPr>
                <p:cNvSpPr/>
                <p:nvPr/>
              </p:nvSpPr>
              <p:spPr>
                <a:xfrm>
                  <a:off x="5980164" y="3795886"/>
                  <a:ext cx="1466966" cy="792991"/>
                </a:xfrm>
                <a:prstGeom prst="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defTabSz="1218895"/>
                  <a:r>
                    <a:rPr kumimoji="1" lang="en-US" sz="1600" dirty="0">
                      <a:solidFill>
                        <a:prstClr val="black"/>
                      </a:solidFill>
                      <a:latin typeface="Calibri"/>
                    </a:rPr>
                    <a:t>Tester</a:t>
                  </a:r>
                </a:p>
              </p:txBody>
            </p:sp>
            <p:pic>
              <p:nvPicPr>
                <p:cNvPr id="48" name="Picture 27" descr="http://prometheusengine.com/wp-content/uploads/2013/07/icon-tester.png">
                  <a:extLst>
                    <a:ext uri="{FF2B5EF4-FFF2-40B4-BE49-F238E27FC236}">
                      <a16:creationId xmlns:a16="http://schemas.microsoft.com/office/drawing/2014/main" id="{D95A945E-E275-43D6-990A-F90089C8E05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hq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048662" y="4054546"/>
                  <a:ext cx="459080" cy="45908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9" name="Picture 27" descr="http://prometheusengine.com/wp-content/uploads/2013/07/icon-tester.png">
                  <a:extLst>
                    <a:ext uri="{FF2B5EF4-FFF2-40B4-BE49-F238E27FC236}">
                      <a16:creationId xmlns:a16="http://schemas.microsoft.com/office/drawing/2014/main" id="{5239807A-069D-4822-83DD-A5539B87677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hq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484107" y="4054546"/>
                  <a:ext cx="459080" cy="45908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0" name="Picture 27" descr="http://prometheusengine.com/wp-content/uploads/2013/07/icon-tester.png">
                  <a:extLst>
                    <a:ext uri="{FF2B5EF4-FFF2-40B4-BE49-F238E27FC236}">
                      <a16:creationId xmlns:a16="http://schemas.microsoft.com/office/drawing/2014/main" id="{AE6EBA6A-D2C8-4B3B-AC0E-F72035E22B5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hq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902441" y="4054546"/>
                  <a:ext cx="459080" cy="45908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51" name="Right Arrow 10">
                  <a:extLst>
                    <a:ext uri="{FF2B5EF4-FFF2-40B4-BE49-F238E27FC236}">
                      <a16:creationId xmlns:a16="http://schemas.microsoft.com/office/drawing/2014/main" id="{0A00B23D-A3D6-4746-9492-AFAD67F1D7FA}"/>
                    </a:ext>
                  </a:extLst>
                </p:cNvPr>
                <p:cNvSpPr/>
                <p:nvPr/>
              </p:nvSpPr>
              <p:spPr>
                <a:xfrm>
                  <a:off x="5436096" y="4083918"/>
                  <a:ext cx="442539" cy="232979"/>
                </a:xfrm>
                <a:prstGeom prst="rightArrow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218895"/>
                  <a:endParaRPr kumimoji="1" lang="en-US" sz="240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A7D2379-ACC5-4CF0-B54B-E9A18174131B}"/>
                </a:ext>
              </a:extLst>
            </p:cNvPr>
            <p:cNvGrpSpPr/>
            <p:nvPr/>
          </p:nvGrpSpPr>
          <p:grpSpPr>
            <a:xfrm>
              <a:off x="9036899" y="8793793"/>
              <a:ext cx="3910891" cy="2114092"/>
              <a:chOff x="3897122" y="3795886"/>
              <a:chExt cx="1466966" cy="792991"/>
            </a:xfrm>
          </p:grpSpPr>
          <p:pic>
            <p:nvPicPr>
              <p:cNvPr id="41" name="Picture 3" descr="C:\Users\minhnt10\Downloads\developer_icon.png">
                <a:extLst>
                  <a:ext uri="{FF2B5EF4-FFF2-40B4-BE49-F238E27FC236}">
                    <a16:creationId xmlns:a16="http://schemas.microsoft.com/office/drawing/2014/main" id="{2C587DB5-BBFC-4616-8F69-F017DC3DE8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4095683" y="4121920"/>
                <a:ext cx="410650" cy="3487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375D79D-03EA-43C6-BF2B-A057C3671970}"/>
                  </a:ext>
                </a:extLst>
              </p:cNvPr>
              <p:cNvSpPr/>
              <p:nvPr/>
            </p:nvSpPr>
            <p:spPr>
              <a:xfrm>
                <a:off x="3897122" y="3795886"/>
                <a:ext cx="1466966" cy="792991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defTabSz="1218895"/>
                <a:r>
                  <a:rPr kumimoji="1" lang="en-US" sz="1600" dirty="0">
                    <a:solidFill>
                      <a:prstClr val="black"/>
                    </a:solidFill>
                    <a:latin typeface="Calibri"/>
                  </a:rPr>
                  <a:t>Developer IT</a:t>
                </a:r>
              </a:p>
            </p:txBody>
          </p:sp>
          <p:pic>
            <p:nvPicPr>
              <p:cNvPr id="43" name="Picture 3" descr="C:\Users\minhnt10\Downloads\developer_icon.png">
                <a:extLst>
                  <a:ext uri="{FF2B5EF4-FFF2-40B4-BE49-F238E27FC236}">
                    <a16:creationId xmlns:a16="http://schemas.microsoft.com/office/drawing/2014/main" id="{A8546C59-11EB-438B-B041-3A8BD2E8A2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4476534" y="4121920"/>
                <a:ext cx="410650" cy="3487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Picture 3" descr="C:\Users\minhnt10\Downloads\developer_icon.png">
                <a:extLst>
                  <a:ext uri="{FF2B5EF4-FFF2-40B4-BE49-F238E27FC236}">
                    <a16:creationId xmlns:a16="http://schemas.microsoft.com/office/drawing/2014/main" id="{B62C0364-19AD-4072-9A9A-E5BA4D06853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4868634" y="4121920"/>
                <a:ext cx="410650" cy="3487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F6E6437-026A-4804-B2D7-7C611412386C}"/>
                </a:ext>
              </a:extLst>
            </p:cNvPr>
            <p:cNvGrpSpPr/>
            <p:nvPr/>
          </p:nvGrpSpPr>
          <p:grpSpPr>
            <a:xfrm>
              <a:off x="19559917" y="8793792"/>
              <a:ext cx="3598852" cy="2517744"/>
              <a:chOff x="7555960" y="3795886"/>
              <a:chExt cx="1349921" cy="944400"/>
            </a:xfrm>
          </p:grpSpPr>
          <p:sp>
            <p:nvSpPr>
              <p:cNvPr id="37" name="Right Arrow 18">
                <a:extLst>
                  <a:ext uri="{FF2B5EF4-FFF2-40B4-BE49-F238E27FC236}">
                    <a16:creationId xmlns:a16="http://schemas.microsoft.com/office/drawing/2014/main" id="{4B063567-51CF-489F-8A20-46ABEF2FD88D}"/>
                  </a:ext>
                </a:extLst>
              </p:cNvPr>
              <p:cNvSpPr/>
              <p:nvPr/>
            </p:nvSpPr>
            <p:spPr>
              <a:xfrm>
                <a:off x="7555960" y="4130636"/>
                <a:ext cx="406940" cy="232979"/>
              </a:xfrm>
              <a:prstGeom prst="rightArrow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895"/>
                <a:endParaRPr kumimoji="1" lang="en-US" sz="2400">
                  <a:solidFill>
                    <a:prstClr val="white"/>
                  </a:solidFill>
                  <a:latin typeface="Calibri"/>
                </a:endParaRPr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286E1E87-ECE6-4F7E-91CF-342518A1C117}"/>
                  </a:ext>
                </a:extLst>
              </p:cNvPr>
              <p:cNvGrpSpPr/>
              <p:nvPr/>
            </p:nvGrpSpPr>
            <p:grpSpPr>
              <a:xfrm>
                <a:off x="8125492" y="3795886"/>
                <a:ext cx="780389" cy="944400"/>
                <a:chOff x="8125492" y="3795886"/>
                <a:chExt cx="780389" cy="944400"/>
              </a:xfrm>
            </p:grpSpPr>
            <p:pic>
              <p:nvPicPr>
                <p:cNvPr id="39" name="Picture 29" descr="http://www.lovelyeduera.com/icon_img/user-icon.png">
                  <a:extLst>
                    <a:ext uri="{FF2B5EF4-FFF2-40B4-BE49-F238E27FC236}">
                      <a16:creationId xmlns:a16="http://schemas.microsoft.com/office/drawing/2014/main" id="{7B2DDD3B-BD0F-475C-A7E6-2427F749385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125492" y="3795886"/>
                  <a:ext cx="698705" cy="69870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9469CD3-931F-4073-886C-5E96C651B87A}"/>
                    </a:ext>
                  </a:extLst>
                </p:cNvPr>
                <p:cNvSpPr txBox="1"/>
                <p:nvPr/>
              </p:nvSpPr>
              <p:spPr>
                <a:xfrm>
                  <a:off x="8289408" y="4544455"/>
                  <a:ext cx="616473" cy="195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1218895"/>
                  <a:r>
                    <a:rPr kumimoji="1" lang="en-US" sz="1467" dirty="0">
                      <a:solidFill>
                        <a:prstClr val="black"/>
                      </a:solidFill>
                      <a:latin typeface="Calibri"/>
                    </a:rPr>
                    <a:t>Customer</a:t>
                  </a: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EC31B69-BEE2-4D39-8CA7-510ECD19A153}"/>
                </a:ext>
              </a:extLst>
            </p:cNvPr>
            <p:cNvGrpSpPr/>
            <p:nvPr/>
          </p:nvGrpSpPr>
          <p:grpSpPr>
            <a:xfrm>
              <a:off x="7703534" y="1779324"/>
              <a:ext cx="13374737" cy="3613408"/>
              <a:chOff x="2752311" y="1862377"/>
              <a:chExt cx="4730422" cy="939938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4B74D01D-A8F4-4783-BF38-1FBB817DC734}"/>
                  </a:ext>
                </a:extLst>
              </p:cNvPr>
              <p:cNvGrpSpPr/>
              <p:nvPr/>
            </p:nvGrpSpPr>
            <p:grpSpPr>
              <a:xfrm>
                <a:off x="2752311" y="1862377"/>
                <a:ext cx="4730422" cy="939938"/>
                <a:chOff x="2752311" y="1760407"/>
                <a:chExt cx="4730422" cy="939938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11A02A85-8043-493A-8DA0-1697C6BE1852}"/>
                    </a:ext>
                  </a:extLst>
                </p:cNvPr>
                <p:cNvSpPr/>
                <p:nvPr/>
              </p:nvSpPr>
              <p:spPr>
                <a:xfrm>
                  <a:off x="3562641" y="1760407"/>
                  <a:ext cx="3920092" cy="939938"/>
                </a:xfrm>
                <a:prstGeom prst="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defTabSz="1218895"/>
                  <a:r>
                    <a:rPr kumimoji="1" lang="en-US" sz="1600" dirty="0">
                      <a:solidFill>
                        <a:prstClr val="black"/>
                      </a:solidFill>
                      <a:latin typeface="Calibri"/>
                    </a:rPr>
                    <a:t>Continuous Integration</a:t>
                  </a:r>
                </a:p>
              </p:txBody>
            </p:sp>
            <p:pic>
              <p:nvPicPr>
                <p:cNvPr id="33" name="Picture 15" descr="https://www.rosehosting.com/blog/wp-content/uploads/2014/11/jenkins.png">
                  <a:extLst>
                    <a:ext uri="{FF2B5EF4-FFF2-40B4-BE49-F238E27FC236}">
                      <a16:creationId xmlns:a16="http://schemas.microsoft.com/office/drawing/2014/main" id="{4B46CF83-C516-4ED7-932C-5786AF13438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609529" y="2023506"/>
                  <a:ext cx="685800" cy="6096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96724932-F8DD-4C00-8C71-B9C2B0ACAD56}"/>
                    </a:ext>
                  </a:extLst>
                </p:cNvPr>
                <p:cNvSpPr/>
                <p:nvPr/>
              </p:nvSpPr>
              <p:spPr>
                <a:xfrm>
                  <a:off x="4239301" y="2081206"/>
                  <a:ext cx="762000" cy="470686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218895"/>
                  <a:r>
                    <a:rPr kumimoji="1" lang="en-US" sz="1400" dirty="0">
                      <a:solidFill>
                        <a:prstClr val="white"/>
                      </a:solidFill>
                      <a:latin typeface="Calibri"/>
                    </a:rPr>
                    <a:t>Daily Unit Test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85E16A37-635F-415E-97CF-0C73C97A2994}"/>
                    </a:ext>
                  </a:extLst>
                </p:cNvPr>
                <p:cNvSpPr/>
                <p:nvPr/>
              </p:nvSpPr>
              <p:spPr>
                <a:xfrm>
                  <a:off x="6253876" y="2081206"/>
                  <a:ext cx="1152657" cy="462822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218895"/>
                  <a:r>
                    <a:rPr kumimoji="1" lang="en-US" sz="1400" dirty="0">
                      <a:solidFill>
                        <a:prstClr val="white"/>
                      </a:solidFill>
                      <a:latin typeface="Calibri"/>
                    </a:rPr>
                    <a:t>Automated Packaging</a:t>
                  </a:r>
                </a:p>
              </p:txBody>
            </p:sp>
            <p:sp>
              <p:nvSpPr>
                <p:cNvPr id="36" name="Right Arrow 32">
                  <a:extLst>
                    <a:ext uri="{FF2B5EF4-FFF2-40B4-BE49-F238E27FC236}">
                      <a16:creationId xmlns:a16="http://schemas.microsoft.com/office/drawing/2014/main" id="{C0C17637-BB5D-4701-9AE8-479D29569677}"/>
                    </a:ext>
                  </a:extLst>
                </p:cNvPr>
                <p:cNvSpPr/>
                <p:nvPr/>
              </p:nvSpPr>
              <p:spPr>
                <a:xfrm>
                  <a:off x="2752311" y="2132141"/>
                  <a:ext cx="610368" cy="232979"/>
                </a:xfrm>
                <a:prstGeom prst="rightArrow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218895"/>
                  <a:endParaRPr kumimoji="1" lang="en-US" sz="240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24BC577-148F-404E-A94C-F784BD778875}"/>
                  </a:ext>
                </a:extLst>
              </p:cNvPr>
              <p:cNvSpPr/>
              <p:nvPr/>
            </p:nvSpPr>
            <p:spPr>
              <a:xfrm>
                <a:off x="5086820" y="2187363"/>
                <a:ext cx="1100514" cy="470685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895"/>
                <a:r>
                  <a:rPr kumimoji="1" lang="en-US" sz="1400" dirty="0">
                    <a:solidFill>
                      <a:prstClr val="white"/>
                    </a:solidFill>
                    <a:latin typeface="Calibri"/>
                  </a:rPr>
                  <a:t>Static </a:t>
                </a:r>
              </a:p>
              <a:p>
                <a:pPr algn="ctr" defTabSz="1218895"/>
                <a:r>
                  <a:rPr kumimoji="1" lang="en-US" sz="1400" dirty="0">
                    <a:solidFill>
                      <a:prstClr val="white"/>
                    </a:solidFill>
                    <a:latin typeface="Calibri"/>
                  </a:rPr>
                  <a:t>Analysis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1CA11E1-B921-4CA7-BBFB-95C1EB02BC8E}"/>
                </a:ext>
              </a:extLst>
            </p:cNvPr>
            <p:cNvGrpSpPr/>
            <p:nvPr/>
          </p:nvGrpSpPr>
          <p:grpSpPr>
            <a:xfrm>
              <a:off x="16713729" y="5392732"/>
              <a:ext cx="2585252" cy="1668326"/>
              <a:chOff x="6774743" y="2676161"/>
              <a:chExt cx="969722" cy="625785"/>
            </a:xfrm>
          </p:grpSpPr>
          <p:pic>
            <p:nvPicPr>
              <p:cNvPr id="28" name="Picture 25" descr="http://files.softicons.com/download/object-icons/package-icons-by-thvg/png/512/PackageIcon.png">
                <a:extLst>
                  <a:ext uri="{FF2B5EF4-FFF2-40B4-BE49-F238E27FC236}">
                    <a16:creationId xmlns:a16="http://schemas.microsoft.com/office/drawing/2014/main" id="{479C6763-F783-4F2C-B81B-3AB1C6A836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56306" y="2676161"/>
                <a:ext cx="371339" cy="4433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2B3F5E-28F2-4EB8-A48F-F1D108F66960}"/>
                  </a:ext>
                </a:extLst>
              </p:cNvPr>
              <p:cNvSpPr txBox="1"/>
              <p:nvPr/>
            </p:nvSpPr>
            <p:spPr>
              <a:xfrm>
                <a:off x="6774743" y="3124023"/>
                <a:ext cx="969722" cy="1779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1218895"/>
                <a:r>
                  <a:rPr kumimoji="1" lang="en-US" sz="1333" dirty="0">
                    <a:solidFill>
                      <a:prstClr val="black"/>
                    </a:solidFill>
                    <a:latin typeface="Calibri"/>
                  </a:rPr>
                  <a:t>Release package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50D7033-C533-404B-8A88-60F031B4624B}"/>
                </a:ext>
              </a:extLst>
            </p:cNvPr>
            <p:cNvGrpSpPr/>
            <p:nvPr/>
          </p:nvGrpSpPr>
          <p:grpSpPr>
            <a:xfrm>
              <a:off x="1015737" y="1779319"/>
              <a:ext cx="6687797" cy="8685344"/>
              <a:chOff x="461087" y="2295762"/>
              <a:chExt cx="2112476" cy="2380291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F0ACA11A-3E86-484D-86B6-8D7592D46378}"/>
                  </a:ext>
                </a:extLst>
              </p:cNvPr>
              <p:cNvGrpSpPr/>
              <p:nvPr/>
            </p:nvGrpSpPr>
            <p:grpSpPr>
              <a:xfrm>
                <a:off x="1470607" y="3374177"/>
                <a:ext cx="1102956" cy="1301876"/>
                <a:chOff x="1470607" y="3374177"/>
                <a:chExt cx="1102956" cy="1301876"/>
              </a:xfrm>
            </p:grpSpPr>
            <p:pic>
              <p:nvPicPr>
                <p:cNvPr id="24" name="Picture 3" descr="C:\Users\minhnt10\Downloads\developer_icon.png">
                  <a:extLst>
                    <a:ext uri="{FF2B5EF4-FFF2-40B4-BE49-F238E27FC236}">
                      <a16:creationId xmlns:a16="http://schemas.microsoft.com/office/drawing/2014/main" id="{AF662F63-832B-4A67-9ACA-9B82F702DEB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7" cstate="hq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 bwMode="auto">
                <a:xfrm>
                  <a:off x="1470607" y="4034903"/>
                  <a:ext cx="627998" cy="5334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49780E9-8CCE-4DD6-9D1A-3FF0858F66E9}"/>
                    </a:ext>
                  </a:extLst>
                </p:cNvPr>
                <p:cNvSpPr txBox="1"/>
                <p:nvPr/>
              </p:nvSpPr>
              <p:spPr>
                <a:xfrm>
                  <a:off x="1627812" y="4559020"/>
                  <a:ext cx="530046" cy="1170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1218895"/>
                  <a:r>
                    <a:rPr kumimoji="1" lang="en-US" sz="1200" dirty="0">
                      <a:solidFill>
                        <a:prstClr val="black"/>
                      </a:solidFill>
                      <a:latin typeface="Calibri"/>
                    </a:rPr>
                    <a:t>Developer</a:t>
                  </a:r>
                </a:p>
              </p:txBody>
            </p:sp>
            <p:pic>
              <p:nvPicPr>
                <p:cNvPr id="26" name="Picture 23" descr="http://www.cdc.gov/metrics/images/report_icon.gif">
                  <a:extLst>
                    <a:ext uri="{FF2B5EF4-FFF2-40B4-BE49-F238E27FC236}">
                      <a16:creationId xmlns:a16="http://schemas.microsoft.com/office/drawing/2014/main" id="{E1313211-A8F8-45F6-8C06-2B78B57C934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27309" y="3374177"/>
                  <a:ext cx="342592" cy="34259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D1BF848-01AE-40B3-9755-2CBD6DCAF90A}"/>
                    </a:ext>
                  </a:extLst>
                </p:cNvPr>
                <p:cNvSpPr txBox="1"/>
                <p:nvPr/>
              </p:nvSpPr>
              <p:spPr>
                <a:xfrm>
                  <a:off x="1913389" y="3730764"/>
                  <a:ext cx="660174" cy="2730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1218895"/>
                  <a:r>
                    <a:rPr kumimoji="1" lang="en-US" sz="1400" dirty="0">
                      <a:solidFill>
                        <a:prstClr val="black"/>
                      </a:solidFill>
                      <a:latin typeface="Calibri"/>
                    </a:rPr>
                    <a:t>Source commit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31DF3C82-1880-4E48-8C5F-8CE62F8CC335}"/>
                  </a:ext>
                </a:extLst>
              </p:cNvPr>
              <p:cNvGrpSpPr/>
              <p:nvPr/>
            </p:nvGrpSpPr>
            <p:grpSpPr>
              <a:xfrm>
                <a:off x="461087" y="2295762"/>
                <a:ext cx="2054035" cy="1671117"/>
                <a:chOff x="461087" y="2295762"/>
                <a:chExt cx="2054035" cy="1671117"/>
              </a:xfrm>
            </p:grpSpPr>
            <p:pic>
              <p:nvPicPr>
                <p:cNvPr id="18" name="Picture 9" descr="http://icons.iconarchive.com/icons/aha-soft/free-large-boss/512/Supervisor-icon.png">
                  <a:extLst>
                    <a:ext uri="{FF2B5EF4-FFF2-40B4-BE49-F238E27FC236}">
                      <a16:creationId xmlns:a16="http://schemas.microsoft.com/office/drawing/2014/main" id="{E778276C-C943-4563-A127-23F251191C9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61087" y="2360794"/>
                  <a:ext cx="532328" cy="53232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967305A4-FCB6-439C-AAA4-32C8A0EC8E0C}"/>
                    </a:ext>
                  </a:extLst>
                </p:cNvPr>
                <p:cNvSpPr/>
                <p:nvPr/>
              </p:nvSpPr>
              <p:spPr>
                <a:xfrm>
                  <a:off x="1089073" y="2295762"/>
                  <a:ext cx="1426049" cy="990285"/>
                </a:xfrm>
                <a:prstGeom prst="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defTabSz="1218895"/>
                  <a:r>
                    <a:rPr kumimoji="1" lang="en-US" sz="1600" dirty="0">
                      <a:solidFill>
                        <a:prstClr val="black"/>
                      </a:solidFill>
                      <a:latin typeface="Calibri"/>
                    </a:rPr>
                    <a:t>Source control &amp; review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ACBA9A3-38A9-4A31-8951-172255796B58}"/>
                    </a:ext>
                  </a:extLst>
                </p:cNvPr>
                <p:cNvSpPr txBox="1"/>
                <p:nvPr/>
              </p:nvSpPr>
              <p:spPr>
                <a:xfrm>
                  <a:off x="506499" y="2953112"/>
                  <a:ext cx="530046" cy="1430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1218895"/>
                  <a:r>
                    <a:rPr kumimoji="1" lang="en-US" sz="1467" dirty="0">
                      <a:solidFill>
                        <a:prstClr val="black"/>
                      </a:solidFill>
                      <a:latin typeface="Calibri"/>
                    </a:rPr>
                    <a:t>Reviewer</a:t>
                  </a:r>
                </a:p>
              </p:txBody>
            </p:sp>
            <p:sp>
              <p:nvSpPr>
                <p:cNvPr id="21" name="Right Arrow 44">
                  <a:extLst>
                    <a:ext uri="{FF2B5EF4-FFF2-40B4-BE49-F238E27FC236}">
                      <a16:creationId xmlns:a16="http://schemas.microsoft.com/office/drawing/2014/main" id="{8D9900F1-9862-4083-8DC1-C7A39837A153}"/>
                    </a:ext>
                  </a:extLst>
                </p:cNvPr>
                <p:cNvSpPr/>
                <p:nvPr/>
              </p:nvSpPr>
              <p:spPr>
                <a:xfrm rot="16200000">
                  <a:off x="1440500" y="3520416"/>
                  <a:ext cx="659946" cy="232979"/>
                </a:xfrm>
                <a:prstGeom prst="rightArrow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218895"/>
                  <a:endParaRPr kumimoji="1" lang="en-US" sz="240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pic>
              <p:nvPicPr>
                <p:cNvPr id="22" name="Picture 11" descr="https://upload.wikimedia.org/wikipedia/commons/thumb/4/4d/Gerrit_icon.svg/1024px-Gerrit_icon.svg.png">
                  <a:extLst>
                    <a:ext uri="{FF2B5EF4-FFF2-40B4-BE49-F238E27FC236}">
                      <a16:creationId xmlns:a16="http://schemas.microsoft.com/office/drawing/2014/main" id="{B8DF4BDD-5040-461C-B91A-AF3DFE530A9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048210" y="2616199"/>
                  <a:ext cx="411368" cy="41136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3" name="Picture 13" descr="http://planetoftheweb.com/presentations/fluent2014/images/git.png">
                  <a:extLst>
                    <a:ext uri="{FF2B5EF4-FFF2-40B4-BE49-F238E27FC236}">
                      <a16:creationId xmlns:a16="http://schemas.microsoft.com/office/drawing/2014/main" id="{949BB630-203F-476B-94BC-809B25615B0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61803" y="2647015"/>
                  <a:ext cx="774278" cy="32332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A391FDC-FC79-445C-9AB5-C9F790C78673}"/>
                </a:ext>
              </a:extLst>
            </p:cNvPr>
            <p:cNvGrpSpPr/>
            <p:nvPr/>
          </p:nvGrpSpPr>
          <p:grpSpPr>
            <a:xfrm>
              <a:off x="14867503" y="10953560"/>
              <a:ext cx="3817214" cy="1705726"/>
              <a:chOff x="6084168" y="4469267"/>
              <a:chExt cx="1431828" cy="639814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8A716D5A-FE88-4B9B-8E22-ECCAF623D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084168" y="4651741"/>
                <a:ext cx="880578" cy="440289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F019EF8-54AF-40F8-913B-D6942060E459}"/>
                  </a:ext>
                </a:extLst>
              </p:cNvPr>
              <p:cNvSpPr txBox="1"/>
              <p:nvPr/>
            </p:nvSpPr>
            <p:spPr>
              <a:xfrm>
                <a:off x="6705108" y="4735328"/>
                <a:ext cx="810888" cy="3737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defTabSz="1218895"/>
                <a:r>
                  <a:rPr kumimoji="1" lang="en-US" sz="1400" dirty="0">
                    <a:solidFill>
                      <a:prstClr val="black"/>
                    </a:solidFill>
                    <a:latin typeface="Calibri"/>
                  </a:rPr>
                  <a:t>Automation Test</a:t>
                </a:r>
              </a:p>
            </p:txBody>
          </p:sp>
          <p:sp>
            <p:nvSpPr>
              <p:cNvPr id="15" name="Plus 52">
                <a:extLst>
                  <a:ext uri="{FF2B5EF4-FFF2-40B4-BE49-F238E27FC236}">
                    <a16:creationId xmlns:a16="http://schemas.microsoft.com/office/drawing/2014/main" id="{E02E80ED-A4AE-4A50-8318-B8F8B68FEAFD}"/>
                  </a:ext>
                </a:extLst>
              </p:cNvPr>
              <p:cNvSpPr/>
              <p:nvPr/>
            </p:nvSpPr>
            <p:spPr>
              <a:xfrm>
                <a:off x="6619581" y="4469267"/>
                <a:ext cx="182880" cy="182880"/>
              </a:xfrm>
              <a:prstGeom prst="mathPlus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895"/>
                <a:endParaRPr kumimoji="1" lang="en-US" sz="240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  <p:sp>
          <p:nvSpPr>
            <p:cNvPr id="11" name="Bent-Up Arrow 24">
              <a:extLst>
                <a:ext uri="{FF2B5EF4-FFF2-40B4-BE49-F238E27FC236}">
                  <a16:creationId xmlns:a16="http://schemas.microsoft.com/office/drawing/2014/main" id="{D70D4733-A9C8-4228-95F7-E2CF20773FF1}"/>
                </a:ext>
              </a:extLst>
            </p:cNvPr>
            <p:cNvSpPr/>
            <p:nvPr/>
          </p:nvSpPr>
          <p:spPr>
            <a:xfrm rot="10800000">
              <a:off x="10969936" y="5905296"/>
              <a:ext cx="5700049" cy="2709236"/>
            </a:xfrm>
            <a:prstGeom prst="bentUpArrow">
              <a:avLst>
                <a:gd name="adj1" fmla="val 12913"/>
                <a:gd name="adj2" fmla="val 11906"/>
                <a:gd name="adj3" fmla="val 11570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endParaRPr kumimoji="1" lang="en-GB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Bent-Up Arrow 11">
              <a:extLst>
                <a:ext uri="{FF2B5EF4-FFF2-40B4-BE49-F238E27FC236}">
                  <a16:creationId xmlns:a16="http://schemas.microsoft.com/office/drawing/2014/main" id="{AD2B38BF-7F62-455B-8934-F12D2A7E1EF8}"/>
                </a:ext>
              </a:extLst>
            </p:cNvPr>
            <p:cNvSpPr/>
            <p:nvPr/>
          </p:nvSpPr>
          <p:spPr>
            <a:xfrm rot="5400000" flipV="1">
              <a:off x="18144835" y="5195881"/>
              <a:ext cx="1346271" cy="962021"/>
            </a:xfrm>
            <a:prstGeom prst="bentUpArrow">
              <a:avLst>
                <a:gd name="adj1" fmla="val 30848"/>
                <a:gd name="adj2" fmla="val 27689"/>
                <a:gd name="adj3" fmla="val 38113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endParaRPr kumimoji="1" lang="en-GB" sz="2400">
                <a:solidFill>
                  <a:prstClr val="white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24480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44DFBC-10CA-0E47-9719-2072784317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Continuous Integration System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F4B98C6-2828-42BF-AE8F-6466D182D67B}"/>
              </a:ext>
            </a:extLst>
          </p:cNvPr>
          <p:cNvGrpSpPr/>
          <p:nvPr/>
        </p:nvGrpSpPr>
        <p:grpSpPr>
          <a:xfrm>
            <a:off x="467434" y="1246915"/>
            <a:ext cx="11230854" cy="4968308"/>
            <a:chOff x="830793" y="2027076"/>
            <a:chExt cx="22978681" cy="11468139"/>
          </a:xfrm>
        </p:grpSpPr>
        <p:sp>
          <p:nvSpPr>
            <p:cNvPr id="4" name="ホームベース 29">
              <a:extLst>
                <a:ext uri="{FF2B5EF4-FFF2-40B4-BE49-F238E27FC236}">
                  <a16:creationId xmlns:a16="http://schemas.microsoft.com/office/drawing/2014/main" id="{DBE4FE0F-6BA7-4C12-96C4-49FD63BE4E98}"/>
                </a:ext>
              </a:extLst>
            </p:cNvPr>
            <p:cNvSpPr/>
            <p:nvPr/>
          </p:nvSpPr>
          <p:spPr>
            <a:xfrm>
              <a:off x="9126710" y="5690364"/>
              <a:ext cx="7285484" cy="3792028"/>
            </a:xfrm>
            <a:prstGeom prst="homePlate">
              <a:avLst>
                <a:gd name="adj" fmla="val 30715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r>
                <a:rPr kumimoji="1" lang="en-US" altLang="ja-JP" sz="3300" dirty="0">
                  <a:solidFill>
                    <a:prstClr val="white"/>
                  </a:solidFill>
                  <a:latin typeface="Calibri"/>
                  <a:ea typeface="ＭＳ Ｐゴシック" panose="020B0600070205080204" pitchFamily="34" charset="-128"/>
                </a:rPr>
                <a:t>Phase</a:t>
              </a:r>
              <a:endParaRPr kumimoji="1" lang="ja-JP" altLang="en-US" sz="3300" dirty="0">
                <a:solidFill>
                  <a:prstClr val="white"/>
                </a:solidFill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5" name="環状矢印 14">
              <a:extLst>
                <a:ext uri="{FF2B5EF4-FFF2-40B4-BE49-F238E27FC236}">
                  <a16:creationId xmlns:a16="http://schemas.microsoft.com/office/drawing/2014/main" id="{BA65F5DE-F62B-4592-B0E7-B2C19D0543E7}"/>
                </a:ext>
              </a:extLst>
            </p:cNvPr>
            <p:cNvSpPr/>
            <p:nvPr/>
          </p:nvSpPr>
          <p:spPr>
            <a:xfrm rot="4344266">
              <a:off x="9248307" y="5051747"/>
              <a:ext cx="6261537" cy="5436910"/>
            </a:xfrm>
            <a:prstGeom prst="circularArrow">
              <a:avLst>
                <a:gd name="adj1" fmla="val 10980"/>
                <a:gd name="adj2" fmla="val 1329982"/>
                <a:gd name="adj3" fmla="val 4500000"/>
                <a:gd name="adj4" fmla="val 6977511"/>
                <a:gd name="adj5" fmla="val 11721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6" name="正方形/長方形 1">
              <a:extLst>
                <a:ext uri="{FF2B5EF4-FFF2-40B4-BE49-F238E27FC236}">
                  <a16:creationId xmlns:a16="http://schemas.microsoft.com/office/drawing/2014/main" id="{DFFBBEED-F856-4D1B-A6F7-4551E581FD29}"/>
                </a:ext>
              </a:extLst>
            </p:cNvPr>
            <p:cNvSpPr/>
            <p:nvPr/>
          </p:nvSpPr>
          <p:spPr>
            <a:xfrm>
              <a:off x="830793" y="2442358"/>
              <a:ext cx="7882467" cy="41846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319" tIns="45659" rIns="91319" bIns="45659" rtlCol="0" anchor="ctr"/>
            <a:lstStyle/>
            <a:p>
              <a:pPr marL="342449" indent="-342449" defTabSz="1218895">
                <a:buFont typeface="Arial" pitchFamily="34" charset="0"/>
                <a:buChar char="•"/>
              </a:pPr>
              <a:r>
                <a:rPr kumimoji="1" lang="en-US" altLang="ja-JP" dirty="0">
                  <a:solidFill>
                    <a:prstClr val="black"/>
                  </a:solidFill>
                  <a:latin typeface="Calibri"/>
                  <a:ea typeface="HGP創英角ｺﾞｼｯｸUB" pitchFamily="50" charset="-128"/>
                </a:rPr>
                <a:t>Detect the build break by rolling build.</a:t>
              </a:r>
            </a:p>
            <a:p>
              <a:pPr marL="342449" indent="-342449" defTabSz="1218895">
                <a:buFont typeface="Arial" pitchFamily="34" charset="0"/>
                <a:buChar char="•"/>
              </a:pPr>
              <a:r>
                <a:rPr kumimoji="1" lang="en-US" altLang="ja-JP" dirty="0">
                  <a:solidFill>
                    <a:prstClr val="black"/>
                  </a:solidFill>
                  <a:latin typeface="Calibri"/>
                  <a:ea typeface="HGP創英角ｺﾞｼｯｸUB" pitchFamily="50" charset="-128"/>
                </a:rPr>
                <a:t>Create the daily PKG file for Unit Test.</a:t>
              </a:r>
              <a:endParaRPr kumimoji="1" lang="ja-JP" altLang="en-US" dirty="0">
                <a:solidFill>
                  <a:prstClr val="black"/>
                </a:solidFill>
                <a:latin typeface="Calibri"/>
                <a:ea typeface="HGP創英角ｺﾞｼｯｸUB" pitchFamily="50" charset="-128"/>
              </a:endParaRPr>
            </a:p>
          </p:txBody>
        </p:sp>
        <p:sp>
          <p:nvSpPr>
            <p:cNvPr id="7" name="正方形/長方形 26">
              <a:extLst>
                <a:ext uri="{FF2B5EF4-FFF2-40B4-BE49-F238E27FC236}">
                  <a16:creationId xmlns:a16="http://schemas.microsoft.com/office/drawing/2014/main" id="{875E256B-1660-4EFB-972A-803EAA5D84A0}"/>
                </a:ext>
              </a:extLst>
            </p:cNvPr>
            <p:cNvSpPr/>
            <p:nvPr/>
          </p:nvSpPr>
          <p:spPr>
            <a:xfrm>
              <a:off x="848133" y="8276526"/>
              <a:ext cx="7865127" cy="448322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319" tIns="45659" rIns="91319" bIns="45659" rtlCol="0" anchor="t"/>
            <a:lstStyle/>
            <a:p>
              <a:pPr marL="380905" indent="-380905" defTabSz="1218895">
                <a:buFont typeface="Arial" panose="020B0604020202020204" pitchFamily="34" charset="0"/>
                <a:buChar char="•"/>
              </a:pPr>
              <a:endParaRPr kumimoji="1" lang="en-US" altLang="ja-JP" dirty="0">
                <a:solidFill>
                  <a:prstClr val="black"/>
                </a:solidFill>
                <a:latin typeface="Calibri"/>
                <a:ea typeface="HGP創英角ｺﾞｼｯｸUB" pitchFamily="50" charset="-128"/>
                <a:cs typeface="メイリオ" pitchFamily="50" charset="-128"/>
              </a:endParaRPr>
            </a:p>
            <a:p>
              <a:pPr marL="380905" indent="-380905" defTabSz="1218895">
                <a:buFont typeface="Arial" panose="020B0604020202020204" pitchFamily="34" charset="0"/>
                <a:buChar char="•"/>
              </a:pPr>
              <a:r>
                <a:rPr kumimoji="1" lang="en-US" altLang="ja-JP" dirty="0">
                  <a:solidFill>
                    <a:prstClr val="black"/>
                  </a:solidFill>
                  <a:latin typeface="Calibri"/>
                  <a:ea typeface="HGP創英角ｺﾞｼｯｸUB" pitchFamily="50" charset="-128"/>
                  <a:cs typeface="メイリオ" pitchFamily="50" charset="-128"/>
                </a:rPr>
                <a:t>Immediately create release package for every commit.</a:t>
              </a:r>
            </a:p>
            <a:p>
              <a:pPr marL="380905" indent="-380905" defTabSz="1218895">
                <a:buFont typeface="Arial" panose="020B0604020202020204" pitchFamily="34" charset="0"/>
                <a:buChar char="•"/>
              </a:pPr>
              <a:r>
                <a:rPr kumimoji="1" lang="en-US" altLang="ja-JP" dirty="0">
                  <a:solidFill>
                    <a:prstClr val="black"/>
                  </a:solidFill>
                  <a:latin typeface="Calibri"/>
                  <a:ea typeface="HGP創英角ｺﾞｼｯｸUB" pitchFamily="50" charset="-128"/>
                  <a:cs typeface="メイリオ" pitchFamily="50" charset="-128"/>
                </a:rPr>
                <a:t>Prevent the human mistake when creating release package.</a:t>
              </a:r>
              <a:endParaRPr kumimoji="1" lang="ja-JP" altLang="en-US" dirty="0">
                <a:solidFill>
                  <a:prstClr val="black"/>
                </a:solidFill>
                <a:latin typeface="Calibri"/>
                <a:ea typeface="HGP創英角ｺﾞｼｯｸUB" pitchFamily="50" charset="-128"/>
                <a:cs typeface="メイリオ" pitchFamily="50" charset="-128"/>
              </a:endParaRPr>
            </a:p>
          </p:txBody>
        </p:sp>
        <p:sp>
          <p:nvSpPr>
            <p:cNvPr id="8" name="正方形/長方形 28">
              <a:extLst>
                <a:ext uri="{FF2B5EF4-FFF2-40B4-BE49-F238E27FC236}">
                  <a16:creationId xmlns:a16="http://schemas.microsoft.com/office/drawing/2014/main" id="{D79F6724-61F4-4422-AC82-E719833A1696}"/>
                </a:ext>
              </a:extLst>
            </p:cNvPr>
            <p:cNvSpPr/>
            <p:nvPr/>
          </p:nvSpPr>
          <p:spPr>
            <a:xfrm>
              <a:off x="16152151" y="8480585"/>
              <a:ext cx="7591673" cy="41846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319" tIns="45659" rIns="91319" bIns="45659" rtlCol="0" anchor="t"/>
            <a:lstStyle/>
            <a:p>
              <a:pPr marL="342449" indent="-342449" defTabSz="1218895">
                <a:buFont typeface="Arial" pitchFamily="34" charset="0"/>
                <a:buChar char="•"/>
              </a:pPr>
              <a:endParaRPr kumimoji="1" lang="en-US" altLang="ja-JP" dirty="0">
                <a:solidFill>
                  <a:prstClr val="black"/>
                </a:solidFill>
                <a:latin typeface="Calibri"/>
                <a:ea typeface="HGP創英角ｺﾞｼｯｸUB" pitchFamily="50" charset="-128"/>
              </a:endParaRPr>
            </a:p>
            <a:p>
              <a:pPr marL="342449" indent="-342449" defTabSz="1218895">
                <a:buFont typeface="Arial" pitchFamily="34" charset="0"/>
                <a:buChar char="•"/>
              </a:pPr>
              <a:r>
                <a:rPr kumimoji="1" lang="en-US" altLang="ja-JP" dirty="0">
                  <a:solidFill>
                    <a:prstClr val="black"/>
                  </a:solidFill>
                  <a:latin typeface="Calibri"/>
                  <a:ea typeface="HGP創英角ｺﾞｼｯｸUB" pitchFamily="50" charset="-128"/>
                </a:rPr>
                <a:t>Execute Unit Test every day to find logic issues.</a:t>
              </a:r>
              <a:endParaRPr kumimoji="1" lang="ja-JP" altLang="en-US" dirty="0">
                <a:solidFill>
                  <a:prstClr val="black"/>
                </a:solidFill>
                <a:latin typeface="Calibri"/>
                <a:ea typeface="HGP創英角ｺﾞｼｯｸUB" pitchFamily="50" charset="-128"/>
              </a:endParaRPr>
            </a:p>
          </p:txBody>
        </p:sp>
        <p:sp>
          <p:nvSpPr>
            <p:cNvPr id="9" name="正方形/長方形 31">
              <a:extLst>
                <a:ext uri="{FF2B5EF4-FFF2-40B4-BE49-F238E27FC236}">
                  <a16:creationId xmlns:a16="http://schemas.microsoft.com/office/drawing/2014/main" id="{E545D3C5-4B65-415A-A677-D209204B2CF5}"/>
                </a:ext>
              </a:extLst>
            </p:cNvPr>
            <p:cNvSpPr/>
            <p:nvPr/>
          </p:nvSpPr>
          <p:spPr>
            <a:xfrm>
              <a:off x="16152154" y="2442359"/>
              <a:ext cx="7591673" cy="41846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319" tIns="45659" rIns="91319" bIns="45659" rtlCol="0" anchor="t"/>
            <a:lstStyle/>
            <a:p>
              <a:pPr marL="342449" indent="-342449" defTabSz="1218895">
                <a:buFont typeface="Arial" pitchFamily="34" charset="0"/>
                <a:buChar char="•"/>
              </a:pPr>
              <a:endParaRPr kumimoji="1" lang="en-US" altLang="ja-JP" dirty="0">
                <a:solidFill>
                  <a:prstClr val="black"/>
                </a:solidFill>
                <a:latin typeface="Calibri"/>
                <a:ea typeface="HGP創英角ｺﾞｼｯｸUB" pitchFamily="50" charset="-128"/>
              </a:endParaRPr>
            </a:p>
            <a:p>
              <a:pPr marL="342449" indent="-342449" defTabSz="1218895">
                <a:buFont typeface="Arial" pitchFamily="34" charset="0"/>
                <a:buChar char="•"/>
              </a:pPr>
              <a:r>
                <a:rPr kumimoji="1" lang="en-US" altLang="ja-JP" dirty="0">
                  <a:solidFill>
                    <a:prstClr val="black"/>
                  </a:solidFill>
                  <a:latin typeface="Calibri"/>
                  <a:ea typeface="HGP創英角ｺﾞｼｯｸUB" pitchFamily="50" charset="-128"/>
                </a:rPr>
                <a:t>Detect the potential issues by </a:t>
              </a:r>
              <a:r>
                <a:rPr kumimoji="1" lang="en-US" altLang="ja-JP" dirty="0" err="1">
                  <a:solidFill>
                    <a:prstClr val="black"/>
                  </a:solidFill>
                  <a:latin typeface="Calibri"/>
                  <a:ea typeface="HGP創英角ｺﾞｼｯｸUB" pitchFamily="50" charset="-128"/>
                </a:rPr>
                <a:t>Coverity</a:t>
              </a:r>
              <a:r>
                <a:rPr kumimoji="1" lang="en-US" altLang="ja-JP" dirty="0">
                  <a:solidFill>
                    <a:prstClr val="black"/>
                  </a:solidFill>
                  <a:latin typeface="Calibri"/>
                  <a:ea typeface="HGP創英角ｺﾞｼｯｸUB" pitchFamily="50" charset="-128"/>
                </a:rPr>
                <a:t>/</a:t>
              </a:r>
              <a:r>
                <a:rPr kumimoji="1" lang="en-US" altLang="ja-JP" dirty="0" err="1">
                  <a:solidFill>
                    <a:prstClr val="black"/>
                  </a:solidFill>
                  <a:latin typeface="Calibri"/>
                  <a:ea typeface="HGP創英角ｺﾞｼｯｸUB" pitchFamily="50" charset="-128"/>
                </a:rPr>
                <a:t>Blackduck</a:t>
              </a:r>
              <a:r>
                <a:rPr kumimoji="1" lang="en-US" altLang="ja-JP" dirty="0">
                  <a:solidFill>
                    <a:prstClr val="black"/>
                  </a:solidFill>
                  <a:latin typeface="Calibri"/>
                  <a:ea typeface="HGP創英角ｺﾞｼｯｸUB" pitchFamily="50" charset="-128"/>
                </a:rPr>
                <a:t>/Sonar</a:t>
              </a:r>
            </a:p>
          </p:txBody>
        </p:sp>
        <p:sp>
          <p:nvSpPr>
            <p:cNvPr id="10" name="テキスト ボックス 13">
              <a:extLst>
                <a:ext uri="{FF2B5EF4-FFF2-40B4-BE49-F238E27FC236}">
                  <a16:creationId xmlns:a16="http://schemas.microsoft.com/office/drawing/2014/main" id="{69B8A937-76EA-412E-864C-35F76A481822}"/>
                </a:ext>
              </a:extLst>
            </p:cNvPr>
            <p:cNvSpPr txBox="1"/>
            <p:nvPr/>
          </p:nvSpPr>
          <p:spPr>
            <a:xfrm>
              <a:off x="1028757" y="7541065"/>
              <a:ext cx="4057129" cy="852211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10" tIns="45655" rIns="91310" bIns="45655" rtlCol="0">
              <a:spAutoFit/>
            </a:bodyPr>
            <a:lstStyle/>
            <a:p>
              <a:pPr algn="ctr" defTabSz="1218895"/>
              <a:r>
                <a:rPr kumimoji="1" lang="en-US" altLang="ja-JP" dirty="0">
                  <a:solidFill>
                    <a:prstClr val="white"/>
                  </a:solidFill>
                  <a:latin typeface="Calibri"/>
                  <a:ea typeface="HGP創英角ｺﾞｼｯｸUB" pitchFamily="50" charset="-128"/>
                  <a:cs typeface="メイリオ" pitchFamily="50" charset="-128"/>
                </a:rPr>
                <a:t>Packaging</a:t>
              </a:r>
              <a:endParaRPr kumimoji="1" lang="ja-JP" altLang="en-US" dirty="0">
                <a:solidFill>
                  <a:prstClr val="white"/>
                </a:solidFill>
                <a:latin typeface="Calibri"/>
                <a:ea typeface="HGP創英角ｺﾞｼｯｸUB" pitchFamily="50" charset="-128"/>
                <a:cs typeface="メイリオ" pitchFamily="50" charset="-128"/>
              </a:endParaRPr>
            </a:p>
          </p:txBody>
        </p:sp>
        <p:sp>
          <p:nvSpPr>
            <p:cNvPr id="11" name="テキスト ボックス 11">
              <a:extLst>
                <a:ext uri="{FF2B5EF4-FFF2-40B4-BE49-F238E27FC236}">
                  <a16:creationId xmlns:a16="http://schemas.microsoft.com/office/drawing/2014/main" id="{94C22CA0-667F-40A1-99D7-A89E4B1A2D4A}"/>
                </a:ext>
              </a:extLst>
            </p:cNvPr>
            <p:cNvSpPr txBox="1"/>
            <p:nvPr/>
          </p:nvSpPr>
          <p:spPr>
            <a:xfrm>
              <a:off x="1028757" y="2027076"/>
              <a:ext cx="4057129" cy="852211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310" tIns="45655" rIns="91310" bIns="45655" rtlCol="0">
              <a:spAutoFit/>
            </a:bodyPr>
            <a:lstStyle/>
            <a:p>
              <a:pPr algn="ctr" defTabSz="1218895"/>
              <a:r>
                <a:rPr kumimoji="1" lang="en-US" altLang="ja-JP" dirty="0">
                  <a:solidFill>
                    <a:prstClr val="white"/>
                  </a:solidFill>
                  <a:latin typeface="Calibri"/>
                  <a:ea typeface="HGP創英角ｺﾞｼｯｸUB" pitchFamily="50" charset="-128"/>
                  <a:cs typeface="メイリオ" pitchFamily="50" charset="-128"/>
                </a:rPr>
                <a:t>Build</a:t>
              </a:r>
              <a:endParaRPr kumimoji="1" lang="ja-JP" altLang="en-US" dirty="0">
                <a:solidFill>
                  <a:prstClr val="white"/>
                </a:solidFill>
                <a:latin typeface="Calibri"/>
                <a:ea typeface="HGP創英角ｺﾞｼｯｸUB" pitchFamily="50" charset="-128"/>
                <a:cs typeface="メイリオ" pitchFamily="50" charset="-128"/>
              </a:endParaRPr>
            </a:p>
          </p:txBody>
        </p:sp>
        <p:sp>
          <p:nvSpPr>
            <p:cNvPr id="12" name="角丸四角形吹き出し 36">
              <a:extLst>
                <a:ext uri="{FF2B5EF4-FFF2-40B4-BE49-F238E27FC236}">
                  <a16:creationId xmlns:a16="http://schemas.microsoft.com/office/drawing/2014/main" id="{CDE829CD-B4D5-438A-9B3B-FEC76FBD342A}"/>
                </a:ext>
              </a:extLst>
            </p:cNvPr>
            <p:cNvSpPr/>
            <p:nvPr/>
          </p:nvSpPr>
          <p:spPr>
            <a:xfrm>
              <a:off x="10665649" y="10976935"/>
              <a:ext cx="4576267" cy="1196856"/>
            </a:xfrm>
            <a:prstGeom prst="wedgeRoundRectCallout">
              <a:avLst>
                <a:gd name="adj1" fmla="val 1764"/>
                <a:gd name="adj2" fmla="val -116507"/>
                <a:gd name="adj3" fmla="val 16667"/>
              </a:avLst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r>
                <a:rPr kumimoji="1" lang="en-US" altLang="ja-JP" dirty="0">
                  <a:solidFill>
                    <a:prstClr val="white"/>
                  </a:solidFill>
                  <a:latin typeface="Calibri"/>
                  <a:ea typeface="ＭＳ Ｐゴシック" panose="020B0600070205080204" pitchFamily="34" charset="-128"/>
                </a:rPr>
                <a:t>Daily Execution</a:t>
              </a:r>
              <a:endParaRPr kumimoji="1" lang="ja-JP" altLang="en-US" dirty="0">
                <a:solidFill>
                  <a:prstClr val="white"/>
                </a:solidFill>
                <a:latin typeface="Calibri"/>
                <a:ea typeface="ＭＳ Ｐゴシック" panose="020B0600070205080204" pitchFamily="34" charset="-128"/>
              </a:endParaRPr>
            </a:p>
          </p:txBody>
        </p:sp>
        <p:sp>
          <p:nvSpPr>
            <p:cNvPr id="13" name="テキスト ボックス 7">
              <a:extLst>
                <a:ext uri="{FF2B5EF4-FFF2-40B4-BE49-F238E27FC236}">
                  <a16:creationId xmlns:a16="http://schemas.microsoft.com/office/drawing/2014/main" id="{79C98CB3-D998-498C-BE39-3638C7F717E2}"/>
                </a:ext>
              </a:extLst>
            </p:cNvPr>
            <p:cNvSpPr txBox="1"/>
            <p:nvPr/>
          </p:nvSpPr>
          <p:spPr>
            <a:xfrm>
              <a:off x="16412194" y="2032537"/>
              <a:ext cx="3902515" cy="781168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lIns="91310" tIns="45655" rIns="91310" bIns="45655" rtlCol="0">
              <a:spAutoFit/>
            </a:bodyPr>
            <a:lstStyle/>
            <a:p>
              <a:pPr algn="ctr" defTabSz="1218895"/>
              <a:r>
                <a:rPr kumimoji="1" lang="en-US" altLang="ja-JP" sz="1600" dirty="0">
                  <a:solidFill>
                    <a:prstClr val="white"/>
                  </a:solidFill>
                  <a:latin typeface="Calibri"/>
                  <a:ea typeface="HGP創英角ｺﾞｼｯｸUB" pitchFamily="50" charset="-128"/>
                  <a:cs typeface="Arial" pitchFamily="34" charset="0"/>
                </a:rPr>
                <a:t>Static Analysis</a:t>
              </a:r>
              <a:endParaRPr kumimoji="1" lang="ja-JP" altLang="en-US" sz="1600" dirty="0">
                <a:solidFill>
                  <a:prstClr val="white"/>
                </a:solidFill>
                <a:latin typeface="Calibri"/>
                <a:ea typeface="HGP創英角ｺﾞｼｯｸUB" pitchFamily="50" charset="-128"/>
                <a:cs typeface="Arial" pitchFamily="34" charset="0"/>
              </a:endParaRPr>
            </a:p>
          </p:txBody>
        </p:sp>
        <p:sp>
          <p:nvSpPr>
            <p:cNvPr id="14" name="テキスト ボックス 12">
              <a:extLst>
                <a:ext uri="{FF2B5EF4-FFF2-40B4-BE49-F238E27FC236}">
                  <a16:creationId xmlns:a16="http://schemas.microsoft.com/office/drawing/2014/main" id="{AB33FBA2-0997-4A59-9CB2-6F22244608DE}"/>
                </a:ext>
              </a:extLst>
            </p:cNvPr>
            <p:cNvSpPr txBox="1"/>
            <p:nvPr/>
          </p:nvSpPr>
          <p:spPr>
            <a:xfrm>
              <a:off x="16513221" y="8056801"/>
              <a:ext cx="3853727" cy="852211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square" lIns="91310" tIns="45655" rIns="91310" bIns="45655" rtlCol="0">
              <a:spAutoFit/>
            </a:bodyPr>
            <a:lstStyle/>
            <a:p>
              <a:pPr algn="ctr" defTabSz="1218895"/>
              <a:r>
                <a:rPr kumimoji="1" lang="en-US" altLang="ja-JP" dirty="0">
                  <a:solidFill>
                    <a:prstClr val="white"/>
                  </a:solidFill>
                  <a:latin typeface="Calibri"/>
                  <a:ea typeface="HGP創英角ｺﾞｼｯｸUB" pitchFamily="50" charset="-128"/>
                  <a:cs typeface="メイリオ" pitchFamily="50" charset="-128"/>
                </a:rPr>
                <a:t>Unit Test</a:t>
              </a:r>
            </a:p>
          </p:txBody>
        </p:sp>
        <p:pic>
          <p:nvPicPr>
            <p:cNvPr id="15" name="Picture 25" descr="http://files.softicons.com/download/object-icons/package-icons-by-thvg/png/512/PackageIcon.png">
              <a:extLst>
                <a:ext uri="{FF2B5EF4-FFF2-40B4-BE49-F238E27FC236}">
                  <a16:creationId xmlns:a16="http://schemas.microsoft.com/office/drawing/2014/main" id="{0DCBA57A-0DF0-4CF9-ABC2-48B8FE3574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4557" y="11137653"/>
              <a:ext cx="2357562" cy="235756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64AC8D3-6115-49C0-B439-8455B4781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477005" y="10716847"/>
              <a:ext cx="4332469" cy="2397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B92BF5F-2631-4152-87CB-A9284C786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227390" y="4686874"/>
              <a:ext cx="4582084" cy="257742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6983353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B5D4A7-4EEE-6D47-B3F3-6218DEC9E4E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Code Review Process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35CF67-AB38-4FAE-9D21-FE1823C1F3D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169" t="-350" r="9169" b="350"/>
          <a:stretch/>
        </p:blipFill>
        <p:spPr>
          <a:xfrm>
            <a:off x="7224258" y="1250297"/>
            <a:ext cx="4155327" cy="50499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36D5FE-1D6B-4E9A-A62C-12AF1D258D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168" y="2301777"/>
            <a:ext cx="6624995" cy="39984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角丸四角形 9">
            <a:extLst>
              <a:ext uri="{FF2B5EF4-FFF2-40B4-BE49-F238E27FC236}">
                <a16:creationId xmlns:a16="http://schemas.microsoft.com/office/drawing/2014/main" id="{96A09D1B-0E5F-4EC0-87B4-BBDE7C9D2C4F}"/>
              </a:ext>
            </a:extLst>
          </p:cNvPr>
          <p:cNvSpPr/>
          <p:nvPr/>
        </p:nvSpPr>
        <p:spPr>
          <a:xfrm>
            <a:off x="300708" y="1240975"/>
            <a:ext cx="6709454" cy="979711"/>
          </a:xfrm>
          <a:prstGeom prst="roundRect">
            <a:avLst>
              <a:gd name="adj" fmla="val 8096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95"/>
            <a:r>
              <a:rPr kumimoji="1" lang="en-US" altLang="ja-JP" dirty="0">
                <a:solidFill>
                  <a:prstClr val="white"/>
                </a:solidFill>
                <a:latin typeface="Calibri"/>
                <a:ea typeface="ＭＳ Ｐゴシック" panose="020B0600070205080204" pitchFamily="34" charset="-128"/>
              </a:rPr>
              <a:t>Improve the quality of every commit by different review process. We use Bitbucket tool for Developer-Reviewer collaboration.</a:t>
            </a:r>
          </a:p>
        </p:txBody>
      </p:sp>
    </p:spTree>
    <p:extLst>
      <p:ext uri="{BB962C8B-B14F-4D97-AF65-F5344CB8AC3E}">
        <p14:creationId xmlns:p14="http://schemas.microsoft.com/office/powerpoint/2010/main" val="33182412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F8262F-E9A6-794A-A448-61E6D13D374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Software &amp; Tools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4D56CD-D43C-4144-8B21-B83F408D9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40945"/>
              </p:ext>
            </p:extLst>
          </p:nvPr>
        </p:nvGraphicFramePr>
        <p:xfrm>
          <a:off x="533400" y="1312508"/>
          <a:ext cx="11110459" cy="498712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80736">
                  <a:extLst>
                    <a:ext uri="{9D8B030D-6E8A-4147-A177-3AD203B41FA5}">
                      <a16:colId xmlns:a16="http://schemas.microsoft.com/office/drawing/2014/main" val="803967847"/>
                    </a:ext>
                  </a:extLst>
                </a:gridCol>
                <a:gridCol w="8229723">
                  <a:extLst>
                    <a:ext uri="{9D8B030D-6E8A-4147-A177-3AD203B41FA5}">
                      <a16:colId xmlns:a16="http://schemas.microsoft.com/office/drawing/2014/main" val="997665306"/>
                    </a:ext>
                  </a:extLst>
                </a:gridCol>
              </a:tblGrid>
              <a:tr h="364211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Type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Tools</a:t>
                      </a:r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1540214706"/>
                  </a:ext>
                </a:extLst>
              </a:tr>
              <a:tr h="77048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IDE &amp; Language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endParaRPr lang="en-US" sz="9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2301289217"/>
                  </a:ext>
                </a:extLst>
              </a:tr>
              <a:tr h="77048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Source Code Management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endParaRPr lang="en-US" sz="9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1637970617"/>
                  </a:ext>
                </a:extLst>
              </a:tr>
              <a:tr h="77048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Testing &amp; Static Analysis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endParaRPr lang="en-US" sz="9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2543226510"/>
                  </a:ext>
                </a:extLst>
              </a:tr>
              <a:tr h="77048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CI/CD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endParaRPr lang="en-US" sz="9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3262912137"/>
                  </a:ext>
                </a:extLst>
              </a:tr>
              <a:tr h="77048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Management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endParaRPr lang="en-US" sz="9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3297832573"/>
                  </a:ext>
                </a:extLst>
              </a:tr>
              <a:tr h="77048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Communication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endParaRPr lang="en-US" sz="9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83119937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E45FBB2-1E1C-4842-80B5-453415677EE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00053" y="1839164"/>
            <a:ext cx="1714499" cy="3643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DAE783-D345-4D59-BADE-FBA0FFBBD68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01548" y="1692207"/>
            <a:ext cx="1574461" cy="6948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4570DF-FCEF-4FB7-B458-3408AC234FF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15488" y="1880651"/>
            <a:ext cx="1422172" cy="3160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AB3D8F-4164-4F05-92D6-DE97F95E0A5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6273" y="1766534"/>
            <a:ext cx="1009840" cy="6204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0CFC17-01A3-412D-B6E7-FEC12DA1535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58539" y="3317743"/>
            <a:ext cx="622465" cy="5477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BE76C4-1D0E-442D-BE30-07B6D45D67FF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53552" y="3462741"/>
            <a:ext cx="1075201" cy="2866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078A2E-A4DB-4CFC-A618-2B52D04B6D4F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879" b="22508"/>
          <a:stretch/>
        </p:blipFill>
        <p:spPr>
          <a:xfrm>
            <a:off x="5384721" y="3341708"/>
            <a:ext cx="952500" cy="4916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3CD574-A5C4-4EB7-A30A-0E6EEE632C50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01246" y="3426467"/>
            <a:ext cx="1455968" cy="3960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DCE735-FCC5-4BC1-A1D7-19C6D03C1BBE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3436" y="2662824"/>
            <a:ext cx="1988516" cy="2866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091E68-B38A-4238-84FB-025E60067D1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00053" y="2586362"/>
            <a:ext cx="1112116" cy="4633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2063AB-4482-4996-81D0-71FFB3E1F9E3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7164" y="4050124"/>
            <a:ext cx="2166131" cy="6966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A3D5FB-DC69-414A-A98F-72224D97106B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51372" y="4956174"/>
            <a:ext cx="1755716" cy="4340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9B5B64A-AC67-4056-A554-CE1ECCD4A29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7215" y="3361396"/>
            <a:ext cx="1786644" cy="4446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B5BD0B6-C5D3-4F8A-B31C-8D8F1D732329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3882" y="3420758"/>
            <a:ext cx="1631396" cy="4616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DE93927-0DB0-445A-AB30-C3522B1DB282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7930" y="2564764"/>
            <a:ext cx="953719" cy="384694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8753" y="5717831"/>
            <a:ext cx="1767249" cy="494092"/>
          </a:xfrm>
          <a:prstGeom prst="rect">
            <a:avLst/>
          </a:prstGeom>
        </p:spPr>
      </p:pic>
      <p:pic>
        <p:nvPicPr>
          <p:cNvPr id="58" name="Picture 2" descr="Image result for JIRA logo powered">
            <a:extLst>
              <a:ext uri="{FF2B5EF4-FFF2-40B4-BE49-F238E27FC236}">
                <a16:creationId xmlns:a16="http://schemas.microsoft.com/office/drawing/2014/main" id="{D1FC1423-CB6B-B14A-8AC9-74DECACCB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4116" y="5557850"/>
            <a:ext cx="1510106" cy="67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2" descr="Image result for JIRA logo powered">
            <a:extLst>
              <a:ext uri="{FF2B5EF4-FFF2-40B4-BE49-F238E27FC236}">
                <a16:creationId xmlns:a16="http://schemas.microsoft.com/office/drawing/2014/main" id="{D1FC1423-CB6B-B14A-8AC9-74DECACCB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4116" y="4811855"/>
            <a:ext cx="1510106" cy="67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2" descr="Image result for confluence logo">
            <a:extLst>
              <a:ext uri="{FF2B5EF4-FFF2-40B4-BE49-F238E27FC236}">
                <a16:creationId xmlns:a16="http://schemas.microsoft.com/office/drawing/2014/main" id="{776943DF-8227-D34B-AF19-F077DD5E4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52072" y="4571510"/>
            <a:ext cx="1923620" cy="1251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82712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193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306171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1">
      <a:dk1>
        <a:srgbClr val="19242F"/>
      </a:dk1>
      <a:lt1>
        <a:srgbClr val="FFFFFF"/>
      </a:lt1>
      <a:dk2>
        <a:srgbClr val="FFFFFF"/>
      </a:dk2>
      <a:lt2>
        <a:srgbClr val="FFFFFF"/>
      </a:lt2>
      <a:accent1>
        <a:srgbClr val="124FA6"/>
      </a:accent1>
      <a:accent2>
        <a:srgbClr val="1C9899"/>
      </a:accent2>
      <a:accent3>
        <a:srgbClr val="53677B"/>
      </a:accent3>
      <a:accent4>
        <a:srgbClr val="555555"/>
      </a:accent4>
      <a:accent5>
        <a:srgbClr val="C6C6C6"/>
      </a:accent5>
      <a:accent6>
        <a:srgbClr val="A1A1A1"/>
      </a:accent6>
      <a:hlink>
        <a:srgbClr val="F33B48"/>
      </a:hlink>
      <a:folHlink>
        <a:srgbClr val="FFC00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Yu Gothic Light"/>
      <a:font script="Hang" typeface="맑은 고딕"/>
      <a:font script="Hans" typeface="DengXian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DengXian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22705</TotalTime>
  <Words>5243</Words>
  <Application>Microsoft Office PowerPoint</Application>
  <PresentationFormat>Widescreen</PresentationFormat>
  <Paragraphs>1291</Paragraphs>
  <Slides>53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KhoaND3</Manager>
  <Company>FPT Software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FHM Presentation Template</dc:title>
  <dc:subject>Project Management</dc:subject>
  <dc:creator>thuongtnh@fsoft.com.vn;DungTV2@fsoft.com.vn;chauntb</dc:creator>
  <cp:keywords>KhoaND3</cp:keywords>
  <dc:description/>
  <cp:lastModifiedBy>Tran Nguyen Hoai Thuong (FHM.PMO)</cp:lastModifiedBy>
  <cp:revision>764</cp:revision>
  <dcterms:created xsi:type="dcterms:W3CDTF">2019-07-18T03:07:25Z</dcterms:created>
  <dcterms:modified xsi:type="dcterms:W3CDTF">2026-09-14T08:07:52Z</dcterms:modified>
  <cp:category/>
</cp:coreProperties>
</file>