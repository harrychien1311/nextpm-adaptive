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tiff" ContentType="image/tiff"/>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4"/>
  </p:sldMasterIdLst>
  <p:notesMasterIdLst>
    <p:notesMasterId r:id="rId39"/>
  </p:notesMasterIdLst>
  <p:sldIdLst>
    <p:sldId id="256" r:id="rId5"/>
    <p:sldId id="281" r:id="rId6"/>
    <p:sldId id="282" r:id="rId7"/>
    <p:sldId id="257" r:id="rId8"/>
    <p:sldId id="283" r:id="rId9"/>
    <p:sldId id="295" r:id="rId10"/>
    <p:sldId id="291" r:id="rId11"/>
    <p:sldId id="272" r:id="rId12"/>
    <p:sldId id="258" r:id="rId13"/>
    <p:sldId id="296" r:id="rId14"/>
    <p:sldId id="297" r:id="rId15"/>
    <p:sldId id="299" r:id="rId16"/>
    <p:sldId id="298" r:id="rId17"/>
    <p:sldId id="300" r:id="rId18"/>
    <p:sldId id="301" r:id="rId19"/>
    <p:sldId id="302" r:id="rId20"/>
    <p:sldId id="303" r:id="rId21"/>
    <p:sldId id="304" r:id="rId22"/>
    <p:sldId id="259" r:id="rId23"/>
    <p:sldId id="287" r:id="rId24"/>
    <p:sldId id="305" r:id="rId25"/>
    <p:sldId id="306" r:id="rId26"/>
    <p:sldId id="307" r:id="rId27"/>
    <p:sldId id="308" r:id="rId28"/>
    <p:sldId id="309" r:id="rId29"/>
    <p:sldId id="310" r:id="rId30"/>
    <p:sldId id="311" r:id="rId31"/>
    <p:sldId id="312" r:id="rId32"/>
    <p:sldId id="313" r:id="rId33"/>
    <p:sldId id="316" r:id="rId34"/>
    <p:sldId id="317" r:id="rId35"/>
    <p:sldId id="314" r:id="rId36"/>
    <p:sldId id="315" r:id="rId37"/>
    <p:sldId id="294" r:id="rId38"/>
  </p:sldIdLst>
  <p:sldSz cx="12192000" cy="6858000"/>
  <p:notesSz cx="6858000" cy="9144000"/>
  <p:embeddedFontLst>
    <p:embeddedFont>
      <p:font typeface="맑은 고딕" panose="020B0503020000020004" pitchFamily="34" charset="-127"/>
      <p:regular r:id="rId40"/>
      <p:bold r:id="rId41"/>
    </p:embeddedFont>
    <p:embeddedFont>
      <p:font typeface="BR Omega" panose="020B0604020202020204" charset="0"/>
      <p:regular r:id="rId42"/>
      <p:bold r:id="rId43"/>
      <p:italic r:id="rId44"/>
      <p:boldItalic r:id="rId45"/>
    </p:embeddedFont>
    <p:embeddedFont>
      <p:font typeface="BR Omega VN" charset="0"/>
      <p:regular r:id="rId46"/>
      <p:bold r:id="rId47"/>
      <p:italic r:id="rId48"/>
      <p:boldItalic r:id="rId49"/>
    </p:embeddedFont>
    <p:embeddedFont>
      <p:font typeface="Meiryo UI" panose="020B0604030504040204" pitchFamily="34" charset="-128"/>
      <p:regular r:id="rId50"/>
      <p:bold r:id="rId51"/>
      <p:italic r:id="rId52"/>
      <p:boldItalic r:id="rId53"/>
    </p:embeddedFont>
    <p:embeddedFont>
      <p:font typeface="Redig" panose="020B0604020202020204" charset="0"/>
      <p:regular r:id="rId54"/>
      <p:italic r:id="rId55"/>
    </p:embeddedFont>
    <p:embeddedFont>
      <p:font typeface="Segoe UI" panose="020B0502040204020203" pitchFamily="34" charset="0"/>
      <p:regular r:id="rId56"/>
      <p:bold r:id="rId57"/>
      <p:italic r:id="rId58"/>
      <p:boldItalic r:id="rId59"/>
    </p:embeddedFont>
    <p:embeddedFont>
      <p:font typeface="Segoe UI Black" panose="020B0A02040204020203" pitchFamily="34" charset="0"/>
      <p:bold r:id="rId60"/>
      <p:italic r:id="rId61"/>
      <p:boldItalic r:id="rId62"/>
    </p:embeddedFont>
    <p:embeddedFont>
      <p:font typeface="Segoe UI Symbol" panose="020B0502040204020203" pitchFamily="34" charset="0"/>
      <p:regular r:id="rId63"/>
    </p:embeddedFont>
    <p:embeddedFont>
      <p:font typeface="Tahoma" panose="020B0604030504040204" pitchFamily="34" charset="0"/>
      <p:regular r:id="rId64"/>
      <p:bold r:id="rId6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71" roundtripDataSignature="AMtx7mh2qrqnAklYCdIJXW7LN0XQfBbPhg=="/>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64919443-074D-BF65-B31E-BFD43FE25F16}" name="Chu Thi Thu Thao (DES)" initials="C(" userId="S::thaoctt2@fpt.com::f5d306db-4f4f-48b3-a338-86acc3fc10b7"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FFF"/>
    <a:srgbClr val="DAF1F4"/>
    <a:srgbClr val="30B3C2"/>
    <a:srgbClr val="212967"/>
    <a:srgbClr val="32B2C2"/>
    <a:srgbClr val="05B050"/>
    <a:srgbClr val="F47020"/>
    <a:srgbClr val="034EA2"/>
    <a:srgbClr val="1E3E7A"/>
    <a:srgbClr val="1F4B8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EAB63E-71CB-B916-5098-D5564D7F87B7}" v="1" dt="2024-08-28T03:23:25.48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83" autoAdjust="0"/>
    <p:restoredTop sz="94810"/>
  </p:normalViewPr>
  <p:slideViewPr>
    <p:cSldViewPr snapToGrid="0">
      <p:cViewPr varScale="1">
        <p:scale>
          <a:sx n="113" d="100"/>
          <a:sy n="113" d="100"/>
        </p:scale>
        <p:origin x="560" y="1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font" Target="fonts/font3.fntdata"/><Relationship Id="rId47" Type="http://schemas.openxmlformats.org/officeDocument/2006/relationships/font" Target="fonts/font8.fntdata"/><Relationship Id="rId63" Type="http://schemas.openxmlformats.org/officeDocument/2006/relationships/font" Target="fonts/font24.fntdata"/><Relationship Id="rId7" Type="http://schemas.openxmlformats.org/officeDocument/2006/relationships/slide" Target="slides/slide3.xml"/><Relationship Id="rId71" Type="http://customschemas.google.com/relationships/presentationmetadata" Target="metadata"/><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font" Target="fonts/font1.fntdata"/><Relationship Id="rId45" Type="http://schemas.openxmlformats.org/officeDocument/2006/relationships/font" Target="fonts/font6.fntdata"/><Relationship Id="rId53" Type="http://schemas.openxmlformats.org/officeDocument/2006/relationships/font" Target="fonts/font14.fntdata"/><Relationship Id="rId58" Type="http://schemas.openxmlformats.org/officeDocument/2006/relationships/font" Target="fonts/font19.fntdata"/><Relationship Id="rId74" Type="http://schemas.openxmlformats.org/officeDocument/2006/relationships/theme" Target="theme/theme1.xml"/><Relationship Id="rId5" Type="http://schemas.openxmlformats.org/officeDocument/2006/relationships/slide" Target="slides/slide1.xml"/><Relationship Id="rId61" Type="http://schemas.openxmlformats.org/officeDocument/2006/relationships/font" Target="fonts/font22.fntdata"/><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font" Target="fonts/font4.fntdata"/><Relationship Id="rId48" Type="http://schemas.openxmlformats.org/officeDocument/2006/relationships/font" Target="fonts/font9.fntdata"/><Relationship Id="rId56" Type="http://schemas.openxmlformats.org/officeDocument/2006/relationships/font" Target="fonts/font17.fntdata"/><Relationship Id="rId64" Type="http://schemas.openxmlformats.org/officeDocument/2006/relationships/font" Target="fonts/font25.fntdata"/><Relationship Id="rId77" Type="http://schemas.microsoft.com/office/2018/10/relationships/authors" Target="authors.xml"/><Relationship Id="rId8" Type="http://schemas.openxmlformats.org/officeDocument/2006/relationships/slide" Target="slides/slide4.xml"/><Relationship Id="rId51" Type="http://schemas.openxmlformats.org/officeDocument/2006/relationships/font" Target="fonts/font12.fntdata"/><Relationship Id="rId72" Type="http://schemas.openxmlformats.org/officeDocument/2006/relationships/presProps" Target="presProp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font" Target="fonts/font7.fntdata"/><Relationship Id="rId59" Type="http://schemas.openxmlformats.org/officeDocument/2006/relationships/font" Target="fonts/font20.fntdata"/><Relationship Id="rId20" Type="http://schemas.openxmlformats.org/officeDocument/2006/relationships/slide" Target="slides/slide16.xml"/><Relationship Id="rId41" Type="http://schemas.openxmlformats.org/officeDocument/2006/relationships/font" Target="fonts/font2.fntdata"/><Relationship Id="rId54" Type="http://schemas.openxmlformats.org/officeDocument/2006/relationships/font" Target="fonts/font15.fntdata"/><Relationship Id="rId62" Type="http://schemas.openxmlformats.org/officeDocument/2006/relationships/font" Target="fonts/font23.fntdata"/><Relationship Id="rId75" Type="http://schemas.openxmlformats.org/officeDocument/2006/relationships/tableStyles" Target="tableStyles.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font" Target="fonts/font10.fntdata"/><Relationship Id="rId57" Type="http://schemas.openxmlformats.org/officeDocument/2006/relationships/font" Target="fonts/font18.fntdata"/><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font" Target="fonts/font5.fntdata"/><Relationship Id="rId52" Type="http://schemas.openxmlformats.org/officeDocument/2006/relationships/font" Target="fonts/font13.fntdata"/><Relationship Id="rId60" Type="http://schemas.openxmlformats.org/officeDocument/2006/relationships/font" Target="fonts/font21.fntdata"/><Relationship Id="rId65" Type="http://schemas.openxmlformats.org/officeDocument/2006/relationships/font" Target="fonts/font26.fntdata"/><Relationship Id="rId73" Type="http://schemas.openxmlformats.org/officeDocument/2006/relationships/viewProps" Target="viewProps.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notesMaster" Target="notesMasters/notesMaster1.xml"/><Relationship Id="rId34" Type="http://schemas.openxmlformats.org/officeDocument/2006/relationships/slide" Target="slides/slide30.xml"/><Relationship Id="rId50" Type="http://schemas.openxmlformats.org/officeDocument/2006/relationships/font" Target="fonts/font11.fntdata"/><Relationship Id="rId55" Type="http://schemas.openxmlformats.org/officeDocument/2006/relationships/font" Target="fonts/font16.fntdata"/><Relationship Id="rId76" Type="http://schemas.microsoft.com/office/2015/10/relationships/revisionInfo" Target="revisionInfo.xml"/></Relationships>
</file>

<file path=ppt/diagrams/_rels/data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24.png"/></Relationships>
</file>

<file path=ppt/diagrams/_rels/drawing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 Id="rId5" Type="http://schemas.openxmlformats.org/officeDocument/2006/relationships/image" Target="../media/image25.png"/><Relationship Id="rId4" Type="http://schemas.openxmlformats.org/officeDocument/2006/relationships/image" Target="../media/image24.pn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6_2">
  <dgm:title val=""/>
  <dgm:desc val=""/>
  <dgm:catLst>
    <dgm:cat type="accent6" pri="11200"/>
  </dgm:catLst>
  <dgm:styleLbl name="node0">
    <dgm:fillClrLst meth="repeat">
      <a:schemeClr val="accent6"/>
    </dgm:fillClrLst>
    <dgm:linClrLst meth="repeat">
      <a:schemeClr val="lt1"/>
    </dgm:linClrLst>
    <dgm:effectClrLst/>
    <dgm:txLinClrLst/>
    <dgm:txFillClrLst/>
    <dgm:txEffectClrLst/>
  </dgm:styleLbl>
  <dgm:styleLbl name="node1">
    <dgm:fillClrLst meth="repeat">
      <a:schemeClr val="accent6"/>
    </dgm:fillClrLst>
    <dgm:linClrLst meth="repeat">
      <a:schemeClr val="lt1"/>
    </dgm:linClrLst>
    <dgm:effectClrLst/>
    <dgm:txLinClrLst/>
    <dgm:txFillClrLst/>
    <dgm:txEffectClrLst/>
  </dgm:styleLbl>
  <dgm:styleLbl name="alignNode1">
    <dgm:fillClrLst meth="repeat">
      <a:schemeClr val="accent6"/>
    </dgm:fillClrLst>
    <dgm:linClrLst meth="repeat">
      <a:schemeClr val="accent6"/>
    </dgm:linClrLst>
    <dgm:effectClrLst/>
    <dgm:txLinClrLst/>
    <dgm:txFillClrLst/>
    <dgm:txEffectClrLst/>
  </dgm:styleLbl>
  <dgm:styleLbl name="lnNode1">
    <dgm:fillClrLst meth="repeat">
      <a:schemeClr val="accent6"/>
    </dgm:fillClrLst>
    <dgm:linClrLst meth="repeat">
      <a:schemeClr val="lt1"/>
    </dgm:linClrLst>
    <dgm:effectClrLst/>
    <dgm:txLinClrLst/>
    <dgm:txFillClrLst/>
    <dgm:txEffectClrLst/>
  </dgm:styleLbl>
  <dgm:styleLbl name="vennNode1">
    <dgm:fillClrLst meth="repeat">
      <a:schemeClr val="accent6">
        <a:alpha val="50000"/>
      </a:schemeClr>
    </dgm:fillClrLst>
    <dgm:linClrLst meth="repeat">
      <a:schemeClr val="lt1"/>
    </dgm:linClrLst>
    <dgm:effectClrLst/>
    <dgm:txLinClrLst/>
    <dgm:txFillClrLst/>
    <dgm:txEffectClrLst/>
  </dgm:styleLbl>
  <dgm:styleLbl name="node2">
    <dgm:fillClrLst meth="repeat">
      <a:schemeClr val="accent6"/>
    </dgm:fillClrLst>
    <dgm:linClrLst meth="repeat">
      <a:schemeClr val="lt1"/>
    </dgm:linClrLst>
    <dgm:effectClrLst/>
    <dgm:txLinClrLst/>
    <dgm:txFillClrLst/>
    <dgm:txEffectClrLst/>
  </dgm:styleLbl>
  <dgm:styleLbl name="node3">
    <dgm:fillClrLst meth="repeat">
      <a:schemeClr val="accent6"/>
    </dgm:fillClrLst>
    <dgm:linClrLst meth="repeat">
      <a:schemeClr val="lt1"/>
    </dgm:linClrLst>
    <dgm:effectClrLst/>
    <dgm:txLinClrLst/>
    <dgm:txFillClrLst/>
    <dgm:txEffectClrLst/>
  </dgm:styleLbl>
  <dgm:styleLbl name="node4">
    <dgm:fillClrLst meth="repeat">
      <a:schemeClr val="accent6"/>
    </dgm:fillClrLst>
    <dgm:linClrLst meth="repeat">
      <a:schemeClr val="lt1"/>
    </dgm:linClrLst>
    <dgm:effectClrLst/>
    <dgm:txLinClrLst/>
    <dgm:txFillClrLst/>
    <dgm:txEffectClrLst/>
  </dgm:styleLbl>
  <dgm:styleLbl name="f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6">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6">
        <a:tint val="60000"/>
      </a:schemeClr>
    </dgm:fillClrLst>
    <dgm:linClrLst meth="repeat">
      <a:schemeClr val="accent6">
        <a:tint val="60000"/>
      </a:schemeClr>
    </dgm:linClrLst>
    <dgm:effectClrLst/>
    <dgm:txLinClrLst/>
    <dgm:txFillClrLst/>
    <dgm:txEffectClrLst/>
  </dgm:styleLbl>
  <dgm:styleLbl name="fgSibTrans2D1">
    <dgm:fillClrLst meth="repeat">
      <a:schemeClr val="accent6">
        <a:tint val="60000"/>
      </a:schemeClr>
    </dgm:fillClrLst>
    <dgm:linClrLst meth="repeat">
      <a:schemeClr val="accent6">
        <a:tint val="60000"/>
      </a:schemeClr>
    </dgm:linClrLst>
    <dgm:effectClrLst/>
    <dgm:txLinClrLst/>
    <dgm:txFillClrLst/>
    <dgm:txEffectClrLst/>
  </dgm:styleLbl>
  <dgm:styleLbl name="bgSibTrans2D1">
    <dgm:fillClrLst meth="repeat">
      <a:schemeClr val="accent6">
        <a:tint val="60000"/>
      </a:schemeClr>
    </dgm:fillClrLst>
    <dgm:linClrLst meth="repeat">
      <a:schemeClr val="accent6">
        <a:tint val="60000"/>
      </a:schemeClr>
    </dgm:linClrLst>
    <dgm:effectClrLst/>
    <dgm:txLinClrLst/>
    <dgm:txFillClrLst/>
    <dgm:txEffectClrLst/>
  </dgm:styleLbl>
  <dgm:styleLbl name="sibTrans1D1">
    <dgm:fillClrLst meth="repeat">
      <a:schemeClr val="accent6"/>
    </dgm:fillClrLst>
    <dgm:linClrLst meth="repeat">
      <a:schemeClr val="accent6"/>
    </dgm:linClrLst>
    <dgm:effectClrLst/>
    <dgm:txLinClrLst/>
    <dgm:txFillClrLst meth="repeat">
      <a:schemeClr val="tx1"/>
    </dgm:txFillClrLst>
    <dgm:txEffectClrLst/>
  </dgm:styleLbl>
  <dgm:styleLbl name="callout">
    <dgm:fillClrLst meth="repeat">
      <a:schemeClr val="accent6"/>
    </dgm:fillClrLst>
    <dgm:linClrLst meth="repeat">
      <a:schemeClr val="accent6">
        <a:tint val="50000"/>
      </a:schemeClr>
    </dgm:linClrLst>
    <dgm:effectClrLst/>
    <dgm:txLinClrLst/>
    <dgm:txFillClrLst meth="repeat">
      <a:schemeClr val="tx1"/>
    </dgm:txFillClrLst>
    <dgm:txEffectClrLst/>
  </dgm:styleLbl>
  <dgm:styleLbl name="asst0">
    <dgm:fillClrLst meth="repeat">
      <a:schemeClr val="accent6"/>
    </dgm:fillClrLst>
    <dgm:linClrLst meth="repeat">
      <a:schemeClr val="lt1"/>
    </dgm:linClrLst>
    <dgm:effectClrLst/>
    <dgm:txLinClrLst/>
    <dgm:txFillClrLst/>
    <dgm:txEffectClrLst/>
  </dgm:styleLbl>
  <dgm:styleLbl name="asst1">
    <dgm:fillClrLst meth="repeat">
      <a:schemeClr val="accent6"/>
    </dgm:fillClrLst>
    <dgm:linClrLst meth="repeat">
      <a:schemeClr val="lt1"/>
    </dgm:linClrLst>
    <dgm:effectClrLst/>
    <dgm:txLinClrLst/>
    <dgm:txFillClrLst/>
    <dgm:txEffectClrLst/>
  </dgm:styleLbl>
  <dgm:styleLbl name="asst2">
    <dgm:fillClrLst meth="repeat">
      <a:schemeClr val="accent6"/>
    </dgm:fillClrLst>
    <dgm:linClrLst meth="repeat">
      <a:schemeClr val="lt1"/>
    </dgm:linClrLst>
    <dgm:effectClrLst/>
    <dgm:txLinClrLst/>
    <dgm:txFillClrLst/>
    <dgm:txEffectClrLst/>
  </dgm:styleLbl>
  <dgm:styleLbl name="asst3">
    <dgm:fillClrLst meth="repeat">
      <a:schemeClr val="accent6"/>
    </dgm:fillClrLst>
    <dgm:linClrLst meth="repeat">
      <a:schemeClr val="lt1"/>
    </dgm:linClrLst>
    <dgm:effectClrLst/>
    <dgm:txLinClrLst/>
    <dgm:txFillClrLst/>
    <dgm:txEffectClrLst/>
  </dgm:styleLbl>
  <dgm:styleLbl name="asst4">
    <dgm:fillClrLst meth="repeat">
      <a:schemeClr val="accent6"/>
    </dgm:fillClrLst>
    <dgm:linClrLst meth="repeat">
      <a:schemeClr val="lt1"/>
    </dgm:linClrLst>
    <dgm:effectClrLst/>
    <dgm:txLinClrLst/>
    <dgm:txFillClrLst/>
    <dgm:txEffectClrLst/>
  </dgm:styleLbl>
  <dgm:styleLbl name="parChTrans2D1">
    <dgm:fillClrLst meth="repeat">
      <a:schemeClr val="accent6">
        <a:tint val="60000"/>
      </a:schemeClr>
    </dgm:fillClrLst>
    <dgm:linClrLst meth="repeat">
      <a:schemeClr val="accent6">
        <a:tint val="60000"/>
      </a:schemeClr>
    </dgm:linClrLst>
    <dgm:effectClrLst/>
    <dgm:txLinClrLst/>
    <dgm:txFillClrLst meth="repeat">
      <a:schemeClr val="lt1"/>
    </dgm:txFillClrLst>
    <dgm:txEffectClrLst/>
  </dgm:styleLbl>
  <dgm:styleLbl name="parChTrans2D2">
    <dgm:fillClrLst meth="repeat">
      <a:schemeClr val="accent6"/>
    </dgm:fillClrLst>
    <dgm:linClrLst meth="repeat">
      <a:schemeClr val="accent6"/>
    </dgm:linClrLst>
    <dgm:effectClrLst/>
    <dgm:txLinClrLst/>
    <dgm:txFillClrLst meth="repeat">
      <a:schemeClr val="lt1"/>
    </dgm:txFillClrLst>
    <dgm:txEffectClrLst/>
  </dgm:styleLbl>
  <dgm:styleLbl name="parChTrans2D3">
    <dgm:fillClrLst meth="repeat">
      <a:schemeClr val="accent6"/>
    </dgm:fillClrLst>
    <dgm:linClrLst meth="repeat">
      <a:schemeClr val="accent6"/>
    </dgm:linClrLst>
    <dgm:effectClrLst/>
    <dgm:txLinClrLst/>
    <dgm:txFillClrLst meth="repeat">
      <a:schemeClr val="lt1"/>
    </dgm:txFillClrLst>
    <dgm:txEffectClrLst/>
  </dgm:styleLbl>
  <dgm:styleLbl name="parChTrans2D4">
    <dgm:fillClrLst meth="repeat">
      <a:schemeClr val="accent6"/>
    </dgm:fillClrLst>
    <dgm:linClrLst meth="repeat">
      <a:schemeClr val="accent6"/>
    </dgm:linClrLst>
    <dgm:effectClrLst/>
    <dgm:txLinClrLst/>
    <dgm:txFillClrLst meth="repeat">
      <a:schemeClr val="lt1"/>
    </dgm:txFillClrLst>
    <dgm:txEffectClrLst/>
  </dgm:styleLbl>
  <dgm:styleLbl name="parChTrans1D1">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2">
    <dgm:fillClrLst meth="repeat">
      <a:schemeClr val="accent6"/>
    </dgm:fillClrLst>
    <dgm:linClrLst meth="repeat">
      <a:schemeClr val="accent6">
        <a:shade val="60000"/>
      </a:schemeClr>
    </dgm:linClrLst>
    <dgm:effectClrLst/>
    <dgm:txLinClrLst/>
    <dgm:txFillClrLst meth="repeat">
      <a:schemeClr val="tx1"/>
    </dgm:txFillClrLst>
    <dgm:txEffectClrLst/>
  </dgm:styleLbl>
  <dgm:styleLbl name="parChTrans1D3">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parChTrans1D4">
    <dgm:fillClrLst meth="repeat">
      <a:schemeClr val="accent6"/>
    </dgm:fillClrLst>
    <dgm:linClrLst meth="repeat">
      <a:schemeClr val="accent6">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6"/>
    </dgm:linClrLst>
    <dgm:effectClrLst/>
    <dgm:txLinClrLst/>
    <dgm:txFillClrLst meth="repeat">
      <a:schemeClr val="dk1"/>
    </dgm:txFillClrLst>
    <dgm:txEffectClrLst/>
  </dgm:styleLbl>
  <dgm:styleLbl name="f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align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bgAccFollowNode1">
    <dgm:fillClrLst meth="repeat">
      <a:schemeClr val="accent6">
        <a:alpha val="90000"/>
        <a:tint val="40000"/>
      </a:schemeClr>
    </dgm:fillClrLst>
    <dgm:linClrLst meth="repeat">
      <a:schemeClr val="accent6">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6"/>
    </dgm:linClrLst>
    <dgm:effectClrLst/>
    <dgm:txLinClrLst/>
    <dgm:txFillClrLst meth="repeat">
      <a:schemeClr val="dk1"/>
    </dgm:txFillClrLst>
    <dgm:txEffectClrLst/>
  </dgm:styleLbl>
  <dgm:styleLbl name="bgShp">
    <dgm:fillClrLst meth="repeat">
      <a:schemeClr val="accent6">
        <a:tint val="40000"/>
      </a:schemeClr>
    </dgm:fillClrLst>
    <dgm:linClrLst meth="repeat">
      <a:schemeClr val="accent6"/>
    </dgm:linClrLst>
    <dgm:effectClrLst/>
    <dgm:txLinClrLst/>
    <dgm:txFillClrLst meth="repeat">
      <a:schemeClr val="dk1"/>
    </dgm:txFillClrLst>
    <dgm:txEffectClrLst/>
  </dgm:styleLbl>
  <dgm:styleLbl name="dkBgShp">
    <dgm:fillClrLst meth="repeat">
      <a:schemeClr val="accent6">
        <a:shade val="80000"/>
      </a:schemeClr>
    </dgm:fillClrLst>
    <dgm:linClrLst meth="repeat">
      <a:schemeClr val="accent6"/>
    </dgm:linClrLst>
    <dgm:effectClrLst/>
    <dgm:txLinClrLst/>
    <dgm:txFillClrLst meth="repeat">
      <a:schemeClr val="lt1"/>
    </dgm:txFillClrLst>
    <dgm:txEffectClrLst/>
  </dgm:styleLbl>
  <dgm:styleLbl name="trBgShp">
    <dgm:fillClrLst meth="repeat">
      <a:schemeClr val="accent6">
        <a:tint val="50000"/>
        <a:alpha val="40000"/>
      </a:schemeClr>
    </dgm:fillClrLst>
    <dgm:linClrLst meth="repeat">
      <a:schemeClr val="accent6"/>
    </dgm:linClrLst>
    <dgm:effectClrLst/>
    <dgm:txLinClrLst/>
    <dgm:txFillClrLst meth="repeat">
      <a:schemeClr val="lt1"/>
    </dgm:txFillClrLst>
    <dgm:txEffectClrLst/>
  </dgm:styleLbl>
  <dgm:styleLbl name="fgShp">
    <dgm:fillClrLst meth="repeat">
      <a:schemeClr val="accent6">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591BD33D-EC51-4597-8998-289B28AA3596}" type="doc">
      <dgm:prSet loTypeId="urn:microsoft.com/office/officeart/2005/8/layout/pList2" loCatId="list" qsTypeId="urn:microsoft.com/office/officeart/2005/8/quickstyle/simple1" qsCatId="simple" csTypeId="urn:microsoft.com/office/officeart/2005/8/colors/accent1_2" csCatId="accent1" phldr="1"/>
      <dgm:spPr/>
    </dgm:pt>
    <dgm:pt modelId="{C3984C6D-E02C-47C4-9960-BE7238CE577F}">
      <dgm:prSet phldrT="[Text]" custT="1"/>
      <dgm:spPr>
        <a:xfrm rot="10800000">
          <a:off x="308506" y="2096707"/>
          <a:ext cx="1429458" cy="2562643"/>
        </a:xfrm>
        <a:prstGeom prst="round2SameRect">
          <a:avLst>
            <a:gd name="adj1" fmla="val 10500"/>
            <a:gd name="adj2" fmla="val 0"/>
          </a:avLst>
        </a:prstGeom>
        <a:solidFill>
          <a:srgbClr val="C00000"/>
        </a:solidFill>
        <a:ln w="12700" cap="flat" cmpd="sng" algn="ctr">
          <a:solidFill>
            <a:sysClr val="window" lastClr="FFFFFF">
              <a:hueOff val="0"/>
              <a:satOff val="0"/>
              <a:lumOff val="0"/>
              <a:alphaOff val="0"/>
            </a:sysClr>
          </a:solidFill>
          <a:prstDash val="solid"/>
          <a:miter lim="800000"/>
        </a:ln>
        <a:effectLst/>
      </dgm:spPr>
      <dgm:t>
        <a:bodyPr/>
        <a:lstStyle/>
        <a:p>
          <a:pPr algn="l">
            <a:buNone/>
          </a:pPr>
          <a:r>
            <a:rPr lang="en-US" sz="1400" b="1" dirty="0">
              <a:solidFill>
                <a:sysClr val="window" lastClr="FFFFFF"/>
              </a:solidFill>
              <a:latin typeface="Tahoma" panose="020B0604030504040204" pitchFamily="34" charset="0"/>
              <a:ea typeface="Tahoma" panose="020B0604030504040204" pitchFamily="34" charset="0"/>
              <a:cs typeface="Tahoma" panose="020B0604030504040204" pitchFamily="34" charset="0"/>
            </a:rPr>
            <a:t>Transfer</a:t>
          </a:r>
        </a:p>
        <a:p>
          <a:pPr algn="l">
            <a:buNone/>
          </a:pPr>
          <a:r>
            <a:rPr lang="en-US" sz="1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All team</a:t>
          </a:r>
        </a:p>
        <a:p>
          <a:pPr algn="l">
            <a:buNone/>
          </a:pPr>
          <a:r>
            <a:rPr lang="en-US" sz="1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Review</a:t>
          </a:r>
        </a:p>
        <a:p>
          <a:pPr algn="l">
            <a:buNone/>
          </a:pPr>
          <a:r>
            <a:rPr lang="en-US" sz="1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Feedback</a:t>
          </a:r>
        </a:p>
      </dgm:t>
    </dgm:pt>
    <dgm:pt modelId="{6E888457-8359-448F-9F22-5AF789168E55}" type="parTrans" cxnId="{113498A4-93DB-4902-90E2-D1540BF3BC6C}">
      <dgm:prSet/>
      <dgm:spPr/>
      <dgm:t>
        <a:bodyPr/>
        <a:lstStyle/>
        <a:p>
          <a:endParaRPr lang="en-US"/>
        </a:p>
      </dgm:t>
    </dgm:pt>
    <dgm:pt modelId="{8146F7DF-3B86-4E6F-9A94-1D3E5EB297ED}" type="sibTrans" cxnId="{113498A4-93DB-4902-90E2-D1540BF3BC6C}">
      <dgm:prSet/>
      <dgm:spPr/>
      <dgm:t>
        <a:bodyPr/>
        <a:lstStyle/>
        <a:p>
          <a:endParaRPr lang="en-US"/>
        </a:p>
      </dgm:t>
    </dgm:pt>
    <dgm:pt modelId="{31A3B966-03FD-490A-933B-92804F612A10}">
      <dgm:prSet phldrT="[Text]" custT="1"/>
      <dgm:spPr>
        <a:xfrm rot="10800000">
          <a:off x="1880910" y="2096707"/>
          <a:ext cx="1782563" cy="2562643"/>
        </a:xfrm>
        <a:prstGeom prst="round2SameRect">
          <a:avLst>
            <a:gd name="adj1" fmla="val 10500"/>
            <a:gd name="adj2" fmla="val 0"/>
          </a:avLst>
        </a:prstGeom>
        <a:solidFill>
          <a:srgbClr val="1569B2"/>
        </a:solidFill>
        <a:ln w="12700" cap="flat" cmpd="sng" algn="ctr">
          <a:solidFill>
            <a:sysClr val="window" lastClr="FFFFFF">
              <a:hueOff val="0"/>
              <a:satOff val="0"/>
              <a:lumOff val="0"/>
              <a:alphaOff val="0"/>
            </a:sysClr>
          </a:solidFill>
          <a:prstDash val="solid"/>
          <a:miter lim="800000"/>
        </a:ln>
        <a:effectLst/>
      </dgm:spPr>
      <dgm:t>
        <a:bodyPr/>
        <a:lstStyle/>
        <a:p>
          <a:pPr algn="l">
            <a:buNone/>
          </a:pPr>
          <a:r>
            <a:rPr lang="vi-VN" sz="1400" b="1" dirty="0">
              <a:solidFill>
                <a:sysClr val="window" lastClr="FFFFFF"/>
              </a:solidFill>
              <a:latin typeface="Tahoma" panose="020B0604030504040204" pitchFamily="34" charset="0"/>
              <a:ea typeface="Tahoma" panose="020B0604030504040204" pitchFamily="34" charset="0"/>
              <a:cs typeface="Tahoma" panose="020B0604030504040204" pitchFamily="34" charset="0"/>
            </a:rPr>
            <a:t>Define</a:t>
          </a:r>
          <a:r>
            <a:rPr lang="en-US" sz="1400" b="1"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Solution</a:t>
          </a:r>
        </a:p>
        <a:p>
          <a:pPr algn="l">
            <a:buNone/>
          </a:pPr>
          <a:r>
            <a:rPr lang="en-US" sz="1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Collects</a:t>
          </a:r>
        </a:p>
        <a:p>
          <a:pPr algn="l">
            <a:buNone/>
          </a:pPr>
          <a:r>
            <a:rPr lang="en-US" sz="1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Discuss</a:t>
          </a:r>
        </a:p>
        <a:p>
          <a:pPr algn="l">
            <a:buNone/>
          </a:pPr>
          <a:r>
            <a:rPr lang="en-US" sz="1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Finally</a:t>
          </a:r>
        </a:p>
      </dgm:t>
    </dgm:pt>
    <dgm:pt modelId="{FD092FE8-5B90-4304-8C57-AF6D916F39E3}" type="parTrans" cxnId="{923C5FDE-F596-4D2F-B445-1199D4986A3A}">
      <dgm:prSet/>
      <dgm:spPr/>
      <dgm:t>
        <a:bodyPr/>
        <a:lstStyle/>
        <a:p>
          <a:endParaRPr lang="en-US"/>
        </a:p>
      </dgm:t>
    </dgm:pt>
    <dgm:pt modelId="{C5036234-D1B9-4DED-BCF0-9501F3D0BB33}" type="sibTrans" cxnId="{923C5FDE-F596-4D2F-B445-1199D4986A3A}">
      <dgm:prSet/>
      <dgm:spPr/>
      <dgm:t>
        <a:bodyPr/>
        <a:lstStyle/>
        <a:p>
          <a:endParaRPr lang="en-US"/>
        </a:p>
      </dgm:t>
    </dgm:pt>
    <dgm:pt modelId="{D993EF55-230D-4684-9B3F-AFDDD5A3DF60}">
      <dgm:prSet phldrT="[Text]" custT="1"/>
      <dgm:spPr>
        <a:xfrm rot="10800000">
          <a:off x="3806420" y="2096707"/>
          <a:ext cx="1429458" cy="2562643"/>
        </a:xfrm>
        <a:prstGeom prst="round2SameRect">
          <a:avLst>
            <a:gd name="adj1" fmla="val 10500"/>
            <a:gd name="adj2" fmla="val 0"/>
          </a:avLst>
        </a:prstGeom>
        <a:solidFill>
          <a:srgbClr val="70AD47">
            <a:lumMod val="75000"/>
          </a:srgbClr>
        </a:solidFill>
        <a:ln w="12700" cap="flat" cmpd="sng" algn="ctr">
          <a:solidFill>
            <a:sysClr val="window" lastClr="FFFFFF">
              <a:hueOff val="0"/>
              <a:satOff val="0"/>
              <a:lumOff val="0"/>
              <a:alphaOff val="0"/>
            </a:sysClr>
          </a:solidFill>
          <a:prstDash val="solid"/>
          <a:miter lim="800000"/>
        </a:ln>
        <a:effectLst/>
      </dgm:spPr>
      <dgm:t>
        <a:bodyPr/>
        <a:lstStyle/>
        <a:p>
          <a:pPr algn="l">
            <a:buNone/>
          </a:pPr>
          <a:r>
            <a:rPr lang="en-US" sz="1400" b="1" dirty="0">
              <a:solidFill>
                <a:sysClr val="window" lastClr="FFFFFF"/>
              </a:solidFill>
              <a:latin typeface="Tahoma" panose="020B0604030504040204" pitchFamily="34" charset="0"/>
              <a:ea typeface="Tahoma" panose="020B0604030504040204" pitchFamily="34" charset="0"/>
              <a:cs typeface="Tahoma" panose="020B0604030504040204" pitchFamily="34" charset="0"/>
            </a:rPr>
            <a:t>Coding</a:t>
          </a:r>
        </a:p>
        <a:p>
          <a:pPr algn="l">
            <a:buNone/>
          </a:pPr>
          <a:r>
            <a:rPr lang="en-US" sz="1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Coding convention</a:t>
          </a:r>
        </a:p>
      </dgm:t>
    </dgm:pt>
    <dgm:pt modelId="{7A9F76AB-1928-4936-9071-5F9855102360}" type="parTrans" cxnId="{7B7E172F-FBBB-4BAA-B620-57789DE06FB9}">
      <dgm:prSet/>
      <dgm:spPr/>
      <dgm:t>
        <a:bodyPr/>
        <a:lstStyle/>
        <a:p>
          <a:endParaRPr lang="en-US"/>
        </a:p>
      </dgm:t>
    </dgm:pt>
    <dgm:pt modelId="{D04D1CD3-961E-4B5D-9521-CB35B9EAF857}" type="sibTrans" cxnId="{7B7E172F-FBBB-4BAA-B620-57789DE06FB9}">
      <dgm:prSet/>
      <dgm:spPr/>
      <dgm:t>
        <a:bodyPr/>
        <a:lstStyle/>
        <a:p>
          <a:endParaRPr lang="en-US"/>
        </a:p>
      </dgm:t>
    </dgm:pt>
    <dgm:pt modelId="{390A3E23-5A32-47A9-9DE2-C977A47DB89B}">
      <dgm:prSet custT="1"/>
      <dgm:spPr>
        <a:xfrm rot="10800000">
          <a:off x="6938965" y="2096707"/>
          <a:ext cx="1429458" cy="2562643"/>
        </a:xfrm>
        <a:prstGeom prst="round2SameRect">
          <a:avLst>
            <a:gd name="adj1" fmla="val 10500"/>
            <a:gd name="adj2" fmla="val 0"/>
          </a:avLst>
        </a:prstGeom>
        <a:solidFill>
          <a:srgbClr val="4F127F">
            <a:lumMod val="60000"/>
            <a:lumOff val="40000"/>
          </a:srgbClr>
        </a:solidFill>
        <a:ln w="12700" cap="flat" cmpd="sng" algn="ctr">
          <a:solidFill>
            <a:sysClr val="window" lastClr="FFFFFF">
              <a:hueOff val="0"/>
              <a:satOff val="0"/>
              <a:lumOff val="0"/>
              <a:alphaOff val="0"/>
            </a:sysClr>
          </a:solidFill>
          <a:prstDash val="solid"/>
          <a:miter lim="800000"/>
        </a:ln>
        <a:effectLst/>
      </dgm:spPr>
      <dgm:t>
        <a:bodyPr/>
        <a:lstStyle/>
        <a:p>
          <a:pPr algn="l">
            <a:buNone/>
          </a:pPr>
          <a:r>
            <a:rPr lang="en-US" sz="1400" b="1" dirty="0">
              <a:solidFill>
                <a:sysClr val="window" lastClr="FFFFFF"/>
              </a:solidFill>
              <a:latin typeface="Tahoma" panose="020B0604030504040204" pitchFamily="34" charset="0"/>
              <a:ea typeface="Tahoma" panose="020B0604030504040204" pitchFamily="34" charset="0"/>
              <a:cs typeface="Tahoma" panose="020B0604030504040204" pitchFamily="34" charset="0"/>
            </a:rPr>
            <a:t>Unit Test</a:t>
          </a:r>
        </a:p>
        <a:p>
          <a:pPr algn="l">
            <a:buNone/>
          </a:pPr>
          <a:r>
            <a:rPr lang="en-US" sz="1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Check list</a:t>
          </a:r>
        </a:p>
        <a:p>
          <a:pPr algn="l">
            <a:buNone/>
          </a:pPr>
          <a:r>
            <a:rPr lang="en-US" sz="1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Basic cases</a:t>
          </a:r>
        </a:p>
      </dgm:t>
    </dgm:pt>
    <dgm:pt modelId="{745FE19E-EC10-42FE-8E4B-D49AA9F6DE48}" type="parTrans" cxnId="{3C4963C0-2671-42E9-926B-4B8BD2DF6177}">
      <dgm:prSet/>
      <dgm:spPr/>
      <dgm:t>
        <a:bodyPr/>
        <a:lstStyle/>
        <a:p>
          <a:endParaRPr lang="en-US"/>
        </a:p>
      </dgm:t>
    </dgm:pt>
    <dgm:pt modelId="{3ED6B642-DD33-4B9A-B9CB-A9D6D94B8D46}" type="sibTrans" cxnId="{3C4963C0-2671-42E9-926B-4B8BD2DF6177}">
      <dgm:prSet/>
      <dgm:spPr/>
      <dgm:t>
        <a:bodyPr/>
        <a:lstStyle/>
        <a:p>
          <a:endParaRPr lang="en-US"/>
        </a:p>
      </dgm:t>
    </dgm:pt>
    <dgm:pt modelId="{049B42F0-BEED-42ED-8EB3-1BA248888B06}">
      <dgm:prSet custT="1"/>
      <dgm:spPr>
        <a:xfrm rot="10800000">
          <a:off x="5336027" y="2096707"/>
          <a:ext cx="1429458" cy="2562643"/>
        </a:xfrm>
        <a:prstGeom prst="round2SameRect">
          <a:avLst>
            <a:gd name="adj1" fmla="val 10500"/>
            <a:gd name="adj2" fmla="val 0"/>
          </a:avLst>
        </a:prstGeom>
        <a:solidFill>
          <a:srgbClr val="36365C">
            <a:lumMod val="60000"/>
            <a:lumOff val="40000"/>
          </a:srgbClr>
        </a:solidFill>
        <a:ln w="12700" cap="flat" cmpd="sng" algn="ctr">
          <a:solidFill>
            <a:sysClr val="window" lastClr="FFFFFF">
              <a:hueOff val="0"/>
              <a:satOff val="0"/>
              <a:lumOff val="0"/>
              <a:alphaOff val="0"/>
            </a:sysClr>
          </a:solidFill>
          <a:prstDash val="solid"/>
          <a:miter lim="800000"/>
        </a:ln>
        <a:effectLst/>
      </dgm:spPr>
      <dgm:t>
        <a:bodyPr/>
        <a:lstStyle/>
        <a:p>
          <a:pPr algn="l">
            <a:buNone/>
          </a:pPr>
          <a:r>
            <a:rPr lang="en-US" sz="1400" b="1" dirty="0">
              <a:solidFill>
                <a:sysClr val="window" lastClr="FFFFFF"/>
              </a:solidFill>
              <a:latin typeface="Tahoma" panose="020B0604030504040204" pitchFamily="34" charset="0"/>
              <a:ea typeface="Tahoma" panose="020B0604030504040204" pitchFamily="34" charset="0"/>
              <a:cs typeface="Tahoma" panose="020B0604030504040204" pitchFamily="34" charset="0"/>
            </a:rPr>
            <a:t>Review</a:t>
          </a:r>
        </a:p>
        <a:p>
          <a:pPr algn="l">
            <a:buNone/>
          </a:pPr>
          <a:r>
            <a:rPr lang="en-US" sz="1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Self Review</a:t>
          </a:r>
        </a:p>
        <a:p>
          <a:pPr algn="l">
            <a:buNone/>
          </a:pPr>
          <a:r>
            <a:rPr lang="en-US" sz="1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Group Review</a:t>
          </a:r>
        </a:p>
      </dgm:t>
    </dgm:pt>
    <dgm:pt modelId="{F13A4670-D563-4F56-ACF1-C7B411D5728B}" type="parTrans" cxnId="{DB683383-BBBA-46D7-AA85-C2E935AA8B42}">
      <dgm:prSet/>
      <dgm:spPr/>
      <dgm:t>
        <a:bodyPr/>
        <a:lstStyle/>
        <a:p>
          <a:endParaRPr lang="en-US"/>
        </a:p>
      </dgm:t>
    </dgm:pt>
    <dgm:pt modelId="{03371387-97B0-486E-9137-BDE86B063A89}" type="sibTrans" cxnId="{DB683383-BBBA-46D7-AA85-C2E935AA8B42}">
      <dgm:prSet/>
      <dgm:spPr/>
      <dgm:t>
        <a:bodyPr/>
        <a:lstStyle/>
        <a:p>
          <a:endParaRPr lang="en-US"/>
        </a:p>
      </dgm:t>
    </dgm:pt>
    <dgm:pt modelId="{C7752A67-D0C2-4371-8AC5-DD8D7868F035}">
      <dgm:prSet custT="1"/>
      <dgm:spPr>
        <a:xfrm rot="10800000">
          <a:off x="8523635" y="2096707"/>
          <a:ext cx="1429458" cy="2562643"/>
        </a:xfrm>
        <a:prstGeom prst="round2SameRect">
          <a:avLst>
            <a:gd name="adj1" fmla="val 10500"/>
            <a:gd name="adj2" fmla="val 0"/>
          </a:avLst>
        </a:prstGeom>
        <a:solidFill>
          <a:sysClr val="window" lastClr="FFFFFF">
            <a:lumMod val="65000"/>
          </a:sysClr>
        </a:solidFill>
        <a:ln w="12700" cap="flat" cmpd="sng" algn="ctr">
          <a:solidFill>
            <a:sysClr val="window" lastClr="FFFFFF">
              <a:hueOff val="0"/>
              <a:satOff val="0"/>
              <a:lumOff val="0"/>
              <a:alphaOff val="0"/>
            </a:sysClr>
          </a:solidFill>
          <a:prstDash val="solid"/>
          <a:miter lim="800000"/>
        </a:ln>
        <a:effectLst/>
      </dgm:spPr>
      <dgm:t>
        <a:bodyPr/>
        <a:lstStyle/>
        <a:p>
          <a:pPr algn="l">
            <a:buNone/>
          </a:pPr>
          <a:r>
            <a:rPr lang="en-US" sz="1400" b="1" dirty="0">
              <a:solidFill>
                <a:sysClr val="window" lastClr="FFFFFF"/>
              </a:solidFill>
              <a:latin typeface="Tahoma" panose="020B0604030504040204" pitchFamily="34" charset="0"/>
              <a:ea typeface="Tahoma" panose="020B0604030504040204" pitchFamily="34" charset="0"/>
              <a:cs typeface="Tahoma" panose="020B0604030504040204" pitchFamily="34" charset="0"/>
            </a:rPr>
            <a:t>Deliver to LG CNS</a:t>
          </a:r>
        </a:p>
      </dgm:t>
    </dgm:pt>
    <dgm:pt modelId="{2222D861-63C9-4E22-8FF2-48822CF97AA0}" type="parTrans" cxnId="{2FAB4386-6CE5-47EB-94DD-5C703CB31767}">
      <dgm:prSet/>
      <dgm:spPr/>
      <dgm:t>
        <a:bodyPr/>
        <a:lstStyle/>
        <a:p>
          <a:endParaRPr lang="en-US"/>
        </a:p>
      </dgm:t>
    </dgm:pt>
    <dgm:pt modelId="{D40D8ADD-0E8E-4296-A764-7E056CE17B41}" type="sibTrans" cxnId="{2FAB4386-6CE5-47EB-94DD-5C703CB31767}">
      <dgm:prSet/>
      <dgm:spPr/>
      <dgm:t>
        <a:bodyPr/>
        <a:lstStyle/>
        <a:p>
          <a:endParaRPr lang="en-US"/>
        </a:p>
      </dgm:t>
    </dgm:pt>
    <dgm:pt modelId="{479D9AE4-DDD6-4DA3-A95B-F868B7AC766B}" type="pres">
      <dgm:prSet presAssocID="{591BD33D-EC51-4597-8998-289B28AA3596}" presName="Name0" presStyleCnt="0">
        <dgm:presLayoutVars>
          <dgm:dir/>
          <dgm:resizeHandles val="exact"/>
        </dgm:presLayoutVars>
      </dgm:prSet>
      <dgm:spPr/>
    </dgm:pt>
    <dgm:pt modelId="{676EA21E-E662-42E2-8846-F38B6F9804C0}" type="pres">
      <dgm:prSet presAssocID="{591BD33D-EC51-4597-8998-289B28AA3596}" presName="bkgdShp" presStyleLbl="alignAccFollowNode1" presStyleIdx="0" presStyleCnt="1" custLinFactNeighborX="12287" custLinFactNeighborY="-1785"/>
      <dgm:spPr>
        <a:xfrm>
          <a:off x="0" y="0"/>
          <a:ext cx="10261599" cy="2096707"/>
        </a:xfrm>
        <a:prstGeom prst="roundRect">
          <a:avLst>
            <a:gd name="adj" fmla="val 10000"/>
          </a:avLst>
        </a:prstGeom>
        <a:solidFill>
          <a:srgbClr val="5B9BD5">
            <a:lumMod val="20000"/>
            <a:lumOff val="80000"/>
          </a:srgbClr>
        </a:solidFill>
        <a:ln w="12700" cap="flat" cmpd="sng" algn="ctr">
          <a:solidFill>
            <a:srgbClr val="4472C4">
              <a:alpha val="90000"/>
              <a:tint val="40000"/>
              <a:hueOff val="0"/>
              <a:satOff val="0"/>
              <a:lumOff val="0"/>
              <a:alphaOff val="0"/>
            </a:srgbClr>
          </a:solidFill>
          <a:prstDash val="solid"/>
          <a:miter lim="800000"/>
        </a:ln>
        <a:effectLst/>
      </dgm:spPr>
    </dgm:pt>
    <dgm:pt modelId="{413A59C2-61C4-479F-8B67-EC462679B3F6}" type="pres">
      <dgm:prSet presAssocID="{591BD33D-EC51-4597-8998-289B28AA3596}" presName="linComp" presStyleCnt="0"/>
      <dgm:spPr/>
    </dgm:pt>
    <dgm:pt modelId="{A73F8F58-5C5A-4C15-B836-FF0AE5C2B529}" type="pres">
      <dgm:prSet presAssocID="{C3984C6D-E02C-47C4-9960-BE7238CE577F}" presName="compNode" presStyleCnt="0"/>
      <dgm:spPr/>
    </dgm:pt>
    <dgm:pt modelId="{F25E0B3D-6524-4BFE-9931-21D3AF6232D5}" type="pres">
      <dgm:prSet presAssocID="{C3984C6D-E02C-47C4-9960-BE7238CE577F}" presName="node" presStyleLbl="node1" presStyleIdx="0" presStyleCnt="6">
        <dgm:presLayoutVars>
          <dgm:bulletEnabled val="1"/>
        </dgm:presLayoutVars>
      </dgm:prSet>
      <dgm:spPr/>
    </dgm:pt>
    <dgm:pt modelId="{3863E19C-EA50-4936-9116-E40D708E1849}" type="pres">
      <dgm:prSet presAssocID="{C3984C6D-E02C-47C4-9960-BE7238CE577F}" presName="invisiNode" presStyleLbl="node1" presStyleIdx="0" presStyleCnt="6"/>
      <dgm:spPr/>
    </dgm:pt>
    <dgm:pt modelId="{B9A204EE-84D6-4D55-9251-81757DA5F8F0}" type="pres">
      <dgm:prSet presAssocID="{C3984C6D-E02C-47C4-9960-BE7238CE577F}" presName="imagNode" presStyleLbl="fgImgPlace1" presStyleIdx="0" presStyleCnt="6"/>
      <dgm:spPr>
        <a:xfrm>
          <a:off x="308506" y="279561"/>
          <a:ext cx="1429458" cy="1537585"/>
        </a:xfrm>
        <a:prstGeom prst="roundRect">
          <a:avLst>
            <a:gd name="adj" fmla="val 10000"/>
          </a:avLst>
        </a:prstGeom>
        <a:blipFill rotWithShape="1">
          <a:blip xmlns:r="http://schemas.openxmlformats.org/officeDocument/2006/relationships" r:embed="rId1"/>
          <a:stretch>
            <a:fillRect/>
          </a:stretch>
        </a:blipFill>
        <a:ln w="12700" cap="flat" cmpd="sng" algn="ctr">
          <a:solidFill>
            <a:sysClr val="window" lastClr="FFFFFF">
              <a:hueOff val="0"/>
              <a:satOff val="0"/>
              <a:lumOff val="0"/>
              <a:alphaOff val="0"/>
            </a:sysClr>
          </a:solidFill>
          <a:prstDash val="solid"/>
          <a:miter lim="800000"/>
        </a:ln>
        <a:effectLst/>
      </dgm:spPr>
    </dgm:pt>
    <dgm:pt modelId="{DC6ECE3C-D511-4B5E-ACA6-0B5795C6D8F8}" type="pres">
      <dgm:prSet presAssocID="{8146F7DF-3B86-4E6F-9A94-1D3E5EB297ED}" presName="sibTrans" presStyleLbl="sibTrans2D1" presStyleIdx="0" presStyleCnt="0"/>
      <dgm:spPr/>
    </dgm:pt>
    <dgm:pt modelId="{148DF01C-9A52-4A7F-B6D2-52410E4F0BCB}" type="pres">
      <dgm:prSet presAssocID="{31A3B966-03FD-490A-933B-92804F612A10}" presName="compNode" presStyleCnt="0"/>
      <dgm:spPr/>
    </dgm:pt>
    <dgm:pt modelId="{3B343CFD-77CC-4DF5-B1E4-3624654DA50D}" type="pres">
      <dgm:prSet presAssocID="{31A3B966-03FD-490A-933B-92804F612A10}" presName="node" presStyleLbl="node1" presStyleIdx="1" presStyleCnt="6" custScaleX="124702">
        <dgm:presLayoutVars>
          <dgm:bulletEnabled val="1"/>
        </dgm:presLayoutVars>
      </dgm:prSet>
      <dgm:spPr/>
    </dgm:pt>
    <dgm:pt modelId="{C56B866B-B0CA-4CA2-92CD-530FD647D599}" type="pres">
      <dgm:prSet presAssocID="{31A3B966-03FD-490A-933B-92804F612A10}" presName="invisiNode" presStyleLbl="node1" presStyleIdx="1" presStyleCnt="6"/>
      <dgm:spPr/>
    </dgm:pt>
    <dgm:pt modelId="{90B3F940-B724-40D8-A94F-9146D440FD8A}" type="pres">
      <dgm:prSet presAssocID="{31A3B966-03FD-490A-933B-92804F612A10}" presName="imagNode" presStyleLbl="fgImgPlace1" presStyleIdx="1" presStyleCnt="6"/>
      <dgm:spPr>
        <a:xfrm>
          <a:off x="2057463" y="279561"/>
          <a:ext cx="1429458" cy="1537585"/>
        </a:xfrm>
        <a:prstGeom prst="roundRect">
          <a:avLst>
            <a:gd name="adj" fmla="val 10000"/>
          </a:avLst>
        </a:prstGeom>
        <a:blipFill rotWithShape="1">
          <a:blip xmlns:r="http://schemas.openxmlformats.org/officeDocument/2006/relationships" r:embed="rId2"/>
          <a:stretch>
            <a:fillRect/>
          </a:stretch>
        </a:blipFill>
        <a:ln w="12700" cap="flat" cmpd="sng" algn="ctr">
          <a:solidFill>
            <a:sysClr val="window" lastClr="FFFFFF">
              <a:hueOff val="0"/>
              <a:satOff val="0"/>
              <a:lumOff val="0"/>
              <a:alphaOff val="0"/>
            </a:sysClr>
          </a:solidFill>
          <a:prstDash val="solid"/>
          <a:miter lim="800000"/>
        </a:ln>
        <a:effectLst/>
      </dgm:spPr>
    </dgm:pt>
    <dgm:pt modelId="{07F092B9-B45F-481D-A2D4-D597D4135858}" type="pres">
      <dgm:prSet presAssocID="{C5036234-D1B9-4DED-BCF0-9501F3D0BB33}" presName="sibTrans" presStyleLbl="sibTrans2D1" presStyleIdx="0" presStyleCnt="0"/>
      <dgm:spPr/>
    </dgm:pt>
    <dgm:pt modelId="{53B3CAE1-CE06-4E92-864B-8F492FCB36E3}" type="pres">
      <dgm:prSet presAssocID="{D993EF55-230D-4684-9B3F-AFDDD5A3DF60}" presName="compNode" presStyleCnt="0"/>
      <dgm:spPr/>
    </dgm:pt>
    <dgm:pt modelId="{54B0A84C-5EC4-4D9D-A6A8-E809A38EA150}" type="pres">
      <dgm:prSet presAssocID="{D993EF55-230D-4684-9B3F-AFDDD5A3DF60}" presName="node" presStyleLbl="node1" presStyleIdx="2" presStyleCnt="6">
        <dgm:presLayoutVars>
          <dgm:bulletEnabled val="1"/>
        </dgm:presLayoutVars>
      </dgm:prSet>
      <dgm:spPr/>
    </dgm:pt>
    <dgm:pt modelId="{E0DB700D-69A3-4CBE-88FA-A9AB383C81AA}" type="pres">
      <dgm:prSet presAssocID="{D993EF55-230D-4684-9B3F-AFDDD5A3DF60}" presName="invisiNode" presStyleLbl="node1" presStyleIdx="2" presStyleCnt="6"/>
      <dgm:spPr/>
    </dgm:pt>
    <dgm:pt modelId="{5D6DFDF9-5E58-4DD7-ABAB-BB38A347E622}" type="pres">
      <dgm:prSet presAssocID="{D993EF55-230D-4684-9B3F-AFDDD5A3DF60}" presName="imagNode" presStyleLbl="fgImgPlace1" presStyleIdx="2" presStyleCnt="6"/>
      <dgm:spPr>
        <a:xfrm>
          <a:off x="3806420" y="279561"/>
          <a:ext cx="1429458" cy="1537585"/>
        </a:xfrm>
        <a:prstGeom prst="roundRect">
          <a:avLst>
            <a:gd name="adj" fmla="val 10000"/>
          </a:avLst>
        </a:prstGeom>
        <a:blipFill rotWithShape="1">
          <a:blip xmlns:r="http://schemas.openxmlformats.org/officeDocument/2006/relationships" r:embed="rId3"/>
          <a:stretch>
            <a:fillRect/>
          </a:stretch>
        </a:blipFill>
        <a:ln w="12700" cap="flat" cmpd="sng" algn="ctr">
          <a:solidFill>
            <a:sysClr val="window" lastClr="FFFFFF">
              <a:hueOff val="0"/>
              <a:satOff val="0"/>
              <a:lumOff val="0"/>
              <a:alphaOff val="0"/>
            </a:sysClr>
          </a:solidFill>
          <a:prstDash val="solid"/>
          <a:miter lim="800000"/>
        </a:ln>
        <a:effectLst/>
      </dgm:spPr>
    </dgm:pt>
    <dgm:pt modelId="{3A468B8B-7B5C-414A-B72B-63FE20310AF7}" type="pres">
      <dgm:prSet presAssocID="{D04D1CD3-961E-4B5D-9521-CB35B9EAF857}" presName="sibTrans" presStyleLbl="sibTrans2D1" presStyleIdx="0" presStyleCnt="0"/>
      <dgm:spPr/>
    </dgm:pt>
    <dgm:pt modelId="{91614C8F-D88C-4D1C-8DE8-913FFBB98423}" type="pres">
      <dgm:prSet presAssocID="{390A3E23-5A32-47A9-9DE2-C977A47DB89B}" presName="compNode" presStyleCnt="0"/>
      <dgm:spPr/>
    </dgm:pt>
    <dgm:pt modelId="{49CB391C-3E07-4F55-B38C-53B25FE4673F}" type="pres">
      <dgm:prSet presAssocID="{390A3E23-5A32-47A9-9DE2-C977A47DB89B}" presName="node" presStyleLbl="node1" presStyleIdx="3" presStyleCnt="6" custLinFactX="9142" custLinFactNeighborX="100000" custLinFactNeighborY="372">
        <dgm:presLayoutVars>
          <dgm:bulletEnabled val="1"/>
        </dgm:presLayoutVars>
      </dgm:prSet>
      <dgm:spPr/>
    </dgm:pt>
    <dgm:pt modelId="{50BD9AF4-0660-4ED2-AA33-C79CF8907EBE}" type="pres">
      <dgm:prSet presAssocID="{390A3E23-5A32-47A9-9DE2-C977A47DB89B}" presName="invisiNode" presStyleLbl="node1" presStyleIdx="3" presStyleCnt="6"/>
      <dgm:spPr/>
    </dgm:pt>
    <dgm:pt modelId="{3DC23FD8-AC5F-4538-B7DC-8C1B4B881F19}" type="pres">
      <dgm:prSet presAssocID="{390A3E23-5A32-47A9-9DE2-C977A47DB89B}" presName="imagNode" presStyleLbl="fgImgPlace1" presStyleIdx="3" presStyleCnt="6"/>
      <dgm:spPr>
        <a:xfrm>
          <a:off x="5378825" y="279561"/>
          <a:ext cx="1429458" cy="1537585"/>
        </a:xfrm>
        <a:prstGeom prst="roundRect">
          <a:avLst>
            <a:gd name="adj" fmla="val 10000"/>
          </a:avLst>
        </a:prstGeom>
        <a:blipFill rotWithShape="1">
          <a:blip xmlns:r="http://schemas.openxmlformats.org/officeDocument/2006/relationships" r:embed="rId4"/>
          <a:stretch>
            <a:fillRect/>
          </a:stretch>
        </a:blipFill>
        <a:ln w="12700" cap="flat" cmpd="sng" algn="ctr">
          <a:solidFill>
            <a:sysClr val="window" lastClr="FFFFFF">
              <a:hueOff val="0"/>
              <a:satOff val="0"/>
              <a:lumOff val="0"/>
              <a:alphaOff val="0"/>
            </a:sysClr>
          </a:solidFill>
          <a:prstDash val="solid"/>
          <a:miter lim="800000"/>
        </a:ln>
        <a:effectLst/>
      </dgm:spPr>
    </dgm:pt>
    <dgm:pt modelId="{8556012B-8A29-46B8-874B-D37B7277464D}" type="pres">
      <dgm:prSet presAssocID="{3ED6B642-DD33-4B9A-B9CB-A9D6D94B8D46}" presName="sibTrans" presStyleLbl="sibTrans2D1" presStyleIdx="0" presStyleCnt="0"/>
      <dgm:spPr/>
    </dgm:pt>
    <dgm:pt modelId="{52495340-4AD4-4599-978A-D82123EC0200}" type="pres">
      <dgm:prSet presAssocID="{049B42F0-BEED-42ED-8EB3-1BA248888B06}" presName="compNode" presStyleCnt="0"/>
      <dgm:spPr/>
    </dgm:pt>
    <dgm:pt modelId="{FC064097-9CFB-4A8C-979B-12310E574291}" type="pres">
      <dgm:prSet presAssocID="{049B42F0-BEED-42ED-8EB3-1BA248888B06}" presName="node" presStyleLbl="node1" presStyleIdx="4" presStyleCnt="6" custLinFactX="-12994" custLinFactNeighborX="-100000">
        <dgm:presLayoutVars>
          <dgm:bulletEnabled val="1"/>
        </dgm:presLayoutVars>
      </dgm:prSet>
      <dgm:spPr/>
    </dgm:pt>
    <dgm:pt modelId="{A6EC24B3-DBE2-4FF2-81B9-38D9AE5FED4A}" type="pres">
      <dgm:prSet presAssocID="{049B42F0-BEED-42ED-8EB3-1BA248888B06}" presName="invisiNode" presStyleLbl="node1" presStyleIdx="4" presStyleCnt="6"/>
      <dgm:spPr/>
    </dgm:pt>
    <dgm:pt modelId="{B463F8C1-2D91-45F4-BCAB-D1741368085B}" type="pres">
      <dgm:prSet presAssocID="{049B42F0-BEED-42ED-8EB3-1BA248888B06}" presName="imagNode" presStyleLbl="fgImgPlace1" presStyleIdx="4" presStyleCnt="6"/>
      <dgm:spPr>
        <a:xfrm>
          <a:off x="6951230" y="279561"/>
          <a:ext cx="1429458" cy="1537585"/>
        </a:xfrm>
        <a:prstGeom prst="roundRect">
          <a:avLst>
            <a:gd name="adj" fmla="val 10000"/>
          </a:avLst>
        </a:prstGeom>
        <a:blipFill rotWithShape="1">
          <a:blip xmlns:r="http://schemas.openxmlformats.org/officeDocument/2006/relationships" r:embed="rId5"/>
          <a:stretch>
            <a:fillRect/>
          </a:stretch>
        </a:blipFill>
        <a:ln w="12700" cap="flat" cmpd="sng" algn="ctr">
          <a:solidFill>
            <a:sysClr val="window" lastClr="FFFFFF">
              <a:hueOff val="0"/>
              <a:satOff val="0"/>
              <a:lumOff val="0"/>
              <a:alphaOff val="0"/>
            </a:sysClr>
          </a:solidFill>
          <a:prstDash val="solid"/>
          <a:miter lim="800000"/>
        </a:ln>
        <a:effectLst/>
      </dgm:spPr>
    </dgm:pt>
    <dgm:pt modelId="{ADBE5DE2-51B0-4DD2-80C8-6F53981291A8}" type="pres">
      <dgm:prSet presAssocID="{03371387-97B0-486E-9137-BDE86B063A89}" presName="sibTrans" presStyleLbl="sibTrans2D1" presStyleIdx="0" presStyleCnt="0"/>
      <dgm:spPr/>
    </dgm:pt>
    <dgm:pt modelId="{344AF83E-17EC-4626-AA8B-CB686FA279D6}" type="pres">
      <dgm:prSet presAssocID="{C7752A67-D0C2-4371-8AC5-DD8D7868F035}" presName="compNode" presStyleCnt="0"/>
      <dgm:spPr/>
    </dgm:pt>
    <dgm:pt modelId="{D4DABA57-3CEC-4636-895B-14AE10D6EE3A}" type="pres">
      <dgm:prSet presAssocID="{C7752A67-D0C2-4371-8AC5-DD8D7868F035}" presName="node" presStyleLbl="node1" presStyleIdx="5" presStyleCnt="6">
        <dgm:presLayoutVars>
          <dgm:bulletEnabled val="1"/>
        </dgm:presLayoutVars>
      </dgm:prSet>
      <dgm:spPr/>
    </dgm:pt>
    <dgm:pt modelId="{71402B4A-00BF-4A1A-8E93-60CE5AA458C3}" type="pres">
      <dgm:prSet presAssocID="{C7752A67-D0C2-4371-8AC5-DD8D7868F035}" presName="invisiNode" presStyleLbl="node1" presStyleIdx="5" presStyleCnt="6"/>
      <dgm:spPr/>
    </dgm:pt>
    <dgm:pt modelId="{D868A4E7-0887-484B-8217-8390678A2FA7}" type="pres">
      <dgm:prSet presAssocID="{C7752A67-D0C2-4371-8AC5-DD8D7868F035}" presName="imagNode" presStyleLbl="fgImgPlace1" presStyleIdx="5" presStyleCnt="6"/>
      <dgm:spPr>
        <a:xfrm>
          <a:off x="8523635" y="279561"/>
          <a:ext cx="1429458" cy="1537585"/>
        </a:xfrm>
        <a:prstGeom prst="roundRect">
          <a:avLst>
            <a:gd name="adj" fmla="val 10000"/>
          </a:avLst>
        </a:prstGeom>
        <a:blipFill rotWithShape="1">
          <a:blip xmlns:r="http://schemas.openxmlformats.org/officeDocument/2006/relationships" r:embed="rId1"/>
          <a:srcRect/>
          <a:stretch>
            <a:fillRect t="-1000" b="-1000"/>
          </a:stretch>
        </a:blipFill>
        <a:ln w="12700" cap="flat" cmpd="sng" algn="ctr">
          <a:solidFill>
            <a:sysClr val="window" lastClr="FFFFFF">
              <a:hueOff val="0"/>
              <a:satOff val="0"/>
              <a:lumOff val="0"/>
              <a:alphaOff val="0"/>
            </a:sysClr>
          </a:solidFill>
          <a:prstDash val="solid"/>
          <a:miter lim="800000"/>
        </a:ln>
        <a:effectLst/>
      </dgm:spPr>
    </dgm:pt>
  </dgm:ptLst>
  <dgm:cxnLst>
    <dgm:cxn modelId="{F7059208-88F5-41BF-9507-81E195C97C1A}" type="presOf" srcId="{3ED6B642-DD33-4B9A-B9CB-A9D6D94B8D46}" destId="{8556012B-8A29-46B8-874B-D37B7277464D}" srcOrd="0" destOrd="0" presId="urn:microsoft.com/office/officeart/2005/8/layout/pList2"/>
    <dgm:cxn modelId="{7B7E172F-FBBB-4BAA-B620-57789DE06FB9}" srcId="{591BD33D-EC51-4597-8998-289B28AA3596}" destId="{D993EF55-230D-4684-9B3F-AFDDD5A3DF60}" srcOrd="2" destOrd="0" parTransId="{7A9F76AB-1928-4936-9071-5F9855102360}" sibTransId="{D04D1CD3-961E-4B5D-9521-CB35B9EAF857}"/>
    <dgm:cxn modelId="{6D1E4739-9D1A-4229-967C-09C9129D9652}" type="presOf" srcId="{31A3B966-03FD-490A-933B-92804F612A10}" destId="{3B343CFD-77CC-4DF5-B1E4-3624654DA50D}" srcOrd="0" destOrd="0" presId="urn:microsoft.com/office/officeart/2005/8/layout/pList2"/>
    <dgm:cxn modelId="{B17AF565-158B-4A3E-9BDA-36586325C63B}" type="presOf" srcId="{8146F7DF-3B86-4E6F-9A94-1D3E5EB297ED}" destId="{DC6ECE3C-D511-4B5E-ACA6-0B5795C6D8F8}" srcOrd="0" destOrd="0" presId="urn:microsoft.com/office/officeart/2005/8/layout/pList2"/>
    <dgm:cxn modelId="{DDA1FA68-A2D9-4784-86E9-1182F699BE98}" type="presOf" srcId="{591BD33D-EC51-4597-8998-289B28AA3596}" destId="{479D9AE4-DDD6-4DA3-A95B-F868B7AC766B}" srcOrd="0" destOrd="0" presId="urn:microsoft.com/office/officeart/2005/8/layout/pList2"/>
    <dgm:cxn modelId="{DB683383-BBBA-46D7-AA85-C2E935AA8B42}" srcId="{591BD33D-EC51-4597-8998-289B28AA3596}" destId="{049B42F0-BEED-42ED-8EB3-1BA248888B06}" srcOrd="4" destOrd="0" parTransId="{F13A4670-D563-4F56-ACF1-C7B411D5728B}" sibTransId="{03371387-97B0-486E-9137-BDE86B063A89}"/>
    <dgm:cxn modelId="{2FAB4386-6CE5-47EB-94DD-5C703CB31767}" srcId="{591BD33D-EC51-4597-8998-289B28AA3596}" destId="{C7752A67-D0C2-4371-8AC5-DD8D7868F035}" srcOrd="5" destOrd="0" parTransId="{2222D861-63C9-4E22-8FF2-48822CF97AA0}" sibTransId="{D40D8ADD-0E8E-4296-A764-7E056CE17B41}"/>
    <dgm:cxn modelId="{AC8F259D-7883-4580-BADF-66F989E525D1}" type="presOf" srcId="{C7752A67-D0C2-4371-8AC5-DD8D7868F035}" destId="{D4DABA57-3CEC-4636-895B-14AE10D6EE3A}" srcOrd="0" destOrd="0" presId="urn:microsoft.com/office/officeart/2005/8/layout/pList2"/>
    <dgm:cxn modelId="{113498A4-93DB-4902-90E2-D1540BF3BC6C}" srcId="{591BD33D-EC51-4597-8998-289B28AA3596}" destId="{C3984C6D-E02C-47C4-9960-BE7238CE577F}" srcOrd="0" destOrd="0" parTransId="{6E888457-8359-448F-9F22-5AF789168E55}" sibTransId="{8146F7DF-3B86-4E6F-9A94-1D3E5EB297ED}"/>
    <dgm:cxn modelId="{DD3EEFBB-6DDC-448A-8B58-F56ABB649EA2}" type="presOf" srcId="{C3984C6D-E02C-47C4-9960-BE7238CE577F}" destId="{F25E0B3D-6524-4BFE-9931-21D3AF6232D5}" srcOrd="0" destOrd="0" presId="urn:microsoft.com/office/officeart/2005/8/layout/pList2"/>
    <dgm:cxn modelId="{3C4963C0-2671-42E9-926B-4B8BD2DF6177}" srcId="{591BD33D-EC51-4597-8998-289B28AA3596}" destId="{390A3E23-5A32-47A9-9DE2-C977A47DB89B}" srcOrd="3" destOrd="0" parTransId="{745FE19E-EC10-42FE-8E4B-D49AA9F6DE48}" sibTransId="{3ED6B642-DD33-4B9A-B9CB-A9D6D94B8D46}"/>
    <dgm:cxn modelId="{D65AB7C1-A4F4-40CB-9387-4E43A222569E}" type="presOf" srcId="{03371387-97B0-486E-9137-BDE86B063A89}" destId="{ADBE5DE2-51B0-4DD2-80C8-6F53981291A8}" srcOrd="0" destOrd="0" presId="urn:microsoft.com/office/officeart/2005/8/layout/pList2"/>
    <dgm:cxn modelId="{2F5931CD-DDB1-486E-B06C-738247F1BD2A}" type="presOf" srcId="{D993EF55-230D-4684-9B3F-AFDDD5A3DF60}" destId="{54B0A84C-5EC4-4D9D-A6A8-E809A38EA150}" srcOrd="0" destOrd="0" presId="urn:microsoft.com/office/officeart/2005/8/layout/pList2"/>
    <dgm:cxn modelId="{E2202FD6-E702-4DA4-8BAD-65E435B2F892}" type="presOf" srcId="{049B42F0-BEED-42ED-8EB3-1BA248888B06}" destId="{FC064097-9CFB-4A8C-979B-12310E574291}" srcOrd="0" destOrd="0" presId="urn:microsoft.com/office/officeart/2005/8/layout/pList2"/>
    <dgm:cxn modelId="{FCECCED6-A842-4346-86A0-1976A8A8251F}" type="presOf" srcId="{390A3E23-5A32-47A9-9DE2-C977A47DB89B}" destId="{49CB391C-3E07-4F55-B38C-53B25FE4673F}" srcOrd="0" destOrd="0" presId="urn:microsoft.com/office/officeart/2005/8/layout/pList2"/>
    <dgm:cxn modelId="{923C5FDE-F596-4D2F-B445-1199D4986A3A}" srcId="{591BD33D-EC51-4597-8998-289B28AA3596}" destId="{31A3B966-03FD-490A-933B-92804F612A10}" srcOrd="1" destOrd="0" parTransId="{FD092FE8-5B90-4304-8C57-AF6D916F39E3}" sibTransId="{C5036234-D1B9-4DED-BCF0-9501F3D0BB33}"/>
    <dgm:cxn modelId="{4B9556F1-E291-4947-8C61-E86EBB9DCF9E}" type="presOf" srcId="{C5036234-D1B9-4DED-BCF0-9501F3D0BB33}" destId="{07F092B9-B45F-481D-A2D4-D597D4135858}" srcOrd="0" destOrd="0" presId="urn:microsoft.com/office/officeart/2005/8/layout/pList2"/>
    <dgm:cxn modelId="{811C6EF3-9802-4FC8-98D3-66908B4D1E8E}" type="presOf" srcId="{D04D1CD3-961E-4B5D-9521-CB35B9EAF857}" destId="{3A468B8B-7B5C-414A-B72B-63FE20310AF7}" srcOrd="0" destOrd="0" presId="urn:microsoft.com/office/officeart/2005/8/layout/pList2"/>
    <dgm:cxn modelId="{41FCADDC-38A0-4DED-B997-47B5B24EF3C4}" type="presParOf" srcId="{479D9AE4-DDD6-4DA3-A95B-F868B7AC766B}" destId="{676EA21E-E662-42E2-8846-F38B6F9804C0}" srcOrd="0" destOrd="0" presId="urn:microsoft.com/office/officeart/2005/8/layout/pList2"/>
    <dgm:cxn modelId="{3961E101-007D-483D-A0FD-9D97F7AF1E1D}" type="presParOf" srcId="{479D9AE4-DDD6-4DA3-A95B-F868B7AC766B}" destId="{413A59C2-61C4-479F-8B67-EC462679B3F6}" srcOrd="1" destOrd="0" presId="urn:microsoft.com/office/officeart/2005/8/layout/pList2"/>
    <dgm:cxn modelId="{F6716680-73F2-4DDD-A269-D2870259E48F}" type="presParOf" srcId="{413A59C2-61C4-479F-8B67-EC462679B3F6}" destId="{A73F8F58-5C5A-4C15-B836-FF0AE5C2B529}" srcOrd="0" destOrd="0" presId="urn:microsoft.com/office/officeart/2005/8/layout/pList2"/>
    <dgm:cxn modelId="{47AD31B1-60E6-4822-AC84-D819B5CA5DD5}" type="presParOf" srcId="{A73F8F58-5C5A-4C15-B836-FF0AE5C2B529}" destId="{F25E0B3D-6524-4BFE-9931-21D3AF6232D5}" srcOrd="0" destOrd="0" presId="urn:microsoft.com/office/officeart/2005/8/layout/pList2"/>
    <dgm:cxn modelId="{6593F6DF-91BE-4017-90D0-2F021F40C11B}" type="presParOf" srcId="{A73F8F58-5C5A-4C15-B836-FF0AE5C2B529}" destId="{3863E19C-EA50-4936-9116-E40D708E1849}" srcOrd="1" destOrd="0" presId="urn:microsoft.com/office/officeart/2005/8/layout/pList2"/>
    <dgm:cxn modelId="{26F809FC-2C17-4CF8-8276-66E125E540CB}" type="presParOf" srcId="{A73F8F58-5C5A-4C15-B836-FF0AE5C2B529}" destId="{B9A204EE-84D6-4D55-9251-81757DA5F8F0}" srcOrd="2" destOrd="0" presId="urn:microsoft.com/office/officeart/2005/8/layout/pList2"/>
    <dgm:cxn modelId="{9E4487A0-C3CA-431A-9C49-107A06AB8E21}" type="presParOf" srcId="{413A59C2-61C4-479F-8B67-EC462679B3F6}" destId="{DC6ECE3C-D511-4B5E-ACA6-0B5795C6D8F8}" srcOrd="1" destOrd="0" presId="urn:microsoft.com/office/officeart/2005/8/layout/pList2"/>
    <dgm:cxn modelId="{9D0A31AB-B9DB-47F7-A6B1-20F4C59629EE}" type="presParOf" srcId="{413A59C2-61C4-479F-8B67-EC462679B3F6}" destId="{148DF01C-9A52-4A7F-B6D2-52410E4F0BCB}" srcOrd="2" destOrd="0" presId="urn:microsoft.com/office/officeart/2005/8/layout/pList2"/>
    <dgm:cxn modelId="{E696D616-05E1-4DB4-AAED-605ED7C4F7FF}" type="presParOf" srcId="{148DF01C-9A52-4A7F-B6D2-52410E4F0BCB}" destId="{3B343CFD-77CC-4DF5-B1E4-3624654DA50D}" srcOrd="0" destOrd="0" presId="urn:microsoft.com/office/officeart/2005/8/layout/pList2"/>
    <dgm:cxn modelId="{F72D3376-4858-4DAA-A2D4-99426FC62D84}" type="presParOf" srcId="{148DF01C-9A52-4A7F-B6D2-52410E4F0BCB}" destId="{C56B866B-B0CA-4CA2-92CD-530FD647D599}" srcOrd="1" destOrd="0" presId="urn:microsoft.com/office/officeart/2005/8/layout/pList2"/>
    <dgm:cxn modelId="{F5A9C9F4-210F-4316-A4B7-4C5F03BA5C57}" type="presParOf" srcId="{148DF01C-9A52-4A7F-B6D2-52410E4F0BCB}" destId="{90B3F940-B724-40D8-A94F-9146D440FD8A}" srcOrd="2" destOrd="0" presId="urn:microsoft.com/office/officeart/2005/8/layout/pList2"/>
    <dgm:cxn modelId="{2BB95329-A59F-4E61-8DBC-90A690C43E2B}" type="presParOf" srcId="{413A59C2-61C4-479F-8B67-EC462679B3F6}" destId="{07F092B9-B45F-481D-A2D4-D597D4135858}" srcOrd="3" destOrd="0" presId="urn:microsoft.com/office/officeart/2005/8/layout/pList2"/>
    <dgm:cxn modelId="{087DBA82-AB95-4D82-96F8-BCC56F7A61C4}" type="presParOf" srcId="{413A59C2-61C4-479F-8B67-EC462679B3F6}" destId="{53B3CAE1-CE06-4E92-864B-8F492FCB36E3}" srcOrd="4" destOrd="0" presId="urn:microsoft.com/office/officeart/2005/8/layout/pList2"/>
    <dgm:cxn modelId="{6A03AFED-251E-4ECB-8D69-B76F7801696A}" type="presParOf" srcId="{53B3CAE1-CE06-4E92-864B-8F492FCB36E3}" destId="{54B0A84C-5EC4-4D9D-A6A8-E809A38EA150}" srcOrd="0" destOrd="0" presId="urn:microsoft.com/office/officeart/2005/8/layout/pList2"/>
    <dgm:cxn modelId="{D89CBFA0-0A81-4E65-B1BC-F315D44F99B8}" type="presParOf" srcId="{53B3CAE1-CE06-4E92-864B-8F492FCB36E3}" destId="{E0DB700D-69A3-4CBE-88FA-A9AB383C81AA}" srcOrd="1" destOrd="0" presId="urn:microsoft.com/office/officeart/2005/8/layout/pList2"/>
    <dgm:cxn modelId="{69FE8CD7-7137-4854-A6CF-BFF8A29AC047}" type="presParOf" srcId="{53B3CAE1-CE06-4E92-864B-8F492FCB36E3}" destId="{5D6DFDF9-5E58-4DD7-ABAB-BB38A347E622}" srcOrd="2" destOrd="0" presId="urn:microsoft.com/office/officeart/2005/8/layout/pList2"/>
    <dgm:cxn modelId="{14E5DDAF-2B77-4BF0-83F0-19A7EF10F54D}" type="presParOf" srcId="{413A59C2-61C4-479F-8B67-EC462679B3F6}" destId="{3A468B8B-7B5C-414A-B72B-63FE20310AF7}" srcOrd="5" destOrd="0" presId="urn:microsoft.com/office/officeart/2005/8/layout/pList2"/>
    <dgm:cxn modelId="{C639944C-D020-4299-A174-B5A8D6A82098}" type="presParOf" srcId="{413A59C2-61C4-479F-8B67-EC462679B3F6}" destId="{91614C8F-D88C-4D1C-8DE8-913FFBB98423}" srcOrd="6" destOrd="0" presId="urn:microsoft.com/office/officeart/2005/8/layout/pList2"/>
    <dgm:cxn modelId="{7C815F46-21BB-47FF-8BC2-50DC08DD0729}" type="presParOf" srcId="{91614C8F-D88C-4D1C-8DE8-913FFBB98423}" destId="{49CB391C-3E07-4F55-B38C-53B25FE4673F}" srcOrd="0" destOrd="0" presId="urn:microsoft.com/office/officeart/2005/8/layout/pList2"/>
    <dgm:cxn modelId="{52DAEB29-3891-47B6-96B3-2F2922459444}" type="presParOf" srcId="{91614C8F-D88C-4D1C-8DE8-913FFBB98423}" destId="{50BD9AF4-0660-4ED2-AA33-C79CF8907EBE}" srcOrd="1" destOrd="0" presId="urn:microsoft.com/office/officeart/2005/8/layout/pList2"/>
    <dgm:cxn modelId="{09E13AB2-AD86-49CE-848F-F7161CE72D41}" type="presParOf" srcId="{91614C8F-D88C-4D1C-8DE8-913FFBB98423}" destId="{3DC23FD8-AC5F-4538-B7DC-8C1B4B881F19}" srcOrd="2" destOrd="0" presId="urn:microsoft.com/office/officeart/2005/8/layout/pList2"/>
    <dgm:cxn modelId="{58E78819-8A65-4E1F-86A2-BA7A7C882249}" type="presParOf" srcId="{413A59C2-61C4-479F-8B67-EC462679B3F6}" destId="{8556012B-8A29-46B8-874B-D37B7277464D}" srcOrd="7" destOrd="0" presId="urn:microsoft.com/office/officeart/2005/8/layout/pList2"/>
    <dgm:cxn modelId="{E45282A3-AD10-4878-B14C-3E577B1A5811}" type="presParOf" srcId="{413A59C2-61C4-479F-8B67-EC462679B3F6}" destId="{52495340-4AD4-4599-978A-D82123EC0200}" srcOrd="8" destOrd="0" presId="urn:microsoft.com/office/officeart/2005/8/layout/pList2"/>
    <dgm:cxn modelId="{2D19C4C6-6216-45B6-9CA6-F56E77138AED}" type="presParOf" srcId="{52495340-4AD4-4599-978A-D82123EC0200}" destId="{FC064097-9CFB-4A8C-979B-12310E574291}" srcOrd="0" destOrd="0" presId="urn:microsoft.com/office/officeart/2005/8/layout/pList2"/>
    <dgm:cxn modelId="{94E82DEB-3208-4121-8696-21C0643D8C86}" type="presParOf" srcId="{52495340-4AD4-4599-978A-D82123EC0200}" destId="{A6EC24B3-DBE2-4FF2-81B9-38D9AE5FED4A}" srcOrd="1" destOrd="0" presId="urn:microsoft.com/office/officeart/2005/8/layout/pList2"/>
    <dgm:cxn modelId="{AD2A23D4-93E8-4A42-AF15-13165530C442}" type="presParOf" srcId="{52495340-4AD4-4599-978A-D82123EC0200}" destId="{B463F8C1-2D91-45F4-BCAB-D1741368085B}" srcOrd="2" destOrd="0" presId="urn:microsoft.com/office/officeart/2005/8/layout/pList2"/>
    <dgm:cxn modelId="{91CABEBB-46F9-4653-AE67-C50E21722C6F}" type="presParOf" srcId="{413A59C2-61C4-479F-8B67-EC462679B3F6}" destId="{ADBE5DE2-51B0-4DD2-80C8-6F53981291A8}" srcOrd="9" destOrd="0" presId="urn:microsoft.com/office/officeart/2005/8/layout/pList2"/>
    <dgm:cxn modelId="{6A9C4E50-CC02-4D34-92F7-1C27638F54DB}" type="presParOf" srcId="{413A59C2-61C4-479F-8B67-EC462679B3F6}" destId="{344AF83E-17EC-4626-AA8B-CB686FA279D6}" srcOrd="10" destOrd="0" presId="urn:microsoft.com/office/officeart/2005/8/layout/pList2"/>
    <dgm:cxn modelId="{55CB3EFC-2BBE-4685-BBD7-D65F31DCA9BB}" type="presParOf" srcId="{344AF83E-17EC-4626-AA8B-CB686FA279D6}" destId="{D4DABA57-3CEC-4636-895B-14AE10D6EE3A}" srcOrd="0" destOrd="0" presId="urn:microsoft.com/office/officeart/2005/8/layout/pList2"/>
    <dgm:cxn modelId="{B9239131-E14B-4D68-80B3-30714A1F184D}" type="presParOf" srcId="{344AF83E-17EC-4626-AA8B-CB686FA279D6}" destId="{71402B4A-00BF-4A1A-8E93-60CE5AA458C3}" srcOrd="1" destOrd="0" presId="urn:microsoft.com/office/officeart/2005/8/layout/pList2"/>
    <dgm:cxn modelId="{6348B898-DF11-4209-899F-466F5AA40B75}" type="presParOf" srcId="{344AF83E-17EC-4626-AA8B-CB686FA279D6}" destId="{D868A4E7-0887-484B-8217-8390678A2FA7}" srcOrd="2" destOrd="0" presId="urn:microsoft.com/office/officeart/2005/8/layout/p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E1FDFD8-C670-47CB-B19C-10D4140014FB}" type="doc">
      <dgm:prSet loTypeId="urn:microsoft.com/office/officeart/2005/8/layout/lProcess1" loCatId="process" qsTypeId="urn:microsoft.com/office/officeart/2005/8/quickstyle/simple1" qsCatId="simple" csTypeId="urn:microsoft.com/office/officeart/2005/8/colors/accent6_2" csCatId="accent6" phldr="1"/>
      <dgm:spPr/>
      <dgm:t>
        <a:bodyPr/>
        <a:lstStyle/>
        <a:p>
          <a:endParaRPr lang="en-US"/>
        </a:p>
      </dgm:t>
    </dgm:pt>
    <dgm:pt modelId="{0B08EB7F-E91B-4FF1-ACD1-68F53D4E1075}">
      <dgm:prSet phldrT="[Text]" custT="1"/>
      <dgm:spPr>
        <a:xfrm>
          <a:off x="468" y="432355"/>
          <a:ext cx="3431232" cy="857808"/>
        </a:xfrm>
        <a:prstGeom prst="roundRect">
          <a:avLst>
            <a:gd name="adj" fmla="val 10000"/>
          </a:avLst>
        </a:prstGeom>
        <a:solidFill>
          <a:srgbClr val="166FBC"/>
        </a:solidFill>
        <a:ln w="12700" cap="flat" cmpd="sng" algn="ctr">
          <a:solidFill>
            <a:sysClr val="window" lastClr="FFFFFF">
              <a:hueOff val="0"/>
              <a:satOff val="0"/>
              <a:lumOff val="0"/>
              <a:alphaOff val="0"/>
            </a:sysClr>
          </a:solidFill>
          <a:prstDash val="solid"/>
          <a:miter lim="800000"/>
        </a:ln>
        <a:effectLst/>
      </dgm:spPr>
      <dgm:t>
        <a:bodyPr/>
        <a:lstStyle/>
        <a:p>
          <a:pPr>
            <a:spcAft>
              <a:spcPts val="0"/>
            </a:spcAft>
            <a:buNone/>
          </a:pPr>
          <a:r>
            <a:rPr lang="en-US" sz="2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Defect</a:t>
          </a:r>
        </a:p>
        <a:p>
          <a:pPr>
            <a:spcAft>
              <a:spcPts val="0"/>
            </a:spcAft>
            <a:buNone/>
          </a:pPr>
          <a:r>
            <a:rPr lang="en-US" sz="2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(Bug)</a:t>
          </a:r>
        </a:p>
      </dgm:t>
    </dgm:pt>
    <dgm:pt modelId="{B8DCA103-8656-46C5-AD8F-FA42630BD426}" type="parTrans" cxnId="{64D33610-B60B-4545-BF39-4C0566EA7B65}">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1C05974E-5739-4667-B1DD-469E666C0C47}" type="sibTrans" cxnId="{64D33610-B60B-4545-BF39-4C0566EA7B65}">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E1D09C46-3527-4614-93EC-64D032A4F414}">
      <dgm:prSet phldrT="[Text]"/>
      <dgm:spPr>
        <a:xfrm>
          <a:off x="468" y="1590395"/>
          <a:ext cx="3431232" cy="857808"/>
        </a:xfrm>
        <a:prstGeom prst="roundRect">
          <a:avLst>
            <a:gd name="adj" fmla="val 10000"/>
          </a:avLst>
        </a:prstGeom>
        <a:solidFill>
          <a:srgbClr val="F27228"/>
        </a:solidFill>
        <a:ln w="12700" cap="flat" cmpd="sng" algn="ctr">
          <a:solidFill>
            <a:srgbClr val="70AD47">
              <a:alpha val="90000"/>
              <a:tint val="40000"/>
              <a:hueOff val="0"/>
              <a:satOff val="0"/>
              <a:lumOff val="0"/>
              <a:alphaOff val="0"/>
            </a:srgbClr>
          </a:solidFill>
          <a:prstDash val="solid"/>
          <a:miter lim="800000"/>
        </a:ln>
        <a:effectLst/>
      </dgm:spPr>
      <dgm:t>
        <a:bodyPr/>
        <a:lstStyle/>
        <a:p>
          <a:pPr>
            <a:buNone/>
          </a:pPr>
          <a:r>
            <a:rPr lang="en-US"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Defects are issues that do not match the requirements</a:t>
          </a:r>
        </a:p>
      </dgm:t>
    </dgm:pt>
    <dgm:pt modelId="{245DB702-3283-45C6-AE5B-069BEF70FCF7}" type="parTrans" cxnId="{F2A79F4F-4573-43F5-9974-51420BE7BCD1}">
      <dgm:prSet/>
      <dgm:spPr>
        <a:xfrm rot="5400000">
          <a:off x="1641026" y="1365221"/>
          <a:ext cx="150116" cy="150116"/>
        </a:xfrm>
        <a:prstGeom prst="rightArrow">
          <a:avLst>
            <a:gd name="adj1" fmla="val 66700"/>
            <a:gd name="adj2" fmla="val 50000"/>
          </a:avLst>
        </a:prstGeom>
        <a:solidFill>
          <a:srgbClr val="FF0000"/>
        </a:solidFill>
        <a:ln>
          <a:noFill/>
        </a:ln>
        <a:effectLs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73DAECD1-3338-4E47-A3CA-2C9AD23653E9}" type="sibTrans" cxnId="{F2A79F4F-4573-43F5-9974-51420BE7BCD1}">
      <dgm:prSet/>
      <dgm:spPr>
        <a:xfrm rot="5400000">
          <a:off x="1641026" y="2523262"/>
          <a:ext cx="150116" cy="150116"/>
        </a:xfrm>
        <a:prstGeom prst="rightArrow">
          <a:avLst>
            <a:gd name="adj1" fmla="val 66700"/>
            <a:gd name="adj2" fmla="val 50000"/>
          </a:avLst>
        </a:prstGeom>
        <a:solidFill>
          <a:srgbClr val="FF0000"/>
        </a:solidFill>
        <a:ln>
          <a:noFill/>
        </a:ln>
        <a:effectLs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80980F19-D8B2-4AEC-84F2-7F61A3911789}">
      <dgm:prSet phldrT="[Text]"/>
      <dgm:spPr>
        <a:xfrm>
          <a:off x="468" y="2748436"/>
          <a:ext cx="3431232" cy="857808"/>
        </a:xfrm>
        <a:prstGeom prst="roundRect">
          <a:avLst>
            <a:gd name="adj" fmla="val 10000"/>
          </a:avLst>
        </a:prstGeom>
        <a:solidFill>
          <a:srgbClr val="24B24B"/>
        </a:solidFill>
        <a:ln w="12700" cap="flat" cmpd="sng" algn="ctr">
          <a:solidFill>
            <a:srgbClr val="70AD47">
              <a:alpha val="90000"/>
              <a:tint val="40000"/>
              <a:hueOff val="0"/>
              <a:satOff val="0"/>
              <a:lumOff val="0"/>
              <a:alphaOff val="0"/>
            </a:srgbClr>
          </a:solidFill>
          <a:prstDash val="solid"/>
          <a:miter lim="800000"/>
        </a:ln>
        <a:effectLst/>
      </dgm:spPr>
      <dgm:t>
        <a:bodyPr/>
        <a:lstStyle/>
        <a:p>
          <a:pPr>
            <a:buNone/>
          </a:pPr>
          <a:r>
            <a:rPr lang="en-US" dirty="0">
              <a:solidFill>
                <a:sysClr val="window" lastClr="FFFFFF"/>
              </a:solidFill>
              <a:latin typeface="Tahoma" panose="020B0604030504040204" pitchFamily="34" charset="0"/>
              <a:ea typeface="Tahoma" panose="020B0604030504040204" pitchFamily="34" charset="0"/>
              <a:cs typeface="Tahoma" panose="020B0604030504040204" pitchFamily="34" charset="0"/>
            </a:rPr>
            <a:t>Defects are covered under the warranty and will be fixed based on the priority of the issue</a:t>
          </a:r>
        </a:p>
      </dgm:t>
    </dgm:pt>
    <dgm:pt modelId="{183DFCC3-8C28-4A6A-B7C1-20E1BFC0CC8D}" type="parTrans" cxnId="{3D5D2359-C3A2-4CB7-AA96-E42C1CA14317}">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3E0B0308-232F-4C68-90EB-2196527AB25D}" type="sibTrans" cxnId="{3D5D2359-C3A2-4CB7-AA96-E42C1CA14317}">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955CB79F-8DFD-4F83-B58E-D103E9865BCF}">
      <dgm:prSet phldrT="[Text]" custT="1"/>
      <dgm:spPr>
        <a:xfrm>
          <a:off x="3912073" y="432355"/>
          <a:ext cx="3431232" cy="857808"/>
        </a:xfrm>
        <a:prstGeom prst="roundRect">
          <a:avLst>
            <a:gd name="adj" fmla="val 10000"/>
          </a:avLst>
        </a:prstGeom>
        <a:solidFill>
          <a:srgbClr val="166FBC"/>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24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Change Request (Enhancement)</a:t>
          </a:r>
        </a:p>
      </dgm:t>
    </dgm:pt>
    <dgm:pt modelId="{84E0AAE9-0FB5-428E-87FC-61DCD6952E1A}" type="parTrans" cxnId="{A6191A7E-3165-4138-AB38-4039663E09E7}">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BABA14C4-C14F-48A3-AFC8-34C3BD84EBEA}" type="sibTrans" cxnId="{A6191A7E-3165-4138-AB38-4039663E09E7}">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96E963F7-8ADA-44CF-83C3-F78B2E496A8C}">
      <dgm:prSet phldrT="[Text]"/>
      <dgm:spPr>
        <a:xfrm>
          <a:off x="3912073" y="1590395"/>
          <a:ext cx="3431232" cy="857808"/>
        </a:xfrm>
        <a:prstGeom prst="roundRect">
          <a:avLst>
            <a:gd name="adj" fmla="val 10000"/>
          </a:avLst>
        </a:prstGeom>
        <a:solidFill>
          <a:srgbClr val="F27228"/>
        </a:solidFill>
        <a:ln w="12700" cap="flat" cmpd="sng" algn="ctr">
          <a:solidFill>
            <a:srgbClr val="70AD47">
              <a:alpha val="90000"/>
              <a:tint val="40000"/>
              <a:hueOff val="0"/>
              <a:satOff val="0"/>
              <a:lumOff val="0"/>
              <a:alphaOff val="0"/>
            </a:srgbClr>
          </a:solidFill>
          <a:prstDash val="solid"/>
          <a:miter lim="800000"/>
        </a:ln>
        <a:effectLst/>
      </dgm:spPr>
      <dgm:t>
        <a:bodyPr/>
        <a:lstStyle/>
        <a:p>
          <a:pPr>
            <a:buNone/>
          </a:pPr>
          <a:r>
            <a:rPr lang="en-US"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Change Requests are updates to the requirements</a:t>
          </a:r>
        </a:p>
      </dgm:t>
    </dgm:pt>
    <dgm:pt modelId="{382D2C84-5AA7-4513-8904-62AF4A9A8500}" type="parTrans" cxnId="{6F0093B4-7378-40AF-BD15-2EA6B33C3160}">
      <dgm:prSet/>
      <dgm:spPr>
        <a:xfrm rot="5400000">
          <a:off x="5552631" y="1365221"/>
          <a:ext cx="150116" cy="150116"/>
        </a:xfrm>
        <a:prstGeom prst="rightArrow">
          <a:avLst>
            <a:gd name="adj1" fmla="val 66700"/>
            <a:gd name="adj2" fmla="val 50000"/>
          </a:avLst>
        </a:prstGeom>
        <a:solidFill>
          <a:srgbClr val="FF0000"/>
        </a:solidFill>
        <a:ln>
          <a:noFill/>
        </a:ln>
        <a:effectLs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A895A4EE-EF32-410F-9FE7-AA9348D4EBFA}" type="sibTrans" cxnId="{6F0093B4-7378-40AF-BD15-2EA6B33C3160}">
      <dgm:prSet/>
      <dgm:spPr>
        <a:xfrm rot="5400000">
          <a:off x="5552631" y="2523262"/>
          <a:ext cx="150116" cy="150116"/>
        </a:xfrm>
        <a:prstGeom prst="rightArrow">
          <a:avLst>
            <a:gd name="adj1" fmla="val 66700"/>
            <a:gd name="adj2" fmla="val 50000"/>
          </a:avLst>
        </a:prstGeom>
        <a:solidFill>
          <a:srgbClr val="FF0000"/>
        </a:solidFill>
        <a:ln>
          <a:noFill/>
        </a:ln>
        <a:effectLs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691CA823-B206-47F7-8388-911403F5ECE2}">
      <dgm:prSet phldrT="[Text]"/>
      <dgm:spPr>
        <a:xfrm>
          <a:off x="3912073" y="2748436"/>
          <a:ext cx="3431232" cy="857808"/>
        </a:xfrm>
        <a:prstGeom prst="roundRect">
          <a:avLst>
            <a:gd name="adj" fmla="val 10000"/>
          </a:avLst>
        </a:prstGeom>
        <a:solidFill>
          <a:srgbClr val="24B24B"/>
        </a:solidFill>
        <a:ln w="12700" cap="flat" cmpd="sng" algn="ctr">
          <a:solidFill>
            <a:srgbClr val="70AD47">
              <a:alpha val="90000"/>
              <a:tint val="40000"/>
              <a:hueOff val="0"/>
              <a:satOff val="0"/>
              <a:lumOff val="0"/>
              <a:alphaOff val="0"/>
            </a:srgbClr>
          </a:solidFill>
          <a:prstDash val="solid"/>
          <a:miter lim="800000"/>
        </a:ln>
        <a:effectLst/>
      </dgm:spPr>
      <dgm:t>
        <a:bodyPr/>
        <a:lstStyle/>
        <a:p>
          <a:pPr>
            <a:buNone/>
          </a:pPr>
          <a:r>
            <a:rPr lang="en-US" dirty="0">
              <a:solidFill>
                <a:sysClr val="window" lastClr="FFFFFF"/>
              </a:solidFill>
              <a:latin typeface="Tahoma" panose="020B0604030504040204" pitchFamily="34" charset="0"/>
              <a:ea typeface="Tahoma" panose="020B0604030504040204" pitchFamily="34" charset="0"/>
              <a:cs typeface="Tahoma" panose="020B0604030504040204" pitchFamily="34" charset="0"/>
            </a:rPr>
            <a:t>FPT will estimate the effort involved to implement the request and obtain approval for the additional cost</a:t>
          </a:r>
        </a:p>
      </dgm:t>
    </dgm:pt>
    <dgm:pt modelId="{5E6B796B-D929-4A42-AE7C-DC2A6350DACC}" type="parTrans" cxnId="{69E964D1-9027-46DF-A37B-6714CE157CD9}">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DED6BBF5-6260-4A75-A3E5-400A79EDBCB6}" type="sibTrans" cxnId="{69E964D1-9027-46DF-A37B-6714CE157CD9}">
      <dgm:prSet/>
      <dgm:spPr/>
      <dgm:t>
        <a:bodyPr/>
        <a:lstStyle/>
        <a:p>
          <a:endParaRPr lang="en-US">
            <a:latin typeface="Tahoma" panose="020B0604030504040204" pitchFamily="34" charset="0"/>
            <a:ea typeface="Tahoma" panose="020B0604030504040204" pitchFamily="34" charset="0"/>
            <a:cs typeface="Tahoma" panose="020B0604030504040204" pitchFamily="34" charset="0"/>
          </a:endParaRPr>
        </a:p>
      </dgm:t>
    </dgm:pt>
    <dgm:pt modelId="{7D6E3470-E65D-46A8-A231-FA01DB9C7B45}" type="pres">
      <dgm:prSet presAssocID="{EE1FDFD8-C670-47CB-B19C-10D4140014FB}" presName="Name0" presStyleCnt="0">
        <dgm:presLayoutVars>
          <dgm:dir/>
          <dgm:animLvl val="lvl"/>
          <dgm:resizeHandles val="exact"/>
        </dgm:presLayoutVars>
      </dgm:prSet>
      <dgm:spPr/>
    </dgm:pt>
    <dgm:pt modelId="{87A5F4EA-BC8C-43D7-9BA9-BCED82E7AD0E}" type="pres">
      <dgm:prSet presAssocID="{0B08EB7F-E91B-4FF1-ACD1-68F53D4E1075}" presName="vertFlow" presStyleCnt="0"/>
      <dgm:spPr/>
    </dgm:pt>
    <dgm:pt modelId="{DE0B0B9B-6E72-40F4-B575-796AB9516786}" type="pres">
      <dgm:prSet presAssocID="{0B08EB7F-E91B-4FF1-ACD1-68F53D4E1075}" presName="header" presStyleLbl="node1" presStyleIdx="0" presStyleCnt="2"/>
      <dgm:spPr/>
    </dgm:pt>
    <dgm:pt modelId="{93DB77A2-7926-41B2-92D6-FD498C8B486F}" type="pres">
      <dgm:prSet presAssocID="{245DB702-3283-45C6-AE5B-069BEF70FCF7}" presName="parTrans" presStyleLbl="sibTrans2D1" presStyleIdx="0" presStyleCnt="4"/>
      <dgm:spPr/>
    </dgm:pt>
    <dgm:pt modelId="{6310C7BF-5B49-4311-BF42-46947C8E733C}" type="pres">
      <dgm:prSet presAssocID="{E1D09C46-3527-4614-93EC-64D032A4F414}" presName="child" presStyleLbl="alignAccFollowNode1" presStyleIdx="0" presStyleCnt="4">
        <dgm:presLayoutVars>
          <dgm:chMax val="0"/>
          <dgm:bulletEnabled val="1"/>
        </dgm:presLayoutVars>
      </dgm:prSet>
      <dgm:spPr/>
    </dgm:pt>
    <dgm:pt modelId="{DEFA68D0-E374-422F-84B5-AE66B04151E9}" type="pres">
      <dgm:prSet presAssocID="{73DAECD1-3338-4E47-A3CA-2C9AD23653E9}" presName="sibTrans" presStyleLbl="sibTrans2D1" presStyleIdx="1" presStyleCnt="4"/>
      <dgm:spPr/>
    </dgm:pt>
    <dgm:pt modelId="{DDC63260-FAD0-4CE9-89F9-83A68E3D5598}" type="pres">
      <dgm:prSet presAssocID="{80980F19-D8B2-4AEC-84F2-7F61A3911789}" presName="child" presStyleLbl="alignAccFollowNode1" presStyleIdx="1" presStyleCnt="4">
        <dgm:presLayoutVars>
          <dgm:chMax val="0"/>
          <dgm:bulletEnabled val="1"/>
        </dgm:presLayoutVars>
      </dgm:prSet>
      <dgm:spPr/>
    </dgm:pt>
    <dgm:pt modelId="{4E109B03-073D-4468-93A1-732A5C49956E}" type="pres">
      <dgm:prSet presAssocID="{0B08EB7F-E91B-4FF1-ACD1-68F53D4E1075}" presName="hSp" presStyleCnt="0"/>
      <dgm:spPr/>
    </dgm:pt>
    <dgm:pt modelId="{7070D7D0-4F72-4418-A3E1-3B31819A61A3}" type="pres">
      <dgm:prSet presAssocID="{955CB79F-8DFD-4F83-B58E-D103E9865BCF}" presName="vertFlow" presStyleCnt="0"/>
      <dgm:spPr/>
    </dgm:pt>
    <dgm:pt modelId="{83AD8AD1-863F-4EE6-B770-981B1E063FE7}" type="pres">
      <dgm:prSet presAssocID="{955CB79F-8DFD-4F83-B58E-D103E9865BCF}" presName="header" presStyleLbl="node1" presStyleIdx="1" presStyleCnt="2"/>
      <dgm:spPr/>
    </dgm:pt>
    <dgm:pt modelId="{09263423-3AA0-4132-AFC2-9CBF327ED544}" type="pres">
      <dgm:prSet presAssocID="{382D2C84-5AA7-4513-8904-62AF4A9A8500}" presName="parTrans" presStyleLbl="sibTrans2D1" presStyleIdx="2" presStyleCnt="4"/>
      <dgm:spPr/>
    </dgm:pt>
    <dgm:pt modelId="{F8C361CC-CBD8-4BA2-B65D-A76187F11565}" type="pres">
      <dgm:prSet presAssocID="{96E963F7-8ADA-44CF-83C3-F78B2E496A8C}" presName="child" presStyleLbl="alignAccFollowNode1" presStyleIdx="2" presStyleCnt="4">
        <dgm:presLayoutVars>
          <dgm:chMax val="0"/>
          <dgm:bulletEnabled val="1"/>
        </dgm:presLayoutVars>
      </dgm:prSet>
      <dgm:spPr/>
    </dgm:pt>
    <dgm:pt modelId="{6844116F-2BC9-40B3-9BD9-E408F272E137}" type="pres">
      <dgm:prSet presAssocID="{A895A4EE-EF32-410F-9FE7-AA9348D4EBFA}" presName="sibTrans" presStyleLbl="sibTrans2D1" presStyleIdx="3" presStyleCnt="4"/>
      <dgm:spPr/>
    </dgm:pt>
    <dgm:pt modelId="{FBF2C257-0536-4D2F-87BE-57DDA105221C}" type="pres">
      <dgm:prSet presAssocID="{691CA823-B206-47F7-8388-911403F5ECE2}" presName="child" presStyleLbl="alignAccFollowNode1" presStyleIdx="3" presStyleCnt="4">
        <dgm:presLayoutVars>
          <dgm:chMax val="0"/>
          <dgm:bulletEnabled val="1"/>
        </dgm:presLayoutVars>
      </dgm:prSet>
      <dgm:spPr/>
    </dgm:pt>
  </dgm:ptLst>
  <dgm:cxnLst>
    <dgm:cxn modelId="{19CA9105-8DF6-42D6-83DB-0C5FF4F57B2D}" type="presOf" srcId="{EE1FDFD8-C670-47CB-B19C-10D4140014FB}" destId="{7D6E3470-E65D-46A8-A231-FA01DB9C7B45}" srcOrd="0" destOrd="0" presId="urn:microsoft.com/office/officeart/2005/8/layout/lProcess1"/>
    <dgm:cxn modelId="{6118810D-9F1B-4A6F-9156-9F6B7357C884}" type="presOf" srcId="{382D2C84-5AA7-4513-8904-62AF4A9A8500}" destId="{09263423-3AA0-4132-AFC2-9CBF327ED544}" srcOrd="0" destOrd="0" presId="urn:microsoft.com/office/officeart/2005/8/layout/lProcess1"/>
    <dgm:cxn modelId="{64D33610-B60B-4545-BF39-4C0566EA7B65}" srcId="{EE1FDFD8-C670-47CB-B19C-10D4140014FB}" destId="{0B08EB7F-E91B-4FF1-ACD1-68F53D4E1075}" srcOrd="0" destOrd="0" parTransId="{B8DCA103-8656-46C5-AD8F-FA42630BD426}" sibTransId="{1C05974E-5739-4667-B1DD-469E666C0C47}"/>
    <dgm:cxn modelId="{C8544A14-6440-4F61-AFDD-C7536FAC16EC}" type="presOf" srcId="{691CA823-B206-47F7-8388-911403F5ECE2}" destId="{FBF2C257-0536-4D2F-87BE-57DDA105221C}" srcOrd="0" destOrd="0" presId="urn:microsoft.com/office/officeart/2005/8/layout/lProcess1"/>
    <dgm:cxn modelId="{CE0E2D1D-1DB1-4828-8E08-D7A6E80DA0C8}" type="presOf" srcId="{73DAECD1-3338-4E47-A3CA-2C9AD23653E9}" destId="{DEFA68D0-E374-422F-84B5-AE66B04151E9}" srcOrd="0" destOrd="0" presId="urn:microsoft.com/office/officeart/2005/8/layout/lProcess1"/>
    <dgm:cxn modelId="{26C4B225-ACA8-42C2-AD20-4DA6B2064587}" type="presOf" srcId="{245DB702-3283-45C6-AE5B-069BEF70FCF7}" destId="{93DB77A2-7926-41B2-92D6-FD498C8B486F}" srcOrd="0" destOrd="0" presId="urn:microsoft.com/office/officeart/2005/8/layout/lProcess1"/>
    <dgm:cxn modelId="{E24EDF30-2C08-4AD3-9CE6-D1DA2A8BD174}" type="presOf" srcId="{A895A4EE-EF32-410F-9FE7-AA9348D4EBFA}" destId="{6844116F-2BC9-40B3-9BD9-E408F272E137}" srcOrd="0" destOrd="0" presId="urn:microsoft.com/office/officeart/2005/8/layout/lProcess1"/>
    <dgm:cxn modelId="{BFE37A37-E19F-40D1-B1BB-96FF7F87C707}" type="presOf" srcId="{955CB79F-8DFD-4F83-B58E-D103E9865BCF}" destId="{83AD8AD1-863F-4EE6-B770-981B1E063FE7}" srcOrd="0" destOrd="0" presId="urn:microsoft.com/office/officeart/2005/8/layout/lProcess1"/>
    <dgm:cxn modelId="{B4EE2866-480D-4A0F-AB1C-0F938AB9BBD3}" type="presOf" srcId="{0B08EB7F-E91B-4FF1-ACD1-68F53D4E1075}" destId="{DE0B0B9B-6E72-40F4-B575-796AB9516786}" srcOrd="0" destOrd="0" presId="urn:microsoft.com/office/officeart/2005/8/layout/lProcess1"/>
    <dgm:cxn modelId="{F2A79F4F-4573-43F5-9974-51420BE7BCD1}" srcId="{0B08EB7F-E91B-4FF1-ACD1-68F53D4E1075}" destId="{E1D09C46-3527-4614-93EC-64D032A4F414}" srcOrd="0" destOrd="0" parTransId="{245DB702-3283-45C6-AE5B-069BEF70FCF7}" sibTransId="{73DAECD1-3338-4E47-A3CA-2C9AD23653E9}"/>
    <dgm:cxn modelId="{C042A376-8F8C-412E-93F5-899B3726DA2F}" type="presOf" srcId="{96E963F7-8ADA-44CF-83C3-F78B2E496A8C}" destId="{F8C361CC-CBD8-4BA2-B65D-A76187F11565}" srcOrd="0" destOrd="0" presId="urn:microsoft.com/office/officeart/2005/8/layout/lProcess1"/>
    <dgm:cxn modelId="{3D5D2359-C3A2-4CB7-AA96-E42C1CA14317}" srcId="{0B08EB7F-E91B-4FF1-ACD1-68F53D4E1075}" destId="{80980F19-D8B2-4AEC-84F2-7F61A3911789}" srcOrd="1" destOrd="0" parTransId="{183DFCC3-8C28-4A6A-B7C1-20E1BFC0CC8D}" sibTransId="{3E0B0308-232F-4C68-90EB-2196527AB25D}"/>
    <dgm:cxn modelId="{A6191A7E-3165-4138-AB38-4039663E09E7}" srcId="{EE1FDFD8-C670-47CB-B19C-10D4140014FB}" destId="{955CB79F-8DFD-4F83-B58E-D103E9865BCF}" srcOrd="1" destOrd="0" parTransId="{84E0AAE9-0FB5-428E-87FC-61DCD6952E1A}" sibTransId="{BABA14C4-C14F-48A3-AFC8-34C3BD84EBEA}"/>
    <dgm:cxn modelId="{28592A80-6D27-4DF9-91DC-7293E0FE42D2}" type="presOf" srcId="{80980F19-D8B2-4AEC-84F2-7F61A3911789}" destId="{DDC63260-FAD0-4CE9-89F9-83A68E3D5598}" srcOrd="0" destOrd="0" presId="urn:microsoft.com/office/officeart/2005/8/layout/lProcess1"/>
    <dgm:cxn modelId="{6F0093B4-7378-40AF-BD15-2EA6B33C3160}" srcId="{955CB79F-8DFD-4F83-B58E-D103E9865BCF}" destId="{96E963F7-8ADA-44CF-83C3-F78B2E496A8C}" srcOrd="0" destOrd="0" parTransId="{382D2C84-5AA7-4513-8904-62AF4A9A8500}" sibTransId="{A895A4EE-EF32-410F-9FE7-AA9348D4EBFA}"/>
    <dgm:cxn modelId="{69E964D1-9027-46DF-A37B-6714CE157CD9}" srcId="{955CB79F-8DFD-4F83-B58E-D103E9865BCF}" destId="{691CA823-B206-47F7-8388-911403F5ECE2}" srcOrd="1" destOrd="0" parTransId="{5E6B796B-D929-4A42-AE7C-DC2A6350DACC}" sibTransId="{DED6BBF5-6260-4A75-A3E5-400A79EDBCB6}"/>
    <dgm:cxn modelId="{9CD3A6E9-43E5-43D2-A736-DFD9BA648C6D}" type="presOf" srcId="{E1D09C46-3527-4614-93EC-64D032A4F414}" destId="{6310C7BF-5B49-4311-BF42-46947C8E733C}" srcOrd="0" destOrd="0" presId="urn:microsoft.com/office/officeart/2005/8/layout/lProcess1"/>
    <dgm:cxn modelId="{E3A3ED44-4D96-47BC-8A65-0FF180EF9BD6}" type="presParOf" srcId="{7D6E3470-E65D-46A8-A231-FA01DB9C7B45}" destId="{87A5F4EA-BC8C-43D7-9BA9-BCED82E7AD0E}" srcOrd="0" destOrd="0" presId="urn:microsoft.com/office/officeart/2005/8/layout/lProcess1"/>
    <dgm:cxn modelId="{6EB9EFE3-CB7E-431C-8BB5-4E817E1BDCCE}" type="presParOf" srcId="{87A5F4EA-BC8C-43D7-9BA9-BCED82E7AD0E}" destId="{DE0B0B9B-6E72-40F4-B575-796AB9516786}" srcOrd="0" destOrd="0" presId="urn:microsoft.com/office/officeart/2005/8/layout/lProcess1"/>
    <dgm:cxn modelId="{EAC87D22-3597-46CC-BB15-B8B8119D62ED}" type="presParOf" srcId="{87A5F4EA-BC8C-43D7-9BA9-BCED82E7AD0E}" destId="{93DB77A2-7926-41B2-92D6-FD498C8B486F}" srcOrd="1" destOrd="0" presId="urn:microsoft.com/office/officeart/2005/8/layout/lProcess1"/>
    <dgm:cxn modelId="{7FA06236-6F4D-46C1-AB82-BB4E7C04FB5D}" type="presParOf" srcId="{87A5F4EA-BC8C-43D7-9BA9-BCED82E7AD0E}" destId="{6310C7BF-5B49-4311-BF42-46947C8E733C}" srcOrd="2" destOrd="0" presId="urn:microsoft.com/office/officeart/2005/8/layout/lProcess1"/>
    <dgm:cxn modelId="{D97753B7-2304-48C5-8E9A-BBAEB19894F3}" type="presParOf" srcId="{87A5F4EA-BC8C-43D7-9BA9-BCED82E7AD0E}" destId="{DEFA68D0-E374-422F-84B5-AE66B04151E9}" srcOrd="3" destOrd="0" presId="urn:microsoft.com/office/officeart/2005/8/layout/lProcess1"/>
    <dgm:cxn modelId="{9B0191DD-3FFB-43D3-8493-E96E8A452E7E}" type="presParOf" srcId="{87A5F4EA-BC8C-43D7-9BA9-BCED82E7AD0E}" destId="{DDC63260-FAD0-4CE9-89F9-83A68E3D5598}" srcOrd="4" destOrd="0" presId="urn:microsoft.com/office/officeart/2005/8/layout/lProcess1"/>
    <dgm:cxn modelId="{64C94D40-2115-452A-9064-470023F8267A}" type="presParOf" srcId="{7D6E3470-E65D-46A8-A231-FA01DB9C7B45}" destId="{4E109B03-073D-4468-93A1-732A5C49956E}" srcOrd="1" destOrd="0" presId="urn:microsoft.com/office/officeart/2005/8/layout/lProcess1"/>
    <dgm:cxn modelId="{B5983CA1-1B40-4702-8546-B98567855C33}" type="presParOf" srcId="{7D6E3470-E65D-46A8-A231-FA01DB9C7B45}" destId="{7070D7D0-4F72-4418-A3E1-3B31819A61A3}" srcOrd="2" destOrd="0" presId="urn:microsoft.com/office/officeart/2005/8/layout/lProcess1"/>
    <dgm:cxn modelId="{7F4B0E72-1EAE-40B0-A1A9-E8AEA4304C1A}" type="presParOf" srcId="{7070D7D0-4F72-4418-A3E1-3B31819A61A3}" destId="{83AD8AD1-863F-4EE6-B770-981B1E063FE7}" srcOrd="0" destOrd="0" presId="urn:microsoft.com/office/officeart/2005/8/layout/lProcess1"/>
    <dgm:cxn modelId="{3EE5A9A8-9FD6-494F-9CEB-8A00F4D6246E}" type="presParOf" srcId="{7070D7D0-4F72-4418-A3E1-3B31819A61A3}" destId="{09263423-3AA0-4132-AFC2-9CBF327ED544}" srcOrd="1" destOrd="0" presId="urn:microsoft.com/office/officeart/2005/8/layout/lProcess1"/>
    <dgm:cxn modelId="{E9E75231-507D-45A2-B36D-009B9C4084BD}" type="presParOf" srcId="{7070D7D0-4F72-4418-A3E1-3B31819A61A3}" destId="{F8C361CC-CBD8-4BA2-B65D-A76187F11565}" srcOrd="2" destOrd="0" presId="urn:microsoft.com/office/officeart/2005/8/layout/lProcess1"/>
    <dgm:cxn modelId="{441443DE-0546-4C9B-A23B-138190B1446D}" type="presParOf" srcId="{7070D7D0-4F72-4418-A3E1-3B31819A61A3}" destId="{6844116F-2BC9-40B3-9BD9-E408F272E137}" srcOrd="3" destOrd="0" presId="urn:microsoft.com/office/officeart/2005/8/layout/lProcess1"/>
    <dgm:cxn modelId="{AE7D5E02-EB3F-4BA7-98AE-ECA2DE6315E1}" type="presParOf" srcId="{7070D7D0-4F72-4418-A3E1-3B31819A61A3}" destId="{FBF2C257-0536-4D2F-87BE-57DDA105221C}" srcOrd="4" destOrd="0" presId="urn:microsoft.com/office/officeart/2005/8/layout/lProcess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F302189E-4B3B-46FA-943D-E41C3FB2D345}" type="doc">
      <dgm:prSet loTypeId="urn:microsoft.com/office/officeart/2005/8/layout/process4" loCatId="list" qsTypeId="urn:microsoft.com/office/officeart/2005/8/quickstyle/simple1" qsCatId="simple" csTypeId="urn:microsoft.com/office/officeart/2005/8/colors/colorful2" csCatId="colorful" phldr="1"/>
      <dgm:spPr/>
      <dgm:t>
        <a:bodyPr/>
        <a:lstStyle/>
        <a:p>
          <a:endParaRPr lang="en-US"/>
        </a:p>
      </dgm:t>
    </dgm:pt>
    <dgm:pt modelId="{DAA767EA-1A25-4046-BCF3-9508EC0779EF}">
      <dgm:prSet phldrT="[Text]" custT="1"/>
      <dgm:spPr>
        <a:xfrm rot="10800000">
          <a:off x="0" y="757"/>
          <a:ext cx="6242687" cy="615063"/>
        </a:xfrm>
        <a:prstGeom prst="upArrowCallout">
          <a:avLst/>
        </a:prstGeom>
        <a:solidFill>
          <a:srgbClr val="ED7D31">
            <a:hueOff val="-1455363"/>
            <a:satOff val="-83928"/>
            <a:lumOff val="8628"/>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300" b="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Level 1 Escalation (In Team)</a:t>
          </a:r>
        </a:p>
      </dgm:t>
    </dgm:pt>
    <dgm:pt modelId="{2EDB86FA-CC47-40D0-AF0F-B114F82B5DFD}" type="parTrans" cxnId="{CCEBB119-42E7-4B70-98A2-042CE5B0E1B7}">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3EB4BE76-F5A5-40FF-A420-10D8FEEB9879}" type="sibTrans" cxnId="{CCEBB119-42E7-4B70-98A2-042CE5B0E1B7}">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9A6B419A-17D2-4F2B-88EB-C0698E1A3F12}">
      <dgm:prSet phldrT="[Text]" custT="1"/>
      <dgm:spPr>
        <a:xfrm>
          <a:off x="0" y="216645"/>
          <a:ext cx="3121343" cy="183904"/>
        </a:xfrm>
        <a:prstGeom prst="rect">
          <a:avLst/>
        </a:prstGeom>
        <a:solidFill>
          <a:srgbClr val="ED7D31">
            <a:tint val="40000"/>
            <a:alpha val="90000"/>
            <a:hueOff val="-727908"/>
            <a:satOff val="-64582"/>
            <a:lumOff val="-659"/>
            <a:alphaOff val="0"/>
          </a:srgbClr>
        </a:solidFill>
        <a:ln w="12700" cap="flat" cmpd="sng" algn="ctr">
          <a:solidFill>
            <a:srgbClr val="ED7D31">
              <a:tint val="40000"/>
              <a:alpha val="90000"/>
              <a:hueOff val="-727908"/>
              <a:satOff val="-64582"/>
              <a:lumOff val="-659"/>
              <a:alphaOff val="0"/>
            </a:srgbClr>
          </a:solidFill>
          <a:prstDash val="solid"/>
          <a:miter lim="800000"/>
        </a:ln>
        <a:effectLst/>
      </dgm:spPr>
      <dgm:t>
        <a:bodyPr/>
        <a:lstStyle/>
        <a:p>
          <a:pPr>
            <a:buNone/>
          </a:pPr>
          <a:r>
            <a:rPr lang="en-US" sz="1300" b="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Manager/Customer</a:t>
          </a:r>
        </a:p>
      </dgm:t>
    </dgm:pt>
    <dgm:pt modelId="{B88F45C7-6DD4-4619-82D6-614D93926D79}" type="parTrans" cxnId="{869129F4-CBB3-4B51-87B1-9BA12CF0CE12}">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F310FBC6-9045-435C-A28B-F65773EECF21}" type="sibTrans" cxnId="{869129F4-CBB3-4B51-87B1-9BA12CF0CE12}">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C4DF1CC8-8ADD-4FB2-B74B-3E26942AF827}">
      <dgm:prSet phldrT="[Text]" custT="1"/>
      <dgm:spPr>
        <a:xfrm>
          <a:off x="3121343" y="216645"/>
          <a:ext cx="3121343" cy="183904"/>
        </a:xfrm>
        <a:prstGeom prst="rect">
          <a:avLst/>
        </a:prstGeom>
        <a:solidFill>
          <a:srgbClr val="ED7D31">
            <a:tint val="40000"/>
            <a:alpha val="90000"/>
            <a:hueOff val="-849226"/>
            <a:satOff val="-75346"/>
            <a:lumOff val="-769"/>
            <a:alphaOff val="0"/>
          </a:srgbClr>
        </a:solidFill>
        <a:ln w="12700" cap="flat" cmpd="sng" algn="ctr">
          <a:solidFill>
            <a:srgbClr val="ED7D31">
              <a:tint val="40000"/>
              <a:alpha val="90000"/>
              <a:hueOff val="-849226"/>
              <a:satOff val="-75346"/>
              <a:lumOff val="-769"/>
              <a:alphaOff val="0"/>
            </a:srgbClr>
          </a:solidFill>
          <a:prstDash val="solid"/>
          <a:miter lim="800000"/>
        </a:ln>
        <a:effectLst/>
      </dgm:spPr>
      <dgm:t>
        <a:bodyPr/>
        <a:lstStyle/>
        <a:p>
          <a:pPr>
            <a:buNone/>
          </a:pPr>
          <a:r>
            <a:rPr lang="en-US" sz="1300" b="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Email/Phone/Chat</a:t>
          </a:r>
        </a:p>
      </dgm:t>
    </dgm:pt>
    <dgm:pt modelId="{3DDC32BD-A92D-4FC9-B3DF-55378B88063E}" type="parTrans" cxnId="{E177F3FF-3D14-4D32-99E2-91E3EE236ED4}">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0B6C26F7-E7DC-4252-BA0C-2D2ACABC379F}" type="sibTrans" cxnId="{E177F3FF-3D14-4D32-99E2-91E3EE236ED4}">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1351FEDA-C057-465B-9CB2-830D37F4BD14}">
      <dgm:prSet phldrT="[Text]" custT="1"/>
      <dgm:spPr>
        <a:xfrm rot="10800000">
          <a:off x="0" y="609822"/>
          <a:ext cx="6242687" cy="615063"/>
        </a:xfrm>
        <a:prstGeom prst="upArrowCallout">
          <a:avLst/>
        </a:prstGeom>
        <a:solidFill>
          <a:srgbClr val="ED7D31">
            <a:hueOff val="-970242"/>
            <a:satOff val="-55952"/>
            <a:lumOff val="5752"/>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300" b="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Level 2 Escalation (In Project)</a:t>
          </a:r>
        </a:p>
      </dgm:t>
    </dgm:pt>
    <dgm:pt modelId="{0831A0EE-26B4-40DF-A8CF-30864EF09147}" type="parTrans" cxnId="{99CA8024-01F6-4AD4-BD3D-480AFE123AB1}">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AC207D00-7D3C-4D7C-8454-9B57B9A57B87}" type="sibTrans" cxnId="{99CA8024-01F6-4AD4-BD3D-480AFE123AB1}">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B7C4C350-601A-4FE1-9167-DE04D0C77130}">
      <dgm:prSet phldrT="[Text]" custT="1"/>
      <dgm:spPr>
        <a:xfrm>
          <a:off x="0" y="825710"/>
          <a:ext cx="3121343" cy="183904"/>
        </a:xfrm>
        <a:prstGeom prst="rect">
          <a:avLst/>
        </a:prstGeom>
        <a:solidFill>
          <a:srgbClr val="ED7D31">
            <a:tint val="40000"/>
            <a:alpha val="90000"/>
            <a:hueOff val="-485272"/>
            <a:satOff val="-43055"/>
            <a:lumOff val="-439"/>
            <a:alphaOff val="0"/>
          </a:srgbClr>
        </a:solidFill>
        <a:ln w="12700" cap="flat" cmpd="sng" algn="ctr">
          <a:solidFill>
            <a:srgbClr val="ED7D31">
              <a:tint val="40000"/>
              <a:alpha val="90000"/>
              <a:hueOff val="-485272"/>
              <a:satOff val="-43055"/>
              <a:lumOff val="-439"/>
              <a:alphaOff val="0"/>
            </a:srgbClr>
          </a:solidFill>
          <a:prstDash val="solid"/>
          <a:miter lim="800000"/>
        </a:ln>
        <a:effectLst/>
      </dgm:spPr>
      <dgm:t>
        <a:bodyPr/>
        <a:lstStyle/>
        <a:p>
          <a:pPr>
            <a:buNone/>
          </a:pPr>
          <a:r>
            <a:rPr lang="en-US" sz="1300" b="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    Onsite PM (FPT Korea) </a:t>
          </a:r>
        </a:p>
      </dgm:t>
    </dgm:pt>
    <dgm:pt modelId="{D02B2DC7-F0F1-43FD-BB1D-6358DCF2BA86}" type="parTrans" cxnId="{6B9F0EDE-B494-4A6F-895C-BD4D0B929D90}">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7C72CEA4-D8A3-4231-9168-805F40858325}" type="sibTrans" cxnId="{6B9F0EDE-B494-4A6F-895C-BD4D0B929D90}">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A003C630-1D5D-4893-86F8-9BE0575DD34C}">
      <dgm:prSet phldrT="[Text]" custT="1"/>
      <dgm:spPr>
        <a:xfrm>
          <a:off x="3121343" y="825710"/>
          <a:ext cx="3121343" cy="183904"/>
        </a:xfrm>
        <a:prstGeom prst="rect">
          <a:avLst/>
        </a:prstGeom>
        <a:solidFill>
          <a:srgbClr val="ED7D31">
            <a:tint val="40000"/>
            <a:alpha val="90000"/>
            <a:hueOff val="-606590"/>
            <a:satOff val="-53819"/>
            <a:lumOff val="-549"/>
            <a:alphaOff val="0"/>
          </a:srgbClr>
        </a:solidFill>
        <a:ln w="12700" cap="flat" cmpd="sng" algn="ctr">
          <a:solidFill>
            <a:srgbClr val="ED7D31">
              <a:tint val="40000"/>
              <a:alpha val="90000"/>
              <a:hueOff val="-606590"/>
              <a:satOff val="-53819"/>
              <a:lumOff val="-549"/>
              <a:alphaOff val="0"/>
            </a:srgbClr>
          </a:solidFill>
          <a:prstDash val="solid"/>
          <a:miter lim="800000"/>
        </a:ln>
        <a:effectLst/>
      </dgm:spPr>
      <dgm:t>
        <a:bodyPr/>
        <a:lstStyle/>
        <a:p>
          <a:pPr>
            <a:buNone/>
          </a:pPr>
          <a:r>
            <a:rPr lang="en-US" sz="1300" b="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Email/Phone/Chat</a:t>
          </a:r>
        </a:p>
      </dgm:t>
    </dgm:pt>
    <dgm:pt modelId="{990BD7C9-A704-4BDC-A142-EA1866B1AC4A}" type="parTrans" cxnId="{B39427B7-BEA1-4690-A5F0-2F3C388D13E4}">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F3EF8EC1-EA42-49D2-BCF4-5D2A72ED42D9}" type="sibTrans" cxnId="{B39427B7-BEA1-4690-A5F0-2F3C388D13E4}">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34F3540F-003A-4CD7-AB2F-6A706411655D}">
      <dgm:prSet phldrT="[Text]" custT="1"/>
      <dgm:spPr>
        <a:xfrm rot="10800000">
          <a:off x="0" y="1218887"/>
          <a:ext cx="6242687" cy="615063"/>
        </a:xfrm>
        <a:prstGeom prst="upArrowCallout">
          <a:avLst/>
        </a:prstGeom>
        <a:solidFill>
          <a:srgbClr val="ED7D31">
            <a:hueOff val="-485121"/>
            <a:satOff val="-27976"/>
            <a:lumOff val="2876"/>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300" b="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Level 3 Escalation (Out of Project)</a:t>
          </a:r>
        </a:p>
      </dgm:t>
    </dgm:pt>
    <dgm:pt modelId="{FA352730-A3E6-461D-B847-2DC2D2100870}" type="parTrans" cxnId="{DB225B25-8161-4E2A-8F94-76718E5292AD}">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AB9DD5E4-731E-4CF7-8BD7-A22381C921D0}" type="sibTrans" cxnId="{DB225B25-8161-4E2A-8F94-76718E5292AD}">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082B83FD-91C0-4F78-8A47-B1CA50AF9EFE}">
      <dgm:prSet phldrT="[Text]" custT="1"/>
      <dgm:spPr>
        <a:xfrm>
          <a:off x="0" y="1434775"/>
          <a:ext cx="3121343" cy="183904"/>
        </a:xfrm>
        <a:prstGeom prst="rect">
          <a:avLst/>
        </a:prstGeom>
        <a:solidFill>
          <a:srgbClr val="ED7D31">
            <a:tint val="40000"/>
            <a:alpha val="90000"/>
            <a:hueOff val="-242636"/>
            <a:satOff val="-21527"/>
            <a:lumOff val="-220"/>
            <a:alphaOff val="0"/>
          </a:srgbClr>
        </a:solidFill>
        <a:ln w="12700" cap="flat" cmpd="sng" algn="ctr">
          <a:solidFill>
            <a:srgbClr val="ED7D31">
              <a:tint val="40000"/>
              <a:alpha val="90000"/>
              <a:hueOff val="-242636"/>
              <a:satOff val="-21527"/>
              <a:lumOff val="-220"/>
              <a:alphaOff val="0"/>
            </a:srgbClr>
          </a:solidFill>
          <a:prstDash val="solid"/>
          <a:miter lim="800000"/>
        </a:ln>
        <a:effectLst/>
      </dgm:spPr>
      <dgm:t>
        <a:bodyPr/>
        <a:lstStyle/>
        <a:p>
          <a:pPr>
            <a:buNone/>
          </a:pPr>
          <a:r>
            <a:rPr lang="en-US" sz="1300" b="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Delivery Head (FPT Korea) </a:t>
          </a:r>
        </a:p>
      </dgm:t>
    </dgm:pt>
    <dgm:pt modelId="{5A3B03BD-B931-4ECF-8717-206CEB1D2ABF}" type="parTrans" cxnId="{4DBA4781-05E4-4304-BCB6-FF0D48BC032D}">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EDA1B2A8-CA85-4BB9-BE10-E61AAD4BD21C}" type="sibTrans" cxnId="{4DBA4781-05E4-4304-BCB6-FF0D48BC032D}">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BD831A92-5B63-47AC-8415-F558F5960528}">
      <dgm:prSet phldrT="[Text]" custT="1"/>
      <dgm:spPr>
        <a:xfrm>
          <a:off x="3121343" y="1434775"/>
          <a:ext cx="3121343" cy="183904"/>
        </a:xfrm>
        <a:prstGeom prst="rect">
          <a:avLst/>
        </a:prstGeom>
        <a:solidFill>
          <a:srgbClr val="ED7D31">
            <a:tint val="40000"/>
            <a:alpha val="90000"/>
            <a:hueOff val="-363954"/>
            <a:satOff val="-32291"/>
            <a:lumOff val="-330"/>
            <a:alphaOff val="0"/>
          </a:srgbClr>
        </a:solidFill>
        <a:ln w="12700" cap="flat" cmpd="sng" algn="ctr">
          <a:solidFill>
            <a:srgbClr val="ED7D31">
              <a:tint val="40000"/>
              <a:alpha val="90000"/>
              <a:hueOff val="-363954"/>
              <a:satOff val="-32291"/>
              <a:lumOff val="-330"/>
              <a:alphaOff val="0"/>
            </a:srgbClr>
          </a:solidFill>
          <a:prstDash val="solid"/>
          <a:miter lim="800000"/>
        </a:ln>
        <a:effectLst/>
      </dgm:spPr>
      <dgm:t>
        <a:bodyPr/>
        <a:lstStyle/>
        <a:p>
          <a:pPr>
            <a:buNone/>
          </a:pPr>
          <a:r>
            <a:rPr lang="en-US" sz="1300" b="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Email/Phone/Chat</a:t>
          </a:r>
        </a:p>
      </dgm:t>
    </dgm:pt>
    <dgm:pt modelId="{708435C3-6259-485B-821A-EA656F9FECC5}" type="parTrans" cxnId="{6C06DA5C-4CCB-4B1B-8E2E-FF31716F6F31}">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6DB4DE60-FA84-4C8B-BA9E-200BEC640874}" type="sibTrans" cxnId="{6C06DA5C-4CCB-4B1B-8E2E-FF31716F6F31}">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03B429F7-0C0C-4058-977F-DE7BB9D92DA8}">
      <dgm:prSet phldrT="[Text]" custT="1"/>
      <dgm:spPr>
        <a:xfrm>
          <a:off x="0" y="1827952"/>
          <a:ext cx="6242687" cy="399911"/>
        </a:xfrm>
        <a:prstGeom prst="rect">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gm:spPr>
      <dgm:t>
        <a:bodyPr/>
        <a:lstStyle/>
        <a:p>
          <a:pPr>
            <a:buNone/>
          </a:pPr>
          <a:r>
            <a:rPr lang="en-US" sz="1300" b="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Highest Level Escalation (Company Level)</a:t>
          </a:r>
        </a:p>
      </dgm:t>
    </dgm:pt>
    <dgm:pt modelId="{E86940DF-7685-47EA-AA53-C7983DE86B17}" type="parTrans" cxnId="{E4AC6F82-01CF-4F0E-9942-AB3750B9682B}">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EC9609D1-FCB8-4B20-9612-49B8610BB2A5}" type="sibTrans" cxnId="{E4AC6F82-01CF-4F0E-9942-AB3750B9682B}">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7C6BE3E4-FAC8-4F07-B92F-22608ED00DD9}">
      <dgm:prSet phldrT="[Text]" custT="1"/>
      <dgm:spPr>
        <a:xfrm>
          <a:off x="0" y="2035906"/>
          <a:ext cx="3121343" cy="183959"/>
        </a:xfrm>
        <a:prstGeom prst="rect">
          <a:avLst/>
        </a:prstGeom>
        <a:solidFill>
          <a:srgbClr val="ED7D31">
            <a:tint val="40000"/>
            <a:alpha val="90000"/>
            <a:hueOff val="0"/>
            <a:satOff val="0"/>
            <a:lumOff val="0"/>
            <a:alphaOff val="0"/>
          </a:srgbClr>
        </a:solidFill>
        <a:ln w="12700" cap="flat" cmpd="sng" algn="ctr">
          <a:solidFill>
            <a:srgbClr val="ED7D31">
              <a:tint val="40000"/>
              <a:alpha val="90000"/>
              <a:hueOff val="0"/>
              <a:satOff val="0"/>
              <a:lumOff val="0"/>
              <a:alphaOff val="0"/>
            </a:srgbClr>
          </a:solidFill>
          <a:prstDash val="solid"/>
          <a:miter lim="800000"/>
        </a:ln>
        <a:effectLst/>
      </dgm:spPr>
      <dgm:t>
        <a:bodyPr/>
        <a:lstStyle/>
        <a:p>
          <a:pPr>
            <a:buNone/>
          </a:pPr>
          <a:r>
            <a:rPr lang="en-US" sz="1300" b="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FPT Software BOD</a:t>
          </a:r>
        </a:p>
      </dgm:t>
    </dgm:pt>
    <dgm:pt modelId="{8C266D95-5A97-4DC9-87E0-3AD1659637F6}" type="parTrans" cxnId="{849E1342-54EC-4DEA-81B7-A8F65862DCD9}">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EE968F95-5AC8-48C8-9648-95D02397C2C8}" type="sibTrans" cxnId="{849E1342-54EC-4DEA-81B7-A8F65862DCD9}">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0EC14037-072E-4DF2-BF6A-44C80463B0A9}">
      <dgm:prSet phldrT="[Text]" custT="1"/>
      <dgm:spPr>
        <a:xfrm>
          <a:off x="3121343" y="2035906"/>
          <a:ext cx="3121343" cy="183959"/>
        </a:xfrm>
        <a:prstGeom prst="rect">
          <a:avLst/>
        </a:prstGeom>
        <a:solidFill>
          <a:srgbClr val="ED7D31">
            <a:tint val="40000"/>
            <a:alpha val="90000"/>
            <a:hueOff val="-121318"/>
            <a:satOff val="-10764"/>
            <a:lumOff val="-110"/>
            <a:alphaOff val="0"/>
          </a:srgbClr>
        </a:solidFill>
        <a:ln w="12700" cap="flat" cmpd="sng" algn="ctr">
          <a:solidFill>
            <a:srgbClr val="ED7D31">
              <a:tint val="40000"/>
              <a:alpha val="90000"/>
              <a:hueOff val="-121318"/>
              <a:satOff val="-10764"/>
              <a:lumOff val="-110"/>
              <a:alphaOff val="0"/>
            </a:srgbClr>
          </a:solidFill>
          <a:prstDash val="solid"/>
          <a:miter lim="800000"/>
        </a:ln>
        <a:effectLst/>
      </dgm:spPr>
      <dgm:t>
        <a:bodyPr/>
        <a:lstStyle/>
        <a:p>
          <a:pPr>
            <a:buNone/>
          </a:pPr>
          <a:r>
            <a:rPr lang="en-US" sz="1300" b="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Email/Phone/Chat</a:t>
          </a:r>
        </a:p>
      </dgm:t>
    </dgm:pt>
    <dgm:pt modelId="{F773903E-50D8-4F4D-A6F5-5114FE4C13D9}" type="parTrans" cxnId="{32A72D08-35CB-4814-8CF7-BF10F0FBF5A8}">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491EA683-E0CD-40E0-B7BD-65C991486F3E}" type="sibTrans" cxnId="{32A72D08-35CB-4814-8CF7-BF10F0FBF5A8}">
      <dgm:prSet/>
      <dgm:spPr/>
      <dgm:t>
        <a:bodyPr/>
        <a:lstStyle/>
        <a:p>
          <a:endParaRPr lang="en-US" sz="1300" b="0">
            <a:latin typeface="Tahoma" panose="020B0604030504040204" pitchFamily="34" charset="0"/>
            <a:ea typeface="Tahoma" panose="020B0604030504040204" pitchFamily="34" charset="0"/>
            <a:cs typeface="Tahoma" panose="020B0604030504040204" pitchFamily="34" charset="0"/>
          </a:endParaRPr>
        </a:p>
      </dgm:t>
    </dgm:pt>
    <dgm:pt modelId="{BBAA24A1-AA27-4C8F-9043-19E1225BEB67}" type="pres">
      <dgm:prSet presAssocID="{F302189E-4B3B-46FA-943D-E41C3FB2D345}" presName="Name0" presStyleCnt="0">
        <dgm:presLayoutVars>
          <dgm:dir/>
          <dgm:animLvl val="lvl"/>
          <dgm:resizeHandles val="exact"/>
        </dgm:presLayoutVars>
      </dgm:prSet>
      <dgm:spPr/>
    </dgm:pt>
    <dgm:pt modelId="{DC33941F-8800-480C-8D5D-23BE51696D47}" type="pres">
      <dgm:prSet presAssocID="{03B429F7-0C0C-4058-977F-DE7BB9D92DA8}" presName="boxAndChildren" presStyleCnt="0"/>
      <dgm:spPr/>
    </dgm:pt>
    <dgm:pt modelId="{938090D9-2E22-4AF7-AF67-7AC39DBC8498}" type="pres">
      <dgm:prSet presAssocID="{03B429F7-0C0C-4058-977F-DE7BB9D92DA8}" presName="parentTextBox" presStyleLbl="node1" presStyleIdx="0" presStyleCnt="4"/>
      <dgm:spPr/>
    </dgm:pt>
    <dgm:pt modelId="{13819955-6CC6-428B-B261-A65483EE462A}" type="pres">
      <dgm:prSet presAssocID="{03B429F7-0C0C-4058-977F-DE7BB9D92DA8}" presName="entireBox" presStyleLbl="node1" presStyleIdx="0" presStyleCnt="4"/>
      <dgm:spPr/>
    </dgm:pt>
    <dgm:pt modelId="{9782A30F-ED31-439F-B163-80C67559576B}" type="pres">
      <dgm:prSet presAssocID="{03B429F7-0C0C-4058-977F-DE7BB9D92DA8}" presName="descendantBox" presStyleCnt="0"/>
      <dgm:spPr/>
    </dgm:pt>
    <dgm:pt modelId="{8C21A597-C830-4BCE-BBDC-9F6AE3F23D33}" type="pres">
      <dgm:prSet presAssocID="{7C6BE3E4-FAC8-4F07-B92F-22608ED00DD9}" presName="childTextBox" presStyleLbl="fgAccFollowNode1" presStyleIdx="0" presStyleCnt="8">
        <dgm:presLayoutVars>
          <dgm:bulletEnabled val="1"/>
        </dgm:presLayoutVars>
      </dgm:prSet>
      <dgm:spPr/>
    </dgm:pt>
    <dgm:pt modelId="{11F59DA7-6394-4B34-BEA7-87083408BB90}" type="pres">
      <dgm:prSet presAssocID="{0EC14037-072E-4DF2-BF6A-44C80463B0A9}" presName="childTextBox" presStyleLbl="fgAccFollowNode1" presStyleIdx="1" presStyleCnt="8">
        <dgm:presLayoutVars>
          <dgm:bulletEnabled val="1"/>
        </dgm:presLayoutVars>
      </dgm:prSet>
      <dgm:spPr/>
    </dgm:pt>
    <dgm:pt modelId="{706732E0-D9B3-46AE-B2B2-0C83CC6A12A8}" type="pres">
      <dgm:prSet presAssocID="{AB9DD5E4-731E-4CF7-8BD7-A22381C921D0}" presName="sp" presStyleCnt="0"/>
      <dgm:spPr/>
    </dgm:pt>
    <dgm:pt modelId="{06A32983-9759-4944-B7C6-90AF4FD70FEF}" type="pres">
      <dgm:prSet presAssocID="{34F3540F-003A-4CD7-AB2F-6A706411655D}" presName="arrowAndChildren" presStyleCnt="0"/>
      <dgm:spPr/>
    </dgm:pt>
    <dgm:pt modelId="{4BDED02A-4FFA-4010-858F-BD53403046B2}" type="pres">
      <dgm:prSet presAssocID="{34F3540F-003A-4CD7-AB2F-6A706411655D}" presName="parentTextArrow" presStyleLbl="node1" presStyleIdx="0" presStyleCnt="4"/>
      <dgm:spPr/>
    </dgm:pt>
    <dgm:pt modelId="{C214AD81-2ED5-46D6-A306-66CF98D9538D}" type="pres">
      <dgm:prSet presAssocID="{34F3540F-003A-4CD7-AB2F-6A706411655D}" presName="arrow" presStyleLbl="node1" presStyleIdx="1" presStyleCnt="4"/>
      <dgm:spPr/>
    </dgm:pt>
    <dgm:pt modelId="{A598322D-653A-4A5A-B983-8001F46BD135}" type="pres">
      <dgm:prSet presAssocID="{34F3540F-003A-4CD7-AB2F-6A706411655D}" presName="descendantArrow" presStyleCnt="0"/>
      <dgm:spPr/>
    </dgm:pt>
    <dgm:pt modelId="{D78D9061-2AD2-4E06-BE8D-F8FEAC7C54EE}" type="pres">
      <dgm:prSet presAssocID="{082B83FD-91C0-4F78-8A47-B1CA50AF9EFE}" presName="childTextArrow" presStyleLbl="fgAccFollowNode1" presStyleIdx="2" presStyleCnt="8">
        <dgm:presLayoutVars>
          <dgm:bulletEnabled val="1"/>
        </dgm:presLayoutVars>
      </dgm:prSet>
      <dgm:spPr/>
    </dgm:pt>
    <dgm:pt modelId="{EF97737B-0F6C-4263-B7FE-8A4C3218DC7A}" type="pres">
      <dgm:prSet presAssocID="{BD831A92-5B63-47AC-8415-F558F5960528}" presName="childTextArrow" presStyleLbl="fgAccFollowNode1" presStyleIdx="3" presStyleCnt="8">
        <dgm:presLayoutVars>
          <dgm:bulletEnabled val="1"/>
        </dgm:presLayoutVars>
      </dgm:prSet>
      <dgm:spPr/>
    </dgm:pt>
    <dgm:pt modelId="{32D894B1-8D72-4A6F-9E43-E7D4764CC2EF}" type="pres">
      <dgm:prSet presAssocID="{AC207D00-7D3C-4D7C-8454-9B57B9A57B87}" presName="sp" presStyleCnt="0"/>
      <dgm:spPr/>
    </dgm:pt>
    <dgm:pt modelId="{AAD720F5-E86D-4AEB-BE86-F9B6538339D1}" type="pres">
      <dgm:prSet presAssocID="{1351FEDA-C057-465B-9CB2-830D37F4BD14}" presName="arrowAndChildren" presStyleCnt="0"/>
      <dgm:spPr/>
    </dgm:pt>
    <dgm:pt modelId="{7F8771D2-1936-4652-B310-1F2FAFC5E92B}" type="pres">
      <dgm:prSet presAssocID="{1351FEDA-C057-465B-9CB2-830D37F4BD14}" presName="parentTextArrow" presStyleLbl="node1" presStyleIdx="1" presStyleCnt="4"/>
      <dgm:spPr/>
    </dgm:pt>
    <dgm:pt modelId="{63AE0AE0-FF59-4817-BC6A-FDE564D4CFA2}" type="pres">
      <dgm:prSet presAssocID="{1351FEDA-C057-465B-9CB2-830D37F4BD14}" presName="arrow" presStyleLbl="node1" presStyleIdx="2" presStyleCnt="4"/>
      <dgm:spPr/>
    </dgm:pt>
    <dgm:pt modelId="{F5F611E1-F5DD-4719-AB64-20AFD357C793}" type="pres">
      <dgm:prSet presAssocID="{1351FEDA-C057-465B-9CB2-830D37F4BD14}" presName="descendantArrow" presStyleCnt="0"/>
      <dgm:spPr/>
    </dgm:pt>
    <dgm:pt modelId="{F086CF34-6A16-4013-B3B5-0AC2607A18D7}" type="pres">
      <dgm:prSet presAssocID="{B7C4C350-601A-4FE1-9167-DE04D0C77130}" presName="childTextArrow" presStyleLbl="fgAccFollowNode1" presStyleIdx="4" presStyleCnt="8">
        <dgm:presLayoutVars>
          <dgm:bulletEnabled val="1"/>
        </dgm:presLayoutVars>
      </dgm:prSet>
      <dgm:spPr/>
    </dgm:pt>
    <dgm:pt modelId="{F8136C1A-53FE-4C37-93F5-33998429925D}" type="pres">
      <dgm:prSet presAssocID="{A003C630-1D5D-4893-86F8-9BE0575DD34C}" presName="childTextArrow" presStyleLbl="fgAccFollowNode1" presStyleIdx="5" presStyleCnt="8">
        <dgm:presLayoutVars>
          <dgm:bulletEnabled val="1"/>
        </dgm:presLayoutVars>
      </dgm:prSet>
      <dgm:spPr/>
    </dgm:pt>
    <dgm:pt modelId="{A53A1206-5FD8-44B6-BEA7-C254CD2E2381}" type="pres">
      <dgm:prSet presAssocID="{3EB4BE76-F5A5-40FF-A420-10D8FEEB9879}" presName="sp" presStyleCnt="0"/>
      <dgm:spPr/>
    </dgm:pt>
    <dgm:pt modelId="{E2F1BBEF-9F9E-43D4-ADA6-5D3FB8BE7511}" type="pres">
      <dgm:prSet presAssocID="{DAA767EA-1A25-4046-BCF3-9508EC0779EF}" presName="arrowAndChildren" presStyleCnt="0"/>
      <dgm:spPr/>
    </dgm:pt>
    <dgm:pt modelId="{F52077EE-06A2-4E37-AE82-A8A356381648}" type="pres">
      <dgm:prSet presAssocID="{DAA767EA-1A25-4046-BCF3-9508EC0779EF}" presName="parentTextArrow" presStyleLbl="node1" presStyleIdx="2" presStyleCnt="4"/>
      <dgm:spPr/>
    </dgm:pt>
    <dgm:pt modelId="{94F620B2-DCFA-4293-AAAF-2680AE2373EA}" type="pres">
      <dgm:prSet presAssocID="{DAA767EA-1A25-4046-BCF3-9508EC0779EF}" presName="arrow" presStyleLbl="node1" presStyleIdx="3" presStyleCnt="4"/>
      <dgm:spPr/>
    </dgm:pt>
    <dgm:pt modelId="{C4078761-66FA-453E-97B9-F47BE0E0536E}" type="pres">
      <dgm:prSet presAssocID="{DAA767EA-1A25-4046-BCF3-9508EC0779EF}" presName="descendantArrow" presStyleCnt="0"/>
      <dgm:spPr/>
    </dgm:pt>
    <dgm:pt modelId="{71FA7E0D-DC61-466A-B5AC-FFE10ABD7E92}" type="pres">
      <dgm:prSet presAssocID="{9A6B419A-17D2-4F2B-88EB-C0698E1A3F12}" presName="childTextArrow" presStyleLbl="fgAccFollowNode1" presStyleIdx="6" presStyleCnt="8">
        <dgm:presLayoutVars>
          <dgm:bulletEnabled val="1"/>
        </dgm:presLayoutVars>
      </dgm:prSet>
      <dgm:spPr/>
    </dgm:pt>
    <dgm:pt modelId="{5246BF01-4503-497A-A024-8721023FE5EA}" type="pres">
      <dgm:prSet presAssocID="{C4DF1CC8-8ADD-4FB2-B74B-3E26942AF827}" presName="childTextArrow" presStyleLbl="fgAccFollowNode1" presStyleIdx="7" presStyleCnt="8">
        <dgm:presLayoutVars>
          <dgm:bulletEnabled val="1"/>
        </dgm:presLayoutVars>
      </dgm:prSet>
      <dgm:spPr/>
    </dgm:pt>
  </dgm:ptLst>
  <dgm:cxnLst>
    <dgm:cxn modelId="{A0C85206-7F33-4913-B6DE-A89588B18BE3}" type="presOf" srcId="{082B83FD-91C0-4F78-8A47-B1CA50AF9EFE}" destId="{D78D9061-2AD2-4E06-BE8D-F8FEAC7C54EE}" srcOrd="0" destOrd="0" presId="urn:microsoft.com/office/officeart/2005/8/layout/process4"/>
    <dgm:cxn modelId="{32A72D08-35CB-4814-8CF7-BF10F0FBF5A8}" srcId="{03B429F7-0C0C-4058-977F-DE7BB9D92DA8}" destId="{0EC14037-072E-4DF2-BF6A-44C80463B0A9}" srcOrd="1" destOrd="0" parTransId="{F773903E-50D8-4F4D-A6F5-5114FE4C13D9}" sibTransId="{491EA683-E0CD-40E0-B7BD-65C991486F3E}"/>
    <dgm:cxn modelId="{6C16710A-7A15-44A1-B046-7AF3BBD05308}" type="presOf" srcId="{F302189E-4B3B-46FA-943D-E41C3FB2D345}" destId="{BBAA24A1-AA27-4C8F-9043-19E1225BEB67}" srcOrd="0" destOrd="0" presId="urn:microsoft.com/office/officeart/2005/8/layout/process4"/>
    <dgm:cxn modelId="{7B807A12-6249-409D-B23B-FF99FD34F9CC}" type="presOf" srcId="{DAA767EA-1A25-4046-BCF3-9508EC0779EF}" destId="{94F620B2-DCFA-4293-AAAF-2680AE2373EA}" srcOrd="1" destOrd="0" presId="urn:microsoft.com/office/officeart/2005/8/layout/process4"/>
    <dgm:cxn modelId="{CCEBB119-42E7-4B70-98A2-042CE5B0E1B7}" srcId="{F302189E-4B3B-46FA-943D-E41C3FB2D345}" destId="{DAA767EA-1A25-4046-BCF3-9508EC0779EF}" srcOrd="0" destOrd="0" parTransId="{2EDB86FA-CC47-40D0-AF0F-B114F82B5DFD}" sibTransId="{3EB4BE76-F5A5-40FF-A420-10D8FEEB9879}"/>
    <dgm:cxn modelId="{DF5F9E1E-8264-4226-9402-AEA604A4EF05}" type="presOf" srcId="{1351FEDA-C057-465B-9CB2-830D37F4BD14}" destId="{7F8771D2-1936-4652-B310-1F2FAFC5E92B}" srcOrd="0" destOrd="0" presId="urn:microsoft.com/office/officeart/2005/8/layout/process4"/>
    <dgm:cxn modelId="{99CA8024-01F6-4AD4-BD3D-480AFE123AB1}" srcId="{F302189E-4B3B-46FA-943D-E41C3FB2D345}" destId="{1351FEDA-C057-465B-9CB2-830D37F4BD14}" srcOrd="1" destOrd="0" parTransId="{0831A0EE-26B4-40DF-A8CF-30864EF09147}" sibTransId="{AC207D00-7D3C-4D7C-8454-9B57B9A57B87}"/>
    <dgm:cxn modelId="{DB225B25-8161-4E2A-8F94-76718E5292AD}" srcId="{F302189E-4B3B-46FA-943D-E41C3FB2D345}" destId="{34F3540F-003A-4CD7-AB2F-6A706411655D}" srcOrd="2" destOrd="0" parTransId="{FA352730-A3E6-461D-B847-2DC2D2100870}" sibTransId="{AB9DD5E4-731E-4CF7-8BD7-A22381C921D0}"/>
    <dgm:cxn modelId="{4A62A63C-5498-4AA6-B625-EAB28087DBEA}" type="presOf" srcId="{BD831A92-5B63-47AC-8415-F558F5960528}" destId="{EF97737B-0F6C-4263-B7FE-8A4C3218DC7A}" srcOrd="0" destOrd="0" presId="urn:microsoft.com/office/officeart/2005/8/layout/process4"/>
    <dgm:cxn modelId="{6C06DA5C-4CCB-4B1B-8E2E-FF31716F6F31}" srcId="{34F3540F-003A-4CD7-AB2F-6A706411655D}" destId="{BD831A92-5B63-47AC-8415-F558F5960528}" srcOrd="1" destOrd="0" parTransId="{708435C3-6259-485B-821A-EA656F9FECC5}" sibTransId="{6DB4DE60-FA84-4C8B-BA9E-200BEC640874}"/>
    <dgm:cxn modelId="{849E1342-54EC-4DEA-81B7-A8F65862DCD9}" srcId="{03B429F7-0C0C-4058-977F-DE7BB9D92DA8}" destId="{7C6BE3E4-FAC8-4F07-B92F-22608ED00DD9}" srcOrd="0" destOrd="0" parTransId="{8C266D95-5A97-4DC9-87E0-3AD1659637F6}" sibTransId="{EE968F95-5AC8-48C8-9648-95D02397C2C8}"/>
    <dgm:cxn modelId="{8CED0E47-078E-478E-9B1B-E5CEDBA3387D}" type="presOf" srcId="{7C6BE3E4-FAC8-4F07-B92F-22608ED00DD9}" destId="{8C21A597-C830-4BCE-BBDC-9F6AE3F23D33}" srcOrd="0" destOrd="0" presId="urn:microsoft.com/office/officeart/2005/8/layout/process4"/>
    <dgm:cxn modelId="{4E93416E-1D84-4D80-9FF0-5C993593182B}" type="presOf" srcId="{1351FEDA-C057-465B-9CB2-830D37F4BD14}" destId="{63AE0AE0-FF59-4817-BC6A-FDE564D4CFA2}" srcOrd="1" destOrd="0" presId="urn:microsoft.com/office/officeart/2005/8/layout/process4"/>
    <dgm:cxn modelId="{4DBA4781-05E4-4304-BCB6-FF0D48BC032D}" srcId="{34F3540F-003A-4CD7-AB2F-6A706411655D}" destId="{082B83FD-91C0-4F78-8A47-B1CA50AF9EFE}" srcOrd="0" destOrd="0" parTransId="{5A3B03BD-B931-4ECF-8717-206CEB1D2ABF}" sibTransId="{EDA1B2A8-CA85-4BB9-BE10-E61AAD4BD21C}"/>
    <dgm:cxn modelId="{E4AC6F82-01CF-4F0E-9942-AB3750B9682B}" srcId="{F302189E-4B3B-46FA-943D-E41C3FB2D345}" destId="{03B429F7-0C0C-4058-977F-DE7BB9D92DA8}" srcOrd="3" destOrd="0" parTransId="{E86940DF-7685-47EA-AA53-C7983DE86B17}" sibTransId="{EC9609D1-FCB8-4B20-9612-49B8610BB2A5}"/>
    <dgm:cxn modelId="{93436892-3766-4E16-B73E-F64D36846613}" type="presOf" srcId="{C4DF1CC8-8ADD-4FB2-B74B-3E26942AF827}" destId="{5246BF01-4503-497A-A024-8721023FE5EA}" srcOrd="0" destOrd="0" presId="urn:microsoft.com/office/officeart/2005/8/layout/process4"/>
    <dgm:cxn modelId="{3998C292-21B1-481D-92FD-9025B2013E5A}" type="presOf" srcId="{34F3540F-003A-4CD7-AB2F-6A706411655D}" destId="{C214AD81-2ED5-46D6-A306-66CF98D9538D}" srcOrd="1" destOrd="0" presId="urn:microsoft.com/office/officeart/2005/8/layout/process4"/>
    <dgm:cxn modelId="{F6B83E9C-4DFE-40EE-9FBE-7F9EEF859B97}" type="presOf" srcId="{0EC14037-072E-4DF2-BF6A-44C80463B0A9}" destId="{11F59DA7-6394-4B34-BEA7-87083408BB90}" srcOrd="0" destOrd="0" presId="urn:microsoft.com/office/officeart/2005/8/layout/process4"/>
    <dgm:cxn modelId="{B39427B7-BEA1-4690-A5F0-2F3C388D13E4}" srcId="{1351FEDA-C057-465B-9CB2-830D37F4BD14}" destId="{A003C630-1D5D-4893-86F8-9BE0575DD34C}" srcOrd="1" destOrd="0" parTransId="{990BD7C9-A704-4BDC-A142-EA1866B1AC4A}" sibTransId="{F3EF8EC1-EA42-49D2-BCF4-5D2A72ED42D9}"/>
    <dgm:cxn modelId="{B1DAE2C0-CDBB-4CE8-A679-D916C8142D8F}" type="presOf" srcId="{03B429F7-0C0C-4058-977F-DE7BB9D92DA8}" destId="{938090D9-2E22-4AF7-AF67-7AC39DBC8498}" srcOrd="0" destOrd="0" presId="urn:microsoft.com/office/officeart/2005/8/layout/process4"/>
    <dgm:cxn modelId="{6E817BC3-AA3F-493A-ABEA-024F3019DFA4}" type="presOf" srcId="{03B429F7-0C0C-4058-977F-DE7BB9D92DA8}" destId="{13819955-6CC6-428B-B261-A65483EE462A}" srcOrd="1" destOrd="0" presId="urn:microsoft.com/office/officeart/2005/8/layout/process4"/>
    <dgm:cxn modelId="{847450C7-69C9-4EED-B8C1-B764E8F10D1E}" type="presOf" srcId="{34F3540F-003A-4CD7-AB2F-6A706411655D}" destId="{4BDED02A-4FFA-4010-858F-BD53403046B2}" srcOrd="0" destOrd="0" presId="urn:microsoft.com/office/officeart/2005/8/layout/process4"/>
    <dgm:cxn modelId="{01477DC7-E0A8-47B7-8F87-945577170B20}" type="presOf" srcId="{9A6B419A-17D2-4F2B-88EB-C0698E1A3F12}" destId="{71FA7E0D-DC61-466A-B5AC-FFE10ABD7E92}" srcOrd="0" destOrd="0" presId="urn:microsoft.com/office/officeart/2005/8/layout/process4"/>
    <dgm:cxn modelId="{FD8BDFC8-6297-41CE-A22B-3D413033B6DD}" type="presOf" srcId="{DAA767EA-1A25-4046-BCF3-9508EC0779EF}" destId="{F52077EE-06A2-4E37-AE82-A8A356381648}" srcOrd="0" destOrd="0" presId="urn:microsoft.com/office/officeart/2005/8/layout/process4"/>
    <dgm:cxn modelId="{B283CDD5-16B1-4242-AC92-B3A96C67AC12}" type="presOf" srcId="{A003C630-1D5D-4893-86F8-9BE0575DD34C}" destId="{F8136C1A-53FE-4C37-93F5-33998429925D}" srcOrd="0" destOrd="0" presId="urn:microsoft.com/office/officeart/2005/8/layout/process4"/>
    <dgm:cxn modelId="{6B9F0EDE-B494-4A6F-895C-BD4D0B929D90}" srcId="{1351FEDA-C057-465B-9CB2-830D37F4BD14}" destId="{B7C4C350-601A-4FE1-9167-DE04D0C77130}" srcOrd="0" destOrd="0" parTransId="{D02B2DC7-F0F1-43FD-BB1D-6358DCF2BA86}" sibTransId="{7C72CEA4-D8A3-4231-9168-805F40858325}"/>
    <dgm:cxn modelId="{633241ED-DD2B-4A28-ADCA-62FA01821385}" type="presOf" srcId="{B7C4C350-601A-4FE1-9167-DE04D0C77130}" destId="{F086CF34-6A16-4013-B3B5-0AC2607A18D7}" srcOrd="0" destOrd="0" presId="urn:microsoft.com/office/officeart/2005/8/layout/process4"/>
    <dgm:cxn modelId="{869129F4-CBB3-4B51-87B1-9BA12CF0CE12}" srcId="{DAA767EA-1A25-4046-BCF3-9508EC0779EF}" destId="{9A6B419A-17D2-4F2B-88EB-C0698E1A3F12}" srcOrd="0" destOrd="0" parTransId="{B88F45C7-6DD4-4619-82D6-614D93926D79}" sibTransId="{F310FBC6-9045-435C-A28B-F65773EECF21}"/>
    <dgm:cxn modelId="{E177F3FF-3D14-4D32-99E2-91E3EE236ED4}" srcId="{DAA767EA-1A25-4046-BCF3-9508EC0779EF}" destId="{C4DF1CC8-8ADD-4FB2-B74B-3E26942AF827}" srcOrd="1" destOrd="0" parTransId="{3DDC32BD-A92D-4FC9-B3DF-55378B88063E}" sibTransId="{0B6C26F7-E7DC-4252-BA0C-2D2ACABC379F}"/>
    <dgm:cxn modelId="{543F31FA-FB46-45BE-8CE7-4AA361B377C0}" type="presParOf" srcId="{BBAA24A1-AA27-4C8F-9043-19E1225BEB67}" destId="{DC33941F-8800-480C-8D5D-23BE51696D47}" srcOrd="0" destOrd="0" presId="urn:microsoft.com/office/officeart/2005/8/layout/process4"/>
    <dgm:cxn modelId="{0D34A782-F247-421B-A9ED-30BD1D6AC5BC}" type="presParOf" srcId="{DC33941F-8800-480C-8D5D-23BE51696D47}" destId="{938090D9-2E22-4AF7-AF67-7AC39DBC8498}" srcOrd="0" destOrd="0" presId="urn:microsoft.com/office/officeart/2005/8/layout/process4"/>
    <dgm:cxn modelId="{867D0C62-3986-4749-9717-90C696674FDB}" type="presParOf" srcId="{DC33941F-8800-480C-8D5D-23BE51696D47}" destId="{13819955-6CC6-428B-B261-A65483EE462A}" srcOrd="1" destOrd="0" presId="urn:microsoft.com/office/officeart/2005/8/layout/process4"/>
    <dgm:cxn modelId="{E431876E-4C04-4794-A6D6-F04DC55C2B30}" type="presParOf" srcId="{DC33941F-8800-480C-8D5D-23BE51696D47}" destId="{9782A30F-ED31-439F-B163-80C67559576B}" srcOrd="2" destOrd="0" presId="urn:microsoft.com/office/officeart/2005/8/layout/process4"/>
    <dgm:cxn modelId="{9BDCE2D5-4F29-4EAD-B3E5-136A93D98B86}" type="presParOf" srcId="{9782A30F-ED31-439F-B163-80C67559576B}" destId="{8C21A597-C830-4BCE-BBDC-9F6AE3F23D33}" srcOrd="0" destOrd="0" presId="urn:microsoft.com/office/officeart/2005/8/layout/process4"/>
    <dgm:cxn modelId="{C3BC1B13-F2B8-4BDB-8B73-006F00C73025}" type="presParOf" srcId="{9782A30F-ED31-439F-B163-80C67559576B}" destId="{11F59DA7-6394-4B34-BEA7-87083408BB90}" srcOrd="1" destOrd="0" presId="urn:microsoft.com/office/officeart/2005/8/layout/process4"/>
    <dgm:cxn modelId="{F1F23D1C-2701-4F5B-8815-DD5C45C90162}" type="presParOf" srcId="{BBAA24A1-AA27-4C8F-9043-19E1225BEB67}" destId="{706732E0-D9B3-46AE-B2B2-0C83CC6A12A8}" srcOrd="1" destOrd="0" presId="urn:microsoft.com/office/officeart/2005/8/layout/process4"/>
    <dgm:cxn modelId="{04C9FFE0-3434-46ED-8D7F-6606C044D0B0}" type="presParOf" srcId="{BBAA24A1-AA27-4C8F-9043-19E1225BEB67}" destId="{06A32983-9759-4944-B7C6-90AF4FD70FEF}" srcOrd="2" destOrd="0" presId="urn:microsoft.com/office/officeart/2005/8/layout/process4"/>
    <dgm:cxn modelId="{FAF05CAD-4B71-48F2-A99F-889AE3C690D8}" type="presParOf" srcId="{06A32983-9759-4944-B7C6-90AF4FD70FEF}" destId="{4BDED02A-4FFA-4010-858F-BD53403046B2}" srcOrd="0" destOrd="0" presId="urn:microsoft.com/office/officeart/2005/8/layout/process4"/>
    <dgm:cxn modelId="{74B4EDF6-0F27-4750-95AC-CEF6A1A24100}" type="presParOf" srcId="{06A32983-9759-4944-B7C6-90AF4FD70FEF}" destId="{C214AD81-2ED5-46D6-A306-66CF98D9538D}" srcOrd="1" destOrd="0" presId="urn:microsoft.com/office/officeart/2005/8/layout/process4"/>
    <dgm:cxn modelId="{8F888D0B-D6FC-4CD0-8B65-9E6232955F65}" type="presParOf" srcId="{06A32983-9759-4944-B7C6-90AF4FD70FEF}" destId="{A598322D-653A-4A5A-B983-8001F46BD135}" srcOrd="2" destOrd="0" presId="urn:microsoft.com/office/officeart/2005/8/layout/process4"/>
    <dgm:cxn modelId="{9154770B-D106-49EC-A694-A2994F1CCAD7}" type="presParOf" srcId="{A598322D-653A-4A5A-B983-8001F46BD135}" destId="{D78D9061-2AD2-4E06-BE8D-F8FEAC7C54EE}" srcOrd="0" destOrd="0" presId="urn:microsoft.com/office/officeart/2005/8/layout/process4"/>
    <dgm:cxn modelId="{0C85AF7F-4FF8-4361-B514-D78C3F1F6229}" type="presParOf" srcId="{A598322D-653A-4A5A-B983-8001F46BD135}" destId="{EF97737B-0F6C-4263-B7FE-8A4C3218DC7A}" srcOrd="1" destOrd="0" presId="urn:microsoft.com/office/officeart/2005/8/layout/process4"/>
    <dgm:cxn modelId="{BE58EDA2-CD39-45CD-BA26-B4BDE9A13360}" type="presParOf" srcId="{BBAA24A1-AA27-4C8F-9043-19E1225BEB67}" destId="{32D894B1-8D72-4A6F-9E43-E7D4764CC2EF}" srcOrd="3" destOrd="0" presId="urn:microsoft.com/office/officeart/2005/8/layout/process4"/>
    <dgm:cxn modelId="{54802C1D-F89F-47DB-B70D-BD7221089C94}" type="presParOf" srcId="{BBAA24A1-AA27-4C8F-9043-19E1225BEB67}" destId="{AAD720F5-E86D-4AEB-BE86-F9B6538339D1}" srcOrd="4" destOrd="0" presId="urn:microsoft.com/office/officeart/2005/8/layout/process4"/>
    <dgm:cxn modelId="{C98207A0-2E44-42BF-BB4F-31306002C297}" type="presParOf" srcId="{AAD720F5-E86D-4AEB-BE86-F9B6538339D1}" destId="{7F8771D2-1936-4652-B310-1F2FAFC5E92B}" srcOrd="0" destOrd="0" presId="urn:microsoft.com/office/officeart/2005/8/layout/process4"/>
    <dgm:cxn modelId="{D9A9EF1E-30B2-4DF2-B06B-9EBCF290DBBE}" type="presParOf" srcId="{AAD720F5-E86D-4AEB-BE86-F9B6538339D1}" destId="{63AE0AE0-FF59-4817-BC6A-FDE564D4CFA2}" srcOrd="1" destOrd="0" presId="urn:microsoft.com/office/officeart/2005/8/layout/process4"/>
    <dgm:cxn modelId="{0A847A76-B7FE-4F37-9E44-DD8EA5DC1B7F}" type="presParOf" srcId="{AAD720F5-E86D-4AEB-BE86-F9B6538339D1}" destId="{F5F611E1-F5DD-4719-AB64-20AFD357C793}" srcOrd="2" destOrd="0" presId="urn:microsoft.com/office/officeart/2005/8/layout/process4"/>
    <dgm:cxn modelId="{069F00E2-19AB-47D7-BABE-FA05303A69BE}" type="presParOf" srcId="{F5F611E1-F5DD-4719-AB64-20AFD357C793}" destId="{F086CF34-6A16-4013-B3B5-0AC2607A18D7}" srcOrd="0" destOrd="0" presId="urn:microsoft.com/office/officeart/2005/8/layout/process4"/>
    <dgm:cxn modelId="{8B09C6F4-A29A-4788-B2FE-B24E38363172}" type="presParOf" srcId="{F5F611E1-F5DD-4719-AB64-20AFD357C793}" destId="{F8136C1A-53FE-4C37-93F5-33998429925D}" srcOrd="1" destOrd="0" presId="urn:microsoft.com/office/officeart/2005/8/layout/process4"/>
    <dgm:cxn modelId="{8CBD8263-5C99-454B-8741-A9E25552F928}" type="presParOf" srcId="{BBAA24A1-AA27-4C8F-9043-19E1225BEB67}" destId="{A53A1206-5FD8-44B6-BEA7-C254CD2E2381}" srcOrd="5" destOrd="0" presId="urn:microsoft.com/office/officeart/2005/8/layout/process4"/>
    <dgm:cxn modelId="{0B5C347E-400E-4AD4-80EA-FF968C50CF71}" type="presParOf" srcId="{BBAA24A1-AA27-4C8F-9043-19E1225BEB67}" destId="{E2F1BBEF-9F9E-43D4-ADA6-5D3FB8BE7511}" srcOrd="6" destOrd="0" presId="urn:microsoft.com/office/officeart/2005/8/layout/process4"/>
    <dgm:cxn modelId="{1FA59699-6713-429C-8C50-F61959D0EBC1}" type="presParOf" srcId="{E2F1BBEF-9F9E-43D4-ADA6-5D3FB8BE7511}" destId="{F52077EE-06A2-4E37-AE82-A8A356381648}" srcOrd="0" destOrd="0" presId="urn:microsoft.com/office/officeart/2005/8/layout/process4"/>
    <dgm:cxn modelId="{31B876BB-F7EB-45CC-88E3-C50F01152A3A}" type="presParOf" srcId="{E2F1BBEF-9F9E-43D4-ADA6-5D3FB8BE7511}" destId="{94F620B2-DCFA-4293-AAAF-2680AE2373EA}" srcOrd="1" destOrd="0" presId="urn:microsoft.com/office/officeart/2005/8/layout/process4"/>
    <dgm:cxn modelId="{B72A7771-2531-49C1-8838-DCCACEDA4F71}" type="presParOf" srcId="{E2F1BBEF-9F9E-43D4-ADA6-5D3FB8BE7511}" destId="{C4078761-66FA-453E-97B9-F47BE0E0536E}" srcOrd="2" destOrd="0" presId="urn:microsoft.com/office/officeart/2005/8/layout/process4"/>
    <dgm:cxn modelId="{FBCEBBEA-74C0-4083-ADA3-CE7843E64E3F}" type="presParOf" srcId="{C4078761-66FA-453E-97B9-F47BE0E0536E}" destId="{71FA7E0D-DC61-466A-B5AC-FFE10ABD7E92}" srcOrd="0" destOrd="0" presId="urn:microsoft.com/office/officeart/2005/8/layout/process4"/>
    <dgm:cxn modelId="{E99ECA0A-D002-4706-AE8C-3FFE96F578F4}" type="presParOf" srcId="{C4078761-66FA-453E-97B9-F47BE0E0536E}" destId="{5246BF01-4503-497A-A024-8721023FE5EA}" srcOrd="1" destOrd="0" presId="urn:microsoft.com/office/officeart/2005/8/layout/process4"/>
  </dgm:cxnLst>
  <dgm:bg/>
  <dgm:whole/>
  <dgm:extLst>
    <a:ext uri="http://schemas.microsoft.com/office/drawing/2008/diagram">
      <dsp:dataModelExt xmlns:dsp="http://schemas.microsoft.com/office/drawing/2008/diagram" relId="rId11"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76EA21E-E662-42E2-8846-F38B6F9804C0}">
      <dsp:nvSpPr>
        <dsp:cNvPr id="0" name=""/>
        <dsp:cNvSpPr/>
      </dsp:nvSpPr>
      <dsp:spPr>
        <a:xfrm>
          <a:off x="0" y="0"/>
          <a:ext cx="10261599" cy="2096707"/>
        </a:xfrm>
        <a:prstGeom prst="roundRect">
          <a:avLst>
            <a:gd name="adj" fmla="val 10000"/>
          </a:avLst>
        </a:prstGeom>
        <a:solidFill>
          <a:srgbClr val="5B9BD5">
            <a:lumMod val="20000"/>
            <a:lumOff val="80000"/>
          </a:srgbClr>
        </a:solidFill>
        <a:ln w="12700" cap="flat" cmpd="sng" algn="ctr">
          <a:solidFill>
            <a:srgbClr val="4472C4">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sp>
    <dsp:sp modelId="{B9A204EE-84D6-4D55-9251-81757DA5F8F0}">
      <dsp:nvSpPr>
        <dsp:cNvPr id="0" name=""/>
        <dsp:cNvSpPr/>
      </dsp:nvSpPr>
      <dsp:spPr>
        <a:xfrm>
          <a:off x="308506" y="279561"/>
          <a:ext cx="1429458" cy="1537585"/>
        </a:xfrm>
        <a:prstGeom prst="roundRect">
          <a:avLst>
            <a:gd name="adj" fmla="val 10000"/>
          </a:avLst>
        </a:prstGeom>
        <a:blipFill rotWithShape="1">
          <a:blip xmlns:r="http://schemas.openxmlformats.org/officeDocument/2006/relationships" r:embed="rId1"/>
          <a:stretch>
            <a:fillRect/>
          </a:stretch>
        </a:blip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dsp:style>
    </dsp:sp>
    <dsp:sp modelId="{F25E0B3D-6524-4BFE-9931-21D3AF6232D5}">
      <dsp:nvSpPr>
        <dsp:cNvPr id="0" name=""/>
        <dsp:cNvSpPr/>
      </dsp:nvSpPr>
      <dsp:spPr>
        <a:xfrm rot="10800000">
          <a:off x="308506" y="2096707"/>
          <a:ext cx="1429458" cy="2562643"/>
        </a:xfrm>
        <a:prstGeom prst="round2SameRect">
          <a:avLst>
            <a:gd name="adj1" fmla="val 10500"/>
            <a:gd name="adj2" fmla="val 0"/>
          </a:avLst>
        </a:prstGeom>
        <a:solidFill>
          <a:srgbClr val="C00000"/>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b="1"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Transfer</a:t>
          </a:r>
        </a:p>
        <a:p>
          <a:pPr marL="0" lvl="0" indent="0" algn="l" defTabSz="622300">
            <a:lnSpc>
              <a:spcPct val="90000"/>
            </a:lnSpc>
            <a:spcBef>
              <a:spcPct val="0"/>
            </a:spcBef>
            <a:spcAft>
              <a:spcPct val="35000"/>
            </a:spcAft>
            <a:buNone/>
          </a:pPr>
          <a:r>
            <a:rPr lang="en-US" sz="1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All team</a:t>
          </a:r>
        </a:p>
        <a:p>
          <a:pPr marL="0" lvl="0" indent="0" algn="l" defTabSz="622300">
            <a:lnSpc>
              <a:spcPct val="90000"/>
            </a:lnSpc>
            <a:spcBef>
              <a:spcPct val="0"/>
            </a:spcBef>
            <a:spcAft>
              <a:spcPct val="35000"/>
            </a:spcAft>
            <a:buNone/>
          </a:pPr>
          <a:r>
            <a:rPr lang="en-US" sz="1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Review</a:t>
          </a:r>
        </a:p>
        <a:p>
          <a:pPr marL="0" lvl="0" indent="0" algn="l" defTabSz="622300">
            <a:lnSpc>
              <a:spcPct val="90000"/>
            </a:lnSpc>
            <a:spcBef>
              <a:spcPct val="0"/>
            </a:spcBef>
            <a:spcAft>
              <a:spcPct val="35000"/>
            </a:spcAft>
            <a:buNone/>
          </a:pPr>
          <a:r>
            <a:rPr lang="en-US" sz="1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Feedback</a:t>
          </a:r>
        </a:p>
      </dsp:txBody>
      <dsp:txXfrm rot="10800000">
        <a:off x="352467" y="2096707"/>
        <a:ext cx="1341536" cy="2518682"/>
      </dsp:txXfrm>
    </dsp:sp>
    <dsp:sp modelId="{90B3F940-B724-40D8-A94F-9146D440FD8A}">
      <dsp:nvSpPr>
        <dsp:cNvPr id="0" name=""/>
        <dsp:cNvSpPr/>
      </dsp:nvSpPr>
      <dsp:spPr>
        <a:xfrm>
          <a:off x="2057463" y="279561"/>
          <a:ext cx="1429458" cy="1537585"/>
        </a:xfrm>
        <a:prstGeom prst="roundRect">
          <a:avLst>
            <a:gd name="adj" fmla="val 10000"/>
          </a:avLst>
        </a:prstGeom>
        <a:blipFill rotWithShape="1">
          <a:blip xmlns:r="http://schemas.openxmlformats.org/officeDocument/2006/relationships" r:embed="rId2"/>
          <a:stretch>
            <a:fillRect/>
          </a:stretch>
        </a:blip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dsp:style>
    </dsp:sp>
    <dsp:sp modelId="{3B343CFD-77CC-4DF5-B1E4-3624654DA50D}">
      <dsp:nvSpPr>
        <dsp:cNvPr id="0" name=""/>
        <dsp:cNvSpPr/>
      </dsp:nvSpPr>
      <dsp:spPr>
        <a:xfrm rot="10800000">
          <a:off x="1880910" y="2096707"/>
          <a:ext cx="1782563" cy="2562643"/>
        </a:xfrm>
        <a:prstGeom prst="round2SameRect">
          <a:avLst>
            <a:gd name="adj1" fmla="val 10500"/>
            <a:gd name="adj2" fmla="val 0"/>
          </a:avLst>
        </a:prstGeom>
        <a:solidFill>
          <a:srgbClr val="1569B2"/>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vi-VN" sz="1400" b="1"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Define</a:t>
          </a:r>
          <a:r>
            <a:rPr lang="en-US" sz="1400" b="1"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Solution</a:t>
          </a:r>
        </a:p>
        <a:p>
          <a:pPr marL="0" lvl="0" indent="0" algn="l" defTabSz="622300">
            <a:lnSpc>
              <a:spcPct val="90000"/>
            </a:lnSpc>
            <a:spcBef>
              <a:spcPct val="0"/>
            </a:spcBef>
            <a:spcAft>
              <a:spcPct val="35000"/>
            </a:spcAft>
            <a:buNone/>
          </a:pPr>
          <a:r>
            <a:rPr lang="en-US" sz="1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Collects</a:t>
          </a:r>
        </a:p>
        <a:p>
          <a:pPr marL="0" lvl="0" indent="0" algn="l" defTabSz="622300">
            <a:lnSpc>
              <a:spcPct val="90000"/>
            </a:lnSpc>
            <a:spcBef>
              <a:spcPct val="0"/>
            </a:spcBef>
            <a:spcAft>
              <a:spcPct val="35000"/>
            </a:spcAft>
            <a:buNone/>
          </a:pPr>
          <a:r>
            <a:rPr lang="en-US" sz="1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Discuss</a:t>
          </a:r>
        </a:p>
        <a:p>
          <a:pPr marL="0" lvl="0" indent="0" algn="l" defTabSz="622300">
            <a:lnSpc>
              <a:spcPct val="90000"/>
            </a:lnSpc>
            <a:spcBef>
              <a:spcPct val="0"/>
            </a:spcBef>
            <a:spcAft>
              <a:spcPct val="35000"/>
            </a:spcAft>
            <a:buNone/>
          </a:pPr>
          <a:r>
            <a:rPr lang="en-US" sz="1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Finally</a:t>
          </a:r>
        </a:p>
      </dsp:txBody>
      <dsp:txXfrm rot="10800000">
        <a:off x="1935730" y="2096707"/>
        <a:ext cx="1672923" cy="2507823"/>
      </dsp:txXfrm>
    </dsp:sp>
    <dsp:sp modelId="{5D6DFDF9-5E58-4DD7-ABAB-BB38A347E622}">
      <dsp:nvSpPr>
        <dsp:cNvPr id="0" name=""/>
        <dsp:cNvSpPr/>
      </dsp:nvSpPr>
      <dsp:spPr>
        <a:xfrm>
          <a:off x="3806420" y="279561"/>
          <a:ext cx="1429458" cy="1537585"/>
        </a:xfrm>
        <a:prstGeom prst="roundRect">
          <a:avLst>
            <a:gd name="adj" fmla="val 10000"/>
          </a:avLst>
        </a:prstGeom>
        <a:blipFill rotWithShape="1">
          <a:blip xmlns:r="http://schemas.openxmlformats.org/officeDocument/2006/relationships" r:embed="rId3"/>
          <a:stretch>
            <a:fillRect/>
          </a:stretch>
        </a:blip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dsp:style>
    </dsp:sp>
    <dsp:sp modelId="{54B0A84C-5EC4-4D9D-A6A8-E809A38EA150}">
      <dsp:nvSpPr>
        <dsp:cNvPr id="0" name=""/>
        <dsp:cNvSpPr/>
      </dsp:nvSpPr>
      <dsp:spPr>
        <a:xfrm rot="10800000">
          <a:off x="3806420" y="2096707"/>
          <a:ext cx="1429458" cy="2562643"/>
        </a:xfrm>
        <a:prstGeom prst="round2SameRect">
          <a:avLst>
            <a:gd name="adj1" fmla="val 10500"/>
            <a:gd name="adj2" fmla="val 0"/>
          </a:avLst>
        </a:prstGeom>
        <a:solidFill>
          <a:srgbClr val="70AD47">
            <a:lumMod val="75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b="1"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Coding</a:t>
          </a:r>
        </a:p>
        <a:p>
          <a:pPr marL="0" lvl="0" indent="0" algn="l" defTabSz="622300">
            <a:lnSpc>
              <a:spcPct val="90000"/>
            </a:lnSpc>
            <a:spcBef>
              <a:spcPct val="0"/>
            </a:spcBef>
            <a:spcAft>
              <a:spcPct val="35000"/>
            </a:spcAft>
            <a:buNone/>
          </a:pPr>
          <a:r>
            <a:rPr lang="en-US" sz="1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Coding convention</a:t>
          </a:r>
        </a:p>
      </dsp:txBody>
      <dsp:txXfrm rot="10800000">
        <a:off x="3850381" y="2096707"/>
        <a:ext cx="1341536" cy="2518682"/>
      </dsp:txXfrm>
    </dsp:sp>
    <dsp:sp modelId="{3DC23FD8-AC5F-4538-B7DC-8C1B4B881F19}">
      <dsp:nvSpPr>
        <dsp:cNvPr id="0" name=""/>
        <dsp:cNvSpPr/>
      </dsp:nvSpPr>
      <dsp:spPr>
        <a:xfrm>
          <a:off x="5378825" y="279561"/>
          <a:ext cx="1429458" cy="1537585"/>
        </a:xfrm>
        <a:prstGeom prst="roundRect">
          <a:avLst>
            <a:gd name="adj" fmla="val 10000"/>
          </a:avLst>
        </a:prstGeom>
        <a:blipFill rotWithShape="1">
          <a:blip xmlns:r="http://schemas.openxmlformats.org/officeDocument/2006/relationships" r:embed="rId4"/>
          <a:stretch>
            <a:fillRect/>
          </a:stretch>
        </a:blip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dsp:style>
    </dsp:sp>
    <dsp:sp modelId="{49CB391C-3E07-4F55-B38C-53B25FE4673F}">
      <dsp:nvSpPr>
        <dsp:cNvPr id="0" name=""/>
        <dsp:cNvSpPr/>
      </dsp:nvSpPr>
      <dsp:spPr>
        <a:xfrm rot="10800000">
          <a:off x="6938965" y="2096707"/>
          <a:ext cx="1429458" cy="2562643"/>
        </a:xfrm>
        <a:prstGeom prst="round2SameRect">
          <a:avLst>
            <a:gd name="adj1" fmla="val 10500"/>
            <a:gd name="adj2" fmla="val 0"/>
          </a:avLst>
        </a:prstGeom>
        <a:solidFill>
          <a:srgbClr val="4F127F">
            <a:lumMod val="60000"/>
            <a:lumOff val="40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b="1"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Unit Test</a:t>
          </a:r>
        </a:p>
        <a:p>
          <a:pPr marL="0" lvl="0" indent="0" algn="l" defTabSz="622300">
            <a:lnSpc>
              <a:spcPct val="90000"/>
            </a:lnSpc>
            <a:spcBef>
              <a:spcPct val="0"/>
            </a:spcBef>
            <a:spcAft>
              <a:spcPct val="35000"/>
            </a:spcAft>
            <a:buNone/>
          </a:pPr>
          <a:r>
            <a:rPr lang="en-US" sz="1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Check list</a:t>
          </a:r>
        </a:p>
        <a:p>
          <a:pPr marL="0" lvl="0" indent="0" algn="l" defTabSz="622300">
            <a:lnSpc>
              <a:spcPct val="90000"/>
            </a:lnSpc>
            <a:spcBef>
              <a:spcPct val="0"/>
            </a:spcBef>
            <a:spcAft>
              <a:spcPct val="35000"/>
            </a:spcAft>
            <a:buNone/>
          </a:pPr>
          <a:r>
            <a:rPr lang="en-US" sz="1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Basic cases</a:t>
          </a:r>
        </a:p>
      </dsp:txBody>
      <dsp:txXfrm rot="10800000">
        <a:off x="6982926" y="2096707"/>
        <a:ext cx="1341536" cy="2518682"/>
      </dsp:txXfrm>
    </dsp:sp>
    <dsp:sp modelId="{B463F8C1-2D91-45F4-BCAB-D1741368085B}">
      <dsp:nvSpPr>
        <dsp:cNvPr id="0" name=""/>
        <dsp:cNvSpPr/>
      </dsp:nvSpPr>
      <dsp:spPr>
        <a:xfrm>
          <a:off x="6951230" y="279561"/>
          <a:ext cx="1429458" cy="1537585"/>
        </a:xfrm>
        <a:prstGeom prst="roundRect">
          <a:avLst>
            <a:gd name="adj" fmla="val 10000"/>
          </a:avLst>
        </a:prstGeom>
        <a:blipFill rotWithShape="1">
          <a:blip xmlns:r="http://schemas.openxmlformats.org/officeDocument/2006/relationships" r:embed="rId5"/>
          <a:stretch>
            <a:fillRect/>
          </a:stretch>
        </a:blip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dsp:style>
    </dsp:sp>
    <dsp:sp modelId="{FC064097-9CFB-4A8C-979B-12310E574291}">
      <dsp:nvSpPr>
        <dsp:cNvPr id="0" name=""/>
        <dsp:cNvSpPr/>
      </dsp:nvSpPr>
      <dsp:spPr>
        <a:xfrm rot="10800000">
          <a:off x="5336027" y="2096707"/>
          <a:ext cx="1429458" cy="2562643"/>
        </a:xfrm>
        <a:prstGeom prst="round2SameRect">
          <a:avLst>
            <a:gd name="adj1" fmla="val 10500"/>
            <a:gd name="adj2" fmla="val 0"/>
          </a:avLst>
        </a:prstGeom>
        <a:solidFill>
          <a:srgbClr val="36365C">
            <a:lumMod val="60000"/>
            <a:lumOff val="4000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b="1"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Review</a:t>
          </a:r>
        </a:p>
        <a:p>
          <a:pPr marL="0" lvl="0" indent="0" algn="l" defTabSz="622300">
            <a:lnSpc>
              <a:spcPct val="90000"/>
            </a:lnSpc>
            <a:spcBef>
              <a:spcPct val="0"/>
            </a:spcBef>
            <a:spcAft>
              <a:spcPct val="35000"/>
            </a:spcAft>
            <a:buNone/>
          </a:pPr>
          <a:r>
            <a:rPr lang="en-US" sz="1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Self Review</a:t>
          </a:r>
        </a:p>
        <a:p>
          <a:pPr marL="0" lvl="0" indent="0" algn="l" defTabSz="622300">
            <a:lnSpc>
              <a:spcPct val="90000"/>
            </a:lnSpc>
            <a:spcBef>
              <a:spcPct val="0"/>
            </a:spcBef>
            <a:spcAft>
              <a:spcPct val="35000"/>
            </a:spcAft>
            <a:buNone/>
          </a:pPr>
          <a:r>
            <a:rPr lang="en-US" sz="1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 Group Review</a:t>
          </a:r>
        </a:p>
      </dsp:txBody>
      <dsp:txXfrm rot="10800000">
        <a:off x="5379988" y="2096707"/>
        <a:ext cx="1341536" cy="2518682"/>
      </dsp:txXfrm>
    </dsp:sp>
    <dsp:sp modelId="{D868A4E7-0887-484B-8217-8390678A2FA7}">
      <dsp:nvSpPr>
        <dsp:cNvPr id="0" name=""/>
        <dsp:cNvSpPr/>
      </dsp:nvSpPr>
      <dsp:spPr>
        <a:xfrm>
          <a:off x="8523635" y="279561"/>
          <a:ext cx="1429458" cy="1537585"/>
        </a:xfrm>
        <a:prstGeom prst="roundRect">
          <a:avLst>
            <a:gd name="adj" fmla="val 10000"/>
          </a:avLst>
        </a:prstGeom>
        <a:blipFill rotWithShape="1">
          <a:blip xmlns:r="http://schemas.openxmlformats.org/officeDocument/2006/relationships" r:embed="rId1"/>
          <a:srcRect/>
          <a:stretch>
            <a:fillRect t="-1000" b="-1000"/>
          </a:stretch>
        </a:blip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dsp:style>
    </dsp:sp>
    <dsp:sp modelId="{D4DABA57-3CEC-4636-895B-14AE10D6EE3A}">
      <dsp:nvSpPr>
        <dsp:cNvPr id="0" name=""/>
        <dsp:cNvSpPr/>
      </dsp:nvSpPr>
      <dsp:spPr>
        <a:xfrm rot="10800000">
          <a:off x="8523635" y="2096707"/>
          <a:ext cx="1429458" cy="2562643"/>
        </a:xfrm>
        <a:prstGeom prst="round2SameRect">
          <a:avLst>
            <a:gd name="adj1" fmla="val 10500"/>
            <a:gd name="adj2" fmla="val 0"/>
          </a:avLst>
        </a:prstGeom>
        <a:solidFill>
          <a:sysClr val="window" lastClr="FFFFFF">
            <a:lumMod val="65000"/>
          </a:sys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9568" tIns="99568" rIns="99568" bIns="99568" numCol="1" spcCol="1270" anchor="t" anchorCtr="0">
          <a:noAutofit/>
        </a:bodyPr>
        <a:lstStyle/>
        <a:p>
          <a:pPr marL="0" lvl="0" indent="0" algn="l" defTabSz="622300">
            <a:lnSpc>
              <a:spcPct val="90000"/>
            </a:lnSpc>
            <a:spcBef>
              <a:spcPct val="0"/>
            </a:spcBef>
            <a:spcAft>
              <a:spcPct val="35000"/>
            </a:spcAft>
            <a:buNone/>
          </a:pPr>
          <a:r>
            <a:rPr lang="en-US" sz="1400" b="1"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Deliver to LG CNS</a:t>
          </a:r>
        </a:p>
      </dsp:txBody>
      <dsp:txXfrm rot="10800000">
        <a:off x="8567596" y="2096707"/>
        <a:ext cx="1341536" cy="2518682"/>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E0B0B9B-6E72-40F4-B575-796AB9516786}">
      <dsp:nvSpPr>
        <dsp:cNvPr id="0" name=""/>
        <dsp:cNvSpPr/>
      </dsp:nvSpPr>
      <dsp:spPr>
        <a:xfrm>
          <a:off x="468" y="432355"/>
          <a:ext cx="3431232" cy="857808"/>
        </a:xfrm>
        <a:prstGeom prst="roundRect">
          <a:avLst>
            <a:gd name="adj" fmla="val 10000"/>
          </a:avLst>
        </a:prstGeom>
        <a:solidFill>
          <a:srgbClr val="166FBC"/>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ts val="0"/>
            </a:spcAft>
            <a:buNone/>
          </a:pPr>
          <a:r>
            <a:rPr lang="en-US" sz="2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Defect</a:t>
          </a:r>
        </a:p>
        <a:p>
          <a:pPr marL="0" lvl="0" indent="0" algn="ctr" defTabSz="1066800">
            <a:lnSpc>
              <a:spcPct val="90000"/>
            </a:lnSpc>
            <a:spcBef>
              <a:spcPct val="0"/>
            </a:spcBef>
            <a:spcAft>
              <a:spcPts val="0"/>
            </a:spcAft>
            <a:buNone/>
          </a:pPr>
          <a:r>
            <a:rPr lang="en-US" sz="2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(Bug)</a:t>
          </a:r>
        </a:p>
      </dsp:txBody>
      <dsp:txXfrm>
        <a:off x="25592" y="457479"/>
        <a:ext cx="3380984" cy="807560"/>
      </dsp:txXfrm>
    </dsp:sp>
    <dsp:sp modelId="{93DB77A2-7926-41B2-92D6-FD498C8B486F}">
      <dsp:nvSpPr>
        <dsp:cNvPr id="0" name=""/>
        <dsp:cNvSpPr/>
      </dsp:nvSpPr>
      <dsp:spPr>
        <a:xfrm rot="5400000">
          <a:off x="1641026" y="1365221"/>
          <a:ext cx="150116" cy="150116"/>
        </a:xfrm>
        <a:prstGeom prst="rightArrow">
          <a:avLst>
            <a:gd name="adj1" fmla="val 66700"/>
            <a:gd name="adj2" fmla="val 50000"/>
          </a:avLst>
        </a:prstGeom>
        <a:solidFill>
          <a:srgbClr val="FF0000"/>
        </a:solidFill>
        <a:ln>
          <a:noFill/>
        </a:ln>
        <a:effectLst/>
      </dsp:spPr>
      <dsp:style>
        <a:lnRef idx="0">
          <a:scrgbClr r="0" g="0" b="0"/>
        </a:lnRef>
        <a:fillRef idx="1">
          <a:scrgbClr r="0" g="0" b="0"/>
        </a:fillRef>
        <a:effectRef idx="0">
          <a:scrgbClr r="0" g="0" b="0"/>
        </a:effectRef>
        <a:fontRef idx="minor">
          <a:schemeClr val="lt1"/>
        </a:fontRef>
      </dsp:style>
    </dsp:sp>
    <dsp:sp modelId="{6310C7BF-5B49-4311-BF42-46947C8E733C}">
      <dsp:nvSpPr>
        <dsp:cNvPr id="0" name=""/>
        <dsp:cNvSpPr/>
      </dsp:nvSpPr>
      <dsp:spPr>
        <a:xfrm>
          <a:off x="468" y="1590395"/>
          <a:ext cx="3431232" cy="857808"/>
        </a:xfrm>
        <a:prstGeom prst="roundRect">
          <a:avLst>
            <a:gd name="adj" fmla="val 10000"/>
          </a:avLst>
        </a:prstGeom>
        <a:solidFill>
          <a:srgbClr val="F27228"/>
        </a:solidFill>
        <a:ln w="12700" cap="flat" cmpd="sng" algn="ctr">
          <a:solidFill>
            <a:srgbClr val="70AD47">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Defects are issues that do not match the requirements</a:t>
          </a:r>
        </a:p>
      </dsp:txBody>
      <dsp:txXfrm>
        <a:off x="25592" y="1615519"/>
        <a:ext cx="3380984" cy="807560"/>
      </dsp:txXfrm>
    </dsp:sp>
    <dsp:sp modelId="{DEFA68D0-E374-422F-84B5-AE66B04151E9}">
      <dsp:nvSpPr>
        <dsp:cNvPr id="0" name=""/>
        <dsp:cNvSpPr/>
      </dsp:nvSpPr>
      <dsp:spPr>
        <a:xfrm rot="5400000">
          <a:off x="1641026" y="2523262"/>
          <a:ext cx="150116" cy="150116"/>
        </a:xfrm>
        <a:prstGeom prst="rightArrow">
          <a:avLst>
            <a:gd name="adj1" fmla="val 66700"/>
            <a:gd name="adj2" fmla="val 50000"/>
          </a:avLst>
        </a:prstGeom>
        <a:solidFill>
          <a:srgbClr val="FF0000"/>
        </a:solidFill>
        <a:ln>
          <a:noFill/>
        </a:ln>
        <a:effectLst/>
      </dsp:spPr>
      <dsp:style>
        <a:lnRef idx="0">
          <a:scrgbClr r="0" g="0" b="0"/>
        </a:lnRef>
        <a:fillRef idx="1">
          <a:scrgbClr r="0" g="0" b="0"/>
        </a:fillRef>
        <a:effectRef idx="0">
          <a:scrgbClr r="0" g="0" b="0"/>
        </a:effectRef>
        <a:fontRef idx="minor">
          <a:schemeClr val="lt1"/>
        </a:fontRef>
      </dsp:style>
    </dsp:sp>
    <dsp:sp modelId="{DDC63260-FAD0-4CE9-89F9-83A68E3D5598}">
      <dsp:nvSpPr>
        <dsp:cNvPr id="0" name=""/>
        <dsp:cNvSpPr/>
      </dsp:nvSpPr>
      <dsp:spPr>
        <a:xfrm>
          <a:off x="468" y="2748436"/>
          <a:ext cx="3431232" cy="857808"/>
        </a:xfrm>
        <a:prstGeom prst="roundRect">
          <a:avLst>
            <a:gd name="adj" fmla="val 10000"/>
          </a:avLst>
        </a:prstGeom>
        <a:solidFill>
          <a:srgbClr val="24B24B"/>
        </a:solidFill>
        <a:ln w="12700" cap="flat" cmpd="sng" algn="ctr">
          <a:solidFill>
            <a:srgbClr val="70AD47">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Defects are covered under the warranty and will be fixed based on the priority of the issue</a:t>
          </a:r>
        </a:p>
      </dsp:txBody>
      <dsp:txXfrm>
        <a:off x="25592" y="2773560"/>
        <a:ext cx="3380984" cy="807560"/>
      </dsp:txXfrm>
    </dsp:sp>
    <dsp:sp modelId="{83AD8AD1-863F-4EE6-B770-981B1E063FE7}">
      <dsp:nvSpPr>
        <dsp:cNvPr id="0" name=""/>
        <dsp:cNvSpPr/>
      </dsp:nvSpPr>
      <dsp:spPr>
        <a:xfrm>
          <a:off x="3912073" y="432355"/>
          <a:ext cx="3431232" cy="857808"/>
        </a:xfrm>
        <a:prstGeom prst="roundRect">
          <a:avLst>
            <a:gd name="adj" fmla="val 10000"/>
          </a:avLst>
        </a:prstGeom>
        <a:solidFill>
          <a:srgbClr val="166FBC"/>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0480" tIns="30480" rIns="30480" bIns="30480" numCol="1" spcCol="1270" anchor="ctr" anchorCtr="0">
          <a:noAutofit/>
        </a:bodyPr>
        <a:lstStyle/>
        <a:p>
          <a:pPr marL="0" lvl="0" indent="0" algn="ctr" defTabSz="1066800">
            <a:lnSpc>
              <a:spcPct val="90000"/>
            </a:lnSpc>
            <a:spcBef>
              <a:spcPct val="0"/>
            </a:spcBef>
            <a:spcAft>
              <a:spcPct val="35000"/>
            </a:spcAft>
            <a:buNone/>
          </a:pPr>
          <a:r>
            <a:rPr lang="en-US" sz="24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Change Request (Enhancement)</a:t>
          </a:r>
        </a:p>
      </dsp:txBody>
      <dsp:txXfrm>
        <a:off x="3937197" y="457479"/>
        <a:ext cx="3380984" cy="807560"/>
      </dsp:txXfrm>
    </dsp:sp>
    <dsp:sp modelId="{09263423-3AA0-4132-AFC2-9CBF327ED544}">
      <dsp:nvSpPr>
        <dsp:cNvPr id="0" name=""/>
        <dsp:cNvSpPr/>
      </dsp:nvSpPr>
      <dsp:spPr>
        <a:xfrm rot="5400000">
          <a:off x="5552631" y="1365221"/>
          <a:ext cx="150116" cy="150116"/>
        </a:xfrm>
        <a:prstGeom prst="rightArrow">
          <a:avLst>
            <a:gd name="adj1" fmla="val 66700"/>
            <a:gd name="adj2" fmla="val 50000"/>
          </a:avLst>
        </a:prstGeom>
        <a:solidFill>
          <a:srgbClr val="FF0000"/>
        </a:solidFill>
        <a:ln>
          <a:noFill/>
        </a:ln>
        <a:effectLst/>
      </dsp:spPr>
      <dsp:style>
        <a:lnRef idx="0">
          <a:scrgbClr r="0" g="0" b="0"/>
        </a:lnRef>
        <a:fillRef idx="1">
          <a:scrgbClr r="0" g="0" b="0"/>
        </a:fillRef>
        <a:effectRef idx="0">
          <a:scrgbClr r="0" g="0" b="0"/>
        </a:effectRef>
        <a:fontRef idx="minor">
          <a:schemeClr val="lt1"/>
        </a:fontRef>
      </dsp:style>
    </dsp:sp>
    <dsp:sp modelId="{F8C361CC-CBD8-4BA2-B65D-A76187F11565}">
      <dsp:nvSpPr>
        <dsp:cNvPr id="0" name=""/>
        <dsp:cNvSpPr/>
      </dsp:nvSpPr>
      <dsp:spPr>
        <a:xfrm>
          <a:off x="3912073" y="1590395"/>
          <a:ext cx="3431232" cy="857808"/>
        </a:xfrm>
        <a:prstGeom prst="roundRect">
          <a:avLst>
            <a:gd name="adj" fmla="val 10000"/>
          </a:avLst>
        </a:prstGeom>
        <a:solidFill>
          <a:srgbClr val="F27228"/>
        </a:solidFill>
        <a:ln w="12700" cap="flat" cmpd="sng" algn="ctr">
          <a:solidFill>
            <a:srgbClr val="70AD47">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Change Requests are updates to the requirements</a:t>
          </a:r>
        </a:p>
      </dsp:txBody>
      <dsp:txXfrm>
        <a:off x="3937197" y="1615519"/>
        <a:ext cx="3380984" cy="807560"/>
      </dsp:txXfrm>
    </dsp:sp>
    <dsp:sp modelId="{6844116F-2BC9-40B3-9BD9-E408F272E137}">
      <dsp:nvSpPr>
        <dsp:cNvPr id="0" name=""/>
        <dsp:cNvSpPr/>
      </dsp:nvSpPr>
      <dsp:spPr>
        <a:xfrm rot="5400000">
          <a:off x="5552631" y="2523262"/>
          <a:ext cx="150116" cy="150116"/>
        </a:xfrm>
        <a:prstGeom prst="rightArrow">
          <a:avLst>
            <a:gd name="adj1" fmla="val 66700"/>
            <a:gd name="adj2" fmla="val 50000"/>
          </a:avLst>
        </a:prstGeom>
        <a:solidFill>
          <a:srgbClr val="FF0000"/>
        </a:solidFill>
        <a:ln>
          <a:noFill/>
        </a:ln>
        <a:effectLst/>
      </dsp:spPr>
      <dsp:style>
        <a:lnRef idx="0">
          <a:scrgbClr r="0" g="0" b="0"/>
        </a:lnRef>
        <a:fillRef idx="1">
          <a:scrgbClr r="0" g="0" b="0"/>
        </a:fillRef>
        <a:effectRef idx="0">
          <a:scrgbClr r="0" g="0" b="0"/>
        </a:effectRef>
        <a:fontRef idx="minor">
          <a:schemeClr val="lt1"/>
        </a:fontRef>
      </dsp:style>
    </dsp:sp>
    <dsp:sp modelId="{FBF2C257-0536-4D2F-87BE-57DDA105221C}">
      <dsp:nvSpPr>
        <dsp:cNvPr id="0" name=""/>
        <dsp:cNvSpPr/>
      </dsp:nvSpPr>
      <dsp:spPr>
        <a:xfrm>
          <a:off x="3912073" y="2748436"/>
          <a:ext cx="3431232" cy="857808"/>
        </a:xfrm>
        <a:prstGeom prst="roundRect">
          <a:avLst>
            <a:gd name="adj" fmla="val 10000"/>
          </a:avLst>
        </a:prstGeom>
        <a:solidFill>
          <a:srgbClr val="24B24B"/>
        </a:solidFill>
        <a:ln w="12700" cap="flat" cmpd="sng" algn="ctr">
          <a:solidFill>
            <a:srgbClr val="70AD47">
              <a:alpha val="90000"/>
              <a:tint val="4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r>
            <a:rPr lang="en-US" sz="160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FPT will estimate the effort involved to implement the request and obtain approval for the additional cost</a:t>
          </a:r>
        </a:p>
      </dsp:txBody>
      <dsp:txXfrm>
        <a:off x="3937197" y="2773560"/>
        <a:ext cx="3380984" cy="807560"/>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819955-6CC6-428B-B261-A65483EE462A}">
      <dsp:nvSpPr>
        <dsp:cNvPr id="0" name=""/>
        <dsp:cNvSpPr/>
      </dsp:nvSpPr>
      <dsp:spPr>
        <a:xfrm>
          <a:off x="0" y="1827952"/>
          <a:ext cx="6242687" cy="399911"/>
        </a:xfrm>
        <a:prstGeom prst="rect">
          <a:avLst/>
        </a:prstGeom>
        <a:solidFill>
          <a:srgbClr val="ED7D31">
            <a:hueOff val="0"/>
            <a:satOff val="0"/>
            <a:lumOff val="0"/>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Highest Level Escalation (Company Level)</a:t>
          </a:r>
        </a:p>
      </dsp:txBody>
      <dsp:txXfrm>
        <a:off x="0" y="1827952"/>
        <a:ext cx="6242687" cy="215952"/>
      </dsp:txXfrm>
    </dsp:sp>
    <dsp:sp modelId="{8C21A597-C830-4BCE-BBDC-9F6AE3F23D33}">
      <dsp:nvSpPr>
        <dsp:cNvPr id="0" name=""/>
        <dsp:cNvSpPr/>
      </dsp:nvSpPr>
      <dsp:spPr>
        <a:xfrm>
          <a:off x="0" y="2035906"/>
          <a:ext cx="3121343" cy="183959"/>
        </a:xfrm>
        <a:prstGeom prst="rect">
          <a:avLst/>
        </a:prstGeom>
        <a:solidFill>
          <a:srgbClr val="ED7D31">
            <a:tint val="40000"/>
            <a:alpha val="90000"/>
            <a:hueOff val="0"/>
            <a:satOff val="0"/>
            <a:lumOff val="0"/>
            <a:alphaOff val="0"/>
          </a:srgbClr>
        </a:solidFill>
        <a:ln w="12700" cap="flat" cmpd="sng" algn="ctr">
          <a:solidFill>
            <a:srgbClr val="ED7D31">
              <a:tint val="40000"/>
              <a:alpha val="90000"/>
              <a:hueOff val="0"/>
              <a:satOff val="0"/>
              <a:lumOff val="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b="0" kern="120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FPT Software BOD</a:t>
          </a:r>
        </a:p>
      </dsp:txBody>
      <dsp:txXfrm>
        <a:off x="0" y="2035906"/>
        <a:ext cx="3121343" cy="183959"/>
      </dsp:txXfrm>
    </dsp:sp>
    <dsp:sp modelId="{11F59DA7-6394-4B34-BEA7-87083408BB90}">
      <dsp:nvSpPr>
        <dsp:cNvPr id="0" name=""/>
        <dsp:cNvSpPr/>
      </dsp:nvSpPr>
      <dsp:spPr>
        <a:xfrm>
          <a:off x="3121343" y="2035906"/>
          <a:ext cx="3121343" cy="183959"/>
        </a:xfrm>
        <a:prstGeom prst="rect">
          <a:avLst/>
        </a:prstGeom>
        <a:solidFill>
          <a:srgbClr val="ED7D31">
            <a:tint val="40000"/>
            <a:alpha val="90000"/>
            <a:hueOff val="-121318"/>
            <a:satOff val="-10764"/>
            <a:lumOff val="-110"/>
            <a:alphaOff val="0"/>
          </a:srgbClr>
        </a:solidFill>
        <a:ln w="12700" cap="flat" cmpd="sng" algn="ctr">
          <a:solidFill>
            <a:srgbClr val="ED7D31">
              <a:tint val="40000"/>
              <a:alpha val="90000"/>
              <a:hueOff val="-121318"/>
              <a:satOff val="-10764"/>
              <a:lumOff val="-11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b="0" kern="120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Email/Phone/Chat</a:t>
          </a:r>
        </a:p>
      </dsp:txBody>
      <dsp:txXfrm>
        <a:off x="3121343" y="2035906"/>
        <a:ext cx="3121343" cy="183959"/>
      </dsp:txXfrm>
    </dsp:sp>
    <dsp:sp modelId="{C214AD81-2ED5-46D6-A306-66CF98D9538D}">
      <dsp:nvSpPr>
        <dsp:cNvPr id="0" name=""/>
        <dsp:cNvSpPr/>
      </dsp:nvSpPr>
      <dsp:spPr>
        <a:xfrm rot="10800000">
          <a:off x="0" y="1218887"/>
          <a:ext cx="6242687" cy="615063"/>
        </a:xfrm>
        <a:prstGeom prst="upArrowCallout">
          <a:avLst/>
        </a:prstGeom>
        <a:solidFill>
          <a:srgbClr val="ED7D31">
            <a:hueOff val="-485121"/>
            <a:satOff val="-27976"/>
            <a:lumOff val="2876"/>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Level 3 Escalation (Out of Project)</a:t>
          </a:r>
        </a:p>
      </dsp:txBody>
      <dsp:txXfrm rot="-10800000">
        <a:off x="0" y="1294497"/>
        <a:ext cx="6242687" cy="140277"/>
      </dsp:txXfrm>
    </dsp:sp>
    <dsp:sp modelId="{D78D9061-2AD2-4E06-BE8D-F8FEAC7C54EE}">
      <dsp:nvSpPr>
        <dsp:cNvPr id="0" name=""/>
        <dsp:cNvSpPr/>
      </dsp:nvSpPr>
      <dsp:spPr>
        <a:xfrm>
          <a:off x="0" y="1434775"/>
          <a:ext cx="3121343" cy="183904"/>
        </a:xfrm>
        <a:prstGeom prst="rect">
          <a:avLst/>
        </a:prstGeom>
        <a:solidFill>
          <a:srgbClr val="ED7D31">
            <a:tint val="40000"/>
            <a:alpha val="90000"/>
            <a:hueOff val="-242636"/>
            <a:satOff val="-21527"/>
            <a:lumOff val="-220"/>
            <a:alphaOff val="0"/>
          </a:srgbClr>
        </a:solidFill>
        <a:ln w="12700" cap="flat" cmpd="sng" algn="ctr">
          <a:solidFill>
            <a:srgbClr val="ED7D31">
              <a:tint val="40000"/>
              <a:alpha val="90000"/>
              <a:hueOff val="-242636"/>
              <a:satOff val="-21527"/>
              <a:lumOff val="-22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b="0" kern="120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Delivery Head (FPT Korea) </a:t>
          </a:r>
        </a:p>
      </dsp:txBody>
      <dsp:txXfrm>
        <a:off x="0" y="1434775"/>
        <a:ext cx="3121343" cy="183904"/>
      </dsp:txXfrm>
    </dsp:sp>
    <dsp:sp modelId="{EF97737B-0F6C-4263-B7FE-8A4C3218DC7A}">
      <dsp:nvSpPr>
        <dsp:cNvPr id="0" name=""/>
        <dsp:cNvSpPr/>
      </dsp:nvSpPr>
      <dsp:spPr>
        <a:xfrm>
          <a:off x="3121343" y="1434775"/>
          <a:ext cx="3121343" cy="183904"/>
        </a:xfrm>
        <a:prstGeom prst="rect">
          <a:avLst/>
        </a:prstGeom>
        <a:solidFill>
          <a:srgbClr val="ED7D31">
            <a:tint val="40000"/>
            <a:alpha val="90000"/>
            <a:hueOff val="-363954"/>
            <a:satOff val="-32291"/>
            <a:lumOff val="-330"/>
            <a:alphaOff val="0"/>
          </a:srgbClr>
        </a:solidFill>
        <a:ln w="12700" cap="flat" cmpd="sng" algn="ctr">
          <a:solidFill>
            <a:srgbClr val="ED7D31">
              <a:tint val="40000"/>
              <a:alpha val="90000"/>
              <a:hueOff val="-363954"/>
              <a:satOff val="-32291"/>
              <a:lumOff val="-330"/>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b="0" kern="120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Email/Phone/Chat</a:t>
          </a:r>
        </a:p>
      </dsp:txBody>
      <dsp:txXfrm>
        <a:off x="3121343" y="1434775"/>
        <a:ext cx="3121343" cy="183904"/>
      </dsp:txXfrm>
    </dsp:sp>
    <dsp:sp modelId="{63AE0AE0-FF59-4817-BC6A-FDE564D4CFA2}">
      <dsp:nvSpPr>
        <dsp:cNvPr id="0" name=""/>
        <dsp:cNvSpPr/>
      </dsp:nvSpPr>
      <dsp:spPr>
        <a:xfrm rot="10800000">
          <a:off x="0" y="609822"/>
          <a:ext cx="6242687" cy="615063"/>
        </a:xfrm>
        <a:prstGeom prst="upArrowCallout">
          <a:avLst/>
        </a:prstGeom>
        <a:solidFill>
          <a:srgbClr val="ED7D31">
            <a:hueOff val="-970242"/>
            <a:satOff val="-55952"/>
            <a:lumOff val="5752"/>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Level 2 Escalation (In Project)</a:t>
          </a:r>
        </a:p>
      </dsp:txBody>
      <dsp:txXfrm rot="-10800000">
        <a:off x="0" y="685432"/>
        <a:ext cx="6242687" cy="140277"/>
      </dsp:txXfrm>
    </dsp:sp>
    <dsp:sp modelId="{F086CF34-6A16-4013-B3B5-0AC2607A18D7}">
      <dsp:nvSpPr>
        <dsp:cNvPr id="0" name=""/>
        <dsp:cNvSpPr/>
      </dsp:nvSpPr>
      <dsp:spPr>
        <a:xfrm>
          <a:off x="0" y="825710"/>
          <a:ext cx="3121343" cy="183904"/>
        </a:xfrm>
        <a:prstGeom prst="rect">
          <a:avLst/>
        </a:prstGeom>
        <a:solidFill>
          <a:srgbClr val="ED7D31">
            <a:tint val="40000"/>
            <a:alpha val="90000"/>
            <a:hueOff val="-485272"/>
            <a:satOff val="-43055"/>
            <a:lumOff val="-439"/>
            <a:alphaOff val="0"/>
          </a:srgbClr>
        </a:solidFill>
        <a:ln w="12700" cap="flat" cmpd="sng" algn="ctr">
          <a:solidFill>
            <a:srgbClr val="ED7D31">
              <a:tint val="40000"/>
              <a:alpha val="90000"/>
              <a:hueOff val="-485272"/>
              <a:satOff val="-43055"/>
              <a:lumOff val="-439"/>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b="0" kern="120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    Onsite PM (FPT Korea) </a:t>
          </a:r>
        </a:p>
      </dsp:txBody>
      <dsp:txXfrm>
        <a:off x="0" y="825710"/>
        <a:ext cx="3121343" cy="183904"/>
      </dsp:txXfrm>
    </dsp:sp>
    <dsp:sp modelId="{F8136C1A-53FE-4C37-93F5-33998429925D}">
      <dsp:nvSpPr>
        <dsp:cNvPr id="0" name=""/>
        <dsp:cNvSpPr/>
      </dsp:nvSpPr>
      <dsp:spPr>
        <a:xfrm>
          <a:off x="3121343" y="825710"/>
          <a:ext cx="3121343" cy="183904"/>
        </a:xfrm>
        <a:prstGeom prst="rect">
          <a:avLst/>
        </a:prstGeom>
        <a:solidFill>
          <a:srgbClr val="ED7D31">
            <a:tint val="40000"/>
            <a:alpha val="90000"/>
            <a:hueOff val="-606590"/>
            <a:satOff val="-53819"/>
            <a:lumOff val="-549"/>
            <a:alphaOff val="0"/>
          </a:srgbClr>
        </a:solidFill>
        <a:ln w="12700" cap="flat" cmpd="sng" algn="ctr">
          <a:solidFill>
            <a:srgbClr val="ED7D31">
              <a:tint val="40000"/>
              <a:alpha val="90000"/>
              <a:hueOff val="-606590"/>
              <a:satOff val="-53819"/>
              <a:lumOff val="-549"/>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b="0" kern="120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Email/Phone/Chat</a:t>
          </a:r>
        </a:p>
      </dsp:txBody>
      <dsp:txXfrm>
        <a:off x="3121343" y="825710"/>
        <a:ext cx="3121343" cy="183904"/>
      </dsp:txXfrm>
    </dsp:sp>
    <dsp:sp modelId="{94F620B2-DCFA-4293-AAAF-2680AE2373EA}">
      <dsp:nvSpPr>
        <dsp:cNvPr id="0" name=""/>
        <dsp:cNvSpPr/>
      </dsp:nvSpPr>
      <dsp:spPr>
        <a:xfrm rot="10800000">
          <a:off x="0" y="757"/>
          <a:ext cx="6242687" cy="615063"/>
        </a:xfrm>
        <a:prstGeom prst="upArrowCallout">
          <a:avLst/>
        </a:prstGeom>
        <a:solidFill>
          <a:srgbClr val="ED7D31">
            <a:hueOff val="-1455363"/>
            <a:satOff val="-83928"/>
            <a:lumOff val="8628"/>
            <a:alphaOff val="0"/>
          </a:srgbClr>
        </a:solidFill>
        <a:ln w="12700" cap="flat" cmpd="sng" algn="ctr">
          <a:solidFill>
            <a:sysClr val="window" lastClr="FFFFFF">
              <a:hueOff val="0"/>
              <a:satOff val="0"/>
              <a:lumOff val="0"/>
              <a:alphaOff val="0"/>
            </a:sys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92456" tIns="92456" rIns="92456" bIns="92456" numCol="1" spcCol="1270" anchor="ctr" anchorCtr="0">
          <a:noAutofit/>
        </a:bodyPr>
        <a:lstStyle/>
        <a:p>
          <a:pPr marL="0" lvl="0" indent="0" algn="ctr" defTabSz="577850">
            <a:lnSpc>
              <a:spcPct val="90000"/>
            </a:lnSpc>
            <a:spcBef>
              <a:spcPct val="0"/>
            </a:spcBef>
            <a:spcAft>
              <a:spcPct val="35000"/>
            </a:spcAft>
            <a:buNone/>
          </a:pPr>
          <a:r>
            <a:rPr lang="en-US" sz="1300" b="0" kern="1200" dirty="0">
              <a:solidFill>
                <a:sysClr val="window" lastClr="FFFFFF"/>
              </a:solidFill>
              <a:latin typeface="Tahoma" panose="020B0604030504040204" pitchFamily="34" charset="0"/>
              <a:ea typeface="Tahoma" panose="020B0604030504040204" pitchFamily="34" charset="0"/>
              <a:cs typeface="Tahoma" panose="020B0604030504040204" pitchFamily="34" charset="0"/>
            </a:rPr>
            <a:t>Level 1 Escalation (In Team)</a:t>
          </a:r>
        </a:p>
      </dsp:txBody>
      <dsp:txXfrm rot="-10800000">
        <a:off x="0" y="76367"/>
        <a:ext cx="6242687" cy="140277"/>
      </dsp:txXfrm>
    </dsp:sp>
    <dsp:sp modelId="{71FA7E0D-DC61-466A-B5AC-FFE10ABD7E92}">
      <dsp:nvSpPr>
        <dsp:cNvPr id="0" name=""/>
        <dsp:cNvSpPr/>
      </dsp:nvSpPr>
      <dsp:spPr>
        <a:xfrm>
          <a:off x="0" y="216645"/>
          <a:ext cx="3121343" cy="183904"/>
        </a:xfrm>
        <a:prstGeom prst="rect">
          <a:avLst/>
        </a:prstGeom>
        <a:solidFill>
          <a:srgbClr val="ED7D31">
            <a:tint val="40000"/>
            <a:alpha val="90000"/>
            <a:hueOff val="-727908"/>
            <a:satOff val="-64582"/>
            <a:lumOff val="-659"/>
            <a:alphaOff val="0"/>
          </a:srgbClr>
        </a:solidFill>
        <a:ln w="12700" cap="flat" cmpd="sng" algn="ctr">
          <a:solidFill>
            <a:srgbClr val="ED7D31">
              <a:tint val="40000"/>
              <a:alpha val="90000"/>
              <a:hueOff val="-727908"/>
              <a:satOff val="-64582"/>
              <a:lumOff val="-659"/>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b="0" kern="120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Manager/Customer</a:t>
          </a:r>
        </a:p>
      </dsp:txBody>
      <dsp:txXfrm>
        <a:off x="0" y="216645"/>
        <a:ext cx="3121343" cy="183904"/>
      </dsp:txXfrm>
    </dsp:sp>
    <dsp:sp modelId="{5246BF01-4503-497A-A024-8721023FE5EA}">
      <dsp:nvSpPr>
        <dsp:cNvPr id="0" name=""/>
        <dsp:cNvSpPr/>
      </dsp:nvSpPr>
      <dsp:spPr>
        <a:xfrm>
          <a:off x="3121343" y="216645"/>
          <a:ext cx="3121343" cy="183904"/>
        </a:xfrm>
        <a:prstGeom prst="rect">
          <a:avLst/>
        </a:prstGeom>
        <a:solidFill>
          <a:srgbClr val="ED7D31">
            <a:tint val="40000"/>
            <a:alpha val="90000"/>
            <a:hueOff val="-849226"/>
            <a:satOff val="-75346"/>
            <a:lumOff val="-769"/>
            <a:alphaOff val="0"/>
          </a:srgbClr>
        </a:solidFill>
        <a:ln w="12700" cap="flat" cmpd="sng" algn="ctr">
          <a:solidFill>
            <a:srgbClr val="ED7D31">
              <a:tint val="40000"/>
              <a:alpha val="90000"/>
              <a:hueOff val="-849226"/>
              <a:satOff val="-75346"/>
              <a:lumOff val="-769"/>
              <a:alphaOff val="0"/>
            </a:srgb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92456" tIns="16510" rIns="92456" bIns="16510" numCol="1" spcCol="1270" anchor="ctr" anchorCtr="0">
          <a:noAutofit/>
        </a:bodyPr>
        <a:lstStyle/>
        <a:p>
          <a:pPr marL="0" lvl="0" indent="0" algn="ctr" defTabSz="577850">
            <a:lnSpc>
              <a:spcPct val="90000"/>
            </a:lnSpc>
            <a:spcBef>
              <a:spcPct val="0"/>
            </a:spcBef>
            <a:spcAft>
              <a:spcPct val="35000"/>
            </a:spcAft>
            <a:buNone/>
          </a:pPr>
          <a:r>
            <a:rPr lang="en-US" sz="1300" b="0" kern="1200" dirty="0">
              <a:solidFill>
                <a:srgbClr val="36365C">
                  <a:hueOff val="0"/>
                  <a:satOff val="0"/>
                  <a:lumOff val="0"/>
                  <a:alphaOff val="0"/>
                </a:srgbClr>
              </a:solidFill>
              <a:latin typeface="Tahoma" panose="020B0604030504040204" pitchFamily="34" charset="0"/>
              <a:ea typeface="Tahoma" panose="020B0604030504040204" pitchFamily="34" charset="0"/>
              <a:cs typeface="Tahoma" panose="020B0604030504040204" pitchFamily="34" charset="0"/>
            </a:rPr>
            <a:t>Email/Phone/Chat</a:t>
          </a:r>
        </a:p>
      </dsp:txBody>
      <dsp:txXfrm>
        <a:off x="3121343" y="216645"/>
        <a:ext cx="3121343" cy="183904"/>
      </dsp:txXfrm>
    </dsp:sp>
  </dsp:spTree>
</dsp:drawing>
</file>

<file path=ppt/diagrams/layout1.xml><?xml version="1.0" encoding="utf-8"?>
<dgm:layoutDef xmlns:dgm="http://schemas.openxmlformats.org/drawingml/2006/diagram" xmlns:a="http://schemas.openxmlformats.org/drawingml/2006/main" uniqueId="urn:microsoft.com/office/officeart/2005/8/layout/pList2">
  <dgm:title val=""/>
  <dgm:desc val=""/>
  <dgm:catLst>
    <dgm:cat type="list" pri="11000"/>
    <dgm:cat type="picture" pri="24000"/>
    <dgm:cat type="pictureconvert" pri="24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alg type="composite"/>
    <dgm:shape xmlns:r="http://schemas.openxmlformats.org/officeDocument/2006/relationships" r:blip="">
      <dgm:adjLst/>
    </dgm:shape>
    <dgm:presOf/>
    <dgm:constrLst>
      <dgm:constr type="w" for="ch" forName="bkgdShp" refType="w"/>
      <dgm:constr type="h" for="ch" forName="bkgdShp" refType="h" fact="0.45"/>
      <dgm:constr type="t" for="ch" forName="bkgdShp"/>
      <dgm:constr type="w" for="ch" forName="linComp" refType="w" fact="0.94"/>
      <dgm:constr type="h" for="ch" forName="linComp" refType="h"/>
      <dgm:constr type="ctrX" for="ch" forName="linComp" refType="w" fact="0.5"/>
    </dgm:constrLst>
    <dgm:ruleLst/>
    <dgm:choose name="Name1">
      <dgm:if name="Name2" axis="ch" ptType="node" func="cnt" op="gte" val="1">
        <dgm:layoutNode name="bkgdShp" styleLbl="alignAccFollowNode1">
          <dgm:alg type="sp"/>
          <dgm:shape xmlns:r="http://schemas.openxmlformats.org/officeDocument/2006/relationships" type="roundRect" r:blip="">
            <dgm:adjLst>
              <dgm:adj idx="1" val="0.1"/>
            </dgm:adjLst>
          </dgm:shape>
          <dgm:presOf/>
          <dgm:constrLst/>
          <dgm:ruleLst/>
        </dgm:layoutNode>
        <dgm:layoutNode name="linComp">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w" for="ch" forName="compNode" refType="w"/>
            <dgm:constr type="h" for="ch" forName="compNode" refType="h"/>
            <dgm:constr type="w" for="ch" ptType="sibTrans" refType="w" refFor="ch" refForName="compNode" fact="0.1"/>
            <dgm:constr type="h" for="ch" ptType="sibTrans" op="equ"/>
            <dgm:constr type="h" for="ch" forName="compNode" op="equ"/>
            <dgm:constr type="primFontSz" for="des" forName="node" op="equ"/>
          </dgm:constrLst>
          <dgm:ruleLst/>
          <dgm:forEach name="nodesForEach" axis="ch" ptType="node">
            <dgm:layoutNode name="compNode">
              <dgm:alg type="composite"/>
              <dgm:shape xmlns:r="http://schemas.openxmlformats.org/officeDocument/2006/relationships" r:blip="">
                <dgm:adjLst/>
              </dgm:shape>
              <dgm:presOf/>
              <dgm:constrLst>
                <dgm:constr type="w" for="ch" forName="node" refType="w"/>
                <dgm:constr type="h" for="ch" forName="node" refType="h" fact="0.55"/>
                <dgm:constr type="b" for="ch" forName="node" refType="h"/>
                <dgm:constr type="w" for="ch" forName="invisiNode" refType="w" fact="0.75"/>
                <dgm:constr type="h" for="ch" forName="invisiNode" refType="h" fact="0.06"/>
                <dgm:constr type="t" for="ch" forName="invisiNode"/>
                <dgm:constr type="w" for="ch" forName="imagNode" refType="w"/>
                <dgm:constr type="h" for="ch" forName="imagNode" refType="h" fact="0.33"/>
                <dgm:constr type="ctrX" for="ch" forName="imagNode" refType="w" fact="0.5"/>
                <dgm:constr type="t" for="ch" forName="imagNode" refType="h" fact="0.06"/>
              </dgm:constrLst>
              <dgm:ruleLst/>
              <dgm:layoutNode name="node" styleLbl="node1">
                <dgm:varLst>
                  <dgm:bulletEnabled val="1"/>
                </dgm:varLst>
                <dgm:alg type="tx">
                  <dgm:param type="txAnchorVert" val="t"/>
                </dgm:alg>
                <dgm:shape xmlns:r="http://schemas.openxmlformats.org/officeDocument/2006/relationships" rot="180" type="round2SameRect" r:blip="">
                  <dgm:adjLst>
                    <dgm:adj idx="1" val="0.105"/>
                  </dgm:adjLst>
                </dgm:shape>
                <dgm:presOf axis="desOrSelf" ptType="node"/>
                <dgm:constrLst>
                  <dgm:constr type="primFontSz" val="65"/>
                </dgm:constrLst>
                <dgm:ruleLst>
                  <dgm:rule type="primFontSz" val="5" fact="NaN" max="NaN"/>
                </dgm:ruleLst>
              </dgm:layoutNode>
              <dgm:layoutNode name="invisiNode">
                <dgm:alg type="sp"/>
                <dgm:shape xmlns:r="http://schemas.openxmlformats.org/officeDocument/2006/relationships" type="roundRect" r:blip="" hideGeom="1">
                  <dgm:adjLst>
                    <dgm:adj idx="1" val="0.1"/>
                  </dgm:adjLst>
                </dgm:shape>
                <dgm:presOf/>
                <dgm:constrLst/>
                <dgm:ruleLst/>
              </dgm:layoutNode>
              <dgm:layoutNode name="imagNode" styleLbl="fgImgPlace1">
                <dgm:alg type="sp"/>
                <dgm:shape xmlns:r="http://schemas.openxmlformats.org/officeDocument/2006/relationships" type="roundRect" r:blip="" zOrderOff="-2" blipPhldr="1">
                  <dgm:adjLst>
                    <dgm:adj idx="1" val="0.1"/>
                  </dgm:adjLst>
                </dgm:shape>
                <dgm:presOf/>
                <dgm:constrLst/>
                <dgm:ruleLst/>
              </dgm:layoutNode>
            </dgm:layoutNode>
            <dgm:forEach name="sibTransForEach"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if>
      <dgm:else name="Name6"/>
    </dgm:choose>
  </dgm:layoutNode>
</dgm:layoutDef>
</file>

<file path=ppt/diagrams/layout2.xml><?xml version="1.0" encoding="utf-8"?>
<dgm:layoutDef xmlns:dgm="http://schemas.openxmlformats.org/drawingml/2006/diagram" xmlns:a="http://schemas.openxmlformats.org/drawingml/2006/main" uniqueId="urn:microsoft.com/office/officeart/2005/8/layout/lProcess1">
  <dgm:title val=""/>
  <dgm:desc val=""/>
  <dgm:catLst>
    <dgm:cat type="process" pri="1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0" destId="2" srcOrd="0" destOrd="0"/>
        <dgm:cxn modelId="6" srcId="1" destId="3" srcOrd="1" destOrd="0"/>
        <dgm:cxn modelId="23" srcId="2" destId="21" srcOrd="0" destOrd="0"/>
        <dgm:cxn modelId="24" srcId="2" destId="22" srcOrd="1" destOrd="0"/>
        <dgm:cxn modelId="33" srcId="1" destId="31" srcOrd="0" destOrd="0"/>
      </dgm:cxnLst>
      <dgm:bg/>
      <dgm:whole/>
    </dgm:dataModel>
  </dgm:sampData>
  <dgm:styleData>
    <dgm:dataModel>
      <dgm:ptLst>
        <dgm:pt modelId="0" type="doc"/>
        <dgm:pt modelId="1"/>
        <dgm:pt modelId="11"/>
        <dgm:pt modelId="2"/>
        <dgm:pt modelId="22"/>
      </dgm:ptLst>
      <dgm:cxnLst>
        <dgm:cxn modelId="3" srcId="0" destId="1" srcOrd="0" destOrd="0"/>
        <dgm:cxn modelId="4" srcId="0" destId="2" srcOrd="0" destOrd="0"/>
        <dgm:cxn modelId="5" srcId="1" destId="11" srcOrd="0" destOrd="0"/>
        <dgm:cxn modelId="6" srcId="2" destId="22"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51" srcId="1" destId="11" srcOrd="0" destOrd="0"/>
        <dgm:cxn modelId="61" srcId="2" destId="21" srcOrd="0" destOrd="0"/>
        <dgm:cxn modelId="71" srcId="3" destId="31" srcOrd="0" destOrd="0"/>
        <dgm:cxn modelId="81"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L"/>
          <dgm:param type="vertAlign" val="mid"/>
          <dgm:param type="nodeHorzAlign" val="l"/>
          <dgm:param type="nodeVertAlign" val="t"/>
          <dgm:param type="fallback" val="2D"/>
        </dgm:alg>
      </dgm:if>
      <dgm:else name="Name3">
        <dgm:alg type="lin">
          <dgm:param type="linDir" val="fromR"/>
          <dgm:param type="vertAlign" val="mid"/>
          <dgm:param type="nodeHorzAlign" val="r"/>
          <dgm:param type="nodeVertAlign" val="t"/>
          <dgm:param type="fallback" val="2D"/>
        </dgm:alg>
      </dgm:else>
    </dgm:choose>
    <dgm:shape xmlns:r="http://schemas.openxmlformats.org/officeDocument/2006/relationships" r:blip="">
      <dgm:adjLst/>
    </dgm:shape>
    <dgm:presOf/>
    <dgm:constrLst>
      <dgm:constr type="h" for="des" forName="header" refType="h"/>
      <dgm:constr type="w" for="des" forName="header" refType="h" refFor="des" refForName="header" op="equ" fact="4"/>
      <dgm:constr type="h" for="des" forName="child" refType="h" refFor="des" refForName="header" op="equ"/>
      <dgm:constr type="w" for="des" forName="child" refType="w" refFor="des" refForName="header" op="equ"/>
      <dgm:constr type="w" for="ch" forName="hSp" refType="w" refFor="des" refForName="header" op="equ" fact="0.14"/>
      <dgm:constr type="h" for="des" forName="parTrans" refType="h" refFor="des" refForName="header" op="equ" fact="0.35"/>
      <dgm:constr type="h" for="des" forName="sibTrans" refType="h" refFor="des" refForName="parTrans" op="equ"/>
      <dgm:constr type="primFontSz" for="des" forName="child" op="equ" val="65"/>
      <dgm:constr type="primFontSz" for="des" forName="header" op="equ" val="65"/>
    </dgm:constrLst>
    <dgm:ruleLst/>
    <dgm:forEach name="Name4" axis="ch" ptType="node">
      <dgm:layoutNode name="vertFlow">
        <dgm:choose name="Name5">
          <dgm:if name="Name6" func="var" arg="dir" op="equ" val="norm">
            <dgm:alg type="lin">
              <dgm:param type="linDir" val="fromT"/>
              <dgm:param type="nodeHorzAlign" val="ctr"/>
              <dgm:param type="nodeVertAlign" val="t"/>
              <dgm:param type="fallback" val="2D"/>
            </dgm:alg>
          </dgm:if>
          <dgm:else name="Name7">
            <dgm:alg type="lin">
              <dgm:param type="linDir" val="fromT"/>
              <dgm:param type="nodeHorzAlign" val="ctr"/>
              <dgm:param type="nodeVertAlign" val="t"/>
              <dgm:param type="fallback" val="2D"/>
            </dgm:alg>
          </dgm:else>
        </dgm:choose>
        <dgm:shape xmlns:r="http://schemas.openxmlformats.org/officeDocument/2006/relationships" r:blip="">
          <dgm:adjLst/>
        </dgm:shape>
        <dgm:presOf/>
        <dgm:constrLst/>
        <dgm:ruleLst/>
        <dgm:layoutNode name="header" styleLbl="node1">
          <dgm:alg type="tx"/>
          <dgm:shape xmlns:r="http://schemas.openxmlformats.org/officeDocument/2006/relationships" type="roundRect" r:blip="">
            <dgm:adjLst>
              <dgm:adj idx="1" val="0.1"/>
            </dgm:adjLst>
          </dgm:shape>
          <dgm:presOf axis="self"/>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8" axis="ch" ptType="parTrans" cnt="1">
          <dgm:layoutNode name="par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connDist" fact="0.25"/>
              <dgm:constr type="endPad" refType="connDist" fact="0.25"/>
            </dgm:constrLst>
            <dgm:ruleLst/>
          </dgm:layoutNode>
        </dgm:forEach>
        <dgm:forEach name="Name9" axis="ch" ptType="node">
          <dgm:layoutNode name="child" styleLbl="alignAccFollowNode1">
            <dgm:varLst>
              <dgm:chMax val="0"/>
              <dgm:bulletEnabled val="1"/>
            </dgm:varLst>
            <dgm:alg type="tx"/>
            <dgm:shape xmlns:r="http://schemas.openxmlformats.org/officeDocument/2006/relationships" type="roundRect" r:blip="">
              <dgm:adjLst>
                <dgm:adj idx="1" val="0.1"/>
              </dgm:adjLst>
            </dgm:shape>
            <dgm:presOf axis="desOrSelf" ptType="node"/>
            <dgm:constrLst>
              <dgm:constr type="tMarg" refType="primFontSz" fact="0.1"/>
              <dgm:constr type="bMarg" refType="primFontSz" fact="0.1"/>
              <dgm:constr type="lMarg" refType="primFontSz" fact="0.1"/>
              <dgm:constr type="rMarg" refType="primFontSz" fact="0.1"/>
            </dgm:constrLst>
            <dgm:ruleLst>
              <dgm:rule type="primFontSz" val="5" fact="NaN" max="NaN"/>
            </dgm:ruleLst>
          </dgm:layoutNode>
          <dgm:forEach name="Name10" axis="followSib" ptType="sibTrans" cnt="1">
            <dgm:layoutNode name="sibTrans" styleLbl="sibTrans2D1">
              <dgm:alg type="conn">
                <dgm:param type="begPts" val="auto"/>
                <dgm:param type="endPts" val="auto"/>
              </dgm:alg>
              <dgm:shape xmlns:r="http://schemas.openxmlformats.org/officeDocument/2006/relationships" type="conn" r:blip="">
                <dgm:adjLst/>
              </dgm:shape>
              <dgm:presOf axis="self"/>
              <dgm:constrLst>
                <dgm:constr type="w" refType="h"/>
                <dgm:constr type="connDist"/>
                <dgm:constr type="wArH" refType="h" fact="0.25"/>
                <dgm:constr type="hArH" refType="wArH" fact="2"/>
                <dgm:constr type="stemThick" refType="hArH" fact="0.667"/>
                <dgm:constr type="begPad" refType="w" fact="0.25"/>
                <dgm:constr type="endPad" refType="w" fact="0.25"/>
              </dgm:constrLst>
              <dgm:ruleLst/>
            </dgm:layoutNode>
          </dgm:forEach>
        </dgm:forEach>
      </dgm:layoutNode>
      <dgm:choose name="Name11">
        <dgm:if name="Name12" axis="self" ptType="node" func="revPos" op="gte" val="2">
          <dgm:layoutNode name="hSp">
            <dgm:alg type="sp"/>
            <dgm:shape xmlns:r="http://schemas.openxmlformats.org/officeDocument/2006/relationships" r:blip="">
              <dgm:adjLst/>
            </dgm:shape>
            <dgm:presOf/>
            <dgm:constrLst/>
            <dgm:ruleLst/>
          </dgm:layoutNode>
        </dgm:if>
        <dgm:else name="Name13"/>
      </dgm:choose>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7.png"/><Relationship Id="rId1" Type="http://schemas.openxmlformats.org/officeDocument/2006/relationships/slideMaster" Target="../slideMasters/slideMaster1.xml"/><Relationship Id="rId4" Type="http://schemas.openxmlformats.org/officeDocument/2006/relationships/image" Target="../media/image3.png"/></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wo Content" userDrawn="1">
  <p:cSld name="TWO_OBJECTS">
    <p:spTree>
      <p:nvGrpSpPr>
        <p:cNvPr id="1" name="Shape 42"/>
        <p:cNvGrpSpPr/>
        <p:nvPr/>
      </p:nvGrpSpPr>
      <p:grpSpPr>
        <a:xfrm>
          <a:off x="0" y="0"/>
          <a:ext cx="0" cy="0"/>
          <a:chOff x="0" y="0"/>
          <a:chExt cx="0" cy="0"/>
        </a:xfrm>
      </p:grpSpPr>
      <p:pic>
        <p:nvPicPr>
          <p:cNvPr id="2" name="Picture 1">
            <a:extLst>
              <a:ext uri="{FF2B5EF4-FFF2-40B4-BE49-F238E27FC236}">
                <a16:creationId xmlns:a16="http://schemas.microsoft.com/office/drawing/2014/main" id="{81CDD878-B4BC-F97F-A425-4699C276E082}"/>
              </a:ext>
            </a:extLst>
          </p:cNvPr>
          <p:cNvPicPr>
            <a:picLocks noChangeAspect="1"/>
          </p:cNvPicPr>
          <p:nvPr userDrawn="1"/>
        </p:nvPicPr>
        <p:blipFill>
          <a:blip r:embed="rId2"/>
          <a:srcRect/>
          <a:stretch/>
        </p:blipFill>
        <p:spPr>
          <a:xfrm>
            <a:off x="-7749" y="-4359"/>
            <a:ext cx="12199749" cy="6862358"/>
          </a:xfrm>
          <a:prstGeom prst="rect">
            <a:avLst/>
          </a:prstGeom>
        </p:spPr>
      </p:pic>
      <p:pic>
        <p:nvPicPr>
          <p:cNvPr id="7" name="Picture 6">
            <a:extLst>
              <a:ext uri="{FF2B5EF4-FFF2-40B4-BE49-F238E27FC236}">
                <a16:creationId xmlns:a16="http://schemas.microsoft.com/office/drawing/2014/main" id="{52C655F4-4A5A-6764-CB07-5F38A8E4A2CE}"/>
              </a:ext>
            </a:extLst>
          </p:cNvPr>
          <p:cNvPicPr>
            <a:picLocks noChangeAspect="1"/>
          </p:cNvPicPr>
          <p:nvPr userDrawn="1"/>
        </p:nvPicPr>
        <p:blipFill>
          <a:blip r:embed="rId3"/>
          <a:stretch>
            <a:fillRect/>
          </a:stretch>
        </p:blipFill>
        <p:spPr>
          <a:xfrm>
            <a:off x="10447070" y="13271"/>
            <a:ext cx="1346200" cy="368300"/>
          </a:xfrm>
          <a:prstGeom prst="rect">
            <a:avLst/>
          </a:prstGeom>
        </p:spPr>
      </p:pic>
      <p:sp>
        <p:nvSpPr>
          <p:cNvPr id="10" name="Google Shape;13;p40">
            <a:extLst>
              <a:ext uri="{FF2B5EF4-FFF2-40B4-BE49-F238E27FC236}">
                <a16:creationId xmlns:a16="http://schemas.microsoft.com/office/drawing/2014/main" id="{AD953AC9-B2FD-8BD9-BAD5-210CC19F1181}"/>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dirty="0"/>
          </a:p>
        </p:txBody>
      </p:sp>
      <p:sp>
        <p:nvSpPr>
          <p:cNvPr id="17" name="TextBox 16">
            <a:extLst>
              <a:ext uri="{FF2B5EF4-FFF2-40B4-BE49-F238E27FC236}">
                <a16:creationId xmlns:a16="http://schemas.microsoft.com/office/drawing/2014/main" id="{754A16EF-1C3B-C3CF-B0CA-6687406F94B4}"/>
              </a:ext>
            </a:extLst>
          </p:cNvPr>
          <p:cNvSpPr txBox="1"/>
          <p:nvPr userDrawn="1"/>
        </p:nvSpPr>
        <p:spPr>
          <a:xfrm>
            <a:off x="418176" y="6478583"/>
            <a:ext cx="2145995" cy="215444"/>
          </a:xfrm>
          <a:prstGeom prst="rect">
            <a:avLst/>
          </a:prstGeom>
          <a:noFill/>
        </p:spPr>
        <p:txBody>
          <a:bodyPr wrap="square">
            <a:spAutoFit/>
          </a:bodyPr>
          <a:lstStyle/>
          <a:p>
            <a:pPr marL="0" indent="0">
              <a:spcBef>
                <a:spcPts val="100"/>
              </a:spcBef>
              <a:buNone/>
            </a:pPr>
            <a:r>
              <a:rPr lang="en-US" sz="800" dirty="0">
                <a:solidFill>
                  <a:schemeClr val="bg1"/>
                </a:solidFill>
                <a:latin typeface="Segoe UI" panose="020B0502040204020203" pitchFamily="34" charset="0"/>
                <a:cs typeface="Segoe UI" panose="020B0502040204020203" pitchFamily="34" charset="0"/>
              </a:rPr>
              <a:t>©Copyright FPT Software</a:t>
            </a:r>
          </a:p>
        </p:txBody>
      </p:sp>
      <p:pic>
        <p:nvPicPr>
          <p:cNvPr id="3" name="Picture 2">
            <a:extLst>
              <a:ext uri="{FF2B5EF4-FFF2-40B4-BE49-F238E27FC236}">
                <a16:creationId xmlns:a16="http://schemas.microsoft.com/office/drawing/2014/main" id="{50E31792-91A8-8CEA-7E49-C4DE5EF003D0}"/>
              </a:ext>
            </a:extLst>
          </p:cNvPr>
          <p:cNvPicPr>
            <a:picLocks noChangeAspect="1"/>
          </p:cNvPicPr>
          <p:nvPr userDrawn="1"/>
        </p:nvPicPr>
        <p:blipFill>
          <a:blip r:embed="rId4"/>
          <a:stretch>
            <a:fillRect/>
          </a:stretch>
        </p:blipFill>
        <p:spPr>
          <a:xfrm>
            <a:off x="418176" y="41431"/>
            <a:ext cx="1397000" cy="330200"/>
          </a:xfrm>
          <a:prstGeom prst="rect">
            <a:avLst/>
          </a:prstGeom>
        </p:spPr>
      </p:pic>
    </p:spTree>
  </p:cSld>
  <p:clrMapOvr>
    <a:masterClrMapping/>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Comparison" userDrawn="1">
  <p:cSld name="TWO_OBJECTS_WITH_TEXT">
    <p:spTree>
      <p:nvGrpSpPr>
        <p:cNvPr id="1" name="Shape 49"/>
        <p:cNvGrpSpPr/>
        <p:nvPr/>
      </p:nvGrpSpPr>
      <p:grpSpPr>
        <a:xfrm>
          <a:off x="0" y="0"/>
          <a:ext cx="0" cy="0"/>
          <a:chOff x="0" y="0"/>
          <a:chExt cx="0" cy="0"/>
        </a:xfrm>
      </p:grpSpPr>
      <p:pic>
        <p:nvPicPr>
          <p:cNvPr id="5" name="Picture 4">
            <a:extLst>
              <a:ext uri="{FF2B5EF4-FFF2-40B4-BE49-F238E27FC236}">
                <a16:creationId xmlns:a16="http://schemas.microsoft.com/office/drawing/2014/main" id="{54B3E707-6C85-A999-0593-0B600B72E5D0}"/>
              </a:ext>
            </a:extLst>
          </p:cNvPr>
          <p:cNvPicPr>
            <a:picLocks noChangeAspect="1"/>
          </p:cNvPicPr>
          <p:nvPr userDrawn="1"/>
        </p:nvPicPr>
        <p:blipFill>
          <a:blip r:embed="rId2"/>
          <a:srcRect/>
          <a:stretch/>
        </p:blipFill>
        <p:spPr>
          <a:xfrm>
            <a:off x="-7748" y="-4359"/>
            <a:ext cx="12199747" cy="6862358"/>
          </a:xfrm>
          <a:prstGeom prst="rect">
            <a:avLst/>
          </a:prstGeom>
        </p:spPr>
      </p:pic>
      <p:pic>
        <p:nvPicPr>
          <p:cNvPr id="9" name="Picture 8">
            <a:extLst>
              <a:ext uri="{FF2B5EF4-FFF2-40B4-BE49-F238E27FC236}">
                <a16:creationId xmlns:a16="http://schemas.microsoft.com/office/drawing/2014/main" id="{B4E984FA-C973-CFE0-3A24-425CE035D8F1}"/>
              </a:ext>
            </a:extLst>
          </p:cNvPr>
          <p:cNvPicPr>
            <a:picLocks noChangeAspect="1"/>
          </p:cNvPicPr>
          <p:nvPr userDrawn="1"/>
        </p:nvPicPr>
        <p:blipFill>
          <a:blip r:embed="rId3"/>
          <a:stretch>
            <a:fillRect/>
          </a:stretch>
        </p:blipFill>
        <p:spPr>
          <a:xfrm>
            <a:off x="10447070" y="13271"/>
            <a:ext cx="1346200" cy="368300"/>
          </a:xfrm>
          <a:prstGeom prst="rect">
            <a:avLst/>
          </a:prstGeom>
        </p:spPr>
      </p:pic>
      <p:sp>
        <p:nvSpPr>
          <p:cNvPr id="12" name="Google Shape;13;p40">
            <a:extLst>
              <a:ext uri="{FF2B5EF4-FFF2-40B4-BE49-F238E27FC236}">
                <a16:creationId xmlns:a16="http://schemas.microsoft.com/office/drawing/2014/main" id="{6188007F-A26A-FAFB-7B62-9936D9231480}"/>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dirty="0"/>
          </a:p>
        </p:txBody>
      </p:sp>
      <p:sp>
        <p:nvSpPr>
          <p:cNvPr id="15" name="TextBox 14">
            <a:extLst>
              <a:ext uri="{FF2B5EF4-FFF2-40B4-BE49-F238E27FC236}">
                <a16:creationId xmlns:a16="http://schemas.microsoft.com/office/drawing/2014/main" id="{5EB94855-BCED-6FA4-956C-08AC3AC62114}"/>
              </a:ext>
            </a:extLst>
          </p:cNvPr>
          <p:cNvSpPr txBox="1"/>
          <p:nvPr userDrawn="1"/>
        </p:nvSpPr>
        <p:spPr>
          <a:xfrm>
            <a:off x="418176" y="6478583"/>
            <a:ext cx="2145995" cy="215444"/>
          </a:xfrm>
          <a:prstGeom prst="rect">
            <a:avLst/>
          </a:prstGeom>
          <a:noFill/>
        </p:spPr>
        <p:txBody>
          <a:bodyPr wrap="square">
            <a:spAutoFit/>
          </a:bodyPr>
          <a:lstStyle/>
          <a:p>
            <a:pPr marL="0" indent="0">
              <a:spcBef>
                <a:spcPts val="100"/>
              </a:spcBef>
              <a:buNone/>
            </a:pPr>
            <a:r>
              <a:rPr lang="en-US" sz="800" dirty="0">
                <a:solidFill>
                  <a:schemeClr val="bg1"/>
                </a:solidFill>
                <a:latin typeface="Segoe UI" panose="020B0502040204020203" pitchFamily="34" charset="0"/>
                <a:cs typeface="Segoe UI" panose="020B0502040204020203" pitchFamily="34" charset="0"/>
              </a:rPr>
              <a:t>©Copyright FPT Software</a:t>
            </a:r>
          </a:p>
        </p:txBody>
      </p:sp>
      <p:pic>
        <p:nvPicPr>
          <p:cNvPr id="2" name="Picture 1">
            <a:extLst>
              <a:ext uri="{FF2B5EF4-FFF2-40B4-BE49-F238E27FC236}">
                <a16:creationId xmlns:a16="http://schemas.microsoft.com/office/drawing/2014/main" id="{D3A0CA02-1F4D-EC85-97EF-5D47CB4B8C62}"/>
              </a:ext>
            </a:extLst>
          </p:cNvPr>
          <p:cNvPicPr>
            <a:picLocks noChangeAspect="1"/>
          </p:cNvPicPr>
          <p:nvPr userDrawn="1"/>
        </p:nvPicPr>
        <p:blipFill>
          <a:blip r:embed="rId4"/>
          <a:stretch>
            <a:fillRect/>
          </a:stretch>
        </p:blipFill>
        <p:spPr>
          <a:xfrm>
            <a:off x="418176" y="41431"/>
            <a:ext cx="1397000" cy="33020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userDrawn="1">
  <p:cSld name="TITLE_ONLY">
    <p:spTree>
      <p:nvGrpSpPr>
        <p:cNvPr id="1" name="Shape 58"/>
        <p:cNvGrpSpPr/>
        <p:nvPr/>
      </p:nvGrpSpPr>
      <p:grpSpPr>
        <a:xfrm>
          <a:off x="0" y="0"/>
          <a:ext cx="0" cy="0"/>
          <a:chOff x="0" y="0"/>
          <a:chExt cx="0" cy="0"/>
        </a:xfrm>
      </p:grpSpPr>
      <p:sp>
        <p:nvSpPr>
          <p:cNvPr id="3" name="Google Shape;13;p40">
            <a:extLst>
              <a:ext uri="{FF2B5EF4-FFF2-40B4-BE49-F238E27FC236}">
                <a16:creationId xmlns:a16="http://schemas.microsoft.com/office/drawing/2014/main" id="{919D63BC-D0E9-771F-7824-2A7E3F1F3B88}"/>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lumMod val="50000"/>
                  </a:schemeClr>
                </a:solidFill>
                <a:latin typeface="BR Omega" pitchFamily="2" charset="77"/>
                <a:ea typeface="BR Omega" pitchFamily="2" charset="77"/>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userDrawn="1">
  <p:cSld name="OBJECT_WITH_CAPTION_TEXT">
    <p:spTree>
      <p:nvGrpSpPr>
        <p:cNvPr id="1" name="Shape 63"/>
        <p:cNvGrpSpPr/>
        <p:nvPr/>
      </p:nvGrpSpPr>
      <p:grpSpPr>
        <a:xfrm>
          <a:off x="0" y="0"/>
          <a:ext cx="0" cy="0"/>
          <a:chOff x="0" y="0"/>
          <a:chExt cx="0" cy="0"/>
        </a:xfrm>
      </p:grpSpPr>
      <p:sp>
        <p:nvSpPr>
          <p:cNvPr id="3" name="Google Shape;13;p40">
            <a:extLst>
              <a:ext uri="{FF2B5EF4-FFF2-40B4-BE49-F238E27FC236}">
                <a16:creationId xmlns:a16="http://schemas.microsoft.com/office/drawing/2014/main" id="{40E92E68-EF53-3052-946E-EF8270A5B409}"/>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lumMod val="50000"/>
                  </a:schemeClr>
                </a:solidFill>
                <a:latin typeface="BR Omega" pitchFamily="2" charset="77"/>
                <a:ea typeface="BR Omega" pitchFamily="2" charset="77"/>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Picture with Caption" userDrawn="1">
  <p:cSld name="PICTURE_WITH_CAPTION_TEXT">
    <p:spTree>
      <p:nvGrpSpPr>
        <p:cNvPr id="1" name="Shape 70"/>
        <p:cNvGrpSpPr/>
        <p:nvPr/>
      </p:nvGrpSpPr>
      <p:grpSpPr>
        <a:xfrm>
          <a:off x="0" y="0"/>
          <a:ext cx="0" cy="0"/>
          <a:chOff x="0" y="0"/>
          <a:chExt cx="0" cy="0"/>
        </a:xfrm>
      </p:grpSpPr>
      <p:sp>
        <p:nvSpPr>
          <p:cNvPr id="3" name="Google Shape;13;p40">
            <a:extLst>
              <a:ext uri="{FF2B5EF4-FFF2-40B4-BE49-F238E27FC236}">
                <a16:creationId xmlns:a16="http://schemas.microsoft.com/office/drawing/2014/main" id="{6D3BDA20-B87A-C0FD-378B-3C1304FA43BB}"/>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lumMod val="50000"/>
                  </a:schemeClr>
                </a:solidFill>
                <a:latin typeface="BR Omega" pitchFamily="2" charset="77"/>
                <a:ea typeface="BR Omega" pitchFamily="2" charset="77"/>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Vertical Text" userDrawn="1">
  <p:cSld name="VERTICAL_TEXT">
    <p:spTree>
      <p:nvGrpSpPr>
        <p:cNvPr id="1" name="Shape 77"/>
        <p:cNvGrpSpPr/>
        <p:nvPr/>
      </p:nvGrpSpPr>
      <p:grpSpPr>
        <a:xfrm>
          <a:off x="0" y="0"/>
          <a:ext cx="0" cy="0"/>
          <a:chOff x="0" y="0"/>
          <a:chExt cx="0" cy="0"/>
        </a:xfrm>
      </p:grpSpPr>
      <p:sp>
        <p:nvSpPr>
          <p:cNvPr id="3" name="Google Shape;13;p40">
            <a:extLst>
              <a:ext uri="{FF2B5EF4-FFF2-40B4-BE49-F238E27FC236}">
                <a16:creationId xmlns:a16="http://schemas.microsoft.com/office/drawing/2014/main" id="{E15E62B7-78E3-3D59-3CE7-9102611E9E7D}"/>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lumMod val="50000"/>
                  </a:schemeClr>
                </a:solidFill>
                <a:latin typeface="BR Omega" pitchFamily="2" charset="77"/>
                <a:ea typeface="BR Omega" pitchFamily="2" charset="77"/>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Vertical Title and Text" userDrawn="1">
  <p:cSld name="VERTICAL_TITLE_AND_VERTICAL_TEXT">
    <p:spTree>
      <p:nvGrpSpPr>
        <p:cNvPr id="1" name="Shape 83"/>
        <p:cNvGrpSpPr/>
        <p:nvPr/>
      </p:nvGrpSpPr>
      <p:grpSpPr>
        <a:xfrm>
          <a:off x="0" y="0"/>
          <a:ext cx="0" cy="0"/>
          <a:chOff x="0" y="0"/>
          <a:chExt cx="0" cy="0"/>
        </a:xfrm>
      </p:grpSpPr>
      <p:sp>
        <p:nvSpPr>
          <p:cNvPr id="3" name="Google Shape;13;p40">
            <a:extLst>
              <a:ext uri="{FF2B5EF4-FFF2-40B4-BE49-F238E27FC236}">
                <a16:creationId xmlns:a16="http://schemas.microsoft.com/office/drawing/2014/main" id="{5EDB57AC-A198-CE37-B9B7-E1CAAF461FFF}"/>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lumMod val="50000"/>
                  </a:schemeClr>
                </a:solidFill>
                <a:latin typeface="BR Omega" pitchFamily="2" charset="77"/>
                <a:ea typeface="BR Omega" pitchFamily="2" charset="77"/>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a:p>
        </p:txBody>
      </p:sp>
      <p:pic>
        <p:nvPicPr>
          <p:cNvPr id="2" name="Picture 1">
            <a:extLst>
              <a:ext uri="{FF2B5EF4-FFF2-40B4-BE49-F238E27FC236}">
                <a16:creationId xmlns:a16="http://schemas.microsoft.com/office/drawing/2014/main" id="{7CDBB0DA-200F-4A9F-DE15-1B163D4DA5D8}"/>
              </a:ext>
            </a:extLst>
          </p:cNvPr>
          <p:cNvPicPr>
            <a:picLocks noChangeAspect="1"/>
          </p:cNvPicPr>
          <p:nvPr userDrawn="1"/>
        </p:nvPicPr>
        <p:blipFill>
          <a:blip r:embed="rId2"/>
          <a:srcRect/>
          <a:stretch/>
        </p:blipFill>
        <p:spPr>
          <a:xfrm>
            <a:off x="0" y="0"/>
            <a:ext cx="12192000" cy="6858000"/>
          </a:xfrm>
          <a:prstGeom prst="rect">
            <a:avLst/>
          </a:prstGeom>
        </p:spPr>
      </p:pic>
      <p:sp>
        <p:nvSpPr>
          <p:cNvPr id="4" name="Google Shape;13;p40">
            <a:extLst>
              <a:ext uri="{FF2B5EF4-FFF2-40B4-BE49-F238E27FC236}">
                <a16:creationId xmlns:a16="http://schemas.microsoft.com/office/drawing/2014/main" id="{46A99D4B-3D3E-F5F3-FD66-7BFC53EA4ADF}"/>
              </a:ext>
            </a:extLst>
          </p:cNvPr>
          <p:cNvSpPr txBox="1">
            <a:spLocks/>
          </p:cNvSpPr>
          <p:nvPr userDrawn="1"/>
        </p:nvSpPr>
        <p:spPr>
          <a:xfrm>
            <a:off x="11597481" y="6389138"/>
            <a:ext cx="453570" cy="39433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L="0" marR="0" lvl="0" indent="0" algn="ctr" rtl="0">
              <a:lnSpc>
                <a:spcPct val="100000"/>
              </a:lnSpc>
              <a:spcBef>
                <a:spcPts val="0"/>
              </a:spcBef>
              <a:spcAft>
                <a:spcPts val="0"/>
              </a:spcAft>
              <a:buClr>
                <a:srgbClr val="000000"/>
              </a:buClr>
              <a:buFont typeface="Arial"/>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lnSpc>
                <a:spcPct val="100000"/>
              </a:lnSpc>
              <a:spcBef>
                <a:spcPts val="0"/>
              </a:spcBef>
              <a:spcAft>
                <a:spcPts val="0"/>
              </a:spcAft>
              <a:buClr>
                <a:srgbClr val="000000"/>
              </a:buClr>
              <a:buFont typeface="Arial"/>
              <a:buNone/>
              <a:defRPr sz="1000" b="0" i="0" u="none" strike="noStrike" cap="none">
                <a:solidFill>
                  <a:srgbClr val="888888"/>
                </a:solidFill>
                <a:latin typeface="Arial"/>
                <a:ea typeface="Arial"/>
                <a:cs typeface="Arial"/>
                <a:sym typeface="Arial"/>
              </a:defRPr>
            </a:lvl2pPr>
            <a:lvl3pPr marL="0" marR="0" lvl="2" indent="0" algn="ctr" rtl="0">
              <a:lnSpc>
                <a:spcPct val="100000"/>
              </a:lnSpc>
              <a:spcBef>
                <a:spcPts val="0"/>
              </a:spcBef>
              <a:spcAft>
                <a:spcPts val="0"/>
              </a:spcAft>
              <a:buClr>
                <a:srgbClr val="000000"/>
              </a:buClr>
              <a:buFont typeface="Arial"/>
              <a:buNone/>
              <a:defRPr sz="1000" b="0" i="0" u="none" strike="noStrike" cap="none">
                <a:solidFill>
                  <a:srgbClr val="888888"/>
                </a:solidFill>
                <a:latin typeface="Arial"/>
                <a:ea typeface="Arial"/>
                <a:cs typeface="Arial"/>
                <a:sym typeface="Arial"/>
              </a:defRPr>
            </a:lvl3pPr>
            <a:lvl4pPr marL="0" marR="0" lvl="3" indent="0" algn="ctr" rtl="0">
              <a:lnSpc>
                <a:spcPct val="100000"/>
              </a:lnSpc>
              <a:spcBef>
                <a:spcPts val="0"/>
              </a:spcBef>
              <a:spcAft>
                <a:spcPts val="0"/>
              </a:spcAft>
              <a:buClr>
                <a:srgbClr val="000000"/>
              </a:buClr>
              <a:buFont typeface="Arial"/>
              <a:buNone/>
              <a:defRPr sz="1000" b="0" i="0" u="none" strike="noStrike" cap="none">
                <a:solidFill>
                  <a:srgbClr val="888888"/>
                </a:solidFill>
                <a:latin typeface="Arial"/>
                <a:ea typeface="Arial"/>
                <a:cs typeface="Arial"/>
                <a:sym typeface="Arial"/>
              </a:defRPr>
            </a:lvl4pPr>
            <a:lvl5pPr marL="0" marR="0" lvl="4" indent="0" algn="ctr" rtl="0">
              <a:lnSpc>
                <a:spcPct val="100000"/>
              </a:lnSpc>
              <a:spcBef>
                <a:spcPts val="0"/>
              </a:spcBef>
              <a:spcAft>
                <a:spcPts val="0"/>
              </a:spcAft>
              <a:buClr>
                <a:srgbClr val="000000"/>
              </a:buClr>
              <a:buFont typeface="Arial"/>
              <a:buNone/>
              <a:defRPr sz="1000" b="0" i="0" u="none" strike="noStrike" cap="none">
                <a:solidFill>
                  <a:srgbClr val="888888"/>
                </a:solidFill>
                <a:latin typeface="Arial"/>
                <a:ea typeface="Arial"/>
                <a:cs typeface="Arial"/>
                <a:sym typeface="Arial"/>
              </a:defRPr>
            </a:lvl5pPr>
            <a:lvl6pPr marL="0" marR="0" lvl="5" indent="0" algn="ctr" rtl="0">
              <a:lnSpc>
                <a:spcPct val="100000"/>
              </a:lnSpc>
              <a:spcBef>
                <a:spcPts val="0"/>
              </a:spcBef>
              <a:spcAft>
                <a:spcPts val="0"/>
              </a:spcAft>
              <a:buClr>
                <a:srgbClr val="000000"/>
              </a:buClr>
              <a:buFont typeface="Arial"/>
              <a:buNone/>
              <a:defRPr sz="1000" b="0" i="0" u="none" strike="noStrike" cap="none">
                <a:solidFill>
                  <a:srgbClr val="888888"/>
                </a:solidFill>
                <a:latin typeface="Arial"/>
                <a:ea typeface="Arial"/>
                <a:cs typeface="Arial"/>
                <a:sym typeface="Arial"/>
              </a:defRPr>
            </a:lvl6pPr>
            <a:lvl7pPr marL="0" marR="0" lvl="6" indent="0" algn="ctr" rtl="0">
              <a:lnSpc>
                <a:spcPct val="100000"/>
              </a:lnSpc>
              <a:spcBef>
                <a:spcPts val="0"/>
              </a:spcBef>
              <a:spcAft>
                <a:spcPts val="0"/>
              </a:spcAft>
              <a:buClr>
                <a:srgbClr val="000000"/>
              </a:buClr>
              <a:buFont typeface="Arial"/>
              <a:buNone/>
              <a:defRPr sz="1000" b="0" i="0" u="none" strike="noStrike" cap="none">
                <a:solidFill>
                  <a:srgbClr val="888888"/>
                </a:solidFill>
                <a:latin typeface="Arial"/>
                <a:ea typeface="Arial"/>
                <a:cs typeface="Arial"/>
                <a:sym typeface="Arial"/>
              </a:defRPr>
            </a:lvl7pPr>
            <a:lvl8pPr marL="0" marR="0" lvl="7" indent="0" algn="ctr" rtl="0">
              <a:lnSpc>
                <a:spcPct val="100000"/>
              </a:lnSpc>
              <a:spcBef>
                <a:spcPts val="0"/>
              </a:spcBef>
              <a:spcAft>
                <a:spcPts val="0"/>
              </a:spcAft>
              <a:buClr>
                <a:srgbClr val="000000"/>
              </a:buClr>
              <a:buFont typeface="Arial"/>
              <a:buNone/>
              <a:defRPr sz="1000" b="0" i="0" u="none" strike="noStrike" cap="none">
                <a:solidFill>
                  <a:srgbClr val="888888"/>
                </a:solidFill>
                <a:latin typeface="Arial"/>
                <a:ea typeface="Arial"/>
                <a:cs typeface="Arial"/>
                <a:sym typeface="Arial"/>
              </a:defRPr>
            </a:lvl8pPr>
            <a:lvl9pPr marL="0" marR="0" lvl="8" indent="0" algn="ctr" rtl="0">
              <a:lnSpc>
                <a:spcPct val="100000"/>
              </a:lnSpc>
              <a:spcBef>
                <a:spcPts val="0"/>
              </a:spcBef>
              <a:spcAft>
                <a:spcPts val="0"/>
              </a:spcAft>
              <a:buClr>
                <a:srgbClr val="000000"/>
              </a:buClr>
              <a:buFont typeface="Arial"/>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dirty="0"/>
          </a:p>
        </p:txBody>
      </p:sp>
      <p:sp>
        <p:nvSpPr>
          <p:cNvPr id="5" name="TextBox 4">
            <a:extLst>
              <a:ext uri="{FF2B5EF4-FFF2-40B4-BE49-F238E27FC236}">
                <a16:creationId xmlns:a16="http://schemas.microsoft.com/office/drawing/2014/main" id="{CEFEFFD3-B4DF-783E-8489-CF6D1EF251B4}"/>
              </a:ext>
            </a:extLst>
          </p:cNvPr>
          <p:cNvSpPr txBox="1"/>
          <p:nvPr userDrawn="1"/>
        </p:nvSpPr>
        <p:spPr>
          <a:xfrm>
            <a:off x="418176" y="6478583"/>
            <a:ext cx="2145995" cy="215444"/>
          </a:xfrm>
          <a:prstGeom prst="rect">
            <a:avLst/>
          </a:prstGeom>
          <a:noFill/>
        </p:spPr>
        <p:txBody>
          <a:bodyPr wrap="square">
            <a:spAutoFit/>
          </a:bodyPr>
          <a:lstStyle/>
          <a:p>
            <a:pPr marL="0" indent="0">
              <a:spcBef>
                <a:spcPts val="100"/>
              </a:spcBef>
              <a:buNone/>
            </a:pPr>
            <a:r>
              <a:rPr lang="en-US" sz="800" dirty="0">
                <a:solidFill>
                  <a:schemeClr val="bg1"/>
                </a:solidFill>
                <a:latin typeface="Segoe UI" panose="020B0502040204020203" pitchFamily="34" charset="0"/>
                <a:cs typeface="Segoe UI" panose="020B0502040204020203" pitchFamily="34" charset="0"/>
              </a:rPr>
              <a:t>©Copyright FPT Software</a:t>
            </a:r>
          </a:p>
        </p:txBody>
      </p:sp>
      <p:pic>
        <p:nvPicPr>
          <p:cNvPr id="7" name="Picture 6">
            <a:extLst>
              <a:ext uri="{FF2B5EF4-FFF2-40B4-BE49-F238E27FC236}">
                <a16:creationId xmlns:a16="http://schemas.microsoft.com/office/drawing/2014/main" id="{480522D9-2902-42AA-3E40-179296A10D93}"/>
              </a:ext>
            </a:extLst>
          </p:cNvPr>
          <p:cNvPicPr>
            <a:picLocks noChangeAspect="1"/>
          </p:cNvPicPr>
          <p:nvPr userDrawn="1"/>
        </p:nvPicPr>
        <p:blipFill>
          <a:blip r:embed="rId3"/>
          <a:stretch>
            <a:fillRect/>
          </a:stretch>
        </p:blipFill>
        <p:spPr>
          <a:xfrm>
            <a:off x="10447070" y="35756"/>
            <a:ext cx="1346200" cy="368300"/>
          </a:xfrm>
          <a:prstGeom prst="rect">
            <a:avLst/>
          </a:prstGeom>
        </p:spPr>
      </p:pic>
      <p:pic>
        <p:nvPicPr>
          <p:cNvPr id="8" name="Picture 7">
            <a:extLst>
              <a:ext uri="{FF2B5EF4-FFF2-40B4-BE49-F238E27FC236}">
                <a16:creationId xmlns:a16="http://schemas.microsoft.com/office/drawing/2014/main" id="{B68F42D7-0B44-028C-243C-3F2C599A4F58}"/>
              </a:ext>
            </a:extLst>
          </p:cNvPr>
          <p:cNvPicPr>
            <a:picLocks noChangeAspect="1"/>
          </p:cNvPicPr>
          <p:nvPr userDrawn="1"/>
        </p:nvPicPr>
        <p:blipFill>
          <a:blip r:embed="rId4"/>
          <a:stretch>
            <a:fillRect/>
          </a:stretch>
        </p:blipFill>
        <p:spPr>
          <a:xfrm>
            <a:off x="418176" y="41431"/>
            <a:ext cx="1397000" cy="33020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3.png"/><Relationship Id="rId5" Type="http://schemas.openxmlformats.org/officeDocument/2006/relationships/slideLayout" Target="../slideLayouts/slideLayout5.xml"/><Relationship Id="rId10"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2" name="Google Shape;10;p40">
            <a:extLst>
              <a:ext uri="{FF2B5EF4-FFF2-40B4-BE49-F238E27FC236}">
                <a16:creationId xmlns:a16="http://schemas.microsoft.com/office/drawing/2014/main" id="{986F4BB0-25C6-F649-230B-2BD7EB2BF454}"/>
              </a:ext>
            </a:extLst>
          </p:cNvPr>
          <p:cNvPicPr preferRelativeResize="0"/>
          <p:nvPr userDrawn="1"/>
        </p:nvPicPr>
        <p:blipFill rotWithShape="1">
          <a:blip r:embed="rId9">
            <a:alphaModFix/>
          </a:blip>
          <a:srcRect l="95124"/>
          <a:stretch/>
        </p:blipFill>
        <p:spPr>
          <a:xfrm>
            <a:off x="11597480" y="6314612"/>
            <a:ext cx="594519" cy="558800"/>
          </a:xfrm>
          <a:prstGeom prst="rect">
            <a:avLst/>
          </a:prstGeom>
          <a:noFill/>
          <a:ln>
            <a:noFill/>
          </a:ln>
        </p:spPr>
      </p:pic>
      <p:sp>
        <p:nvSpPr>
          <p:cNvPr id="13" name="Google Shape;13;p40"/>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rgbClr val="034EA2"/>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pPr/>
              <a:t>‹#›</a:t>
            </a:fld>
            <a:endParaRPr lang="en-US" dirty="0"/>
          </a:p>
        </p:txBody>
      </p:sp>
      <p:sp>
        <p:nvSpPr>
          <p:cNvPr id="11" name="Rounded Rectangle 10">
            <a:extLst>
              <a:ext uri="{FF2B5EF4-FFF2-40B4-BE49-F238E27FC236}">
                <a16:creationId xmlns:a16="http://schemas.microsoft.com/office/drawing/2014/main" id="{4C07EDA5-7BBB-E3FC-3737-B1857CEB325A}"/>
              </a:ext>
            </a:extLst>
          </p:cNvPr>
          <p:cNvSpPr/>
          <p:nvPr userDrawn="1"/>
        </p:nvSpPr>
        <p:spPr>
          <a:xfrm>
            <a:off x="-426720" y="0"/>
            <a:ext cx="266700" cy="685815"/>
          </a:xfrm>
          <a:prstGeom prst="roundRect">
            <a:avLst>
              <a:gd name="adj" fmla="val 8511"/>
            </a:avLst>
          </a:prstGeom>
          <a:solidFill>
            <a:srgbClr val="034EA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ounded Rectangle 11">
            <a:extLst>
              <a:ext uri="{FF2B5EF4-FFF2-40B4-BE49-F238E27FC236}">
                <a16:creationId xmlns:a16="http://schemas.microsoft.com/office/drawing/2014/main" id="{5AD645B0-03EE-9090-5B25-471DAB381008}"/>
              </a:ext>
            </a:extLst>
          </p:cNvPr>
          <p:cNvSpPr/>
          <p:nvPr userDrawn="1"/>
        </p:nvSpPr>
        <p:spPr>
          <a:xfrm>
            <a:off x="-426720" y="795867"/>
            <a:ext cx="266700" cy="685815"/>
          </a:xfrm>
          <a:prstGeom prst="roundRect">
            <a:avLst>
              <a:gd name="adj" fmla="val 8511"/>
            </a:avLst>
          </a:prstGeom>
          <a:solidFill>
            <a:srgbClr val="1922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ounded Rectangle 13">
            <a:extLst>
              <a:ext uri="{FF2B5EF4-FFF2-40B4-BE49-F238E27FC236}">
                <a16:creationId xmlns:a16="http://schemas.microsoft.com/office/drawing/2014/main" id="{735E86F7-C292-3A9E-CA6C-CBAFAC92D517}"/>
              </a:ext>
            </a:extLst>
          </p:cNvPr>
          <p:cNvSpPr/>
          <p:nvPr userDrawn="1"/>
        </p:nvSpPr>
        <p:spPr>
          <a:xfrm>
            <a:off x="-426720" y="1591734"/>
            <a:ext cx="266700" cy="685815"/>
          </a:xfrm>
          <a:prstGeom prst="roundRect">
            <a:avLst>
              <a:gd name="adj" fmla="val 8511"/>
            </a:avLst>
          </a:prstGeom>
          <a:solidFill>
            <a:srgbClr val="33B2C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ounded Rectangle 14">
            <a:extLst>
              <a:ext uri="{FF2B5EF4-FFF2-40B4-BE49-F238E27FC236}">
                <a16:creationId xmlns:a16="http://schemas.microsoft.com/office/drawing/2014/main" id="{08AC7802-A2B4-048F-5D9B-FCD7134681FD}"/>
              </a:ext>
            </a:extLst>
          </p:cNvPr>
          <p:cNvSpPr/>
          <p:nvPr userDrawn="1"/>
        </p:nvSpPr>
        <p:spPr>
          <a:xfrm>
            <a:off x="-426720" y="2387601"/>
            <a:ext cx="266700" cy="685815"/>
          </a:xfrm>
          <a:prstGeom prst="roundRect">
            <a:avLst>
              <a:gd name="adj" fmla="val 8511"/>
            </a:avLst>
          </a:prstGeom>
          <a:solidFill>
            <a:srgbClr val="50B84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ounded Rectangle 15">
            <a:extLst>
              <a:ext uri="{FF2B5EF4-FFF2-40B4-BE49-F238E27FC236}">
                <a16:creationId xmlns:a16="http://schemas.microsoft.com/office/drawing/2014/main" id="{368B34FE-4E0C-FD8F-A433-7A1BCFC37C58}"/>
              </a:ext>
            </a:extLst>
          </p:cNvPr>
          <p:cNvSpPr/>
          <p:nvPr userDrawn="1"/>
        </p:nvSpPr>
        <p:spPr>
          <a:xfrm>
            <a:off x="-426720" y="3183468"/>
            <a:ext cx="266700" cy="685815"/>
          </a:xfrm>
          <a:prstGeom prst="roundRect">
            <a:avLst>
              <a:gd name="adj" fmla="val 8511"/>
            </a:avLst>
          </a:prstGeom>
          <a:solidFill>
            <a:srgbClr val="F3712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A36B618D-C948-AFA0-C51C-7134F06D6893}"/>
              </a:ext>
            </a:extLst>
          </p:cNvPr>
          <p:cNvSpPr/>
          <p:nvPr userDrawn="1"/>
        </p:nvSpPr>
        <p:spPr>
          <a:xfrm>
            <a:off x="-426720" y="3979335"/>
            <a:ext cx="266700" cy="685815"/>
          </a:xfrm>
          <a:prstGeom prst="roundRect">
            <a:avLst>
              <a:gd name="adj" fmla="val 8511"/>
            </a:avLst>
          </a:prstGeom>
          <a:solidFill>
            <a:srgbClr val="E4E5E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ounded Rectangle 17">
            <a:extLst>
              <a:ext uri="{FF2B5EF4-FFF2-40B4-BE49-F238E27FC236}">
                <a16:creationId xmlns:a16="http://schemas.microsoft.com/office/drawing/2014/main" id="{2EB95C60-4229-E79A-47D7-52CB5071E302}"/>
              </a:ext>
            </a:extLst>
          </p:cNvPr>
          <p:cNvSpPr/>
          <p:nvPr userDrawn="1"/>
        </p:nvSpPr>
        <p:spPr>
          <a:xfrm>
            <a:off x="-426720" y="4775202"/>
            <a:ext cx="266700" cy="685815"/>
          </a:xfrm>
          <a:prstGeom prst="roundRect">
            <a:avLst>
              <a:gd name="adj" fmla="val 8511"/>
            </a:avLst>
          </a:prstGeom>
          <a:solidFill>
            <a:srgbClr val="B5B5B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2" name="Picture 21">
            <a:extLst>
              <a:ext uri="{FF2B5EF4-FFF2-40B4-BE49-F238E27FC236}">
                <a16:creationId xmlns:a16="http://schemas.microsoft.com/office/drawing/2014/main" id="{43E2E695-87E7-7066-7964-45F56826DC7E}"/>
              </a:ext>
            </a:extLst>
          </p:cNvPr>
          <p:cNvPicPr>
            <a:picLocks noChangeAspect="1"/>
          </p:cNvPicPr>
          <p:nvPr userDrawn="1"/>
        </p:nvPicPr>
        <p:blipFill>
          <a:blip r:embed="rId10"/>
          <a:srcRect/>
          <a:stretch/>
        </p:blipFill>
        <p:spPr>
          <a:xfrm>
            <a:off x="-9226" y="0"/>
            <a:ext cx="12201216" cy="413062"/>
          </a:xfrm>
          <a:prstGeom prst="rect">
            <a:avLst/>
          </a:prstGeom>
        </p:spPr>
      </p:pic>
      <p:sp>
        <p:nvSpPr>
          <p:cNvPr id="25" name="TextBox 24">
            <a:extLst>
              <a:ext uri="{FF2B5EF4-FFF2-40B4-BE49-F238E27FC236}">
                <a16:creationId xmlns:a16="http://schemas.microsoft.com/office/drawing/2014/main" id="{B7D4D628-E5F2-340A-B576-63795BA67829}"/>
              </a:ext>
            </a:extLst>
          </p:cNvPr>
          <p:cNvSpPr txBox="1"/>
          <p:nvPr userDrawn="1"/>
        </p:nvSpPr>
        <p:spPr>
          <a:xfrm>
            <a:off x="418176" y="6478583"/>
            <a:ext cx="2145995" cy="215444"/>
          </a:xfrm>
          <a:prstGeom prst="rect">
            <a:avLst/>
          </a:prstGeom>
          <a:noFill/>
        </p:spPr>
        <p:txBody>
          <a:bodyPr wrap="square">
            <a:spAutoFit/>
          </a:bodyPr>
          <a:lstStyle/>
          <a:p>
            <a:pPr marL="0" indent="0">
              <a:spcBef>
                <a:spcPts val="100"/>
              </a:spcBef>
              <a:buNone/>
            </a:pPr>
            <a:r>
              <a:rPr lang="en-US" sz="800" dirty="0">
                <a:solidFill>
                  <a:srgbClr val="034EA2"/>
                </a:solidFill>
                <a:latin typeface="Segoe UI" panose="020B0502040204020203" pitchFamily="34" charset="0"/>
                <a:cs typeface="Segoe UI" panose="020B0502040204020203" pitchFamily="34" charset="0"/>
              </a:rPr>
              <a:t>©Copyright FPT Software</a:t>
            </a:r>
          </a:p>
        </p:txBody>
      </p:sp>
      <p:pic>
        <p:nvPicPr>
          <p:cNvPr id="4" name="Picture 3">
            <a:extLst>
              <a:ext uri="{FF2B5EF4-FFF2-40B4-BE49-F238E27FC236}">
                <a16:creationId xmlns:a16="http://schemas.microsoft.com/office/drawing/2014/main" id="{FEC3AD27-CA9D-B119-E9CC-C33EE1A7284B}"/>
              </a:ext>
            </a:extLst>
          </p:cNvPr>
          <p:cNvPicPr>
            <a:picLocks noChangeAspect="1"/>
          </p:cNvPicPr>
          <p:nvPr userDrawn="1"/>
        </p:nvPicPr>
        <p:blipFill>
          <a:blip r:embed="rId11"/>
          <a:stretch>
            <a:fillRect/>
          </a:stretch>
        </p:blipFill>
        <p:spPr>
          <a:xfrm>
            <a:off x="418176" y="41431"/>
            <a:ext cx="1397000" cy="330200"/>
          </a:xfrm>
          <a:prstGeom prst="rect">
            <a:avLst/>
          </a:prstGeom>
        </p:spPr>
      </p:pic>
    </p:spTree>
  </p:cSld>
  <p:clrMap bg1="lt1" tx1="dk1" bg2="dk2" tx2="lt2" accent1="accent1" accent2="accent2" accent3="accent3" accent4="accent4" accent5="accent5" accent6="accent6" hlink="hlink" folHlink="folHlink"/>
  <p:sldLayoutIdLst>
    <p:sldLayoutId id="2147483654" r:id="rId1"/>
    <p:sldLayoutId id="2147483655" r:id="rId2"/>
    <p:sldLayoutId id="2147483656" r:id="rId3"/>
    <p:sldLayoutId id="2147483657" r:id="rId4"/>
    <p:sldLayoutId id="2147483658" r:id="rId5"/>
    <p:sldLayoutId id="2147483659" r:id="rId6"/>
    <p:sldLayoutId id="2147483660" r:id="rId7"/>
  </p:sldLayoutIdLst>
  <p:hf hdr="0" ftr="0" dt="0"/>
  <p:txStyles>
    <p:title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L="50800" marR="0" lvl="0" indent="0" algn="l" rtl="0" eaLnBrk="1" hangingPunct="1">
        <a:lnSpc>
          <a:spcPct val="100000"/>
        </a:lnSpc>
        <a:spcBef>
          <a:spcPts val="0"/>
        </a:spcBef>
        <a:spcAft>
          <a:spcPts val="0"/>
        </a:spcAft>
        <a:buClr>
          <a:srgbClr val="000000"/>
        </a:buClr>
        <a:buFont typeface="Arial"/>
        <a:buNone/>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eaLnBrk="1" hangingPunct="1">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extLst>
    <p:ext uri="{27BBF7A9-308A-43DC-89C8-2F10F3537804}">
      <p15:sldGuideLst xmlns:p15="http://schemas.microsoft.com/office/powerpoint/2012/main">
        <p15:guide id="1" pos="3840" userDrawn="1">
          <p15:clr>
            <a:srgbClr val="F26B43"/>
          </p15:clr>
        </p15:guide>
        <p15:guide id="2" pos="302" userDrawn="1">
          <p15:clr>
            <a:srgbClr val="F26B43"/>
          </p15:clr>
        </p15:guide>
        <p15:guide id="3" pos="7378"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8" Type="http://schemas.openxmlformats.org/officeDocument/2006/relationships/image" Target="../media/image17.tiff"/><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png"/><Relationship Id="rId1" Type="http://schemas.openxmlformats.org/officeDocument/2006/relationships/slideLayout" Target="../slideLayouts/slideLayout3.xml"/><Relationship Id="rId6" Type="http://schemas.openxmlformats.org/officeDocument/2006/relationships/image" Target="../media/image15.png"/><Relationship Id="rId11" Type="http://schemas.openxmlformats.org/officeDocument/2006/relationships/hyperlink" Target="https://forms.office.com/r/sFnJ31FKk1" TargetMode="External"/><Relationship Id="rId5" Type="http://schemas.openxmlformats.org/officeDocument/2006/relationships/image" Target="../media/image14.jpeg"/><Relationship Id="rId10" Type="http://schemas.openxmlformats.org/officeDocument/2006/relationships/image" Target="../media/image19.png"/><Relationship Id="rId4" Type="http://schemas.openxmlformats.org/officeDocument/2006/relationships/image" Target="../media/image13.png"/><Relationship Id="rId9" Type="http://schemas.openxmlformats.org/officeDocument/2006/relationships/image" Target="../media/image18.tiff"/></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3.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5.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3.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8" Type="http://schemas.openxmlformats.org/officeDocument/2006/relationships/diagramLayout" Target="../diagrams/layout3.xml"/><Relationship Id="rId3" Type="http://schemas.openxmlformats.org/officeDocument/2006/relationships/image" Target="../media/image27.png"/><Relationship Id="rId7" Type="http://schemas.openxmlformats.org/officeDocument/2006/relationships/diagramData" Target="../diagrams/data3.xml"/><Relationship Id="rId2" Type="http://schemas.openxmlformats.org/officeDocument/2006/relationships/image" Target="../media/image26.png"/><Relationship Id="rId1" Type="http://schemas.openxmlformats.org/officeDocument/2006/relationships/slideLayout" Target="../slideLayouts/slideLayout3.xml"/><Relationship Id="rId6" Type="http://schemas.openxmlformats.org/officeDocument/2006/relationships/image" Target="../media/image30.png"/><Relationship Id="rId11" Type="http://schemas.microsoft.com/office/2007/relationships/diagramDrawing" Target="../diagrams/drawing3.xml"/><Relationship Id="rId5" Type="http://schemas.openxmlformats.org/officeDocument/2006/relationships/image" Target="../media/image29.png"/><Relationship Id="rId10" Type="http://schemas.openxmlformats.org/officeDocument/2006/relationships/diagramColors" Target="../diagrams/colors3.xml"/><Relationship Id="rId4" Type="http://schemas.openxmlformats.org/officeDocument/2006/relationships/image" Target="../media/image28.png"/><Relationship Id="rId9" Type="http://schemas.openxmlformats.org/officeDocument/2006/relationships/diagramQuickStyle" Target="../diagrams/quickStyle3.xml"/></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package" Target="../embeddings/Microsoft_Excel_Worksheet.xlsx"/><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jpeg"/><Relationship Id="rId1" Type="http://schemas.openxmlformats.org/officeDocument/2006/relationships/slideLayout" Target="../slideLayouts/slideLayout3.xml"/><Relationship Id="rId5" Type="http://schemas.openxmlformats.org/officeDocument/2006/relationships/image" Target="../media/image35.png"/><Relationship Id="rId4" Type="http://schemas.openxmlformats.org/officeDocument/2006/relationships/image" Target="../media/image34.jpeg"/></Relationships>
</file>

<file path=ppt/slides/_rels/slide22.xml.rels><?xml version="1.0" encoding="UTF-8" standalone="yes"?>
<Relationships xmlns="http://schemas.openxmlformats.org/package/2006/relationships"><Relationship Id="rId3" Type="http://schemas.openxmlformats.org/officeDocument/2006/relationships/image" Target="../media/image37.jpeg"/><Relationship Id="rId7" Type="http://schemas.openxmlformats.org/officeDocument/2006/relationships/image" Target="../media/image41.jpeg"/><Relationship Id="rId2" Type="http://schemas.openxmlformats.org/officeDocument/2006/relationships/image" Target="../media/image36.jpeg"/><Relationship Id="rId1" Type="http://schemas.openxmlformats.org/officeDocument/2006/relationships/slideLayout" Target="../slideLayouts/slideLayout3.xml"/><Relationship Id="rId6" Type="http://schemas.openxmlformats.org/officeDocument/2006/relationships/image" Target="../media/image40.jpeg"/><Relationship Id="rId5" Type="http://schemas.openxmlformats.org/officeDocument/2006/relationships/image" Target="../media/image39.jpeg"/><Relationship Id="rId4" Type="http://schemas.openxmlformats.org/officeDocument/2006/relationships/image" Target="../media/image38.jpeg"/></Relationships>
</file>

<file path=ppt/slides/_rels/slide23.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eg"/><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2" Type="http://schemas.openxmlformats.org/officeDocument/2006/relationships/image" Target="../media/image44.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6">
            <a:extLst>
              <a:ext uri="{FF2B5EF4-FFF2-40B4-BE49-F238E27FC236}">
                <a16:creationId xmlns:a16="http://schemas.microsoft.com/office/drawing/2014/main" id="{88A9AFDB-FF58-25ED-94EF-4BA80DBA8EA5}"/>
              </a:ext>
            </a:extLst>
          </p:cNvPr>
          <p:cNvSpPr txBox="1">
            <a:spLocks/>
          </p:cNvSpPr>
          <p:nvPr/>
        </p:nvSpPr>
        <p:spPr>
          <a:xfrm>
            <a:off x="364769" y="410670"/>
            <a:ext cx="3765077" cy="368559"/>
          </a:xfrm>
          <a:prstGeom prst="rect">
            <a:avLst/>
          </a:prstGeom>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20000"/>
              </a:lnSpc>
              <a:spcBef>
                <a:spcPts val="0"/>
              </a:spcBef>
              <a:spcAft>
                <a:spcPts val="1200"/>
              </a:spcAft>
              <a:buNone/>
            </a:pPr>
            <a:r>
              <a:rPr lang="en-US" sz="3200" dirty="0">
                <a:solidFill>
                  <a:schemeClr val="bg1"/>
                </a:solidFill>
                <a:latin typeface="Segoe UI" panose="020B0502040204020203" pitchFamily="34" charset="0"/>
                <a:cs typeface="Segoe UI" panose="020B0502040204020203" pitchFamily="34" charset="0"/>
              </a:rPr>
              <a:t>&lt;PROJECT NAME&gt;</a:t>
            </a:r>
          </a:p>
        </p:txBody>
      </p:sp>
      <p:sp>
        <p:nvSpPr>
          <p:cNvPr id="3" name="Text Placeholder 6">
            <a:extLst>
              <a:ext uri="{FF2B5EF4-FFF2-40B4-BE49-F238E27FC236}">
                <a16:creationId xmlns:a16="http://schemas.microsoft.com/office/drawing/2014/main" id="{B091F9DC-E173-4374-2673-29BE56D2D640}"/>
              </a:ext>
            </a:extLst>
          </p:cNvPr>
          <p:cNvSpPr txBox="1">
            <a:spLocks/>
          </p:cNvSpPr>
          <p:nvPr/>
        </p:nvSpPr>
        <p:spPr>
          <a:xfrm>
            <a:off x="349861" y="795097"/>
            <a:ext cx="9110228" cy="1107996"/>
          </a:xfrm>
          <a:prstGeom prst="rect">
            <a:avLst/>
          </a:prstGeom>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lnSpc>
                <a:spcPct val="120000"/>
              </a:lnSpc>
              <a:spcBef>
                <a:spcPts val="0"/>
              </a:spcBef>
              <a:spcAft>
                <a:spcPts val="1200"/>
              </a:spcAft>
              <a:buNone/>
            </a:pPr>
            <a:r>
              <a:rPr lang="en-US" sz="6600" b="1" dirty="0">
                <a:solidFill>
                  <a:schemeClr val="bg1"/>
                </a:solidFill>
                <a:latin typeface="Segoe UI" panose="020B0502040204020203" pitchFamily="34" charset="0"/>
                <a:cs typeface="Segoe UI" panose="020B0502040204020203" pitchFamily="34" charset="0"/>
              </a:rPr>
              <a:t>Kick-off Meeting</a:t>
            </a:r>
          </a:p>
        </p:txBody>
      </p:sp>
      <p:sp>
        <p:nvSpPr>
          <p:cNvPr id="4" name="Text Placeholder 6">
            <a:extLst>
              <a:ext uri="{FF2B5EF4-FFF2-40B4-BE49-F238E27FC236}">
                <a16:creationId xmlns:a16="http://schemas.microsoft.com/office/drawing/2014/main" id="{FD7F3E1F-DA08-A8B7-2AB7-36A7975E894F}"/>
              </a:ext>
            </a:extLst>
          </p:cNvPr>
          <p:cNvSpPr txBox="1">
            <a:spLocks/>
          </p:cNvSpPr>
          <p:nvPr/>
        </p:nvSpPr>
        <p:spPr>
          <a:xfrm>
            <a:off x="413468" y="4444779"/>
            <a:ext cx="6154309" cy="240110"/>
          </a:xfrm>
          <a:prstGeom prst="rect">
            <a:avLst/>
          </a:prstGeom>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ts val="100"/>
              </a:spcBef>
              <a:buNone/>
            </a:pPr>
            <a:r>
              <a:rPr lang="en-US" sz="1200" b="1" dirty="0">
                <a:solidFill>
                  <a:schemeClr val="bg1"/>
                </a:solidFill>
                <a:latin typeface="Segoe UI" panose="020B0502040204020203" pitchFamily="34" charset="0"/>
                <a:cs typeface="Segoe UI" panose="020B0502040204020203" pitchFamily="34" charset="0"/>
              </a:rPr>
              <a:t>Date:		</a:t>
            </a:r>
            <a:r>
              <a:rPr lang="en-US" sz="1200" dirty="0">
                <a:solidFill>
                  <a:schemeClr val="bg1"/>
                </a:solidFill>
                <a:latin typeface="Segoe UI" panose="020B0502040204020203" pitchFamily="34" charset="0"/>
                <a:cs typeface="Segoe UI" panose="020B0502040204020203" pitchFamily="34" charset="0"/>
              </a:rPr>
              <a:t> YYYY.MM.DD</a:t>
            </a:r>
          </a:p>
          <a:p>
            <a:pPr marL="0" indent="0">
              <a:spcBef>
                <a:spcPts val="100"/>
              </a:spcBef>
              <a:buNone/>
            </a:pPr>
            <a:endParaRPr lang="en-US" sz="1100" dirty="0">
              <a:solidFill>
                <a:schemeClr val="bg1"/>
              </a:solidFill>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52087455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6" name="Group 5">
            <a:extLst>
              <a:ext uri="{FF2B5EF4-FFF2-40B4-BE49-F238E27FC236}">
                <a16:creationId xmlns:a16="http://schemas.microsoft.com/office/drawing/2014/main" id="{E12C298F-4F3A-AB13-86AA-F93A1BE4D06C}"/>
              </a:ext>
            </a:extLst>
          </p:cNvPr>
          <p:cNvGrpSpPr/>
          <p:nvPr/>
        </p:nvGrpSpPr>
        <p:grpSpPr>
          <a:xfrm>
            <a:off x="640826" y="1351101"/>
            <a:ext cx="1405467" cy="584775"/>
            <a:chOff x="6096000" y="1277239"/>
            <a:chExt cx="1405467" cy="584775"/>
          </a:xfrm>
        </p:grpSpPr>
        <p:sp>
          <p:nvSpPr>
            <p:cNvPr id="3" name="TextBox 2">
              <a:extLst>
                <a:ext uri="{FF2B5EF4-FFF2-40B4-BE49-F238E27FC236}">
                  <a16:creationId xmlns:a16="http://schemas.microsoft.com/office/drawing/2014/main" id="{DA40F4EB-43AB-AC4A-B6DE-D165A4BE2BB4}"/>
                </a:ext>
              </a:extLst>
            </p:cNvPr>
            <p:cNvSpPr txBox="1"/>
            <p:nvPr/>
          </p:nvSpPr>
          <p:spPr>
            <a:xfrm>
              <a:off x="6096000" y="1277239"/>
              <a:ext cx="43497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dirty="0">
                  <a:solidFill>
                    <a:schemeClr val="bg1"/>
                  </a:solidFill>
                  <a:effectLst/>
                  <a:latin typeface="Redig" pitchFamily="2" charset="77"/>
                  <a:ea typeface="Times New Roman" panose="02020603050405020304" pitchFamily="18" charset="0"/>
                  <a:cs typeface="Calibri" panose="020F0502020204030204" pitchFamily="34" charset="0"/>
                </a:rPr>
                <a:t>1</a:t>
              </a:r>
              <a:endParaRPr lang="en-VN" sz="4000" b="1" kern="1600" dirty="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5" name="TextBox 4">
              <a:extLst>
                <a:ext uri="{FF2B5EF4-FFF2-40B4-BE49-F238E27FC236}">
                  <a16:creationId xmlns:a16="http://schemas.microsoft.com/office/drawing/2014/main" id="{20717111-2355-A818-87CC-7C48A05A025B}"/>
                </a:ext>
              </a:extLst>
            </p:cNvPr>
            <p:cNvSpPr txBox="1"/>
            <p:nvPr/>
          </p:nvSpPr>
          <p:spPr>
            <a:xfrm>
              <a:off x="6406621" y="1336723"/>
              <a:ext cx="1094846" cy="492443"/>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Project </a:t>
              </a:r>
              <a:r>
                <a:rPr lang="en-US" sz="1300" kern="1600" dirty="0">
                  <a:solidFill>
                    <a:schemeClr val="bg1"/>
                  </a:solidFill>
                  <a:effectLst/>
                  <a:latin typeface="BR Omega" pitchFamily="2" charset="77"/>
                  <a:ea typeface="Times New Roman" panose="02020603050405020304" pitchFamily="18" charset="0"/>
                  <a:cs typeface="Calibri" panose="020F0502020204030204" pitchFamily="34" charset="0"/>
                </a:rPr>
                <a:t>Summary</a:t>
              </a:r>
              <a:endParaRPr lang="en-VN" sz="1300" kern="1600" dirty="0">
                <a:solidFill>
                  <a:schemeClr val="bg1"/>
                </a:solidFill>
                <a:effectLst/>
                <a:latin typeface="BR Omega" pitchFamily="2" charset="77"/>
                <a:ea typeface="Times New Roman" panose="02020603050405020304" pitchFamily="18" charset="0"/>
                <a:cs typeface="Calibri" panose="020F0502020204030204" pitchFamily="34" charset="0"/>
              </a:endParaRPr>
            </a:p>
          </p:txBody>
        </p:sp>
      </p:grpSp>
      <p:grpSp>
        <p:nvGrpSpPr>
          <p:cNvPr id="7" name="Group 6">
            <a:extLst>
              <a:ext uri="{FF2B5EF4-FFF2-40B4-BE49-F238E27FC236}">
                <a16:creationId xmlns:a16="http://schemas.microsoft.com/office/drawing/2014/main" id="{AA6490B4-DBE4-1691-C746-9BAEEF2E61A2}"/>
              </a:ext>
            </a:extLst>
          </p:cNvPr>
          <p:cNvGrpSpPr/>
          <p:nvPr/>
        </p:nvGrpSpPr>
        <p:grpSpPr>
          <a:xfrm>
            <a:off x="640826" y="2116059"/>
            <a:ext cx="1728663" cy="584775"/>
            <a:chOff x="6096000" y="1277239"/>
            <a:chExt cx="1728663" cy="584775"/>
          </a:xfrm>
        </p:grpSpPr>
        <p:sp>
          <p:nvSpPr>
            <p:cNvPr id="8" name="TextBox 7">
              <a:extLst>
                <a:ext uri="{FF2B5EF4-FFF2-40B4-BE49-F238E27FC236}">
                  <a16:creationId xmlns:a16="http://schemas.microsoft.com/office/drawing/2014/main" id="{074477F2-1250-D00E-0B48-2DDA027DC828}"/>
                </a:ext>
              </a:extLst>
            </p:cNvPr>
            <p:cNvSpPr txBox="1"/>
            <p:nvPr/>
          </p:nvSpPr>
          <p:spPr>
            <a:xfrm>
              <a:off x="6096000" y="1277239"/>
              <a:ext cx="43497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dirty="0">
                  <a:solidFill>
                    <a:schemeClr val="bg1"/>
                  </a:solidFill>
                  <a:effectLst/>
                  <a:latin typeface="Redig" pitchFamily="2" charset="77"/>
                  <a:ea typeface="Times New Roman" panose="02020603050405020304" pitchFamily="18" charset="0"/>
                  <a:cs typeface="Calibri" panose="020F0502020204030204" pitchFamily="34" charset="0"/>
                </a:rPr>
                <a:t>2</a:t>
              </a:r>
              <a:endParaRPr lang="en-VN" sz="4000" b="1" kern="1600" dirty="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10" name="TextBox 9">
              <a:extLst>
                <a:ext uri="{FF2B5EF4-FFF2-40B4-BE49-F238E27FC236}">
                  <a16:creationId xmlns:a16="http://schemas.microsoft.com/office/drawing/2014/main" id="{6ECAEA4E-6718-DDD7-A4CD-D6745F00E1DA}"/>
                </a:ext>
              </a:extLst>
            </p:cNvPr>
            <p:cNvSpPr txBox="1"/>
            <p:nvPr/>
          </p:nvSpPr>
          <p:spPr>
            <a:xfrm>
              <a:off x="6406620" y="1322655"/>
              <a:ext cx="1418043" cy="492443"/>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Project Organization</a:t>
              </a:r>
              <a:endParaRPr lang="en-VN" sz="1300" kern="1600" dirty="0">
                <a:solidFill>
                  <a:schemeClr val="bg1"/>
                </a:solidFill>
                <a:effectLst/>
                <a:latin typeface="BR Omega" pitchFamily="2" charset="77"/>
                <a:ea typeface="Times New Roman" panose="02020603050405020304" pitchFamily="18" charset="0"/>
                <a:cs typeface="Calibri" panose="020F0502020204030204" pitchFamily="34" charset="0"/>
              </a:endParaRPr>
            </a:p>
          </p:txBody>
        </p:sp>
      </p:grpSp>
      <p:grpSp>
        <p:nvGrpSpPr>
          <p:cNvPr id="11" name="Group 10">
            <a:extLst>
              <a:ext uri="{FF2B5EF4-FFF2-40B4-BE49-F238E27FC236}">
                <a16:creationId xmlns:a16="http://schemas.microsoft.com/office/drawing/2014/main" id="{C1825F43-E592-9908-3A2A-F8420DB1120F}"/>
              </a:ext>
            </a:extLst>
          </p:cNvPr>
          <p:cNvGrpSpPr/>
          <p:nvPr/>
        </p:nvGrpSpPr>
        <p:grpSpPr>
          <a:xfrm>
            <a:off x="640826" y="2881017"/>
            <a:ext cx="1862667" cy="584775"/>
            <a:chOff x="6096000" y="1277239"/>
            <a:chExt cx="1862667" cy="584775"/>
          </a:xfrm>
        </p:grpSpPr>
        <p:sp>
          <p:nvSpPr>
            <p:cNvPr id="12" name="TextBox 11">
              <a:extLst>
                <a:ext uri="{FF2B5EF4-FFF2-40B4-BE49-F238E27FC236}">
                  <a16:creationId xmlns:a16="http://schemas.microsoft.com/office/drawing/2014/main" id="{95D3FB20-0072-F5E4-B05A-824489B79600}"/>
                </a:ext>
              </a:extLst>
            </p:cNvPr>
            <p:cNvSpPr txBox="1"/>
            <p:nvPr/>
          </p:nvSpPr>
          <p:spPr>
            <a:xfrm>
              <a:off x="6096000" y="1277239"/>
              <a:ext cx="43497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a:solidFill>
                    <a:schemeClr val="bg1"/>
                  </a:solidFill>
                  <a:effectLst/>
                  <a:latin typeface="Redig" pitchFamily="2" charset="77"/>
                  <a:ea typeface="Times New Roman" panose="02020603050405020304" pitchFamily="18" charset="0"/>
                  <a:cs typeface="Calibri" panose="020F0502020204030204" pitchFamily="34" charset="0"/>
                </a:rPr>
                <a:t>3</a:t>
              </a:r>
              <a:endParaRPr lang="en-VN" sz="4000" b="1" kern="160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13" name="TextBox 12">
              <a:extLst>
                <a:ext uri="{FF2B5EF4-FFF2-40B4-BE49-F238E27FC236}">
                  <a16:creationId xmlns:a16="http://schemas.microsoft.com/office/drawing/2014/main" id="{4459CFDF-D43F-0019-5E0A-BCD02D813836}"/>
                </a:ext>
              </a:extLst>
            </p:cNvPr>
            <p:cNvSpPr txBox="1"/>
            <p:nvPr/>
          </p:nvSpPr>
          <p:spPr>
            <a:xfrm>
              <a:off x="6406621" y="1336723"/>
              <a:ext cx="1552046" cy="492443"/>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Role And Responsibility</a:t>
              </a:r>
              <a:endParaRPr lang="en-VN" sz="1300" kern="1600" dirty="0">
                <a:solidFill>
                  <a:schemeClr val="bg1"/>
                </a:solidFill>
                <a:effectLst/>
                <a:latin typeface="BR Omega" pitchFamily="2" charset="77"/>
                <a:ea typeface="Times New Roman" panose="02020603050405020304" pitchFamily="18" charset="0"/>
                <a:cs typeface="Calibri" panose="020F0502020204030204" pitchFamily="34" charset="0"/>
              </a:endParaRPr>
            </a:p>
          </p:txBody>
        </p:sp>
      </p:grpSp>
      <p:grpSp>
        <p:nvGrpSpPr>
          <p:cNvPr id="14" name="Group 13">
            <a:extLst>
              <a:ext uri="{FF2B5EF4-FFF2-40B4-BE49-F238E27FC236}">
                <a16:creationId xmlns:a16="http://schemas.microsoft.com/office/drawing/2014/main" id="{5C065694-2A1F-11F5-577D-21C59CFAEA8B}"/>
              </a:ext>
            </a:extLst>
          </p:cNvPr>
          <p:cNvGrpSpPr/>
          <p:nvPr/>
        </p:nvGrpSpPr>
        <p:grpSpPr>
          <a:xfrm>
            <a:off x="640826" y="3645975"/>
            <a:ext cx="2870199" cy="584775"/>
            <a:chOff x="6096000" y="1277239"/>
            <a:chExt cx="2870199" cy="584775"/>
          </a:xfrm>
        </p:grpSpPr>
        <p:sp>
          <p:nvSpPr>
            <p:cNvPr id="15" name="TextBox 14">
              <a:extLst>
                <a:ext uri="{FF2B5EF4-FFF2-40B4-BE49-F238E27FC236}">
                  <a16:creationId xmlns:a16="http://schemas.microsoft.com/office/drawing/2014/main" id="{B01B109A-C19C-3429-B4CB-E09C8383705C}"/>
                </a:ext>
              </a:extLst>
            </p:cNvPr>
            <p:cNvSpPr txBox="1"/>
            <p:nvPr/>
          </p:nvSpPr>
          <p:spPr>
            <a:xfrm>
              <a:off x="6096000" y="1277239"/>
              <a:ext cx="43497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a:solidFill>
                    <a:schemeClr val="bg1"/>
                  </a:solidFill>
                  <a:effectLst/>
                  <a:latin typeface="Redig" pitchFamily="2" charset="77"/>
                  <a:ea typeface="Times New Roman" panose="02020603050405020304" pitchFamily="18" charset="0"/>
                  <a:cs typeface="Calibri" panose="020F0502020204030204" pitchFamily="34" charset="0"/>
                </a:rPr>
                <a:t>4</a:t>
              </a:r>
              <a:endParaRPr lang="en-VN" sz="4000" b="1" kern="160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16" name="TextBox 15">
              <a:extLst>
                <a:ext uri="{FF2B5EF4-FFF2-40B4-BE49-F238E27FC236}">
                  <a16:creationId xmlns:a16="http://schemas.microsoft.com/office/drawing/2014/main" id="{742299E7-C2BD-DDD9-0F27-80BC06D71A99}"/>
                </a:ext>
              </a:extLst>
            </p:cNvPr>
            <p:cNvSpPr txBox="1"/>
            <p:nvPr/>
          </p:nvSpPr>
          <p:spPr>
            <a:xfrm>
              <a:off x="6406620" y="1407063"/>
              <a:ext cx="2559579" cy="292388"/>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Master Schedule</a:t>
              </a:r>
            </a:p>
          </p:txBody>
        </p:sp>
      </p:grpSp>
      <p:grpSp>
        <p:nvGrpSpPr>
          <p:cNvPr id="17" name="Group 16">
            <a:extLst>
              <a:ext uri="{FF2B5EF4-FFF2-40B4-BE49-F238E27FC236}">
                <a16:creationId xmlns:a16="http://schemas.microsoft.com/office/drawing/2014/main" id="{FB245A6C-8AC9-B690-433B-F9AE2E87A4B4}"/>
              </a:ext>
            </a:extLst>
          </p:cNvPr>
          <p:cNvGrpSpPr/>
          <p:nvPr/>
        </p:nvGrpSpPr>
        <p:grpSpPr>
          <a:xfrm>
            <a:off x="640826" y="4410933"/>
            <a:ext cx="2793999" cy="584775"/>
            <a:chOff x="6096000" y="1277239"/>
            <a:chExt cx="2793999" cy="584775"/>
          </a:xfrm>
        </p:grpSpPr>
        <p:sp>
          <p:nvSpPr>
            <p:cNvPr id="18" name="TextBox 17">
              <a:extLst>
                <a:ext uri="{FF2B5EF4-FFF2-40B4-BE49-F238E27FC236}">
                  <a16:creationId xmlns:a16="http://schemas.microsoft.com/office/drawing/2014/main" id="{44050633-EFFF-E055-9A79-F5DCFE996986}"/>
                </a:ext>
              </a:extLst>
            </p:cNvPr>
            <p:cNvSpPr txBox="1"/>
            <p:nvPr/>
          </p:nvSpPr>
          <p:spPr>
            <a:xfrm>
              <a:off x="6096000" y="1277239"/>
              <a:ext cx="43497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a:solidFill>
                    <a:schemeClr val="bg1"/>
                  </a:solidFill>
                  <a:effectLst/>
                  <a:latin typeface="Redig" pitchFamily="2" charset="77"/>
                  <a:ea typeface="Times New Roman" panose="02020603050405020304" pitchFamily="18" charset="0"/>
                  <a:cs typeface="Calibri" panose="020F0502020204030204" pitchFamily="34" charset="0"/>
                </a:rPr>
                <a:t>5</a:t>
              </a:r>
              <a:endParaRPr lang="en-VN" sz="4000" b="1" kern="160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19" name="TextBox 18">
              <a:extLst>
                <a:ext uri="{FF2B5EF4-FFF2-40B4-BE49-F238E27FC236}">
                  <a16:creationId xmlns:a16="http://schemas.microsoft.com/office/drawing/2014/main" id="{8835CF4B-3E08-B170-41A2-95E5050F373E}"/>
                </a:ext>
              </a:extLst>
            </p:cNvPr>
            <p:cNvSpPr txBox="1"/>
            <p:nvPr/>
          </p:nvSpPr>
          <p:spPr>
            <a:xfrm>
              <a:off x="6406620" y="1392995"/>
              <a:ext cx="2483379" cy="292388"/>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Deliverables</a:t>
              </a:r>
            </a:p>
          </p:txBody>
        </p:sp>
      </p:grpSp>
      <p:grpSp>
        <p:nvGrpSpPr>
          <p:cNvPr id="20" name="Group 19">
            <a:extLst>
              <a:ext uri="{FF2B5EF4-FFF2-40B4-BE49-F238E27FC236}">
                <a16:creationId xmlns:a16="http://schemas.microsoft.com/office/drawing/2014/main" id="{D3894479-9905-38D6-66AF-00F6D8299202}"/>
              </a:ext>
            </a:extLst>
          </p:cNvPr>
          <p:cNvGrpSpPr/>
          <p:nvPr/>
        </p:nvGrpSpPr>
        <p:grpSpPr>
          <a:xfrm>
            <a:off x="627334" y="5175890"/>
            <a:ext cx="1742149" cy="584775"/>
            <a:chOff x="6096000" y="1277239"/>
            <a:chExt cx="1742149" cy="584775"/>
          </a:xfrm>
        </p:grpSpPr>
        <p:sp>
          <p:nvSpPr>
            <p:cNvPr id="21" name="TextBox 20">
              <a:extLst>
                <a:ext uri="{FF2B5EF4-FFF2-40B4-BE49-F238E27FC236}">
                  <a16:creationId xmlns:a16="http://schemas.microsoft.com/office/drawing/2014/main" id="{40B9CF37-EB33-BBE6-78BB-96721F61646E}"/>
                </a:ext>
              </a:extLst>
            </p:cNvPr>
            <p:cNvSpPr txBox="1"/>
            <p:nvPr/>
          </p:nvSpPr>
          <p:spPr>
            <a:xfrm>
              <a:off x="6096000" y="1277239"/>
              <a:ext cx="43497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a:solidFill>
                    <a:schemeClr val="bg1"/>
                  </a:solidFill>
                  <a:latin typeface="Redig" pitchFamily="2" charset="77"/>
                  <a:ea typeface="Times New Roman" panose="02020603050405020304" pitchFamily="18" charset="0"/>
                  <a:cs typeface="Calibri" panose="020F0502020204030204" pitchFamily="34" charset="0"/>
                </a:rPr>
                <a:t>6</a:t>
              </a:r>
              <a:endParaRPr lang="en-VN" sz="4000" b="1" kern="160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22" name="TextBox 21">
              <a:extLst>
                <a:ext uri="{FF2B5EF4-FFF2-40B4-BE49-F238E27FC236}">
                  <a16:creationId xmlns:a16="http://schemas.microsoft.com/office/drawing/2014/main" id="{9B9621A7-087F-7DA6-B9BD-BAFF6792FEC1}"/>
                </a:ext>
              </a:extLst>
            </p:cNvPr>
            <p:cNvSpPr txBox="1"/>
            <p:nvPr/>
          </p:nvSpPr>
          <p:spPr>
            <a:xfrm>
              <a:off x="6406620" y="1329634"/>
              <a:ext cx="1431529" cy="492443"/>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Communication &amp; Reporting</a:t>
              </a:r>
              <a:endParaRPr lang="en-VN" sz="1300" kern="1600" dirty="0">
                <a:solidFill>
                  <a:schemeClr val="bg1"/>
                </a:solidFill>
                <a:effectLst/>
                <a:latin typeface="BR Omega" pitchFamily="2" charset="77"/>
                <a:ea typeface="Times New Roman" panose="02020603050405020304" pitchFamily="18" charset="0"/>
                <a:cs typeface="Calibri" panose="020F0502020204030204" pitchFamily="34" charset="0"/>
              </a:endParaRPr>
            </a:p>
          </p:txBody>
        </p:sp>
      </p:grpSp>
      <p:grpSp>
        <p:nvGrpSpPr>
          <p:cNvPr id="23" name="Group 22">
            <a:extLst>
              <a:ext uri="{FF2B5EF4-FFF2-40B4-BE49-F238E27FC236}">
                <a16:creationId xmlns:a16="http://schemas.microsoft.com/office/drawing/2014/main" id="{7BB90D3E-731D-B17D-F5FD-F5F0C129A1B4}"/>
              </a:ext>
            </a:extLst>
          </p:cNvPr>
          <p:cNvGrpSpPr/>
          <p:nvPr/>
        </p:nvGrpSpPr>
        <p:grpSpPr>
          <a:xfrm>
            <a:off x="4864235" y="1351101"/>
            <a:ext cx="1862667" cy="584775"/>
            <a:chOff x="6096000" y="1277239"/>
            <a:chExt cx="1862667" cy="584775"/>
          </a:xfrm>
        </p:grpSpPr>
        <p:sp>
          <p:nvSpPr>
            <p:cNvPr id="24" name="TextBox 23">
              <a:extLst>
                <a:ext uri="{FF2B5EF4-FFF2-40B4-BE49-F238E27FC236}">
                  <a16:creationId xmlns:a16="http://schemas.microsoft.com/office/drawing/2014/main" id="{12A9DD85-95B0-1C26-C7B6-9B337F7899F4}"/>
                </a:ext>
              </a:extLst>
            </p:cNvPr>
            <p:cNvSpPr txBox="1"/>
            <p:nvPr/>
          </p:nvSpPr>
          <p:spPr>
            <a:xfrm>
              <a:off x="6096000" y="1277239"/>
              <a:ext cx="43497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a:solidFill>
                    <a:schemeClr val="bg1"/>
                  </a:solidFill>
                  <a:latin typeface="Redig" pitchFamily="2" charset="77"/>
                  <a:ea typeface="Times New Roman" panose="02020603050405020304" pitchFamily="18" charset="0"/>
                  <a:cs typeface="Calibri" panose="020F0502020204030204" pitchFamily="34" charset="0"/>
                </a:rPr>
                <a:t>7</a:t>
              </a:r>
              <a:endParaRPr lang="en-VN" sz="4000" b="1" kern="160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25" name="TextBox 24">
              <a:extLst>
                <a:ext uri="{FF2B5EF4-FFF2-40B4-BE49-F238E27FC236}">
                  <a16:creationId xmlns:a16="http://schemas.microsoft.com/office/drawing/2014/main" id="{A0C0DFF6-DA48-2676-9BC7-D7BEE1CA8723}"/>
                </a:ext>
              </a:extLst>
            </p:cNvPr>
            <p:cNvSpPr txBox="1"/>
            <p:nvPr/>
          </p:nvSpPr>
          <p:spPr>
            <a:xfrm>
              <a:off x="6406621" y="1350791"/>
              <a:ext cx="1552046" cy="492443"/>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Working Model &amp; Process</a:t>
              </a:r>
              <a:endParaRPr lang="en-VN" sz="1300" kern="1600" dirty="0">
                <a:solidFill>
                  <a:schemeClr val="bg1"/>
                </a:solidFill>
                <a:effectLst/>
                <a:latin typeface="BR Omega" pitchFamily="2" charset="77"/>
                <a:ea typeface="Times New Roman" panose="02020603050405020304" pitchFamily="18" charset="0"/>
                <a:cs typeface="Calibri" panose="020F0502020204030204" pitchFamily="34" charset="0"/>
              </a:endParaRPr>
            </a:p>
          </p:txBody>
        </p:sp>
      </p:grpSp>
      <p:grpSp>
        <p:nvGrpSpPr>
          <p:cNvPr id="26" name="Group 25">
            <a:extLst>
              <a:ext uri="{FF2B5EF4-FFF2-40B4-BE49-F238E27FC236}">
                <a16:creationId xmlns:a16="http://schemas.microsoft.com/office/drawing/2014/main" id="{C04004E5-5B01-AFE9-F244-C287A9A65455}"/>
              </a:ext>
            </a:extLst>
          </p:cNvPr>
          <p:cNvGrpSpPr/>
          <p:nvPr/>
        </p:nvGrpSpPr>
        <p:grpSpPr>
          <a:xfrm>
            <a:off x="4864235" y="2116059"/>
            <a:ext cx="2336801" cy="584775"/>
            <a:chOff x="6096000" y="1277239"/>
            <a:chExt cx="2336801" cy="584775"/>
          </a:xfrm>
        </p:grpSpPr>
        <p:sp>
          <p:nvSpPr>
            <p:cNvPr id="27" name="TextBox 26">
              <a:extLst>
                <a:ext uri="{FF2B5EF4-FFF2-40B4-BE49-F238E27FC236}">
                  <a16:creationId xmlns:a16="http://schemas.microsoft.com/office/drawing/2014/main" id="{FD847006-E7BF-0763-2192-9EB3467F7895}"/>
                </a:ext>
              </a:extLst>
            </p:cNvPr>
            <p:cNvSpPr txBox="1"/>
            <p:nvPr/>
          </p:nvSpPr>
          <p:spPr>
            <a:xfrm>
              <a:off x="6096000" y="1277239"/>
              <a:ext cx="43497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a:solidFill>
                    <a:schemeClr val="bg1"/>
                  </a:solidFill>
                  <a:latin typeface="Redig" pitchFamily="2" charset="77"/>
                  <a:ea typeface="Times New Roman" panose="02020603050405020304" pitchFamily="18" charset="0"/>
                  <a:cs typeface="Calibri" panose="020F0502020204030204" pitchFamily="34" charset="0"/>
                </a:rPr>
                <a:t>8</a:t>
              </a:r>
              <a:endParaRPr lang="en-VN" sz="4000" b="1" kern="160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28" name="TextBox 27">
              <a:extLst>
                <a:ext uri="{FF2B5EF4-FFF2-40B4-BE49-F238E27FC236}">
                  <a16:creationId xmlns:a16="http://schemas.microsoft.com/office/drawing/2014/main" id="{0E942FE8-BE1E-04A2-5E86-7482BFDD3573}"/>
                </a:ext>
              </a:extLst>
            </p:cNvPr>
            <p:cNvSpPr txBox="1"/>
            <p:nvPr/>
          </p:nvSpPr>
          <p:spPr>
            <a:xfrm>
              <a:off x="6406621" y="1350791"/>
              <a:ext cx="2026180" cy="492443"/>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Performance Metric Measurement</a:t>
              </a:r>
              <a:endParaRPr lang="en-VN" sz="1300" kern="1600" dirty="0">
                <a:solidFill>
                  <a:schemeClr val="bg1"/>
                </a:solidFill>
                <a:effectLst/>
                <a:latin typeface="BR Omega" pitchFamily="2" charset="77"/>
                <a:ea typeface="Times New Roman" panose="02020603050405020304" pitchFamily="18" charset="0"/>
                <a:cs typeface="Calibri" panose="020F0502020204030204" pitchFamily="34" charset="0"/>
              </a:endParaRPr>
            </a:p>
          </p:txBody>
        </p:sp>
      </p:grpSp>
      <p:grpSp>
        <p:nvGrpSpPr>
          <p:cNvPr id="29" name="Group 28">
            <a:extLst>
              <a:ext uri="{FF2B5EF4-FFF2-40B4-BE49-F238E27FC236}">
                <a16:creationId xmlns:a16="http://schemas.microsoft.com/office/drawing/2014/main" id="{55A8B08C-953D-13F6-9D43-8268FD2297DF}"/>
              </a:ext>
            </a:extLst>
          </p:cNvPr>
          <p:cNvGrpSpPr/>
          <p:nvPr/>
        </p:nvGrpSpPr>
        <p:grpSpPr>
          <a:xfrm>
            <a:off x="4864235" y="2881017"/>
            <a:ext cx="1862667" cy="584775"/>
            <a:chOff x="6096000" y="1277239"/>
            <a:chExt cx="1862667" cy="584775"/>
          </a:xfrm>
        </p:grpSpPr>
        <p:sp>
          <p:nvSpPr>
            <p:cNvPr id="30" name="TextBox 29">
              <a:extLst>
                <a:ext uri="{FF2B5EF4-FFF2-40B4-BE49-F238E27FC236}">
                  <a16:creationId xmlns:a16="http://schemas.microsoft.com/office/drawing/2014/main" id="{F88B93CE-F591-2AF6-6427-6EF37CA67549}"/>
                </a:ext>
              </a:extLst>
            </p:cNvPr>
            <p:cNvSpPr txBox="1"/>
            <p:nvPr/>
          </p:nvSpPr>
          <p:spPr>
            <a:xfrm>
              <a:off x="6096000" y="1277239"/>
              <a:ext cx="43497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a:solidFill>
                    <a:schemeClr val="bg1"/>
                  </a:solidFill>
                  <a:effectLst/>
                  <a:latin typeface="Redig" pitchFamily="2" charset="77"/>
                  <a:ea typeface="Times New Roman" panose="02020603050405020304" pitchFamily="18" charset="0"/>
                  <a:cs typeface="Calibri" panose="020F0502020204030204" pitchFamily="34" charset="0"/>
                </a:rPr>
                <a:t>9</a:t>
              </a:r>
              <a:endParaRPr lang="en-VN" sz="4000" b="1" kern="160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31" name="TextBox 30">
              <a:extLst>
                <a:ext uri="{FF2B5EF4-FFF2-40B4-BE49-F238E27FC236}">
                  <a16:creationId xmlns:a16="http://schemas.microsoft.com/office/drawing/2014/main" id="{B0910195-E10F-EDD1-5B29-23610092636B}"/>
                </a:ext>
              </a:extLst>
            </p:cNvPr>
            <p:cNvSpPr txBox="1"/>
            <p:nvPr/>
          </p:nvSpPr>
          <p:spPr>
            <a:xfrm>
              <a:off x="6406621" y="1350791"/>
              <a:ext cx="1552046" cy="492443"/>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Constraint and Assumptions</a:t>
              </a:r>
              <a:endParaRPr lang="en-VN" sz="1300" kern="1600" dirty="0">
                <a:solidFill>
                  <a:schemeClr val="bg1"/>
                </a:solidFill>
                <a:effectLst/>
                <a:latin typeface="BR Omega" pitchFamily="2" charset="77"/>
                <a:ea typeface="Times New Roman" panose="02020603050405020304" pitchFamily="18" charset="0"/>
                <a:cs typeface="Calibri" panose="020F0502020204030204" pitchFamily="34" charset="0"/>
              </a:endParaRPr>
            </a:p>
          </p:txBody>
        </p:sp>
      </p:grpSp>
      <p:grpSp>
        <p:nvGrpSpPr>
          <p:cNvPr id="32" name="Group 31">
            <a:extLst>
              <a:ext uri="{FF2B5EF4-FFF2-40B4-BE49-F238E27FC236}">
                <a16:creationId xmlns:a16="http://schemas.microsoft.com/office/drawing/2014/main" id="{63A97554-100D-4391-7CDA-971558DD8E96}"/>
              </a:ext>
            </a:extLst>
          </p:cNvPr>
          <p:cNvGrpSpPr/>
          <p:nvPr/>
        </p:nvGrpSpPr>
        <p:grpSpPr>
          <a:xfrm>
            <a:off x="4864235" y="3645975"/>
            <a:ext cx="1957515" cy="584775"/>
            <a:chOff x="6024960" y="1277239"/>
            <a:chExt cx="1957515" cy="584775"/>
          </a:xfrm>
        </p:grpSpPr>
        <p:sp>
          <p:nvSpPr>
            <p:cNvPr id="33" name="TextBox 32">
              <a:extLst>
                <a:ext uri="{FF2B5EF4-FFF2-40B4-BE49-F238E27FC236}">
                  <a16:creationId xmlns:a16="http://schemas.microsoft.com/office/drawing/2014/main" id="{32E25254-C9DF-C485-CD78-3A5A373ECE80}"/>
                </a:ext>
              </a:extLst>
            </p:cNvPr>
            <p:cNvSpPr txBox="1"/>
            <p:nvPr/>
          </p:nvSpPr>
          <p:spPr>
            <a:xfrm>
              <a:off x="6024960" y="1277239"/>
              <a:ext cx="50601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a:solidFill>
                    <a:schemeClr val="bg1"/>
                  </a:solidFill>
                  <a:effectLst/>
                  <a:latin typeface="Redig" pitchFamily="2" charset="77"/>
                  <a:ea typeface="Times New Roman" panose="02020603050405020304" pitchFamily="18" charset="0"/>
                  <a:cs typeface="Calibri" panose="020F0502020204030204" pitchFamily="34" charset="0"/>
                </a:rPr>
                <a:t>10</a:t>
              </a:r>
              <a:endParaRPr lang="en-VN" sz="4000" b="1" kern="160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34" name="TextBox 33">
              <a:extLst>
                <a:ext uri="{FF2B5EF4-FFF2-40B4-BE49-F238E27FC236}">
                  <a16:creationId xmlns:a16="http://schemas.microsoft.com/office/drawing/2014/main" id="{DAF1CC5D-1AAF-879D-1D04-B8DD199720C3}"/>
                </a:ext>
              </a:extLst>
            </p:cNvPr>
            <p:cNvSpPr txBox="1"/>
            <p:nvPr/>
          </p:nvSpPr>
          <p:spPr>
            <a:xfrm>
              <a:off x="6406620" y="1384658"/>
              <a:ext cx="1575855" cy="292388"/>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Risk Management</a:t>
              </a:r>
              <a:endParaRPr lang="en-VN" sz="1300" kern="1600" dirty="0">
                <a:solidFill>
                  <a:schemeClr val="bg1"/>
                </a:solidFill>
                <a:effectLst/>
                <a:latin typeface="BR Omega" pitchFamily="2" charset="77"/>
                <a:ea typeface="Times New Roman" panose="02020603050405020304" pitchFamily="18" charset="0"/>
                <a:cs typeface="Calibri" panose="020F0502020204030204" pitchFamily="34" charset="0"/>
              </a:endParaRPr>
            </a:p>
          </p:txBody>
        </p:sp>
      </p:grpSp>
      <p:grpSp>
        <p:nvGrpSpPr>
          <p:cNvPr id="35" name="Group 34">
            <a:extLst>
              <a:ext uri="{FF2B5EF4-FFF2-40B4-BE49-F238E27FC236}">
                <a16:creationId xmlns:a16="http://schemas.microsoft.com/office/drawing/2014/main" id="{C2BAC0DA-B014-87A6-626D-BF61576D0A7A}"/>
              </a:ext>
            </a:extLst>
          </p:cNvPr>
          <p:cNvGrpSpPr/>
          <p:nvPr/>
        </p:nvGrpSpPr>
        <p:grpSpPr>
          <a:xfrm>
            <a:off x="4864235" y="4410933"/>
            <a:ext cx="2159525" cy="584775"/>
            <a:chOff x="6024960" y="1277239"/>
            <a:chExt cx="2159525" cy="584775"/>
          </a:xfrm>
        </p:grpSpPr>
        <p:sp>
          <p:nvSpPr>
            <p:cNvPr id="36" name="TextBox 35">
              <a:extLst>
                <a:ext uri="{FF2B5EF4-FFF2-40B4-BE49-F238E27FC236}">
                  <a16:creationId xmlns:a16="http://schemas.microsoft.com/office/drawing/2014/main" id="{BA8B068B-0498-EB12-6372-9881234F103F}"/>
                </a:ext>
              </a:extLst>
            </p:cNvPr>
            <p:cNvSpPr txBox="1"/>
            <p:nvPr/>
          </p:nvSpPr>
          <p:spPr>
            <a:xfrm>
              <a:off x="6024960" y="1277239"/>
              <a:ext cx="50601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a:solidFill>
                    <a:schemeClr val="bg1"/>
                  </a:solidFill>
                  <a:effectLst/>
                  <a:latin typeface="Redig" pitchFamily="2" charset="77"/>
                  <a:ea typeface="Times New Roman" panose="02020603050405020304" pitchFamily="18" charset="0"/>
                  <a:cs typeface="Calibri" panose="020F0502020204030204" pitchFamily="34" charset="0"/>
                </a:rPr>
                <a:t>11</a:t>
              </a:r>
              <a:endParaRPr lang="en-VN" sz="4000" b="1" kern="160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37" name="TextBox 36">
              <a:extLst>
                <a:ext uri="{FF2B5EF4-FFF2-40B4-BE49-F238E27FC236}">
                  <a16:creationId xmlns:a16="http://schemas.microsoft.com/office/drawing/2014/main" id="{5C6EC181-785B-1ECF-3297-BC5A5480CCA8}"/>
                </a:ext>
              </a:extLst>
            </p:cNvPr>
            <p:cNvSpPr txBox="1"/>
            <p:nvPr/>
          </p:nvSpPr>
          <p:spPr>
            <a:xfrm>
              <a:off x="6406620" y="1395947"/>
              <a:ext cx="1777865" cy="292388"/>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Security Assurance</a:t>
              </a:r>
              <a:endParaRPr lang="en-VN" sz="1300" kern="1600" dirty="0">
                <a:solidFill>
                  <a:schemeClr val="bg1"/>
                </a:solidFill>
                <a:effectLst/>
                <a:latin typeface="BR Omega" pitchFamily="2" charset="77"/>
                <a:ea typeface="Times New Roman" panose="02020603050405020304" pitchFamily="18" charset="0"/>
                <a:cs typeface="Calibri" panose="020F0502020204030204" pitchFamily="34" charset="0"/>
              </a:endParaRPr>
            </a:p>
          </p:txBody>
        </p:sp>
      </p:grpSp>
      <p:grpSp>
        <p:nvGrpSpPr>
          <p:cNvPr id="38" name="Group 37">
            <a:extLst>
              <a:ext uri="{FF2B5EF4-FFF2-40B4-BE49-F238E27FC236}">
                <a16:creationId xmlns:a16="http://schemas.microsoft.com/office/drawing/2014/main" id="{0DB41400-459F-2F1F-417A-02D9439C8045}"/>
              </a:ext>
            </a:extLst>
          </p:cNvPr>
          <p:cNvGrpSpPr/>
          <p:nvPr/>
        </p:nvGrpSpPr>
        <p:grpSpPr>
          <a:xfrm>
            <a:off x="4864235" y="5175890"/>
            <a:ext cx="2941239" cy="584775"/>
            <a:chOff x="6024960" y="1277239"/>
            <a:chExt cx="2941239" cy="584775"/>
          </a:xfrm>
        </p:grpSpPr>
        <p:sp>
          <p:nvSpPr>
            <p:cNvPr id="39" name="TextBox 38">
              <a:extLst>
                <a:ext uri="{FF2B5EF4-FFF2-40B4-BE49-F238E27FC236}">
                  <a16:creationId xmlns:a16="http://schemas.microsoft.com/office/drawing/2014/main" id="{75ED3802-2B15-8ECC-DD6E-CA20DEB4C9B1}"/>
                </a:ext>
              </a:extLst>
            </p:cNvPr>
            <p:cNvSpPr txBox="1"/>
            <p:nvPr/>
          </p:nvSpPr>
          <p:spPr>
            <a:xfrm>
              <a:off x="6024960" y="1277239"/>
              <a:ext cx="50601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a:solidFill>
                    <a:schemeClr val="bg1"/>
                  </a:solidFill>
                  <a:latin typeface="Redig" pitchFamily="2" charset="77"/>
                  <a:ea typeface="Times New Roman" panose="02020603050405020304" pitchFamily="18" charset="0"/>
                  <a:cs typeface="Calibri" panose="020F0502020204030204" pitchFamily="34" charset="0"/>
                </a:rPr>
                <a:t>12</a:t>
              </a:r>
              <a:endParaRPr lang="en-VN" sz="4000" b="1" kern="160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40" name="TextBox 39">
              <a:extLst>
                <a:ext uri="{FF2B5EF4-FFF2-40B4-BE49-F238E27FC236}">
                  <a16:creationId xmlns:a16="http://schemas.microsoft.com/office/drawing/2014/main" id="{129BCF5D-ACF0-36DC-BE6A-DA2CCBE3B98B}"/>
                </a:ext>
              </a:extLst>
            </p:cNvPr>
            <p:cNvSpPr txBox="1"/>
            <p:nvPr/>
          </p:nvSpPr>
          <p:spPr>
            <a:xfrm>
              <a:off x="6406620" y="1388556"/>
              <a:ext cx="2559579" cy="292388"/>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a:solidFill>
                    <a:schemeClr val="bg1"/>
                  </a:solidFill>
                  <a:latin typeface="BR Omega" pitchFamily="2" charset="77"/>
                  <a:ea typeface="Times New Roman" panose="02020603050405020304" pitchFamily="18" charset="0"/>
                  <a:cs typeface="Calibri" panose="020F0502020204030204" pitchFamily="34" charset="0"/>
                </a:rPr>
                <a:t>Working space</a:t>
              </a:r>
              <a:endParaRPr lang="en-VN" sz="1300" kern="1600" dirty="0">
                <a:solidFill>
                  <a:schemeClr val="bg1"/>
                </a:solidFill>
                <a:effectLst/>
                <a:latin typeface="BR Omega" pitchFamily="2" charset="77"/>
                <a:ea typeface="Times New Roman" panose="02020603050405020304" pitchFamily="18" charset="0"/>
                <a:cs typeface="Calibri" panose="020F0502020204030204" pitchFamily="34" charset="0"/>
              </a:endParaRPr>
            </a:p>
          </p:txBody>
        </p:sp>
      </p:grpSp>
      <p:grpSp>
        <p:nvGrpSpPr>
          <p:cNvPr id="41" name="Group 40">
            <a:extLst>
              <a:ext uri="{FF2B5EF4-FFF2-40B4-BE49-F238E27FC236}">
                <a16:creationId xmlns:a16="http://schemas.microsoft.com/office/drawing/2014/main" id="{C0BAFEF5-44D6-76AE-9A32-355C0E09BA7C}"/>
              </a:ext>
            </a:extLst>
          </p:cNvPr>
          <p:cNvGrpSpPr/>
          <p:nvPr/>
        </p:nvGrpSpPr>
        <p:grpSpPr>
          <a:xfrm>
            <a:off x="8553314" y="1351101"/>
            <a:ext cx="2865039" cy="584775"/>
            <a:chOff x="6024960" y="1277239"/>
            <a:chExt cx="2865039" cy="584775"/>
          </a:xfrm>
        </p:grpSpPr>
        <p:sp>
          <p:nvSpPr>
            <p:cNvPr id="42" name="TextBox 41">
              <a:extLst>
                <a:ext uri="{FF2B5EF4-FFF2-40B4-BE49-F238E27FC236}">
                  <a16:creationId xmlns:a16="http://schemas.microsoft.com/office/drawing/2014/main" id="{C84994D6-BC33-0BA5-3B88-04DA473E1930}"/>
                </a:ext>
              </a:extLst>
            </p:cNvPr>
            <p:cNvSpPr txBox="1"/>
            <p:nvPr/>
          </p:nvSpPr>
          <p:spPr>
            <a:xfrm>
              <a:off x="6024960" y="1277239"/>
              <a:ext cx="50601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a:solidFill>
                    <a:schemeClr val="bg1"/>
                  </a:solidFill>
                  <a:effectLst/>
                  <a:latin typeface="Redig" pitchFamily="2" charset="77"/>
                  <a:ea typeface="Times New Roman" panose="02020603050405020304" pitchFamily="18" charset="0"/>
                  <a:cs typeface="Calibri" panose="020F0502020204030204" pitchFamily="34" charset="0"/>
                </a:rPr>
                <a:t>13</a:t>
              </a:r>
              <a:endParaRPr lang="en-VN" sz="4000" b="1" kern="160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43" name="TextBox 42">
              <a:extLst>
                <a:ext uri="{FF2B5EF4-FFF2-40B4-BE49-F238E27FC236}">
                  <a16:creationId xmlns:a16="http://schemas.microsoft.com/office/drawing/2014/main" id="{A8078654-C07F-12D8-67ED-B840C8E548A1}"/>
                </a:ext>
              </a:extLst>
            </p:cNvPr>
            <p:cNvSpPr txBox="1"/>
            <p:nvPr/>
          </p:nvSpPr>
          <p:spPr>
            <a:xfrm>
              <a:off x="6406620" y="1391415"/>
              <a:ext cx="2483379" cy="292388"/>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Standard process</a:t>
              </a:r>
              <a:endParaRPr lang="en-VN" sz="1300" kern="1600" dirty="0">
                <a:solidFill>
                  <a:schemeClr val="bg1"/>
                </a:solidFill>
                <a:effectLst/>
                <a:latin typeface="BR Omega" pitchFamily="2" charset="77"/>
                <a:ea typeface="Times New Roman" panose="02020603050405020304" pitchFamily="18" charset="0"/>
                <a:cs typeface="Calibri" panose="020F0502020204030204" pitchFamily="34" charset="0"/>
              </a:endParaRPr>
            </a:p>
          </p:txBody>
        </p:sp>
      </p:grpSp>
      <p:grpSp>
        <p:nvGrpSpPr>
          <p:cNvPr id="44" name="Group 43">
            <a:extLst>
              <a:ext uri="{FF2B5EF4-FFF2-40B4-BE49-F238E27FC236}">
                <a16:creationId xmlns:a16="http://schemas.microsoft.com/office/drawing/2014/main" id="{8212177A-0053-DDA4-F44B-097D26581747}"/>
              </a:ext>
            </a:extLst>
          </p:cNvPr>
          <p:cNvGrpSpPr/>
          <p:nvPr/>
        </p:nvGrpSpPr>
        <p:grpSpPr>
          <a:xfrm>
            <a:off x="8553314" y="2116059"/>
            <a:ext cx="2407841" cy="584775"/>
            <a:chOff x="6024960" y="1277239"/>
            <a:chExt cx="2407841" cy="584775"/>
          </a:xfrm>
        </p:grpSpPr>
        <p:sp>
          <p:nvSpPr>
            <p:cNvPr id="45" name="TextBox 44">
              <a:extLst>
                <a:ext uri="{FF2B5EF4-FFF2-40B4-BE49-F238E27FC236}">
                  <a16:creationId xmlns:a16="http://schemas.microsoft.com/office/drawing/2014/main" id="{81FBC608-997B-6CCA-76ED-E8CC92D13DE5}"/>
                </a:ext>
              </a:extLst>
            </p:cNvPr>
            <p:cNvSpPr txBox="1"/>
            <p:nvPr/>
          </p:nvSpPr>
          <p:spPr>
            <a:xfrm>
              <a:off x="6024960" y="1277239"/>
              <a:ext cx="50601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a:solidFill>
                    <a:schemeClr val="bg1"/>
                  </a:solidFill>
                  <a:latin typeface="Redig" pitchFamily="2" charset="77"/>
                  <a:ea typeface="Times New Roman" panose="02020603050405020304" pitchFamily="18" charset="0"/>
                  <a:cs typeface="Calibri" panose="020F0502020204030204" pitchFamily="34" charset="0"/>
                </a:rPr>
                <a:t>14</a:t>
              </a:r>
              <a:endParaRPr lang="en-VN" sz="4000" b="1" kern="160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46" name="TextBox 45">
              <a:extLst>
                <a:ext uri="{FF2B5EF4-FFF2-40B4-BE49-F238E27FC236}">
                  <a16:creationId xmlns:a16="http://schemas.microsoft.com/office/drawing/2014/main" id="{10CC0F86-77CE-1841-DA97-706A6BC9724C}"/>
                </a:ext>
              </a:extLst>
            </p:cNvPr>
            <p:cNvSpPr txBox="1"/>
            <p:nvPr/>
          </p:nvSpPr>
          <p:spPr>
            <a:xfrm>
              <a:off x="6406621" y="1393205"/>
              <a:ext cx="2026180" cy="292388"/>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&lt;Additional&gt;</a:t>
              </a:r>
              <a:endParaRPr lang="en-VN" sz="1300" kern="1600" dirty="0">
                <a:solidFill>
                  <a:schemeClr val="bg1"/>
                </a:solidFill>
                <a:effectLst/>
                <a:latin typeface="BR Omega" pitchFamily="2" charset="77"/>
                <a:ea typeface="Times New Roman" panose="02020603050405020304" pitchFamily="18" charset="0"/>
                <a:cs typeface="Calibri" panose="020F0502020204030204" pitchFamily="34" charset="0"/>
              </a:endParaRPr>
            </a:p>
          </p:txBody>
        </p:sp>
      </p:grpSp>
      <p:grpSp>
        <p:nvGrpSpPr>
          <p:cNvPr id="47" name="Group 46">
            <a:extLst>
              <a:ext uri="{FF2B5EF4-FFF2-40B4-BE49-F238E27FC236}">
                <a16:creationId xmlns:a16="http://schemas.microsoft.com/office/drawing/2014/main" id="{FF3F4282-032F-F021-0CBB-3911F2C6F5E7}"/>
              </a:ext>
            </a:extLst>
          </p:cNvPr>
          <p:cNvGrpSpPr/>
          <p:nvPr/>
        </p:nvGrpSpPr>
        <p:grpSpPr>
          <a:xfrm>
            <a:off x="8553314" y="2881017"/>
            <a:ext cx="2286001" cy="584775"/>
            <a:chOff x="6024960" y="1277239"/>
            <a:chExt cx="2286001" cy="584775"/>
          </a:xfrm>
        </p:grpSpPr>
        <p:sp>
          <p:nvSpPr>
            <p:cNvPr id="48" name="TextBox 47">
              <a:extLst>
                <a:ext uri="{FF2B5EF4-FFF2-40B4-BE49-F238E27FC236}">
                  <a16:creationId xmlns:a16="http://schemas.microsoft.com/office/drawing/2014/main" id="{9729BC33-EA09-B474-3E9B-1A3689496AA4}"/>
                </a:ext>
              </a:extLst>
            </p:cNvPr>
            <p:cNvSpPr txBox="1"/>
            <p:nvPr/>
          </p:nvSpPr>
          <p:spPr>
            <a:xfrm>
              <a:off x="6024960" y="1277239"/>
              <a:ext cx="506015" cy="584775"/>
            </a:xfrm>
            <a:prstGeom prst="rect">
              <a:avLst/>
            </a:prstGeom>
            <a:noFill/>
          </p:spPr>
          <p:txBody>
            <a:bodyPr wrap="square" rtlCol="0">
              <a:spAutoFit/>
            </a:bodyPr>
            <a:lstStyle/>
            <a:p>
              <a:pPr lvl="0">
                <a:lnSpc>
                  <a:spcPct val="80000"/>
                </a:lnSpc>
                <a:spcBef>
                  <a:spcPts val="1200"/>
                </a:spcBef>
                <a:spcAft>
                  <a:spcPts val="300"/>
                </a:spcAft>
                <a:buClr>
                  <a:schemeClr val="bg1">
                    <a:lumMod val="50000"/>
                  </a:schemeClr>
                </a:buClr>
              </a:pPr>
              <a:r>
                <a:rPr lang="en-US" sz="4000" b="1" kern="1600">
                  <a:solidFill>
                    <a:schemeClr val="bg1"/>
                  </a:solidFill>
                  <a:latin typeface="Redig" pitchFamily="2" charset="77"/>
                  <a:ea typeface="Times New Roman" panose="02020603050405020304" pitchFamily="18" charset="0"/>
                  <a:cs typeface="Calibri" panose="020F0502020204030204" pitchFamily="34" charset="0"/>
                </a:rPr>
                <a:t>15</a:t>
              </a:r>
              <a:endParaRPr lang="en-VN" sz="4000" b="1" kern="1600">
                <a:solidFill>
                  <a:schemeClr val="bg1"/>
                </a:solidFill>
                <a:effectLst/>
                <a:latin typeface="Redig" pitchFamily="2" charset="77"/>
                <a:ea typeface="Times New Roman" panose="02020603050405020304" pitchFamily="18" charset="0"/>
                <a:cs typeface="Calibri" panose="020F0502020204030204" pitchFamily="34" charset="0"/>
              </a:endParaRPr>
            </a:p>
          </p:txBody>
        </p:sp>
        <p:sp>
          <p:nvSpPr>
            <p:cNvPr id="49" name="TextBox 48">
              <a:extLst>
                <a:ext uri="{FF2B5EF4-FFF2-40B4-BE49-F238E27FC236}">
                  <a16:creationId xmlns:a16="http://schemas.microsoft.com/office/drawing/2014/main" id="{78286D33-977B-650D-1DAE-66E9A87762CF}"/>
                </a:ext>
              </a:extLst>
            </p:cNvPr>
            <p:cNvSpPr txBox="1"/>
            <p:nvPr/>
          </p:nvSpPr>
          <p:spPr>
            <a:xfrm>
              <a:off x="6406620" y="1395947"/>
              <a:ext cx="1904341" cy="292388"/>
            </a:xfrm>
            <a:prstGeom prst="rect">
              <a:avLst/>
            </a:prstGeom>
            <a:noFill/>
          </p:spPr>
          <p:txBody>
            <a:bodyPr wrap="square" rtlCol="0">
              <a:spAutoFit/>
            </a:bodyPr>
            <a:lstStyle/>
            <a:p>
              <a:pPr lvl="0">
                <a:spcBef>
                  <a:spcPts val="1200"/>
                </a:spcBef>
                <a:spcAft>
                  <a:spcPts val="300"/>
                </a:spcAft>
                <a:buClr>
                  <a:schemeClr val="bg1">
                    <a:lumMod val="50000"/>
                  </a:schemeClr>
                </a:buClr>
              </a:pPr>
              <a:r>
                <a:rPr lang="en-US" sz="1300" kern="1600" dirty="0">
                  <a:solidFill>
                    <a:schemeClr val="bg1"/>
                  </a:solidFill>
                  <a:latin typeface="BR Omega" pitchFamily="2" charset="77"/>
                  <a:ea typeface="Times New Roman" panose="02020603050405020304" pitchFamily="18" charset="0"/>
                  <a:cs typeface="Calibri" panose="020F0502020204030204" pitchFamily="34" charset="0"/>
                </a:rPr>
                <a:t>&lt;Additional&gt;</a:t>
              </a:r>
              <a:endParaRPr lang="en-VN" sz="1300" kern="1600" dirty="0">
                <a:solidFill>
                  <a:schemeClr val="bg1"/>
                </a:solidFill>
                <a:effectLst/>
                <a:latin typeface="BR Omega" pitchFamily="2" charset="77"/>
                <a:ea typeface="Times New Roman" panose="02020603050405020304" pitchFamily="18" charset="0"/>
                <a:cs typeface="Calibri" panose="020F0502020204030204" pitchFamily="34" charset="0"/>
              </a:endParaRPr>
            </a:p>
          </p:txBody>
        </p:sp>
      </p:grpSp>
      <p:cxnSp>
        <p:nvCxnSpPr>
          <p:cNvPr id="54" name="Straight Connector 53">
            <a:extLst>
              <a:ext uri="{FF2B5EF4-FFF2-40B4-BE49-F238E27FC236}">
                <a16:creationId xmlns:a16="http://schemas.microsoft.com/office/drawing/2014/main" id="{BA1024F7-FC75-A44B-2CFB-FF6643ADF6D9}"/>
              </a:ext>
            </a:extLst>
          </p:cNvPr>
          <p:cNvCxnSpPr>
            <a:cxnSpLocks/>
          </p:cNvCxnSpPr>
          <p:nvPr/>
        </p:nvCxnSpPr>
        <p:spPr>
          <a:xfrm>
            <a:off x="3937000" y="1261490"/>
            <a:ext cx="0" cy="4473732"/>
          </a:xfrm>
          <a:prstGeom prst="line">
            <a:avLst/>
          </a:prstGeom>
          <a:ln w="6350">
            <a:solidFill>
              <a:srgbClr val="32B2C2"/>
            </a:solidFill>
          </a:ln>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4ABE3A85-A1FE-B9A0-7903-9FF2F549B1F9}"/>
              </a:ext>
            </a:extLst>
          </p:cNvPr>
          <p:cNvCxnSpPr>
            <a:cxnSpLocks/>
          </p:cNvCxnSpPr>
          <p:nvPr/>
        </p:nvCxnSpPr>
        <p:spPr>
          <a:xfrm>
            <a:off x="7788541" y="1261490"/>
            <a:ext cx="0" cy="4473732"/>
          </a:xfrm>
          <a:prstGeom prst="line">
            <a:avLst/>
          </a:prstGeom>
          <a:ln w="6350">
            <a:solidFill>
              <a:srgbClr val="32B2C2"/>
            </a:solidFill>
          </a:ln>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92FE819-088E-9044-2F06-0ADFDC598D32}"/>
              </a:ext>
            </a:extLst>
          </p:cNvPr>
          <p:cNvSpPr txBox="1"/>
          <p:nvPr/>
        </p:nvSpPr>
        <p:spPr>
          <a:xfrm>
            <a:off x="415432" y="461520"/>
            <a:ext cx="1954058" cy="584775"/>
          </a:xfrm>
          <a:prstGeom prst="rect">
            <a:avLst/>
          </a:prstGeom>
          <a:noFill/>
        </p:spPr>
        <p:txBody>
          <a:bodyPr wrap="square">
            <a:spAutoFit/>
          </a:bodyPr>
          <a:lstStyle/>
          <a:p>
            <a:pPr marL="0" indent="0">
              <a:spcBef>
                <a:spcPts val="100"/>
              </a:spcBef>
              <a:buNone/>
            </a:pPr>
            <a:r>
              <a:rPr lang="en-US" sz="3200" b="1" dirty="0">
                <a:solidFill>
                  <a:schemeClr val="bg1"/>
                </a:solidFill>
                <a:latin typeface="Segoe UI" panose="020B0502040204020203" pitchFamily="34" charset="0"/>
                <a:cs typeface="Segoe UI" panose="020B0502040204020203" pitchFamily="34" charset="0"/>
              </a:rPr>
              <a:t>Content   </a:t>
            </a:r>
          </a:p>
        </p:txBody>
      </p:sp>
      <p:sp>
        <p:nvSpPr>
          <p:cNvPr id="59" name="TextBox 58">
            <a:extLst>
              <a:ext uri="{FF2B5EF4-FFF2-40B4-BE49-F238E27FC236}">
                <a16:creationId xmlns:a16="http://schemas.microsoft.com/office/drawing/2014/main" id="{FEB15443-8A2D-8582-247C-7C318DA12D42}"/>
              </a:ext>
            </a:extLst>
          </p:cNvPr>
          <p:cNvSpPr txBox="1"/>
          <p:nvPr/>
        </p:nvSpPr>
        <p:spPr>
          <a:xfrm>
            <a:off x="2086048" y="470987"/>
            <a:ext cx="444929" cy="584775"/>
          </a:xfrm>
          <a:prstGeom prst="rect">
            <a:avLst/>
          </a:prstGeom>
          <a:noFill/>
        </p:spPr>
        <p:txBody>
          <a:bodyPr wrap="square">
            <a:spAutoFit/>
          </a:bodyPr>
          <a:lstStyle/>
          <a:p>
            <a:r>
              <a:rPr lang="en-US" sz="3200" b="1" kern="500" dirty="0">
                <a:solidFill>
                  <a:schemeClr val="bg1"/>
                </a:solidFill>
                <a:effectLst/>
                <a:latin typeface="BR Omega VN" pitchFamily="2" charset="77"/>
                <a:ea typeface="Calibri" panose="020F0502020204030204" pitchFamily="34" charset="0"/>
              </a:rPr>
              <a:t>↘</a:t>
            </a:r>
            <a:endParaRPr lang="en-VN" sz="3200" dirty="0"/>
          </a:p>
        </p:txBody>
      </p:sp>
      <p:sp>
        <p:nvSpPr>
          <p:cNvPr id="60" name="Google Shape;13;p40">
            <a:extLst>
              <a:ext uri="{FF2B5EF4-FFF2-40B4-BE49-F238E27FC236}">
                <a16:creationId xmlns:a16="http://schemas.microsoft.com/office/drawing/2014/main" id="{4E7411E0-E3E2-4B66-76F0-C669FEE033A9}"/>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pPr/>
              <a:t>2</a:t>
            </a:fld>
            <a:endParaRPr lang="en-US" dirty="0"/>
          </a:p>
        </p:txBody>
      </p:sp>
    </p:spTree>
    <p:extLst>
      <p:ext uri="{BB962C8B-B14F-4D97-AF65-F5344CB8AC3E}">
        <p14:creationId xmlns:p14="http://schemas.microsoft.com/office/powerpoint/2010/main" val="42141199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4FCA0F9A-2108-032E-52B4-FF89CD40A184}"/>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3</a:t>
            </a:fld>
            <a:endParaRPr lang="en-US" dirty="0">
              <a:solidFill>
                <a:srgbClr val="034EA2"/>
              </a:solidFill>
            </a:endParaRPr>
          </a:p>
        </p:txBody>
      </p:sp>
      <p:grpSp>
        <p:nvGrpSpPr>
          <p:cNvPr id="3" name="Group 2">
            <a:extLst>
              <a:ext uri="{FF2B5EF4-FFF2-40B4-BE49-F238E27FC236}">
                <a16:creationId xmlns:a16="http://schemas.microsoft.com/office/drawing/2014/main" id="{2B316CC9-4289-2780-8D1B-C8AEDC6FD971}"/>
              </a:ext>
            </a:extLst>
          </p:cNvPr>
          <p:cNvGrpSpPr/>
          <p:nvPr/>
        </p:nvGrpSpPr>
        <p:grpSpPr>
          <a:xfrm>
            <a:off x="479425" y="461520"/>
            <a:ext cx="3885841" cy="584775"/>
            <a:chOff x="479425" y="461520"/>
            <a:chExt cx="3885841" cy="584775"/>
          </a:xfrm>
        </p:grpSpPr>
        <p:sp>
          <p:nvSpPr>
            <p:cNvPr id="7" name="Round Diagonal Corner Rectangle 6">
              <a:extLst>
                <a:ext uri="{FF2B5EF4-FFF2-40B4-BE49-F238E27FC236}">
                  <a16:creationId xmlns:a16="http://schemas.microsoft.com/office/drawing/2014/main" id="{3360D54C-25E7-A974-8318-4E241E717984}"/>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D12CB8DB-9F40-88FD-9078-FE5D20F40C7B}"/>
                </a:ext>
              </a:extLst>
            </p:cNvPr>
            <p:cNvSpPr txBox="1"/>
            <p:nvPr/>
          </p:nvSpPr>
          <p:spPr>
            <a:xfrm>
              <a:off x="536265" y="461520"/>
              <a:ext cx="3829001"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Project Summary</a:t>
              </a:r>
            </a:p>
          </p:txBody>
        </p:sp>
      </p:grpSp>
      <p:sp>
        <p:nvSpPr>
          <p:cNvPr id="8" name="Text Placeholder 15">
            <a:extLst>
              <a:ext uri="{FF2B5EF4-FFF2-40B4-BE49-F238E27FC236}">
                <a16:creationId xmlns:a16="http://schemas.microsoft.com/office/drawing/2014/main" id="{D6E4F421-583C-7BFE-9E7B-CF92C14E3E7B}"/>
              </a:ext>
            </a:extLst>
          </p:cNvPr>
          <p:cNvSpPr txBox="1">
            <a:spLocks/>
          </p:cNvSpPr>
          <p:nvPr/>
        </p:nvSpPr>
        <p:spPr>
          <a:xfrm>
            <a:off x="864393" y="1190638"/>
            <a:ext cx="10463213" cy="5198500"/>
          </a:xfrm>
          <a:prstGeom prst="rect">
            <a:avLst/>
          </a:prstGeom>
        </p:spPr>
        <p:txBody>
          <a:bodyPr/>
          <a:lstStyle>
            <a:lvl1pPr marL="228600" indent="-228600" algn="l" defTabSz="914400" rtl="0" eaLnBrk="1" latinLnBrk="0" hangingPunct="1">
              <a:lnSpc>
                <a:spcPct val="90000"/>
              </a:lnSpc>
              <a:spcBef>
                <a:spcPts val="1000"/>
              </a:spcBef>
              <a:buClr>
                <a:srgbClr val="F27228"/>
              </a:buClr>
              <a:buFont typeface="Arial" panose="020B0604020202020204" pitchFamily="34" charset="0"/>
              <a:buChar char="•"/>
              <a:defRPr sz="1600" kern="1200">
                <a:solidFill>
                  <a:srgbClr val="36365C"/>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Project Vision/Mission</a:t>
            </a: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q"/>
              <a:tabLst/>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UX/UI reorganization and mobile sales advancement.</a:t>
            </a:r>
          </a:p>
          <a:p>
            <a:pPr marL="0" marR="0" lvl="0" indent="0" algn="l" defTabSz="914400" rtl="0" eaLnBrk="1" fontAlgn="auto" latinLnBrk="0" hangingPunct="1">
              <a:lnSpc>
                <a:spcPct val="15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Project Scope</a:t>
            </a:r>
          </a:p>
          <a:p>
            <a:pPr marL="685800" marR="0" lvl="1"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q"/>
              <a:tabLst/>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Development scope will be included</a:t>
            </a:r>
          </a:p>
          <a:p>
            <a:pPr marL="1143000" marR="0" lvl="2"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Setting up the local Development Environment</a:t>
            </a:r>
          </a:p>
          <a:p>
            <a:pPr marL="1143000" marR="0" lvl="2"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Performing the Basic Design, Detail Design, Coding, Unit Test, Integration Test.</a:t>
            </a:r>
          </a:p>
          <a:p>
            <a:pPr marL="1143000" marR="0" lvl="2"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tabLst/>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Deploying the source code packages</a:t>
            </a:r>
          </a:p>
          <a:p>
            <a:pPr lvl="2">
              <a:lnSpc>
                <a:spcPct val="150000"/>
              </a:lnSpc>
              <a:buClrTx/>
              <a:buFont typeface="Wingdings" panose="05000000000000000000" pitchFamily="2" charset="2"/>
              <a:buChar char="Ø"/>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Supporting UAT/System test</a:t>
            </a:r>
          </a:p>
          <a:p>
            <a:pPr marL="0" indent="0">
              <a:lnSpc>
                <a:spcPct val="150000"/>
              </a:lnSpc>
              <a:buClrTx/>
              <a:buNone/>
              <a:defRPr/>
            </a:pPr>
            <a:r>
              <a:rPr kumimoji="0" lang="en-US" sz="20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Project Period</a:t>
            </a:r>
          </a:p>
          <a:p>
            <a:pPr lvl="1">
              <a:lnSpc>
                <a:spcPct val="150000"/>
              </a:lnSpc>
              <a:buClrTx/>
              <a:buFont typeface="Wingdings" panose="05000000000000000000" pitchFamily="2" charset="2"/>
              <a:buChar char="q"/>
              <a:defRPr/>
            </a:pPr>
            <a:r>
              <a:rPr lang="en-US" sz="1200" dirty="0"/>
              <a:t>Design: </a:t>
            </a:r>
            <a:r>
              <a:rPr lang="en-US" sz="1200" dirty="0" err="1"/>
              <a:t>yyyy</a:t>
            </a:r>
            <a:r>
              <a:rPr lang="en-US" sz="1200" dirty="0"/>
              <a:t>/MM/dd ~ </a:t>
            </a:r>
            <a:r>
              <a:rPr lang="en-US" sz="1200" dirty="0" err="1"/>
              <a:t>yyyy</a:t>
            </a:r>
            <a:r>
              <a:rPr lang="en-US" sz="1200" dirty="0"/>
              <a:t>/MM/dd</a:t>
            </a:r>
          </a:p>
          <a:p>
            <a:pPr lvl="1">
              <a:lnSpc>
                <a:spcPct val="150000"/>
              </a:lnSpc>
              <a:buClrTx/>
              <a:buFont typeface="Wingdings" panose="05000000000000000000" pitchFamily="2" charset="2"/>
              <a:buChar char="q"/>
              <a:defRPr/>
            </a:pPr>
            <a:r>
              <a:rPr lang="en-US" sz="1200" dirty="0"/>
              <a:t>Coding: </a:t>
            </a:r>
            <a:r>
              <a:rPr lang="en-US" sz="1200" dirty="0" err="1"/>
              <a:t>yyyy</a:t>
            </a:r>
            <a:r>
              <a:rPr lang="en-US" sz="1200" dirty="0"/>
              <a:t>/MM/dd ~ </a:t>
            </a:r>
            <a:r>
              <a:rPr lang="en-US" sz="1200" dirty="0" err="1"/>
              <a:t>yyyy</a:t>
            </a:r>
            <a:r>
              <a:rPr lang="en-US" sz="1200" dirty="0"/>
              <a:t>/MM/dd</a:t>
            </a:r>
          </a:p>
          <a:p>
            <a:pPr lvl="1">
              <a:lnSpc>
                <a:spcPct val="150000"/>
              </a:lnSpc>
              <a:buClrTx/>
              <a:buFont typeface="Wingdings" panose="05000000000000000000" pitchFamily="2" charset="2"/>
              <a:buChar char="q"/>
              <a:defRPr/>
            </a:pPr>
            <a:r>
              <a:rPr lang="en-US" sz="1200" dirty="0"/>
              <a:t>UT&amp;IT: </a:t>
            </a:r>
            <a:r>
              <a:rPr lang="en-US" sz="1200" dirty="0" err="1"/>
              <a:t>yyyy</a:t>
            </a:r>
            <a:r>
              <a:rPr lang="en-US" sz="1200" dirty="0"/>
              <a:t>/MM/dd ~ </a:t>
            </a:r>
            <a:r>
              <a:rPr lang="en-US" sz="1200" dirty="0" err="1"/>
              <a:t>yyyy</a:t>
            </a:r>
            <a:r>
              <a:rPr lang="en-US" sz="1200" dirty="0"/>
              <a:t>/MM/dd</a:t>
            </a:r>
          </a:p>
          <a:p>
            <a:pPr lvl="1">
              <a:lnSpc>
                <a:spcPct val="150000"/>
              </a:lnSpc>
              <a:buClrTx/>
              <a:buFont typeface="Wingdings" panose="05000000000000000000" pitchFamily="2" charset="2"/>
              <a:buChar char="q"/>
              <a:defRPr/>
            </a:pPr>
            <a:r>
              <a:rPr lang="en-US" sz="1200" dirty="0"/>
              <a:t>Support UAT: </a:t>
            </a:r>
            <a:r>
              <a:rPr lang="en-US" sz="1200" dirty="0" err="1"/>
              <a:t>yyyy</a:t>
            </a:r>
            <a:r>
              <a:rPr lang="en-US" sz="1200" dirty="0"/>
              <a:t>/MM/dd ~ </a:t>
            </a:r>
            <a:r>
              <a:rPr lang="en-US" sz="1200" dirty="0" err="1"/>
              <a:t>yyyy</a:t>
            </a:r>
            <a:r>
              <a:rPr lang="en-US" sz="1200" dirty="0"/>
              <a:t>/MM/dd</a:t>
            </a:r>
          </a:p>
          <a:p>
            <a:pPr marL="1143000" marR="0" lvl="2" indent="-228600" algn="l" defTabSz="914400" rtl="0" eaLnBrk="1" fontAlgn="auto" latinLnBrk="0" hangingPunct="1">
              <a:lnSpc>
                <a:spcPct val="150000"/>
              </a:lnSpc>
              <a:spcBef>
                <a:spcPts val="500"/>
              </a:spcBef>
              <a:spcAft>
                <a:spcPts val="0"/>
              </a:spcAft>
              <a:buClrTx/>
              <a:buSzTx/>
              <a:buFont typeface="Wingdings" panose="05000000000000000000" pitchFamily="2" charset="2"/>
              <a:buChar char="Ø"/>
              <a:tabLst/>
              <a:defRPr/>
            </a:pPr>
            <a:endPar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endParaRPr>
          </a:p>
        </p:txBody>
      </p:sp>
    </p:spTree>
    <p:extLst>
      <p:ext uri="{BB962C8B-B14F-4D97-AF65-F5344CB8AC3E}">
        <p14:creationId xmlns:p14="http://schemas.microsoft.com/office/powerpoint/2010/main" val="36734010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C36B4AEC-21B8-C56A-2D93-3BA5FBACD862}"/>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4</a:t>
            </a:fld>
            <a:endParaRPr lang="en-US" dirty="0">
              <a:solidFill>
                <a:srgbClr val="034EA2"/>
              </a:solidFill>
            </a:endParaRPr>
          </a:p>
        </p:txBody>
      </p:sp>
      <p:grpSp>
        <p:nvGrpSpPr>
          <p:cNvPr id="3" name="Group 2">
            <a:extLst>
              <a:ext uri="{FF2B5EF4-FFF2-40B4-BE49-F238E27FC236}">
                <a16:creationId xmlns:a16="http://schemas.microsoft.com/office/drawing/2014/main" id="{AE55F2DD-F646-BCF8-F32F-D723067874D3}"/>
              </a:ext>
            </a:extLst>
          </p:cNvPr>
          <p:cNvGrpSpPr/>
          <p:nvPr/>
        </p:nvGrpSpPr>
        <p:grpSpPr>
          <a:xfrm>
            <a:off x="479425" y="461520"/>
            <a:ext cx="4765906" cy="584775"/>
            <a:chOff x="479425" y="461520"/>
            <a:chExt cx="4765906" cy="584775"/>
          </a:xfrm>
        </p:grpSpPr>
        <p:sp>
          <p:nvSpPr>
            <p:cNvPr id="4" name="Round Diagonal Corner Rectangle 3">
              <a:extLst>
                <a:ext uri="{FF2B5EF4-FFF2-40B4-BE49-F238E27FC236}">
                  <a16:creationId xmlns:a16="http://schemas.microsoft.com/office/drawing/2014/main" id="{2C8EDD03-6EA2-31C5-759D-912803108892}"/>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9977A489-BF35-83AD-5420-1B22986A8325}"/>
                </a:ext>
              </a:extLst>
            </p:cNvPr>
            <p:cNvSpPr txBox="1"/>
            <p:nvPr/>
          </p:nvSpPr>
          <p:spPr>
            <a:xfrm>
              <a:off x="536265" y="461520"/>
              <a:ext cx="4709066"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2. Project Organization</a:t>
              </a:r>
            </a:p>
          </p:txBody>
        </p:sp>
      </p:grpSp>
      <p:grpSp>
        <p:nvGrpSpPr>
          <p:cNvPr id="51" name="Group 50">
            <a:extLst>
              <a:ext uri="{FF2B5EF4-FFF2-40B4-BE49-F238E27FC236}">
                <a16:creationId xmlns:a16="http://schemas.microsoft.com/office/drawing/2014/main" id="{7D984800-D944-0C69-D2BF-7C0201A00DC9}"/>
              </a:ext>
            </a:extLst>
          </p:cNvPr>
          <p:cNvGrpSpPr/>
          <p:nvPr/>
        </p:nvGrpSpPr>
        <p:grpSpPr>
          <a:xfrm>
            <a:off x="849896" y="1165633"/>
            <a:ext cx="10482635" cy="5224597"/>
            <a:chOff x="1049400" y="1173945"/>
            <a:chExt cx="10482635" cy="5224597"/>
          </a:xfrm>
        </p:grpSpPr>
        <p:grpSp>
          <p:nvGrpSpPr>
            <p:cNvPr id="52" name="Group 51">
              <a:extLst>
                <a:ext uri="{FF2B5EF4-FFF2-40B4-BE49-F238E27FC236}">
                  <a16:creationId xmlns:a16="http://schemas.microsoft.com/office/drawing/2014/main" id="{58F1AAF1-C995-179E-B3D1-746C754C37CB}"/>
                </a:ext>
              </a:extLst>
            </p:cNvPr>
            <p:cNvGrpSpPr/>
            <p:nvPr/>
          </p:nvGrpSpPr>
          <p:grpSpPr>
            <a:xfrm>
              <a:off x="1049400" y="1173945"/>
              <a:ext cx="10482635" cy="5224597"/>
              <a:chOff x="739833" y="1004856"/>
              <a:chExt cx="11039705" cy="5843961"/>
            </a:xfrm>
          </p:grpSpPr>
          <p:sp>
            <p:nvSpPr>
              <p:cNvPr id="56" name="Rectangle 55">
                <a:extLst>
                  <a:ext uri="{FF2B5EF4-FFF2-40B4-BE49-F238E27FC236}">
                    <a16:creationId xmlns:a16="http://schemas.microsoft.com/office/drawing/2014/main" id="{10B7D48D-2F95-7E1D-F3C7-2419A3E7E30D}"/>
                  </a:ext>
                </a:extLst>
              </p:cNvPr>
              <p:cNvSpPr/>
              <p:nvPr/>
            </p:nvSpPr>
            <p:spPr>
              <a:xfrm>
                <a:off x="5891220" y="2918588"/>
                <a:ext cx="5551138" cy="3820160"/>
              </a:xfrm>
              <a:prstGeom prst="rect">
                <a:avLst/>
              </a:prstGeom>
              <a:solidFill>
                <a:srgbClr val="70AD47">
                  <a:lumMod val="20000"/>
                  <a:lumOff val="80000"/>
                </a:srgbClr>
              </a:solidFill>
              <a:ln w="25400" cap="flat" cmpd="sng" algn="ctr">
                <a:solidFill>
                  <a:srgbClr val="70AD47"/>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800" b="0" i="0" u="none" strike="noStrike" kern="1200" cap="none" spc="0" normalizeH="0" baseline="0" noProof="0">
                  <a:ln>
                    <a:noFill/>
                  </a:ln>
                  <a:solidFill>
                    <a:prstClr val="white"/>
                  </a:solidFill>
                  <a:effectLst/>
                  <a:uLnTx/>
                  <a:uFillTx/>
                  <a:latin typeface="Segoe UI"/>
                  <a:ea typeface="+mn-ea"/>
                  <a:cs typeface="+mn-cs"/>
                </a:endParaRPr>
              </a:p>
            </p:txBody>
          </p:sp>
          <p:sp>
            <p:nvSpPr>
              <p:cNvPr id="57" name="Rectangle 56">
                <a:extLst>
                  <a:ext uri="{FF2B5EF4-FFF2-40B4-BE49-F238E27FC236}">
                    <a16:creationId xmlns:a16="http://schemas.microsoft.com/office/drawing/2014/main" id="{6F21F8E8-40D1-8161-48F5-AACACCD0FDE5}"/>
                  </a:ext>
                </a:extLst>
              </p:cNvPr>
              <p:cNvSpPr/>
              <p:nvPr/>
            </p:nvSpPr>
            <p:spPr>
              <a:xfrm>
                <a:off x="739833" y="1014155"/>
                <a:ext cx="1978428" cy="5834662"/>
              </a:xfrm>
              <a:prstGeom prst="rect">
                <a:avLst/>
              </a:prstGeom>
              <a:solidFill>
                <a:srgbClr val="70AD47">
                  <a:alpha val="50000"/>
                </a:srgbClr>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58" name="Rectangle 57">
                <a:extLst>
                  <a:ext uri="{FF2B5EF4-FFF2-40B4-BE49-F238E27FC236}">
                    <a16:creationId xmlns:a16="http://schemas.microsoft.com/office/drawing/2014/main" id="{A9D3AD53-30C2-53F3-9BA5-E4A00C946DEC}"/>
                  </a:ext>
                </a:extLst>
              </p:cNvPr>
              <p:cNvSpPr/>
              <p:nvPr/>
            </p:nvSpPr>
            <p:spPr>
              <a:xfrm>
                <a:off x="3038784" y="1014155"/>
                <a:ext cx="2246428" cy="5834662"/>
              </a:xfrm>
              <a:prstGeom prst="rect">
                <a:avLst/>
              </a:prstGeom>
              <a:solidFill>
                <a:srgbClr val="5B9BD5">
                  <a:lumMod val="75000"/>
                  <a:alpha val="50000"/>
                </a:srgbClr>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59" name="Rectangle 58">
                <a:extLst>
                  <a:ext uri="{FF2B5EF4-FFF2-40B4-BE49-F238E27FC236}">
                    <a16:creationId xmlns:a16="http://schemas.microsoft.com/office/drawing/2014/main" id="{B592483B-3E7C-B7B5-AC14-BFE79F24D186}"/>
                  </a:ext>
                </a:extLst>
              </p:cNvPr>
              <p:cNvSpPr/>
              <p:nvPr/>
            </p:nvSpPr>
            <p:spPr>
              <a:xfrm>
                <a:off x="5583868" y="1004856"/>
                <a:ext cx="6195670" cy="5834657"/>
              </a:xfrm>
              <a:prstGeom prst="rect">
                <a:avLst/>
              </a:prstGeom>
              <a:solidFill>
                <a:srgbClr val="5B9BD5">
                  <a:lumMod val="75000"/>
                  <a:alpha val="50000"/>
                </a:srgbClr>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60" name="TextBox 59">
                <a:extLst>
                  <a:ext uri="{FF2B5EF4-FFF2-40B4-BE49-F238E27FC236}">
                    <a16:creationId xmlns:a16="http://schemas.microsoft.com/office/drawing/2014/main" id="{B92FE0AF-BE51-C244-D590-D11BE2F12482}"/>
                  </a:ext>
                </a:extLst>
              </p:cNvPr>
              <p:cNvSpPr txBox="1"/>
              <p:nvPr/>
            </p:nvSpPr>
            <p:spPr>
              <a:xfrm>
                <a:off x="934443" y="1114125"/>
                <a:ext cx="1555896" cy="413116"/>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LG CNS</a:t>
                </a:r>
              </a:p>
            </p:txBody>
          </p:sp>
          <p:sp>
            <p:nvSpPr>
              <p:cNvPr id="61" name="TextBox 60">
                <a:extLst>
                  <a:ext uri="{FF2B5EF4-FFF2-40B4-BE49-F238E27FC236}">
                    <a16:creationId xmlns:a16="http://schemas.microsoft.com/office/drawing/2014/main" id="{A49B3B9D-306A-04B1-C540-D86DE2C72D82}"/>
                  </a:ext>
                </a:extLst>
              </p:cNvPr>
              <p:cNvSpPr txBox="1"/>
              <p:nvPr/>
            </p:nvSpPr>
            <p:spPr>
              <a:xfrm>
                <a:off x="3364242" y="1102887"/>
                <a:ext cx="1555896"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FPT KOREA</a:t>
                </a:r>
              </a:p>
            </p:txBody>
          </p:sp>
          <p:sp>
            <p:nvSpPr>
              <p:cNvPr id="62" name="TextBox 61">
                <a:extLst>
                  <a:ext uri="{FF2B5EF4-FFF2-40B4-BE49-F238E27FC236}">
                    <a16:creationId xmlns:a16="http://schemas.microsoft.com/office/drawing/2014/main" id="{E91D1100-2440-F566-79C1-F1AEB213B567}"/>
                  </a:ext>
                </a:extLst>
              </p:cNvPr>
              <p:cNvSpPr txBox="1"/>
              <p:nvPr/>
            </p:nvSpPr>
            <p:spPr>
              <a:xfrm>
                <a:off x="7638427" y="1114125"/>
                <a:ext cx="2059408" cy="3693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FPT DA NANG</a:t>
                </a:r>
              </a:p>
            </p:txBody>
          </p:sp>
          <p:grpSp>
            <p:nvGrpSpPr>
              <p:cNvPr id="63" name="Group 62">
                <a:extLst>
                  <a:ext uri="{FF2B5EF4-FFF2-40B4-BE49-F238E27FC236}">
                    <a16:creationId xmlns:a16="http://schemas.microsoft.com/office/drawing/2014/main" id="{333B9043-1915-E5B4-9D37-7BB393A8C749}"/>
                  </a:ext>
                </a:extLst>
              </p:cNvPr>
              <p:cNvGrpSpPr/>
              <p:nvPr/>
            </p:nvGrpSpPr>
            <p:grpSpPr>
              <a:xfrm>
                <a:off x="830564" y="1520754"/>
                <a:ext cx="1796966" cy="1364790"/>
                <a:chOff x="9170819" y="3298311"/>
                <a:chExt cx="3790604" cy="2803962"/>
              </a:xfrm>
            </p:grpSpPr>
            <p:pic>
              <p:nvPicPr>
                <p:cNvPr id="93" name="Picture 92">
                  <a:extLst>
                    <a:ext uri="{FF2B5EF4-FFF2-40B4-BE49-F238E27FC236}">
                      <a16:creationId xmlns:a16="http://schemas.microsoft.com/office/drawing/2014/main" id="{503ABEA8-4D15-69E5-2FFB-BFE1A4F5D23C}"/>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742359" y="3298311"/>
                  <a:ext cx="2647525" cy="1815930"/>
                </a:xfrm>
                <a:prstGeom prst="rect">
                  <a:avLst/>
                </a:prstGeom>
              </p:spPr>
            </p:pic>
            <p:sp>
              <p:nvSpPr>
                <p:cNvPr id="94" name="TextBox 93">
                  <a:extLst>
                    <a:ext uri="{FF2B5EF4-FFF2-40B4-BE49-F238E27FC236}">
                      <a16:creationId xmlns:a16="http://schemas.microsoft.com/office/drawing/2014/main" id="{4445FD4E-AC7B-0AB0-477B-1066EB0F26C2}"/>
                    </a:ext>
                  </a:extLst>
                </p:cNvPr>
                <p:cNvSpPr txBox="1"/>
                <p:nvPr/>
              </p:nvSpPr>
              <p:spPr>
                <a:xfrm>
                  <a:off x="9170819" y="5041341"/>
                  <a:ext cx="3790604" cy="1060932"/>
                </a:xfrm>
                <a:prstGeom prst="rect">
                  <a:avLst/>
                </a:prstGeom>
                <a:noFill/>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E" altLang="ja-JP"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Senior Manager</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rPr>
                    <a:t>ABC</a:t>
                  </a:r>
                </a:p>
              </p:txBody>
            </p:sp>
          </p:grpSp>
          <p:grpSp>
            <p:nvGrpSpPr>
              <p:cNvPr id="64" name="Group 63">
                <a:extLst>
                  <a:ext uri="{FF2B5EF4-FFF2-40B4-BE49-F238E27FC236}">
                    <a16:creationId xmlns:a16="http://schemas.microsoft.com/office/drawing/2014/main" id="{8DDADF45-E50D-371C-B982-DD3B2AE30B42}"/>
                  </a:ext>
                </a:extLst>
              </p:cNvPr>
              <p:cNvGrpSpPr/>
              <p:nvPr/>
            </p:nvGrpSpPr>
            <p:grpSpPr>
              <a:xfrm>
                <a:off x="3302423" y="4161125"/>
                <a:ext cx="1796966" cy="1364789"/>
                <a:chOff x="9170819" y="3298311"/>
                <a:chExt cx="3790604" cy="2803959"/>
              </a:xfrm>
            </p:grpSpPr>
            <p:pic>
              <p:nvPicPr>
                <p:cNvPr id="91" name="Picture 90">
                  <a:extLst>
                    <a:ext uri="{FF2B5EF4-FFF2-40B4-BE49-F238E27FC236}">
                      <a16:creationId xmlns:a16="http://schemas.microsoft.com/office/drawing/2014/main" id="{A4C64805-CA5C-36F2-017E-57DF3AB27AA2}"/>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742359" y="3298311"/>
                  <a:ext cx="2647525" cy="1815930"/>
                </a:xfrm>
                <a:prstGeom prst="rect">
                  <a:avLst/>
                </a:prstGeom>
              </p:spPr>
            </p:pic>
            <p:sp>
              <p:nvSpPr>
                <p:cNvPr id="92" name="TextBox 91">
                  <a:extLst>
                    <a:ext uri="{FF2B5EF4-FFF2-40B4-BE49-F238E27FC236}">
                      <a16:creationId xmlns:a16="http://schemas.microsoft.com/office/drawing/2014/main" id="{A6481117-277D-F579-8C32-32F3780AB3D7}"/>
                    </a:ext>
                  </a:extLst>
                </p:cNvPr>
                <p:cNvSpPr txBox="1"/>
                <p:nvPr/>
              </p:nvSpPr>
              <p:spPr>
                <a:xfrm>
                  <a:off x="9170819" y="5041338"/>
                  <a:ext cx="3790604" cy="106093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FPT-Onsite PM</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rPr>
                    <a:t>ABC</a:t>
                  </a:r>
                </a:p>
              </p:txBody>
            </p:sp>
          </p:grpSp>
          <p:grpSp>
            <p:nvGrpSpPr>
              <p:cNvPr id="65" name="Group 64">
                <a:extLst>
                  <a:ext uri="{FF2B5EF4-FFF2-40B4-BE49-F238E27FC236}">
                    <a16:creationId xmlns:a16="http://schemas.microsoft.com/office/drawing/2014/main" id="{EE6DE6D7-F4DC-1A9F-B243-CF904AD7CABC}"/>
                  </a:ext>
                </a:extLst>
              </p:cNvPr>
              <p:cNvGrpSpPr/>
              <p:nvPr/>
            </p:nvGrpSpPr>
            <p:grpSpPr>
              <a:xfrm>
                <a:off x="3289457" y="1529068"/>
                <a:ext cx="1796966" cy="1364789"/>
                <a:chOff x="9170819" y="3298311"/>
                <a:chExt cx="3790604" cy="2803964"/>
              </a:xfrm>
            </p:grpSpPr>
            <p:pic>
              <p:nvPicPr>
                <p:cNvPr id="89" name="Picture 88">
                  <a:extLst>
                    <a:ext uri="{FF2B5EF4-FFF2-40B4-BE49-F238E27FC236}">
                      <a16:creationId xmlns:a16="http://schemas.microsoft.com/office/drawing/2014/main" id="{1F9C1886-EAA9-9052-0D06-CC60CE659DE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742359" y="3298311"/>
                  <a:ext cx="2647525" cy="1815930"/>
                </a:xfrm>
                <a:prstGeom prst="rect">
                  <a:avLst/>
                </a:prstGeom>
              </p:spPr>
            </p:pic>
            <p:sp>
              <p:nvSpPr>
                <p:cNvPr id="90" name="TextBox 89">
                  <a:extLst>
                    <a:ext uri="{FF2B5EF4-FFF2-40B4-BE49-F238E27FC236}">
                      <a16:creationId xmlns:a16="http://schemas.microsoft.com/office/drawing/2014/main" id="{AA52C2C2-4F36-2F57-4975-F1DA2B89A6DB}"/>
                    </a:ext>
                  </a:extLst>
                </p:cNvPr>
                <p:cNvSpPr txBox="1"/>
                <p:nvPr/>
              </p:nvSpPr>
              <p:spPr>
                <a:xfrm>
                  <a:off x="9170819" y="5041341"/>
                  <a:ext cx="3790604" cy="1060934"/>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Delivery Manager</a:t>
                  </a:r>
                  <a:endParaRPr kumimoji="0" lang="vi-VN"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rPr>
                    <a:t>ABC</a:t>
                  </a:r>
                </a:p>
              </p:txBody>
            </p:sp>
          </p:grpSp>
          <p:grpSp>
            <p:nvGrpSpPr>
              <p:cNvPr id="66" name="Group 65">
                <a:extLst>
                  <a:ext uri="{FF2B5EF4-FFF2-40B4-BE49-F238E27FC236}">
                    <a16:creationId xmlns:a16="http://schemas.microsoft.com/office/drawing/2014/main" id="{046B499A-BE2B-2B7F-FCD6-5C2D1A773A0C}"/>
                  </a:ext>
                </a:extLst>
              </p:cNvPr>
              <p:cNvGrpSpPr/>
              <p:nvPr/>
            </p:nvGrpSpPr>
            <p:grpSpPr>
              <a:xfrm>
                <a:off x="7697553" y="1558316"/>
                <a:ext cx="1796966" cy="1571348"/>
                <a:chOff x="9170819" y="3298311"/>
                <a:chExt cx="3790604" cy="3228337"/>
              </a:xfrm>
            </p:grpSpPr>
            <p:pic>
              <p:nvPicPr>
                <p:cNvPr id="87" name="Picture 86">
                  <a:extLst>
                    <a:ext uri="{FF2B5EF4-FFF2-40B4-BE49-F238E27FC236}">
                      <a16:creationId xmlns:a16="http://schemas.microsoft.com/office/drawing/2014/main" id="{B9A8BEB8-4DEC-FF4B-B68B-EE64B2D58204}"/>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742359" y="3298311"/>
                  <a:ext cx="2647525" cy="1815930"/>
                </a:xfrm>
                <a:prstGeom prst="rect">
                  <a:avLst/>
                </a:prstGeom>
              </p:spPr>
            </p:pic>
            <p:sp>
              <p:nvSpPr>
                <p:cNvPr id="88" name="TextBox 87">
                  <a:extLst>
                    <a:ext uri="{FF2B5EF4-FFF2-40B4-BE49-F238E27FC236}">
                      <a16:creationId xmlns:a16="http://schemas.microsoft.com/office/drawing/2014/main" id="{07F1FAFB-D0CF-7C4C-B34E-C3A4C4C7B869}"/>
                    </a:ext>
                  </a:extLst>
                </p:cNvPr>
                <p:cNvSpPr txBox="1"/>
                <p:nvPr/>
              </p:nvSpPr>
              <p:spPr>
                <a:xfrm>
                  <a:off x="9170819" y="5041341"/>
                  <a:ext cx="3790604" cy="1485307"/>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vi-VN"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Operation</a:t>
                  </a:r>
                  <a:r>
                    <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 Manager</a:t>
                  </a:r>
                  <a:br>
                    <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br>
                  <a:r>
                    <a:rPr kumimoji="0" lang="en-US" sz="1200" b="1"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rPr>
                    <a:t>ABC</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vi-VN"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grpSp>
            <p:nvGrpSpPr>
              <p:cNvPr id="67" name="Group 66">
                <a:extLst>
                  <a:ext uri="{FF2B5EF4-FFF2-40B4-BE49-F238E27FC236}">
                    <a16:creationId xmlns:a16="http://schemas.microsoft.com/office/drawing/2014/main" id="{AE99FB05-6AA5-422E-B80F-000851839DB1}"/>
                  </a:ext>
                </a:extLst>
              </p:cNvPr>
              <p:cNvGrpSpPr/>
              <p:nvPr/>
            </p:nvGrpSpPr>
            <p:grpSpPr>
              <a:xfrm>
                <a:off x="8811633" y="3067751"/>
                <a:ext cx="2605233" cy="1254737"/>
                <a:chOff x="11520911" y="3626201"/>
                <a:chExt cx="5495600" cy="2577858"/>
              </a:xfrm>
            </p:grpSpPr>
            <p:pic>
              <p:nvPicPr>
                <p:cNvPr id="85" name="Picture 84">
                  <a:extLst>
                    <a:ext uri="{FF2B5EF4-FFF2-40B4-BE49-F238E27FC236}">
                      <a16:creationId xmlns:a16="http://schemas.microsoft.com/office/drawing/2014/main" id="{9CB2B0EA-6146-D637-6BED-B9F11AEB1918}"/>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13157081" y="3626201"/>
                  <a:ext cx="2211597" cy="1516927"/>
                </a:xfrm>
                <a:prstGeom prst="rect">
                  <a:avLst/>
                </a:prstGeom>
              </p:spPr>
            </p:pic>
            <p:sp>
              <p:nvSpPr>
                <p:cNvPr id="86" name="TextBox 85">
                  <a:extLst>
                    <a:ext uri="{FF2B5EF4-FFF2-40B4-BE49-F238E27FC236}">
                      <a16:creationId xmlns:a16="http://schemas.microsoft.com/office/drawing/2014/main" id="{069EC8CB-489D-184F-BCCD-D6827AEAFE72}"/>
                    </a:ext>
                  </a:extLst>
                </p:cNvPr>
                <p:cNvSpPr txBox="1"/>
                <p:nvPr/>
              </p:nvSpPr>
              <p:spPr>
                <a:xfrm>
                  <a:off x="11520911" y="5143126"/>
                  <a:ext cx="5495600" cy="1060933"/>
                </a:xfrm>
                <a:prstGeom prst="rect">
                  <a:avLst/>
                </a:prstGeom>
                <a:noFill/>
              </p:spPr>
              <p:txBody>
                <a:bodyPr wrap="square" rtlCol="0">
                  <a:spAutoFit/>
                </a:bodyPr>
                <a:lstStyle/>
                <a:p>
                  <a:pPr marL="111125"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Technical Leader</a:t>
                  </a:r>
                  <a:endParaRPr kumimoji="0" lang="vi-VN"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rPr>
                    <a:t>ABC</a:t>
                  </a:r>
                  <a:endPar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sp>
            <p:nvSpPr>
              <p:cNvPr id="68" name="Rectangle 67">
                <a:extLst>
                  <a:ext uri="{FF2B5EF4-FFF2-40B4-BE49-F238E27FC236}">
                    <a16:creationId xmlns:a16="http://schemas.microsoft.com/office/drawing/2014/main" id="{F1B4735B-20CF-726E-057C-C7760AB206DE}"/>
                  </a:ext>
                </a:extLst>
              </p:cNvPr>
              <p:cNvSpPr/>
              <p:nvPr/>
            </p:nvSpPr>
            <p:spPr>
              <a:xfrm>
                <a:off x="5907051" y="2918588"/>
                <a:ext cx="1372860" cy="321469"/>
              </a:xfrm>
              <a:prstGeom prst="rect">
                <a:avLst/>
              </a:prstGeom>
              <a:solidFill>
                <a:sysClr val="window" lastClr="FFFFFF">
                  <a:lumMod val="65000"/>
                </a:sysClr>
              </a:solidFill>
              <a:ln w="12700" cap="flat" cmpd="sng" algn="ctr">
                <a:solidFill>
                  <a:srgbClr val="70AD47">
                    <a:shade val="50000"/>
                  </a:srgbClr>
                </a:solidFill>
                <a:prstDash val="solid"/>
                <a:miter lim="800000"/>
              </a:ln>
              <a:effectLst/>
            </p:spPr>
            <p:txBody>
              <a:bodyPr wrap="square" rtlCol="0" anchor="ctr"/>
              <a:lstStyle>
                <a:lvl1pPr marL="0" indent="0">
                  <a:defRPr sz="1100">
                    <a:solidFill>
                      <a:schemeClr val="lt1"/>
                    </a:solidFill>
                    <a:latin typeface="+mn-lt"/>
                    <a:ea typeface="+mn-ea"/>
                    <a:cs typeface="+mn-cs"/>
                  </a:defRPr>
                </a:lvl1pPr>
                <a:lvl2pPr marL="457200" indent="0">
                  <a:defRPr sz="1100">
                    <a:solidFill>
                      <a:schemeClr val="lt1"/>
                    </a:solidFill>
                    <a:latin typeface="+mn-lt"/>
                    <a:ea typeface="+mn-ea"/>
                    <a:cs typeface="+mn-cs"/>
                  </a:defRPr>
                </a:lvl2pPr>
                <a:lvl3pPr marL="914400" indent="0">
                  <a:defRPr sz="1100">
                    <a:solidFill>
                      <a:schemeClr val="lt1"/>
                    </a:solidFill>
                    <a:latin typeface="+mn-lt"/>
                    <a:ea typeface="+mn-ea"/>
                    <a:cs typeface="+mn-cs"/>
                  </a:defRPr>
                </a:lvl3pPr>
                <a:lvl4pPr marL="1371600" indent="0">
                  <a:defRPr sz="1100">
                    <a:solidFill>
                      <a:schemeClr val="lt1"/>
                    </a:solidFill>
                    <a:latin typeface="+mn-lt"/>
                    <a:ea typeface="+mn-ea"/>
                    <a:cs typeface="+mn-cs"/>
                  </a:defRPr>
                </a:lvl4pPr>
                <a:lvl5pPr marL="1828800" indent="0">
                  <a:defRPr sz="1100">
                    <a:solidFill>
                      <a:schemeClr val="lt1"/>
                    </a:solidFill>
                    <a:latin typeface="+mn-lt"/>
                    <a:ea typeface="+mn-ea"/>
                    <a:cs typeface="+mn-cs"/>
                  </a:defRPr>
                </a:lvl5pPr>
                <a:lvl6pPr marL="2286000" indent="0">
                  <a:defRPr sz="1100">
                    <a:solidFill>
                      <a:schemeClr val="lt1"/>
                    </a:solidFill>
                    <a:latin typeface="+mn-lt"/>
                    <a:ea typeface="+mn-ea"/>
                    <a:cs typeface="+mn-cs"/>
                  </a:defRPr>
                </a:lvl6pPr>
                <a:lvl7pPr marL="2743200" indent="0">
                  <a:defRPr sz="1100">
                    <a:solidFill>
                      <a:schemeClr val="lt1"/>
                    </a:solidFill>
                    <a:latin typeface="+mn-lt"/>
                    <a:ea typeface="+mn-ea"/>
                    <a:cs typeface="+mn-cs"/>
                  </a:defRPr>
                </a:lvl7pPr>
                <a:lvl8pPr marL="3200400" indent="0">
                  <a:defRPr sz="1100">
                    <a:solidFill>
                      <a:schemeClr val="lt1"/>
                    </a:solidFill>
                    <a:latin typeface="+mn-lt"/>
                    <a:ea typeface="+mn-ea"/>
                    <a:cs typeface="+mn-cs"/>
                  </a:defRPr>
                </a:lvl8pPr>
                <a:lvl9pPr marL="3657600" indent="0">
                  <a:defRPr sz="1100">
                    <a:solidFill>
                      <a:schemeClr val="lt1"/>
                    </a:solidFill>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4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Project Team</a:t>
                </a:r>
                <a:endParaRPr kumimoji="0" lang="ja-JP" altLang="ja-JP" sz="14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nvGrpSpPr>
              <p:cNvPr id="69" name="Group 68">
                <a:extLst>
                  <a:ext uri="{FF2B5EF4-FFF2-40B4-BE49-F238E27FC236}">
                    <a16:creationId xmlns:a16="http://schemas.microsoft.com/office/drawing/2014/main" id="{DE3DFFFE-8518-7155-3DE5-D6B0DFE5450E}"/>
                  </a:ext>
                </a:extLst>
              </p:cNvPr>
              <p:cNvGrpSpPr/>
              <p:nvPr/>
            </p:nvGrpSpPr>
            <p:grpSpPr>
              <a:xfrm>
                <a:off x="5907053" y="4800216"/>
                <a:ext cx="3811322" cy="1137810"/>
                <a:chOff x="4976670" y="4546783"/>
                <a:chExt cx="2907248" cy="1137810"/>
              </a:xfrm>
            </p:grpSpPr>
            <p:pic>
              <p:nvPicPr>
                <p:cNvPr id="79" name="Picture 78">
                  <a:extLst>
                    <a:ext uri="{FF2B5EF4-FFF2-40B4-BE49-F238E27FC236}">
                      <a16:creationId xmlns:a16="http://schemas.microsoft.com/office/drawing/2014/main" id="{6F84BF57-03B6-2AD4-178C-3216C2FACA04}"/>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328890" y="4563365"/>
                  <a:ext cx="506583" cy="357581"/>
                </a:xfrm>
                <a:prstGeom prst="rect">
                  <a:avLst/>
                </a:prstGeom>
              </p:spPr>
            </p:pic>
            <p:pic>
              <p:nvPicPr>
                <p:cNvPr id="80" name="Picture 79">
                  <a:extLst>
                    <a:ext uri="{FF2B5EF4-FFF2-40B4-BE49-F238E27FC236}">
                      <a16:creationId xmlns:a16="http://schemas.microsoft.com/office/drawing/2014/main" id="{CDAC49E9-F308-60D2-7DB5-47D7D33E3DE5}"/>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544786" y="4583902"/>
                  <a:ext cx="506582" cy="381396"/>
                </a:xfrm>
                <a:prstGeom prst="rect">
                  <a:avLst/>
                </a:prstGeom>
              </p:spPr>
            </p:pic>
            <p:pic>
              <p:nvPicPr>
                <p:cNvPr id="81" name="Picture 80">
                  <a:extLst>
                    <a:ext uri="{FF2B5EF4-FFF2-40B4-BE49-F238E27FC236}">
                      <a16:creationId xmlns:a16="http://schemas.microsoft.com/office/drawing/2014/main" id="{E1917F8D-971E-35AB-78ED-FEB6C66A8DF3}"/>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5770587" y="4546783"/>
                  <a:ext cx="506582" cy="357581"/>
                </a:xfrm>
                <a:prstGeom prst="rect">
                  <a:avLst/>
                </a:prstGeom>
              </p:spPr>
            </p:pic>
            <p:sp>
              <p:nvSpPr>
                <p:cNvPr id="82" name="TextBox 81">
                  <a:extLst>
                    <a:ext uri="{FF2B5EF4-FFF2-40B4-BE49-F238E27FC236}">
                      <a16:creationId xmlns:a16="http://schemas.microsoft.com/office/drawing/2014/main" id="{BC017483-0A65-ABCF-B369-4FF614492762}"/>
                    </a:ext>
                  </a:extLst>
                </p:cNvPr>
                <p:cNvSpPr txBox="1"/>
                <p:nvPr/>
              </p:nvSpPr>
              <p:spPr>
                <a:xfrm>
                  <a:off x="4976670" y="4948771"/>
                  <a:ext cx="1569785" cy="72295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Develop</a:t>
                  </a:r>
                  <a:r>
                    <a:rPr kumimoji="0" lang="vi-VN"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er/Tester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rPr>
                    <a:t>X members</a:t>
                  </a:r>
                </a:p>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pic>
              <p:nvPicPr>
                <p:cNvPr id="83" name="Picture 82">
                  <a:extLst>
                    <a:ext uri="{FF2B5EF4-FFF2-40B4-BE49-F238E27FC236}">
                      <a16:creationId xmlns:a16="http://schemas.microsoft.com/office/drawing/2014/main" id="{39F30886-0C1D-F89B-7FB0-6E1E4C6ECFD3}"/>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957399" y="4555984"/>
                  <a:ext cx="506582" cy="357581"/>
                </a:xfrm>
                <a:prstGeom prst="rect">
                  <a:avLst/>
                </a:prstGeom>
              </p:spPr>
            </p:pic>
            <p:sp>
              <p:nvSpPr>
                <p:cNvPr id="84" name="TextBox 83">
                  <a:extLst>
                    <a:ext uri="{FF2B5EF4-FFF2-40B4-BE49-F238E27FC236}">
                      <a16:creationId xmlns:a16="http://schemas.microsoft.com/office/drawing/2014/main" id="{F40723D5-CFDE-33BC-35AE-8776519D839A}"/>
                    </a:ext>
                  </a:extLst>
                </p:cNvPr>
                <p:cNvSpPr txBox="1"/>
                <p:nvPr/>
              </p:nvSpPr>
              <p:spPr>
                <a:xfrm>
                  <a:off x="6611242" y="4961641"/>
                  <a:ext cx="1272676" cy="722952"/>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Korean</a:t>
                  </a:r>
                  <a:br>
                    <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br>
                  <a:r>
                    <a:rPr kumimoji="0" lang="en-US"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BA/Communicator</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rPr>
                    <a:t>ABC</a:t>
                  </a:r>
                </a:p>
              </p:txBody>
            </p:sp>
          </p:grpSp>
          <p:sp>
            <p:nvSpPr>
              <p:cNvPr id="70" name="Left-Right Arrow 69">
                <a:extLst>
                  <a:ext uri="{FF2B5EF4-FFF2-40B4-BE49-F238E27FC236}">
                    <a16:creationId xmlns:a16="http://schemas.microsoft.com/office/drawing/2014/main" id="{3666A888-C5AD-29CB-2E79-F65450AE8E6F}"/>
                  </a:ext>
                </a:extLst>
              </p:cNvPr>
              <p:cNvSpPr/>
              <p:nvPr/>
            </p:nvSpPr>
            <p:spPr>
              <a:xfrm>
                <a:off x="2263245" y="1942968"/>
                <a:ext cx="1256497" cy="206431"/>
              </a:xfrm>
              <a:prstGeom prst="leftRightArrow">
                <a:avLst/>
              </a:prstGeom>
              <a:solidFill>
                <a:srgbClr val="ED7D31">
                  <a:lumMod val="75000"/>
                </a:srgbClr>
              </a:solidFill>
              <a:ln w="12700" cap="flat" cmpd="sng" algn="ctr">
                <a:solidFill>
                  <a:srgbClr val="A5A5A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71" name="Left-Right Arrow 70">
                <a:extLst>
                  <a:ext uri="{FF2B5EF4-FFF2-40B4-BE49-F238E27FC236}">
                    <a16:creationId xmlns:a16="http://schemas.microsoft.com/office/drawing/2014/main" id="{FED5C7BD-3412-C441-7776-F0AF48F8D079}"/>
                  </a:ext>
                </a:extLst>
              </p:cNvPr>
              <p:cNvSpPr/>
              <p:nvPr/>
            </p:nvSpPr>
            <p:spPr>
              <a:xfrm>
                <a:off x="4738611" y="1951282"/>
                <a:ext cx="3355523" cy="206431"/>
              </a:xfrm>
              <a:prstGeom prst="leftRightArrow">
                <a:avLst/>
              </a:prstGeom>
              <a:solidFill>
                <a:srgbClr val="ED7D31">
                  <a:lumMod val="75000"/>
                </a:srgbClr>
              </a:solidFill>
              <a:ln w="12700" cap="flat" cmpd="sng" algn="ctr">
                <a:solidFill>
                  <a:srgbClr val="A5A5A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72" name="Left-Right Arrow 71">
                <a:extLst>
                  <a:ext uri="{FF2B5EF4-FFF2-40B4-BE49-F238E27FC236}">
                    <a16:creationId xmlns:a16="http://schemas.microsoft.com/office/drawing/2014/main" id="{B90DE98D-EB9C-3273-57C8-6E603DA04A5F}"/>
                  </a:ext>
                </a:extLst>
              </p:cNvPr>
              <p:cNvSpPr/>
              <p:nvPr/>
            </p:nvSpPr>
            <p:spPr>
              <a:xfrm rot="5400000">
                <a:off x="1100797" y="3359122"/>
                <a:ext cx="1256497" cy="206431"/>
              </a:xfrm>
              <a:prstGeom prst="leftRightArrow">
                <a:avLst/>
              </a:prstGeom>
              <a:solidFill>
                <a:srgbClr val="ED7D31">
                  <a:lumMod val="75000"/>
                </a:srgbClr>
              </a:solidFill>
              <a:ln w="12700" cap="flat" cmpd="sng" algn="ctr">
                <a:solidFill>
                  <a:srgbClr val="A5A5A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73" name="Left-Right Arrow 72">
                <a:extLst>
                  <a:ext uri="{FF2B5EF4-FFF2-40B4-BE49-F238E27FC236}">
                    <a16:creationId xmlns:a16="http://schemas.microsoft.com/office/drawing/2014/main" id="{73D3F9F6-005E-62F5-D401-6B743AB1FB4D}"/>
                  </a:ext>
                </a:extLst>
              </p:cNvPr>
              <p:cNvSpPr/>
              <p:nvPr/>
            </p:nvSpPr>
            <p:spPr>
              <a:xfrm>
                <a:off x="4636139" y="4647688"/>
                <a:ext cx="1136344" cy="168916"/>
              </a:xfrm>
              <a:prstGeom prst="leftRightArrow">
                <a:avLst/>
              </a:prstGeom>
              <a:solidFill>
                <a:srgbClr val="ED7D31">
                  <a:lumMod val="75000"/>
                </a:srgbClr>
              </a:solidFill>
              <a:ln w="12700" cap="flat" cmpd="sng" algn="ctr">
                <a:solidFill>
                  <a:srgbClr val="A5A5A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74" name="Left-Right Arrow 73">
                <a:extLst>
                  <a:ext uri="{FF2B5EF4-FFF2-40B4-BE49-F238E27FC236}">
                    <a16:creationId xmlns:a16="http://schemas.microsoft.com/office/drawing/2014/main" id="{A874987A-E36B-3C28-9D6C-9D13ABD75BF3}"/>
                  </a:ext>
                </a:extLst>
              </p:cNvPr>
              <p:cNvSpPr/>
              <p:nvPr/>
            </p:nvSpPr>
            <p:spPr>
              <a:xfrm rot="5400000">
                <a:off x="3561166" y="3366508"/>
                <a:ext cx="1256497" cy="206431"/>
              </a:xfrm>
              <a:prstGeom prst="leftRightArrow">
                <a:avLst/>
              </a:prstGeom>
              <a:solidFill>
                <a:srgbClr val="ED7D31">
                  <a:lumMod val="75000"/>
                </a:srgbClr>
              </a:solidFill>
              <a:ln w="12700" cap="flat" cmpd="sng" algn="ctr">
                <a:solidFill>
                  <a:srgbClr val="A5A5A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nvGrpSpPr>
              <p:cNvPr id="75" name="Group 74">
                <a:extLst>
                  <a:ext uri="{FF2B5EF4-FFF2-40B4-BE49-F238E27FC236}">
                    <a16:creationId xmlns:a16="http://schemas.microsoft.com/office/drawing/2014/main" id="{69546F40-F176-0267-7FF5-9B4EE686B8F9}"/>
                  </a:ext>
                </a:extLst>
              </p:cNvPr>
              <p:cNvGrpSpPr/>
              <p:nvPr/>
            </p:nvGrpSpPr>
            <p:grpSpPr>
              <a:xfrm>
                <a:off x="841643" y="4161123"/>
                <a:ext cx="1796966" cy="1364789"/>
                <a:chOff x="9170819" y="3298311"/>
                <a:chExt cx="3790604" cy="2803961"/>
              </a:xfrm>
            </p:grpSpPr>
            <p:pic>
              <p:nvPicPr>
                <p:cNvPr id="77" name="Picture 76">
                  <a:extLst>
                    <a:ext uri="{FF2B5EF4-FFF2-40B4-BE49-F238E27FC236}">
                      <a16:creationId xmlns:a16="http://schemas.microsoft.com/office/drawing/2014/main" id="{0795E16F-07E2-BC94-6589-1DB97A984C6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9742359" y="3298311"/>
                  <a:ext cx="2647525" cy="1815930"/>
                </a:xfrm>
                <a:prstGeom prst="rect">
                  <a:avLst/>
                </a:prstGeom>
              </p:spPr>
            </p:pic>
            <p:sp>
              <p:nvSpPr>
                <p:cNvPr id="78" name="TextBox 77">
                  <a:extLst>
                    <a:ext uri="{FF2B5EF4-FFF2-40B4-BE49-F238E27FC236}">
                      <a16:creationId xmlns:a16="http://schemas.microsoft.com/office/drawing/2014/main" id="{3BA6063B-974A-07DC-AFAF-670C58D2DF9F}"/>
                    </a:ext>
                  </a:extLst>
                </p:cNvPr>
                <p:cNvSpPr txBox="1"/>
                <p:nvPr/>
              </p:nvSpPr>
              <p:spPr>
                <a:xfrm>
                  <a:off x="9170819" y="5041339"/>
                  <a:ext cx="3790604" cy="1060933"/>
                </a:xfrm>
                <a:prstGeom prst="rect">
                  <a:avLst/>
                </a:prstGeom>
                <a:noFill/>
              </p:spPr>
              <p:txBody>
                <a:bodyPr wrap="square" rtlCol="0">
                  <a:spAutoFit/>
                </a:bodyPr>
                <a:lstStyle/>
                <a:p>
                  <a:pPr marL="0" marR="0" lvl="0" indent="0" algn="ctr" defTabSz="457200" eaLnBrk="1" fontAlgn="auto" latinLnBrk="0" hangingPunct="1">
                    <a:lnSpc>
                      <a:spcPct val="100000"/>
                    </a:lnSpc>
                    <a:spcBef>
                      <a:spcPts val="0"/>
                    </a:spcBef>
                    <a:spcAft>
                      <a:spcPts val="0"/>
                    </a:spcAft>
                    <a:buClrTx/>
                    <a:buSzTx/>
                    <a:buFontTx/>
                    <a:buNone/>
                    <a:tabLst/>
                    <a:defRPr/>
                  </a:pPr>
                  <a:r>
                    <a:rPr kumimoji="0" lang="en-IE" altLang="ja-JP"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Project Leaders</a:t>
                  </a:r>
                </a:p>
                <a:p>
                  <a:pPr marL="0" marR="0" lvl="0" indent="0" algn="ctr" defTabSz="4572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rPr>
                    <a:t>ABC</a:t>
                  </a:r>
                </a:p>
              </p:txBody>
            </p:sp>
          </p:grpSp>
          <p:sp>
            <p:nvSpPr>
              <p:cNvPr id="76" name="Left-Right Arrow 75">
                <a:extLst>
                  <a:ext uri="{FF2B5EF4-FFF2-40B4-BE49-F238E27FC236}">
                    <a16:creationId xmlns:a16="http://schemas.microsoft.com/office/drawing/2014/main" id="{F22241A3-5FD9-1802-8120-35362B7EDD79}"/>
                  </a:ext>
                </a:extLst>
              </p:cNvPr>
              <p:cNvSpPr/>
              <p:nvPr/>
            </p:nvSpPr>
            <p:spPr>
              <a:xfrm>
                <a:off x="2260495" y="4641920"/>
                <a:ext cx="1256497" cy="206431"/>
              </a:xfrm>
              <a:prstGeom prst="leftRightArrow">
                <a:avLst/>
              </a:prstGeom>
              <a:solidFill>
                <a:srgbClr val="ED7D31">
                  <a:lumMod val="75000"/>
                </a:srgbClr>
              </a:solidFill>
              <a:ln w="12700" cap="flat" cmpd="sng" algn="ctr">
                <a:solidFill>
                  <a:srgbClr val="A5A5A5">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grpSp>
        <p:pic>
          <p:nvPicPr>
            <p:cNvPr id="53" name="Picture 52">
              <a:extLst>
                <a:ext uri="{FF2B5EF4-FFF2-40B4-BE49-F238E27FC236}">
                  <a16:creationId xmlns:a16="http://schemas.microsoft.com/office/drawing/2014/main" id="{315FEBD3-EB14-D0E5-9EEA-337447BBFF5E}"/>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9963123" y="4564922"/>
              <a:ext cx="630604" cy="322504"/>
            </a:xfrm>
            <a:prstGeom prst="rect">
              <a:avLst/>
            </a:prstGeom>
          </p:spPr>
        </p:pic>
        <p:sp>
          <p:nvSpPr>
            <p:cNvPr id="54" name="TextBox 53">
              <a:extLst>
                <a:ext uri="{FF2B5EF4-FFF2-40B4-BE49-F238E27FC236}">
                  <a16:creationId xmlns:a16="http://schemas.microsoft.com/office/drawing/2014/main" id="{F565CF01-7821-460A-F685-6E6119B33338}"/>
                </a:ext>
              </a:extLst>
            </p:cNvPr>
            <p:cNvSpPr txBox="1"/>
            <p:nvPr/>
          </p:nvSpPr>
          <p:spPr>
            <a:xfrm>
              <a:off x="9502923" y="4985790"/>
              <a:ext cx="1584254" cy="46166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vi-VN" sz="1200"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QC</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00"/>
                  </a:solidFill>
                  <a:effectLst/>
                  <a:uLnTx/>
                  <a:uFillTx/>
                  <a:latin typeface="Segoe UI" panose="020B0502040204020203" pitchFamily="34" charset="0"/>
                  <a:ea typeface="+mn-ea"/>
                  <a:cs typeface="Segoe UI" panose="020B0502040204020203" pitchFamily="34" charset="0"/>
                </a:rPr>
                <a:t>ABC</a:t>
              </a:r>
            </a:p>
          </p:txBody>
        </p:sp>
        <p:pic>
          <p:nvPicPr>
            <p:cNvPr id="55" name="Picture 54">
              <a:extLst>
                <a:ext uri="{FF2B5EF4-FFF2-40B4-BE49-F238E27FC236}">
                  <a16:creationId xmlns:a16="http://schemas.microsoft.com/office/drawing/2014/main" id="{DAF5EAF4-093B-9344-1B9E-C85174627586}"/>
                </a:ext>
              </a:extLst>
            </p:cNvPr>
            <p:cNvPicPr>
              <a:picLocks noChangeAspect="1"/>
            </p:cNvPicPr>
            <p:nvPr/>
          </p:nvPicPr>
          <p:blipFill>
            <a:blip r:embed="rId3" cstate="email">
              <a:extLst>
                <a:ext uri="{28A0092B-C50C-407E-A947-70E740481C1C}">
                  <a14:useLocalDpi xmlns:a14="http://schemas.microsoft.com/office/drawing/2010/main" val="0"/>
                </a:ext>
              </a:extLst>
            </a:blip>
            <a:stretch>
              <a:fillRect/>
            </a:stretch>
          </p:blipFill>
          <p:spPr>
            <a:xfrm>
              <a:off x="6151528" y="4627980"/>
              <a:ext cx="630604" cy="343981"/>
            </a:xfrm>
            <a:prstGeom prst="rect">
              <a:avLst/>
            </a:prstGeom>
          </p:spPr>
        </p:pic>
      </p:grpSp>
      <p:pic>
        <p:nvPicPr>
          <p:cNvPr id="95" name="Picture 94">
            <a:extLst>
              <a:ext uri="{FF2B5EF4-FFF2-40B4-BE49-F238E27FC236}">
                <a16:creationId xmlns:a16="http://schemas.microsoft.com/office/drawing/2014/main" id="{7B75BA6C-C3B2-4A17-6A65-276DE2C77866}"/>
              </a:ext>
            </a:extLst>
          </p:cNvPr>
          <p:cNvPicPr>
            <a:picLocks noChangeAspect="1"/>
          </p:cNvPicPr>
          <p:nvPr/>
        </p:nvPicPr>
        <p:blipFill>
          <a:blip r:embed="rId2" cstate="email">
            <a:extLst>
              <a:ext uri="{28A0092B-C50C-407E-A947-70E740481C1C}">
                <a14:useLocalDpi xmlns:a14="http://schemas.microsoft.com/office/drawing/2010/main" val="0"/>
              </a:ext>
            </a:extLst>
          </a:blip>
          <a:stretch>
            <a:fillRect/>
          </a:stretch>
        </p:blipFill>
        <p:spPr>
          <a:xfrm>
            <a:off x="7122198" y="2997661"/>
            <a:ext cx="995521" cy="660091"/>
          </a:xfrm>
          <a:prstGeom prst="rect">
            <a:avLst/>
          </a:prstGeom>
        </p:spPr>
      </p:pic>
      <p:sp>
        <p:nvSpPr>
          <p:cNvPr id="96" name="TextBox 95">
            <a:extLst>
              <a:ext uri="{FF2B5EF4-FFF2-40B4-BE49-F238E27FC236}">
                <a16:creationId xmlns:a16="http://schemas.microsoft.com/office/drawing/2014/main" id="{2101882C-FC30-F9CE-9698-E4A3A3495D70}"/>
              </a:ext>
            </a:extLst>
          </p:cNvPr>
          <p:cNvSpPr txBox="1"/>
          <p:nvPr/>
        </p:nvSpPr>
        <p:spPr>
          <a:xfrm>
            <a:off x="6385698" y="3657752"/>
            <a:ext cx="2473771" cy="461665"/>
          </a:xfrm>
          <a:prstGeom prst="rect">
            <a:avLst/>
          </a:prstGeom>
          <a:noFill/>
        </p:spPr>
        <p:txBody>
          <a:bodyPr wrap="square" rtlCol="0">
            <a:spAutoFit/>
          </a:bodyPr>
          <a:lstStyle/>
          <a:p>
            <a:pPr marL="111125" algn="ctr">
              <a:buClrTx/>
              <a:buFontTx/>
              <a:buNone/>
            </a:pPr>
            <a:r>
              <a:rPr lang="en-US" sz="1200" b="1" kern="1200" dirty="0">
                <a:solidFill>
                  <a:prstClr val="white"/>
                </a:solidFill>
                <a:latin typeface="Segoe UI" panose="020B0502040204020203" pitchFamily="34" charset="0"/>
                <a:ea typeface="+mn-ea"/>
                <a:cs typeface="Segoe UI" panose="020B0502040204020203" pitchFamily="34" charset="0"/>
              </a:rPr>
              <a:t>Project</a:t>
            </a:r>
            <a:r>
              <a:rPr lang="vi-VN" sz="1200" b="1" kern="1200" dirty="0">
                <a:solidFill>
                  <a:prstClr val="white"/>
                </a:solidFill>
                <a:latin typeface="Segoe UI" panose="020B0502040204020203" pitchFamily="34" charset="0"/>
                <a:ea typeface="+mn-ea"/>
                <a:cs typeface="Segoe UI" panose="020B0502040204020203" pitchFamily="34" charset="0"/>
              </a:rPr>
              <a:t> </a:t>
            </a:r>
            <a:r>
              <a:rPr lang="en-US" sz="1200" b="1" kern="1200" dirty="0">
                <a:solidFill>
                  <a:prstClr val="white"/>
                </a:solidFill>
                <a:latin typeface="Segoe UI" panose="020B0502040204020203" pitchFamily="34" charset="0"/>
                <a:ea typeface="+mn-ea"/>
                <a:cs typeface="Segoe UI" panose="020B0502040204020203" pitchFamily="34" charset="0"/>
              </a:rPr>
              <a:t>Manager</a:t>
            </a:r>
            <a:endParaRPr lang="vi-VN" sz="1200" b="1" kern="1200" dirty="0">
              <a:solidFill>
                <a:prstClr val="white"/>
              </a:solidFill>
              <a:latin typeface="Segoe UI" panose="020B0502040204020203" pitchFamily="34" charset="0"/>
              <a:ea typeface="+mn-ea"/>
              <a:cs typeface="Segoe UI" panose="020B0502040204020203" pitchFamily="34" charset="0"/>
            </a:endParaRPr>
          </a:p>
          <a:p>
            <a:pPr algn="ctr">
              <a:buClrTx/>
              <a:buFontTx/>
              <a:buNone/>
            </a:pPr>
            <a:r>
              <a:rPr lang="en-US" sz="1200" b="1" kern="1200" dirty="0">
                <a:solidFill>
                  <a:srgbClr val="FFFF00"/>
                </a:solidFill>
                <a:latin typeface="Segoe UI" panose="020B0502040204020203" pitchFamily="34" charset="0"/>
                <a:ea typeface="+mn-ea"/>
                <a:cs typeface="Segoe UI" panose="020B0502040204020203" pitchFamily="34" charset="0"/>
              </a:rPr>
              <a:t>ABC</a:t>
            </a:r>
            <a:endParaRPr lang="en-US" sz="1200" b="1" kern="1200" dirty="0">
              <a:solidFill>
                <a:prstClr val="white"/>
              </a:solidFill>
              <a:latin typeface="Segoe UI" panose="020B0502040204020203" pitchFamily="34" charset="0"/>
              <a:ea typeface="+mn-ea"/>
              <a:cs typeface="Segoe UI" panose="020B0502040204020203" pitchFamily="34" charset="0"/>
            </a:endParaRPr>
          </a:p>
        </p:txBody>
      </p:sp>
    </p:spTree>
    <p:extLst>
      <p:ext uri="{BB962C8B-B14F-4D97-AF65-F5344CB8AC3E}">
        <p14:creationId xmlns:p14="http://schemas.microsoft.com/office/powerpoint/2010/main" val="18671885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0CFDD59D-D4F0-9ECF-BAB3-3A0245204542}"/>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5</a:t>
            </a:fld>
            <a:endParaRPr lang="en-US" dirty="0">
              <a:solidFill>
                <a:srgbClr val="034EA2"/>
              </a:solidFill>
            </a:endParaRPr>
          </a:p>
        </p:txBody>
      </p:sp>
      <p:grpSp>
        <p:nvGrpSpPr>
          <p:cNvPr id="3" name="Group 2">
            <a:extLst>
              <a:ext uri="{FF2B5EF4-FFF2-40B4-BE49-F238E27FC236}">
                <a16:creationId xmlns:a16="http://schemas.microsoft.com/office/drawing/2014/main" id="{F692440F-7464-9221-84B6-831368888446}"/>
              </a:ext>
            </a:extLst>
          </p:cNvPr>
          <p:cNvGrpSpPr/>
          <p:nvPr/>
        </p:nvGrpSpPr>
        <p:grpSpPr>
          <a:xfrm>
            <a:off x="479425" y="461520"/>
            <a:ext cx="6406796" cy="584775"/>
            <a:chOff x="479425" y="461520"/>
            <a:chExt cx="6406796" cy="584775"/>
          </a:xfrm>
        </p:grpSpPr>
        <p:sp>
          <p:nvSpPr>
            <p:cNvPr id="4" name="Round Diagonal Corner Rectangle 3">
              <a:extLst>
                <a:ext uri="{FF2B5EF4-FFF2-40B4-BE49-F238E27FC236}">
                  <a16:creationId xmlns:a16="http://schemas.microsoft.com/office/drawing/2014/main" id="{85E7A303-8C7F-670B-0A80-598ED6948D70}"/>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E79A4A7F-81A1-A238-51EE-821E42BA2DD1}"/>
                </a:ext>
              </a:extLst>
            </p:cNvPr>
            <p:cNvSpPr txBox="1"/>
            <p:nvPr/>
          </p:nvSpPr>
          <p:spPr>
            <a:xfrm>
              <a:off x="536264" y="461520"/>
              <a:ext cx="6349957"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3. Role And Responsibility</a:t>
              </a:r>
            </a:p>
          </p:txBody>
        </p:sp>
      </p:grpSp>
      <p:graphicFrame>
        <p:nvGraphicFramePr>
          <p:cNvPr id="6" name="Table 5">
            <a:extLst>
              <a:ext uri="{FF2B5EF4-FFF2-40B4-BE49-F238E27FC236}">
                <a16:creationId xmlns:a16="http://schemas.microsoft.com/office/drawing/2014/main" id="{98F0A4F0-A5B6-716D-035B-F851F4557254}"/>
              </a:ext>
            </a:extLst>
          </p:cNvPr>
          <p:cNvGraphicFramePr>
            <a:graphicFrameLocks noGrp="1"/>
          </p:cNvGraphicFramePr>
          <p:nvPr>
            <p:extLst>
              <p:ext uri="{D42A27DB-BD31-4B8C-83A1-F6EECF244321}">
                <p14:modId xmlns:p14="http://schemas.microsoft.com/office/powerpoint/2010/main" val="3590900077"/>
              </p:ext>
            </p:extLst>
          </p:nvPr>
        </p:nvGraphicFramePr>
        <p:xfrm>
          <a:off x="731416" y="1071919"/>
          <a:ext cx="10738095" cy="5182126"/>
        </p:xfrm>
        <a:graphic>
          <a:graphicData uri="http://schemas.openxmlformats.org/drawingml/2006/table">
            <a:tbl>
              <a:tblPr firstRow="1" bandRow="1"/>
              <a:tblGrid>
                <a:gridCol w="989338">
                  <a:extLst>
                    <a:ext uri="{9D8B030D-6E8A-4147-A177-3AD203B41FA5}">
                      <a16:colId xmlns:a16="http://schemas.microsoft.com/office/drawing/2014/main" val="4149973022"/>
                    </a:ext>
                  </a:extLst>
                </a:gridCol>
                <a:gridCol w="2196681">
                  <a:extLst>
                    <a:ext uri="{9D8B030D-6E8A-4147-A177-3AD203B41FA5}">
                      <a16:colId xmlns:a16="http://schemas.microsoft.com/office/drawing/2014/main" val="20001"/>
                    </a:ext>
                  </a:extLst>
                </a:gridCol>
                <a:gridCol w="7552076">
                  <a:extLst>
                    <a:ext uri="{9D8B030D-6E8A-4147-A177-3AD203B41FA5}">
                      <a16:colId xmlns:a16="http://schemas.microsoft.com/office/drawing/2014/main" val="20002"/>
                    </a:ext>
                  </a:extLst>
                </a:gridCol>
              </a:tblGrid>
              <a:tr h="345796">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marL="0" algn="ctr" defTabSz="914400" rtl="0" eaLnBrk="1" fontAlgn="b" latinLnBrk="0" hangingPunct="1"/>
                      <a:r>
                        <a:rPr lang="en-US" sz="1400" b="1" u="none" strike="noStrike" kern="1200" dirty="0">
                          <a:solidFill>
                            <a:schemeClr val="lt1"/>
                          </a:solidFill>
                          <a:effectLst/>
                          <a:latin typeface="+mn-lt"/>
                          <a:ea typeface="+mn-ea"/>
                          <a:cs typeface="+mn-cs"/>
                        </a:rPr>
                        <a:t>Name</a:t>
                      </a:r>
                    </a:p>
                  </a:txBody>
                  <a:tcPr marL="9525" marR="9525" marT="9525" marB="0" anchor="ctr">
                    <a:lnL w="12700" cap="flat" cmpd="sng" algn="ctr">
                      <a:noFill/>
                      <a:prstDash val="solid"/>
                      <a:round/>
                      <a:headEnd type="none" w="med" len="med"/>
                      <a:tailEnd type="none" w="med" len="med"/>
                    </a:lnL>
                    <a:lnR w="12700" cmpd="sng">
                      <a:solidFill>
                        <a:sysClr val="window" lastClr="FFFFFF"/>
                      </a:solidFill>
                    </a:lnR>
                    <a:lnT w="12700" cap="flat" cmpd="sng" algn="ctr">
                      <a:noFill/>
                      <a:prstDash val="solid"/>
                      <a:round/>
                      <a:headEnd type="none" w="med" len="med"/>
                      <a:tailEnd type="none" w="med" len="med"/>
                    </a:lnT>
                    <a:lnB w="38100" cmpd="sng">
                      <a:solidFill>
                        <a:sysClr val="window" lastClr="FFFFFF"/>
                      </a:solidFill>
                    </a:lnB>
                    <a:lnTlToBr w="12700" cmpd="sng">
                      <a:noFill/>
                      <a:prstDash val="solid"/>
                    </a:lnTlToBr>
                    <a:lnBlToTr w="12700" cmpd="sng">
                      <a:noFill/>
                      <a:prstDash val="solid"/>
                    </a:lnBlToTr>
                    <a:solidFill>
                      <a:srgbClr val="30B3C2"/>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fontAlgn="b"/>
                      <a:r>
                        <a:rPr lang="en-US" sz="1400" u="none" strike="noStrike" kern="1200" dirty="0">
                          <a:effectLst/>
                        </a:rPr>
                        <a:t>Role</a:t>
                      </a:r>
                      <a:endParaRPr lang="en-US" sz="1400" b="1"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mpd="sng">
                      <a:solidFill>
                        <a:sysClr val="window" lastClr="FFFFFF"/>
                      </a:solidFill>
                    </a:lnL>
                    <a:lnR w="12700" cmpd="sng">
                      <a:solidFill>
                        <a:sysClr val="window" lastClr="FFFFFF"/>
                      </a:solidFill>
                    </a:lnR>
                    <a:lnT w="12700" cap="flat" cmpd="sng" algn="ctr">
                      <a:noFill/>
                      <a:prstDash val="solid"/>
                      <a:round/>
                      <a:headEnd type="none" w="med" len="med"/>
                      <a:tailEnd type="none" w="med" len="med"/>
                    </a:lnT>
                    <a:lnB w="38100" cmpd="sng">
                      <a:solidFill>
                        <a:sysClr val="window" lastClr="FFFFFF"/>
                      </a:solidFill>
                    </a:lnB>
                    <a:lnTlToBr w="12700" cmpd="sng">
                      <a:noFill/>
                      <a:prstDash val="solid"/>
                    </a:lnTlToBr>
                    <a:lnBlToTr w="12700" cmpd="sng">
                      <a:noFill/>
                      <a:prstDash val="solid"/>
                    </a:lnBlToTr>
                    <a:solidFill>
                      <a:srgbClr val="30B3C2"/>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fontAlgn="b"/>
                      <a:r>
                        <a:rPr lang="en-US" sz="1400" u="none" strike="noStrike" kern="1200" dirty="0">
                          <a:effectLst/>
                        </a:rPr>
                        <a:t>Responsibility</a:t>
                      </a:r>
                      <a:endParaRPr lang="en-US" sz="1400" b="1"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mpd="sng">
                      <a:solidFill>
                        <a:sysClr val="window" lastClr="FFFFFF"/>
                      </a:solidFill>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38100" cmpd="sng">
                      <a:solidFill>
                        <a:sysClr val="window" lastClr="FFFFFF"/>
                      </a:solidFill>
                    </a:lnB>
                    <a:lnTlToBr w="12700" cmpd="sng">
                      <a:noFill/>
                      <a:prstDash val="solid"/>
                    </a:lnTlToBr>
                    <a:lnBlToTr w="12700" cmpd="sng">
                      <a:noFill/>
                      <a:prstDash val="solid"/>
                    </a:lnBlToTr>
                    <a:solidFill>
                      <a:srgbClr val="30B3C2"/>
                    </a:solidFill>
                  </a:tcPr>
                </a:tc>
                <a:extLst>
                  <a:ext uri="{0D108BD9-81ED-4DB2-BD59-A6C34878D82A}">
                    <a16:rowId xmlns:a16="http://schemas.microsoft.com/office/drawing/2014/main" val="10000"/>
                  </a:ext>
                </a:extLst>
              </a:tr>
              <a:tr h="1488102">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91440" lvl="0" algn="l" defTabSz="914400" rtl="0" eaLnBrk="1" fontAlgn="t" latinLnBrk="0" hangingPunct="1"/>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ABC</a:t>
                      </a:r>
                    </a:p>
                  </a:txBody>
                  <a:tcPr marL="9525" marR="9525" marT="9525" marB="0" anchor="ctr">
                    <a:lnL w="12700" cap="flat" cmpd="sng" algn="ctr">
                      <a:noFill/>
                      <a:prstDash val="solid"/>
                      <a:round/>
                      <a:headEnd type="none" w="med" len="med"/>
                      <a:tailEnd type="none" w="med" len="med"/>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91440" lvl="0" algn="l" defTabSz="914400" rtl="0" eaLnBrk="1" fontAlgn="t" latinLnBrk="0" hangingPunct="1"/>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Operation</a:t>
                      </a:r>
                      <a:r>
                        <a:rPr lang="vi-VN" sz="1000" u="none" strike="noStrike" kern="1200" dirty="0">
                          <a:effectLst/>
                          <a:latin typeface="Tahoma" panose="020B0604030504040204" pitchFamily="34" charset="0"/>
                          <a:ea typeface="Tahoma" panose="020B0604030504040204" pitchFamily="34" charset="0"/>
                          <a:cs typeface="Tahoma" panose="020B0604030504040204" pitchFamily="34" charset="0"/>
                        </a:rPr>
                        <a:t> Manager</a:t>
                      </a: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 Senior Manager</a:t>
                      </a:r>
                      <a:endPar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262890" lvl="0" indent="-171450" algn="l" defTabSz="914400" rtl="0" eaLnBrk="1" fontAlgn="t" latinLnBrk="0" hangingPunct="1">
                        <a:buFont typeface="Arial" panose="020B0604020202020204" pitchFamily="34" charset="0"/>
                        <a:buChar char="•"/>
                      </a:pP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ODC (Offshore Delivery Center) main contact point </a:t>
                      </a:r>
                    </a:p>
                    <a:p>
                      <a:pPr marL="262890" lvl="0" indent="-171450" algn="l" defTabSz="914400" rtl="0" eaLnBrk="1" fontAlgn="t" latinLnBrk="0" hangingPunct="1">
                        <a:buFont typeface="Arial" panose="020B0604020202020204" pitchFamily="34" charset="0"/>
                        <a:buChar char="•"/>
                      </a:pP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Predict ODC resources needed to reach objectives, prepare ODC budgets, scope of work, and play a hands-on, lead role in managing budget and other resources in an effective and efficient manner</a:t>
                      </a:r>
                    </a:p>
                    <a:p>
                      <a:pPr marL="262890" lvl="0" indent="-171450" algn="l" defTabSz="914400" rtl="0" eaLnBrk="1" fontAlgn="t" latinLnBrk="0" hangingPunct="1">
                        <a:buFont typeface="Arial" panose="020B0604020202020204" pitchFamily="34" charset="0"/>
                        <a:buChar char="•"/>
                      </a:pP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Play a lead role in determining and monitoring performance metrics for the ODC's projects initiatives to measure progress and identify areas for improvement</a:t>
                      </a:r>
                    </a:p>
                    <a:p>
                      <a:pPr marL="262890" lvl="0" indent="-171450" algn="l" defTabSz="914400" rtl="0" eaLnBrk="1" fontAlgn="t" latinLnBrk="0" hangingPunct="1">
                        <a:buFont typeface="Arial" panose="020B0604020202020204" pitchFamily="34" charset="0"/>
                        <a:buChar char="•"/>
                      </a:pP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Develop and deliver comprehensive analysis and final reports for stakeholders, including evaluations of ODC feasibility and achieved met</a:t>
                      </a:r>
                      <a:endParaRPr lang="vi-VN" sz="1000" u="none" strike="noStrike" kern="1200" dirty="0">
                        <a:effectLst/>
                        <a:latin typeface="Tahoma" panose="020B0604030504040204" pitchFamily="34" charset="0"/>
                        <a:ea typeface="Tahoma" panose="020B0604030504040204" pitchFamily="34" charset="0"/>
                        <a:cs typeface="Tahoma" panose="020B0604030504040204" pitchFamily="34" charset="0"/>
                      </a:endParaRPr>
                    </a:p>
                  </a:txBody>
                  <a:tcPr marL="85725" marR="0" marT="0" marB="0" anchor="ctr">
                    <a:lnL w="12700" cmpd="sng">
                      <a:solidFill>
                        <a:sysClr val="window" lastClr="FFFFFF"/>
                      </a:solidFill>
                    </a:lnL>
                    <a:lnR w="12700" cap="flat" cmpd="sng" algn="ctr">
                      <a:noFill/>
                      <a:prstDash val="solid"/>
                      <a:round/>
                      <a:headEnd type="none" w="med" len="med"/>
                      <a:tailEnd type="none" w="med" len="med"/>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069285"/>
                  </a:ext>
                </a:extLst>
              </a:tr>
              <a:tr h="930063">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91440" lvl="0" algn="l" defTabSz="914400" rtl="0" eaLnBrk="1" fontAlgn="t" latinLnBrk="0" hangingPunct="1"/>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ABC</a:t>
                      </a:r>
                    </a:p>
                  </a:txBody>
                  <a:tcPr marL="9525" marR="9525" marT="9525" marB="0" anchor="ctr">
                    <a:lnL w="12700" cap="flat" cmpd="sng" algn="ctr">
                      <a:no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91440" lvl="0" algn="l" defTabSz="914400" rtl="0" eaLnBrk="1" fontAlgn="t" latinLnBrk="0" hangingPunct="1"/>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Delivery Manager (DM)</a:t>
                      </a: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262890" lvl="0" indent="-171450" algn="l" defTabSz="914400" rtl="0" eaLnBrk="1" fontAlgn="t" latinLnBrk="0" hangingPunct="1">
                        <a:buFont typeface="Arial" panose="020B0604020202020204" pitchFamily="34" charset="0"/>
                        <a:buChar char="•"/>
                      </a:pP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Preparing master plan and profit &amp; lost for all projects </a:t>
                      </a:r>
                    </a:p>
                    <a:p>
                      <a:pPr marL="262890" lvl="0" indent="-171450" algn="l" defTabSz="914400" rtl="0" eaLnBrk="1" fontAlgn="t" latinLnBrk="0" hangingPunct="1">
                        <a:buFont typeface="Arial" panose="020B0604020202020204" pitchFamily="34" charset="0"/>
                        <a:buChar char="•"/>
                      </a:pP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Work with customer</a:t>
                      </a:r>
                      <a:r>
                        <a:rPr lang="en-US" sz="1000" u="none" strike="noStrike" kern="1200" baseline="0" dirty="0">
                          <a:effectLst/>
                          <a:latin typeface="Tahoma" panose="020B0604030504040204" pitchFamily="34" charset="0"/>
                          <a:ea typeface="Tahoma" panose="020B0604030504040204" pitchFamily="34" charset="0"/>
                          <a:cs typeface="Tahoma" panose="020B0604030504040204" pitchFamily="34" charset="0"/>
                        </a:rPr>
                        <a:t>’s </a:t>
                      </a: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project manager to collect needs of projects from departments</a:t>
                      </a:r>
                    </a:p>
                    <a:p>
                      <a:pPr marL="262890" lvl="0" indent="-171450" algn="l" defTabSz="914400" rtl="0" eaLnBrk="1" fontAlgn="t" latinLnBrk="0" hangingPunct="1">
                        <a:buFont typeface="Arial" panose="020B0604020202020204" pitchFamily="34" charset="0"/>
                        <a:buChar char="•"/>
                      </a:pP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Responsible for coordinating with customer’s project manager in solving project problems/ issues </a:t>
                      </a:r>
                    </a:p>
                    <a:p>
                      <a:pPr marL="262890" lvl="0" indent="-171450" algn="l" defTabSz="914400" rtl="0" eaLnBrk="1" fontAlgn="t" latinLnBrk="0" hangingPunct="1">
                        <a:buFont typeface="Arial" panose="020B0604020202020204" pitchFamily="34" charset="0"/>
                        <a:buChar char="•"/>
                      </a:pP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Review and responsible for assessment report/ estimation/ proposal </a:t>
                      </a:r>
                    </a:p>
                  </a:txBody>
                  <a:tcPr marL="85725" marR="0" marT="0" marB="0" anchor="ctr">
                    <a:lnL w="12700" cmpd="sng">
                      <a:solidFill>
                        <a:sysClr val="window" lastClr="FFFFFF"/>
                      </a:solidFill>
                    </a:lnL>
                    <a:lnR w="12700" cap="flat" cmpd="sng" algn="ctr">
                      <a:no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extLst>
                  <a:ext uri="{0D108BD9-81ED-4DB2-BD59-A6C34878D82A}">
                    <a16:rowId xmlns:a16="http://schemas.microsoft.com/office/drawing/2014/main" val="2850772041"/>
                  </a:ext>
                </a:extLst>
              </a:tr>
              <a:tr h="930063">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91440" lvl="0" algn="l" defTabSz="914400" rtl="0" eaLnBrk="1" fontAlgn="t" latinLnBrk="0" hangingPunct="1"/>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ABC</a:t>
                      </a:r>
                    </a:p>
                  </a:txBody>
                  <a:tcPr marL="9525" marR="9525" marT="9525" marB="0" anchor="ctr">
                    <a:lnL w="12700" cap="flat" cmpd="sng" algn="ctr">
                      <a:no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91440" lvl="0" algn="l" defTabSz="914400" rtl="0" eaLnBrk="1" fontAlgn="t" latinLnBrk="0" hangingPunct="1"/>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Project Manager(PM)/</a:t>
                      </a:r>
                    </a:p>
                    <a:p>
                      <a:pPr marL="91440" lvl="0" algn="l" defTabSz="914400" rtl="0" eaLnBrk="1" fontAlgn="t" latinLnBrk="0" hangingPunct="1"/>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Team leader</a:t>
                      </a: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Offshore project development team main contact point </a:t>
                      </a:r>
                    </a:p>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Manage and responsible for project's progress, quality, scope, cost </a:t>
                      </a:r>
                    </a:p>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Task assignment and monitoring of team members</a:t>
                      </a:r>
                    </a:p>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Organize meeting/ workshop, detect and resolve issues </a:t>
                      </a:r>
                    </a:p>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Review and responsible for assessment report/ estimation/ proposal </a:t>
                      </a:r>
                      <a:endParaRPr lang="vi-VN" sz="1000" u="none" strike="noStrike" kern="1200" dirty="0">
                        <a:effectLst/>
                        <a:latin typeface="Tahoma" panose="020B0604030504040204" pitchFamily="34" charset="0"/>
                        <a:ea typeface="Tahoma" panose="020B0604030504040204" pitchFamily="34" charset="0"/>
                        <a:cs typeface="Tahoma" panose="020B0604030504040204" pitchFamily="34" charset="0"/>
                      </a:endParaRPr>
                    </a:p>
                  </a:txBody>
                  <a:tcPr marL="85725" marR="0" marT="0" marB="0" anchor="ctr">
                    <a:lnL w="12700" cmpd="sng">
                      <a:solidFill>
                        <a:sysClr val="window" lastClr="FFFFFF"/>
                      </a:solidFill>
                    </a:lnL>
                    <a:lnR w="12700" cap="flat" cmpd="sng" algn="ctr">
                      <a:no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31841975"/>
                  </a:ext>
                </a:extLst>
              </a:tr>
              <a:tr h="1488102">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111125" lvl="0" indent="0" algn="l"/>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ABC</a:t>
                      </a:r>
                    </a:p>
                  </a:txBody>
                  <a:tcPr marL="9525" marR="9525" marT="9525" marB="0" anchor="ctr">
                    <a:lnL w="12700" cap="flat" cmpd="sng" algn="ctr">
                      <a:noFill/>
                      <a:prstDash val="solid"/>
                      <a:round/>
                      <a:headEnd type="none" w="med" len="med"/>
                      <a:tailEnd type="none" w="med" len="med"/>
                    </a:lnL>
                    <a:lnR w="12700" cmpd="sng">
                      <a:solidFill>
                        <a:sysClr val="window" lastClr="FFFFFF"/>
                      </a:solidFill>
                    </a:lnR>
                    <a:lnT w="12700" cmpd="sng">
                      <a:solidFill>
                        <a:sysClr val="window" lastClr="FFFFFF"/>
                      </a:solid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AF1F4"/>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111125" lvl="0" indent="0" algn="l"/>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Business analyst</a:t>
                      </a:r>
                      <a:b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b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(BA)</a:t>
                      </a:r>
                      <a:endPar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AF1F4"/>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Work with customer’s project manager or </a:t>
                      </a:r>
                      <a:r>
                        <a:rPr lang="en-US" sz="1000" u="none" strike="noStrike" kern="1200" dirty="0" err="1">
                          <a:solidFill>
                            <a:schemeClr val="dk1"/>
                          </a:solidFill>
                          <a:effectLst/>
                          <a:latin typeface="Tahoma" panose="020B0604030504040204" pitchFamily="34" charset="0"/>
                          <a:ea typeface="Tahoma" panose="020B0604030504040204" pitchFamily="34" charset="0"/>
                          <a:cs typeface="Tahoma" panose="020B0604030504040204" pitchFamily="34" charset="0"/>
                        </a:rPr>
                        <a:t>onsiter</a:t>
                      </a:r>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 to get requirements, make system specification documents and transfer to development team</a:t>
                      </a:r>
                    </a:p>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Study requirement based on customer’s request</a:t>
                      </a:r>
                    </a:p>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Communicate and transfer to the development team to ensure understanding exactly customer requirement</a:t>
                      </a:r>
                    </a:p>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Support team and manage the Q&amp;A</a:t>
                      </a:r>
                    </a:p>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Confirmation about the function requirement with Business user or Product owner</a:t>
                      </a:r>
                    </a:p>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Verify and responsible for output of development base on business requirement</a:t>
                      </a:r>
                    </a:p>
                  </a:txBody>
                  <a:tcPr marL="85725" marR="0" marT="0" marB="0" anchor="ctr">
                    <a:lnL w="12700" cmpd="sng">
                      <a:solidFill>
                        <a:sysClr val="window" lastClr="FFFFFF"/>
                      </a:solidFill>
                    </a:lnL>
                    <a:lnR w="12700" cap="flat" cmpd="sng" algn="ctr">
                      <a:noFill/>
                      <a:prstDash val="solid"/>
                      <a:round/>
                      <a:headEnd type="none" w="med" len="med"/>
                      <a:tailEnd type="none" w="med" len="med"/>
                    </a:lnR>
                    <a:lnT w="12700" cmpd="sng">
                      <a:solidFill>
                        <a:sysClr val="window" lastClr="FFFFFF"/>
                      </a:solidFill>
                    </a:lnT>
                    <a:lnB w="12700" cap="flat" cmpd="sng" algn="ctr">
                      <a:noFill/>
                      <a:prstDash val="solid"/>
                      <a:round/>
                      <a:headEnd type="none" w="med" len="med"/>
                      <a:tailEnd type="none" w="med" len="med"/>
                    </a:lnB>
                    <a:lnTlToBr w="12700" cmpd="sng">
                      <a:noFill/>
                      <a:prstDash val="solid"/>
                    </a:lnTlToBr>
                    <a:lnBlToTr w="12700" cmpd="sng">
                      <a:noFill/>
                      <a:prstDash val="solid"/>
                    </a:lnBlToTr>
                    <a:solidFill>
                      <a:srgbClr val="DAF1F4"/>
                    </a:solidFill>
                  </a:tcPr>
                </a:tc>
                <a:extLst>
                  <a:ext uri="{0D108BD9-81ED-4DB2-BD59-A6C34878D82A}">
                    <a16:rowId xmlns:a16="http://schemas.microsoft.com/office/drawing/2014/main" val="3968882623"/>
                  </a:ext>
                </a:extLst>
              </a:tr>
            </a:tbl>
          </a:graphicData>
        </a:graphic>
      </p:graphicFrame>
    </p:spTree>
    <p:extLst>
      <p:ext uri="{BB962C8B-B14F-4D97-AF65-F5344CB8AC3E}">
        <p14:creationId xmlns:p14="http://schemas.microsoft.com/office/powerpoint/2010/main" val="18994239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0CFDD59D-D4F0-9ECF-BAB3-3A0245204542}"/>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6</a:t>
            </a:fld>
            <a:endParaRPr lang="en-US" dirty="0">
              <a:solidFill>
                <a:srgbClr val="034EA2"/>
              </a:solidFill>
            </a:endParaRPr>
          </a:p>
        </p:txBody>
      </p:sp>
      <p:grpSp>
        <p:nvGrpSpPr>
          <p:cNvPr id="3" name="Group 2">
            <a:extLst>
              <a:ext uri="{FF2B5EF4-FFF2-40B4-BE49-F238E27FC236}">
                <a16:creationId xmlns:a16="http://schemas.microsoft.com/office/drawing/2014/main" id="{F692440F-7464-9221-84B6-831368888446}"/>
              </a:ext>
            </a:extLst>
          </p:cNvPr>
          <p:cNvGrpSpPr/>
          <p:nvPr/>
        </p:nvGrpSpPr>
        <p:grpSpPr>
          <a:xfrm>
            <a:off x="479425" y="461520"/>
            <a:ext cx="7050264" cy="584775"/>
            <a:chOff x="479425" y="461520"/>
            <a:chExt cx="7050264" cy="584775"/>
          </a:xfrm>
        </p:grpSpPr>
        <p:sp>
          <p:nvSpPr>
            <p:cNvPr id="4" name="Round Diagonal Corner Rectangle 3">
              <a:extLst>
                <a:ext uri="{FF2B5EF4-FFF2-40B4-BE49-F238E27FC236}">
                  <a16:creationId xmlns:a16="http://schemas.microsoft.com/office/drawing/2014/main" id="{85E7A303-8C7F-670B-0A80-598ED6948D70}"/>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E79A4A7F-81A1-A238-51EE-821E42BA2DD1}"/>
                </a:ext>
              </a:extLst>
            </p:cNvPr>
            <p:cNvSpPr txBox="1"/>
            <p:nvPr/>
          </p:nvSpPr>
          <p:spPr>
            <a:xfrm>
              <a:off x="536264" y="461520"/>
              <a:ext cx="6993425"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3. Role And Responsibility (Cont.)</a:t>
              </a:r>
            </a:p>
          </p:txBody>
        </p:sp>
      </p:grpSp>
      <p:graphicFrame>
        <p:nvGraphicFramePr>
          <p:cNvPr id="6" name="Table 5">
            <a:extLst>
              <a:ext uri="{FF2B5EF4-FFF2-40B4-BE49-F238E27FC236}">
                <a16:creationId xmlns:a16="http://schemas.microsoft.com/office/drawing/2014/main" id="{98F0A4F0-A5B6-716D-035B-F851F4557254}"/>
              </a:ext>
            </a:extLst>
          </p:cNvPr>
          <p:cNvGraphicFramePr>
            <a:graphicFrameLocks noGrp="1"/>
          </p:cNvGraphicFramePr>
          <p:nvPr>
            <p:extLst>
              <p:ext uri="{D42A27DB-BD31-4B8C-83A1-F6EECF244321}">
                <p14:modId xmlns:p14="http://schemas.microsoft.com/office/powerpoint/2010/main" val="517483931"/>
              </p:ext>
            </p:extLst>
          </p:nvPr>
        </p:nvGraphicFramePr>
        <p:xfrm>
          <a:off x="731416" y="1071919"/>
          <a:ext cx="10738095" cy="3051185"/>
        </p:xfrm>
        <a:graphic>
          <a:graphicData uri="http://schemas.openxmlformats.org/drawingml/2006/table">
            <a:tbl>
              <a:tblPr firstRow="1" bandRow="1"/>
              <a:tblGrid>
                <a:gridCol w="989338">
                  <a:extLst>
                    <a:ext uri="{9D8B030D-6E8A-4147-A177-3AD203B41FA5}">
                      <a16:colId xmlns:a16="http://schemas.microsoft.com/office/drawing/2014/main" val="4149973022"/>
                    </a:ext>
                  </a:extLst>
                </a:gridCol>
                <a:gridCol w="2196681">
                  <a:extLst>
                    <a:ext uri="{9D8B030D-6E8A-4147-A177-3AD203B41FA5}">
                      <a16:colId xmlns:a16="http://schemas.microsoft.com/office/drawing/2014/main" val="20001"/>
                    </a:ext>
                  </a:extLst>
                </a:gridCol>
                <a:gridCol w="7552076">
                  <a:extLst>
                    <a:ext uri="{9D8B030D-6E8A-4147-A177-3AD203B41FA5}">
                      <a16:colId xmlns:a16="http://schemas.microsoft.com/office/drawing/2014/main" val="20002"/>
                    </a:ext>
                  </a:extLst>
                </a:gridCol>
              </a:tblGrid>
              <a:tr h="339192">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marL="0" algn="ctr" defTabSz="914400" rtl="0" eaLnBrk="1" fontAlgn="b" latinLnBrk="0" hangingPunct="1"/>
                      <a:r>
                        <a:rPr lang="en-US" sz="1400" b="1" u="none" strike="noStrike" kern="1200" dirty="0">
                          <a:solidFill>
                            <a:schemeClr val="lt1"/>
                          </a:solidFill>
                          <a:effectLst/>
                          <a:latin typeface="+mn-lt"/>
                          <a:ea typeface="+mn-ea"/>
                          <a:cs typeface="+mn-cs"/>
                        </a:rPr>
                        <a:t>Name</a:t>
                      </a: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0B3C2"/>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fontAlgn="b"/>
                      <a:r>
                        <a:rPr lang="en-US" sz="1400" u="none" strike="noStrike" kern="1200" dirty="0">
                          <a:effectLst/>
                        </a:rPr>
                        <a:t>Role</a:t>
                      </a:r>
                      <a:endParaRPr lang="en-US" sz="1400" b="1"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0B3C2"/>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fontAlgn="b"/>
                      <a:r>
                        <a:rPr lang="en-US" sz="1400" u="none" strike="noStrike" kern="1200" dirty="0">
                          <a:effectLst/>
                        </a:rPr>
                        <a:t>Responsibility</a:t>
                      </a:r>
                      <a:endParaRPr lang="en-US" sz="1400" b="1"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0B3C2"/>
                    </a:solidFill>
                  </a:tcPr>
                </a:tc>
                <a:extLst>
                  <a:ext uri="{0D108BD9-81ED-4DB2-BD59-A6C34878D82A}">
                    <a16:rowId xmlns:a16="http://schemas.microsoft.com/office/drawing/2014/main" val="10000"/>
                  </a:ext>
                </a:extLst>
              </a:tr>
              <a:tr h="1205331">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91440" lvl="0" algn="l" defTabSz="914400" rtl="0" eaLnBrk="1" fontAlgn="t" latinLnBrk="0" hangingPunct="1"/>
                      <a:r>
                        <a:rPr lang="en-US" sz="1000" u="none" strike="noStrike" kern="1200">
                          <a:solidFill>
                            <a:schemeClr val="dk1"/>
                          </a:solidFill>
                          <a:effectLst/>
                          <a:latin typeface="Tahoma" panose="020B0604030504040204" pitchFamily="34" charset="0"/>
                          <a:ea typeface="Tahoma" panose="020B0604030504040204" pitchFamily="34" charset="0"/>
                          <a:cs typeface="Tahoma" panose="020B0604030504040204" pitchFamily="34" charset="0"/>
                        </a:rPr>
                        <a:t>ABC</a:t>
                      </a:r>
                      <a:endPar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111125" lvl="0" indent="0" algn="l"/>
                      <a:r>
                        <a:rPr lang="vi-VN"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Developer</a:t>
                      </a:r>
                    </a:p>
                    <a:p>
                      <a:pPr marL="111125" lvl="0" indent="0" algn="l"/>
                      <a:r>
                        <a:rPr lang="vi-VN"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(Dev)</a:t>
                      </a:r>
                      <a:endPar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Performing the work of the assessment phase</a:t>
                      </a:r>
                    </a:p>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Coding, unit testing and give the commitment for quality and task completion</a:t>
                      </a:r>
                    </a:p>
                  </a:txBody>
                  <a:tcPr marL="85725" marR="0" marT="0" marB="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069285"/>
                  </a:ext>
                </a:extLst>
              </a:tr>
              <a:tr h="753331">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91440" lvl="0" algn="l" defTabSz="914400" rtl="0" eaLnBrk="1" fontAlgn="t" latinLnBrk="0" hangingPunct="1"/>
                      <a:r>
                        <a:rPr lang="en-US" sz="1000" u="none" strike="noStrike" kern="1200">
                          <a:solidFill>
                            <a:schemeClr val="dk1"/>
                          </a:solidFill>
                          <a:effectLst/>
                          <a:latin typeface="Tahoma" panose="020B0604030504040204" pitchFamily="34" charset="0"/>
                          <a:ea typeface="Tahoma" panose="020B0604030504040204" pitchFamily="34" charset="0"/>
                          <a:cs typeface="Tahoma" panose="020B0604030504040204" pitchFamily="34" charset="0"/>
                        </a:rPr>
                        <a:t>ABC</a:t>
                      </a:r>
                      <a:endPar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111125" lvl="0" indent="0" algn="l"/>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Tester/QA</a:t>
                      </a: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Performing the work of IT (Integration Test) and ST (System Test) including Test View-Point, Test Scenarios, Test Plan, Test Case, Test Result</a:t>
                      </a:r>
                    </a:p>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rPr>
                        <a:t>Commitment for quality and task completion</a:t>
                      </a:r>
                    </a:p>
                  </a:txBody>
                  <a:tcPr marL="85725" marR="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extLst>
                  <a:ext uri="{0D108BD9-81ED-4DB2-BD59-A6C34878D82A}">
                    <a16:rowId xmlns:a16="http://schemas.microsoft.com/office/drawing/2014/main" val="2850772041"/>
                  </a:ext>
                </a:extLst>
              </a:tr>
              <a:tr h="753331">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91440" lvl="0" algn="l" defTabSz="914400" rtl="0" eaLnBrk="1" fontAlgn="t" latinLnBrk="0" hangingPunct="1"/>
                      <a:r>
                        <a:rPr lang="en-US" sz="1000" u="none" strike="noStrike" kern="1200">
                          <a:solidFill>
                            <a:schemeClr val="dk1"/>
                          </a:solidFill>
                          <a:effectLst/>
                          <a:latin typeface="Tahoma" panose="020B0604030504040204" pitchFamily="34" charset="0"/>
                          <a:ea typeface="Tahoma" panose="020B0604030504040204" pitchFamily="34" charset="0"/>
                          <a:cs typeface="Tahoma" panose="020B0604030504040204" pitchFamily="34" charset="0"/>
                        </a:rPr>
                        <a:t>ABC</a:t>
                      </a:r>
                      <a:endPar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111125" lvl="0" indent="0" algn="l"/>
                      <a:r>
                        <a:rPr lang="vi-VN" sz="1000" u="none" strike="noStrike" kern="1200" dirty="0">
                          <a:effectLst/>
                          <a:latin typeface="Tahoma" panose="020B0604030504040204" pitchFamily="34" charset="0"/>
                          <a:ea typeface="Tahoma" panose="020B0604030504040204" pitchFamily="34" charset="0"/>
                          <a:cs typeface="Tahoma" panose="020B0604030504040204" pitchFamily="34" charset="0"/>
                        </a:rPr>
                        <a:t>Quality</a:t>
                      </a:r>
                      <a:r>
                        <a:rPr lang="en-US" sz="1000" u="none" strike="noStrike" kern="1200" baseline="0" dirty="0">
                          <a:effectLst/>
                          <a:latin typeface="Tahoma" panose="020B0604030504040204" pitchFamily="34" charset="0"/>
                          <a:ea typeface="Tahoma" panose="020B0604030504040204" pitchFamily="34" charset="0"/>
                          <a:cs typeface="Tahoma" panose="020B0604030504040204" pitchFamily="34" charset="0"/>
                        </a:rPr>
                        <a:t> Control</a:t>
                      </a:r>
                      <a:endPar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262890" marR="0" lvl="0" indent="-1714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vi-VN" sz="1000" u="none" strike="noStrike" kern="1200" dirty="0">
                          <a:effectLst/>
                          <a:latin typeface="Tahoma" panose="020B0604030504040204" pitchFamily="34" charset="0"/>
                          <a:ea typeface="Tahoma" panose="020B0604030504040204" pitchFamily="34" charset="0"/>
                          <a:cs typeface="Tahoma" panose="020B0604030504040204" pitchFamily="34" charset="0"/>
                        </a:rPr>
                        <a:t>Follow </a:t>
                      </a:r>
                      <a:r>
                        <a:rPr lang="en-US" sz="1000" u="none" strike="noStrike" kern="1200" dirty="0">
                          <a:effectLst/>
                          <a:latin typeface="Tahoma" panose="020B0604030504040204" pitchFamily="34" charset="0"/>
                          <a:ea typeface="Tahoma" panose="020B0604030504040204" pitchFamily="34" charset="0"/>
                          <a:cs typeface="Tahoma" panose="020B0604030504040204" pitchFamily="34" charset="0"/>
                        </a:rPr>
                        <a:t>and control project process</a:t>
                      </a:r>
                      <a:endParaRPr lang="en-US" sz="1000" u="none" strike="noStrike" kern="1200" dirty="0">
                        <a:solidFill>
                          <a:schemeClr val="dk1"/>
                        </a:solidFill>
                        <a:effectLst/>
                        <a:latin typeface="Tahoma" panose="020B0604030504040204" pitchFamily="34" charset="0"/>
                        <a:ea typeface="Tahoma" panose="020B0604030504040204" pitchFamily="34" charset="0"/>
                        <a:cs typeface="Tahoma" panose="020B0604030504040204" pitchFamily="34" charset="0"/>
                      </a:endParaRPr>
                    </a:p>
                  </a:txBody>
                  <a:tcPr marL="85725" marR="0" marT="0" marB="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31841975"/>
                  </a:ext>
                </a:extLst>
              </a:tr>
            </a:tbl>
          </a:graphicData>
        </a:graphic>
      </p:graphicFrame>
    </p:spTree>
    <p:extLst>
      <p:ext uri="{BB962C8B-B14F-4D97-AF65-F5344CB8AC3E}">
        <p14:creationId xmlns:p14="http://schemas.microsoft.com/office/powerpoint/2010/main" val="15814732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Google Shape;13;p40">
            <a:extLst>
              <a:ext uri="{FF2B5EF4-FFF2-40B4-BE49-F238E27FC236}">
                <a16:creationId xmlns:a16="http://schemas.microsoft.com/office/drawing/2014/main" id="{0085BD5E-38E2-95A9-B2E9-8E5283548787}"/>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7</a:t>
            </a:fld>
            <a:endParaRPr lang="en-US" dirty="0">
              <a:solidFill>
                <a:srgbClr val="034EA2"/>
              </a:solidFill>
            </a:endParaRPr>
          </a:p>
        </p:txBody>
      </p:sp>
      <p:grpSp>
        <p:nvGrpSpPr>
          <p:cNvPr id="2" name="Group 1">
            <a:extLst>
              <a:ext uri="{FF2B5EF4-FFF2-40B4-BE49-F238E27FC236}">
                <a16:creationId xmlns:a16="http://schemas.microsoft.com/office/drawing/2014/main" id="{82410443-7D2C-76B1-7D77-BD0B886B3A50}"/>
              </a:ext>
            </a:extLst>
          </p:cNvPr>
          <p:cNvGrpSpPr/>
          <p:nvPr/>
        </p:nvGrpSpPr>
        <p:grpSpPr>
          <a:xfrm>
            <a:off x="479425" y="461520"/>
            <a:ext cx="4765906" cy="584775"/>
            <a:chOff x="479425" y="461520"/>
            <a:chExt cx="4765906" cy="584775"/>
          </a:xfrm>
        </p:grpSpPr>
        <p:sp>
          <p:nvSpPr>
            <p:cNvPr id="4" name="Round Diagonal Corner Rectangle 3">
              <a:extLst>
                <a:ext uri="{FF2B5EF4-FFF2-40B4-BE49-F238E27FC236}">
                  <a16:creationId xmlns:a16="http://schemas.microsoft.com/office/drawing/2014/main" id="{243D8A32-9ED8-9FFE-0B84-391557048EFD}"/>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D5E8C63D-722C-7DA4-F598-DD6E00EF6B15}"/>
                </a:ext>
              </a:extLst>
            </p:cNvPr>
            <p:cNvSpPr txBox="1"/>
            <p:nvPr/>
          </p:nvSpPr>
          <p:spPr>
            <a:xfrm>
              <a:off x="536265" y="461520"/>
              <a:ext cx="4709066"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4. Master Schedule</a:t>
              </a:r>
            </a:p>
          </p:txBody>
        </p:sp>
      </p:grpSp>
      <p:pic>
        <p:nvPicPr>
          <p:cNvPr id="6" name="Picture 5">
            <a:extLst>
              <a:ext uri="{FF2B5EF4-FFF2-40B4-BE49-F238E27FC236}">
                <a16:creationId xmlns:a16="http://schemas.microsoft.com/office/drawing/2014/main" id="{9B3B8C49-455B-89C8-4280-62D0B90C8710}"/>
              </a:ext>
            </a:extLst>
          </p:cNvPr>
          <p:cNvPicPr>
            <a:picLocks noChangeAspect="1"/>
          </p:cNvPicPr>
          <p:nvPr/>
        </p:nvPicPr>
        <p:blipFill>
          <a:blip r:embed="rId2"/>
          <a:stretch>
            <a:fillRect/>
          </a:stretch>
        </p:blipFill>
        <p:spPr>
          <a:xfrm>
            <a:off x="911819" y="1054892"/>
            <a:ext cx="10368361" cy="4928839"/>
          </a:xfrm>
          <a:prstGeom prst="rect">
            <a:avLst/>
          </a:prstGeom>
        </p:spPr>
      </p:pic>
    </p:spTree>
    <p:extLst>
      <p:ext uri="{BB962C8B-B14F-4D97-AF65-F5344CB8AC3E}">
        <p14:creationId xmlns:p14="http://schemas.microsoft.com/office/powerpoint/2010/main" val="28712624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5" name="Table 25">
            <a:extLst>
              <a:ext uri="{FF2B5EF4-FFF2-40B4-BE49-F238E27FC236}">
                <a16:creationId xmlns:a16="http://schemas.microsoft.com/office/drawing/2014/main" id="{589534CE-BD96-93DE-12A9-12477BDE0F57}"/>
              </a:ext>
            </a:extLst>
          </p:cNvPr>
          <p:cNvGraphicFramePr>
            <a:graphicFrameLocks noGrp="1"/>
          </p:cNvGraphicFramePr>
          <p:nvPr>
            <p:extLst>
              <p:ext uri="{D42A27DB-BD31-4B8C-83A1-F6EECF244321}">
                <p14:modId xmlns:p14="http://schemas.microsoft.com/office/powerpoint/2010/main" val="2020281896"/>
              </p:ext>
            </p:extLst>
          </p:nvPr>
        </p:nvGraphicFramePr>
        <p:xfrm>
          <a:off x="479423" y="3659595"/>
          <a:ext cx="11233152" cy="1036320"/>
        </p:xfrm>
        <a:graphic>
          <a:graphicData uri="http://schemas.openxmlformats.org/drawingml/2006/table">
            <a:tbl>
              <a:tblPr firstRow="1" bandRow="1">
                <a:tableStyleId>{5C22544A-7EE6-4342-B048-85BDC9FD1C3A}</a:tableStyleId>
              </a:tblPr>
              <a:tblGrid>
                <a:gridCol w="2808288">
                  <a:extLst>
                    <a:ext uri="{9D8B030D-6E8A-4147-A177-3AD203B41FA5}">
                      <a16:colId xmlns:a16="http://schemas.microsoft.com/office/drawing/2014/main" val="2125662454"/>
                    </a:ext>
                  </a:extLst>
                </a:gridCol>
                <a:gridCol w="2808288">
                  <a:extLst>
                    <a:ext uri="{9D8B030D-6E8A-4147-A177-3AD203B41FA5}">
                      <a16:colId xmlns:a16="http://schemas.microsoft.com/office/drawing/2014/main" val="2616651855"/>
                    </a:ext>
                  </a:extLst>
                </a:gridCol>
                <a:gridCol w="2808288">
                  <a:extLst>
                    <a:ext uri="{9D8B030D-6E8A-4147-A177-3AD203B41FA5}">
                      <a16:colId xmlns:a16="http://schemas.microsoft.com/office/drawing/2014/main" val="1994359964"/>
                    </a:ext>
                  </a:extLst>
                </a:gridCol>
                <a:gridCol w="2808288">
                  <a:extLst>
                    <a:ext uri="{9D8B030D-6E8A-4147-A177-3AD203B41FA5}">
                      <a16:colId xmlns:a16="http://schemas.microsoft.com/office/drawing/2014/main" val="3802949461"/>
                    </a:ext>
                  </a:extLst>
                </a:gridCol>
              </a:tblGrid>
              <a:tr h="361237">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mn-cs"/>
                          <a:sym typeface="Arial"/>
                        </a:rPr>
                        <a:t>100% of User Stories/Use Cases have been completed, including coding, testing, bug/defect fixing, and committed source code, as committed in the Sprint backlog.</a:t>
                      </a:r>
                      <a:endParaRPr lang="en-VN" sz="1000" b="0" i="0" u="none" strike="noStrike"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mn-cs"/>
                        <a:sym typeface="Arial"/>
                      </a:endParaRPr>
                    </a:p>
                    <a:p>
                      <a:pPr algn="l"/>
                      <a:endParaRPr lang="en-US" sz="1000" b="0" i="0" dirty="0">
                        <a:solidFill>
                          <a:schemeClr val="tx1">
                            <a:lumMod val="85000"/>
                            <a:lumOff val="15000"/>
                          </a:schemeClr>
                        </a:solidFill>
                        <a:latin typeface="Segoe UI Symbol" panose="020B0502040204020203" pitchFamily="34" charset="0"/>
                        <a:ea typeface="Segoe UI Symbol" panose="020B0502040204020203" pitchFamily="34" charset="0"/>
                      </a:endParaRPr>
                    </a:p>
                  </a:txBody>
                  <a:tcPr marL="137160" marR="137160" marT="137160" marB="137160">
                    <a:lnL w="6350" cap="flat" cmpd="sng" algn="ctr">
                      <a:solidFill>
                        <a:schemeClr val="bg1"/>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mn-cs"/>
                          <a:sym typeface="Arial"/>
                        </a:rPr>
                        <a:t>User stories must be approved by the Product Owner prior to the sprint grooming.</a:t>
                      </a:r>
                      <a:endParaRPr lang="en-VN" sz="1000" b="0" i="0" u="none" strike="noStrike"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mn-cs"/>
                        <a:sym typeface="Arial"/>
                      </a:endParaRPr>
                    </a:p>
                    <a:p>
                      <a:pPr algn="l"/>
                      <a:endParaRPr lang="en-US" sz="1000" b="0" i="0" dirty="0">
                        <a:solidFill>
                          <a:schemeClr val="tx1">
                            <a:lumMod val="85000"/>
                            <a:lumOff val="15000"/>
                          </a:schemeClr>
                        </a:solidFill>
                        <a:latin typeface="Segoe UI Symbol" panose="020B0502040204020203" pitchFamily="34" charset="0"/>
                        <a:ea typeface="Segoe UI Symbol" panose="020B0502040204020203" pitchFamily="34" charset="0"/>
                      </a:endParaRPr>
                    </a:p>
                  </a:txBody>
                  <a:tcPr marL="137160" marR="137160" marT="137160" marB="137160">
                    <a:lnL w="6350" cap="flat" cmpd="sng" algn="ctr">
                      <a:solidFill>
                        <a:srgbClr val="32B2C2"/>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l"/>
                      <a:r>
                        <a:rPr lang="en-US" sz="1000" b="0" i="0" u="none" strike="noStrike"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mn-cs"/>
                          <a:sym typeface="Arial"/>
                        </a:rPr>
                        <a:t>There are no showstopper or blocker defects. </a:t>
                      </a:r>
                      <a:endParaRPr lang="en-US" sz="1000" b="0" i="0" dirty="0">
                        <a:solidFill>
                          <a:schemeClr val="tx1">
                            <a:lumMod val="85000"/>
                            <a:lumOff val="15000"/>
                          </a:schemeClr>
                        </a:solidFill>
                        <a:latin typeface="Segoe UI Symbol" panose="020B0502040204020203" pitchFamily="34" charset="0"/>
                        <a:ea typeface="Segoe UI Symbol" panose="020B0502040204020203" pitchFamily="34" charset="0"/>
                      </a:endParaRPr>
                    </a:p>
                  </a:txBody>
                  <a:tcPr marL="137160" marR="137160" marT="137160" marB="137160">
                    <a:lnL w="6350" cap="flat" cmpd="sng" algn="ctr">
                      <a:solidFill>
                        <a:srgbClr val="32B2C2"/>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mn-cs"/>
                          <a:sym typeface="Arial"/>
                        </a:rPr>
                        <a:t>The Product Owner is responsible for providing sign-off for each sprint.</a:t>
                      </a:r>
                      <a:endParaRPr lang="en-VN" sz="1000" b="0" i="0" u="none" strike="noStrike"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mn-cs"/>
                        <a:sym typeface="Arial"/>
                      </a:endParaRPr>
                    </a:p>
                    <a:p>
                      <a:pPr algn="l"/>
                      <a:endParaRPr lang="en-US" sz="1000" b="0" i="0" dirty="0">
                        <a:solidFill>
                          <a:schemeClr val="tx1">
                            <a:lumMod val="85000"/>
                            <a:lumOff val="15000"/>
                          </a:schemeClr>
                        </a:solidFill>
                        <a:latin typeface="Segoe UI Symbol" panose="020B0502040204020203" pitchFamily="34" charset="0"/>
                        <a:ea typeface="Segoe UI Symbol" panose="020B0502040204020203" pitchFamily="34" charset="0"/>
                      </a:endParaRPr>
                    </a:p>
                  </a:txBody>
                  <a:tcPr marL="137160" marR="137160" marT="137160" marB="137160">
                    <a:lnL w="6350" cap="flat" cmpd="sng" algn="ctr">
                      <a:solidFill>
                        <a:srgbClr val="32B2C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37491705"/>
                  </a:ext>
                </a:extLst>
              </a:tr>
            </a:tbl>
          </a:graphicData>
        </a:graphic>
      </p:graphicFrame>
      <p:sp>
        <p:nvSpPr>
          <p:cNvPr id="22" name="TextBox 21">
            <a:extLst>
              <a:ext uri="{FF2B5EF4-FFF2-40B4-BE49-F238E27FC236}">
                <a16:creationId xmlns:a16="http://schemas.microsoft.com/office/drawing/2014/main" id="{2D208AFA-4C98-89C5-626D-6AAD1D482CAC}"/>
              </a:ext>
            </a:extLst>
          </p:cNvPr>
          <p:cNvSpPr txBox="1"/>
          <p:nvPr/>
        </p:nvSpPr>
        <p:spPr>
          <a:xfrm>
            <a:off x="479423" y="2979018"/>
            <a:ext cx="6988484" cy="246221"/>
          </a:xfrm>
          <a:prstGeom prst="rect">
            <a:avLst/>
          </a:prstGeom>
          <a:noFill/>
        </p:spPr>
        <p:txBody>
          <a:bodyPr wrap="square" rtlCol="0">
            <a:spAutoFit/>
          </a:bodyPr>
          <a:lstStyle/>
          <a:p>
            <a:r>
              <a:rPr lang="en-US" sz="1000" dirty="0">
                <a:solidFill>
                  <a:schemeClr val="tx1">
                    <a:lumMod val="85000"/>
                    <a:lumOff val="15000"/>
                  </a:schemeClr>
                </a:solidFill>
                <a:latin typeface="Segoe UI Symbol" panose="020B0502040204020203" pitchFamily="34" charset="0"/>
                <a:ea typeface="Segoe UI Symbol" panose="020B0502040204020203" pitchFamily="34" charset="0"/>
                <a:cs typeface="Times New Roman" panose="02020603050405020304" pitchFamily="18" charset="0"/>
              </a:rPr>
              <a:t>LG CNS </a:t>
            </a:r>
            <a:r>
              <a:rPr lang="en-US" sz="1000" dirty="0">
                <a:solidFill>
                  <a:schemeClr val="tx1">
                    <a:lumMod val="85000"/>
                    <a:lumOff val="15000"/>
                  </a:schemeClr>
                </a:solidFill>
                <a:effectLst/>
                <a:latin typeface="Segoe UI Symbol" panose="020B0502040204020203" pitchFamily="34" charset="0"/>
                <a:ea typeface="Segoe UI Symbol" panose="020B0502040204020203" pitchFamily="34" charset="0"/>
                <a:cs typeface="Times New Roman" panose="02020603050405020304" pitchFamily="18" charset="0"/>
              </a:rPr>
              <a:t>and FPT will apply the following criteria to determine whether deliverables are accepted or not</a:t>
            </a:r>
            <a:endParaRPr lang="en-VN" sz="1000" dirty="0">
              <a:solidFill>
                <a:schemeClr val="bg1">
                  <a:lumMod val="50000"/>
                </a:schemeClr>
              </a:solidFill>
              <a:effectLst/>
              <a:highlight>
                <a:srgbClr val="FFFF00"/>
              </a:highlight>
              <a:latin typeface="Segoe UI Symbol" panose="020B0502040204020203" pitchFamily="34" charset="0"/>
              <a:ea typeface="Segoe UI Symbol" panose="020B0502040204020203" pitchFamily="34" charset="0"/>
              <a:cs typeface="Times New Roman" panose="02020603050405020304" pitchFamily="18" charset="0"/>
            </a:endParaRPr>
          </a:p>
        </p:txBody>
      </p:sp>
      <p:sp>
        <p:nvSpPr>
          <p:cNvPr id="23" name="TextBox 22">
            <a:extLst>
              <a:ext uri="{FF2B5EF4-FFF2-40B4-BE49-F238E27FC236}">
                <a16:creationId xmlns:a16="http://schemas.microsoft.com/office/drawing/2014/main" id="{7C925C48-D7B3-14BB-E236-48ACD12D4D4D}"/>
              </a:ext>
            </a:extLst>
          </p:cNvPr>
          <p:cNvSpPr txBox="1"/>
          <p:nvPr/>
        </p:nvSpPr>
        <p:spPr>
          <a:xfrm>
            <a:off x="479423" y="3274656"/>
            <a:ext cx="3094805" cy="389513"/>
          </a:xfrm>
          <a:prstGeom prst="round2DiagRect">
            <a:avLst>
              <a:gd name="adj1" fmla="val 50000"/>
              <a:gd name="adj2" fmla="val 0"/>
            </a:avLst>
          </a:prstGeom>
          <a:gradFill>
            <a:gsLst>
              <a:gs pos="100000">
                <a:srgbClr val="32B2C2"/>
              </a:gs>
              <a:gs pos="0">
                <a:srgbClr val="034EA2"/>
              </a:gs>
            </a:gsLst>
            <a:lin ang="2160000" scaled="0"/>
          </a:gradFill>
        </p:spPr>
        <p:txBody>
          <a:bodyPr wrap="square" rtlCol="0">
            <a:spAutoFit/>
          </a:bodyPr>
          <a:lstStyle>
            <a:defPPr marR="0" lvl="0" algn="l" rtl="0">
              <a:lnSpc>
                <a:spcPct val="100000"/>
              </a:lnSpc>
              <a:spcBef>
                <a:spcPts val="0"/>
              </a:spcBef>
              <a:spcAft>
                <a:spcPts val="0"/>
              </a:spcAft>
              <a:defRPr/>
            </a:defPPr>
            <a:lvl1pPr marL="0" indent="0">
              <a:buFont typeface="Arial" panose="020B0604020202020204" pitchFamily="34" charset="0"/>
              <a:buNone/>
              <a:defRPr sz="1200" b="1">
                <a:solidFill>
                  <a:srgbClr val="1C1C1C"/>
                </a:solidFill>
                <a:effectLst/>
                <a:latin typeface="BR Omega VN" pitchFamily="2" charset="77"/>
                <a:ea typeface="Times New Roman" panose="02020603050405020304" pitchFamily="18" charset="0"/>
                <a:cs typeface="Times New Roman" panose="02020603050405020304" pitchFamily="18" charset="0"/>
              </a:defRPr>
            </a:lvl1pPr>
          </a:lstStyle>
          <a:p>
            <a:pPr algn="ctr"/>
            <a:r>
              <a:rPr lang="en-US" b="1" dirty="0">
                <a:solidFill>
                  <a:schemeClr val="bg1"/>
                </a:solidFill>
                <a:latin typeface="Segoe UI" panose="020B0502040204020203" pitchFamily="34" charset="0"/>
                <a:cs typeface="Segoe UI" panose="020B0502040204020203" pitchFamily="34" charset="0"/>
              </a:rPr>
              <a:t>Sprint Acceptance Criteria</a:t>
            </a:r>
            <a:endParaRPr lang="en-VN" dirty="0">
              <a:solidFill>
                <a:schemeClr val="bg1"/>
              </a:solidFill>
              <a:latin typeface="BR Omega" pitchFamily="2" charset="77"/>
            </a:endParaRPr>
          </a:p>
        </p:txBody>
      </p:sp>
      <p:sp>
        <p:nvSpPr>
          <p:cNvPr id="24" name="TextBox 23">
            <a:extLst>
              <a:ext uri="{FF2B5EF4-FFF2-40B4-BE49-F238E27FC236}">
                <a16:creationId xmlns:a16="http://schemas.microsoft.com/office/drawing/2014/main" id="{17170852-DA80-A76D-586F-5DCE14EDB0C0}"/>
              </a:ext>
            </a:extLst>
          </p:cNvPr>
          <p:cNvSpPr txBox="1"/>
          <p:nvPr/>
        </p:nvSpPr>
        <p:spPr>
          <a:xfrm>
            <a:off x="479424" y="4706044"/>
            <a:ext cx="3094805" cy="389513"/>
          </a:xfrm>
          <a:prstGeom prst="round2DiagRect">
            <a:avLst>
              <a:gd name="adj1" fmla="val 50000"/>
              <a:gd name="adj2" fmla="val 0"/>
            </a:avLst>
          </a:prstGeom>
          <a:gradFill>
            <a:gsLst>
              <a:gs pos="100000">
                <a:srgbClr val="32B2C2"/>
              </a:gs>
              <a:gs pos="0">
                <a:srgbClr val="034EA2"/>
              </a:gs>
            </a:gsLst>
            <a:lin ang="2160000" scaled="0"/>
          </a:gradFill>
        </p:spPr>
        <p:txBody>
          <a:bodyPr wrap="square" rtlCol="0">
            <a:spAutoFit/>
          </a:bodyPr>
          <a:lstStyle>
            <a:defPPr marR="0" lvl="0" algn="l" rtl="0">
              <a:lnSpc>
                <a:spcPct val="100000"/>
              </a:lnSpc>
              <a:spcBef>
                <a:spcPts val="0"/>
              </a:spcBef>
              <a:spcAft>
                <a:spcPts val="0"/>
              </a:spcAft>
              <a:defRPr/>
            </a:defPPr>
            <a:lvl1pPr marL="0" indent="0">
              <a:buFont typeface="Arial" panose="020B0604020202020204" pitchFamily="34" charset="0"/>
              <a:buNone/>
              <a:defRPr sz="1200" b="1">
                <a:solidFill>
                  <a:srgbClr val="1C1C1C"/>
                </a:solidFill>
                <a:effectLst/>
                <a:latin typeface="BR Omega VN" pitchFamily="2" charset="77"/>
                <a:ea typeface="Times New Roman" panose="02020603050405020304" pitchFamily="18" charset="0"/>
                <a:cs typeface="Times New Roman" panose="02020603050405020304" pitchFamily="18" charset="0"/>
              </a:defRPr>
            </a:lvl1pPr>
          </a:lstStyle>
          <a:p>
            <a:pPr algn="ctr"/>
            <a:r>
              <a:rPr lang="en-US" b="1" dirty="0">
                <a:solidFill>
                  <a:schemeClr val="bg1"/>
                </a:solidFill>
                <a:latin typeface="Segoe UI" panose="020B0502040204020203" pitchFamily="34" charset="0"/>
                <a:cs typeface="Segoe UI" panose="020B0502040204020203" pitchFamily="34" charset="0"/>
              </a:rPr>
              <a:t>Project Acceptance Criteria</a:t>
            </a:r>
            <a:endParaRPr lang="en-VN" dirty="0">
              <a:solidFill>
                <a:schemeClr val="bg1"/>
              </a:solidFill>
              <a:latin typeface="BR Omega" pitchFamily="2" charset="77"/>
            </a:endParaRPr>
          </a:p>
        </p:txBody>
      </p:sp>
      <p:graphicFrame>
        <p:nvGraphicFramePr>
          <p:cNvPr id="26" name="Table 25">
            <a:extLst>
              <a:ext uri="{FF2B5EF4-FFF2-40B4-BE49-F238E27FC236}">
                <a16:creationId xmlns:a16="http://schemas.microsoft.com/office/drawing/2014/main" id="{7E6E4CDA-149D-3C42-79B4-78B5C9E9D86A}"/>
              </a:ext>
            </a:extLst>
          </p:cNvPr>
          <p:cNvGraphicFramePr>
            <a:graphicFrameLocks noGrp="1"/>
          </p:cNvGraphicFramePr>
          <p:nvPr>
            <p:extLst>
              <p:ext uri="{D42A27DB-BD31-4B8C-83A1-F6EECF244321}">
                <p14:modId xmlns:p14="http://schemas.microsoft.com/office/powerpoint/2010/main" val="2348846108"/>
              </p:ext>
            </p:extLst>
          </p:nvPr>
        </p:nvGraphicFramePr>
        <p:xfrm>
          <a:off x="479423" y="5133021"/>
          <a:ext cx="11233152" cy="1341120"/>
        </p:xfrm>
        <a:graphic>
          <a:graphicData uri="http://schemas.openxmlformats.org/drawingml/2006/table">
            <a:tbl>
              <a:tblPr firstRow="1" bandRow="1">
                <a:tableStyleId>{5C22544A-7EE6-4342-B048-85BDC9FD1C3A}</a:tableStyleId>
              </a:tblPr>
              <a:tblGrid>
                <a:gridCol w="2808288">
                  <a:extLst>
                    <a:ext uri="{9D8B030D-6E8A-4147-A177-3AD203B41FA5}">
                      <a16:colId xmlns:a16="http://schemas.microsoft.com/office/drawing/2014/main" val="2125662454"/>
                    </a:ext>
                  </a:extLst>
                </a:gridCol>
                <a:gridCol w="2808288">
                  <a:extLst>
                    <a:ext uri="{9D8B030D-6E8A-4147-A177-3AD203B41FA5}">
                      <a16:colId xmlns:a16="http://schemas.microsoft.com/office/drawing/2014/main" val="2616651855"/>
                    </a:ext>
                  </a:extLst>
                </a:gridCol>
                <a:gridCol w="2808288">
                  <a:extLst>
                    <a:ext uri="{9D8B030D-6E8A-4147-A177-3AD203B41FA5}">
                      <a16:colId xmlns:a16="http://schemas.microsoft.com/office/drawing/2014/main" val="1994359964"/>
                    </a:ext>
                  </a:extLst>
                </a:gridCol>
                <a:gridCol w="2808288">
                  <a:extLst>
                    <a:ext uri="{9D8B030D-6E8A-4147-A177-3AD203B41FA5}">
                      <a16:colId xmlns:a16="http://schemas.microsoft.com/office/drawing/2014/main" val="3802949461"/>
                    </a:ext>
                  </a:extLst>
                </a:gridCol>
              </a:tblGrid>
              <a:tr h="495307">
                <a:tc>
                  <a:txBody>
                    <a:bodyPr/>
                    <a:lstStyle/>
                    <a:p>
                      <a:pPr lvl="0"/>
                      <a:r>
                        <a:rPr lang="en-US" sz="1000" b="0" i="0" u="none" strike="noStrike"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mn-cs"/>
                          <a:sym typeface="Arial"/>
                        </a:rPr>
                        <a:t>All requirements and deliverables have been formally verified and approved. • 100% of User Stories/Use Cases have been completed, including coding, testing, bug/defect fixing, and committed source code.</a:t>
                      </a:r>
                      <a:endParaRPr lang="en-VN" sz="1000" b="0" i="0" u="none" strike="noStrike"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mn-cs"/>
                        <a:sym typeface="Arial"/>
                      </a:endParaRPr>
                    </a:p>
                    <a:p>
                      <a:pPr algn="l"/>
                      <a:endParaRPr lang="en-US" sz="1000" b="0" i="0" dirty="0">
                        <a:solidFill>
                          <a:schemeClr val="tx1">
                            <a:lumMod val="85000"/>
                            <a:lumOff val="15000"/>
                          </a:schemeClr>
                        </a:solidFill>
                        <a:latin typeface="Segoe UI Symbol" panose="020B0502040204020203" pitchFamily="34" charset="0"/>
                        <a:ea typeface="Segoe UI Symbol" panose="020B0502040204020203" pitchFamily="34" charset="0"/>
                      </a:endParaRPr>
                    </a:p>
                  </a:txBody>
                  <a:tcPr marL="137160" marR="137160" marT="137160" marB="137160">
                    <a:lnL w="6350" cap="flat" cmpd="sng" algn="ctr">
                      <a:solidFill>
                        <a:schemeClr val="bg1"/>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lvl="0"/>
                      <a:r>
                        <a:rPr lang="en-US" sz="1000" b="0" i="0" u="none" strike="noStrike"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mn-cs"/>
                          <a:sym typeface="Arial"/>
                        </a:rPr>
                        <a:t>There are no showstopper or blocker defects.</a:t>
                      </a:r>
                      <a:endParaRPr lang="en-VN" sz="1000" b="0" i="0" u="none" strike="noStrike"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mn-cs"/>
                        <a:sym typeface="Arial"/>
                      </a:endParaRPr>
                    </a:p>
                    <a:p>
                      <a:pPr algn="l"/>
                      <a:endParaRPr lang="en-US" sz="1000" b="0" i="0" dirty="0">
                        <a:solidFill>
                          <a:schemeClr val="tx1">
                            <a:lumMod val="85000"/>
                            <a:lumOff val="15000"/>
                          </a:schemeClr>
                        </a:solidFill>
                        <a:latin typeface="Segoe UI Symbol" panose="020B0502040204020203" pitchFamily="34" charset="0"/>
                        <a:ea typeface="Segoe UI Symbol" panose="020B0502040204020203" pitchFamily="34" charset="0"/>
                      </a:endParaRPr>
                    </a:p>
                  </a:txBody>
                  <a:tcPr marL="137160" marR="137160" marT="137160" marB="137160">
                    <a:lnL w="6350" cap="flat" cmpd="sng" algn="ctr">
                      <a:solidFill>
                        <a:srgbClr val="32B2C2"/>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lvl="0"/>
                      <a:r>
                        <a:rPr lang="en-US" sz="1000" b="0" i="0" u="none" strike="noStrike"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mn-cs"/>
                          <a:sym typeface="Arial"/>
                        </a:rPr>
                        <a:t>User Acceptance Testing (UAT) has been completed and signed off by the designated team from LG CNS</a:t>
                      </a:r>
                      <a:endParaRPr lang="en-VN" sz="1000" b="0" i="0" u="none" strike="noStrike" cap="none" dirty="0">
                        <a:solidFill>
                          <a:schemeClr val="tx1">
                            <a:lumMod val="85000"/>
                            <a:lumOff val="15000"/>
                          </a:schemeClr>
                        </a:solidFill>
                        <a:effectLst/>
                        <a:highlight>
                          <a:srgbClr val="FFFF00"/>
                        </a:highlight>
                        <a:latin typeface="Segoe UI Symbol" panose="020B0502040204020203" pitchFamily="34" charset="0"/>
                        <a:ea typeface="Segoe UI Symbol" panose="020B0502040204020203" pitchFamily="34" charset="0"/>
                        <a:cs typeface="+mn-cs"/>
                        <a:sym typeface="Arial"/>
                      </a:endParaRPr>
                    </a:p>
                  </a:txBody>
                  <a:tcPr marL="137160" marR="137160" marT="137160" marB="137160">
                    <a:lnL w="6350" cap="flat" cmpd="sng" algn="ctr">
                      <a:solidFill>
                        <a:srgbClr val="32B2C2"/>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000" b="0" i="0" u="none" strike="noStrike"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mn-cs"/>
                          <a:sym typeface="Arial"/>
                        </a:rPr>
                        <a:t>The UAT test cases provided by the client will serve as the basis for acceptance.</a:t>
                      </a:r>
                      <a:r>
                        <a:rPr lang="en-VN" sz="1000" b="0" i="0" dirty="0">
                          <a:solidFill>
                            <a:schemeClr val="tx1">
                              <a:lumMod val="85000"/>
                              <a:lumOff val="15000"/>
                            </a:schemeClr>
                          </a:solidFill>
                          <a:effectLst/>
                          <a:latin typeface="Segoe UI Symbol" panose="020B0502040204020203" pitchFamily="34" charset="0"/>
                          <a:ea typeface="Segoe UI Symbol" panose="020B0502040204020203" pitchFamily="34" charset="0"/>
                        </a:rPr>
                        <a:t> </a:t>
                      </a:r>
                      <a:endParaRPr lang="en-US" sz="1000" b="0" i="0" dirty="0">
                        <a:solidFill>
                          <a:schemeClr val="tx1">
                            <a:lumMod val="85000"/>
                            <a:lumOff val="15000"/>
                          </a:schemeClr>
                        </a:solidFill>
                        <a:latin typeface="Segoe UI Symbol" panose="020B0502040204020203" pitchFamily="34" charset="0"/>
                        <a:ea typeface="Segoe UI Symbol" panose="020B0502040204020203" pitchFamily="34" charset="0"/>
                      </a:endParaRPr>
                    </a:p>
                  </a:txBody>
                  <a:tcPr marL="137160" marR="137160" marT="137160" marB="137160">
                    <a:lnL w="6350" cap="flat" cmpd="sng" algn="ctr">
                      <a:solidFill>
                        <a:srgbClr val="32B2C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537491705"/>
                  </a:ext>
                </a:extLst>
              </a:tr>
            </a:tbl>
          </a:graphicData>
        </a:graphic>
      </p:graphicFrame>
      <p:sp>
        <p:nvSpPr>
          <p:cNvPr id="2" name="Google Shape;13;p40">
            <a:extLst>
              <a:ext uri="{FF2B5EF4-FFF2-40B4-BE49-F238E27FC236}">
                <a16:creationId xmlns:a16="http://schemas.microsoft.com/office/drawing/2014/main" id="{8127FDA0-C7D5-A994-A680-F75EE16DABEA}"/>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8</a:t>
            </a:fld>
            <a:endParaRPr lang="en-US" dirty="0">
              <a:solidFill>
                <a:srgbClr val="034EA2"/>
              </a:solidFill>
            </a:endParaRPr>
          </a:p>
        </p:txBody>
      </p:sp>
      <p:grpSp>
        <p:nvGrpSpPr>
          <p:cNvPr id="3" name="Group 2">
            <a:extLst>
              <a:ext uri="{FF2B5EF4-FFF2-40B4-BE49-F238E27FC236}">
                <a16:creationId xmlns:a16="http://schemas.microsoft.com/office/drawing/2014/main" id="{AE253421-810F-25E6-74A2-2A211D41954C}"/>
              </a:ext>
            </a:extLst>
          </p:cNvPr>
          <p:cNvGrpSpPr/>
          <p:nvPr/>
        </p:nvGrpSpPr>
        <p:grpSpPr>
          <a:xfrm>
            <a:off x="479425" y="461520"/>
            <a:ext cx="7899804" cy="584775"/>
            <a:chOff x="479425" y="461520"/>
            <a:chExt cx="7899804" cy="584775"/>
          </a:xfrm>
        </p:grpSpPr>
        <p:sp>
          <p:nvSpPr>
            <p:cNvPr id="5" name="Round Diagonal Corner Rectangle 4">
              <a:extLst>
                <a:ext uri="{FF2B5EF4-FFF2-40B4-BE49-F238E27FC236}">
                  <a16:creationId xmlns:a16="http://schemas.microsoft.com/office/drawing/2014/main" id="{13112A35-3C8D-B505-3B64-B6DF27578019}"/>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4C50A9B9-5E30-C0B6-BA34-C77E0E467AB4}"/>
                </a:ext>
              </a:extLst>
            </p:cNvPr>
            <p:cNvSpPr txBox="1"/>
            <p:nvPr/>
          </p:nvSpPr>
          <p:spPr>
            <a:xfrm>
              <a:off x="536264" y="461520"/>
              <a:ext cx="7842965"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5. Deliverables </a:t>
              </a:r>
            </a:p>
          </p:txBody>
        </p:sp>
      </p:grpSp>
      <p:sp>
        <p:nvSpPr>
          <p:cNvPr id="4" name="TextBox 3">
            <a:extLst>
              <a:ext uri="{FF2B5EF4-FFF2-40B4-BE49-F238E27FC236}">
                <a16:creationId xmlns:a16="http://schemas.microsoft.com/office/drawing/2014/main" id="{4EA42A87-4790-C979-1CDE-8FC1097C3446}"/>
              </a:ext>
            </a:extLst>
          </p:cNvPr>
          <p:cNvSpPr txBox="1"/>
          <p:nvPr/>
        </p:nvSpPr>
        <p:spPr>
          <a:xfrm>
            <a:off x="10227733" y="564936"/>
            <a:ext cx="1823318" cy="307777"/>
          </a:xfrm>
          <a:prstGeom prst="rect">
            <a:avLst/>
          </a:prstGeom>
          <a:solidFill>
            <a:srgbClr val="DAF1F4"/>
          </a:solidFill>
        </p:spPr>
        <p:txBody>
          <a:bodyPr wrap="square" rtlCol="0">
            <a:spAutoFit/>
          </a:bodyPr>
          <a:lstStyle/>
          <a:p>
            <a:r>
              <a:rPr lang="en-US" dirty="0">
                <a:solidFill>
                  <a:srgbClr val="FF0000"/>
                </a:solidFill>
              </a:rPr>
              <a:t>Agile Methodology</a:t>
            </a:r>
          </a:p>
        </p:txBody>
      </p:sp>
      <p:graphicFrame>
        <p:nvGraphicFramePr>
          <p:cNvPr id="7" name="Table 6">
            <a:extLst>
              <a:ext uri="{FF2B5EF4-FFF2-40B4-BE49-F238E27FC236}">
                <a16:creationId xmlns:a16="http://schemas.microsoft.com/office/drawing/2014/main" id="{B2ECD1F1-A028-C716-362E-197E458FA052}"/>
              </a:ext>
            </a:extLst>
          </p:cNvPr>
          <p:cNvGraphicFramePr>
            <a:graphicFrameLocks noGrp="1"/>
          </p:cNvGraphicFramePr>
          <p:nvPr>
            <p:extLst>
              <p:ext uri="{D42A27DB-BD31-4B8C-83A1-F6EECF244321}">
                <p14:modId xmlns:p14="http://schemas.microsoft.com/office/powerpoint/2010/main" val="411163278"/>
              </p:ext>
            </p:extLst>
          </p:nvPr>
        </p:nvGraphicFramePr>
        <p:xfrm>
          <a:off x="536264" y="1619796"/>
          <a:ext cx="9497748" cy="1329690"/>
        </p:xfrm>
        <a:graphic>
          <a:graphicData uri="http://schemas.openxmlformats.org/drawingml/2006/table">
            <a:tbl>
              <a:tblPr firstRow="1" firstCol="1" bandRow="1">
                <a:tableStyleId>{2D5ABB26-0587-4C30-8999-92F81FD0307C}</a:tableStyleId>
              </a:tblPr>
              <a:tblGrid>
                <a:gridCol w="634536">
                  <a:extLst>
                    <a:ext uri="{9D8B030D-6E8A-4147-A177-3AD203B41FA5}">
                      <a16:colId xmlns:a16="http://schemas.microsoft.com/office/drawing/2014/main" val="1833690877"/>
                    </a:ext>
                  </a:extLst>
                </a:gridCol>
                <a:gridCol w="4636688">
                  <a:extLst>
                    <a:ext uri="{9D8B030D-6E8A-4147-A177-3AD203B41FA5}">
                      <a16:colId xmlns:a16="http://schemas.microsoft.com/office/drawing/2014/main" val="1563847939"/>
                    </a:ext>
                  </a:extLst>
                </a:gridCol>
                <a:gridCol w="4226524">
                  <a:extLst>
                    <a:ext uri="{9D8B030D-6E8A-4147-A177-3AD203B41FA5}">
                      <a16:colId xmlns:a16="http://schemas.microsoft.com/office/drawing/2014/main" val="533933689"/>
                    </a:ext>
                  </a:extLst>
                </a:gridCol>
              </a:tblGrid>
              <a:tr h="183376">
                <a:tc>
                  <a:txBody>
                    <a:bodyPr/>
                    <a:lstStyle/>
                    <a:p>
                      <a:pPr algn="ctr">
                        <a:lnSpc>
                          <a:spcPct val="107000"/>
                        </a:lnSpc>
                      </a:pPr>
                      <a:endParaRPr lang="en-VN" sz="1000" dirty="0">
                        <a:solidFill>
                          <a:schemeClr val="bg1"/>
                        </a:solidFill>
                        <a:effectLst/>
                        <a:latin typeface="BR Omega VN" pitchFamily="2" charset="77"/>
                        <a:ea typeface="Times New Roman" panose="02020603050405020304" pitchFamily="18" charset="0"/>
                        <a:cs typeface="Times New Roman" panose="02020603050405020304" pitchFamily="18" charset="0"/>
                      </a:endParaRPr>
                    </a:p>
                  </a:txBody>
                  <a:tcPr marL="73025" marR="73025" marT="18415" marB="18415" anchor="ctr">
                    <a:lnL w="6350" cap="flat" cmpd="sng" algn="ctr">
                      <a:solidFill>
                        <a:srgbClr val="32B2C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32B2C2"/>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marL="0" marR="0" lvl="0" indent="0" algn="l" defTabSz="914400" rtl="0" eaLnBrk="1" fontAlgn="auto" latinLnBrk="0" hangingPunct="1">
                        <a:lnSpc>
                          <a:spcPct val="107000"/>
                        </a:lnSpc>
                        <a:spcBef>
                          <a:spcPts val="0"/>
                        </a:spcBef>
                        <a:spcAft>
                          <a:spcPts val="0"/>
                        </a:spcAft>
                        <a:buClr>
                          <a:srgbClr val="000000"/>
                        </a:buClr>
                        <a:buSzTx/>
                        <a:buFont typeface="Arial"/>
                        <a:buNone/>
                        <a:tabLst/>
                        <a:defRPr/>
                      </a:pPr>
                      <a:r>
                        <a:rPr lang="en-US" sz="1000" b="1" dirty="0">
                          <a:solidFill>
                            <a:schemeClr val="bg1"/>
                          </a:solidFill>
                          <a:latin typeface="Segoe UI" panose="020B0502040204020203" pitchFamily="34" charset="0"/>
                          <a:cs typeface="Segoe UI" panose="020B0502040204020203" pitchFamily="34" charset="0"/>
                        </a:rPr>
                        <a:t>Items</a:t>
                      </a:r>
                      <a:endParaRPr lang="en-US" sz="1000" dirty="0">
                        <a:solidFill>
                          <a:schemeClr val="bg1"/>
                        </a:solidFill>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32B2C2"/>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marL="0" marR="0" lvl="0" indent="0" algn="l" defTabSz="914400" rtl="0" eaLnBrk="1" fontAlgn="auto" latinLnBrk="0" hangingPunct="1">
                        <a:lnSpc>
                          <a:spcPct val="107000"/>
                        </a:lnSpc>
                        <a:spcBef>
                          <a:spcPts val="0"/>
                        </a:spcBef>
                        <a:spcAft>
                          <a:spcPts val="0"/>
                        </a:spcAft>
                        <a:buClr>
                          <a:srgbClr val="000000"/>
                        </a:buClr>
                        <a:buSzTx/>
                        <a:buFont typeface="Arial"/>
                        <a:buNone/>
                        <a:tabLst/>
                        <a:defRPr/>
                      </a:pPr>
                      <a:r>
                        <a:rPr lang="en-US" sz="1000" b="1" dirty="0">
                          <a:solidFill>
                            <a:schemeClr val="bg1"/>
                          </a:solidFill>
                          <a:latin typeface="Segoe UI" panose="020B0502040204020203" pitchFamily="34" charset="0"/>
                          <a:cs typeface="Segoe UI" panose="020B0502040204020203" pitchFamily="34" charset="0"/>
                        </a:rPr>
                        <a:t>Frequency</a:t>
                      </a:r>
                      <a:endParaRPr lang="en-US" sz="1000" dirty="0">
                        <a:solidFill>
                          <a:schemeClr val="bg1"/>
                        </a:solidFill>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rgbClr val="32B2C2"/>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extLst>
                  <a:ext uri="{0D108BD9-81ED-4DB2-BD59-A6C34878D82A}">
                    <a16:rowId xmlns:a16="http://schemas.microsoft.com/office/drawing/2014/main" val="839340320"/>
                  </a:ext>
                </a:extLst>
              </a:tr>
              <a:tr h="167276">
                <a:tc>
                  <a:txBody>
                    <a:bodyPr/>
                    <a:lstStyle/>
                    <a:p>
                      <a:pPr lvl="1" algn="ctr"/>
                      <a:r>
                        <a:rPr lang="en-US" sz="1000" b="1" dirty="0">
                          <a:solidFill>
                            <a:schemeClr val="bg1"/>
                          </a:solidFill>
                          <a:latin typeface="Segoe UI" panose="020B0502040204020203" pitchFamily="34" charset="0"/>
                          <a:cs typeface="Segoe UI" panose="020B0502040204020203" pitchFamily="34" charset="0"/>
                        </a:rPr>
                        <a:t>1</a:t>
                      </a:r>
                      <a:endParaRPr lang="en-US" sz="1050" dirty="0">
                        <a:solidFill>
                          <a:schemeClr val="bg1"/>
                        </a:solidFill>
                      </a:endParaRPr>
                    </a:p>
                  </a:txBody>
                  <a:tcPr marL="73025" marR="73025" marT="18415" marB="18415" anchor="ctr">
                    <a:lnL w="6350" cap="flat" cmpd="sng" algn="ctr">
                      <a:solidFill>
                        <a:srgbClr val="32B2C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a:lnSpc>
                          <a:spcPct val="107000"/>
                        </a:lnSpc>
                      </a:pPr>
                      <a:r>
                        <a:rPr lang="en-US" sz="1000" b="0" i="0" dirty="0">
                          <a:effectLst/>
                          <a:latin typeface="Segoe UI Symbol" panose="020B0502040204020203" pitchFamily="34" charset="0"/>
                          <a:ea typeface="Segoe UI Symbol" panose="020B0502040204020203" pitchFamily="34" charset="0"/>
                        </a:rPr>
                        <a:t>Database Design document (DDD)</a:t>
                      </a:r>
                      <a:endParaRPr lang="en-VN" sz="1000" b="0" i="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nSpc>
                          <a:spcPct val="107000"/>
                        </a:lnSpc>
                      </a:pPr>
                      <a:r>
                        <a:rPr lang="en-US" sz="1000" b="0" i="0" dirty="0">
                          <a:effectLst/>
                          <a:latin typeface="Segoe UI Symbol" panose="020B0502040204020203" pitchFamily="34" charset="0"/>
                          <a:ea typeface="Segoe UI Symbol" panose="020B0502040204020203" pitchFamily="34" charset="0"/>
                        </a:rPr>
                        <a:t>Every Sprint Release (if there any changes)</a:t>
                      </a:r>
                      <a:endParaRPr lang="en-VN" sz="1000" b="0" i="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114565190"/>
                  </a:ext>
                </a:extLst>
              </a:tr>
              <a:tr h="167276">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1" i="0" u="none" strike="noStrike" kern="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sym typeface="Arial"/>
                        </a:rPr>
                        <a:t>2</a:t>
                      </a:r>
                      <a:endParaRPr kumimoji="0" lang="en-US" sz="1050" b="0" i="0" u="none" strike="noStrike" kern="0" cap="none" spc="0" normalizeH="0" baseline="0" noProof="0" dirty="0">
                        <a:ln>
                          <a:noFill/>
                        </a:ln>
                        <a:solidFill>
                          <a:schemeClr val="bg1"/>
                        </a:solidFill>
                        <a:effectLst/>
                        <a:uLnTx/>
                        <a:uFillTx/>
                        <a:latin typeface="Arial"/>
                        <a:ea typeface="+mn-ea"/>
                        <a:cs typeface="+mn-cs"/>
                        <a:sym typeface="Arial"/>
                      </a:endParaRPr>
                    </a:p>
                  </a:txBody>
                  <a:tcPr marL="73025" marR="73025" marT="18415" marB="18415" anchor="ctr">
                    <a:lnL w="6350" cap="flat" cmpd="sng" algn="ctr">
                      <a:solidFill>
                        <a:srgbClr val="32B2C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a:lnSpc>
                          <a:spcPct val="107000"/>
                        </a:lnSpc>
                      </a:pPr>
                      <a:r>
                        <a:rPr lang="en-US" sz="1000" b="0" i="0" dirty="0">
                          <a:effectLst/>
                          <a:latin typeface="Segoe UI Symbol" panose="020B0502040204020203" pitchFamily="34" charset="0"/>
                          <a:ea typeface="Segoe UI Symbol" panose="020B0502040204020203" pitchFamily="34" charset="0"/>
                        </a:rPr>
                        <a:t>SRS &amp; Mockup documents</a:t>
                      </a:r>
                      <a:endParaRPr lang="en-VN" sz="1000" b="0" i="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alpha val="20000"/>
                      </a:srgbClr>
                    </a:solidFill>
                  </a:tcPr>
                </a:tc>
                <a:tc>
                  <a:txBody>
                    <a:bodyPr/>
                    <a:lstStyle/>
                    <a:p>
                      <a:pPr>
                        <a:lnSpc>
                          <a:spcPct val="107000"/>
                        </a:lnSpc>
                      </a:pPr>
                      <a:r>
                        <a:rPr lang="en-US" sz="1000" b="0" i="0" dirty="0">
                          <a:effectLst/>
                          <a:latin typeface="Segoe UI Symbol" panose="020B0502040204020203" pitchFamily="34" charset="0"/>
                          <a:ea typeface="Segoe UI Symbol" panose="020B0502040204020203" pitchFamily="34" charset="0"/>
                        </a:rPr>
                        <a:t>Every Sprint Release</a:t>
                      </a:r>
                      <a:endParaRPr lang="en-VN" sz="1000" b="0" i="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alpha val="20000"/>
                      </a:srgbClr>
                    </a:solidFill>
                  </a:tcPr>
                </a:tc>
                <a:extLst>
                  <a:ext uri="{0D108BD9-81ED-4DB2-BD59-A6C34878D82A}">
                    <a16:rowId xmlns:a16="http://schemas.microsoft.com/office/drawing/2014/main" val="4915018"/>
                  </a:ext>
                </a:extLst>
              </a:tr>
              <a:tr h="167276">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1" i="0" u="none" strike="noStrike" kern="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sym typeface="Arial"/>
                        </a:rPr>
                        <a:t>3</a:t>
                      </a:r>
                      <a:endParaRPr kumimoji="0" lang="en-US" sz="1050" b="0" i="0" u="none" strike="noStrike" kern="0" cap="none" spc="0" normalizeH="0" baseline="0" noProof="0" dirty="0">
                        <a:ln>
                          <a:noFill/>
                        </a:ln>
                        <a:solidFill>
                          <a:schemeClr val="bg1"/>
                        </a:solidFill>
                        <a:effectLst/>
                        <a:uLnTx/>
                        <a:uFillTx/>
                        <a:latin typeface="Arial"/>
                        <a:ea typeface="+mn-ea"/>
                        <a:cs typeface="+mn-cs"/>
                        <a:sym typeface="Arial"/>
                      </a:endParaRPr>
                    </a:p>
                  </a:txBody>
                  <a:tcPr marL="73025" marR="73025" marT="18415" marB="18415" anchor="ctr">
                    <a:lnL w="6350" cap="flat" cmpd="sng" algn="ctr">
                      <a:solidFill>
                        <a:srgbClr val="32B2C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a:lnSpc>
                          <a:spcPct val="107000"/>
                        </a:lnSpc>
                      </a:pPr>
                      <a:r>
                        <a:rPr lang="en-US" sz="1000" b="0" i="0">
                          <a:effectLst/>
                          <a:latin typeface="Segoe UI Symbol" panose="020B0502040204020203" pitchFamily="34" charset="0"/>
                          <a:ea typeface="Segoe UI Symbol" panose="020B0502040204020203" pitchFamily="34" charset="0"/>
                        </a:rPr>
                        <a:t>Release Notes</a:t>
                      </a:r>
                      <a:endParaRPr lang="en-VN" sz="1000" b="0" i="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nSpc>
                          <a:spcPct val="107000"/>
                        </a:lnSpc>
                      </a:pPr>
                      <a:r>
                        <a:rPr lang="en-US" sz="1000" b="0" i="0" dirty="0">
                          <a:effectLst/>
                          <a:latin typeface="Segoe UI Symbol" panose="020B0502040204020203" pitchFamily="34" charset="0"/>
                          <a:ea typeface="Segoe UI Symbol" panose="020B0502040204020203" pitchFamily="34" charset="0"/>
                        </a:rPr>
                        <a:t>Every Sprint Release</a:t>
                      </a:r>
                      <a:endParaRPr lang="en-VN" sz="1000" b="0" i="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1879479271"/>
                  </a:ext>
                </a:extLst>
              </a:tr>
              <a:tr h="167276">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1" i="0" u="none" strike="noStrike" kern="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sym typeface="Arial"/>
                        </a:rPr>
                        <a:t>4</a:t>
                      </a:r>
                      <a:endParaRPr kumimoji="0" lang="en-US" sz="1050" b="0" i="0" u="none" strike="noStrike" kern="0" cap="none" spc="0" normalizeH="0" baseline="0" noProof="0" dirty="0">
                        <a:ln>
                          <a:noFill/>
                        </a:ln>
                        <a:solidFill>
                          <a:schemeClr val="bg1"/>
                        </a:solidFill>
                        <a:effectLst/>
                        <a:uLnTx/>
                        <a:uFillTx/>
                        <a:latin typeface="Arial"/>
                        <a:ea typeface="+mn-ea"/>
                        <a:cs typeface="+mn-cs"/>
                        <a:sym typeface="Arial"/>
                      </a:endParaRPr>
                    </a:p>
                  </a:txBody>
                  <a:tcPr marL="73025" marR="73025" marT="18415" marB="18415" anchor="ctr">
                    <a:lnL w="6350" cap="flat" cmpd="sng" algn="ctr">
                      <a:solidFill>
                        <a:srgbClr val="32B2C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a:lnSpc>
                          <a:spcPct val="107000"/>
                        </a:lnSpc>
                      </a:pPr>
                      <a:r>
                        <a:rPr lang="en-US" sz="1000" b="0" i="0" dirty="0">
                          <a:effectLst/>
                          <a:latin typeface="Segoe UI Symbol" panose="020B0502040204020203" pitchFamily="34" charset="0"/>
                          <a:ea typeface="Segoe UI Symbol" panose="020B0502040204020203" pitchFamily="34" charset="0"/>
                        </a:rPr>
                        <a:t>Test Report</a:t>
                      </a:r>
                      <a:endParaRPr lang="en-VN" sz="1000" b="0" i="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alpha val="20000"/>
                      </a:srgbClr>
                    </a:solidFill>
                  </a:tcPr>
                </a:tc>
                <a:tc>
                  <a:txBody>
                    <a:bodyPr/>
                    <a:lstStyle/>
                    <a:p>
                      <a:pPr>
                        <a:lnSpc>
                          <a:spcPct val="107000"/>
                        </a:lnSpc>
                      </a:pPr>
                      <a:r>
                        <a:rPr lang="en-US" sz="1000" b="0" i="0" dirty="0">
                          <a:effectLst/>
                          <a:latin typeface="Segoe UI Symbol" panose="020B0502040204020203" pitchFamily="34" charset="0"/>
                          <a:ea typeface="Segoe UI Symbol" panose="020B0502040204020203" pitchFamily="34" charset="0"/>
                        </a:rPr>
                        <a:t>Every Sprint Release</a:t>
                      </a:r>
                      <a:endParaRPr lang="en-VN" sz="1000" b="0" i="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alpha val="20000"/>
                      </a:srgbClr>
                    </a:solidFill>
                  </a:tcPr>
                </a:tc>
                <a:extLst>
                  <a:ext uri="{0D108BD9-81ED-4DB2-BD59-A6C34878D82A}">
                    <a16:rowId xmlns:a16="http://schemas.microsoft.com/office/drawing/2014/main" val="800237672"/>
                  </a:ext>
                </a:extLst>
              </a:tr>
              <a:tr h="167276">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1" i="0" u="none" strike="noStrike" kern="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sym typeface="Arial"/>
                        </a:rPr>
                        <a:t>5</a:t>
                      </a:r>
                      <a:endParaRPr kumimoji="0" lang="en-US" sz="1050" b="0" i="0" u="none" strike="noStrike" kern="0" cap="none" spc="0" normalizeH="0" baseline="0" noProof="0" dirty="0">
                        <a:ln>
                          <a:noFill/>
                        </a:ln>
                        <a:solidFill>
                          <a:schemeClr val="bg1"/>
                        </a:solidFill>
                        <a:effectLst/>
                        <a:uLnTx/>
                        <a:uFillTx/>
                        <a:latin typeface="Arial"/>
                        <a:ea typeface="+mn-ea"/>
                        <a:cs typeface="+mn-cs"/>
                        <a:sym typeface="Arial"/>
                      </a:endParaRPr>
                    </a:p>
                  </a:txBody>
                  <a:tcPr marL="73025" marR="73025" marT="18415" marB="18415" anchor="ctr">
                    <a:lnL w="6350" cap="flat" cmpd="sng" algn="ctr">
                      <a:solidFill>
                        <a:srgbClr val="32B2C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a:lnSpc>
                          <a:spcPct val="107000"/>
                        </a:lnSpc>
                      </a:pPr>
                      <a:r>
                        <a:rPr lang="en-US" sz="1000" b="0" i="0" dirty="0">
                          <a:effectLst/>
                          <a:latin typeface="Segoe UI Symbol" panose="020B0502040204020203" pitchFamily="34" charset="0"/>
                          <a:ea typeface="Segoe UI Symbol" panose="020B0502040204020203" pitchFamily="34" charset="0"/>
                        </a:rPr>
                        <a:t>Source Code</a:t>
                      </a:r>
                      <a:endParaRPr lang="en-VN" sz="1000" b="0" i="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nSpc>
                          <a:spcPct val="107000"/>
                        </a:lnSpc>
                      </a:pPr>
                      <a:r>
                        <a:rPr lang="en-US" sz="1000" b="0" i="0" dirty="0">
                          <a:effectLst/>
                          <a:latin typeface="Segoe UI Symbol" panose="020B0502040204020203" pitchFamily="34" charset="0"/>
                          <a:ea typeface="Segoe UI Symbol" panose="020B0502040204020203" pitchFamily="34" charset="0"/>
                        </a:rPr>
                        <a:t>Every Sprint Release</a:t>
                      </a:r>
                      <a:endParaRPr lang="en-VN" sz="1000" b="0" i="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2028939865"/>
                  </a:ext>
                </a:extLst>
              </a:tr>
              <a:tr h="167276">
                <a:tc>
                  <a:txBody>
                    <a:bodyPr/>
                    <a:lstStyle/>
                    <a:p>
                      <a:pPr marL="0" marR="0" lvl="1"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0" lang="en-US" sz="1000" b="1" i="0" u="none" strike="noStrike" kern="0" cap="none" spc="0" normalizeH="0" baseline="0" noProof="0" dirty="0">
                          <a:ln>
                            <a:noFill/>
                          </a:ln>
                          <a:solidFill>
                            <a:schemeClr val="bg1"/>
                          </a:solidFill>
                          <a:effectLst/>
                          <a:uLnTx/>
                          <a:uFillTx/>
                          <a:latin typeface="Segoe UI" panose="020B0502040204020203" pitchFamily="34" charset="0"/>
                          <a:ea typeface="+mn-ea"/>
                          <a:cs typeface="Segoe UI" panose="020B0502040204020203" pitchFamily="34" charset="0"/>
                          <a:sym typeface="Arial"/>
                        </a:rPr>
                        <a:t>6</a:t>
                      </a:r>
                      <a:endParaRPr kumimoji="0" lang="en-US" sz="1050" b="0" i="0" u="none" strike="noStrike" kern="0" cap="none" spc="0" normalizeH="0" baseline="0" noProof="0" dirty="0">
                        <a:ln>
                          <a:noFill/>
                        </a:ln>
                        <a:solidFill>
                          <a:schemeClr val="bg1"/>
                        </a:solidFill>
                        <a:effectLst/>
                        <a:uLnTx/>
                        <a:uFillTx/>
                        <a:latin typeface="Arial"/>
                        <a:ea typeface="+mn-ea"/>
                        <a:cs typeface="+mn-cs"/>
                        <a:sym typeface="Arial"/>
                      </a:endParaRPr>
                    </a:p>
                  </a:txBody>
                  <a:tcPr marL="73025" marR="73025" marT="18415" marB="18415" anchor="ctr">
                    <a:lnL w="6350" cap="flat" cmpd="sng" algn="ctr">
                      <a:solidFill>
                        <a:srgbClr val="32B2C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32B2C2"/>
                      </a:solidFill>
                      <a:prstDash val="solid"/>
                      <a:round/>
                      <a:headEnd type="none" w="med" len="med"/>
                      <a:tailEnd type="none" w="med" len="med"/>
                    </a:lnB>
                    <a:solidFill>
                      <a:srgbClr val="32B2C2"/>
                    </a:solidFill>
                  </a:tcPr>
                </a:tc>
                <a:tc>
                  <a:txBody>
                    <a:bodyPr/>
                    <a:lstStyle/>
                    <a:p>
                      <a:pPr>
                        <a:lnSpc>
                          <a:spcPct val="107000"/>
                        </a:lnSpc>
                      </a:pPr>
                      <a:r>
                        <a:rPr lang="en-US" sz="1000" b="0" i="0" dirty="0">
                          <a:effectLst/>
                          <a:latin typeface="Segoe UI Symbol" panose="020B0502040204020203" pitchFamily="34" charset="0"/>
                          <a:ea typeface="Segoe UI Symbol" panose="020B0502040204020203" pitchFamily="34" charset="0"/>
                        </a:rPr>
                        <a:t>Installation Guide</a:t>
                      </a:r>
                      <a:endParaRPr lang="en-VN" sz="1000" b="0" i="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32B2C2"/>
                      </a:solidFill>
                      <a:prstDash val="solid"/>
                      <a:round/>
                      <a:headEnd type="none" w="med" len="med"/>
                      <a:tailEnd type="none" w="med" len="med"/>
                    </a:lnB>
                    <a:solidFill>
                      <a:srgbClr val="32B2C2">
                        <a:alpha val="20000"/>
                      </a:srgbClr>
                    </a:solidFill>
                  </a:tcPr>
                </a:tc>
                <a:tc>
                  <a:txBody>
                    <a:bodyPr/>
                    <a:lstStyle/>
                    <a:p>
                      <a:pPr>
                        <a:lnSpc>
                          <a:spcPct val="107000"/>
                        </a:lnSpc>
                      </a:pPr>
                      <a:r>
                        <a:rPr lang="en-US" sz="1000" b="0" i="0" dirty="0">
                          <a:effectLst/>
                          <a:latin typeface="Segoe UI Symbol" panose="020B0502040204020203" pitchFamily="34" charset="0"/>
                          <a:ea typeface="Segoe UI Symbol" panose="020B0502040204020203" pitchFamily="34" charset="0"/>
                        </a:rPr>
                        <a:t>Final Release</a:t>
                      </a:r>
                      <a:endParaRPr lang="en-VN" sz="1000" b="0" i="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73025" marR="73025" marT="18415" marB="18415" anchor="ctr">
                    <a:lnL w="6350" cap="flat" cmpd="sng" algn="ctr">
                      <a:solidFill>
                        <a:schemeClr val="bg1"/>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32B2C2"/>
                      </a:solidFill>
                      <a:prstDash val="solid"/>
                      <a:round/>
                      <a:headEnd type="none" w="med" len="med"/>
                      <a:tailEnd type="none" w="med" len="med"/>
                    </a:lnB>
                    <a:solidFill>
                      <a:srgbClr val="32B2C2">
                        <a:alpha val="20000"/>
                      </a:srgbClr>
                    </a:solidFill>
                  </a:tcPr>
                </a:tc>
                <a:extLst>
                  <a:ext uri="{0D108BD9-81ED-4DB2-BD59-A6C34878D82A}">
                    <a16:rowId xmlns:a16="http://schemas.microsoft.com/office/drawing/2014/main" val="1100592061"/>
                  </a:ext>
                </a:extLst>
              </a:tr>
            </a:tbl>
          </a:graphicData>
        </a:graphic>
      </p:graphicFrame>
      <p:sp>
        <p:nvSpPr>
          <p:cNvPr id="8" name="TextBox 7">
            <a:extLst>
              <a:ext uri="{FF2B5EF4-FFF2-40B4-BE49-F238E27FC236}">
                <a16:creationId xmlns:a16="http://schemas.microsoft.com/office/drawing/2014/main" id="{9F1F6D6E-E48C-F71B-CDA0-051D51842D33}"/>
              </a:ext>
            </a:extLst>
          </p:cNvPr>
          <p:cNvSpPr txBox="1"/>
          <p:nvPr/>
        </p:nvSpPr>
        <p:spPr>
          <a:xfrm>
            <a:off x="364330" y="1104726"/>
            <a:ext cx="11233151" cy="461665"/>
          </a:xfrm>
          <a:prstGeom prst="rect">
            <a:avLst/>
          </a:prstGeom>
          <a:noFill/>
        </p:spPr>
        <p:txBody>
          <a:bodyPr wrap="square" rtlCol="0">
            <a:spAutoFit/>
          </a:bodyPr>
          <a:lstStyle>
            <a:defPPr marR="0" lvl="0" algn="l" rtl="0">
              <a:lnSpc>
                <a:spcPct val="100000"/>
              </a:lnSpc>
              <a:spcBef>
                <a:spcPts val="0"/>
              </a:spcBef>
              <a:spcAft>
                <a:spcPts val="0"/>
              </a:spcAft>
              <a:defRPr/>
            </a:defPPr>
            <a:lvl1pPr>
              <a:spcBef>
                <a:spcPts val="1200"/>
              </a:spcBef>
              <a:spcAft>
                <a:spcPts val="300"/>
              </a:spcAft>
              <a:buClr>
                <a:srgbClr val="365F91"/>
              </a:buClr>
              <a:defRPr sz="2800" b="1" kern="1600" cap="all">
                <a:solidFill>
                  <a:srgbClr val="002060"/>
                </a:solidFill>
                <a:effectLst/>
                <a:latin typeface="BR Omega VN" pitchFamily="2" charset="77"/>
                <a:ea typeface="Times New Roman" panose="02020603050405020304" pitchFamily="18" charset="0"/>
                <a:cs typeface="Calibri" panose="020F0502020204030204" pitchFamily="34" charset="0"/>
              </a:defRPr>
            </a:lvl1pPr>
            <a:lvl2pPr>
              <a:defRPr sz="1800" b="1">
                <a:effectLst/>
                <a:latin typeface="BR Omega VN" pitchFamily="2" charset="77"/>
                <a:ea typeface="Times New Roman" panose="02020603050405020304" pitchFamily="18" charset="0"/>
                <a:cs typeface="Times New Roman" panose="02020603050405020304" pitchFamily="18" charset="0"/>
              </a:defRPr>
            </a:lvl2pPr>
          </a:lstStyle>
          <a:p>
            <a:r>
              <a:rPr lang="en-US" sz="1200" b="0" cap="none" dirty="0">
                <a:solidFill>
                  <a:schemeClr val="tx1">
                    <a:lumMod val="85000"/>
                    <a:lumOff val="15000"/>
                  </a:schemeClr>
                </a:solidFill>
                <a:latin typeface="Segoe UI Symbol" panose="020B0502040204020203" pitchFamily="34" charset="0"/>
                <a:ea typeface="Segoe UI Symbol" panose="020B0502040204020203" pitchFamily="34" charset="0"/>
              </a:rPr>
              <a:t>FPT will deliver the following items to LG CNS in a timely fashion, which will be subject to review and approval by LG CNS. Any additional items not included in the provided list may have an impact on the project's cost and schedule and will be managed as part of the change management process.</a:t>
            </a:r>
          </a:p>
        </p:txBody>
      </p:sp>
    </p:spTree>
    <p:extLst>
      <p:ext uri="{BB962C8B-B14F-4D97-AF65-F5344CB8AC3E}">
        <p14:creationId xmlns:p14="http://schemas.microsoft.com/office/powerpoint/2010/main" val="37867302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C07E217F-0A14-B1C6-6CEA-264811DE9F48}"/>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9</a:t>
            </a:fld>
            <a:endParaRPr lang="en-US" dirty="0">
              <a:solidFill>
                <a:srgbClr val="034EA2"/>
              </a:solidFill>
            </a:endParaRPr>
          </a:p>
        </p:txBody>
      </p:sp>
      <p:grpSp>
        <p:nvGrpSpPr>
          <p:cNvPr id="3" name="Group 2">
            <a:extLst>
              <a:ext uri="{FF2B5EF4-FFF2-40B4-BE49-F238E27FC236}">
                <a16:creationId xmlns:a16="http://schemas.microsoft.com/office/drawing/2014/main" id="{2BA84FF4-09E1-1CF5-BB9B-3C712F2DBED5}"/>
              </a:ext>
            </a:extLst>
          </p:cNvPr>
          <p:cNvGrpSpPr/>
          <p:nvPr/>
        </p:nvGrpSpPr>
        <p:grpSpPr>
          <a:xfrm>
            <a:off x="479425" y="461520"/>
            <a:ext cx="5065164" cy="584775"/>
            <a:chOff x="479425" y="461520"/>
            <a:chExt cx="5065164" cy="584775"/>
          </a:xfrm>
        </p:grpSpPr>
        <p:sp>
          <p:nvSpPr>
            <p:cNvPr id="4" name="Round Diagonal Corner Rectangle 3">
              <a:extLst>
                <a:ext uri="{FF2B5EF4-FFF2-40B4-BE49-F238E27FC236}">
                  <a16:creationId xmlns:a16="http://schemas.microsoft.com/office/drawing/2014/main" id="{91C43C97-96A3-B70F-ED9D-E08AC2C209DF}"/>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A6DB4022-1E40-3EC4-BCF4-D92BD80A7854}"/>
                </a:ext>
              </a:extLst>
            </p:cNvPr>
            <p:cNvSpPr txBox="1"/>
            <p:nvPr/>
          </p:nvSpPr>
          <p:spPr>
            <a:xfrm>
              <a:off x="536265" y="461520"/>
              <a:ext cx="5008324"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5. Deliverables (Cont.)</a:t>
              </a:r>
            </a:p>
          </p:txBody>
        </p:sp>
      </p:grpSp>
      <p:graphicFrame>
        <p:nvGraphicFramePr>
          <p:cNvPr id="9" name="Table 8">
            <a:extLst>
              <a:ext uri="{FF2B5EF4-FFF2-40B4-BE49-F238E27FC236}">
                <a16:creationId xmlns:a16="http://schemas.microsoft.com/office/drawing/2014/main" id="{A0D8D2FC-1811-B7FE-F1FD-83E4B98E1977}"/>
              </a:ext>
            </a:extLst>
          </p:cNvPr>
          <p:cNvGraphicFramePr>
            <a:graphicFrameLocks noGrp="1"/>
          </p:cNvGraphicFramePr>
          <p:nvPr>
            <p:extLst>
              <p:ext uri="{D42A27DB-BD31-4B8C-83A1-F6EECF244321}">
                <p14:modId xmlns:p14="http://schemas.microsoft.com/office/powerpoint/2010/main" val="3599572362"/>
              </p:ext>
            </p:extLst>
          </p:nvPr>
        </p:nvGraphicFramePr>
        <p:xfrm>
          <a:off x="726952" y="1394014"/>
          <a:ext cx="10738095" cy="4408638"/>
        </p:xfrm>
        <a:graphic>
          <a:graphicData uri="http://schemas.openxmlformats.org/drawingml/2006/table">
            <a:tbl>
              <a:tblPr firstRow="1" bandRow="1"/>
              <a:tblGrid>
                <a:gridCol w="1616673">
                  <a:extLst>
                    <a:ext uri="{9D8B030D-6E8A-4147-A177-3AD203B41FA5}">
                      <a16:colId xmlns:a16="http://schemas.microsoft.com/office/drawing/2014/main" val="4149973022"/>
                    </a:ext>
                  </a:extLst>
                </a:gridCol>
                <a:gridCol w="2302933">
                  <a:extLst>
                    <a:ext uri="{9D8B030D-6E8A-4147-A177-3AD203B41FA5}">
                      <a16:colId xmlns:a16="http://schemas.microsoft.com/office/drawing/2014/main" val="20001"/>
                    </a:ext>
                  </a:extLst>
                </a:gridCol>
                <a:gridCol w="6818489">
                  <a:extLst>
                    <a:ext uri="{9D8B030D-6E8A-4147-A177-3AD203B41FA5}">
                      <a16:colId xmlns:a16="http://schemas.microsoft.com/office/drawing/2014/main" val="20002"/>
                    </a:ext>
                  </a:extLst>
                </a:gridCol>
              </a:tblGrid>
              <a:tr h="369809">
                <a:tc>
                  <a:txBody>
                    <a:bodyPr/>
                    <a:lstStyle/>
                    <a:p>
                      <a:pPr marL="0" algn="ctr" defTabSz="914400" rtl="0" eaLnBrk="1" latinLnBrk="0" hangingPunct="1"/>
                      <a:r>
                        <a:rPr lang="en-US" altLang="ja-JP" sz="1400" b="1" kern="1200" dirty="0">
                          <a:solidFill>
                            <a:schemeClr val="lt1"/>
                          </a:solidFill>
                          <a:latin typeface="Tahoma" panose="020B0604030504040204" pitchFamily="34" charset="0"/>
                          <a:ea typeface="Tahoma" panose="020B0604030504040204" pitchFamily="34" charset="0"/>
                          <a:cs typeface="Tahoma" panose="020B0604030504040204" pitchFamily="34" charset="0"/>
                        </a:rPr>
                        <a:t>Period</a:t>
                      </a:r>
                      <a:endParaRPr lang="ja-JP" altLang="en-US" sz="1400" b="1" kern="1200" dirty="0">
                        <a:solidFill>
                          <a:schemeClr val="lt1"/>
                        </a:solidFill>
                        <a:latin typeface="Tahoma" panose="020B0604030504040204" pitchFamily="34" charset="0"/>
                        <a:ea typeface="Tahoma" panose="020B0604030504040204" pitchFamily="34" charset="0"/>
                        <a:cs typeface="Tahoma" panose="020B060403050404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B3C2"/>
                    </a:solidFill>
                  </a:tcPr>
                </a:tc>
                <a:tc>
                  <a:txBody>
                    <a:bodyPr/>
                    <a:lstStyle/>
                    <a:p>
                      <a:pPr marL="0" algn="ctr" defTabSz="914400" rtl="0" eaLnBrk="1" latinLnBrk="0" hangingPunct="1"/>
                      <a:r>
                        <a:rPr lang="en-US" altLang="ja-JP" sz="1400" b="1" kern="1200" dirty="0">
                          <a:solidFill>
                            <a:schemeClr val="lt1"/>
                          </a:solidFill>
                          <a:latin typeface="Tahoma" panose="020B0604030504040204" pitchFamily="34" charset="0"/>
                          <a:ea typeface="Tahoma" panose="020B0604030504040204" pitchFamily="34" charset="0"/>
                          <a:cs typeface="Tahoma" panose="020B0604030504040204" pitchFamily="34" charset="0"/>
                        </a:rPr>
                        <a:t>Deliverable</a:t>
                      </a:r>
                      <a:endParaRPr lang="ja-JP" altLang="en-US" sz="1400" b="1" kern="1200" dirty="0">
                        <a:solidFill>
                          <a:schemeClr val="lt1"/>
                        </a:solidFill>
                        <a:latin typeface="Tahoma" panose="020B0604030504040204" pitchFamily="34" charset="0"/>
                        <a:ea typeface="Tahoma" panose="020B0604030504040204" pitchFamily="34" charset="0"/>
                        <a:cs typeface="Tahoma" panose="020B060403050404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B3C2"/>
                    </a:solidFill>
                  </a:tcPr>
                </a:tc>
                <a:tc>
                  <a:txBody>
                    <a:bodyPr/>
                    <a:lstStyle/>
                    <a:p>
                      <a:pPr marL="0" algn="ctr" defTabSz="914400" rtl="0" eaLnBrk="1" latinLnBrk="0" hangingPunct="1"/>
                      <a:r>
                        <a:rPr lang="en-US" altLang="ja-JP" sz="1400" b="1" kern="1200" dirty="0">
                          <a:solidFill>
                            <a:schemeClr val="lt1"/>
                          </a:solidFill>
                          <a:latin typeface="Tahoma" panose="020B0604030504040204" pitchFamily="34" charset="0"/>
                          <a:ea typeface="Tahoma" panose="020B0604030504040204" pitchFamily="34" charset="0"/>
                          <a:cs typeface="Tahoma" panose="020B0604030504040204" pitchFamily="34" charset="0"/>
                        </a:rPr>
                        <a:t>Acceptance Criteria</a:t>
                      </a:r>
                      <a:endParaRPr lang="ja-JP" altLang="en-US" sz="1400" b="1" kern="1200" dirty="0">
                        <a:solidFill>
                          <a:schemeClr val="lt1"/>
                        </a:solidFill>
                        <a:latin typeface="Tahoma" panose="020B0604030504040204" pitchFamily="34" charset="0"/>
                        <a:ea typeface="Tahoma" panose="020B0604030504040204" pitchFamily="34" charset="0"/>
                        <a:cs typeface="Tahoma" panose="020B060403050404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381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30B3C2"/>
                    </a:solidFill>
                  </a:tcPr>
                </a:tc>
                <a:extLst>
                  <a:ext uri="{0D108BD9-81ED-4DB2-BD59-A6C34878D82A}">
                    <a16:rowId xmlns:a16="http://schemas.microsoft.com/office/drawing/2014/main" val="10000"/>
                  </a:ext>
                </a:extLst>
              </a:tr>
              <a:tr h="1314129">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300" b="1" kern="1200" dirty="0">
                          <a:solidFill>
                            <a:srgbClr val="002060"/>
                          </a:solidFill>
                          <a:latin typeface="Tahoma" panose="020B0604030504040204" pitchFamily="34" charset="0"/>
                          <a:ea typeface="Tahoma" panose="020B0604030504040204" pitchFamily="34" charset="0"/>
                          <a:cs typeface="Tahoma" panose="020B0604030504040204" pitchFamily="34" charset="0"/>
                        </a:rPr>
                        <a:t>Preparation</a:t>
                      </a:r>
                      <a:endParaRPr kumimoji="1" lang="en-US" sz="1300" b="1"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300" b="0" kern="1200" dirty="0">
                          <a:solidFill>
                            <a:srgbClr val="002060"/>
                          </a:solidFill>
                          <a:latin typeface="Tahoma" panose="020B0604030504040204" pitchFamily="34" charset="0"/>
                          <a:ea typeface="Tahoma" panose="020B0604030504040204" pitchFamily="34" charset="0"/>
                          <a:cs typeface="Tahoma" panose="020B0604030504040204" pitchFamily="34" charset="0"/>
                        </a:rPr>
                        <a:t>Assessment about input of LG CNS</a:t>
                      </a:r>
                      <a:endParaRPr kumimoji="1" lang="en-US" sz="13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300" b="0" kern="1200" dirty="0">
                          <a:solidFill>
                            <a:srgbClr val="002060"/>
                          </a:solidFill>
                          <a:latin typeface="Tahoma" panose="020B0604030504040204" pitchFamily="34" charset="0"/>
                          <a:ea typeface="Tahoma" panose="020B0604030504040204" pitchFamily="34" charset="0"/>
                          <a:cs typeface="Tahoma" panose="020B0604030504040204" pitchFamily="34" charset="0"/>
                        </a:rPr>
                        <a:t>FPT: All requirement of LG CNS must be fully understanded</a:t>
                      </a:r>
                      <a:endParaRPr kumimoji="1" lang="en-US" sz="13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lnL w="12700" cmpd="sng">
                      <a:solidFill>
                        <a:sysClr val="window" lastClr="FFFFFF"/>
                      </a:solidFill>
                    </a:lnL>
                    <a:lnR w="12700" cmpd="sng">
                      <a:solidFill>
                        <a:sysClr val="window" lastClr="FFFFFF"/>
                      </a:solidFill>
                    </a:lnR>
                    <a:lnT w="381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069285"/>
                  </a:ext>
                </a:extLst>
              </a:tr>
              <a:tr h="821330">
                <a:tc>
                  <a:txBody>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sz="1300" b="1" kern="1200" dirty="0">
                          <a:solidFill>
                            <a:srgbClr val="002060"/>
                          </a:solidFill>
                          <a:latin typeface="Tahoma" panose="020B0604030504040204" pitchFamily="34" charset="0"/>
                          <a:ea typeface="Tahoma" panose="020B0604030504040204" pitchFamily="34" charset="0"/>
                          <a:cs typeface="Tahoma" panose="020B0604030504040204" pitchFamily="34" charset="0"/>
                        </a:rPr>
                        <a:t>Detailed</a:t>
                      </a:r>
                      <a:r>
                        <a:rPr kumimoji="1" lang="en-US" sz="1300" b="1" kern="1200" baseline="0" dirty="0">
                          <a:solidFill>
                            <a:srgbClr val="002060"/>
                          </a:solidFill>
                          <a:latin typeface="Tahoma" panose="020B0604030504040204" pitchFamily="34" charset="0"/>
                          <a:ea typeface="Tahoma" panose="020B0604030504040204" pitchFamily="34" charset="0"/>
                          <a:cs typeface="Tahoma" panose="020B0604030504040204" pitchFamily="34" charset="0"/>
                        </a:rPr>
                        <a:t> Design</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300" b="0" kern="1200" dirty="0">
                          <a:solidFill>
                            <a:srgbClr val="002060"/>
                          </a:solidFill>
                          <a:latin typeface="Tahoma" panose="020B0604030504040204" pitchFamily="34" charset="0"/>
                          <a:ea typeface="Tahoma" panose="020B0604030504040204" pitchFamily="34" charset="0"/>
                          <a:cs typeface="Tahoma" panose="020B0604030504040204" pitchFamily="34" charset="0"/>
                        </a:rPr>
                        <a:t>Detailed</a:t>
                      </a:r>
                      <a:r>
                        <a:rPr kumimoji="1" lang="en-US" altLang="ja-JP" sz="13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rPr>
                        <a:t> design</a:t>
                      </a:r>
                      <a:endParaRPr kumimoji="1" lang="en-US" altLang="ja-JP" sz="1300" b="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vi-VN" sz="13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rPr>
                        <a:t>LG CNS will check, review and approve all deliverables follow the schedule agreed by FPT and LG CNS</a:t>
                      </a:r>
                      <a:endParaRPr kumimoji="1" lang="en-US" sz="13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extLst>
                  <a:ext uri="{0D108BD9-81ED-4DB2-BD59-A6C34878D82A}">
                    <a16:rowId xmlns:a16="http://schemas.microsoft.com/office/drawing/2014/main" val="2850772041"/>
                  </a:ext>
                </a:extLst>
              </a:tr>
              <a:tr h="963706">
                <a:tc>
                  <a:txBody>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1" lang="en-US" altLang="en-US" sz="1300" b="1" kern="1200" dirty="0">
                          <a:solidFill>
                            <a:srgbClr val="002060"/>
                          </a:solidFill>
                          <a:latin typeface="Tahoma" panose="020B0604030504040204" pitchFamily="34" charset="0"/>
                          <a:ea typeface="Tahoma" panose="020B0604030504040204" pitchFamily="34" charset="0"/>
                          <a:cs typeface="Tahoma" panose="020B0604030504040204" pitchFamily="34" charset="0"/>
                        </a:rPr>
                        <a:t>Coding +</a:t>
                      </a:r>
                      <a:r>
                        <a:rPr kumimoji="1" lang="en-US" altLang="en-US" sz="1300" b="1" kern="1200" baseline="0" dirty="0">
                          <a:solidFill>
                            <a:srgbClr val="002060"/>
                          </a:solidFill>
                          <a:latin typeface="Tahoma" panose="020B0604030504040204" pitchFamily="34" charset="0"/>
                          <a:ea typeface="Tahoma" panose="020B0604030504040204" pitchFamily="34" charset="0"/>
                          <a:cs typeface="Tahoma" panose="020B0604030504040204" pitchFamily="34" charset="0"/>
                        </a:rPr>
                        <a:t> Unit Testing</a:t>
                      </a:r>
                      <a:endParaRPr kumimoji="1" lang="ja" altLang="en-US" sz="1300" b="1" kern="1200" dirty="0">
                        <a:solidFill>
                          <a:srgbClr val="002060"/>
                        </a:solidFill>
                        <a:latin typeface="Tahoma" panose="020B0604030504040204" pitchFamily="34" charset="0"/>
                        <a:ea typeface="+mn-ea"/>
                        <a:cs typeface="Tahoma" panose="020B0604030504040204" pitchFamily="34" charset="0"/>
                      </a:endParaRPr>
                    </a:p>
                  </a:txBody>
                  <a:tcPr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300" b="0" kern="1200" dirty="0">
                          <a:solidFill>
                            <a:srgbClr val="002060"/>
                          </a:solidFill>
                          <a:latin typeface="Tahoma" panose="020B0604030504040204" pitchFamily="34" charset="0"/>
                          <a:ea typeface="Tahoma" panose="020B0604030504040204" pitchFamily="34" charset="0"/>
                          <a:cs typeface="Tahoma" panose="020B0604030504040204" pitchFamily="34" charset="0"/>
                        </a:rPr>
                        <a:t>Source code</a:t>
                      </a:r>
                      <a:br>
                        <a:rPr kumimoji="1" lang="en-US" altLang="ja-JP" sz="1300" b="0" kern="1200" dirty="0">
                          <a:solidFill>
                            <a:srgbClr val="002060"/>
                          </a:solidFill>
                          <a:latin typeface="Tahoma" panose="020B0604030504040204" pitchFamily="34" charset="0"/>
                          <a:ea typeface="Tahoma" panose="020B0604030504040204" pitchFamily="34" charset="0"/>
                          <a:cs typeface="Tahoma" panose="020B0604030504040204" pitchFamily="34" charset="0"/>
                        </a:rPr>
                      </a:br>
                      <a:r>
                        <a:rPr kumimoji="1" lang="en-US" altLang="ja-JP" sz="1300" b="0" kern="1200" dirty="0">
                          <a:solidFill>
                            <a:srgbClr val="002060"/>
                          </a:solidFill>
                          <a:latin typeface="Tahoma" panose="020B0604030504040204" pitchFamily="34" charset="0"/>
                          <a:ea typeface="Tahoma" panose="020B0604030504040204" pitchFamily="34" charset="0"/>
                          <a:cs typeface="Tahoma" panose="020B0604030504040204" pitchFamily="34" charset="0"/>
                        </a:rPr>
                        <a:t>UTC/UTR</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tc>
                  <a:txBody>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1" lang="en-US" sz="13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rPr>
                        <a:t>FPT: The code has fully covered and correctly complied with requirement and coding convention</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1" lang="en-US" sz="13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rPr>
                        <a:t>FPT: Follow the coding convention &amp; checklist.</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1" lang="en-US" sz="13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rPr>
                        <a:t>FPT: Reflects all requirements (including Q&amp;A) in source code.</a:t>
                      </a:r>
                    </a:p>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q"/>
                        <a:tabLst/>
                        <a:defRPr/>
                      </a:pPr>
                      <a:r>
                        <a:rPr kumimoji="1" lang="en-US" sz="13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rPr>
                        <a:t>LG CNS: All comments must be fully reflected / fixed.</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ap="flat" cmpd="sng" algn="ctr">
                      <a:solidFill>
                        <a:sysClr val="window" lastClr="FFFFFF"/>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31841975"/>
                  </a:ext>
                </a:extLst>
              </a:tr>
              <a:tr h="821330">
                <a:tc>
                  <a:txBody>
                    <a:body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1" lang="en-US" sz="1300" b="1" i="0" u="none" strike="noStrike" kern="1200" cap="none" dirty="0">
                          <a:solidFill>
                            <a:srgbClr val="002060"/>
                          </a:solidFill>
                          <a:latin typeface="Tahoma" panose="020B0604030504040204" pitchFamily="34" charset="0"/>
                          <a:ea typeface="Tahoma" panose="020B0604030504040204" pitchFamily="34" charset="0"/>
                          <a:cs typeface="Tahoma" panose="020B0604030504040204" pitchFamily="34" charset="0"/>
                          <a:sym typeface="Arial"/>
                        </a:rPr>
                        <a:t>Support</a:t>
                      </a:r>
                      <a:r>
                        <a:rPr kumimoji="1" lang="en-US" sz="1300" b="1" kern="1200" baseline="0" dirty="0">
                          <a:solidFill>
                            <a:srgbClr val="002060"/>
                          </a:solidFill>
                          <a:latin typeface="Tahoma" panose="020B0604030504040204" pitchFamily="34" charset="0"/>
                          <a:ea typeface="Tahoma" panose="020B0604030504040204" pitchFamily="34" charset="0"/>
                          <a:cs typeface="Tahoma" panose="020B0604030504040204" pitchFamily="34" charset="0"/>
                        </a:rPr>
                        <a:t> </a:t>
                      </a:r>
                      <a:r>
                        <a:rPr kumimoji="1" lang="vi-VN" sz="1300" b="1" kern="1200" baseline="0" dirty="0">
                          <a:solidFill>
                            <a:srgbClr val="002060"/>
                          </a:solidFill>
                          <a:latin typeface="Tahoma" panose="020B0604030504040204" pitchFamily="34" charset="0"/>
                          <a:ea typeface="Tahoma" panose="020B0604030504040204" pitchFamily="34" charset="0"/>
                          <a:cs typeface="Tahoma" panose="020B0604030504040204" pitchFamily="34" charset="0"/>
                        </a:rPr>
                        <a:t>UAT</a:t>
                      </a:r>
                      <a:endParaRPr kumimoji="1" lang="en-US" sz="1300" b="1"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lnL w="12700" cmpd="sng">
                      <a:solidFill>
                        <a:sysClr val="window" lastClr="FFFFFF"/>
                      </a:solidFill>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3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rPr>
                        <a:t>Source Code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3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rPr>
                        <a:t>UTC/UTR</a:t>
                      </a:r>
                      <a:endParaRPr kumimoji="1" lang="en-US" altLang="ja-JP" sz="1300" b="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300" b="0" kern="1200" dirty="0">
                          <a:solidFill>
                            <a:srgbClr val="002060"/>
                          </a:solidFill>
                          <a:latin typeface="Tahoma" panose="020B0604030504040204" pitchFamily="34" charset="0"/>
                          <a:ea typeface="Tahoma" panose="020B0604030504040204" pitchFamily="34" charset="0"/>
                          <a:cs typeface="Tahoma" panose="020B0604030504040204" pitchFamily="34" charset="0"/>
                        </a:rPr>
                        <a:t>LG CNS: All defects must be fixed &amp; deployed fully without any problems</a:t>
                      </a:r>
                    </a:p>
                  </a:txBody>
                  <a:tcPr anchor="ctr">
                    <a:lnL w="12700" cap="flat" cmpd="sng" algn="ctr">
                      <a:solidFill>
                        <a:sysClr val="window" lastClr="FFFFFF"/>
                      </a:solidFill>
                      <a:prstDash val="solid"/>
                      <a:round/>
                      <a:headEnd type="none" w="med" len="med"/>
                      <a:tailEnd type="none" w="med" len="med"/>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extLst>
                  <a:ext uri="{0D108BD9-81ED-4DB2-BD59-A6C34878D82A}">
                    <a16:rowId xmlns:a16="http://schemas.microsoft.com/office/drawing/2014/main" val="1480322448"/>
                  </a:ext>
                </a:extLst>
              </a:tr>
            </a:tbl>
          </a:graphicData>
        </a:graphic>
      </p:graphicFrame>
      <p:sp>
        <p:nvSpPr>
          <p:cNvPr id="10" name="TextBox 9">
            <a:extLst>
              <a:ext uri="{FF2B5EF4-FFF2-40B4-BE49-F238E27FC236}">
                <a16:creationId xmlns:a16="http://schemas.microsoft.com/office/drawing/2014/main" id="{6D1C623D-B348-FF56-93D4-24E8CA83D2DF}"/>
              </a:ext>
            </a:extLst>
          </p:cNvPr>
          <p:cNvSpPr txBox="1"/>
          <p:nvPr/>
        </p:nvSpPr>
        <p:spPr>
          <a:xfrm>
            <a:off x="9843911" y="564936"/>
            <a:ext cx="2207140" cy="307777"/>
          </a:xfrm>
          <a:prstGeom prst="rect">
            <a:avLst/>
          </a:prstGeom>
          <a:solidFill>
            <a:srgbClr val="DAF1F4"/>
          </a:solidFill>
        </p:spPr>
        <p:txBody>
          <a:bodyPr wrap="square" rtlCol="0">
            <a:spAutoFit/>
          </a:bodyPr>
          <a:lstStyle/>
          <a:p>
            <a:r>
              <a:rPr lang="en-US" dirty="0">
                <a:solidFill>
                  <a:srgbClr val="FF0000"/>
                </a:solidFill>
              </a:rPr>
              <a:t>Waterfall Methodology</a:t>
            </a:r>
          </a:p>
        </p:txBody>
      </p:sp>
    </p:spTree>
    <p:extLst>
      <p:ext uri="{BB962C8B-B14F-4D97-AF65-F5344CB8AC3E}">
        <p14:creationId xmlns:p14="http://schemas.microsoft.com/office/powerpoint/2010/main" val="339714299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C07E217F-0A14-B1C6-6CEA-264811DE9F48}"/>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10</a:t>
            </a:fld>
            <a:endParaRPr lang="en-US" dirty="0">
              <a:solidFill>
                <a:srgbClr val="034EA2"/>
              </a:solidFill>
            </a:endParaRPr>
          </a:p>
        </p:txBody>
      </p:sp>
      <p:grpSp>
        <p:nvGrpSpPr>
          <p:cNvPr id="3" name="Group 2">
            <a:extLst>
              <a:ext uri="{FF2B5EF4-FFF2-40B4-BE49-F238E27FC236}">
                <a16:creationId xmlns:a16="http://schemas.microsoft.com/office/drawing/2014/main" id="{2BA84FF4-09E1-1CF5-BB9B-3C712F2DBED5}"/>
              </a:ext>
            </a:extLst>
          </p:cNvPr>
          <p:cNvGrpSpPr/>
          <p:nvPr/>
        </p:nvGrpSpPr>
        <p:grpSpPr>
          <a:xfrm>
            <a:off x="479425" y="461520"/>
            <a:ext cx="6541868" cy="584775"/>
            <a:chOff x="479425" y="461520"/>
            <a:chExt cx="6541868" cy="584775"/>
          </a:xfrm>
        </p:grpSpPr>
        <p:sp>
          <p:nvSpPr>
            <p:cNvPr id="4" name="Round Diagonal Corner Rectangle 3">
              <a:extLst>
                <a:ext uri="{FF2B5EF4-FFF2-40B4-BE49-F238E27FC236}">
                  <a16:creationId xmlns:a16="http://schemas.microsoft.com/office/drawing/2014/main" id="{91C43C97-96A3-B70F-ED9D-E08AC2C209DF}"/>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A6DB4022-1E40-3EC4-BCF4-D92BD80A7854}"/>
                </a:ext>
              </a:extLst>
            </p:cNvPr>
            <p:cNvSpPr txBox="1"/>
            <p:nvPr/>
          </p:nvSpPr>
          <p:spPr>
            <a:xfrm>
              <a:off x="536265" y="461520"/>
              <a:ext cx="6485028"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6. Communication &amp; Reporting</a:t>
              </a:r>
            </a:p>
          </p:txBody>
        </p:sp>
      </p:grpSp>
      <p:sp>
        <p:nvSpPr>
          <p:cNvPr id="89" name="Rectangle 88">
            <a:extLst>
              <a:ext uri="{FF2B5EF4-FFF2-40B4-BE49-F238E27FC236}">
                <a16:creationId xmlns:a16="http://schemas.microsoft.com/office/drawing/2014/main" id="{6FD5FDA3-474C-1A12-6550-B90F70E1DB3C}"/>
              </a:ext>
            </a:extLst>
          </p:cNvPr>
          <p:cNvSpPr/>
          <p:nvPr/>
        </p:nvSpPr>
        <p:spPr>
          <a:xfrm>
            <a:off x="6427881" y="1502019"/>
            <a:ext cx="5311694" cy="2166967"/>
          </a:xfrm>
          <a:prstGeom prst="rect">
            <a:avLst/>
          </a:prstGeom>
          <a:solidFill>
            <a:sysClr val="window" lastClr="FFFFFF"/>
          </a:solidFill>
          <a:ln w="6350" cap="flat" cmpd="sng" algn="ctr">
            <a:noFill/>
            <a:prstDash val="solid"/>
            <a:miter lim="800000"/>
          </a:ln>
          <a:effectLst/>
        </p:spPr>
        <p:txBody>
          <a:bodyPr lIns="121912" tIns="60956" rIns="121912" bIns="60956" rtlCol="0" anchor="t" anchorCtr="0"/>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12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(1) Official channels</a:t>
            </a: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Issue Tracker, Email, Conference Call, Wiki</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 </a:t>
            </a:r>
            <a:r>
              <a:rPr kumimoji="0" lang="en-US" sz="1200" b="0" i="0" u="sng"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Issue Tracker</a:t>
            </a: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for managing all tasks, bugs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 </a:t>
            </a:r>
            <a:r>
              <a:rPr kumimoji="0" lang="en-US" sz="1200" b="0" i="0" u="sng"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Email</a:t>
            </a: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for official requests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 </a:t>
            </a:r>
            <a:r>
              <a:rPr kumimoji="0" lang="en-US" sz="1200" b="0" i="0" u="sng"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Conference Call</a:t>
            </a: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for weekly meeting</a:t>
            </a:r>
            <a:r>
              <a:rPr kumimoji="0" lang="en-US" sz="1200" b="0" i="0" u="none" strike="noStrike" kern="1200" cap="none" spc="0" normalizeH="0" baseline="0" noProof="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demo</a:t>
            </a:r>
            <a:endPar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 </a:t>
            </a:r>
            <a:r>
              <a:rPr kumimoji="0" lang="en-US" sz="1200" b="0" i="0" u="sng"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Wiki</a:t>
            </a: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for knowledge base, knowledge sharing</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endParaRP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12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(2) Quick channels</a:t>
            </a: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Workplace, Group Chatting, Face2Face</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 </a:t>
            </a:r>
            <a:r>
              <a:rPr kumimoji="0" lang="en-US" sz="1200" b="0" i="0" u="sng"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Workplace</a:t>
            </a: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for general sharing, notification to all teams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 </a:t>
            </a:r>
            <a:r>
              <a:rPr kumimoji="0" lang="en-US" sz="1200" b="0" i="0" u="sng"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Group Chatting</a:t>
            </a: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for quick discussion with all teams</a:t>
            </a:r>
          </a:p>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 </a:t>
            </a:r>
            <a:r>
              <a:rPr kumimoji="0" lang="en-US" sz="1200" b="0" i="0" u="sng"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Face2Face</a:t>
            </a:r>
            <a:r>
              <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 for quick discussion (@Korea side)</a:t>
            </a:r>
          </a:p>
          <a:p>
            <a:pPr marL="0" marR="0" lvl="0" indent="0" defTabSz="91440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90" name="Group 89">
            <a:extLst>
              <a:ext uri="{FF2B5EF4-FFF2-40B4-BE49-F238E27FC236}">
                <a16:creationId xmlns:a16="http://schemas.microsoft.com/office/drawing/2014/main" id="{80076232-05AA-C82E-E7F0-F5396DB52AE2}"/>
              </a:ext>
            </a:extLst>
          </p:cNvPr>
          <p:cNvGrpSpPr/>
          <p:nvPr/>
        </p:nvGrpSpPr>
        <p:grpSpPr>
          <a:xfrm>
            <a:off x="853523" y="4704377"/>
            <a:ext cx="10680066" cy="1771834"/>
            <a:chOff x="853523" y="4647932"/>
            <a:chExt cx="11509742" cy="1771834"/>
          </a:xfrm>
        </p:grpSpPr>
        <p:sp>
          <p:nvSpPr>
            <p:cNvPr id="91" name="Rectangle 90">
              <a:extLst>
                <a:ext uri="{FF2B5EF4-FFF2-40B4-BE49-F238E27FC236}">
                  <a16:creationId xmlns:a16="http://schemas.microsoft.com/office/drawing/2014/main" id="{1E23FBD0-831A-78E9-1D3A-2D301CABD669}"/>
                </a:ext>
              </a:extLst>
            </p:cNvPr>
            <p:cNvSpPr/>
            <p:nvPr/>
          </p:nvSpPr>
          <p:spPr>
            <a:xfrm>
              <a:off x="853523" y="6005994"/>
              <a:ext cx="2968568" cy="413772"/>
            </a:xfrm>
            <a:prstGeom prst="rect">
              <a:avLst/>
            </a:prstGeom>
            <a:solidFill>
              <a:sysClr val="window" lastClr="FFFFFF"/>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92" name="Rectangle 91">
              <a:extLst>
                <a:ext uri="{FF2B5EF4-FFF2-40B4-BE49-F238E27FC236}">
                  <a16:creationId xmlns:a16="http://schemas.microsoft.com/office/drawing/2014/main" id="{E17F2E5B-47E0-5884-066C-0F7863B67479}"/>
                </a:ext>
              </a:extLst>
            </p:cNvPr>
            <p:cNvSpPr/>
            <p:nvPr/>
          </p:nvSpPr>
          <p:spPr>
            <a:xfrm>
              <a:off x="1262277" y="4647932"/>
              <a:ext cx="2058509" cy="307768"/>
            </a:xfrm>
            <a:prstGeom prst="rect">
              <a:avLst/>
            </a:prstGeom>
            <a:solidFill>
              <a:sysClr val="window" lastClr="FFFFFF">
                <a:lumMod val="95000"/>
              </a:sysClr>
            </a:solidFill>
          </p:spPr>
          <p:txBody>
            <a:bodyPr wrap="none" lIns="121912" tIns="60956" rIns="121912" bIns="60956">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ED7D31">
                      <a:lumMod val="75000"/>
                    </a:srgbClr>
                  </a:solidFill>
                  <a:effectLst/>
                  <a:uLnTx/>
                  <a:uFillTx/>
                  <a:latin typeface="Tahoma" panose="020B0604030504040204" pitchFamily="34" charset="0"/>
                  <a:ea typeface="Tahoma" panose="020B0604030504040204" pitchFamily="34" charset="0"/>
                  <a:cs typeface="Tahoma" panose="020B0604030504040204" pitchFamily="34" charset="0"/>
                </a:rPr>
                <a:t>Communication Tools</a:t>
              </a:r>
            </a:p>
          </p:txBody>
        </p:sp>
        <p:pic>
          <p:nvPicPr>
            <p:cNvPr id="93" name="Picture 3">
              <a:extLst>
                <a:ext uri="{FF2B5EF4-FFF2-40B4-BE49-F238E27FC236}">
                  <a16:creationId xmlns:a16="http://schemas.microsoft.com/office/drawing/2014/main" id="{C3061BB0-0C88-82A1-CF8A-BFB19C079CE5}"/>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2700261" y="5421065"/>
              <a:ext cx="526273" cy="49996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4" name="Picture 4">
              <a:extLst>
                <a:ext uri="{FF2B5EF4-FFF2-40B4-BE49-F238E27FC236}">
                  <a16:creationId xmlns:a16="http://schemas.microsoft.com/office/drawing/2014/main" id="{C7819E86-6E2A-CBBD-0B85-B97BB22E2F75}"/>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1480716" y="5418387"/>
              <a:ext cx="361387" cy="51169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5" name="Picture 8">
              <a:extLst>
                <a:ext uri="{FF2B5EF4-FFF2-40B4-BE49-F238E27FC236}">
                  <a16:creationId xmlns:a16="http://schemas.microsoft.com/office/drawing/2014/main" id="{4CEAF875-EA7C-1F4D-A6DE-EC363FA32F41}"/>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048535" y="5503483"/>
              <a:ext cx="495968" cy="45117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6" name="Picture 10">
              <a:extLst>
                <a:ext uri="{FF2B5EF4-FFF2-40B4-BE49-F238E27FC236}">
                  <a16:creationId xmlns:a16="http://schemas.microsoft.com/office/drawing/2014/main" id="{1B866BE3-9E0C-E974-3D3D-9649421958A0}"/>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7402092" y="5541797"/>
              <a:ext cx="483776" cy="47993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97" name="Picture 15">
              <a:extLst>
                <a:ext uri="{FF2B5EF4-FFF2-40B4-BE49-F238E27FC236}">
                  <a16:creationId xmlns:a16="http://schemas.microsoft.com/office/drawing/2014/main" id="{F367F3CB-89FE-70C0-1CB0-F0D490B1CDD9}"/>
                </a:ext>
              </a:extLst>
            </p:cNvPr>
            <p:cNvPicPr>
              <a:picLocks noChangeAspect="1" noChangeArrowheads="1"/>
            </p:cNvPicPr>
            <p:nvPr/>
          </p:nvPicPr>
          <p:blipFill>
            <a:blip r:embed="rId6" cstate="screen">
              <a:extLst>
                <a:ext uri="{28A0092B-C50C-407E-A947-70E740481C1C}">
                  <a14:useLocalDpi xmlns:a14="http://schemas.microsoft.com/office/drawing/2010/main"/>
                </a:ext>
              </a:extLst>
            </a:blip>
            <a:srcRect/>
            <a:stretch>
              <a:fillRect/>
            </a:stretch>
          </p:blipFill>
          <p:spPr bwMode="auto">
            <a:xfrm>
              <a:off x="11292159" y="5371118"/>
              <a:ext cx="878839" cy="5538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98" name="TextBox 97">
              <a:extLst>
                <a:ext uri="{FF2B5EF4-FFF2-40B4-BE49-F238E27FC236}">
                  <a16:creationId xmlns:a16="http://schemas.microsoft.com/office/drawing/2014/main" id="{3C3497DE-178C-FCBF-8951-C8943A799ACF}"/>
                </a:ext>
              </a:extLst>
            </p:cNvPr>
            <p:cNvSpPr txBox="1"/>
            <p:nvPr/>
          </p:nvSpPr>
          <p:spPr>
            <a:xfrm>
              <a:off x="1053279" y="5055473"/>
              <a:ext cx="1420648" cy="307768"/>
            </a:xfrm>
            <a:prstGeom prst="rect">
              <a:avLst/>
            </a:prstGeom>
            <a:noFill/>
          </p:spPr>
          <p:txBody>
            <a:bodyPr wrap="none" lIns="121912" tIns="60956" rIns="121912" bIns="60956"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Issue Tracker</a:t>
              </a:r>
            </a:p>
          </p:txBody>
        </p:sp>
        <p:sp>
          <p:nvSpPr>
            <p:cNvPr id="99" name="TextBox 98">
              <a:extLst>
                <a:ext uri="{FF2B5EF4-FFF2-40B4-BE49-F238E27FC236}">
                  <a16:creationId xmlns:a16="http://schemas.microsoft.com/office/drawing/2014/main" id="{61711C57-3E61-D120-B939-EF04694AFAE2}"/>
                </a:ext>
              </a:extLst>
            </p:cNvPr>
            <p:cNvSpPr txBox="1"/>
            <p:nvPr/>
          </p:nvSpPr>
          <p:spPr>
            <a:xfrm>
              <a:off x="3890926" y="5080129"/>
              <a:ext cx="736286" cy="307768"/>
            </a:xfrm>
            <a:prstGeom prst="rect">
              <a:avLst/>
            </a:prstGeom>
            <a:noFill/>
          </p:spPr>
          <p:txBody>
            <a:bodyPr wrap="none" lIns="121912" tIns="60956" rIns="121912" bIns="60956"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Email</a:t>
              </a:r>
            </a:p>
          </p:txBody>
        </p:sp>
        <p:sp>
          <p:nvSpPr>
            <p:cNvPr id="100" name="TextBox 99">
              <a:extLst>
                <a:ext uri="{FF2B5EF4-FFF2-40B4-BE49-F238E27FC236}">
                  <a16:creationId xmlns:a16="http://schemas.microsoft.com/office/drawing/2014/main" id="{0C361A4A-0652-44EE-DAA6-789DC34735A5}"/>
                </a:ext>
              </a:extLst>
            </p:cNvPr>
            <p:cNvSpPr txBox="1"/>
            <p:nvPr/>
          </p:nvSpPr>
          <p:spPr>
            <a:xfrm>
              <a:off x="7149839" y="5061009"/>
              <a:ext cx="1590862" cy="307768"/>
            </a:xfrm>
            <a:prstGeom prst="rect">
              <a:avLst/>
            </a:prstGeom>
            <a:noFill/>
          </p:spPr>
          <p:txBody>
            <a:bodyPr wrap="none" lIns="121912" tIns="60956" rIns="121912" bIns="60956"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Conference Call</a:t>
              </a:r>
            </a:p>
          </p:txBody>
        </p:sp>
        <p:sp>
          <p:nvSpPr>
            <p:cNvPr id="101" name="TextBox 100">
              <a:extLst>
                <a:ext uri="{FF2B5EF4-FFF2-40B4-BE49-F238E27FC236}">
                  <a16:creationId xmlns:a16="http://schemas.microsoft.com/office/drawing/2014/main" id="{08ADC8AA-FB40-B679-6BE5-DCEDEB5EB513}"/>
                </a:ext>
              </a:extLst>
            </p:cNvPr>
            <p:cNvSpPr txBox="1"/>
            <p:nvPr/>
          </p:nvSpPr>
          <p:spPr>
            <a:xfrm>
              <a:off x="11112830" y="5055649"/>
              <a:ext cx="1250435" cy="307768"/>
            </a:xfrm>
            <a:prstGeom prst="rect">
              <a:avLst/>
            </a:prstGeom>
            <a:noFill/>
          </p:spPr>
          <p:txBody>
            <a:bodyPr wrap="none" lIns="121912" tIns="60956" rIns="121912" bIns="60956"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Face 2 Face</a:t>
              </a:r>
            </a:p>
          </p:txBody>
        </p:sp>
        <p:sp>
          <p:nvSpPr>
            <p:cNvPr id="102" name="TextBox 101">
              <a:extLst>
                <a:ext uri="{FF2B5EF4-FFF2-40B4-BE49-F238E27FC236}">
                  <a16:creationId xmlns:a16="http://schemas.microsoft.com/office/drawing/2014/main" id="{C904B7EC-6907-0D3A-7633-002036D86B79}"/>
                </a:ext>
              </a:extLst>
            </p:cNvPr>
            <p:cNvSpPr txBox="1"/>
            <p:nvPr/>
          </p:nvSpPr>
          <p:spPr>
            <a:xfrm>
              <a:off x="2630727" y="5067429"/>
              <a:ext cx="646793" cy="307768"/>
            </a:xfrm>
            <a:prstGeom prst="rect">
              <a:avLst/>
            </a:prstGeom>
            <a:noFill/>
          </p:spPr>
          <p:txBody>
            <a:bodyPr wrap="none" lIns="121912" tIns="60956" rIns="121912" bIns="60956"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Wiki</a:t>
              </a:r>
            </a:p>
          </p:txBody>
        </p:sp>
        <p:sp>
          <p:nvSpPr>
            <p:cNvPr id="103" name="TextBox 102">
              <a:extLst>
                <a:ext uri="{FF2B5EF4-FFF2-40B4-BE49-F238E27FC236}">
                  <a16:creationId xmlns:a16="http://schemas.microsoft.com/office/drawing/2014/main" id="{B4577ACA-F198-DD11-03BE-B7EA45883187}"/>
                </a:ext>
              </a:extLst>
            </p:cNvPr>
            <p:cNvSpPr txBox="1"/>
            <p:nvPr/>
          </p:nvSpPr>
          <p:spPr>
            <a:xfrm>
              <a:off x="9285882" y="5065081"/>
              <a:ext cx="1557520" cy="307768"/>
            </a:xfrm>
            <a:prstGeom prst="rect">
              <a:avLst/>
            </a:prstGeom>
            <a:noFill/>
          </p:spPr>
          <p:txBody>
            <a:bodyPr wrap="none" lIns="121912" tIns="60956" rIns="121912" bIns="60956"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Group Chatting</a:t>
              </a:r>
            </a:p>
          </p:txBody>
        </p:sp>
        <p:pic>
          <p:nvPicPr>
            <p:cNvPr id="104" name="Picture 3">
              <a:extLst>
                <a:ext uri="{FF2B5EF4-FFF2-40B4-BE49-F238E27FC236}">
                  <a16:creationId xmlns:a16="http://schemas.microsoft.com/office/drawing/2014/main" id="{BCC42DE3-4DD4-590B-3770-CB2D749D4149}"/>
                </a:ext>
              </a:extLst>
            </p:cNvPr>
            <p:cNvPicPr>
              <a:picLocks noChangeAspect="1" noChangeArrowheads="1"/>
            </p:cNvPicPr>
            <p:nvPr/>
          </p:nvPicPr>
          <p:blipFill>
            <a:blip r:embed="rId7">
              <a:extLst>
                <a:ext uri="{28A0092B-C50C-407E-A947-70E740481C1C}">
                  <a14:useLocalDpi xmlns:a14="http://schemas.microsoft.com/office/drawing/2010/main"/>
                </a:ext>
              </a:extLst>
            </a:blip>
            <a:srcRect/>
            <a:stretch>
              <a:fillRect/>
            </a:stretch>
          </p:blipFill>
          <p:spPr bwMode="auto">
            <a:xfrm>
              <a:off x="5294216" y="5572922"/>
              <a:ext cx="1211067" cy="31228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05" name="TextBox 104">
              <a:extLst>
                <a:ext uri="{FF2B5EF4-FFF2-40B4-BE49-F238E27FC236}">
                  <a16:creationId xmlns:a16="http://schemas.microsoft.com/office/drawing/2014/main" id="{4BAEAF47-267B-176B-7A6D-5475D2A96000}"/>
                </a:ext>
              </a:extLst>
            </p:cNvPr>
            <p:cNvSpPr txBox="1"/>
            <p:nvPr/>
          </p:nvSpPr>
          <p:spPr>
            <a:xfrm>
              <a:off x="5294217" y="5082809"/>
              <a:ext cx="1167961" cy="307768"/>
            </a:xfrm>
            <a:prstGeom prst="rect">
              <a:avLst/>
            </a:prstGeom>
            <a:noFill/>
          </p:spPr>
          <p:txBody>
            <a:bodyPr wrap="none" lIns="121912" tIns="60956" rIns="121912" bIns="60956"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Workplace</a:t>
              </a:r>
            </a:p>
          </p:txBody>
        </p:sp>
        <p:pic>
          <p:nvPicPr>
            <p:cNvPr id="106" name="Picture 105">
              <a:extLst>
                <a:ext uri="{FF2B5EF4-FFF2-40B4-BE49-F238E27FC236}">
                  <a16:creationId xmlns:a16="http://schemas.microsoft.com/office/drawing/2014/main" id="{3ECCDAAB-1878-1CF9-0B1E-AFFA5F6A46A4}"/>
                </a:ext>
              </a:extLst>
            </p:cNvPr>
            <p:cNvPicPr>
              <a:picLocks noChangeAspect="1"/>
            </p:cNvPicPr>
            <p:nvPr/>
          </p:nvPicPr>
          <p:blipFill>
            <a:blip r:embed="rId8" cstate="screen">
              <a:extLst>
                <a:ext uri="{28A0092B-C50C-407E-A947-70E740481C1C}">
                  <a14:useLocalDpi xmlns:a14="http://schemas.microsoft.com/office/drawing/2010/main"/>
                </a:ext>
              </a:extLst>
            </a:blip>
            <a:stretch>
              <a:fillRect/>
            </a:stretch>
          </p:blipFill>
          <p:spPr>
            <a:xfrm>
              <a:off x="9583883" y="5508450"/>
              <a:ext cx="1002801" cy="441232"/>
            </a:xfrm>
            <a:prstGeom prst="rect">
              <a:avLst/>
            </a:prstGeom>
          </p:spPr>
        </p:pic>
        <p:pic>
          <p:nvPicPr>
            <p:cNvPr id="107" name="Picture 106">
              <a:extLst>
                <a:ext uri="{FF2B5EF4-FFF2-40B4-BE49-F238E27FC236}">
                  <a16:creationId xmlns:a16="http://schemas.microsoft.com/office/drawing/2014/main" id="{CE88CC9D-50D0-61E4-E479-C7A16B66ACCB}"/>
                </a:ext>
              </a:extLst>
            </p:cNvPr>
            <p:cNvPicPr>
              <a:picLocks noChangeAspect="1"/>
            </p:cNvPicPr>
            <p:nvPr/>
          </p:nvPicPr>
          <p:blipFill>
            <a:blip r:embed="rId9"/>
            <a:stretch>
              <a:fillRect/>
            </a:stretch>
          </p:blipFill>
          <p:spPr>
            <a:xfrm>
              <a:off x="7975724" y="5340645"/>
              <a:ext cx="800051" cy="800051"/>
            </a:xfrm>
            <a:prstGeom prst="rect">
              <a:avLst/>
            </a:prstGeom>
          </p:spPr>
        </p:pic>
        <p:pic>
          <p:nvPicPr>
            <p:cNvPr id="108" name="Picture 107">
              <a:extLst>
                <a:ext uri="{FF2B5EF4-FFF2-40B4-BE49-F238E27FC236}">
                  <a16:creationId xmlns:a16="http://schemas.microsoft.com/office/drawing/2014/main" id="{CCC027E5-24D4-8ACD-1329-9D444A63E085}"/>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7888623" y="5855848"/>
              <a:ext cx="1006997" cy="434634"/>
            </a:xfrm>
            <a:prstGeom prst="rect">
              <a:avLst/>
            </a:prstGeom>
          </p:spPr>
        </p:pic>
      </p:grpSp>
      <p:grpSp>
        <p:nvGrpSpPr>
          <p:cNvPr id="109" name="Group 108">
            <a:extLst>
              <a:ext uri="{FF2B5EF4-FFF2-40B4-BE49-F238E27FC236}">
                <a16:creationId xmlns:a16="http://schemas.microsoft.com/office/drawing/2014/main" id="{A4390871-DE57-50B2-5436-9D69EC7868C0}"/>
              </a:ext>
            </a:extLst>
          </p:cNvPr>
          <p:cNvGrpSpPr/>
          <p:nvPr/>
        </p:nvGrpSpPr>
        <p:grpSpPr>
          <a:xfrm>
            <a:off x="1237044" y="1070320"/>
            <a:ext cx="5071001" cy="3162322"/>
            <a:chOff x="398098" y="891186"/>
            <a:chExt cx="5945828" cy="3455335"/>
          </a:xfrm>
        </p:grpSpPr>
        <p:sp>
          <p:nvSpPr>
            <p:cNvPr id="110" name="TextBox 109">
              <a:extLst>
                <a:ext uri="{FF2B5EF4-FFF2-40B4-BE49-F238E27FC236}">
                  <a16:creationId xmlns:a16="http://schemas.microsoft.com/office/drawing/2014/main" id="{E4513781-B9FE-333C-0966-87049A5738CF}"/>
                </a:ext>
              </a:extLst>
            </p:cNvPr>
            <p:cNvSpPr txBox="1"/>
            <p:nvPr/>
          </p:nvSpPr>
          <p:spPr>
            <a:xfrm>
              <a:off x="398098" y="891186"/>
              <a:ext cx="2371216" cy="336285"/>
            </a:xfrm>
            <a:prstGeom prst="rect">
              <a:avLst/>
            </a:prstGeom>
            <a:solidFill>
              <a:sysClr val="window" lastClr="FFFFFF">
                <a:lumMod val="95000"/>
              </a:sysClr>
            </a:solidFill>
          </p:spPr>
          <p:txBody>
            <a:bodyPr wrap="none" lIns="121912" tIns="60956" rIns="121912" bIns="60956"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F27228"/>
                  </a:solidFill>
                  <a:effectLst/>
                  <a:uLnTx/>
                  <a:uFillTx/>
                  <a:latin typeface="Tahoma" panose="020B0604030504040204" pitchFamily="34" charset="0"/>
                  <a:ea typeface="Tahoma" panose="020B0604030504040204" pitchFamily="34" charset="0"/>
                  <a:cs typeface="Tahoma" panose="020B0604030504040204" pitchFamily="34" charset="0"/>
                </a:rPr>
                <a:t>Communication Model</a:t>
              </a:r>
              <a:endParaRPr kumimoji="0" lang="en-US" sz="1200" b="1" i="0" u="none" strike="noStrike" kern="1200" cap="none" spc="0" normalizeH="0" baseline="0" noProof="0" dirty="0">
                <a:ln>
                  <a:noFill/>
                </a:ln>
                <a:solidFill>
                  <a:srgbClr val="F27228"/>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11" name="직사각형 8">
              <a:extLst>
                <a:ext uri="{FF2B5EF4-FFF2-40B4-BE49-F238E27FC236}">
                  <a16:creationId xmlns:a16="http://schemas.microsoft.com/office/drawing/2014/main" id="{6FDD1328-352D-6A91-9A28-B80F2C1286DC}"/>
                </a:ext>
              </a:extLst>
            </p:cNvPr>
            <p:cNvSpPr/>
            <p:nvPr/>
          </p:nvSpPr>
          <p:spPr>
            <a:xfrm>
              <a:off x="1038457" y="2048524"/>
              <a:ext cx="1212043" cy="360040"/>
            </a:xfrm>
            <a:prstGeom prst="rect">
              <a:avLst/>
            </a:prstGeom>
            <a:solidFill>
              <a:srgbClr val="FFFF00"/>
            </a:solidFill>
            <a:ln w="25400" cap="flat" cmpd="sng" algn="ctr">
              <a:solidFill>
                <a:srgbClr val="36365C"/>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PM</a:t>
              </a:r>
              <a:endParaRPr kumimoji="0" lang="ko-KR" altLang="en-US" sz="1200" b="0" i="0" u="none" strike="noStrike" kern="1200" cap="none" spc="0" normalizeH="0" baseline="0" noProof="0" dirty="0">
                <a:ln>
                  <a:noFill/>
                </a:ln>
                <a:solidFill>
                  <a:srgbClr val="36365C"/>
                </a:solidFill>
                <a:effectLst/>
                <a:uLnTx/>
                <a:uFillTx/>
                <a:latin typeface="Tahoma" panose="020B0604030504040204" pitchFamily="34" charset="0"/>
                <a:ea typeface="+mn-ea"/>
                <a:cs typeface="Tahoma" panose="020B0604030504040204" pitchFamily="34" charset="0"/>
              </a:endParaRPr>
            </a:p>
          </p:txBody>
        </p:sp>
        <p:sp>
          <p:nvSpPr>
            <p:cNvPr id="112" name="직사각형 12">
              <a:extLst>
                <a:ext uri="{FF2B5EF4-FFF2-40B4-BE49-F238E27FC236}">
                  <a16:creationId xmlns:a16="http://schemas.microsoft.com/office/drawing/2014/main" id="{545DA9C1-2F4F-E3E8-7DAB-6FD615E0724A}"/>
                </a:ext>
              </a:extLst>
            </p:cNvPr>
            <p:cNvSpPr/>
            <p:nvPr/>
          </p:nvSpPr>
          <p:spPr>
            <a:xfrm>
              <a:off x="429833" y="3986481"/>
              <a:ext cx="1152128" cy="360040"/>
            </a:xfrm>
            <a:prstGeom prst="rect">
              <a:avLst/>
            </a:prstGeom>
            <a:noFill/>
            <a:ln w="25400" cap="flat" cmpd="sng" algn="ctr">
              <a:solidFill>
                <a:srgbClr val="36365C"/>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a:t>
              </a:r>
              <a:endParaRPr kumimoji="0" lang="ko-KR" altLang="en-US" sz="1200" b="0" i="0" u="none" strike="noStrike" kern="1200" cap="none" spc="0" normalizeH="0" baseline="0" noProof="0" dirty="0">
                <a:ln>
                  <a:noFill/>
                </a:ln>
                <a:solidFill>
                  <a:srgbClr val="36365C"/>
                </a:solidFill>
                <a:effectLst/>
                <a:uLnTx/>
                <a:uFillTx/>
                <a:latin typeface="Tahoma" panose="020B0604030504040204" pitchFamily="34" charset="0"/>
                <a:ea typeface="+mn-ea"/>
                <a:cs typeface="Tahoma" panose="020B0604030504040204" pitchFamily="34" charset="0"/>
              </a:endParaRPr>
            </a:p>
          </p:txBody>
        </p:sp>
        <p:sp>
          <p:nvSpPr>
            <p:cNvPr id="113" name="직사각형 13">
              <a:extLst>
                <a:ext uri="{FF2B5EF4-FFF2-40B4-BE49-F238E27FC236}">
                  <a16:creationId xmlns:a16="http://schemas.microsoft.com/office/drawing/2014/main" id="{D4B097E7-50EF-D8F1-F371-ADC879819A9F}"/>
                </a:ext>
              </a:extLst>
            </p:cNvPr>
            <p:cNvSpPr/>
            <p:nvPr/>
          </p:nvSpPr>
          <p:spPr>
            <a:xfrm>
              <a:off x="997113" y="3089246"/>
              <a:ext cx="1296441" cy="360040"/>
            </a:xfrm>
            <a:prstGeom prst="rect">
              <a:avLst/>
            </a:prstGeom>
            <a:solidFill>
              <a:srgbClr val="FFC000"/>
            </a:solidFill>
            <a:ln w="25400" cap="flat" cmpd="sng" algn="ctr">
              <a:solidFill>
                <a:srgbClr val="36365C"/>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TL</a:t>
              </a:r>
              <a:endParaRPr kumimoji="0" lang="ko-KR" altLang="en-US" sz="1200" b="0" i="0" u="none" strike="noStrike" kern="1200" cap="none" spc="0" normalizeH="0" baseline="0" noProof="0" dirty="0">
                <a:ln>
                  <a:noFill/>
                </a:ln>
                <a:solidFill>
                  <a:srgbClr val="36365C"/>
                </a:solidFill>
                <a:effectLst/>
                <a:uLnTx/>
                <a:uFillTx/>
                <a:latin typeface="Tahoma" panose="020B0604030504040204" pitchFamily="34" charset="0"/>
                <a:ea typeface="+mn-ea"/>
                <a:cs typeface="Tahoma" panose="020B0604030504040204" pitchFamily="34" charset="0"/>
              </a:endParaRPr>
            </a:p>
          </p:txBody>
        </p:sp>
        <p:sp>
          <p:nvSpPr>
            <p:cNvPr id="114" name="직사각형 14">
              <a:extLst>
                <a:ext uri="{FF2B5EF4-FFF2-40B4-BE49-F238E27FC236}">
                  <a16:creationId xmlns:a16="http://schemas.microsoft.com/office/drawing/2014/main" id="{A2A35886-1815-D3C1-3501-FC30A0315CC3}"/>
                </a:ext>
              </a:extLst>
            </p:cNvPr>
            <p:cNvSpPr/>
            <p:nvPr/>
          </p:nvSpPr>
          <p:spPr>
            <a:xfrm>
              <a:off x="1732121" y="3986481"/>
              <a:ext cx="1152128" cy="360040"/>
            </a:xfrm>
            <a:prstGeom prst="rect">
              <a:avLst/>
            </a:prstGeom>
            <a:noFill/>
            <a:ln w="25400" cap="flat" cmpd="sng" algn="ctr">
              <a:solidFill>
                <a:srgbClr val="36365C"/>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Developer</a:t>
              </a:r>
              <a:endParaRPr kumimoji="0" lang="ko-KR" altLang="en-US" sz="1200" b="0" i="0" u="none" strike="noStrike" kern="1200" cap="none" spc="0" normalizeH="0" baseline="0" noProof="0" dirty="0">
                <a:ln>
                  <a:noFill/>
                </a:ln>
                <a:solidFill>
                  <a:srgbClr val="36365C"/>
                </a:solidFill>
                <a:effectLst/>
                <a:uLnTx/>
                <a:uFillTx/>
                <a:latin typeface="Tahoma" panose="020B0604030504040204" pitchFamily="34" charset="0"/>
                <a:ea typeface="+mn-ea"/>
                <a:cs typeface="Tahoma" panose="020B0604030504040204" pitchFamily="34" charset="0"/>
              </a:endParaRPr>
            </a:p>
          </p:txBody>
        </p:sp>
        <p:sp>
          <p:nvSpPr>
            <p:cNvPr id="115" name="직사각형 63">
              <a:extLst>
                <a:ext uri="{FF2B5EF4-FFF2-40B4-BE49-F238E27FC236}">
                  <a16:creationId xmlns:a16="http://schemas.microsoft.com/office/drawing/2014/main" id="{7AFC53F5-68F5-F8C6-81AF-5CDB90463579}"/>
                </a:ext>
              </a:extLst>
            </p:cNvPr>
            <p:cNvSpPr/>
            <p:nvPr/>
          </p:nvSpPr>
          <p:spPr>
            <a:xfrm>
              <a:off x="4526441" y="2047217"/>
              <a:ext cx="1152128" cy="360040"/>
            </a:xfrm>
            <a:prstGeom prst="rect">
              <a:avLst/>
            </a:prstGeom>
            <a:solidFill>
              <a:srgbClr val="FFFF00"/>
            </a:solidFill>
            <a:ln w="25400" cap="flat" cmpd="sng" algn="ctr">
              <a:solidFill>
                <a:srgbClr val="36365C"/>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PM</a:t>
              </a:r>
              <a:endParaRPr kumimoji="0" lang="ko-KR" altLang="en-US" sz="1200" b="0" i="0" u="none" strike="noStrike" kern="1200" cap="none" spc="0" normalizeH="0" baseline="0" noProof="0" dirty="0">
                <a:ln>
                  <a:noFill/>
                </a:ln>
                <a:solidFill>
                  <a:srgbClr val="36365C"/>
                </a:solidFill>
                <a:effectLst/>
                <a:uLnTx/>
                <a:uFillTx/>
                <a:latin typeface="Tahoma" panose="020B0604030504040204" pitchFamily="34" charset="0"/>
                <a:ea typeface="+mn-ea"/>
                <a:cs typeface="Tahoma" panose="020B0604030504040204" pitchFamily="34" charset="0"/>
              </a:endParaRPr>
            </a:p>
          </p:txBody>
        </p:sp>
        <p:cxnSp>
          <p:nvCxnSpPr>
            <p:cNvPr id="116" name="꺾인 연결선 31">
              <a:extLst>
                <a:ext uri="{FF2B5EF4-FFF2-40B4-BE49-F238E27FC236}">
                  <a16:creationId xmlns:a16="http://schemas.microsoft.com/office/drawing/2014/main" id="{3BFE79B3-EE42-2226-D629-A0AF2B1E1B07}"/>
                </a:ext>
              </a:extLst>
            </p:cNvPr>
            <p:cNvCxnSpPr>
              <a:cxnSpLocks/>
              <a:stCxn id="112" idx="0"/>
              <a:endCxn id="113" idx="2"/>
            </p:cNvCxnSpPr>
            <p:nvPr/>
          </p:nvCxnSpPr>
          <p:spPr>
            <a:xfrm rot="5400000" flipH="1" flipV="1">
              <a:off x="1057018" y="3398165"/>
              <a:ext cx="537194" cy="639436"/>
            </a:xfrm>
            <a:prstGeom prst="bentConnector3">
              <a:avLst>
                <a:gd name="adj1" fmla="val 50000"/>
              </a:avLst>
            </a:prstGeom>
            <a:noFill/>
            <a:ln w="25400" cap="flat" cmpd="sng" algn="ctr">
              <a:solidFill>
                <a:srgbClr val="36365C"/>
              </a:solidFill>
              <a:prstDash val="solid"/>
              <a:miter lim="800000"/>
              <a:tailEnd type="triangle"/>
            </a:ln>
            <a:effectLst/>
          </p:spPr>
        </p:cxnSp>
        <p:sp>
          <p:nvSpPr>
            <p:cNvPr id="117" name="직사각형 11">
              <a:extLst>
                <a:ext uri="{FF2B5EF4-FFF2-40B4-BE49-F238E27FC236}">
                  <a16:creationId xmlns:a16="http://schemas.microsoft.com/office/drawing/2014/main" id="{F69553CF-87E6-16E6-9FF8-A75A31D61849}"/>
                </a:ext>
              </a:extLst>
            </p:cNvPr>
            <p:cNvSpPr/>
            <p:nvPr/>
          </p:nvSpPr>
          <p:spPr>
            <a:xfrm>
              <a:off x="5191798" y="3083846"/>
              <a:ext cx="1152128" cy="360040"/>
            </a:xfrm>
            <a:prstGeom prst="rect">
              <a:avLst/>
            </a:prstGeom>
            <a:solidFill>
              <a:srgbClr val="FFC000"/>
            </a:solidFill>
            <a:ln w="25400" cap="flat" cmpd="sng" algn="ctr">
              <a:solidFill>
                <a:srgbClr val="36365C"/>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a:t>
              </a:r>
              <a:endParaRPr kumimoji="0" lang="ko-KR" altLang="en-US" sz="1200" b="0" i="0" u="none" strike="noStrike" kern="1200" cap="none" spc="0" normalizeH="0" baseline="0" noProof="0" dirty="0">
                <a:ln>
                  <a:noFill/>
                </a:ln>
                <a:solidFill>
                  <a:srgbClr val="36365C"/>
                </a:solidFill>
                <a:effectLst/>
                <a:uLnTx/>
                <a:uFillTx/>
                <a:latin typeface="Tahoma" panose="020B0604030504040204" pitchFamily="34" charset="0"/>
                <a:ea typeface="+mn-ea"/>
                <a:cs typeface="Tahoma" panose="020B0604030504040204" pitchFamily="34" charset="0"/>
              </a:endParaRPr>
            </a:p>
          </p:txBody>
        </p:sp>
        <p:sp>
          <p:nvSpPr>
            <p:cNvPr id="118" name="직사각형 11">
              <a:extLst>
                <a:ext uri="{FF2B5EF4-FFF2-40B4-BE49-F238E27FC236}">
                  <a16:creationId xmlns:a16="http://schemas.microsoft.com/office/drawing/2014/main" id="{0D0DDBE9-8673-D450-4043-34C4200DBE7B}"/>
                </a:ext>
              </a:extLst>
            </p:cNvPr>
            <p:cNvSpPr/>
            <p:nvPr/>
          </p:nvSpPr>
          <p:spPr>
            <a:xfrm>
              <a:off x="3824211" y="3083846"/>
              <a:ext cx="1278910" cy="360040"/>
            </a:xfrm>
            <a:prstGeom prst="rect">
              <a:avLst/>
            </a:prstGeom>
            <a:solidFill>
              <a:srgbClr val="FFC000"/>
            </a:solidFill>
            <a:ln w="25400" cap="flat" cmpd="sng" algn="ctr">
              <a:solidFill>
                <a:srgbClr val="36365C"/>
              </a:solidFill>
              <a:prstDash val="solid"/>
              <a:miter lim="800000"/>
              <a:tailEnd type="triangle"/>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2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Team Leader</a:t>
              </a:r>
              <a:endParaRPr kumimoji="0" lang="ko-KR" altLang="en-US" sz="1200" b="0" i="0" u="none" strike="noStrike" kern="1200" cap="none" spc="0" normalizeH="0" baseline="0" noProof="0" dirty="0">
                <a:ln>
                  <a:noFill/>
                </a:ln>
                <a:solidFill>
                  <a:srgbClr val="36365C"/>
                </a:solidFill>
                <a:effectLst/>
                <a:uLnTx/>
                <a:uFillTx/>
                <a:latin typeface="Tahoma" panose="020B0604030504040204" pitchFamily="34" charset="0"/>
                <a:ea typeface="+mn-ea"/>
                <a:cs typeface="Tahoma" panose="020B0604030504040204" pitchFamily="34" charset="0"/>
              </a:endParaRPr>
            </a:p>
          </p:txBody>
        </p:sp>
        <p:sp>
          <p:nvSpPr>
            <p:cNvPr id="119" name="TextBox 118">
              <a:extLst>
                <a:ext uri="{FF2B5EF4-FFF2-40B4-BE49-F238E27FC236}">
                  <a16:creationId xmlns:a16="http://schemas.microsoft.com/office/drawing/2014/main" id="{892DF046-072A-8D86-C6FC-E327EE410439}"/>
                </a:ext>
              </a:extLst>
            </p:cNvPr>
            <p:cNvSpPr txBox="1"/>
            <p:nvPr/>
          </p:nvSpPr>
          <p:spPr>
            <a:xfrm>
              <a:off x="4555217" y="1339310"/>
              <a:ext cx="1080090" cy="302665"/>
            </a:xfrm>
            <a:prstGeom prst="rect">
              <a:avLst/>
            </a:prstGeom>
            <a:solidFill>
              <a:srgbClr val="70AD47"/>
            </a:solid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LG CNS</a:t>
              </a:r>
            </a:p>
          </p:txBody>
        </p:sp>
        <p:sp>
          <p:nvSpPr>
            <p:cNvPr id="120" name="TextBox 119">
              <a:extLst>
                <a:ext uri="{FF2B5EF4-FFF2-40B4-BE49-F238E27FC236}">
                  <a16:creationId xmlns:a16="http://schemas.microsoft.com/office/drawing/2014/main" id="{2F3B0CFD-AF95-31D2-B8F3-8C3F7BAB3A6F}"/>
                </a:ext>
              </a:extLst>
            </p:cNvPr>
            <p:cNvSpPr txBox="1"/>
            <p:nvPr/>
          </p:nvSpPr>
          <p:spPr>
            <a:xfrm>
              <a:off x="868570" y="1339310"/>
              <a:ext cx="1327512" cy="302665"/>
            </a:xfrm>
            <a:prstGeom prst="rect">
              <a:avLst/>
            </a:prstGeom>
            <a:solidFill>
              <a:srgbClr val="70AD47"/>
            </a:solidFill>
          </p:spPr>
          <p:txBody>
            <a:bodyPr wrap="square" rtlCol="0">
              <a:spAutoFit/>
            </a:bodyPr>
            <a:lstStyle>
              <a:defPPr>
                <a:defRPr lang="en-US"/>
              </a:defPPr>
              <a:lvl1pPr algn="ctr">
                <a:defRPr sz="1400" b="1">
                  <a:solidFill>
                    <a:schemeClr val="bg1"/>
                  </a:solidFill>
                  <a:latin typeface="Segoe UI" panose="020B0502040204020203" pitchFamily="34" charset="0"/>
                  <a:cs typeface="Segoe UI" panose="020B0502040204020203" pitchFamily="34" charset="0"/>
                </a:defRPr>
              </a:lvl1p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FPT</a:t>
              </a:r>
            </a:p>
          </p:txBody>
        </p:sp>
        <p:cxnSp>
          <p:nvCxnSpPr>
            <p:cNvPr id="121" name="Straight Arrow Connector 120">
              <a:extLst>
                <a:ext uri="{FF2B5EF4-FFF2-40B4-BE49-F238E27FC236}">
                  <a16:creationId xmlns:a16="http://schemas.microsoft.com/office/drawing/2014/main" id="{4FAF3598-A444-F122-AB39-041EE81E4620}"/>
                </a:ext>
              </a:extLst>
            </p:cNvPr>
            <p:cNvCxnSpPr>
              <a:cxnSpLocks/>
              <a:stCxn id="111" idx="3"/>
              <a:endCxn id="115" idx="1"/>
            </p:cNvCxnSpPr>
            <p:nvPr/>
          </p:nvCxnSpPr>
          <p:spPr>
            <a:xfrm flipV="1">
              <a:off x="2250500" y="2227237"/>
              <a:ext cx="2275941" cy="1307"/>
            </a:xfrm>
            <a:prstGeom prst="straightConnector1">
              <a:avLst/>
            </a:prstGeom>
            <a:noFill/>
            <a:ln w="25400" cap="flat" cmpd="sng" algn="ctr">
              <a:solidFill>
                <a:srgbClr val="36365C"/>
              </a:solidFill>
              <a:prstDash val="solid"/>
              <a:miter lim="800000"/>
              <a:headEnd type="triangle"/>
              <a:tailEnd type="triangle"/>
            </a:ln>
            <a:effectLst/>
          </p:spPr>
        </p:cxnSp>
        <p:cxnSp>
          <p:nvCxnSpPr>
            <p:cNvPr id="122" name="꺾인 연결선 31">
              <a:extLst>
                <a:ext uri="{FF2B5EF4-FFF2-40B4-BE49-F238E27FC236}">
                  <a16:creationId xmlns:a16="http://schemas.microsoft.com/office/drawing/2014/main" id="{E089CE4A-AA23-E1B5-A2A0-904570ED9582}"/>
                </a:ext>
              </a:extLst>
            </p:cNvPr>
            <p:cNvCxnSpPr>
              <a:cxnSpLocks/>
              <a:stCxn id="113" idx="0"/>
              <a:endCxn id="111" idx="2"/>
            </p:cNvCxnSpPr>
            <p:nvPr/>
          </p:nvCxnSpPr>
          <p:spPr>
            <a:xfrm rot="16200000" flipV="1">
              <a:off x="1304567" y="2748478"/>
              <a:ext cx="680681" cy="855"/>
            </a:xfrm>
            <a:prstGeom prst="bentConnector3">
              <a:avLst>
                <a:gd name="adj1" fmla="val 50000"/>
              </a:avLst>
            </a:prstGeom>
            <a:noFill/>
            <a:ln w="25400" cap="flat" cmpd="sng" algn="ctr">
              <a:solidFill>
                <a:srgbClr val="36365C"/>
              </a:solidFill>
              <a:prstDash val="solid"/>
              <a:miter lim="800000"/>
              <a:tailEnd type="triangle"/>
            </a:ln>
            <a:effectLst/>
          </p:spPr>
        </p:cxnSp>
        <p:cxnSp>
          <p:nvCxnSpPr>
            <p:cNvPr id="123" name="꺾인 연결선 31">
              <a:extLst>
                <a:ext uri="{FF2B5EF4-FFF2-40B4-BE49-F238E27FC236}">
                  <a16:creationId xmlns:a16="http://schemas.microsoft.com/office/drawing/2014/main" id="{CDA465A6-239E-9D2F-E420-34D389E7C5E6}"/>
                </a:ext>
              </a:extLst>
            </p:cNvPr>
            <p:cNvCxnSpPr>
              <a:cxnSpLocks/>
              <a:endCxn id="115" idx="2"/>
            </p:cNvCxnSpPr>
            <p:nvPr/>
          </p:nvCxnSpPr>
          <p:spPr>
            <a:xfrm rot="5400000" flipH="1" flipV="1">
              <a:off x="4452420" y="2417326"/>
              <a:ext cx="660153" cy="640017"/>
            </a:xfrm>
            <a:prstGeom prst="bentConnector3">
              <a:avLst>
                <a:gd name="adj1" fmla="val 50000"/>
              </a:avLst>
            </a:prstGeom>
            <a:noFill/>
            <a:ln w="25400" cap="flat" cmpd="sng" algn="ctr">
              <a:solidFill>
                <a:srgbClr val="36365C"/>
              </a:solidFill>
              <a:prstDash val="solid"/>
              <a:miter lim="800000"/>
              <a:tailEnd type="triangle"/>
            </a:ln>
            <a:effectLst/>
          </p:spPr>
        </p:cxnSp>
        <p:cxnSp>
          <p:nvCxnSpPr>
            <p:cNvPr id="124" name="꺾인 연결선 31">
              <a:extLst>
                <a:ext uri="{FF2B5EF4-FFF2-40B4-BE49-F238E27FC236}">
                  <a16:creationId xmlns:a16="http://schemas.microsoft.com/office/drawing/2014/main" id="{852FC939-D9C2-03EF-6745-1D2B448A1890}"/>
                </a:ext>
              </a:extLst>
            </p:cNvPr>
            <p:cNvCxnSpPr>
              <a:cxnSpLocks/>
              <a:endCxn id="115" idx="2"/>
            </p:cNvCxnSpPr>
            <p:nvPr/>
          </p:nvCxnSpPr>
          <p:spPr>
            <a:xfrm rot="16200000" flipV="1">
              <a:off x="5092437" y="2417325"/>
              <a:ext cx="660154" cy="640017"/>
            </a:xfrm>
            <a:prstGeom prst="bentConnector3">
              <a:avLst>
                <a:gd name="adj1" fmla="val 50000"/>
              </a:avLst>
            </a:prstGeom>
            <a:noFill/>
            <a:ln w="25400" cap="flat" cmpd="sng" algn="ctr">
              <a:solidFill>
                <a:srgbClr val="36365C"/>
              </a:solidFill>
              <a:prstDash val="solid"/>
              <a:miter lim="800000"/>
              <a:tailEnd type="triangle"/>
            </a:ln>
            <a:effectLst/>
          </p:spPr>
        </p:cxnSp>
      </p:grpSp>
      <p:sp>
        <p:nvSpPr>
          <p:cNvPr id="125" name="TextBox 124">
            <a:extLst>
              <a:ext uri="{FF2B5EF4-FFF2-40B4-BE49-F238E27FC236}">
                <a16:creationId xmlns:a16="http://schemas.microsoft.com/office/drawing/2014/main" id="{FC445073-F130-A7BA-248D-8891F0C4A942}"/>
              </a:ext>
            </a:extLst>
          </p:cNvPr>
          <p:cNvSpPr txBox="1"/>
          <p:nvPr/>
        </p:nvSpPr>
        <p:spPr>
          <a:xfrm>
            <a:off x="6695971" y="1065020"/>
            <a:ext cx="2205075" cy="307768"/>
          </a:xfrm>
          <a:prstGeom prst="rect">
            <a:avLst/>
          </a:prstGeom>
          <a:solidFill>
            <a:sysClr val="window" lastClr="FFFFFF">
              <a:lumMod val="95000"/>
            </a:sysClr>
          </a:solidFill>
        </p:spPr>
        <p:txBody>
          <a:bodyPr wrap="none" lIns="121912" tIns="60956" rIns="121912" bIns="60956"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a:ln>
                  <a:noFill/>
                </a:ln>
                <a:solidFill>
                  <a:srgbClr val="F27228"/>
                </a:solidFill>
                <a:effectLst/>
                <a:uLnTx/>
                <a:uFillTx/>
                <a:latin typeface="Tahoma" panose="020B0604030504040204" pitchFamily="34" charset="0"/>
                <a:ea typeface="Tahoma" panose="020B0604030504040204" pitchFamily="34" charset="0"/>
                <a:cs typeface="Tahoma" panose="020B0604030504040204" pitchFamily="34" charset="0"/>
              </a:rPr>
              <a:t>Communication Channels</a:t>
            </a:r>
            <a:endParaRPr kumimoji="0" lang="en-US" sz="1200" b="1" i="0" u="none" strike="noStrike" kern="1200" cap="none" spc="0" normalizeH="0" baseline="0" noProof="0" dirty="0">
              <a:ln>
                <a:noFill/>
              </a:ln>
              <a:solidFill>
                <a:srgbClr val="F27228"/>
              </a:solidFill>
              <a:effectLst/>
              <a:uLnTx/>
              <a:uFillTx/>
              <a:latin typeface="Tahoma" panose="020B0604030504040204" pitchFamily="34" charset="0"/>
              <a:ea typeface="Tahoma" panose="020B0604030504040204" pitchFamily="34" charset="0"/>
              <a:cs typeface="Tahoma" panose="020B0604030504040204" pitchFamily="34" charset="0"/>
            </a:endParaRPr>
          </a:p>
        </p:txBody>
      </p:sp>
      <p:cxnSp>
        <p:nvCxnSpPr>
          <p:cNvPr id="126" name="꺾인 연결선 31">
            <a:extLst>
              <a:ext uri="{FF2B5EF4-FFF2-40B4-BE49-F238E27FC236}">
                <a16:creationId xmlns:a16="http://schemas.microsoft.com/office/drawing/2014/main" id="{8F2EC65B-9F85-DB1A-7B6C-452DD155C8C6}"/>
              </a:ext>
            </a:extLst>
          </p:cNvPr>
          <p:cNvCxnSpPr>
            <a:cxnSpLocks/>
            <a:stCxn id="114" idx="0"/>
            <a:endCxn id="113" idx="2"/>
          </p:cNvCxnSpPr>
          <p:nvPr/>
        </p:nvCxnSpPr>
        <p:spPr>
          <a:xfrm rot="16200000" flipV="1">
            <a:off x="2337612" y="3374651"/>
            <a:ext cx="491640" cy="565324"/>
          </a:xfrm>
          <a:prstGeom prst="bentConnector3">
            <a:avLst>
              <a:gd name="adj1" fmla="val 50000"/>
            </a:avLst>
          </a:prstGeom>
          <a:noFill/>
          <a:ln w="25400" cap="flat" cmpd="sng" algn="ctr">
            <a:solidFill>
              <a:srgbClr val="36365C"/>
            </a:solidFill>
            <a:prstDash val="solid"/>
            <a:miter lim="800000"/>
            <a:tailEnd type="triangle"/>
          </a:ln>
          <a:effectLst/>
        </p:spPr>
      </p:cxnSp>
      <p:cxnSp>
        <p:nvCxnSpPr>
          <p:cNvPr id="127" name="꺾인 연결선 31">
            <a:extLst>
              <a:ext uri="{FF2B5EF4-FFF2-40B4-BE49-F238E27FC236}">
                <a16:creationId xmlns:a16="http://schemas.microsoft.com/office/drawing/2014/main" id="{1CC6CD2E-F58C-BC4C-D9C2-8C0F1BF1CE3F}"/>
              </a:ext>
            </a:extLst>
          </p:cNvPr>
          <p:cNvCxnSpPr>
            <a:cxnSpLocks/>
            <a:stCxn id="113" idx="3"/>
            <a:endCxn id="115" idx="1"/>
          </p:cNvCxnSpPr>
          <p:nvPr/>
        </p:nvCxnSpPr>
        <p:spPr>
          <a:xfrm flipV="1">
            <a:off x="2853616" y="2293074"/>
            <a:ext cx="1904356" cy="953665"/>
          </a:xfrm>
          <a:prstGeom prst="bentConnector3">
            <a:avLst>
              <a:gd name="adj1" fmla="val 50000"/>
            </a:avLst>
          </a:prstGeom>
          <a:noFill/>
          <a:ln w="25400" cap="flat" cmpd="sng" algn="ctr">
            <a:solidFill>
              <a:srgbClr val="36365C"/>
            </a:solidFill>
            <a:prstDash val="solid"/>
            <a:miter lim="800000"/>
            <a:headEnd type="triangle"/>
            <a:tailEnd type="triangle"/>
          </a:ln>
          <a:effectLst/>
        </p:spPr>
      </p:cxnSp>
      <p:sp>
        <p:nvSpPr>
          <p:cNvPr id="7" name="Rectangle 6">
            <a:extLst>
              <a:ext uri="{FF2B5EF4-FFF2-40B4-BE49-F238E27FC236}">
                <a16:creationId xmlns:a16="http://schemas.microsoft.com/office/drawing/2014/main" id="{044D12A5-FD78-A002-BAEC-E2954E8B8E38}"/>
              </a:ext>
            </a:extLst>
          </p:cNvPr>
          <p:cNvSpPr/>
          <p:nvPr/>
        </p:nvSpPr>
        <p:spPr>
          <a:xfrm>
            <a:off x="6840417" y="3880730"/>
            <a:ext cx="3177248" cy="789414"/>
          </a:xfrm>
          <a:prstGeom prst="rect">
            <a:avLst/>
          </a:prstGeom>
          <a:solidFill>
            <a:srgbClr val="5B9BD5">
              <a:lumMod val="60000"/>
              <a:lumOff val="40000"/>
            </a:srgbClr>
          </a:solidFill>
          <a:ln w="25400" cap="flat" cmpd="sng" algn="ctr">
            <a:noFill/>
            <a:prstDash val="solid"/>
          </a:ln>
          <a:effectLst>
            <a:outerShdw blurRad="50800" dist="38100" dir="2700000" algn="tl" rotWithShape="0">
              <a:prstClr val="black">
                <a:alpha val="40000"/>
              </a:prstClr>
            </a:outerShdw>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KR" sz="1200" b="1" i="0" u="none" strike="noStrike" kern="0" cap="none" spc="0" normalizeH="0" baseline="0" noProof="0" dirty="0">
                <a:ln>
                  <a:noFill/>
                </a:ln>
                <a:solidFill>
                  <a:sysClr val="windowText" lastClr="000000"/>
                </a:solidFill>
                <a:effectLst/>
                <a:uLnTx/>
                <a:uFillTx/>
                <a:ea typeface="+mn-ea"/>
                <a:cs typeface="+mn-cs"/>
              </a:rPr>
              <a:t>HelpDesk for LG CNS PM</a:t>
            </a:r>
            <a:br>
              <a:rPr kumimoji="0" lang="en-KR" sz="1200" b="1" i="0" u="none" strike="noStrike" kern="0" cap="none" spc="0" normalizeH="0" baseline="0" noProof="0" dirty="0">
                <a:ln>
                  <a:noFill/>
                </a:ln>
                <a:solidFill>
                  <a:sysClr val="windowText" lastClr="000000"/>
                </a:solidFill>
                <a:effectLst/>
                <a:uLnTx/>
                <a:uFillTx/>
                <a:ea typeface="+mn-ea"/>
                <a:cs typeface="+mn-cs"/>
              </a:rPr>
            </a:br>
            <a:r>
              <a:rPr kumimoji="0" lang="vi-VN" sz="1200"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mn-cs"/>
              </a:rPr>
              <a:t>Link</a:t>
            </a:r>
            <a:r>
              <a:rPr kumimoji="0" lang="en-US" altLang="ko-KR" sz="1200" b="0" i="0" u="none" strike="noStrike" kern="0" cap="none" spc="0" normalizeH="0" baseline="0" noProof="0" dirty="0">
                <a:ln>
                  <a:noFill/>
                </a:ln>
                <a:solidFill>
                  <a:sysClr val="windowText" lastClr="000000"/>
                </a:solidFill>
                <a:effectLst/>
                <a:uLnTx/>
                <a:uFillTx/>
                <a:ea typeface="맑은 고딕" panose="020B0503020000020004" pitchFamily="34" charset="-127"/>
                <a:cs typeface="+mn-cs"/>
              </a:rPr>
              <a:t>: </a:t>
            </a:r>
            <a:r>
              <a:rPr kumimoji="0" lang="en-US" sz="1200" b="0" i="0" u="none" strike="noStrike" kern="0" cap="none" spc="0" normalizeH="0" baseline="0" noProof="0" dirty="0">
                <a:ln>
                  <a:noFill/>
                </a:ln>
                <a:solidFill>
                  <a:sysClr val="windowText" lastClr="000000"/>
                </a:solidFill>
                <a:effectLst/>
                <a:uLnTx/>
                <a:uFillTx/>
                <a:ea typeface="+mn-ea"/>
                <a:cs typeface="+mn-cs"/>
                <a:hlinkClick r:id="rId11"/>
              </a:rPr>
              <a:t>https://forms.office.com/r/sFnJ31FKk1</a:t>
            </a:r>
            <a:endParaRPr kumimoji="0" lang="en-US" sz="12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25358746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C07E217F-0A14-B1C6-6CEA-264811DE9F48}"/>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11</a:t>
            </a:fld>
            <a:endParaRPr lang="en-US" dirty="0">
              <a:solidFill>
                <a:srgbClr val="034EA2"/>
              </a:solidFill>
            </a:endParaRPr>
          </a:p>
        </p:txBody>
      </p:sp>
      <p:grpSp>
        <p:nvGrpSpPr>
          <p:cNvPr id="3" name="Group 2">
            <a:extLst>
              <a:ext uri="{FF2B5EF4-FFF2-40B4-BE49-F238E27FC236}">
                <a16:creationId xmlns:a16="http://schemas.microsoft.com/office/drawing/2014/main" id="{2BA84FF4-09E1-1CF5-BB9B-3C712F2DBED5}"/>
              </a:ext>
            </a:extLst>
          </p:cNvPr>
          <p:cNvGrpSpPr/>
          <p:nvPr/>
        </p:nvGrpSpPr>
        <p:grpSpPr>
          <a:xfrm>
            <a:off x="479425" y="461520"/>
            <a:ext cx="7005108" cy="584775"/>
            <a:chOff x="479425" y="461520"/>
            <a:chExt cx="7005108" cy="584775"/>
          </a:xfrm>
        </p:grpSpPr>
        <p:sp>
          <p:nvSpPr>
            <p:cNvPr id="4" name="Round Diagonal Corner Rectangle 3">
              <a:extLst>
                <a:ext uri="{FF2B5EF4-FFF2-40B4-BE49-F238E27FC236}">
                  <a16:creationId xmlns:a16="http://schemas.microsoft.com/office/drawing/2014/main" id="{91C43C97-96A3-B70F-ED9D-E08AC2C209DF}"/>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A6DB4022-1E40-3EC4-BCF4-D92BD80A7854}"/>
                </a:ext>
              </a:extLst>
            </p:cNvPr>
            <p:cNvSpPr txBox="1"/>
            <p:nvPr/>
          </p:nvSpPr>
          <p:spPr>
            <a:xfrm>
              <a:off x="536265" y="461520"/>
              <a:ext cx="6948268"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6. Communication &amp; Reporting</a:t>
              </a:r>
            </a:p>
          </p:txBody>
        </p:sp>
      </p:grpSp>
      <p:graphicFrame>
        <p:nvGraphicFramePr>
          <p:cNvPr id="7" name="Table 6">
            <a:extLst>
              <a:ext uri="{FF2B5EF4-FFF2-40B4-BE49-F238E27FC236}">
                <a16:creationId xmlns:a16="http://schemas.microsoft.com/office/drawing/2014/main" id="{110B2BC6-C749-9C5E-8055-10423A512143}"/>
              </a:ext>
            </a:extLst>
          </p:cNvPr>
          <p:cNvGraphicFramePr>
            <a:graphicFrameLocks noGrp="1"/>
          </p:cNvGraphicFramePr>
          <p:nvPr>
            <p:extLst>
              <p:ext uri="{D42A27DB-BD31-4B8C-83A1-F6EECF244321}">
                <p14:modId xmlns:p14="http://schemas.microsoft.com/office/powerpoint/2010/main" val="3914591861"/>
              </p:ext>
            </p:extLst>
          </p:nvPr>
        </p:nvGraphicFramePr>
        <p:xfrm>
          <a:off x="608186" y="1344326"/>
          <a:ext cx="10827458" cy="2634722"/>
        </p:xfrm>
        <a:graphic>
          <a:graphicData uri="http://schemas.openxmlformats.org/drawingml/2006/table">
            <a:tbl>
              <a:tblPr firstRow="1" bandRow="1">
                <a:tableStyleId>{5C22544A-7EE6-4342-B048-85BDC9FD1C3A}</a:tableStyleId>
              </a:tblPr>
              <a:tblGrid>
                <a:gridCol w="1827756">
                  <a:extLst>
                    <a:ext uri="{9D8B030D-6E8A-4147-A177-3AD203B41FA5}">
                      <a16:colId xmlns:a16="http://schemas.microsoft.com/office/drawing/2014/main" val="2834870209"/>
                    </a:ext>
                  </a:extLst>
                </a:gridCol>
                <a:gridCol w="1770754">
                  <a:extLst>
                    <a:ext uri="{9D8B030D-6E8A-4147-A177-3AD203B41FA5}">
                      <a16:colId xmlns:a16="http://schemas.microsoft.com/office/drawing/2014/main" val="739739771"/>
                    </a:ext>
                  </a:extLst>
                </a:gridCol>
                <a:gridCol w="4536043">
                  <a:extLst>
                    <a:ext uri="{9D8B030D-6E8A-4147-A177-3AD203B41FA5}">
                      <a16:colId xmlns:a16="http://schemas.microsoft.com/office/drawing/2014/main" val="3981312600"/>
                    </a:ext>
                  </a:extLst>
                </a:gridCol>
                <a:gridCol w="1348685">
                  <a:extLst>
                    <a:ext uri="{9D8B030D-6E8A-4147-A177-3AD203B41FA5}">
                      <a16:colId xmlns:a16="http://schemas.microsoft.com/office/drawing/2014/main" val="764373683"/>
                    </a:ext>
                  </a:extLst>
                </a:gridCol>
                <a:gridCol w="1344220">
                  <a:extLst>
                    <a:ext uri="{9D8B030D-6E8A-4147-A177-3AD203B41FA5}">
                      <a16:colId xmlns:a16="http://schemas.microsoft.com/office/drawing/2014/main" val="3939135028"/>
                    </a:ext>
                  </a:extLst>
                </a:gridCol>
              </a:tblGrid>
              <a:tr h="26178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effectLst/>
                        </a:rPr>
                        <a:t>Communication Type</a:t>
                      </a:r>
                      <a:endParaRPr lang="en-US" sz="1200" b="0" u="none" strike="noStrike" kern="1200" dirty="0">
                        <a:solidFill>
                          <a:schemeClr val="lt1"/>
                        </a:solidFill>
                        <a:effectLst/>
                        <a:latin typeface="Tahoma" panose="020B0604030504040204" pitchFamily="34" charset="0"/>
                        <a:ea typeface="Tahoma" panose="020B0604030504040204" pitchFamily="34" charset="0"/>
                        <a:cs typeface="Tahoma" panose="020B0604030504040204" pitchFamily="34" charset="0"/>
                      </a:endParaRPr>
                    </a:p>
                  </a:txBody>
                  <a:tcPr anchor="ctr">
                    <a:solidFill>
                      <a:srgbClr val="30B3C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dirty="0">
                          <a:effectLst/>
                        </a:rPr>
                        <a:t>Route</a:t>
                      </a:r>
                      <a:endParaRPr lang="en-US" sz="12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anchor="ctr">
                    <a:solidFill>
                      <a:srgbClr val="30B3C2"/>
                    </a:solidFill>
                  </a:tcPr>
                </a:tc>
                <a:tc>
                  <a:txBody>
                    <a:bodyPr/>
                    <a:lstStyle/>
                    <a:p>
                      <a:r>
                        <a:rPr lang="en-US" sz="1200" u="none" strike="noStrike" dirty="0">
                          <a:effectLst/>
                        </a:rPr>
                        <a:t>Information</a:t>
                      </a:r>
                      <a:endParaRPr lang="en-US" sz="1200" b="0" dirty="0">
                        <a:latin typeface="Tahoma" panose="020B0604030504040204" pitchFamily="34" charset="0"/>
                        <a:ea typeface="Tahoma" panose="020B0604030504040204" pitchFamily="34" charset="0"/>
                        <a:cs typeface="Tahoma" panose="020B0604030504040204" pitchFamily="34" charset="0"/>
                      </a:endParaRPr>
                    </a:p>
                  </a:txBody>
                  <a:tcPr anchor="ctr">
                    <a:solidFill>
                      <a:srgbClr val="30B3C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a:effectLst/>
                        </a:rPr>
                        <a:t>Method/ Tool</a:t>
                      </a:r>
                      <a:endParaRPr lang="en-US" sz="1200" b="0" i="0" u="none" strike="noStrike">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anchor="ctr">
                    <a:solidFill>
                      <a:srgbClr val="30B3C2"/>
                    </a:solidFill>
                  </a:tcPr>
                </a:tc>
                <a:tc>
                  <a:txBody>
                    <a:bodyPr/>
                    <a:lstStyle/>
                    <a:p>
                      <a:r>
                        <a:rPr lang="en-US" sz="1200" u="none" strike="noStrike" dirty="0">
                          <a:effectLst/>
                        </a:rPr>
                        <a:t>When</a:t>
                      </a:r>
                      <a:endParaRPr lang="en-US" sz="1200" b="0" dirty="0">
                        <a:latin typeface="Tahoma" panose="020B0604030504040204" pitchFamily="34" charset="0"/>
                        <a:ea typeface="Tahoma" panose="020B0604030504040204" pitchFamily="34" charset="0"/>
                        <a:cs typeface="Tahoma" panose="020B0604030504040204" pitchFamily="34" charset="0"/>
                      </a:endParaRPr>
                    </a:p>
                  </a:txBody>
                  <a:tcPr anchor="ctr">
                    <a:solidFill>
                      <a:srgbClr val="30B3C2"/>
                    </a:solidFill>
                  </a:tcPr>
                </a:tc>
                <a:extLst>
                  <a:ext uri="{0D108BD9-81ED-4DB2-BD59-A6C34878D82A}">
                    <a16:rowId xmlns:a16="http://schemas.microsoft.com/office/drawing/2014/main" val="419902096"/>
                  </a:ext>
                </a:extLst>
              </a:tr>
              <a:tr h="523575">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Kick-off Meeting</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PM </a:t>
                      </a: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LG CNS</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algn="l" fontAlgn="ct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Introduce about the project</a:t>
                      </a:r>
                    </a:p>
                    <a:p>
                      <a:pPr algn="l" fontAlgn="ct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Review project plan</a:t>
                      </a:r>
                    </a:p>
                    <a:p>
                      <a:pPr algn="l" fontAlgn="ct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Review risk / issue project.</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Meeting</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r>
                        <a:rPr kumimoji="1" lang="en-US" sz="1000" b="0" kern="1200" baseline="0" dirty="0">
                          <a:solidFill>
                            <a:schemeClr val="dk1"/>
                          </a:solidFill>
                          <a:latin typeface="Tahoma" panose="020B0604030504040204" pitchFamily="34" charset="0"/>
                          <a:ea typeface="Tahoma" panose="020B0604030504040204" pitchFamily="34" charset="0"/>
                          <a:cs typeface="Tahoma" panose="020B0604030504040204" pitchFamily="34" charset="0"/>
                        </a:rPr>
                        <a:t>TBD</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extLst>
                  <a:ext uri="{0D108BD9-81ED-4DB2-BD59-A6C34878D82A}">
                    <a16:rowId xmlns:a16="http://schemas.microsoft.com/office/drawing/2014/main" val="539392777"/>
                  </a:ext>
                </a:extLst>
              </a:tr>
              <a:tr h="378137">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Weekly Meeting</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FPT,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LG CNS</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Review progress</a:t>
                      </a:r>
                    </a:p>
                    <a:p>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Review issue is facing</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Teams</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Weekly</a:t>
                      </a:r>
                      <a:br>
                        <a:rPr kumimoji="1" lang="en-US" sz="1000" kern="1200" baseline="0" dirty="0">
                          <a:latin typeface="Tahoma" panose="020B0604030504040204" pitchFamily="34" charset="0"/>
                          <a:ea typeface="Tahoma" panose="020B0604030504040204" pitchFamily="34" charset="0"/>
                          <a:cs typeface="Tahoma" panose="020B0604030504040204" pitchFamily="34" charset="0"/>
                        </a:rPr>
                      </a:br>
                      <a:r>
                        <a:rPr kumimoji="1" lang="en-US" sz="1000" kern="1200" baseline="0" dirty="0">
                          <a:latin typeface="Tahoma" panose="020B0604030504040204" pitchFamily="34" charset="0"/>
                          <a:ea typeface="Tahoma" panose="020B0604030504040204" pitchFamily="34" charset="0"/>
                          <a:cs typeface="Tahoma" panose="020B0604030504040204" pitchFamily="34" charset="0"/>
                        </a:rPr>
                        <a:t>Thursday</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extLst>
                  <a:ext uri="{0D108BD9-81ED-4DB2-BD59-A6C34878D82A}">
                    <a16:rowId xmlns:a16="http://schemas.microsoft.com/office/drawing/2014/main" val="867713112"/>
                  </a:ext>
                </a:extLst>
              </a:tr>
              <a:tr h="23270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000" kern="1200" baseline="0" dirty="0">
                          <a:latin typeface="Tahoma" panose="020B0604030504040204" pitchFamily="34" charset="0"/>
                          <a:ea typeface="Tahoma" panose="020B0604030504040204" pitchFamily="34" charset="0"/>
                          <a:cs typeface="Tahoma" panose="020B0604030504040204" pitchFamily="34" charset="0"/>
                        </a:rPr>
                        <a:t>Q&amp;A</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PM, PTL </a:t>
                      </a: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LG CNS</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Add Q&amp;A</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Wire Wiki/Excel</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Anytime</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extLst>
                  <a:ext uri="{0D108BD9-81ED-4DB2-BD59-A6C34878D82A}">
                    <a16:rowId xmlns:a16="http://schemas.microsoft.com/office/drawing/2014/main" val="3639772009"/>
                  </a:ext>
                </a:extLst>
              </a:tr>
              <a:tr h="378137">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000" kern="1200" baseline="0" dirty="0">
                          <a:latin typeface="Tahoma" panose="020B0604030504040204" pitchFamily="34" charset="0"/>
                          <a:ea typeface="Tahoma" panose="020B0604030504040204" pitchFamily="34" charset="0"/>
                          <a:cs typeface="Tahoma" panose="020B0604030504040204" pitchFamily="34" charset="0"/>
                        </a:rPr>
                        <a:t>Chat/Video Conference</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FPT </a:t>
                      </a: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LG CNS</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pPr marL="0" marR="0" indent="0" algn="l" defTabSz="914400" rtl="0" eaLnBrk="1" fontAlgn="ctr" latinLnBrk="0" hangingPunct="1">
                        <a:lnSpc>
                          <a:spcPct val="100000"/>
                        </a:lnSpc>
                        <a:spcBef>
                          <a:spcPts val="0"/>
                        </a:spcBef>
                        <a:spcAft>
                          <a:spcPts val="0"/>
                        </a:spcAft>
                        <a:buClrTx/>
                        <a:buSzTx/>
                        <a:buFontTx/>
                        <a:buNone/>
                        <a:tabLst/>
                        <a:defRPr/>
                      </a:pP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Quick communication in inform form (Q&amp;A / bug LG CNS priority confirm, issues urgent (not including analysis), ...)</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Teams</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pPr algn="l" fontAlgn="ctr"/>
                      <a:r>
                        <a:rPr kumimoji="1" lang="en-US" sz="1000" kern="1200" baseline="0" dirty="0">
                          <a:latin typeface="Tahoma" panose="020B0604030504040204" pitchFamily="34" charset="0"/>
                          <a:ea typeface="Tahoma" panose="020B0604030504040204" pitchFamily="34" charset="0"/>
                          <a:cs typeface="Tahoma" panose="020B0604030504040204" pitchFamily="34" charset="0"/>
                        </a:rPr>
                        <a:t>Anytime</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extLst>
                  <a:ext uri="{0D108BD9-81ED-4DB2-BD59-A6C34878D82A}">
                    <a16:rowId xmlns:a16="http://schemas.microsoft.com/office/drawing/2014/main" val="3417010262"/>
                  </a:ext>
                </a:extLst>
              </a:tr>
              <a:tr h="45234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000" kern="1200" baseline="0" dirty="0">
                          <a:latin typeface="Tahoma" panose="020B0604030504040204" pitchFamily="34" charset="0"/>
                          <a:ea typeface="Tahoma" panose="020B0604030504040204" pitchFamily="34" charset="0"/>
                          <a:cs typeface="Tahoma" panose="020B0604030504040204" pitchFamily="34" charset="0"/>
                        </a:rPr>
                        <a:t>Deliver </a:t>
                      </a:r>
                      <a:r>
                        <a:rPr kumimoji="1" lang="vi-VN" sz="1000" kern="1200" baseline="0" dirty="0">
                          <a:latin typeface="Tahoma" panose="020B0604030504040204" pitchFamily="34" charset="0"/>
                          <a:ea typeface="Tahoma" panose="020B0604030504040204" pitchFamily="34" charset="0"/>
                          <a:cs typeface="Tahoma" panose="020B0604030504040204" pitchFamily="34" charset="0"/>
                        </a:rPr>
                        <a:t>Product</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000" kern="1200" baseline="0" dirty="0">
                          <a:latin typeface="Tahoma" panose="020B0604030504040204" pitchFamily="34" charset="0"/>
                          <a:ea typeface="Tahoma" panose="020B0604030504040204" pitchFamily="34" charset="0"/>
                          <a:cs typeface="Tahoma" panose="020B0604030504040204" pitchFamily="34" charset="0"/>
                        </a:rPr>
                        <a:t>PM </a:t>
                      </a: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LG CNS</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algn="l" fontAlgn="ct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Release / release note products are uploaded to the agreed folder.</a:t>
                      </a:r>
                    </a:p>
                    <a:p>
                      <a:pPr algn="l" fontAlgn="ct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Email delivery after successful upload.</a:t>
                      </a:r>
                      <a:endParaRPr kumimoji="1" lang="en-US" altLang="ja-JP"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Mail</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algn="l" fontAlgn="ctr"/>
                      <a:r>
                        <a:rPr kumimoji="1" lang="en-US" sz="1000" kern="1200" baseline="0" dirty="0">
                          <a:latin typeface="Tahoma" panose="020B0604030504040204" pitchFamily="34" charset="0"/>
                          <a:ea typeface="Tahoma" panose="020B0604030504040204" pitchFamily="34" charset="0"/>
                          <a:cs typeface="Tahoma" panose="020B0604030504040204" pitchFamily="34" charset="0"/>
                        </a:rPr>
                        <a:t>End of stage</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extLst>
                  <a:ext uri="{0D108BD9-81ED-4DB2-BD59-A6C34878D82A}">
                    <a16:rowId xmlns:a16="http://schemas.microsoft.com/office/drawing/2014/main" val="1447024106"/>
                  </a:ext>
                </a:extLst>
              </a:tr>
              <a:tr h="32310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000" kern="1200" baseline="0" dirty="0">
                          <a:latin typeface="Tahoma" panose="020B0604030504040204" pitchFamily="34" charset="0"/>
                          <a:ea typeface="Tahoma" panose="020B0604030504040204" pitchFamily="34" charset="0"/>
                          <a:cs typeface="Tahoma" panose="020B0604030504040204" pitchFamily="34" charset="0"/>
                        </a:rPr>
                        <a:t>Escalate</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sz="1000" kern="1200" baseline="0" dirty="0">
                          <a:latin typeface="Tahoma" panose="020B0604030504040204" pitchFamily="34" charset="0"/>
                          <a:ea typeface="Tahoma" panose="020B0604030504040204" pitchFamily="34" charset="0"/>
                          <a:cs typeface="Tahoma" panose="020B0604030504040204" pitchFamily="34" charset="0"/>
                        </a:rPr>
                        <a:t>PMO/BOD </a:t>
                      </a: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LG CNS</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pPr algn="l" fontAlgn="ctr"/>
                      <a:r>
                        <a:rPr kumimoji="1" lang="en-US" sz="1000" kern="1200" baseline="0" dirty="0">
                          <a:latin typeface="Tahoma" panose="020B0604030504040204" pitchFamily="34" charset="0"/>
                          <a:ea typeface="Tahoma" panose="020B0604030504040204" pitchFamily="34" charset="0"/>
                          <a:cs typeface="Tahoma" panose="020B0604030504040204" pitchFamily="34" charset="0"/>
                        </a:rPr>
                        <a:t>Escalate serious issues affecting the project (security, quality, progress ...)</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r>
                        <a:rPr kumimoji="1" lang="en-US" sz="1000" kern="1200" baseline="0" dirty="0">
                          <a:latin typeface="Tahoma" panose="020B0604030504040204" pitchFamily="34" charset="0"/>
                          <a:ea typeface="Tahoma" panose="020B0604030504040204" pitchFamily="34" charset="0"/>
                          <a:cs typeface="Tahoma" panose="020B0604030504040204" pitchFamily="34" charset="0"/>
                        </a:rPr>
                        <a:t>Mail</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pPr algn="l" fontAlgn="ctr"/>
                      <a:r>
                        <a:rPr kumimoji="1" lang="en-US" sz="1000" kern="1200" baseline="0" dirty="0">
                          <a:latin typeface="Tahoma" panose="020B0604030504040204" pitchFamily="34" charset="0"/>
                          <a:ea typeface="Tahoma" panose="020B0604030504040204" pitchFamily="34" charset="0"/>
                          <a:cs typeface="Tahoma" panose="020B0604030504040204" pitchFamily="34" charset="0"/>
                        </a:rPr>
                        <a:t>Anytime</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extLst>
                  <a:ext uri="{0D108BD9-81ED-4DB2-BD59-A6C34878D82A}">
                    <a16:rowId xmlns:a16="http://schemas.microsoft.com/office/drawing/2014/main" val="10007"/>
                  </a:ext>
                </a:extLst>
              </a:tr>
            </a:tbl>
          </a:graphicData>
        </a:graphic>
      </p:graphicFrame>
      <p:graphicFrame>
        <p:nvGraphicFramePr>
          <p:cNvPr id="8" name="Table 7">
            <a:extLst>
              <a:ext uri="{FF2B5EF4-FFF2-40B4-BE49-F238E27FC236}">
                <a16:creationId xmlns:a16="http://schemas.microsoft.com/office/drawing/2014/main" id="{6960795E-2FA2-BF6C-4AE7-7BC55B799CC7}"/>
              </a:ext>
            </a:extLst>
          </p:cNvPr>
          <p:cNvGraphicFramePr>
            <a:graphicFrameLocks noGrp="1"/>
          </p:cNvGraphicFramePr>
          <p:nvPr>
            <p:extLst>
              <p:ext uri="{D42A27DB-BD31-4B8C-83A1-F6EECF244321}">
                <p14:modId xmlns:p14="http://schemas.microsoft.com/office/powerpoint/2010/main" val="1372055405"/>
              </p:ext>
            </p:extLst>
          </p:nvPr>
        </p:nvGraphicFramePr>
        <p:xfrm>
          <a:off x="608186" y="4361940"/>
          <a:ext cx="10827458" cy="2061964"/>
        </p:xfrm>
        <a:graphic>
          <a:graphicData uri="http://schemas.openxmlformats.org/drawingml/2006/table">
            <a:tbl>
              <a:tblPr firstRow="1" bandRow="1">
                <a:tableStyleId>{5C22544A-7EE6-4342-B048-85BDC9FD1C3A}</a:tableStyleId>
              </a:tblPr>
              <a:tblGrid>
                <a:gridCol w="1847162">
                  <a:extLst>
                    <a:ext uri="{9D8B030D-6E8A-4147-A177-3AD203B41FA5}">
                      <a16:colId xmlns:a16="http://schemas.microsoft.com/office/drawing/2014/main" val="2834870209"/>
                    </a:ext>
                  </a:extLst>
                </a:gridCol>
                <a:gridCol w="1377792">
                  <a:extLst>
                    <a:ext uri="{9D8B030D-6E8A-4147-A177-3AD203B41FA5}">
                      <a16:colId xmlns:a16="http://schemas.microsoft.com/office/drawing/2014/main" val="739739771"/>
                    </a:ext>
                  </a:extLst>
                </a:gridCol>
                <a:gridCol w="4909599">
                  <a:extLst>
                    <a:ext uri="{9D8B030D-6E8A-4147-A177-3AD203B41FA5}">
                      <a16:colId xmlns:a16="http://schemas.microsoft.com/office/drawing/2014/main" val="3981312600"/>
                    </a:ext>
                  </a:extLst>
                </a:gridCol>
                <a:gridCol w="1358387">
                  <a:extLst>
                    <a:ext uri="{9D8B030D-6E8A-4147-A177-3AD203B41FA5}">
                      <a16:colId xmlns:a16="http://schemas.microsoft.com/office/drawing/2014/main" val="764373683"/>
                    </a:ext>
                  </a:extLst>
                </a:gridCol>
                <a:gridCol w="1334518">
                  <a:extLst>
                    <a:ext uri="{9D8B030D-6E8A-4147-A177-3AD203B41FA5}">
                      <a16:colId xmlns:a16="http://schemas.microsoft.com/office/drawing/2014/main" val="3939135028"/>
                    </a:ext>
                  </a:extLst>
                </a:gridCol>
              </a:tblGrid>
              <a:tr h="21749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kern="1200" dirty="0">
                          <a:effectLst/>
                        </a:rPr>
                        <a:t>Communication Type</a:t>
                      </a:r>
                      <a:endParaRPr lang="en-US" sz="1200" b="0" u="none" strike="noStrike" kern="1200" dirty="0">
                        <a:solidFill>
                          <a:schemeClr val="lt1"/>
                        </a:solidFill>
                        <a:effectLst/>
                        <a:latin typeface="Tahoma" panose="020B0604030504040204" pitchFamily="34" charset="0"/>
                        <a:ea typeface="Tahoma" panose="020B0604030504040204" pitchFamily="34" charset="0"/>
                        <a:cs typeface="Tahoma" panose="020B0604030504040204" pitchFamily="34" charset="0"/>
                      </a:endParaRPr>
                    </a:p>
                  </a:txBody>
                  <a:tcPr anchor="ctr">
                    <a:solidFill>
                      <a:srgbClr val="30B3C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dirty="0">
                          <a:effectLst/>
                        </a:rPr>
                        <a:t>Route</a:t>
                      </a:r>
                      <a:endParaRPr lang="en-US" sz="1200" b="0" i="0" u="none" strike="noStrike" dirty="0">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anchor="ctr">
                    <a:solidFill>
                      <a:srgbClr val="30B3C2"/>
                    </a:solidFill>
                  </a:tcPr>
                </a:tc>
                <a:tc>
                  <a:txBody>
                    <a:bodyPr/>
                    <a:lstStyle/>
                    <a:p>
                      <a:r>
                        <a:rPr lang="en-US" sz="1200" u="none" strike="noStrike" dirty="0">
                          <a:effectLst/>
                        </a:rPr>
                        <a:t>Information</a:t>
                      </a:r>
                      <a:endParaRPr lang="en-US" sz="1200" b="0" dirty="0">
                        <a:latin typeface="Tahoma" panose="020B0604030504040204" pitchFamily="34" charset="0"/>
                        <a:ea typeface="Tahoma" panose="020B0604030504040204" pitchFamily="34" charset="0"/>
                        <a:cs typeface="Tahoma" panose="020B0604030504040204" pitchFamily="34" charset="0"/>
                      </a:endParaRPr>
                    </a:p>
                  </a:txBody>
                  <a:tcPr anchor="ctr">
                    <a:solidFill>
                      <a:srgbClr val="30B3C2"/>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u="none" strike="noStrike">
                          <a:effectLst/>
                        </a:rPr>
                        <a:t>Method/ Tool</a:t>
                      </a:r>
                      <a:endParaRPr lang="en-US" sz="1200" b="0" i="0" u="none" strike="noStrike">
                        <a:solidFill>
                          <a:srgbClr val="000000"/>
                        </a:solidFill>
                        <a:effectLst/>
                        <a:latin typeface="Tahoma" panose="020B0604030504040204" pitchFamily="34" charset="0"/>
                        <a:ea typeface="Tahoma" panose="020B0604030504040204" pitchFamily="34" charset="0"/>
                        <a:cs typeface="Tahoma" panose="020B0604030504040204" pitchFamily="34" charset="0"/>
                      </a:endParaRPr>
                    </a:p>
                  </a:txBody>
                  <a:tcPr anchor="ctr">
                    <a:solidFill>
                      <a:srgbClr val="30B3C2"/>
                    </a:solidFill>
                  </a:tcPr>
                </a:tc>
                <a:tc>
                  <a:txBody>
                    <a:bodyPr/>
                    <a:lstStyle/>
                    <a:p>
                      <a:r>
                        <a:rPr lang="en-US" sz="1200" u="none" strike="noStrike" dirty="0">
                          <a:effectLst/>
                        </a:rPr>
                        <a:t>When</a:t>
                      </a:r>
                      <a:endParaRPr lang="en-US" sz="1200" b="0" dirty="0">
                        <a:latin typeface="Tahoma" panose="020B0604030504040204" pitchFamily="34" charset="0"/>
                        <a:ea typeface="Tahoma" panose="020B0604030504040204" pitchFamily="34" charset="0"/>
                        <a:cs typeface="Tahoma" panose="020B0604030504040204" pitchFamily="34" charset="0"/>
                      </a:endParaRPr>
                    </a:p>
                  </a:txBody>
                  <a:tcPr anchor="ctr">
                    <a:solidFill>
                      <a:srgbClr val="30B3C2"/>
                    </a:solidFill>
                  </a:tcPr>
                </a:tc>
                <a:extLst>
                  <a:ext uri="{0D108BD9-81ED-4DB2-BD59-A6C34878D82A}">
                    <a16:rowId xmlns:a16="http://schemas.microsoft.com/office/drawing/2014/main" val="419902096"/>
                  </a:ext>
                </a:extLst>
              </a:tr>
              <a:tr h="507484">
                <a:tc rowSpan="2">
                  <a:txBody>
                    <a:bodyPr/>
                    <a:lstStyle/>
                    <a:p>
                      <a:pPr marL="0" algn="l" defTabSz="914400" rtl="0" eaLnBrk="1" fontAlgn="ctr" latinLnBrk="0" hangingPunct="1"/>
                      <a:r>
                        <a:rPr kumimoji="1" lang="en-US" sz="1000" kern="1200" baseline="0" dirty="0">
                          <a:latin typeface="Tahoma" panose="020B0604030504040204" pitchFamily="34" charset="0"/>
                          <a:ea typeface="Tahoma" panose="020B0604030504040204" pitchFamily="34" charset="0"/>
                          <a:cs typeface="Tahoma" panose="020B0604030504040204" pitchFamily="34" charset="0"/>
                        </a:rPr>
                        <a:t>Daily Task Report</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pPr marL="0" algn="l" defTabSz="914400" rtl="0" eaLnBrk="1" fontAlgn="ctr" latinLnBrk="0" hangingPunct="1"/>
                      <a:r>
                        <a:rPr kumimoji="1" lang="en-US" sz="1000" kern="1200" baseline="0">
                          <a:latin typeface="Tahoma" panose="020B0604030504040204" pitchFamily="34" charset="0"/>
                          <a:ea typeface="Tahoma" panose="020B0604030504040204" pitchFamily="34" charset="0"/>
                          <a:cs typeface="Tahoma" panose="020B0604030504040204" pitchFamily="34" charset="0"/>
                        </a:rPr>
                        <a:t>DEV </a:t>
                      </a:r>
                      <a:r>
                        <a:rPr kumimoji="1" lang="ja-JP" altLang="en-US" sz="1000" kern="1200" baseline="0">
                          <a:latin typeface="Tahoma" panose="020B0604030504040204" pitchFamily="34" charset="0"/>
                          <a:cs typeface="Tahoma" panose="020B0604030504040204" pitchFamily="34" charset="0"/>
                        </a:rPr>
                        <a:t>➝</a:t>
                      </a:r>
                      <a:r>
                        <a:rPr kumimoji="1" lang="en-US" altLang="ja-JP" sz="1000" kern="1200" baseline="0">
                          <a:latin typeface="Tahoma" panose="020B0604030504040204" pitchFamily="34" charset="0"/>
                          <a:cs typeface="Tahoma" panose="020B0604030504040204" pitchFamily="34" charset="0"/>
                        </a:rPr>
                        <a:t>PTL/</a:t>
                      </a:r>
                      <a:r>
                        <a:rPr kumimoji="1" lang="ja-JP" altLang="en-US" sz="1000" kern="1200" baseline="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PM</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marL="0" algn="l" defTabSz="914400" rtl="0" eaLnBrk="1" fontAlgn="ctr" latinLnBrk="0" hangingPunct="1"/>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Report task progress everyday</a:t>
                      </a:r>
                    </a:p>
                    <a:p>
                      <a:pPr marL="0" algn="l" defTabSz="914400" rtl="0" eaLnBrk="1" fontAlgn="ctr" latinLnBrk="0" hangingPunct="1"/>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Report issue </a:t>
                      </a:r>
                      <a:r>
                        <a:rPr kumimoji="1" lang="en-US" altLang="ja-JP" sz="1000" kern="1200" baseline="0">
                          <a:latin typeface="Tahoma" panose="020B0604030504040204" pitchFamily="34" charset="0"/>
                          <a:ea typeface="Tahoma" panose="020B0604030504040204" pitchFamily="34" charset="0"/>
                          <a:cs typeface="Tahoma" panose="020B0604030504040204" pitchFamily="34" charset="0"/>
                        </a:rPr>
                        <a:t>encountered.</a:t>
                      </a:r>
                      <a:endPar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marL="0" algn="l" defTabSz="914400" rtl="0" eaLnBrk="1" fontAlgn="ctr" latinLnBrk="0" hangingPunct="1"/>
                      <a:r>
                        <a:rPr kumimoji="1" lang="en-US" sz="1000" kern="1200" baseline="0" dirty="0">
                          <a:latin typeface="Tahoma" panose="020B0604030504040204" pitchFamily="34" charset="0"/>
                          <a:ea typeface="Tahoma" panose="020B0604030504040204" pitchFamily="34" charset="0"/>
                          <a:cs typeface="Tahoma" panose="020B0604030504040204" pitchFamily="34" charset="0"/>
                        </a:rPr>
                        <a:t>Excel</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marL="0" algn="l" defTabSz="914400" rtl="0" eaLnBrk="1" fontAlgn="ctr" latinLnBrk="0" hangingPunct="1"/>
                      <a:r>
                        <a:rPr kumimoji="1" lang="en-US" sz="1000" kern="1200" baseline="0" dirty="0">
                          <a:latin typeface="Tahoma" panose="020B0604030504040204" pitchFamily="34" charset="0"/>
                          <a:ea typeface="Tahoma" panose="020B0604030504040204" pitchFamily="34" charset="0"/>
                          <a:cs typeface="Tahoma" panose="020B0604030504040204" pitchFamily="34" charset="0"/>
                        </a:rPr>
                        <a:t>Daily 4:30 PM</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extLst>
                  <a:ext uri="{0D108BD9-81ED-4DB2-BD59-A6C34878D82A}">
                    <a16:rowId xmlns:a16="http://schemas.microsoft.com/office/drawing/2014/main" val="539392777"/>
                  </a:ext>
                </a:extLst>
              </a:tr>
              <a:tr h="0">
                <a:tc vMerge="1">
                  <a:txBody>
                    <a:bodyPr/>
                    <a:lstStyle/>
                    <a:p>
                      <a:pPr marL="0" algn="l" defTabSz="914400" rtl="0" eaLnBrk="1" fontAlgn="ctr" latinLnBrk="0" hangingPunct="1"/>
                      <a:endParaRPr kumimoji="1" lang="en-US" sz="12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tc>
                <a:tc>
                  <a:txBody>
                    <a:bodyPr/>
                    <a:lstStyle/>
                    <a:p>
                      <a:pPr marL="0" algn="l" defTabSz="914400" rtl="0" eaLnBrk="1" fontAlgn="ctr" latinLnBrk="0" hangingPunct="1"/>
                      <a:r>
                        <a:rPr kumimoji="1" lang="en-US" sz="1000" kern="1200" baseline="0" dirty="0">
                          <a:latin typeface="Tahoma" panose="020B0604030504040204" pitchFamily="34" charset="0"/>
                          <a:ea typeface="Tahoma" panose="020B0604030504040204" pitchFamily="34" charset="0"/>
                          <a:cs typeface="Tahoma" panose="020B0604030504040204" pitchFamily="34" charset="0"/>
                        </a:rPr>
                        <a:t>DEV </a:t>
                      </a: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TL</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pPr marL="0" algn="l" defTabSz="914400" rtl="0" eaLnBrk="1" fontAlgn="ctr" latinLnBrk="0" hangingPunct="1"/>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Add Q&amp;A</a:t>
                      </a:r>
                    </a:p>
                    <a:p>
                      <a:pPr marL="0" algn="l" defTabSz="914400" rtl="0" eaLnBrk="1" fontAlgn="ctr" latinLnBrk="0" hangingPunct="1"/>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Report issue</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pPr marL="0" algn="l" defTabSz="914400" rtl="0" eaLnBrk="1" fontAlgn="ctr" latinLnBrk="0" hangingPunct="1"/>
                      <a:r>
                        <a:rPr kumimoji="1" lang="en-US" sz="1000" b="0" kern="1200" baseline="0" dirty="0">
                          <a:solidFill>
                            <a:schemeClr val="dk1"/>
                          </a:solidFill>
                          <a:latin typeface="Tahoma" panose="020B0604030504040204" pitchFamily="34" charset="0"/>
                          <a:ea typeface="Tahoma" panose="020B0604030504040204" pitchFamily="34" charset="0"/>
                          <a:cs typeface="Tahoma" panose="020B0604030504040204" pitchFamily="34" charset="0"/>
                        </a:rPr>
                        <a:t>Wire wiki, Report</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pPr marL="0" algn="l" defTabSz="914400" rtl="0" eaLnBrk="1" fontAlgn="ctr" latinLnBrk="0" hangingPunct="1"/>
                      <a:r>
                        <a:rPr kumimoji="1" lang="en-US" sz="1000" kern="1200" baseline="0" dirty="0">
                          <a:latin typeface="Tahoma" panose="020B0604030504040204" pitchFamily="34" charset="0"/>
                          <a:ea typeface="Tahoma" panose="020B0604030504040204" pitchFamily="34" charset="0"/>
                          <a:cs typeface="Tahoma" panose="020B0604030504040204" pitchFamily="34" charset="0"/>
                        </a:rPr>
                        <a:t>Anytime</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extLst>
                  <a:ext uri="{0D108BD9-81ED-4DB2-BD59-A6C34878D82A}">
                    <a16:rowId xmlns:a16="http://schemas.microsoft.com/office/drawing/2014/main" val="1231371927"/>
                  </a:ext>
                </a:extLst>
              </a:tr>
              <a:tr h="217493">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sz="1000" kern="1200" baseline="0" dirty="0">
                          <a:latin typeface="Tahoma" panose="020B0604030504040204" pitchFamily="34" charset="0"/>
                          <a:ea typeface="Tahoma" panose="020B0604030504040204" pitchFamily="34" charset="0"/>
                          <a:cs typeface="Tahoma" panose="020B0604030504040204" pitchFamily="34" charset="0"/>
                        </a:rPr>
                        <a:t>Task Assign</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sz="1000" kern="1200" baseline="0" dirty="0">
                          <a:latin typeface="Tahoma" panose="020B0604030504040204" pitchFamily="34" charset="0"/>
                          <a:ea typeface="Tahoma" panose="020B0604030504040204" pitchFamily="34" charset="0"/>
                          <a:cs typeface="Tahoma" panose="020B0604030504040204" pitchFamily="34" charset="0"/>
                        </a:rPr>
                        <a:t>PM/PTL </a:t>
                      </a: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DEV</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marL="0" algn="l" defTabSz="914400" rtl="0" eaLnBrk="1" fontAlgn="ctr" latinLnBrk="0" hangingPunct="1"/>
                      <a:r>
                        <a:rPr kumimoji="1" lang="ja-JP" altLang="en-US" sz="1000" kern="1200" baseline="0">
                          <a:latin typeface="Tahoma" panose="020B0604030504040204" pitchFamily="34" charset="0"/>
                          <a:cs typeface="Tahoma" panose="020B0604030504040204" pitchFamily="34" charset="0"/>
                        </a:rPr>
                        <a:t>・ </a:t>
                      </a:r>
                      <a:r>
                        <a:rPr kumimoji="1" lang="en-US" altLang="ja-JP" sz="1000" kern="1200" baseline="0">
                          <a:latin typeface="Tahoma" panose="020B0604030504040204" pitchFamily="34" charset="0"/>
                          <a:ea typeface="Tahoma" panose="020B0604030504040204" pitchFamily="34" charset="0"/>
                          <a:cs typeface="Tahoma" panose="020B0604030504040204" pitchFamily="34" charset="0"/>
                        </a:rPr>
                        <a:t>Assign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daily task</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marL="0" algn="l" defTabSz="914400" rtl="0" eaLnBrk="1" fontAlgn="ctr" latinLnBrk="0" hangingPunct="1"/>
                      <a:r>
                        <a:rPr kumimoji="1" lang="en-US" sz="1000" kern="1200" baseline="0" dirty="0">
                          <a:latin typeface="Tahoma" panose="020B0604030504040204" pitchFamily="34" charset="0"/>
                          <a:ea typeface="Tahoma" panose="020B0604030504040204" pitchFamily="34" charset="0"/>
                          <a:cs typeface="Tahoma" panose="020B0604030504040204" pitchFamily="34" charset="0"/>
                        </a:rPr>
                        <a:t>WBS</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marL="0" algn="l" defTabSz="914400" rtl="0" eaLnBrk="1" fontAlgn="ctr" latinLnBrk="0" hangingPunct="1"/>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extLst>
                  <a:ext uri="{0D108BD9-81ED-4DB2-BD59-A6C34878D82A}">
                    <a16:rowId xmlns:a16="http://schemas.microsoft.com/office/drawing/2014/main" val="3639772009"/>
                  </a:ext>
                </a:extLst>
              </a:tr>
              <a:tr h="362489">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sz="1000" kern="1200" baseline="0" dirty="0">
                          <a:latin typeface="Tahoma" panose="020B0604030504040204" pitchFamily="34" charset="0"/>
                          <a:ea typeface="Tahoma" panose="020B0604030504040204" pitchFamily="34" charset="0"/>
                          <a:cs typeface="Tahoma" panose="020B0604030504040204" pitchFamily="34" charset="0"/>
                        </a:rPr>
                        <a:t>Daily Meeting</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pPr marL="0" algn="l" defTabSz="914400" rtl="0" eaLnBrk="1" fontAlgn="ctr" latinLnBrk="0" hangingPunct="1"/>
                      <a:r>
                        <a:rPr kumimoji="1" lang="en-US" sz="1000" kern="1200" baseline="0" dirty="0">
                          <a:latin typeface="Tahoma" panose="020B0604030504040204" pitchFamily="34" charset="0"/>
                          <a:ea typeface="Tahoma" panose="020B0604030504040204" pitchFamily="34" charset="0"/>
                          <a:cs typeface="Tahoma" panose="020B0604030504040204" pitchFamily="34" charset="0"/>
                        </a:rPr>
                        <a:t>Team </a:t>
                      </a:r>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PM</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pPr marL="0" algn="l" defTabSz="914400" rtl="0" eaLnBrk="1" fontAlgn="ctr" latinLnBrk="0" hangingPunct="1"/>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Report task progress everyday</a:t>
                      </a:r>
                    </a:p>
                    <a:p>
                      <a:pPr marL="0" algn="l" defTabSz="914400" rtl="0" eaLnBrk="1" fontAlgn="ctr" latinLnBrk="0" hangingPunct="1"/>
                      <a:r>
                        <a:rPr kumimoji="1" lang="ja-JP" altLang="en-US" sz="1000" kern="1200" baseline="0" dirty="0">
                          <a:latin typeface="Tahoma" panose="020B0604030504040204" pitchFamily="34" charset="0"/>
                          <a:cs typeface="Tahoma" panose="020B0604030504040204" pitchFamily="34" charset="0"/>
                        </a:rPr>
                        <a:t>・ </a:t>
                      </a:r>
                      <a:r>
                        <a:rPr kumimoji="1" lang="en-US" altLang="ja-JP" sz="1000" kern="1200" baseline="0" dirty="0">
                          <a:latin typeface="Tahoma" panose="020B0604030504040204" pitchFamily="34" charset="0"/>
                          <a:ea typeface="Tahoma" panose="020B0604030504040204" pitchFamily="34" charset="0"/>
                          <a:cs typeface="Tahoma" panose="020B0604030504040204" pitchFamily="34" charset="0"/>
                        </a:rPr>
                        <a:t>Report issue encountered.</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pPr marL="0" algn="l" defTabSz="914400" rtl="0" eaLnBrk="1" fontAlgn="ctr" latinLnBrk="0" hangingPunct="1"/>
                      <a:r>
                        <a:rPr kumimoji="1" lang="en-US" sz="1000" kern="1200" baseline="0" dirty="0">
                          <a:latin typeface="Tahoma" panose="020B0604030504040204" pitchFamily="34" charset="0"/>
                          <a:ea typeface="Tahoma" panose="020B0604030504040204" pitchFamily="34" charset="0"/>
                          <a:cs typeface="Tahoma" panose="020B0604030504040204" pitchFamily="34" charset="0"/>
                        </a:rPr>
                        <a:t>Standing</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tc>
                  <a:txBody>
                    <a:bodyPr/>
                    <a:lstStyle/>
                    <a:p>
                      <a:pPr marL="0" algn="l" defTabSz="914400" rtl="0" eaLnBrk="1" fontAlgn="ctr" latinLnBrk="0" hangingPunct="1"/>
                      <a:r>
                        <a:rPr kumimoji="1" lang="en-US" sz="1000" kern="1200" baseline="0" dirty="0">
                          <a:latin typeface="Tahoma" panose="020B0604030504040204" pitchFamily="34" charset="0"/>
                          <a:ea typeface="Tahoma" panose="020B0604030504040204" pitchFamily="34" charset="0"/>
                          <a:cs typeface="Tahoma" panose="020B0604030504040204" pitchFamily="34" charset="0"/>
                        </a:rPr>
                        <a:t>Daily 8:30</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DAF1F4"/>
                    </a:solidFill>
                  </a:tcPr>
                </a:tc>
                <a:extLst>
                  <a:ext uri="{0D108BD9-81ED-4DB2-BD59-A6C34878D82A}">
                    <a16:rowId xmlns:a16="http://schemas.microsoft.com/office/drawing/2014/main" val="3417010262"/>
                  </a:ext>
                </a:extLst>
              </a:tr>
              <a:tr h="217493">
                <a:tc>
                  <a:txBody>
                    <a:bodyPr/>
                    <a:lstStyle/>
                    <a:p>
                      <a:pPr marL="0" marR="0" lvl="0" indent="0" algn="l" defTabSz="914400" rtl="0" eaLnBrk="1" fontAlgn="ctr" latinLnBrk="0" hangingPunct="1">
                        <a:lnSpc>
                          <a:spcPct val="100000"/>
                        </a:lnSpc>
                        <a:spcBef>
                          <a:spcPts val="0"/>
                        </a:spcBef>
                        <a:spcAft>
                          <a:spcPts val="0"/>
                        </a:spcAft>
                        <a:buClrTx/>
                        <a:buSzTx/>
                        <a:buFontTx/>
                        <a:buNone/>
                        <a:tabLst/>
                        <a:defRPr/>
                      </a:pPr>
                      <a:r>
                        <a:rPr kumimoji="1" lang="en-US" sz="1000" kern="1200" baseline="0">
                          <a:latin typeface="Tahoma" panose="020B0604030504040204" pitchFamily="34" charset="0"/>
                          <a:ea typeface="Tahoma" panose="020B0604030504040204" pitchFamily="34" charset="0"/>
                          <a:cs typeface="Tahoma" panose="020B0604030504040204" pitchFamily="34" charset="0"/>
                        </a:rPr>
                        <a:t>Chat</a:t>
                      </a:r>
                      <a:endParaRPr kumimoji="1" lang="en-US" sz="1000" b="0" kern="1200" baseline="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marL="0" algn="l" defTabSz="914400" rtl="0" eaLnBrk="1" fontAlgn="ctr" latinLnBrk="0" hangingPunct="1"/>
                      <a:r>
                        <a:rPr kumimoji="1" lang="en-US" sz="1000" kern="1200" baseline="0" dirty="0">
                          <a:latin typeface="Tahoma" panose="020B0604030504040204" pitchFamily="34" charset="0"/>
                          <a:ea typeface="Tahoma" panose="020B0604030504040204" pitchFamily="34" charset="0"/>
                          <a:cs typeface="Tahoma" panose="020B0604030504040204" pitchFamily="34" charset="0"/>
                        </a:rPr>
                        <a:t>FAW</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marL="0" algn="l" defTabSz="914400" rtl="0" eaLnBrk="1" fontAlgn="ctr" latinLnBrk="0" hangingPunct="1"/>
                      <a:r>
                        <a:rPr kumimoji="1" lang="ja-JP" altLang="en-US" sz="1000" kern="1200" baseline="0">
                          <a:latin typeface="Tahoma" panose="020B0604030504040204" pitchFamily="34" charset="0"/>
                          <a:cs typeface="Tahoma" panose="020B0604030504040204" pitchFamily="34" charset="0"/>
                        </a:rPr>
                        <a:t>・ </a:t>
                      </a:r>
                      <a:r>
                        <a:rPr kumimoji="1" lang="en-US" altLang="ja-JP" sz="1000" kern="1200" baseline="0">
                          <a:latin typeface="Tahoma" panose="020B0604030504040204" pitchFamily="34" charset="0"/>
                          <a:ea typeface="Tahoma" panose="020B0604030504040204" pitchFamily="34" charset="0"/>
                          <a:cs typeface="Tahoma" panose="020B0604030504040204" pitchFamily="34" charset="0"/>
                        </a:rPr>
                        <a:t>Push / Remind</a:t>
                      </a:r>
                      <a:endParaRPr kumimoji="1" lang="en-US" sz="1000" b="0" kern="1200" baseline="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marL="0" algn="l" defTabSz="914400" rtl="0" eaLnBrk="1" fontAlgn="ctr" latinLnBrk="0" hangingPunct="1"/>
                      <a:r>
                        <a:rPr kumimoji="1" lang="en-US" sz="1000" kern="1200" baseline="0" dirty="0">
                          <a:latin typeface="Tahoma" panose="020B0604030504040204" pitchFamily="34" charset="0"/>
                          <a:ea typeface="Tahoma" panose="020B0604030504040204" pitchFamily="34" charset="0"/>
                          <a:cs typeface="Tahoma" panose="020B0604030504040204" pitchFamily="34" charset="0"/>
                        </a:rPr>
                        <a:t>FAW</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tc>
                  <a:txBody>
                    <a:bodyPr/>
                    <a:lstStyle/>
                    <a:p>
                      <a:pPr marL="0" algn="l" defTabSz="914400" rtl="0" eaLnBrk="1" fontAlgn="ctr" latinLnBrk="0" hangingPunct="1"/>
                      <a:r>
                        <a:rPr kumimoji="1" lang="en-US" sz="1000" kern="1200" baseline="0" dirty="0">
                          <a:latin typeface="Tahoma" panose="020B0604030504040204" pitchFamily="34" charset="0"/>
                          <a:ea typeface="Tahoma" panose="020B0604030504040204" pitchFamily="34" charset="0"/>
                          <a:cs typeface="Tahoma" panose="020B0604030504040204" pitchFamily="34" charset="0"/>
                        </a:rPr>
                        <a:t>Anytime</a:t>
                      </a:r>
                      <a:endParaRPr kumimoji="1" lang="en-US" sz="1000" b="0" kern="1200" baseline="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anchor="ctr">
                    <a:solidFill>
                      <a:srgbClr val="FFFFFF"/>
                    </a:solidFill>
                  </a:tcPr>
                </a:tc>
                <a:extLst>
                  <a:ext uri="{0D108BD9-81ED-4DB2-BD59-A6C34878D82A}">
                    <a16:rowId xmlns:a16="http://schemas.microsoft.com/office/drawing/2014/main" val="450337531"/>
                  </a:ext>
                </a:extLst>
              </a:tr>
            </a:tbl>
          </a:graphicData>
        </a:graphic>
      </p:graphicFrame>
      <p:sp>
        <p:nvSpPr>
          <p:cNvPr id="11" name="Rectangle 10">
            <a:extLst>
              <a:ext uri="{FF2B5EF4-FFF2-40B4-BE49-F238E27FC236}">
                <a16:creationId xmlns:a16="http://schemas.microsoft.com/office/drawing/2014/main" id="{604081C2-B295-1230-AB0F-E49307405613}"/>
              </a:ext>
            </a:extLst>
          </p:cNvPr>
          <p:cNvSpPr/>
          <p:nvPr/>
        </p:nvSpPr>
        <p:spPr>
          <a:xfrm>
            <a:off x="608186" y="997194"/>
            <a:ext cx="2448106" cy="292388"/>
          </a:xfrm>
          <a:prstGeom prst="rect">
            <a:avLst/>
          </a:prstGeom>
          <a:solidFill>
            <a:schemeClr val="bg1">
              <a:lumMod val="95000"/>
            </a:schemeClr>
          </a:solidFill>
        </p:spPr>
        <p:txBody>
          <a:bodyPr wrap="none">
            <a:spAutoFit/>
          </a:bodyPr>
          <a:lstStyle/>
          <a:p>
            <a:r>
              <a:rPr kumimoji="1" lang="en-US" altLang="ja-JP" sz="1300" b="1" dirty="0">
                <a:solidFill>
                  <a:srgbClr val="F27228"/>
                </a:solidFill>
                <a:latin typeface="Tahoma" panose="020B0604030504040204" pitchFamily="34" charset="0"/>
                <a:cs typeface="Tahoma" panose="020B0604030504040204" pitchFamily="34" charset="0"/>
              </a:rPr>
              <a:t>Communication to LG CNS</a:t>
            </a:r>
            <a:endParaRPr kumimoji="1" lang="ja-JP" altLang="en-US" sz="1300" b="1" dirty="0">
              <a:solidFill>
                <a:srgbClr val="F27228"/>
              </a:solidFill>
              <a:latin typeface="Tahoma" panose="020B0604030504040204" pitchFamily="34" charset="0"/>
              <a:cs typeface="Tahoma" panose="020B0604030504040204" pitchFamily="34" charset="0"/>
            </a:endParaRPr>
          </a:p>
        </p:txBody>
      </p:sp>
      <p:sp>
        <p:nvSpPr>
          <p:cNvPr id="12" name="Rectangle 11">
            <a:extLst>
              <a:ext uri="{FF2B5EF4-FFF2-40B4-BE49-F238E27FC236}">
                <a16:creationId xmlns:a16="http://schemas.microsoft.com/office/drawing/2014/main" id="{9622E23D-A708-207F-C15B-2F090339C61B}"/>
              </a:ext>
            </a:extLst>
          </p:cNvPr>
          <p:cNvSpPr/>
          <p:nvPr/>
        </p:nvSpPr>
        <p:spPr>
          <a:xfrm>
            <a:off x="617699" y="4013213"/>
            <a:ext cx="1962397" cy="292388"/>
          </a:xfrm>
          <a:prstGeom prst="rect">
            <a:avLst/>
          </a:prstGeom>
          <a:solidFill>
            <a:schemeClr val="bg1">
              <a:lumMod val="95000"/>
            </a:schemeClr>
          </a:solidFill>
        </p:spPr>
        <p:txBody>
          <a:bodyPr wrap="none">
            <a:spAutoFit/>
          </a:bodyPr>
          <a:lstStyle/>
          <a:p>
            <a:r>
              <a:rPr kumimoji="1" lang="en-US" sz="1300" b="1" dirty="0">
                <a:solidFill>
                  <a:srgbClr val="F27228"/>
                </a:solidFill>
                <a:latin typeface="Tahoma" panose="020B0604030504040204" pitchFamily="34" charset="0"/>
                <a:cs typeface="Tahoma" panose="020B0604030504040204" pitchFamily="34" charset="0"/>
              </a:rPr>
              <a:t>Project Task tracking</a:t>
            </a:r>
          </a:p>
        </p:txBody>
      </p:sp>
    </p:spTree>
    <p:extLst>
      <p:ext uri="{BB962C8B-B14F-4D97-AF65-F5344CB8AC3E}">
        <p14:creationId xmlns:p14="http://schemas.microsoft.com/office/powerpoint/2010/main" val="398389279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C07E217F-0A14-B1C6-6CEA-264811DE9F48}"/>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12</a:t>
            </a:fld>
            <a:endParaRPr lang="en-US" dirty="0">
              <a:solidFill>
                <a:srgbClr val="034EA2"/>
              </a:solidFill>
            </a:endParaRPr>
          </a:p>
        </p:txBody>
      </p:sp>
      <p:grpSp>
        <p:nvGrpSpPr>
          <p:cNvPr id="3" name="Group 2">
            <a:extLst>
              <a:ext uri="{FF2B5EF4-FFF2-40B4-BE49-F238E27FC236}">
                <a16:creationId xmlns:a16="http://schemas.microsoft.com/office/drawing/2014/main" id="{2BA84FF4-09E1-1CF5-BB9B-3C712F2DBED5}"/>
              </a:ext>
            </a:extLst>
          </p:cNvPr>
          <p:cNvGrpSpPr/>
          <p:nvPr/>
        </p:nvGrpSpPr>
        <p:grpSpPr>
          <a:xfrm>
            <a:off x="479425" y="461520"/>
            <a:ext cx="7005108" cy="584775"/>
            <a:chOff x="479425" y="461520"/>
            <a:chExt cx="7005108" cy="584775"/>
          </a:xfrm>
        </p:grpSpPr>
        <p:sp>
          <p:nvSpPr>
            <p:cNvPr id="4" name="Round Diagonal Corner Rectangle 3">
              <a:extLst>
                <a:ext uri="{FF2B5EF4-FFF2-40B4-BE49-F238E27FC236}">
                  <a16:creationId xmlns:a16="http://schemas.microsoft.com/office/drawing/2014/main" id="{91C43C97-96A3-B70F-ED9D-E08AC2C209DF}"/>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A6DB4022-1E40-3EC4-BCF4-D92BD80A7854}"/>
                </a:ext>
              </a:extLst>
            </p:cNvPr>
            <p:cNvSpPr txBox="1"/>
            <p:nvPr/>
          </p:nvSpPr>
          <p:spPr>
            <a:xfrm>
              <a:off x="536265" y="461520"/>
              <a:ext cx="6948268"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7. Working Model &amp; Process</a:t>
              </a:r>
            </a:p>
          </p:txBody>
        </p:sp>
      </p:grpSp>
      <p:sp>
        <p:nvSpPr>
          <p:cNvPr id="6" name="TextBox 5">
            <a:extLst>
              <a:ext uri="{FF2B5EF4-FFF2-40B4-BE49-F238E27FC236}">
                <a16:creationId xmlns:a16="http://schemas.microsoft.com/office/drawing/2014/main" id="{1B7B65E4-D03B-626A-80D9-A83B835609E8}"/>
              </a:ext>
            </a:extLst>
          </p:cNvPr>
          <p:cNvSpPr txBox="1"/>
          <p:nvPr/>
        </p:nvSpPr>
        <p:spPr>
          <a:xfrm>
            <a:off x="10227733" y="564936"/>
            <a:ext cx="1823318" cy="307777"/>
          </a:xfrm>
          <a:prstGeom prst="rect">
            <a:avLst/>
          </a:prstGeom>
          <a:solidFill>
            <a:srgbClr val="DAF1F4"/>
          </a:solidFill>
        </p:spPr>
        <p:txBody>
          <a:bodyPr wrap="square" rtlCol="0">
            <a:spAutoFit/>
          </a:bodyPr>
          <a:lstStyle/>
          <a:p>
            <a:r>
              <a:rPr lang="en-US" dirty="0">
                <a:solidFill>
                  <a:srgbClr val="FF0000"/>
                </a:solidFill>
              </a:rPr>
              <a:t>Agile Methodology</a:t>
            </a:r>
          </a:p>
        </p:txBody>
      </p:sp>
      <p:pic>
        <p:nvPicPr>
          <p:cNvPr id="7" name="Picture 6">
            <a:extLst>
              <a:ext uri="{FF2B5EF4-FFF2-40B4-BE49-F238E27FC236}">
                <a16:creationId xmlns:a16="http://schemas.microsoft.com/office/drawing/2014/main" id="{8BC50378-F195-2DB6-9FE5-44140DB3F5C2}"/>
              </a:ext>
            </a:extLst>
          </p:cNvPr>
          <p:cNvPicPr>
            <a:picLocks noChangeAspect="1"/>
          </p:cNvPicPr>
          <p:nvPr/>
        </p:nvPicPr>
        <p:blipFill>
          <a:blip r:embed="rId2"/>
          <a:stretch>
            <a:fillRect/>
          </a:stretch>
        </p:blipFill>
        <p:spPr>
          <a:xfrm>
            <a:off x="1775213" y="1616900"/>
            <a:ext cx="8837682" cy="4676164"/>
          </a:xfrm>
          <a:prstGeom prst="rect">
            <a:avLst/>
          </a:prstGeom>
        </p:spPr>
      </p:pic>
      <p:sp>
        <p:nvSpPr>
          <p:cNvPr id="8" name="TextBox 7">
            <a:extLst>
              <a:ext uri="{FF2B5EF4-FFF2-40B4-BE49-F238E27FC236}">
                <a16:creationId xmlns:a16="http://schemas.microsoft.com/office/drawing/2014/main" id="{8EAC83E3-CB23-7906-7C19-846170E123F8}"/>
              </a:ext>
            </a:extLst>
          </p:cNvPr>
          <p:cNvSpPr txBox="1"/>
          <p:nvPr/>
        </p:nvSpPr>
        <p:spPr>
          <a:xfrm>
            <a:off x="948683" y="1376251"/>
            <a:ext cx="5623270" cy="276999"/>
          </a:xfrm>
          <a:prstGeom prst="rect">
            <a:avLst/>
          </a:prstGeom>
          <a:noFill/>
        </p:spPr>
        <p:txBody>
          <a:bodyPr wrap="square">
            <a:spAutoFit/>
          </a:bodyPr>
          <a:lstStyle/>
          <a:p>
            <a:r>
              <a:rPr lang="en-US" sz="1200" b="0" cap="none" dirty="0">
                <a:solidFill>
                  <a:schemeClr val="tx1">
                    <a:lumMod val="85000"/>
                    <a:lumOff val="15000"/>
                  </a:schemeClr>
                </a:solidFill>
                <a:highlight>
                  <a:srgbClr val="FFFF00"/>
                </a:highlight>
                <a:latin typeface="Segoe UI Symbol" panose="020B0502040204020203" pitchFamily="34" charset="0"/>
                <a:ea typeface="Segoe UI Symbol" panose="020B0502040204020203" pitchFamily="34" charset="0"/>
              </a:rPr>
              <a:t>Insert image that is relevant to Project below. Sample given below.</a:t>
            </a:r>
            <a:endParaRPr lang="en-US" sz="1200" dirty="0">
              <a:highlight>
                <a:srgbClr val="FFFF00"/>
              </a:highlight>
              <a:latin typeface="Segoe UI Symbol" panose="020B0502040204020203" pitchFamily="34" charset="0"/>
              <a:ea typeface="Segoe UI Symbol" panose="020B0502040204020203" pitchFamily="34" charset="0"/>
            </a:endParaRPr>
          </a:p>
        </p:txBody>
      </p:sp>
      <p:sp>
        <p:nvSpPr>
          <p:cNvPr id="9" name="Text Placeholder 15">
            <a:extLst>
              <a:ext uri="{FF2B5EF4-FFF2-40B4-BE49-F238E27FC236}">
                <a16:creationId xmlns:a16="http://schemas.microsoft.com/office/drawing/2014/main" id="{8F9929BB-B3DF-C731-CFB6-63331687C1CC}"/>
              </a:ext>
            </a:extLst>
          </p:cNvPr>
          <p:cNvSpPr txBox="1">
            <a:spLocks/>
          </p:cNvSpPr>
          <p:nvPr/>
        </p:nvSpPr>
        <p:spPr>
          <a:xfrm>
            <a:off x="948683" y="993395"/>
            <a:ext cx="10463213" cy="382856"/>
          </a:xfrm>
          <a:prstGeom prst="rect">
            <a:avLst/>
          </a:prstGeom>
        </p:spPr>
        <p:txBody>
          <a:bodyPr/>
          <a:lstStyle>
            <a:lvl1pPr marL="228600" indent="-228600" algn="l" defTabSz="914400" rtl="0" eaLnBrk="1" latinLnBrk="0" hangingPunct="1">
              <a:lnSpc>
                <a:spcPct val="90000"/>
              </a:lnSpc>
              <a:spcBef>
                <a:spcPts val="1000"/>
              </a:spcBef>
              <a:buClr>
                <a:srgbClr val="F27228"/>
              </a:buClr>
              <a:buFont typeface="Arial" panose="020B0604020202020204" pitchFamily="34" charset="0"/>
              <a:buChar char="•"/>
              <a:defRPr sz="1600" kern="1200">
                <a:solidFill>
                  <a:srgbClr val="36365C"/>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(a) Development Model</a:t>
            </a:r>
          </a:p>
        </p:txBody>
      </p:sp>
    </p:spTree>
    <p:extLst>
      <p:ext uri="{BB962C8B-B14F-4D97-AF65-F5344CB8AC3E}">
        <p14:creationId xmlns:p14="http://schemas.microsoft.com/office/powerpoint/2010/main" val="153017775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C07E217F-0A14-B1C6-6CEA-264811DE9F48}"/>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13</a:t>
            </a:fld>
            <a:endParaRPr lang="en-US" dirty="0">
              <a:solidFill>
                <a:srgbClr val="034EA2"/>
              </a:solidFill>
            </a:endParaRPr>
          </a:p>
        </p:txBody>
      </p:sp>
      <p:grpSp>
        <p:nvGrpSpPr>
          <p:cNvPr id="3" name="Group 2">
            <a:extLst>
              <a:ext uri="{FF2B5EF4-FFF2-40B4-BE49-F238E27FC236}">
                <a16:creationId xmlns:a16="http://schemas.microsoft.com/office/drawing/2014/main" id="{2BA84FF4-09E1-1CF5-BB9B-3C712F2DBED5}"/>
              </a:ext>
            </a:extLst>
          </p:cNvPr>
          <p:cNvGrpSpPr/>
          <p:nvPr/>
        </p:nvGrpSpPr>
        <p:grpSpPr>
          <a:xfrm>
            <a:off x="479425" y="461520"/>
            <a:ext cx="7005108" cy="584775"/>
            <a:chOff x="479425" y="461520"/>
            <a:chExt cx="7005108" cy="584775"/>
          </a:xfrm>
        </p:grpSpPr>
        <p:sp>
          <p:nvSpPr>
            <p:cNvPr id="4" name="Round Diagonal Corner Rectangle 3">
              <a:extLst>
                <a:ext uri="{FF2B5EF4-FFF2-40B4-BE49-F238E27FC236}">
                  <a16:creationId xmlns:a16="http://schemas.microsoft.com/office/drawing/2014/main" id="{91C43C97-96A3-B70F-ED9D-E08AC2C209DF}"/>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A6DB4022-1E40-3EC4-BCF4-D92BD80A7854}"/>
                </a:ext>
              </a:extLst>
            </p:cNvPr>
            <p:cNvSpPr txBox="1"/>
            <p:nvPr/>
          </p:nvSpPr>
          <p:spPr>
            <a:xfrm>
              <a:off x="536265" y="461520"/>
              <a:ext cx="6948268"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7. Working Model &amp; Process</a:t>
              </a:r>
            </a:p>
          </p:txBody>
        </p:sp>
      </p:grpSp>
      <p:sp>
        <p:nvSpPr>
          <p:cNvPr id="30" name="TextBox 29">
            <a:extLst>
              <a:ext uri="{FF2B5EF4-FFF2-40B4-BE49-F238E27FC236}">
                <a16:creationId xmlns:a16="http://schemas.microsoft.com/office/drawing/2014/main" id="{05607651-6D0F-4AD6-FE99-8975EB0BC092}"/>
              </a:ext>
            </a:extLst>
          </p:cNvPr>
          <p:cNvSpPr txBox="1"/>
          <p:nvPr/>
        </p:nvSpPr>
        <p:spPr>
          <a:xfrm>
            <a:off x="448712" y="1672351"/>
            <a:ext cx="3709314" cy="661720"/>
          </a:xfrm>
          <a:prstGeom prst="rect">
            <a:avLst/>
          </a:prstGeom>
          <a:noFill/>
        </p:spPr>
        <p:txBody>
          <a:bodyPr wrap="square" rtlCol="0">
            <a:spAutoFit/>
          </a:bodyPr>
          <a:lstStyle/>
          <a:p>
            <a:pPr algn="ctr">
              <a:buClrTx/>
              <a:buFontTx/>
              <a:buNone/>
            </a:pPr>
            <a:r>
              <a:rPr lang="en-US" sz="3700" kern="1200">
                <a:ln w="0"/>
                <a:solidFill>
                  <a:srgbClr val="4472C4"/>
                </a:solidFill>
                <a:effectLst>
                  <a:outerShdw blurRad="38100" dist="25400" dir="5400000" algn="ctr" rotWithShape="0">
                    <a:srgbClr val="6E747A">
                      <a:alpha val="43000"/>
                    </a:srgbClr>
                  </a:outerShdw>
                </a:effectLst>
                <a:latin typeface="Segoe UI" panose="020B0502040204020203" pitchFamily="34" charset="0"/>
                <a:ea typeface="+mn-ea"/>
                <a:cs typeface="Segoe UI" panose="020B0502040204020203" pitchFamily="34" charset="0"/>
              </a:rPr>
              <a:t>WATERFALL</a:t>
            </a:r>
            <a:endParaRPr lang="en-US" sz="3700" kern="1200" dirty="0">
              <a:ln w="0"/>
              <a:solidFill>
                <a:srgbClr val="4472C4"/>
              </a:solidFill>
              <a:effectLst>
                <a:outerShdw blurRad="38100" dist="25400" dir="5400000" algn="ctr" rotWithShape="0">
                  <a:srgbClr val="6E747A">
                    <a:alpha val="43000"/>
                  </a:srgbClr>
                </a:outerShdw>
              </a:effectLst>
              <a:latin typeface="Segoe UI" panose="020B0502040204020203" pitchFamily="34" charset="0"/>
              <a:ea typeface="+mn-ea"/>
              <a:cs typeface="Segoe UI" panose="020B0502040204020203" pitchFamily="34" charset="0"/>
            </a:endParaRPr>
          </a:p>
        </p:txBody>
      </p:sp>
      <p:sp>
        <p:nvSpPr>
          <p:cNvPr id="31" name="Freeform 30">
            <a:extLst>
              <a:ext uri="{FF2B5EF4-FFF2-40B4-BE49-F238E27FC236}">
                <a16:creationId xmlns:a16="http://schemas.microsoft.com/office/drawing/2014/main" id="{CE052A99-3D46-9907-64CD-7F5B24C801B1}"/>
              </a:ext>
            </a:extLst>
          </p:cNvPr>
          <p:cNvSpPr>
            <a:spLocks noChangeArrowheads="1"/>
          </p:cNvSpPr>
          <p:nvPr/>
        </p:nvSpPr>
        <p:spPr bwMode="auto">
          <a:xfrm>
            <a:off x="-1" y="1263315"/>
            <a:ext cx="6436895" cy="1852864"/>
          </a:xfrm>
          <a:custGeom>
            <a:avLst/>
            <a:gdLst>
              <a:gd name="T0" fmla="*/ 8657 w 10050"/>
              <a:gd name="T1" fmla="*/ 0 h 2788"/>
              <a:gd name="T2" fmla="*/ 7263 w 10050"/>
              <a:gd name="T3" fmla="*/ 1394 h 2788"/>
              <a:gd name="T4" fmla="*/ 6917 w 10050"/>
              <a:gd name="T5" fmla="*/ 1740 h 2788"/>
              <a:gd name="T6" fmla="*/ 0 w 10050"/>
              <a:gd name="T7" fmla="*/ 1740 h 2788"/>
              <a:gd name="T8" fmla="*/ 0 w 10050"/>
              <a:gd name="T9" fmla="*/ 2086 h 2788"/>
              <a:gd name="T10" fmla="*/ 6917 w 10050"/>
              <a:gd name="T11" fmla="*/ 2086 h 2788"/>
              <a:gd name="T12" fmla="*/ 7609 w 10050"/>
              <a:gd name="T13" fmla="*/ 1394 h 2788"/>
              <a:gd name="T14" fmla="*/ 8657 w 10050"/>
              <a:gd name="T15" fmla="*/ 346 h 2788"/>
              <a:gd name="T16" fmla="*/ 9704 w 10050"/>
              <a:gd name="T17" fmla="*/ 1394 h 2788"/>
              <a:gd name="T18" fmla="*/ 8657 w 10050"/>
              <a:gd name="T19" fmla="*/ 2441 h 2788"/>
              <a:gd name="T20" fmla="*/ 8657 w 10050"/>
              <a:gd name="T21" fmla="*/ 2787 h 2788"/>
              <a:gd name="T22" fmla="*/ 10049 w 10050"/>
              <a:gd name="T23" fmla="*/ 1394 h 2788"/>
              <a:gd name="T24" fmla="*/ 8657 w 10050"/>
              <a:gd name="T25" fmla="*/ 0 h 2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0050" h="2788">
                <a:moveTo>
                  <a:pt x="8657" y="0"/>
                </a:moveTo>
                <a:cubicBezTo>
                  <a:pt x="7888" y="0"/>
                  <a:pt x="7263" y="625"/>
                  <a:pt x="7263" y="1394"/>
                </a:cubicBezTo>
                <a:cubicBezTo>
                  <a:pt x="7263" y="1584"/>
                  <a:pt x="7108" y="1740"/>
                  <a:pt x="6917" y="1740"/>
                </a:cubicBezTo>
                <a:lnTo>
                  <a:pt x="0" y="1740"/>
                </a:lnTo>
                <a:lnTo>
                  <a:pt x="0" y="2086"/>
                </a:lnTo>
                <a:lnTo>
                  <a:pt x="6917" y="2086"/>
                </a:lnTo>
                <a:cubicBezTo>
                  <a:pt x="7299" y="2086"/>
                  <a:pt x="7609" y="1775"/>
                  <a:pt x="7609" y="1394"/>
                </a:cubicBezTo>
                <a:cubicBezTo>
                  <a:pt x="7609" y="816"/>
                  <a:pt x="8079" y="346"/>
                  <a:pt x="8657" y="346"/>
                </a:cubicBezTo>
                <a:cubicBezTo>
                  <a:pt x="9234" y="346"/>
                  <a:pt x="9704" y="816"/>
                  <a:pt x="9704" y="1394"/>
                </a:cubicBezTo>
                <a:cubicBezTo>
                  <a:pt x="9704" y="1971"/>
                  <a:pt x="9234" y="2441"/>
                  <a:pt x="8657" y="2441"/>
                </a:cubicBezTo>
                <a:lnTo>
                  <a:pt x="8657" y="2787"/>
                </a:lnTo>
                <a:cubicBezTo>
                  <a:pt x="9425" y="2787"/>
                  <a:pt x="10049" y="2162"/>
                  <a:pt x="10049" y="1394"/>
                </a:cubicBezTo>
                <a:cubicBezTo>
                  <a:pt x="10049" y="625"/>
                  <a:pt x="9425" y="0"/>
                  <a:pt x="8657" y="0"/>
                </a:cubicBezTo>
              </a:path>
            </a:pathLst>
          </a:custGeom>
          <a:solidFill>
            <a:srgbClr val="4472C4"/>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6365C"/>
              </a:solidFill>
              <a:effectLst/>
              <a:uLnTx/>
              <a:uFillTx/>
              <a:latin typeface="Segoe UI" panose="020B0502040204020203" pitchFamily="34" charset="0"/>
              <a:ea typeface="+mn-ea"/>
              <a:cs typeface="Segoe UI" panose="020B0502040204020203" pitchFamily="34" charset="0"/>
            </a:endParaRPr>
          </a:p>
        </p:txBody>
      </p:sp>
      <p:sp>
        <p:nvSpPr>
          <p:cNvPr id="32" name="Rectangle 31">
            <a:extLst>
              <a:ext uri="{FF2B5EF4-FFF2-40B4-BE49-F238E27FC236}">
                <a16:creationId xmlns:a16="http://schemas.microsoft.com/office/drawing/2014/main" id="{3A7981C0-4CED-F576-A345-9B858121C332}"/>
              </a:ext>
            </a:extLst>
          </p:cNvPr>
          <p:cNvSpPr/>
          <p:nvPr/>
        </p:nvSpPr>
        <p:spPr>
          <a:xfrm>
            <a:off x="5328436" y="1809690"/>
            <a:ext cx="442750" cy="630942"/>
          </a:xfrm>
          <a:prstGeom prst="rect">
            <a:avLst/>
          </a:prstGeom>
        </p:spPr>
        <p:txBody>
          <a:bodyPr wrap="none">
            <a:spAutoFit/>
          </a:bodyPr>
          <a:lstStyle/>
          <a:p>
            <a:pPr>
              <a:buClrTx/>
              <a:buFontTx/>
              <a:buNone/>
            </a:pPr>
            <a:r>
              <a:rPr lang="en-US" sz="3500" b="1" kern="1200" dirty="0">
                <a:solidFill>
                  <a:srgbClr val="4472C4"/>
                </a:solidFill>
                <a:latin typeface="Segoe UI" panose="020B0502040204020203" pitchFamily="34" charset="0"/>
                <a:ea typeface="+mn-ea"/>
                <a:cs typeface="Segoe UI" panose="020B0502040204020203" pitchFamily="34" charset="0"/>
              </a:rPr>
              <a:t>1</a:t>
            </a:r>
            <a:endParaRPr lang="en-US" sz="3500" kern="1200" dirty="0">
              <a:solidFill>
                <a:srgbClr val="36365C"/>
              </a:solidFill>
              <a:latin typeface="Segoe UI" panose="020B0502040204020203" pitchFamily="34" charset="0"/>
              <a:ea typeface="+mn-ea"/>
              <a:cs typeface="Segoe UI" panose="020B0502040204020203" pitchFamily="34" charset="0"/>
            </a:endParaRPr>
          </a:p>
        </p:txBody>
      </p:sp>
      <p:sp>
        <p:nvSpPr>
          <p:cNvPr id="33" name="Subtitle 2">
            <a:extLst>
              <a:ext uri="{FF2B5EF4-FFF2-40B4-BE49-F238E27FC236}">
                <a16:creationId xmlns:a16="http://schemas.microsoft.com/office/drawing/2014/main" id="{33D471DE-44E8-9B00-E860-1CC4964E97E5}"/>
              </a:ext>
            </a:extLst>
          </p:cNvPr>
          <p:cNvSpPr txBox="1">
            <a:spLocks/>
          </p:cNvSpPr>
          <p:nvPr/>
        </p:nvSpPr>
        <p:spPr>
          <a:xfrm>
            <a:off x="6634298" y="1508396"/>
            <a:ext cx="5113422" cy="1438855"/>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500"/>
              </a:lnSpc>
              <a:buClrTx/>
            </a:pPr>
            <a:r>
              <a:rPr lang="en-US" sz="1600" dirty="0">
                <a:solidFill>
                  <a:srgbClr val="36365C"/>
                </a:solidFill>
                <a:latin typeface="Segoe UI" panose="020B0502040204020203" pitchFamily="34" charset="0"/>
                <a:ea typeface="Lato Light" panose="020F0502020204030203" pitchFamily="34" charset="0"/>
                <a:cs typeface="Segoe UI" panose="020B0502040204020203" pitchFamily="34" charset="0"/>
              </a:rPr>
              <a:t>The BA group performed an analysis of the requirements assigned to LG CNS and produced the High-Level Design</a:t>
            </a:r>
          </a:p>
        </p:txBody>
      </p:sp>
      <p:sp>
        <p:nvSpPr>
          <p:cNvPr id="34" name="TextBox 33">
            <a:extLst>
              <a:ext uri="{FF2B5EF4-FFF2-40B4-BE49-F238E27FC236}">
                <a16:creationId xmlns:a16="http://schemas.microsoft.com/office/drawing/2014/main" id="{EE5EA0BF-FC41-FFEC-EB93-F14C0A141DFA}"/>
              </a:ext>
            </a:extLst>
          </p:cNvPr>
          <p:cNvSpPr txBox="1"/>
          <p:nvPr/>
        </p:nvSpPr>
        <p:spPr>
          <a:xfrm>
            <a:off x="6621419" y="1340113"/>
            <a:ext cx="2662908" cy="338554"/>
          </a:xfrm>
          <a:prstGeom prst="rect">
            <a:avLst/>
          </a:prstGeom>
          <a:noFill/>
        </p:spPr>
        <p:txBody>
          <a:bodyPr wrap="none" rtlCol="0" anchor="b" anchorCtr="0">
            <a:spAutoFit/>
          </a:bodyPr>
          <a:lstStyle/>
          <a:p>
            <a:pPr>
              <a:buClrTx/>
              <a:buFontTx/>
              <a:buNone/>
            </a:pPr>
            <a:r>
              <a:rPr lang="en-US" sz="1600" b="1" kern="1200" dirty="0">
                <a:solidFill>
                  <a:srgbClr val="44546A"/>
                </a:solidFill>
                <a:latin typeface="Segoe UI" panose="020B0502040204020203" pitchFamily="34" charset="0"/>
                <a:ea typeface="League Spartan" charset="0"/>
                <a:cs typeface="Segoe UI" panose="020B0502040204020203" pitchFamily="34" charset="0"/>
              </a:rPr>
              <a:t>REQUIREMENT ANALYSIS</a:t>
            </a:r>
          </a:p>
        </p:txBody>
      </p:sp>
      <p:sp>
        <p:nvSpPr>
          <p:cNvPr id="35" name="Freeform 34">
            <a:extLst>
              <a:ext uri="{FF2B5EF4-FFF2-40B4-BE49-F238E27FC236}">
                <a16:creationId xmlns:a16="http://schemas.microsoft.com/office/drawing/2014/main" id="{00D58ECB-70EC-454B-F135-E1D1634CD658}"/>
              </a:ext>
            </a:extLst>
          </p:cNvPr>
          <p:cNvSpPr>
            <a:spLocks noChangeArrowheads="1"/>
          </p:cNvSpPr>
          <p:nvPr/>
        </p:nvSpPr>
        <p:spPr bwMode="auto">
          <a:xfrm>
            <a:off x="4662728" y="2884613"/>
            <a:ext cx="1774166" cy="1847515"/>
          </a:xfrm>
          <a:custGeom>
            <a:avLst/>
            <a:gdLst>
              <a:gd name="T0" fmla="*/ 1394 w 2788"/>
              <a:gd name="T1" fmla="*/ 2786 h 2787"/>
              <a:gd name="T2" fmla="*/ 0 w 2788"/>
              <a:gd name="T3" fmla="*/ 1393 h 2787"/>
              <a:gd name="T4" fmla="*/ 1394 w 2788"/>
              <a:gd name="T5" fmla="*/ 0 h 2787"/>
              <a:gd name="T6" fmla="*/ 1394 w 2788"/>
              <a:gd name="T7" fmla="*/ 346 h 2787"/>
              <a:gd name="T8" fmla="*/ 346 w 2788"/>
              <a:gd name="T9" fmla="*/ 1393 h 2787"/>
              <a:gd name="T10" fmla="*/ 1394 w 2788"/>
              <a:gd name="T11" fmla="*/ 2440 h 2787"/>
              <a:gd name="T12" fmla="*/ 2441 w 2788"/>
              <a:gd name="T13" fmla="*/ 1393 h 2787"/>
              <a:gd name="T14" fmla="*/ 2787 w 2788"/>
              <a:gd name="T15" fmla="*/ 1393 h 2787"/>
              <a:gd name="T16" fmla="*/ 1394 w 2788"/>
              <a:gd name="T17" fmla="*/ 2786 h 2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8" h="2787">
                <a:moveTo>
                  <a:pt x="1394" y="2786"/>
                </a:moveTo>
                <a:cubicBezTo>
                  <a:pt x="625" y="2786"/>
                  <a:pt x="0" y="2162"/>
                  <a:pt x="0" y="1393"/>
                </a:cubicBezTo>
                <a:cubicBezTo>
                  <a:pt x="0" y="625"/>
                  <a:pt x="625" y="0"/>
                  <a:pt x="1394" y="0"/>
                </a:cubicBezTo>
                <a:lnTo>
                  <a:pt x="1394" y="346"/>
                </a:lnTo>
                <a:cubicBezTo>
                  <a:pt x="816" y="346"/>
                  <a:pt x="346" y="815"/>
                  <a:pt x="346" y="1393"/>
                </a:cubicBezTo>
                <a:cubicBezTo>
                  <a:pt x="346" y="1970"/>
                  <a:pt x="816" y="2440"/>
                  <a:pt x="1394" y="2440"/>
                </a:cubicBezTo>
                <a:cubicBezTo>
                  <a:pt x="1971" y="2440"/>
                  <a:pt x="2441" y="1970"/>
                  <a:pt x="2441" y="1393"/>
                </a:cubicBezTo>
                <a:lnTo>
                  <a:pt x="2787" y="1393"/>
                </a:lnTo>
                <a:cubicBezTo>
                  <a:pt x="2787" y="2162"/>
                  <a:pt x="2162" y="2786"/>
                  <a:pt x="1394" y="2786"/>
                </a:cubicBezTo>
              </a:path>
            </a:pathLst>
          </a:custGeom>
          <a:solidFill>
            <a:srgbClr val="00B050"/>
          </a:solidFill>
          <a:ln>
            <a:noFill/>
          </a:ln>
          <a:effectLst/>
        </p:spPr>
        <p:txBody>
          <a:bodyPr wrap="none" anchor="ctr"/>
          <a:lstStyle/>
          <a:p>
            <a:pPr>
              <a:buClrTx/>
              <a:buFontTx/>
              <a:buNone/>
            </a:pPr>
            <a:endParaRPr lang="en-US" sz="1800" kern="1200">
              <a:solidFill>
                <a:srgbClr val="36365C"/>
              </a:solidFill>
              <a:latin typeface="Segoe UI" panose="020B0502040204020203" pitchFamily="34" charset="0"/>
              <a:ea typeface="+mn-ea"/>
              <a:cs typeface="Segoe UI" panose="020B0502040204020203" pitchFamily="34" charset="0"/>
            </a:endParaRPr>
          </a:p>
        </p:txBody>
      </p:sp>
      <p:sp>
        <p:nvSpPr>
          <p:cNvPr id="36" name="Freeform 35">
            <a:extLst>
              <a:ext uri="{FF2B5EF4-FFF2-40B4-BE49-F238E27FC236}">
                <a16:creationId xmlns:a16="http://schemas.microsoft.com/office/drawing/2014/main" id="{FF6A5526-BE14-E419-5E45-C27F22F79380}"/>
              </a:ext>
            </a:extLst>
          </p:cNvPr>
          <p:cNvSpPr>
            <a:spLocks noChangeArrowheads="1"/>
          </p:cNvSpPr>
          <p:nvPr/>
        </p:nvSpPr>
        <p:spPr bwMode="auto">
          <a:xfrm>
            <a:off x="6216752" y="2950967"/>
            <a:ext cx="1736121" cy="1741346"/>
          </a:xfrm>
          <a:custGeom>
            <a:avLst/>
            <a:gdLst>
              <a:gd name="T0" fmla="*/ 1393 w 2788"/>
              <a:gd name="T1" fmla="*/ 2786 h 2787"/>
              <a:gd name="T2" fmla="*/ 1393 w 2788"/>
              <a:gd name="T3" fmla="*/ 2440 h 2787"/>
              <a:gd name="T4" fmla="*/ 2441 w 2788"/>
              <a:gd name="T5" fmla="*/ 1393 h 2787"/>
              <a:gd name="T6" fmla="*/ 1393 w 2788"/>
              <a:gd name="T7" fmla="*/ 346 h 2787"/>
              <a:gd name="T8" fmla="*/ 346 w 2788"/>
              <a:gd name="T9" fmla="*/ 1393 h 2787"/>
              <a:gd name="T10" fmla="*/ 0 w 2788"/>
              <a:gd name="T11" fmla="*/ 1393 h 2787"/>
              <a:gd name="T12" fmla="*/ 1393 w 2788"/>
              <a:gd name="T13" fmla="*/ 0 h 2787"/>
              <a:gd name="T14" fmla="*/ 2787 w 2788"/>
              <a:gd name="T15" fmla="*/ 1393 h 2787"/>
              <a:gd name="T16" fmla="*/ 1393 w 2788"/>
              <a:gd name="T17" fmla="*/ 2786 h 27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88" h="2787">
                <a:moveTo>
                  <a:pt x="1393" y="2786"/>
                </a:moveTo>
                <a:lnTo>
                  <a:pt x="1393" y="2440"/>
                </a:lnTo>
                <a:cubicBezTo>
                  <a:pt x="1971" y="2440"/>
                  <a:pt x="2441" y="1970"/>
                  <a:pt x="2441" y="1393"/>
                </a:cubicBezTo>
                <a:cubicBezTo>
                  <a:pt x="2441" y="815"/>
                  <a:pt x="1971" y="346"/>
                  <a:pt x="1393" y="346"/>
                </a:cubicBezTo>
                <a:cubicBezTo>
                  <a:pt x="816" y="346"/>
                  <a:pt x="346" y="815"/>
                  <a:pt x="346" y="1393"/>
                </a:cubicBezTo>
                <a:lnTo>
                  <a:pt x="0" y="1393"/>
                </a:lnTo>
                <a:cubicBezTo>
                  <a:pt x="0" y="625"/>
                  <a:pt x="625" y="0"/>
                  <a:pt x="1393" y="0"/>
                </a:cubicBezTo>
                <a:cubicBezTo>
                  <a:pt x="2162" y="0"/>
                  <a:pt x="2787" y="625"/>
                  <a:pt x="2787" y="1393"/>
                </a:cubicBezTo>
                <a:cubicBezTo>
                  <a:pt x="2787" y="2162"/>
                  <a:pt x="2162" y="2786"/>
                  <a:pt x="1393" y="2786"/>
                </a:cubicBezTo>
              </a:path>
            </a:pathLst>
          </a:custGeom>
          <a:solidFill>
            <a:srgbClr val="0070C0"/>
          </a:solidFill>
          <a:ln>
            <a:noFill/>
          </a:ln>
          <a:effectLst/>
        </p:spPr>
        <p:txBody>
          <a:bodyPr wrap="none" anchor="ctr"/>
          <a:lstStyle/>
          <a:p>
            <a:pPr>
              <a:buClrTx/>
              <a:buFontTx/>
              <a:buNone/>
            </a:pPr>
            <a:endParaRPr lang="en-US" sz="1800" kern="1200">
              <a:solidFill>
                <a:srgbClr val="36365C"/>
              </a:solidFill>
              <a:latin typeface="Segoe UI" panose="020B0502040204020203" pitchFamily="34" charset="0"/>
              <a:ea typeface="+mn-ea"/>
              <a:cs typeface="Segoe UI" panose="020B0502040204020203" pitchFamily="34" charset="0"/>
            </a:endParaRPr>
          </a:p>
        </p:txBody>
      </p:sp>
      <p:sp>
        <p:nvSpPr>
          <p:cNvPr id="37" name="Freeform 36">
            <a:extLst>
              <a:ext uri="{FF2B5EF4-FFF2-40B4-BE49-F238E27FC236}">
                <a16:creationId xmlns:a16="http://schemas.microsoft.com/office/drawing/2014/main" id="{62EE3C5E-0473-2B7D-2035-B98EAF75FC66}"/>
              </a:ext>
            </a:extLst>
          </p:cNvPr>
          <p:cNvSpPr>
            <a:spLocks noChangeArrowheads="1"/>
          </p:cNvSpPr>
          <p:nvPr/>
        </p:nvSpPr>
        <p:spPr bwMode="auto">
          <a:xfrm>
            <a:off x="6252476" y="4471175"/>
            <a:ext cx="5927492" cy="1737120"/>
          </a:xfrm>
          <a:custGeom>
            <a:avLst/>
            <a:gdLst>
              <a:gd name="T0" fmla="*/ 3133 w 9866"/>
              <a:gd name="T1" fmla="*/ 701 h 2788"/>
              <a:gd name="T2" fmla="*/ 2441 w 9866"/>
              <a:gd name="T3" fmla="*/ 1394 h 2788"/>
              <a:gd name="T4" fmla="*/ 1393 w 9866"/>
              <a:gd name="T5" fmla="*/ 2441 h 2788"/>
              <a:gd name="T6" fmla="*/ 346 w 9866"/>
              <a:gd name="T7" fmla="*/ 1394 h 2788"/>
              <a:gd name="T8" fmla="*/ 1393 w 9866"/>
              <a:gd name="T9" fmla="*/ 346 h 2788"/>
              <a:gd name="T10" fmla="*/ 1393 w 9866"/>
              <a:gd name="T11" fmla="*/ 0 h 2788"/>
              <a:gd name="T12" fmla="*/ 0 w 9866"/>
              <a:gd name="T13" fmla="*/ 1394 h 2788"/>
              <a:gd name="T14" fmla="*/ 1393 w 9866"/>
              <a:gd name="T15" fmla="*/ 2787 h 2788"/>
              <a:gd name="T16" fmla="*/ 2787 w 9866"/>
              <a:gd name="T17" fmla="*/ 1394 h 2788"/>
              <a:gd name="T18" fmla="*/ 3133 w 9866"/>
              <a:gd name="T19" fmla="*/ 1047 h 2788"/>
              <a:gd name="T20" fmla="*/ 9865 w 9866"/>
              <a:gd name="T21" fmla="*/ 1047 h 2788"/>
              <a:gd name="T22" fmla="*/ 9865 w 9866"/>
              <a:gd name="T23" fmla="*/ 701 h 2788"/>
              <a:gd name="T24" fmla="*/ 3133 w 9866"/>
              <a:gd name="T25" fmla="*/ 701 h 27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866" h="2788">
                <a:moveTo>
                  <a:pt x="3133" y="701"/>
                </a:moveTo>
                <a:cubicBezTo>
                  <a:pt x="2751" y="701"/>
                  <a:pt x="2441" y="1012"/>
                  <a:pt x="2441" y="1394"/>
                </a:cubicBezTo>
                <a:cubicBezTo>
                  <a:pt x="2441" y="1971"/>
                  <a:pt x="1970" y="2441"/>
                  <a:pt x="1393" y="2441"/>
                </a:cubicBezTo>
                <a:cubicBezTo>
                  <a:pt x="816" y="2441"/>
                  <a:pt x="346" y="1971"/>
                  <a:pt x="346" y="1394"/>
                </a:cubicBezTo>
                <a:cubicBezTo>
                  <a:pt x="346" y="816"/>
                  <a:pt x="816" y="346"/>
                  <a:pt x="1393" y="346"/>
                </a:cubicBezTo>
                <a:lnTo>
                  <a:pt x="1393" y="0"/>
                </a:lnTo>
                <a:cubicBezTo>
                  <a:pt x="625" y="0"/>
                  <a:pt x="0" y="626"/>
                  <a:pt x="0" y="1394"/>
                </a:cubicBezTo>
                <a:cubicBezTo>
                  <a:pt x="0" y="2162"/>
                  <a:pt x="625" y="2787"/>
                  <a:pt x="1393" y="2787"/>
                </a:cubicBezTo>
                <a:cubicBezTo>
                  <a:pt x="2162" y="2787"/>
                  <a:pt x="2787" y="2162"/>
                  <a:pt x="2787" y="1394"/>
                </a:cubicBezTo>
                <a:cubicBezTo>
                  <a:pt x="2787" y="1203"/>
                  <a:pt x="2942" y="1047"/>
                  <a:pt x="3133" y="1047"/>
                </a:cubicBezTo>
                <a:lnTo>
                  <a:pt x="9865" y="1047"/>
                </a:lnTo>
                <a:lnTo>
                  <a:pt x="9865" y="701"/>
                </a:lnTo>
                <a:lnTo>
                  <a:pt x="3133" y="701"/>
                </a:lnTo>
              </a:path>
            </a:pathLst>
          </a:custGeom>
          <a:solidFill>
            <a:srgbClr val="4F127F"/>
          </a:solidFill>
          <a:ln>
            <a:noFill/>
          </a:ln>
          <a:effectLst/>
        </p:spPr>
        <p:txBody>
          <a:bodyPr wrap="none" anchor="ct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36365C"/>
              </a:solidFill>
              <a:effectLst/>
              <a:uLnTx/>
              <a:uFillTx/>
              <a:latin typeface="Segoe UI" panose="020B0502040204020203" pitchFamily="34" charset="0"/>
              <a:ea typeface="+mn-ea"/>
              <a:cs typeface="Segoe UI" panose="020B0502040204020203" pitchFamily="34" charset="0"/>
            </a:endParaRPr>
          </a:p>
        </p:txBody>
      </p:sp>
      <p:sp>
        <p:nvSpPr>
          <p:cNvPr id="38" name="Subtitle 2">
            <a:extLst>
              <a:ext uri="{FF2B5EF4-FFF2-40B4-BE49-F238E27FC236}">
                <a16:creationId xmlns:a16="http://schemas.microsoft.com/office/drawing/2014/main" id="{D1CA468E-4053-74D3-7615-F500509BA2EA}"/>
              </a:ext>
            </a:extLst>
          </p:cNvPr>
          <p:cNvSpPr txBox="1">
            <a:spLocks/>
          </p:cNvSpPr>
          <p:nvPr/>
        </p:nvSpPr>
        <p:spPr>
          <a:xfrm>
            <a:off x="0" y="3398482"/>
            <a:ext cx="4313812" cy="1438855"/>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3500"/>
              </a:lnSpc>
              <a:buClrTx/>
            </a:pPr>
            <a:r>
              <a:rPr lang="en-US" sz="1600" dirty="0">
                <a:solidFill>
                  <a:srgbClr val="36365C"/>
                </a:solidFill>
                <a:latin typeface="Segoe UI" panose="020B0502040204020203" pitchFamily="34" charset="0"/>
                <a:ea typeface="Lato Light" panose="020F0502020204030203" pitchFamily="34" charset="0"/>
                <a:cs typeface="Segoe UI" panose="020B0502040204020203" pitchFamily="34" charset="0"/>
              </a:rPr>
              <a:t>The Development Team is based on the results of analysis and implementation of the Detail Design</a:t>
            </a:r>
          </a:p>
        </p:txBody>
      </p:sp>
      <p:sp>
        <p:nvSpPr>
          <p:cNvPr id="39" name="TextBox 38">
            <a:extLst>
              <a:ext uri="{FF2B5EF4-FFF2-40B4-BE49-F238E27FC236}">
                <a16:creationId xmlns:a16="http://schemas.microsoft.com/office/drawing/2014/main" id="{F489D03D-9D63-4F57-C0C2-B6A65BA6927C}"/>
              </a:ext>
            </a:extLst>
          </p:cNvPr>
          <p:cNvSpPr txBox="1"/>
          <p:nvPr/>
        </p:nvSpPr>
        <p:spPr>
          <a:xfrm>
            <a:off x="3380544" y="3217320"/>
            <a:ext cx="933268" cy="338554"/>
          </a:xfrm>
          <a:prstGeom prst="rect">
            <a:avLst/>
          </a:prstGeom>
          <a:noFill/>
        </p:spPr>
        <p:txBody>
          <a:bodyPr wrap="none" rtlCol="0" anchor="b" anchorCtr="0">
            <a:spAutoFit/>
          </a:bodyPr>
          <a:lstStyle/>
          <a:p>
            <a:pPr algn="r">
              <a:buClrTx/>
              <a:buFontTx/>
              <a:buNone/>
            </a:pPr>
            <a:r>
              <a:rPr lang="en-US" sz="1600" b="1" kern="1200" dirty="0">
                <a:solidFill>
                  <a:srgbClr val="44546A"/>
                </a:solidFill>
                <a:latin typeface="Segoe UI" panose="020B0502040204020203" pitchFamily="34" charset="0"/>
                <a:ea typeface="League Spartan" charset="0"/>
                <a:cs typeface="Segoe UI" panose="020B0502040204020203" pitchFamily="34" charset="0"/>
              </a:rPr>
              <a:t>DESIGN</a:t>
            </a:r>
          </a:p>
        </p:txBody>
      </p:sp>
      <p:sp>
        <p:nvSpPr>
          <p:cNvPr id="40" name="Subtitle 2">
            <a:extLst>
              <a:ext uri="{FF2B5EF4-FFF2-40B4-BE49-F238E27FC236}">
                <a16:creationId xmlns:a16="http://schemas.microsoft.com/office/drawing/2014/main" id="{0DBCE4E3-8326-3B57-9D3A-2C01DD11AA09}"/>
              </a:ext>
            </a:extLst>
          </p:cNvPr>
          <p:cNvSpPr txBox="1">
            <a:spLocks/>
          </p:cNvSpPr>
          <p:nvPr/>
        </p:nvSpPr>
        <p:spPr>
          <a:xfrm>
            <a:off x="8086789" y="3227006"/>
            <a:ext cx="3812444" cy="1438855"/>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500"/>
              </a:lnSpc>
              <a:buClrTx/>
            </a:pPr>
            <a:r>
              <a:rPr lang="en-US" sz="1600" dirty="0">
                <a:solidFill>
                  <a:srgbClr val="36365C"/>
                </a:solidFill>
                <a:latin typeface="Segoe UI" panose="020B0502040204020203" pitchFamily="34" charset="0"/>
                <a:ea typeface="Lato Light" panose="020F0502020204030203" pitchFamily="34" charset="0"/>
                <a:cs typeface="Segoe UI" panose="020B0502040204020203" pitchFamily="34" charset="0"/>
              </a:rPr>
              <a:t>Development Team has implemented Coding according to Design that has been reviewed &amp; approved</a:t>
            </a:r>
          </a:p>
        </p:txBody>
      </p:sp>
      <p:sp>
        <p:nvSpPr>
          <p:cNvPr id="41" name="TextBox 40">
            <a:extLst>
              <a:ext uri="{FF2B5EF4-FFF2-40B4-BE49-F238E27FC236}">
                <a16:creationId xmlns:a16="http://schemas.microsoft.com/office/drawing/2014/main" id="{6787F7AA-F7F4-F4FA-33FD-490AC9F16D47}"/>
              </a:ext>
            </a:extLst>
          </p:cNvPr>
          <p:cNvSpPr txBox="1"/>
          <p:nvPr/>
        </p:nvSpPr>
        <p:spPr>
          <a:xfrm>
            <a:off x="8086787" y="2891296"/>
            <a:ext cx="2023311" cy="338554"/>
          </a:xfrm>
          <a:prstGeom prst="rect">
            <a:avLst/>
          </a:prstGeom>
          <a:noFill/>
        </p:spPr>
        <p:txBody>
          <a:bodyPr wrap="none" rtlCol="0" anchor="b" anchorCtr="0">
            <a:spAutoFit/>
          </a:bodyPr>
          <a:lstStyle/>
          <a:p>
            <a:pPr>
              <a:buClrTx/>
              <a:buFontTx/>
              <a:buNone/>
            </a:pPr>
            <a:r>
              <a:rPr lang="en-US" sz="1600" b="1" kern="1200" dirty="0">
                <a:solidFill>
                  <a:srgbClr val="44546A"/>
                </a:solidFill>
                <a:latin typeface="Segoe UI" panose="020B0502040204020203" pitchFamily="34" charset="0"/>
                <a:ea typeface="League Spartan" charset="0"/>
                <a:cs typeface="Segoe UI" panose="020B0502040204020203" pitchFamily="34" charset="0"/>
              </a:rPr>
              <a:t>IMPLEMENTATION</a:t>
            </a:r>
          </a:p>
        </p:txBody>
      </p:sp>
      <p:sp>
        <p:nvSpPr>
          <p:cNvPr id="42" name="Subtitle 2">
            <a:extLst>
              <a:ext uri="{FF2B5EF4-FFF2-40B4-BE49-F238E27FC236}">
                <a16:creationId xmlns:a16="http://schemas.microsoft.com/office/drawing/2014/main" id="{F8BCBADF-2B2B-4D12-29D8-C769ABE5A28F}"/>
              </a:ext>
            </a:extLst>
          </p:cNvPr>
          <p:cNvSpPr txBox="1">
            <a:spLocks/>
          </p:cNvSpPr>
          <p:nvPr/>
        </p:nvSpPr>
        <p:spPr>
          <a:xfrm>
            <a:off x="2069432" y="5322372"/>
            <a:ext cx="3833217" cy="990015"/>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r">
              <a:lnSpc>
                <a:spcPts val="3500"/>
              </a:lnSpc>
              <a:buClrTx/>
            </a:pPr>
            <a:r>
              <a:rPr lang="en-US" sz="1600" dirty="0">
                <a:solidFill>
                  <a:srgbClr val="36365C"/>
                </a:solidFill>
                <a:latin typeface="Segoe UI" panose="020B0502040204020203" pitchFamily="34" charset="0"/>
                <a:ea typeface="Lato Light" panose="020F0502020204030203" pitchFamily="34" charset="0"/>
                <a:cs typeface="Segoe UI" panose="020B0502040204020203" pitchFamily="34" charset="0"/>
              </a:rPr>
              <a:t>Create test case and verify source code (Black-Box &amp; White Box)</a:t>
            </a:r>
          </a:p>
        </p:txBody>
      </p:sp>
      <p:sp>
        <p:nvSpPr>
          <p:cNvPr id="43" name="TextBox 42">
            <a:extLst>
              <a:ext uri="{FF2B5EF4-FFF2-40B4-BE49-F238E27FC236}">
                <a16:creationId xmlns:a16="http://schemas.microsoft.com/office/drawing/2014/main" id="{12D68E8F-A7A4-6986-BA4E-50B38316281F}"/>
              </a:ext>
            </a:extLst>
          </p:cNvPr>
          <p:cNvSpPr txBox="1"/>
          <p:nvPr/>
        </p:nvSpPr>
        <p:spPr>
          <a:xfrm>
            <a:off x="4323371" y="4986662"/>
            <a:ext cx="1579278" cy="338554"/>
          </a:xfrm>
          <a:prstGeom prst="rect">
            <a:avLst/>
          </a:prstGeom>
          <a:noFill/>
        </p:spPr>
        <p:txBody>
          <a:bodyPr wrap="none" rtlCol="0" anchor="b" anchorCtr="0">
            <a:spAutoFit/>
          </a:bodyPr>
          <a:lstStyle/>
          <a:p>
            <a:pPr algn="r">
              <a:buClrTx/>
              <a:buFontTx/>
              <a:buNone/>
            </a:pPr>
            <a:r>
              <a:rPr lang="en-US" sz="1600" b="1" kern="1200" dirty="0">
                <a:solidFill>
                  <a:srgbClr val="44546A"/>
                </a:solidFill>
                <a:latin typeface="Segoe UI" panose="020B0502040204020203" pitchFamily="34" charset="0"/>
                <a:ea typeface="League Spartan" charset="0"/>
                <a:cs typeface="Segoe UI" panose="020B0502040204020203" pitchFamily="34" charset="0"/>
              </a:rPr>
              <a:t>VERIFICATION</a:t>
            </a:r>
          </a:p>
        </p:txBody>
      </p:sp>
      <p:sp>
        <p:nvSpPr>
          <p:cNvPr id="44" name="TextBox 43">
            <a:extLst>
              <a:ext uri="{FF2B5EF4-FFF2-40B4-BE49-F238E27FC236}">
                <a16:creationId xmlns:a16="http://schemas.microsoft.com/office/drawing/2014/main" id="{2EA5ECE9-83EC-7866-82D1-7DC79C975C24}"/>
              </a:ext>
            </a:extLst>
          </p:cNvPr>
          <p:cNvSpPr txBox="1"/>
          <p:nvPr/>
        </p:nvSpPr>
        <p:spPr>
          <a:xfrm>
            <a:off x="8923744" y="5237030"/>
            <a:ext cx="1688283" cy="338554"/>
          </a:xfrm>
          <a:prstGeom prst="rect">
            <a:avLst/>
          </a:prstGeom>
          <a:noFill/>
        </p:spPr>
        <p:txBody>
          <a:bodyPr wrap="none" rtlCol="0" anchor="b" anchorCtr="0">
            <a:spAutoFit/>
          </a:bodyPr>
          <a:lstStyle/>
          <a:p>
            <a:pPr algn="r">
              <a:buClrTx/>
              <a:buFontTx/>
              <a:buNone/>
            </a:pPr>
            <a:r>
              <a:rPr lang="en-US" sz="1600" b="1" kern="1200" dirty="0">
                <a:solidFill>
                  <a:srgbClr val="44546A"/>
                </a:solidFill>
                <a:latin typeface="Segoe UI" panose="020B0502040204020203" pitchFamily="34" charset="0"/>
                <a:ea typeface="League Spartan" charset="0"/>
                <a:cs typeface="Segoe UI" panose="020B0502040204020203" pitchFamily="34" charset="0"/>
              </a:rPr>
              <a:t>MAINTENANCE</a:t>
            </a:r>
          </a:p>
        </p:txBody>
      </p:sp>
      <p:sp>
        <p:nvSpPr>
          <p:cNvPr id="45" name="Subtitle 2">
            <a:extLst>
              <a:ext uri="{FF2B5EF4-FFF2-40B4-BE49-F238E27FC236}">
                <a16:creationId xmlns:a16="http://schemas.microsoft.com/office/drawing/2014/main" id="{4C19AC06-962A-7315-089D-F946E2CCCA32}"/>
              </a:ext>
            </a:extLst>
          </p:cNvPr>
          <p:cNvSpPr txBox="1">
            <a:spLocks/>
          </p:cNvSpPr>
          <p:nvPr/>
        </p:nvSpPr>
        <p:spPr>
          <a:xfrm>
            <a:off x="8923744" y="5481183"/>
            <a:ext cx="2896549" cy="1438855"/>
          </a:xfrm>
          <a:prstGeom prst="rect">
            <a:avLst/>
          </a:prstGeom>
        </p:spPr>
        <p:txBody>
          <a:bodyPr vert="horz" wrap="square" lIns="91440" tIns="45720" rIns="91440" bIns="45720" rtlCol="0">
            <a:spAutoFit/>
          </a:bodyPr>
          <a:lstStyle>
            <a:lvl1pPr marL="0" indent="0" algn="ctr" defTabSz="1087636" rtl="0" eaLnBrk="1" latinLnBrk="0" hangingPunct="1">
              <a:lnSpc>
                <a:spcPct val="120000"/>
              </a:lnSpc>
              <a:spcBef>
                <a:spcPct val="20000"/>
              </a:spcBef>
              <a:buFont typeface="Arial"/>
              <a:buNone/>
              <a:defRPr sz="2400" kern="1200">
                <a:solidFill>
                  <a:schemeClr val="tx2"/>
                </a:solidFill>
                <a:latin typeface="Open Sans Light"/>
                <a:ea typeface="+mn-ea"/>
                <a:cs typeface="Open Sans Light"/>
              </a:defRPr>
            </a:lvl1pPr>
            <a:lvl2pPr marL="108763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2pPr>
            <a:lvl3pPr marL="2175271"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3pPr>
            <a:lvl4pPr marL="3262912"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4pPr>
            <a:lvl5pPr marL="4350546" indent="0" algn="ctr" defTabSz="1087636" rtl="0" eaLnBrk="1" latinLnBrk="0" hangingPunct="1">
              <a:lnSpc>
                <a:spcPct val="130000"/>
              </a:lnSpc>
              <a:spcBef>
                <a:spcPct val="20000"/>
              </a:spcBef>
              <a:buFont typeface="Arial"/>
              <a:buNone/>
              <a:defRPr sz="3200" kern="1200">
                <a:solidFill>
                  <a:schemeClr val="tx1">
                    <a:tint val="75000"/>
                  </a:schemeClr>
                </a:solidFill>
                <a:latin typeface="Open Sans"/>
                <a:ea typeface="+mn-ea"/>
                <a:cs typeface="Open Sans"/>
              </a:defRPr>
            </a:lvl5pPr>
            <a:lvl6pPr marL="5438184"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6pPr>
            <a:lvl7pPr marL="6525820"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7pPr>
            <a:lvl8pPr marL="7613455"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8pPr>
            <a:lvl9pPr marL="8701091" indent="0" algn="ctr" defTabSz="1087636" rtl="0" eaLnBrk="1" latinLnBrk="0" hangingPunct="1">
              <a:spcBef>
                <a:spcPct val="20000"/>
              </a:spcBef>
              <a:buFont typeface="Arial"/>
              <a:buNone/>
              <a:defRPr sz="4800" kern="1200">
                <a:solidFill>
                  <a:schemeClr val="tx1">
                    <a:tint val="75000"/>
                  </a:schemeClr>
                </a:solidFill>
                <a:latin typeface="+mn-lt"/>
                <a:ea typeface="+mn-ea"/>
                <a:cs typeface="+mn-cs"/>
              </a:defRPr>
            </a:lvl9pPr>
          </a:lstStyle>
          <a:p>
            <a:pPr algn="l">
              <a:lnSpc>
                <a:spcPts val="3500"/>
              </a:lnSpc>
              <a:buClrTx/>
            </a:pPr>
            <a:r>
              <a:rPr lang="en-US" sz="1600" dirty="0">
                <a:solidFill>
                  <a:srgbClr val="36365C"/>
                </a:solidFill>
                <a:latin typeface="Segoe UI" panose="020B0502040204020203" pitchFamily="34" charset="0"/>
                <a:ea typeface="Lato Light" panose="020F0502020204030203" pitchFamily="34" charset="0"/>
                <a:cs typeface="Segoe UI" panose="020B0502040204020203" pitchFamily="34" charset="0"/>
              </a:rPr>
              <a:t>Once completed all will move on to the maintenance Iteration</a:t>
            </a:r>
          </a:p>
        </p:txBody>
      </p:sp>
      <p:sp>
        <p:nvSpPr>
          <p:cNvPr id="46" name="Rectangle 45">
            <a:extLst>
              <a:ext uri="{FF2B5EF4-FFF2-40B4-BE49-F238E27FC236}">
                <a16:creationId xmlns:a16="http://schemas.microsoft.com/office/drawing/2014/main" id="{799653F4-B51C-8D2E-3086-A7BA595F39E3}"/>
              </a:ext>
            </a:extLst>
          </p:cNvPr>
          <p:cNvSpPr/>
          <p:nvPr/>
        </p:nvSpPr>
        <p:spPr>
          <a:xfrm>
            <a:off x="5328436" y="3534635"/>
            <a:ext cx="442750" cy="630942"/>
          </a:xfrm>
          <a:prstGeom prst="rect">
            <a:avLst/>
          </a:prstGeom>
        </p:spPr>
        <p:txBody>
          <a:bodyPr wrap="none">
            <a:spAutoFit/>
          </a:bodyPr>
          <a:lstStyle/>
          <a:p>
            <a:pPr>
              <a:buClrTx/>
              <a:buFontTx/>
              <a:buNone/>
            </a:pPr>
            <a:r>
              <a:rPr lang="en-US" sz="3500" b="1" kern="1200" dirty="0">
                <a:solidFill>
                  <a:srgbClr val="00B050"/>
                </a:solidFill>
                <a:latin typeface="Segoe UI" panose="020B0502040204020203" pitchFamily="34" charset="0"/>
                <a:ea typeface="+mn-ea"/>
                <a:cs typeface="Segoe UI" panose="020B0502040204020203" pitchFamily="34" charset="0"/>
              </a:rPr>
              <a:t>2</a:t>
            </a:r>
            <a:endParaRPr lang="en-US" sz="3500" kern="1200" dirty="0">
              <a:solidFill>
                <a:srgbClr val="00B050"/>
              </a:solidFill>
              <a:latin typeface="Segoe UI" panose="020B0502040204020203" pitchFamily="34" charset="0"/>
              <a:ea typeface="+mn-ea"/>
              <a:cs typeface="Segoe UI" panose="020B0502040204020203" pitchFamily="34" charset="0"/>
            </a:endParaRPr>
          </a:p>
        </p:txBody>
      </p:sp>
      <p:sp>
        <p:nvSpPr>
          <p:cNvPr id="47" name="Rectangle 46">
            <a:extLst>
              <a:ext uri="{FF2B5EF4-FFF2-40B4-BE49-F238E27FC236}">
                <a16:creationId xmlns:a16="http://schemas.microsoft.com/office/drawing/2014/main" id="{71A31741-2A71-3D39-7381-BA56413F5D3B}"/>
              </a:ext>
            </a:extLst>
          </p:cNvPr>
          <p:cNvSpPr/>
          <p:nvPr/>
        </p:nvSpPr>
        <p:spPr>
          <a:xfrm>
            <a:off x="6973508" y="3495742"/>
            <a:ext cx="442750" cy="630942"/>
          </a:xfrm>
          <a:prstGeom prst="rect">
            <a:avLst/>
          </a:prstGeom>
        </p:spPr>
        <p:txBody>
          <a:bodyPr wrap="none">
            <a:spAutoFit/>
          </a:bodyPr>
          <a:lstStyle/>
          <a:p>
            <a:pPr>
              <a:buClrTx/>
              <a:buFontTx/>
              <a:buNone/>
            </a:pPr>
            <a:r>
              <a:rPr lang="en-US" sz="3500" b="1" kern="1200" dirty="0">
                <a:solidFill>
                  <a:srgbClr val="0070C0"/>
                </a:solidFill>
                <a:latin typeface="Segoe UI" panose="020B0502040204020203" pitchFamily="34" charset="0"/>
                <a:ea typeface="+mn-ea"/>
                <a:cs typeface="Segoe UI" panose="020B0502040204020203" pitchFamily="34" charset="0"/>
              </a:rPr>
              <a:t>3</a:t>
            </a:r>
            <a:endParaRPr lang="en-US" sz="3500" kern="1200" dirty="0">
              <a:solidFill>
                <a:srgbClr val="0070C0"/>
              </a:solidFill>
              <a:latin typeface="Segoe UI" panose="020B0502040204020203" pitchFamily="34" charset="0"/>
              <a:ea typeface="+mn-ea"/>
              <a:cs typeface="Segoe UI" panose="020B0502040204020203" pitchFamily="34" charset="0"/>
            </a:endParaRPr>
          </a:p>
        </p:txBody>
      </p:sp>
      <p:sp>
        <p:nvSpPr>
          <p:cNvPr id="48" name="Rectangle 47">
            <a:extLst>
              <a:ext uri="{FF2B5EF4-FFF2-40B4-BE49-F238E27FC236}">
                <a16:creationId xmlns:a16="http://schemas.microsoft.com/office/drawing/2014/main" id="{583DD704-57B4-EF0C-7582-0813793B420D}"/>
              </a:ext>
            </a:extLst>
          </p:cNvPr>
          <p:cNvSpPr/>
          <p:nvPr/>
        </p:nvSpPr>
        <p:spPr>
          <a:xfrm>
            <a:off x="6905827" y="5015950"/>
            <a:ext cx="442750" cy="630942"/>
          </a:xfrm>
          <a:prstGeom prst="rect">
            <a:avLst/>
          </a:prstGeom>
        </p:spPr>
        <p:txBody>
          <a:bodyPr wrap="none">
            <a:spAutoFit/>
          </a:bodyPr>
          <a:lstStyle/>
          <a:p>
            <a:pPr>
              <a:buClrTx/>
              <a:buFontTx/>
              <a:buNone/>
            </a:pPr>
            <a:r>
              <a:rPr lang="en-US" sz="3500" b="1" kern="1200" dirty="0">
                <a:solidFill>
                  <a:srgbClr val="FFC000"/>
                </a:solidFill>
                <a:latin typeface="Segoe UI" panose="020B0502040204020203" pitchFamily="34" charset="0"/>
                <a:ea typeface="+mn-ea"/>
                <a:cs typeface="Segoe UI" panose="020B0502040204020203" pitchFamily="34" charset="0"/>
              </a:rPr>
              <a:t>4</a:t>
            </a:r>
          </a:p>
        </p:txBody>
      </p:sp>
      <p:sp>
        <p:nvSpPr>
          <p:cNvPr id="49" name="Text Placeholder 15">
            <a:extLst>
              <a:ext uri="{FF2B5EF4-FFF2-40B4-BE49-F238E27FC236}">
                <a16:creationId xmlns:a16="http://schemas.microsoft.com/office/drawing/2014/main" id="{A43A9CD9-F4C2-BBFE-B6B8-69BBDF0606A0}"/>
              </a:ext>
            </a:extLst>
          </p:cNvPr>
          <p:cNvSpPr txBox="1">
            <a:spLocks/>
          </p:cNvSpPr>
          <p:nvPr/>
        </p:nvSpPr>
        <p:spPr>
          <a:xfrm>
            <a:off x="948683" y="993395"/>
            <a:ext cx="10463213" cy="382856"/>
          </a:xfrm>
          <a:prstGeom prst="rect">
            <a:avLst/>
          </a:prstGeom>
        </p:spPr>
        <p:txBody>
          <a:bodyPr/>
          <a:lstStyle>
            <a:lvl1pPr marL="228600" indent="-228600" algn="l" defTabSz="914400" rtl="0" eaLnBrk="1" latinLnBrk="0" hangingPunct="1">
              <a:lnSpc>
                <a:spcPct val="90000"/>
              </a:lnSpc>
              <a:spcBef>
                <a:spcPts val="1000"/>
              </a:spcBef>
              <a:buClr>
                <a:srgbClr val="F27228"/>
              </a:buClr>
              <a:buFont typeface="Arial" panose="020B0604020202020204" pitchFamily="34" charset="0"/>
              <a:buChar char="•"/>
              <a:defRPr sz="1600" kern="1200">
                <a:solidFill>
                  <a:srgbClr val="36365C"/>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(a) Development Model</a:t>
            </a:r>
          </a:p>
        </p:txBody>
      </p:sp>
      <p:sp>
        <p:nvSpPr>
          <p:cNvPr id="50" name="TextBox 49">
            <a:extLst>
              <a:ext uri="{FF2B5EF4-FFF2-40B4-BE49-F238E27FC236}">
                <a16:creationId xmlns:a16="http://schemas.microsoft.com/office/drawing/2014/main" id="{62C54F51-89E6-1688-EA6B-CDD73975F57A}"/>
              </a:ext>
            </a:extLst>
          </p:cNvPr>
          <p:cNvSpPr txBox="1"/>
          <p:nvPr/>
        </p:nvSpPr>
        <p:spPr>
          <a:xfrm>
            <a:off x="9889067" y="564936"/>
            <a:ext cx="2161984" cy="307777"/>
          </a:xfrm>
          <a:prstGeom prst="rect">
            <a:avLst/>
          </a:prstGeom>
          <a:solidFill>
            <a:srgbClr val="DAF1F4"/>
          </a:solidFill>
        </p:spPr>
        <p:txBody>
          <a:bodyPr wrap="square" rtlCol="0">
            <a:spAutoFit/>
          </a:bodyPr>
          <a:lstStyle/>
          <a:p>
            <a:r>
              <a:rPr lang="en-US" dirty="0">
                <a:solidFill>
                  <a:srgbClr val="FF0000"/>
                </a:solidFill>
              </a:rPr>
              <a:t>Waterfall Methodology</a:t>
            </a:r>
          </a:p>
        </p:txBody>
      </p:sp>
    </p:spTree>
    <p:extLst>
      <p:ext uri="{BB962C8B-B14F-4D97-AF65-F5344CB8AC3E}">
        <p14:creationId xmlns:p14="http://schemas.microsoft.com/office/powerpoint/2010/main" val="202619111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C07E217F-0A14-B1C6-6CEA-264811DE9F48}"/>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14</a:t>
            </a:fld>
            <a:endParaRPr lang="en-US" dirty="0">
              <a:solidFill>
                <a:srgbClr val="034EA2"/>
              </a:solidFill>
            </a:endParaRPr>
          </a:p>
        </p:txBody>
      </p:sp>
      <p:grpSp>
        <p:nvGrpSpPr>
          <p:cNvPr id="3" name="Group 2">
            <a:extLst>
              <a:ext uri="{FF2B5EF4-FFF2-40B4-BE49-F238E27FC236}">
                <a16:creationId xmlns:a16="http://schemas.microsoft.com/office/drawing/2014/main" id="{2BA84FF4-09E1-1CF5-BB9B-3C712F2DBED5}"/>
              </a:ext>
            </a:extLst>
          </p:cNvPr>
          <p:cNvGrpSpPr/>
          <p:nvPr/>
        </p:nvGrpSpPr>
        <p:grpSpPr>
          <a:xfrm>
            <a:off x="479425" y="461520"/>
            <a:ext cx="7005108" cy="584775"/>
            <a:chOff x="479425" y="461520"/>
            <a:chExt cx="7005108" cy="584775"/>
          </a:xfrm>
        </p:grpSpPr>
        <p:sp>
          <p:nvSpPr>
            <p:cNvPr id="4" name="Round Diagonal Corner Rectangle 3">
              <a:extLst>
                <a:ext uri="{FF2B5EF4-FFF2-40B4-BE49-F238E27FC236}">
                  <a16:creationId xmlns:a16="http://schemas.microsoft.com/office/drawing/2014/main" id="{91C43C97-96A3-B70F-ED9D-E08AC2C209DF}"/>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A6DB4022-1E40-3EC4-BCF4-D92BD80A7854}"/>
                </a:ext>
              </a:extLst>
            </p:cNvPr>
            <p:cNvSpPr txBox="1"/>
            <p:nvPr/>
          </p:nvSpPr>
          <p:spPr>
            <a:xfrm>
              <a:off x="536265" y="461520"/>
              <a:ext cx="6948268"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7. Working Model &amp; Process</a:t>
              </a:r>
            </a:p>
          </p:txBody>
        </p:sp>
      </p:grpSp>
      <p:sp>
        <p:nvSpPr>
          <p:cNvPr id="6" name="Text Placeholder 15">
            <a:extLst>
              <a:ext uri="{FF2B5EF4-FFF2-40B4-BE49-F238E27FC236}">
                <a16:creationId xmlns:a16="http://schemas.microsoft.com/office/drawing/2014/main" id="{6535700E-384C-AB04-1F2D-F0C6FAC24BF3}"/>
              </a:ext>
            </a:extLst>
          </p:cNvPr>
          <p:cNvSpPr txBox="1">
            <a:spLocks/>
          </p:cNvSpPr>
          <p:nvPr/>
        </p:nvSpPr>
        <p:spPr>
          <a:xfrm>
            <a:off x="864393" y="1046295"/>
            <a:ext cx="10463213" cy="382856"/>
          </a:xfrm>
          <a:prstGeom prst="rect">
            <a:avLst/>
          </a:prstGeom>
        </p:spPr>
        <p:txBody>
          <a:bodyPr/>
          <a:lstStyle>
            <a:lvl1pPr marL="228600" indent="-228600" algn="l" defTabSz="914400" rtl="0" eaLnBrk="1" latinLnBrk="0" hangingPunct="1">
              <a:lnSpc>
                <a:spcPct val="90000"/>
              </a:lnSpc>
              <a:spcBef>
                <a:spcPts val="1000"/>
              </a:spcBef>
              <a:buClr>
                <a:srgbClr val="F27228"/>
              </a:buClr>
              <a:buFont typeface="Arial" panose="020B0604020202020204" pitchFamily="34" charset="0"/>
              <a:buChar char="•"/>
              <a:defRPr sz="1600" kern="1200">
                <a:solidFill>
                  <a:srgbClr val="36365C"/>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(b) Development Process</a:t>
            </a:r>
            <a:endParaRPr kumimoji="0" lang="en-US" sz="20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endParaRPr>
          </a:p>
        </p:txBody>
      </p:sp>
      <p:graphicFrame>
        <p:nvGraphicFramePr>
          <p:cNvPr id="7" name="Diagram 6">
            <a:extLst>
              <a:ext uri="{FF2B5EF4-FFF2-40B4-BE49-F238E27FC236}">
                <a16:creationId xmlns:a16="http://schemas.microsoft.com/office/drawing/2014/main" id="{495A6B55-011A-3290-B1D2-46E4E4A90293}"/>
              </a:ext>
            </a:extLst>
          </p:cNvPr>
          <p:cNvGraphicFramePr/>
          <p:nvPr>
            <p:extLst>
              <p:ext uri="{D42A27DB-BD31-4B8C-83A1-F6EECF244321}">
                <p14:modId xmlns:p14="http://schemas.microsoft.com/office/powerpoint/2010/main" val="2757169113"/>
              </p:ext>
            </p:extLst>
          </p:nvPr>
        </p:nvGraphicFramePr>
        <p:xfrm>
          <a:off x="1066006" y="1481950"/>
          <a:ext cx="10261600" cy="465935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082100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C07E217F-0A14-B1C6-6CEA-264811DE9F48}"/>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15</a:t>
            </a:fld>
            <a:endParaRPr lang="en-US" dirty="0">
              <a:solidFill>
                <a:srgbClr val="034EA2"/>
              </a:solidFill>
            </a:endParaRPr>
          </a:p>
        </p:txBody>
      </p:sp>
      <p:grpSp>
        <p:nvGrpSpPr>
          <p:cNvPr id="3" name="Group 2">
            <a:extLst>
              <a:ext uri="{FF2B5EF4-FFF2-40B4-BE49-F238E27FC236}">
                <a16:creationId xmlns:a16="http://schemas.microsoft.com/office/drawing/2014/main" id="{2BA84FF4-09E1-1CF5-BB9B-3C712F2DBED5}"/>
              </a:ext>
            </a:extLst>
          </p:cNvPr>
          <p:cNvGrpSpPr/>
          <p:nvPr/>
        </p:nvGrpSpPr>
        <p:grpSpPr>
          <a:xfrm>
            <a:off x="479425" y="461520"/>
            <a:ext cx="7005108" cy="584775"/>
            <a:chOff x="479425" y="461520"/>
            <a:chExt cx="7005108" cy="584775"/>
          </a:xfrm>
        </p:grpSpPr>
        <p:sp>
          <p:nvSpPr>
            <p:cNvPr id="4" name="Round Diagonal Corner Rectangle 3">
              <a:extLst>
                <a:ext uri="{FF2B5EF4-FFF2-40B4-BE49-F238E27FC236}">
                  <a16:creationId xmlns:a16="http://schemas.microsoft.com/office/drawing/2014/main" id="{91C43C97-96A3-B70F-ED9D-E08AC2C209DF}"/>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A6DB4022-1E40-3EC4-BCF4-D92BD80A7854}"/>
                </a:ext>
              </a:extLst>
            </p:cNvPr>
            <p:cNvSpPr txBox="1"/>
            <p:nvPr/>
          </p:nvSpPr>
          <p:spPr>
            <a:xfrm>
              <a:off x="536265" y="461520"/>
              <a:ext cx="6948268"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7. Working Model &amp; Process</a:t>
              </a:r>
            </a:p>
          </p:txBody>
        </p:sp>
      </p:grpSp>
      <p:sp>
        <p:nvSpPr>
          <p:cNvPr id="10" name="Text Placeholder 15">
            <a:extLst>
              <a:ext uri="{FF2B5EF4-FFF2-40B4-BE49-F238E27FC236}">
                <a16:creationId xmlns:a16="http://schemas.microsoft.com/office/drawing/2014/main" id="{92FBAB15-CF64-E345-FC1D-9A36DBB62E7D}"/>
              </a:ext>
            </a:extLst>
          </p:cNvPr>
          <p:cNvSpPr txBox="1">
            <a:spLocks/>
          </p:cNvSpPr>
          <p:nvPr/>
        </p:nvSpPr>
        <p:spPr>
          <a:xfrm>
            <a:off x="864393" y="1046295"/>
            <a:ext cx="10463213" cy="1172256"/>
          </a:xfrm>
          <a:prstGeom prst="rect">
            <a:avLst/>
          </a:prstGeom>
        </p:spPr>
        <p:txBody>
          <a:bodyPr/>
          <a:lstStyle>
            <a:lvl1pPr marL="228600" indent="-228600" algn="l" defTabSz="914400" rtl="0" eaLnBrk="1" latinLnBrk="0" hangingPunct="1">
              <a:lnSpc>
                <a:spcPct val="90000"/>
              </a:lnSpc>
              <a:spcBef>
                <a:spcPts val="1000"/>
              </a:spcBef>
              <a:buClr>
                <a:srgbClr val="F27228"/>
              </a:buClr>
              <a:buFont typeface="Arial" panose="020B0604020202020204" pitchFamily="34" charset="0"/>
              <a:buChar char="•"/>
              <a:defRPr sz="1600" kern="1200">
                <a:solidFill>
                  <a:srgbClr val="36365C"/>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(c) Change Request Process</a:t>
            </a:r>
            <a:endParaRPr kumimoji="0" lang="vi-VN" sz="2000" b="1" i="0" u="none" strike="noStrike" kern="1200" cap="none" spc="0" normalizeH="0" baseline="0" noProof="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endParaRPr kumimoji="0" lang="en-US" sz="1600" b="0" i="0" u="none" strike="noStrike" kern="1200" cap="none" spc="0" normalizeH="0" baseline="0" noProof="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endParaRP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The Requirement Specification must be approved before coding. </a:t>
            </a:r>
          </a:p>
          <a:p>
            <a:pPr marL="685800" marR="0" lvl="1" indent="-228600" algn="l" defTabSz="914400" rtl="0" eaLnBrk="1" fontAlgn="auto" latinLnBrk="0" hangingPunct="1">
              <a:lnSpc>
                <a:spcPct val="90000"/>
              </a:lnSpc>
              <a:spcBef>
                <a:spcPts val="500"/>
              </a:spcBef>
              <a:spcAft>
                <a:spcPts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If any updates are requested after approving, FPT must determine if they are Change Requests or Defect</a:t>
            </a:r>
            <a:endParaRPr kumimoji="0" lang="en-US" sz="1600" b="0"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endParaRPr>
          </a:p>
        </p:txBody>
      </p:sp>
      <p:graphicFrame>
        <p:nvGraphicFramePr>
          <p:cNvPr id="11" name="Diagram 10">
            <a:extLst>
              <a:ext uri="{FF2B5EF4-FFF2-40B4-BE49-F238E27FC236}">
                <a16:creationId xmlns:a16="http://schemas.microsoft.com/office/drawing/2014/main" id="{4B5086E6-AA37-6CBC-76ED-8168AF269457}"/>
              </a:ext>
            </a:extLst>
          </p:cNvPr>
          <p:cNvGraphicFramePr/>
          <p:nvPr>
            <p:extLst>
              <p:ext uri="{D42A27DB-BD31-4B8C-83A1-F6EECF244321}">
                <p14:modId xmlns:p14="http://schemas.microsoft.com/office/powerpoint/2010/main" val="2012428187"/>
              </p:ext>
            </p:extLst>
          </p:nvPr>
        </p:nvGraphicFramePr>
        <p:xfrm>
          <a:off x="2167844" y="2218551"/>
          <a:ext cx="7343775" cy="403860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4907926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C07E217F-0A14-B1C6-6CEA-264811DE9F48}"/>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16</a:t>
            </a:fld>
            <a:endParaRPr lang="en-US" dirty="0">
              <a:solidFill>
                <a:srgbClr val="034EA2"/>
              </a:solidFill>
            </a:endParaRPr>
          </a:p>
        </p:txBody>
      </p:sp>
      <p:grpSp>
        <p:nvGrpSpPr>
          <p:cNvPr id="3" name="Group 2">
            <a:extLst>
              <a:ext uri="{FF2B5EF4-FFF2-40B4-BE49-F238E27FC236}">
                <a16:creationId xmlns:a16="http://schemas.microsoft.com/office/drawing/2014/main" id="{2BA84FF4-09E1-1CF5-BB9B-3C712F2DBED5}"/>
              </a:ext>
            </a:extLst>
          </p:cNvPr>
          <p:cNvGrpSpPr/>
          <p:nvPr/>
        </p:nvGrpSpPr>
        <p:grpSpPr>
          <a:xfrm>
            <a:off x="479425" y="461520"/>
            <a:ext cx="7005108" cy="584775"/>
            <a:chOff x="479425" y="461520"/>
            <a:chExt cx="7005108" cy="584775"/>
          </a:xfrm>
        </p:grpSpPr>
        <p:sp>
          <p:nvSpPr>
            <p:cNvPr id="4" name="Round Diagonal Corner Rectangle 3">
              <a:extLst>
                <a:ext uri="{FF2B5EF4-FFF2-40B4-BE49-F238E27FC236}">
                  <a16:creationId xmlns:a16="http://schemas.microsoft.com/office/drawing/2014/main" id="{91C43C97-96A3-B70F-ED9D-E08AC2C209DF}"/>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A6DB4022-1E40-3EC4-BCF4-D92BD80A7854}"/>
                </a:ext>
              </a:extLst>
            </p:cNvPr>
            <p:cNvSpPr txBox="1"/>
            <p:nvPr/>
          </p:nvSpPr>
          <p:spPr>
            <a:xfrm>
              <a:off x="536265" y="461520"/>
              <a:ext cx="6948268"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7. Working Model &amp; Process</a:t>
              </a:r>
            </a:p>
          </p:txBody>
        </p:sp>
      </p:grpSp>
      <p:sp>
        <p:nvSpPr>
          <p:cNvPr id="6" name="Text Placeholder 15">
            <a:extLst>
              <a:ext uri="{FF2B5EF4-FFF2-40B4-BE49-F238E27FC236}">
                <a16:creationId xmlns:a16="http://schemas.microsoft.com/office/drawing/2014/main" id="{11F500FE-4BA9-E7FE-C068-46052FE9E057}"/>
              </a:ext>
            </a:extLst>
          </p:cNvPr>
          <p:cNvSpPr txBox="1">
            <a:spLocks/>
          </p:cNvSpPr>
          <p:nvPr/>
        </p:nvSpPr>
        <p:spPr>
          <a:xfrm>
            <a:off x="1038995" y="1050612"/>
            <a:ext cx="10463213" cy="311184"/>
          </a:xfrm>
          <a:prstGeom prst="rect">
            <a:avLst/>
          </a:prstGeom>
        </p:spPr>
        <p:txBody>
          <a:bodyPr/>
          <a:lstStyle>
            <a:lvl1pPr marL="228600" indent="-228600" algn="l" defTabSz="914400" rtl="0" eaLnBrk="1" latinLnBrk="0" hangingPunct="1">
              <a:lnSpc>
                <a:spcPct val="90000"/>
              </a:lnSpc>
              <a:spcBef>
                <a:spcPts val="1000"/>
              </a:spcBef>
              <a:buClr>
                <a:srgbClr val="F27228"/>
              </a:buClr>
              <a:buFont typeface="Arial" panose="020B0604020202020204" pitchFamily="34" charset="0"/>
              <a:buChar char="•"/>
              <a:defRPr sz="1600" kern="1200">
                <a:solidFill>
                  <a:srgbClr val="36365C"/>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(d) Quality Assurance</a:t>
            </a:r>
            <a:endParaRPr kumimoji="0" lang="en-US" sz="20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7" name="Rectangle 6">
            <a:extLst>
              <a:ext uri="{FF2B5EF4-FFF2-40B4-BE49-F238E27FC236}">
                <a16:creationId xmlns:a16="http://schemas.microsoft.com/office/drawing/2014/main" id="{4B4FDA7E-2C01-169A-0FF2-71BC0E8A99F6}"/>
              </a:ext>
            </a:extLst>
          </p:cNvPr>
          <p:cNvSpPr/>
          <p:nvPr/>
        </p:nvSpPr>
        <p:spPr>
          <a:xfrm>
            <a:off x="1585661" y="5370889"/>
            <a:ext cx="7385457" cy="1025591"/>
          </a:xfrm>
          <a:prstGeom prst="rect">
            <a:avLst/>
          </a:prstGeom>
          <a:noFill/>
          <a:ln w="12700" cap="flat" cmpd="sng" algn="ctr">
            <a:noFill/>
            <a:prstDash val="solid"/>
            <a:miter lim="800000"/>
          </a:ln>
          <a:effectLst/>
        </p:spPr>
        <p:txBody>
          <a:bodyPr rtlCol="0" anchor="ct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b="0" i="0" u="none" strike="noStrike" kern="1200" cap="none" spc="0" normalizeH="0" baseline="0" noProof="0" dirty="0">
                <a:ln>
                  <a:noFill/>
                </a:ln>
                <a:solidFill>
                  <a:srgbClr val="36365C"/>
                </a:solidFill>
                <a:effectLst/>
                <a:uLnTx/>
                <a:uFillTx/>
                <a:latin typeface="Segoe UI"/>
                <a:ea typeface="+mn-ea"/>
                <a:cs typeface="+mn-cs"/>
              </a:rPr>
              <a:t>(※1) Select the Group review function / screen according to the following conditions:</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b="0" i="0" u="none" strike="noStrike" kern="1200" cap="none" spc="0" normalizeH="0" baseline="0" noProof="0" dirty="0">
                <a:ln>
                  <a:noFill/>
                </a:ln>
                <a:solidFill>
                  <a:srgbClr val="36365C"/>
                </a:solidFill>
                <a:effectLst/>
                <a:uLnTx/>
                <a:uFillTx/>
                <a:latin typeface="Segoe UI"/>
                <a:ea typeface="+mn-ea"/>
                <a:cs typeface="+mn-cs"/>
              </a:rPr>
              <a:t>- Functions / screens are complex</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b="0" i="0" u="none" strike="noStrike" kern="1200" cap="none" spc="0" normalizeH="0" baseline="0" noProof="0" dirty="0">
                <a:ln>
                  <a:noFill/>
                </a:ln>
                <a:solidFill>
                  <a:srgbClr val="36365C"/>
                </a:solidFill>
                <a:effectLst/>
                <a:uLnTx/>
                <a:uFillTx/>
                <a:latin typeface="Segoe UI"/>
                <a:ea typeface="+mn-ea"/>
                <a:cs typeface="+mn-cs"/>
              </a:rPr>
              <a:t>- Function / screen performed for the first time</a:t>
            </a:r>
          </a:p>
          <a:p>
            <a:pPr marL="0" marR="0" lvl="0" indent="0" defTabSz="914400" eaLnBrk="1" fontAlgn="auto" latinLnBrk="0" hangingPunct="1">
              <a:lnSpc>
                <a:spcPct val="100000"/>
              </a:lnSpc>
              <a:spcBef>
                <a:spcPts val="0"/>
              </a:spcBef>
              <a:spcAft>
                <a:spcPts val="0"/>
              </a:spcAft>
              <a:buClrTx/>
              <a:buSzTx/>
              <a:buFontTx/>
              <a:buNone/>
              <a:tabLst/>
              <a:defRPr/>
            </a:pPr>
            <a:r>
              <a:rPr kumimoji="0" lang="en-US" altLang="ja-JP" b="0" i="0" u="none" strike="noStrike" kern="1200" cap="none" spc="0" normalizeH="0" baseline="0" noProof="0" dirty="0">
                <a:ln>
                  <a:noFill/>
                </a:ln>
                <a:solidFill>
                  <a:srgbClr val="36365C"/>
                </a:solidFill>
                <a:effectLst/>
                <a:uLnTx/>
                <a:uFillTx/>
                <a:latin typeface="Segoe UI"/>
                <a:ea typeface="+mn-ea"/>
                <a:cs typeface="+mn-cs"/>
              </a:rPr>
              <a:t>- Function / first screen of new member</a:t>
            </a:r>
          </a:p>
        </p:txBody>
      </p:sp>
      <p:grpSp>
        <p:nvGrpSpPr>
          <p:cNvPr id="8" name="Group 7">
            <a:extLst>
              <a:ext uri="{FF2B5EF4-FFF2-40B4-BE49-F238E27FC236}">
                <a16:creationId xmlns:a16="http://schemas.microsoft.com/office/drawing/2014/main" id="{8575F48B-8447-1DCE-888D-FD5C1F965F63}"/>
              </a:ext>
            </a:extLst>
          </p:cNvPr>
          <p:cNvGrpSpPr/>
          <p:nvPr/>
        </p:nvGrpSpPr>
        <p:grpSpPr>
          <a:xfrm>
            <a:off x="1121090" y="1461544"/>
            <a:ext cx="9842081" cy="3877058"/>
            <a:chOff x="1300400" y="2252809"/>
            <a:chExt cx="9792593" cy="3646249"/>
          </a:xfrm>
        </p:grpSpPr>
        <p:grpSp>
          <p:nvGrpSpPr>
            <p:cNvPr id="9" name="Group 8">
              <a:extLst>
                <a:ext uri="{FF2B5EF4-FFF2-40B4-BE49-F238E27FC236}">
                  <a16:creationId xmlns:a16="http://schemas.microsoft.com/office/drawing/2014/main" id="{CAF5041D-381D-9F2C-AD80-2517B148DDF0}"/>
                </a:ext>
              </a:extLst>
            </p:cNvPr>
            <p:cNvGrpSpPr/>
            <p:nvPr/>
          </p:nvGrpSpPr>
          <p:grpSpPr>
            <a:xfrm>
              <a:off x="1300400" y="2252809"/>
              <a:ext cx="9452268" cy="3646249"/>
              <a:chOff x="1063763" y="1182679"/>
              <a:chExt cx="9584018" cy="3816859"/>
            </a:xfrm>
          </p:grpSpPr>
          <p:sp>
            <p:nvSpPr>
              <p:cNvPr id="12" name="ホームベース 19">
                <a:extLst>
                  <a:ext uri="{FF2B5EF4-FFF2-40B4-BE49-F238E27FC236}">
                    <a16:creationId xmlns:a16="http://schemas.microsoft.com/office/drawing/2014/main" id="{F4FE7242-A7AB-1650-1CD8-68B18EADD1E3}"/>
                  </a:ext>
                </a:extLst>
              </p:cNvPr>
              <p:cNvSpPr/>
              <p:nvPr/>
            </p:nvSpPr>
            <p:spPr>
              <a:xfrm>
                <a:off x="4082561" y="4657233"/>
                <a:ext cx="6552358" cy="342305"/>
              </a:xfrm>
              <a:prstGeom prst="homePlate">
                <a:avLst>
                  <a:gd name="adj" fmla="val 57215"/>
                </a:avLst>
              </a:prstGeom>
              <a:gradFill rotWithShape="1">
                <a:gsLst>
                  <a:gs pos="0">
                    <a:srgbClr val="F79646">
                      <a:tint val="50000"/>
                      <a:satMod val="300000"/>
                    </a:srgbClr>
                  </a:gs>
                  <a:gs pos="35000">
                    <a:srgbClr val="F79646">
                      <a:tint val="37000"/>
                      <a:satMod val="300000"/>
                    </a:srgbClr>
                  </a:gs>
                  <a:gs pos="100000">
                    <a:srgbClr val="F79646">
                      <a:tint val="15000"/>
                      <a:satMod val="350000"/>
                    </a:srgbClr>
                  </a:gs>
                </a:gsLst>
                <a:lin ang="16200000" scaled="1"/>
              </a:gradFill>
              <a:ln w="9525" cap="flat" cmpd="sng" algn="ctr">
                <a:solidFill>
                  <a:srgbClr val="F79646">
                    <a:shade val="95000"/>
                    <a:satMod val="105000"/>
                  </a:srgbClr>
                </a:solidFill>
                <a:prstDash val="solid"/>
              </a:ln>
              <a:effectLst>
                <a:outerShdw blurRad="40000" dist="20000" dir="5400000" rotWithShape="0">
                  <a:srgbClr val="000000">
                    <a:alpha val="38000"/>
                  </a:srgbClr>
                </a:outerShdw>
              </a:effectLst>
            </p:spPr>
            <p:txBody>
              <a:bodyPr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100" b="0"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Implement simultaneously for similar displays / functions</a:t>
                </a:r>
                <a:endParaRPr kumimoji="0" lang="ja-JP" altLang="en-US" sz="1100" b="0" i="0" u="none" strike="noStrike" kern="0" cap="none" spc="0" normalizeH="0" baseline="0" noProof="0" dirty="0">
                  <a:ln>
                    <a:noFill/>
                  </a:ln>
                  <a:solidFill>
                    <a:srgbClr val="FF0000"/>
                  </a:solidFill>
                  <a:effectLst/>
                  <a:uLnTx/>
                  <a:uFillTx/>
                  <a:latin typeface="Tahoma" panose="020B0604030504040204" pitchFamily="34" charset="0"/>
                  <a:ea typeface="メイリオ" pitchFamily="50" charset="-128"/>
                  <a:cs typeface="Tahoma" panose="020B0604030504040204" pitchFamily="34" charset="0"/>
                </a:endParaRPr>
              </a:p>
            </p:txBody>
          </p:sp>
          <p:sp>
            <p:nvSpPr>
              <p:cNvPr id="13" name="Pentagon 12">
                <a:extLst>
                  <a:ext uri="{FF2B5EF4-FFF2-40B4-BE49-F238E27FC236}">
                    <a16:creationId xmlns:a16="http://schemas.microsoft.com/office/drawing/2014/main" id="{D5D64355-5368-04ED-239A-A6E2205EB2AA}"/>
                  </a:ext>
                </a:extLst>
              </p:cNvPr>
              <p:cNvSpPr/>
              <p:nvPr/>
            </p:nvSpPr>
            <p:spPr bwMode="auto">
              <a:xfrm>
                <a:off x="1063763" y="1192617"/>
                <a:ext cx="1685267" cy="687267"/>
              </a:xfrm>
              <a:prstGeom prst="homePlate">
                <a:avLst/>
              </a:prstGeom>
              <a:solidFill>
                <a:srgbClr val="70AD47"/>
              </a:solidFill>
              <a:ln>
                <a:noFill/>
              </a:ln>
              <a:effectLst/>
            </p:spPr>
            <p:txBody>
              <a:bodyPr wrap="square" lIns="18288" tIns="0" rIns="0" bIns="0" rtlCol="0" anchor="ctr" anchorCtr="0" upright="1"/>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vi"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1. </a:t>
                </a:r>
                <a:r>
                  <a:rPr kumimoji="0" lang="en-US" alt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Prepare</a:t>
                </a:r>
                <a:r>
                  <a:rPr kumimoji="0" lang="vi" alt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Project</a:t>
                </a:r>
                <a:endParaRPr kumimoji="0" 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4" name="Chevron 13">
                <a:extLst>
                  <a:ext uri="{FF2B5EF4-FFF2-40B4-BE49-F238E27FC236}">
                    <a16:creationId xmlns:a16="http://schemas.microsoft.com/office/drawing/2014/main" id="{D29099EA-E746-C78F-6D01-F6FD2F9243EF}"/>
                  </a:ext>
                </a:extLst>
              </p:cNvPr>
              <p:cNvSpPr/>
              <p:nvPr/>
            </p:nvSpPr>
            <p:spPr bwMode="auto">
              <a:xfrm>
                <a:off x="2492384" y="1183291"/>
                <a:ext cx="1727583" cy="696591"/>
              </a:xfrm>
              <a:prstGeom prst="chevron">
                <a:avLst/>
              </a:prstGeom>
              <a:solidFill>
                <a:srgbClr val="5B9BD5"/>
              </a:solidFill>
              <a:ln>
                <a:noFill/>
              </a:ln>
              <a:effectLst/>
            </p:spPr>
            <p:txBody>
              <a:bodyPr rot="0" spcFirstLastPara="0" vert="horz" wrap="square" lIns="18288" tIns="0" rIns="0" bIns="0" numCol="1" spcCol="0" rtlCol="0" fromWordArt="0" anchor="ctr" anchorCtr="0" forceAA="0" upright="1"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vi"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2.</a:t>
                </a:r>
                <a:r>
                  <a:rPr kumimoji="0" 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Assessment</a:t>
                </a:r>
                <a:endParaRPr kumimoji="0" lang="ja" altLang="en-US" sz="1200" b="0" i="0" u="none" strike="noStrike" kern="1200" cap="none" spc="0" normalizeH="0" baseline="0" noProof="0" dirty="0">
                  <a:ln>
                    <a:noFill/>
                  </a:ln>
                  <a:solidFill>
                    <a:prstClr val="white"/>
                  </a:solidFill>
                  <a:effectLst/>
                  <a:uLnTx/>
                  <a:uFillTx/>
                  <a:latin typeface="Tahoma" panose="020B0604030504040204" pitchFamily="34" charset="0"/>
                  <a:ea typeface="+mn-ea"/>
                  <a:cs typeface="Tahoma" panose="020B0604030504040204" pitchFamily="34" charset="0"/>
                </a:endParaRPr>
              </a:p>
            </p:txBody>
          </p:sp>
          <p:sp>
            <p:nvSpPr>
              <p:cNvPr id="15" name="Chevron 14">
                <a:extLst>
                  <a:ext uri="{FF2B5EF4-FFF2-40B4-BE49-F238E27FC236}">
                    <a16:creationId xmlns:a16="http://schemas.microsoft.com/office/drawing/2014/main" id="{098ED8E7-21A8-206F-8A91-766A27925280}"/>
                  </a:ext>
                </a:extLst>
              </p:cNvPr>
              <p:cNvSpPr/>
              <p:nvPr/>
            </p:nvSpPr>
            <p:spPr bwMode="auto">
              <a:xfrm>
                <a:off x="3952887" y="1182679"/>
                <a:ext cx="1768360" cy="687877"/>
              </a:xfrm>
              <a:prstGeom prst="chevron">
                <a:avLst/>
              </a:prstGeom>
              <a:solidFill>
                <a:srgbClr val="ED7D31"/>
              </a:solidFill>
              <a:ln>
                <a:noFill/>
              </a:ln>
              <a:effectLst/>
            </p:spPr>
            <p:txBody>
              <a:bodyPr rot="0" spcFirstLastPara="0" vert="horz" wrap="square" lIns="18288" tIns="0" rIns="0" bIns="0" numCol="1" spcCol="0" rtlCol="0" fromWordArt="0" anchor="ctr" anchorCtr="0" forceAA="0" upright="1"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3</a:t>
                </a:r>
                <a:r>
                  <a:rPr kumimoji="0" lang="vi"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vi" alt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Coding</a:t>
                </a:r>
                <a:endParaRPr kumimoji="0" 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6" name="Chevron 15">
                <a:extLst>
                  <a:ext uri="{FF2B5EF4-FFF2-40B4-BE49-F238E27FC236}">
                    <a16:creationId xmlns:a16="http://schemas.microsoft.com/office/drawing/2014/main" id="{11E72139-1F75-74F5-4656-B37F5BC3964D}"/>
                  </a:ext>
                </a:extLst>
              </p:cNvPr>
              <p:cNvSpPr/>
              <p:nvPr/>
            </p:nvSpPr>
            <p:spPr bwMode="auto">
              <a:xfrm>
                <a:off x="5442976" y="1185382"/>
                <a:ext cx="1710238" cy="697203"/>
              </a:xfrm>
              <a:prstGeom prst="chevron">
                <a:avLst/>
              </a:prstGeom>
              <a:solidFill>
                <a:srgbClr val="4472C4"/>
              </a:solidFill>
              <a:ln>
                <a:noFill/>
              </a:ln>
              <a:effectLst/>
            </p:spPr>
            <p:txBody>
              <a:bodyPr rot="0" spcFirstLastPara="0" vert="horz" wrap="square" lIns="18288" tIns="0" rIns="0" bIns="0" numCol="1" spcCol="0" rtlCol="0" fromWordArt="0" anchor="ctr" anchorCtr="0" forceAA="0" upright="1"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4</a:t>
                </a:r>
                <a:r>
                  <a:rPr kumimoji="0" lang="vi"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Unit Testing</a:t>
                </a:r>
              </a:p>
            </p:txBody>
          </p:sp>
          <p:sp>
            <p:nvSpPr>
              <p:cNvPr id="17" name="Right Brace 16">
                <a:extLst>
                  <a:ext uri="{FF2B5EF4-FFF2-40B4-BE49-F238E27FC236}">
                    <a16:creationId xmlns:a16="http://schemas.microsoft.com/office/drawing/2014/main" id="{3F0ECB13-43B4-F13C-2ED1-D4AA98EF8163}"/>
                  </a:ext>
                </a:extLst>
              </p:cNvPr>
              <p:cNvSpPr/>
              <p:nvPr/>
            </p:nvSpPr>
            <p:spPr>
              <a:xfrm rot="5400000">
                <a:off x="5457011" y="-2028820"/>
                <a:ext cx="572493" cy="8517250"/>
              </a:xfrm>
              <a:prstGeom prst="rightBrace">
                <a:avLst/>
              </a:prstGeom>
              <a:noFill/>
              <a:ln w="6350" cap="flat" cmpd="sng" algn="ctr">
                <a:solidFill>
                  <a:srgbClr val="FF0000"/>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1" lang="ja-JP" altLang="en-US" sz="1100" b="0" i="0" u="none" strike="noStrike" kern="1200" cap="none" spc="0" normalizeH="0" baseline="0" noProof="0" dirty="0">
                  <a:ln>
                    <a:noFill/>
                  </a:ln>
                  <a:solidFill>
                    <a:srgbClr val="FF0000"/>
                  </a:solidFill>
                  <a:effectLst/>
                  <a:uLnTx/>
                  <a:uFillTx/>
                  <a:latin typeface="Tahoma" panose="020B0604030504040204" pitchFamily="34" charset="0"/>
                  <a:ea typeface="+mn-ea"/>
                  <a:cs typeface="Tahoma" panose="020B0604030504040204" pitchFamily="34" charset="0"/>
                </a:endParaRPr>
              </a:p>
            </p:txBody>
          </p:sp>
          <p:grpSp>
            <p:nvGrpSpPr>
              <p:cNvPr id="18" name="Group 17">
                <a:extLst>
                  <a:ext uri="{FF2B5EF4-FFF2-40B4-BE49-F238E27FC236}">
                    <a16:creationId xmlns:a16="http://schemas.microsoft.com/office/drawing/2014/main" id="{70ECB7E5-9250-BB19-DE66-001DFB03349C}"/>
                  </a:ext>
                </a:extLst>
              </p:cNvPr>
              <p:cNvGrpSpPr/>
              <p:nvPr/>
            </p:nvGrpSpPr>
            <p:grpSpPr>
              <a:xfrm>
                <a:off x="4082561" y="2606246"/>
                <a:ext cx="4268487" cy="1179375"/>
                <a:chOff x="4873523" y="2478905"/>
                <a:chExt cx="4268487" cy="1179375"/>
              </a:xfrm>
            </p:grpSpPr>
            <p:sp>
              <p:nvSpPr>
                <p:cNvPr id="23" name="ホームベース 14">
                  <a:extLst>
                    <a:ext uri="{FF2B5EF4-FFF2-40B4-BE49-F238E27FC236}">
                      <a16:creationId xmlns:a16="http://schemas.microsoft.com/office/drawing/2014/main" id="{50C20A26-9E07-9D37-B284-1EA7FDC6248F}"/>
                    </a:ext>
                  </a:extLst>
                </p:cNvPr>
                <p:cNvSpPr/>
                <p:nvPr/>
              </p:nvSpPr>
              <p:spPr>
                <a:xfrm>
                  <a:off x="6447141" y="2703453"/>
                  <a:ext cx="704565" cy="863851"/>
                </a:xfrm>
                <a:prstGeom prst="homePlate">
                  <a:avLst>
                    <a:gd name="adj" fmla="val 33606"/>
                  </a:avLst>
                </a:prstGeom>
                <a:solidFill>
                  <a:srgbClr val="00B0F0"/>
                </a:soli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100" b="0"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Self review</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dirty="0">
                    <a:ln>
                      <a:noFill/>
                    </a:ln>
                    <a:solidFill>
                      <a:prstClr val="black"/>
                    </a:solidFill>
                    <a:effectLst/>
                    <a:uLnTx/>
                    <a:uFillTx/>
                    <a:latin typeface="Tahoma" panose="020B0604030504040204" pitchFamily="34" charset="0"/>
                    <a:ea typeface="メイリオ" pitchFamily="50" charset="-128"/>
                    <a:cs typeface="Tahoma" panose="020B0604030504040204" pitchFamily="34" charset="0"/>
                  </a:endParaRPr>
                </a:p>
              </p:txBody>
            </p:sp>
            <p:sp>
              <p:nvSpPr>
                <p:cNvPr id="24" name="ホームベース 14">
                  <a:extLst>
                    <a:ext uri="{FF2B5EF4-FFF2-40B4-BE49-F238E27FC236}">
                      <a16:creationId xmlns:a16="http://schemas.microsoft.com/office/drawing/2014/main" id="{77EA7D81-3E08-6328-5702-AC7B9C8C7696}"/>
                    </a:ext>
                  </a:extLst>
                </p:cNvPr>
                <p:cNvSpPr/>
                <p:nvPr/>
              </p:nvSpPr>
              <p:spPr>
                <a:xfrm>
                  <a:off x="7151706" y="2711299"/>
                  <a:ext cx="689694" cy="863851"/>
                </a:xfrm>
                <a:prstGeom prst="homePlate">
                  <a:avLst>
                    <a:gd name="adj" fmla="val 33606"/>
                  </a:avLst>
                </a:prstGeom>
                <a:solidFill>
                  <a:srgbClr val="70AD47">
                    <a:lumMod val="75000"/>
                  </a:srgbClr>
                </a:soli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100" b="0"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TL review</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dirty="0">
                    <a:ln>
                      <a:noFill/>
                    </a:ln>
                    <a:solidFill>
                      <a:prstClr val="black"/>
                    </a:solidFill>
                    <a:effectLst/>
                    <a:uLnTx/>
                    <a:uFillTx/>
                    <a:latin typeface="Tahoma" panose="020B0604030504040204" pitchFamily="34" charset="0"/>
                    <a:ea typeface="メイリオ" pitchFamily="50" charset="-128"/>
                    <a:cs typeface="Tahoma" panose="020B0604030504040204" pitchFamily="34" charset="0"/>
                  </a:endParaRPr>
                </a:p>
              </p:txBody>
            </p:sp>
            <p:sp>
              <p:nvSpPr>
                <p:cNvPr id="25" name="ホームベース 14">
                  <a:extLst>
                    <a:ext uri="{FF2B5EF4-FFF2-40B4-BE49-F238E27FC236}">
                      <a16:creationId xmlns:a16="http://schemas.microsoft.com/office/drawing/2014/main" id="{1DB2B225-0CD0-3137-B302-B67DA58546D7}"/>
                    </a:ext>
                  </a:extLst>
                </p:cNvPr>
                <p:cNvSpPr/>
                <p:nvPr/>
              </p:nvSpPr>
              <p:spPr>
                <a:xfrm>
                  <a:off x="5678966" y="2703453"/>
                  <a:ext cx="724586" cy="863851"/>
                </a:xfrm>
                <a:prstGeom prst="homePlate">
                  <a:avLst>
                    <a:gd name="adj" fmla="val 33606"/>
                  </a:avLst>
                </a:prstGeom>
                <a:solidFill>
                  <a:srgbClr val="70AD47">
                    <a:lumMod val="20000"/>
                    <a:lumOff val="80000"/>
                  </a:srgbClr>
                </a:soli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100" b="0"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Group review</a:t>
                  </a:r>
                </a:p>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100" b="0" i="0" u="none" strike="noStrike" kern="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(※1)</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dirty="0">
                    <a:ln>
                      <a:noFill/>
                    </a:ln>
                    <a:solidFill>
                      <a:prstClr val="black"/>
                    </a:solidFill>
                    <a:effectLst/>
                    <a:uLnTx/>
                    <a:uFillTx/>
                    <a:latin typeface="Tahoma" panose="020B0604030504040204" pitchFamily="34" charset="0"/>
                    <a:ea typeface="メイリオ" pitchFamily="50" charset="-128"/>
                    <a:cs typeface="Tahoma" panose="020B0604030504040204" pitchFamily="34" charset="0"/>
                  </a:endParaRPr>
                </a:p>
              </p:txBody>
            </p:sp>
            <p:sp>
              <p:nvSpPr>
                <p:cNvPr id="26" name="ホームベース 19">
                  <a:extLst>
                    <a:ext uri="{FF2B5EF4-FFF2-40B4-BE49-F238E27FC236}">
                      <a16:creationId xmlns:a16="http://schemas.microsoft.com/office/drawing/2014/main" id="{C888A551-260A-C814-3B03-B991ED6ACF24}"/>
                    </a:ext>
                  </a:extLst>
                </p:cNvPr>
                <p:cNvSpPr/>
                <p:nvPr/>
              </p:nvSpPr>
              <p:spPr>
                <a:xfrm>
                  <a:off x="4873523" y="2478905"/>
                  <a:ext cx="4268487" cy="1179375"/>
                </a:xfrm>
                <a:prstGeom prst="homePlate">
                  <a:avLst>
                    <a:gd name="adj" fmla="val 57215"/>
                  </a:avLst>
                </a:prstGeom>
                <a:noFill/>
                <a:ln w="9525" cap="flat" cmpd="sng" algn="ctr">
                  <a:solidFill>
                    <a:srgbClr val="FF0000"/>
                  </a:solidFill>
                  <a:prstDash val="sysDash"/>
                </a:ln>
                <a:effectLst>
                  <a:outerShdw blurRad="40000" dist="20000" dir="5400000" rotWithShape="0">
                    <a:srgbClr val="000000">
                      <a:alpha val="38000"/>
                    </a:srgbClr>
                  </a:outerShdw>
                </a:effectLst>
              </p:spPr>
              <p:txBody>
                <a:bodyPr lIns="0" tIns="0" rIns="0" bIns="0" rtlCol="0" anchor="t"/>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defTabSz="914400" eaLnBrk="1" fontAlgn="base" latinLnBrk="0" hangingPunct="1">
                    <a:lnSpc>
                      <a:spcPct val="100000"/>
                    </a:lnSpc>
                    <a:spcBef>
                      <a:spcPct val="0"/>
                    </a:spcBef>
                    <a:spcAft>
                      <a:spcPct val="0"/>
                    </a:spcAft>
                    <a:buClrTx/>
                    <a:buSzTx/>
                    <a:buFontTx/>
                    <a:buNone/>
                    <a:tabLst/>
                    <a:defRPr/>
                  </a:pPr>
                  <a:r>
                    <a:rPr kumimoji="0" lang="en-US" altLang="ja-JP" sz="1100" b="0"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ja-JP" sz="1100" b="0"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Review</a:t>
                  </a:r>
                </a:p>
                <a:p>
                  <a:pPr marL="0" marR="0" lvl="0" indent="0" defTabSz="914400" eaLnBrk="1" fontAlgn="base" latinLnBrk="0" hangingPunct="1">
                    <a:lnSpc>
                      <a:spcPct val="100000"/>
                    </a:lnSpc>
                    <a:spcBef>
                      <a:spcPct val="0"/>
                    </a:spcBef>
                    <a:spcAft>
                      <a:spcPct val="0"/>
                    </a:spcAft>
                    <a:buClrTx/>
                    <a:buSzTx/>
                    <a:buFontTx/>
                    <a:buNone/>
                    <a:tabLst/>
                    <a:defRPr/>
                  </a:pPr>
                  <a:r>
                    <a:rPr kumimoji="0" lang="en-US" altLang="ja-JP" sz="1100" b="0"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  Strategy</a:t>
                  </a:r>
                  <a:endParaRPr kumimoji="0" lang="ja-JP" altLang="en-US" sz="1100" b="0" i="0" u="none" strike="noStrike" kern="0" cap="none" spc="0" normalizeH="0" baseline="0" noProof="0" dirty="0">
                    <a:ln>
                      <a:noFill/>
                    </a:ln>
                    <a:solidFill>
                      <a:prstClr val="black"/>
                    </a:solidFill>
                    <a:effectLst/>
                    <a:uLnTx/>
                    <a:uFillTx/>
                    <a:latin typeface="Tahoma" panose="020B0604030504040204" pitchFamily="34" charset="0"/>
                    <a:ea typeface="メイリオ" pitchFamily="50" charset="-128"/>
                    <a:cs typeface="Tahoma" panose="020B0604030504040204" pitchFamily="34" charset="0"/>
                  </a:endParaRPr>
                </a:p>
              </p:txBody>
            </p:sp>
            <p:sp>
              <p:nvSpPr>
                <p:cNvPr id="27" name="ホームベース 14">
                  <a:extLst>
                    <a:ext uri="{FF2B5EF4-FFF2-40B4-BE49-F238E27FC236}">
                      <a16:creationId xmlns:a16="http://schemas.microsoft.com/office/drawing/2014/main" id="{84566379-6526-72DE-A461-102FDA09A242}"/>
                    </a:ext>
                  </a:extLst>
                </p:cNvPr>
                <p:cNvSpPr/>
                <p:nvPr/>
              </p:nvSpPr>
              <p:spPr>
                <a:xfrm>
                  <a:off x="7841400" y="2711299"/>
                  <a:ext cx="689694" cy="863851"/>
                </a:xfrm>
                <a:prstGeom prst="homePlate">
                  <a:avLst>
                    <a:gd name="adj" fmla="val 33606"/>
                  </a:avLst>
                </a:prstGeom>
                <a:solidFill>
                  <a:srgbClr val="0070C0"/>
                </a:solidFill>
                <a:ln w="9525" cap="flat" cmpd="sng" algn="ctr">
                  <a:solidFill>
                    <a:srgbClr val="4BACC6">
                      <a:shade val="95000"/>
                      <a:satMod val="105000"/>
                    </a:srgbClr>
                  </a:solidFill>
                  <a:prstDash val="solid"/>
                </a:ln>
                <a:effectLst>
                  <a:outerShdw blurRad="40000" dist="20000" dir="5400000" rotWithShape="0">
                    <a:srgbClr val="000000">
                      <a:alpha val="38000"/>
                    </a:srgbClr>
                  </a:outerShdw>
                </a:effectLst>
              </p:spPr>
              <p:txBody>
                <a:bodyPr lIns="0" tIns="0" rIns="0" bIns="0" rtlCol="0" anchor="ctr"/>
                <a:lstStyle>
                  <a:lvl1pPr marL="0" indent="0">
                    <a:defRPr sz="1100">
                      <a:solidFill>
                        <a:schemeClr val="dk1"/>
                      </a:solidFill>
                      <a:latin typeface="+mn-lt"/>
                      <a:ea typeface="+mn-ea"/>
                      <a:cs typeface="+mn-cs"/>
                    </a:defRPr>
                  </a:lvl1pPr>
                  <a:lvl2pPr marL="457200" indent="0">
                    <a:defRPr sz="1100">
                      <a:solidFill>
                        <a:schemeClr val="dk1"/>
                      </a:solidFill>
                      <a:latin typeface="+mn-lt"/>
                      <a:ea typeface="+mn-ea"/>
                      <a:cs typeface="+mn-cs"/>
                    </a:defRPr>
                  </a:lvl2pPr>
                  <a:lvl3pPr marL="914400" indent="0">
                    <a:defRPr sz="1100">
                      <a:solidFill>
                        <a:schemeClr val="dk1"/>
                      </a:solidFill>
                      <a:latin typeface="+mn-lt"/>
                      <a:ea typeface="+mn-ea"/>
                      <a:cs typeface="+mn-cs"/>
                    </a:defRPr>
                  </a:lvl3pPr>
                  <a:lvl4pPr marL="1371600" indent="0">
                    <a:defRPr sz="1100">
                      <a:solidFill>
                        <a:schemeClr val="dk1"/>
                      </a:solidFill>
                      <a:latin typeface="+mn-lt"/>
                      <a:ea typeface="+mn-ea"/>
                      <a:cs typeface="+mn-cs"/>
                    </a:defRPr>
                  </a:lvl4pPr>
                  <a:lvl5pPr marL="1828800" indent="0">
                    <a:defRPr sz="1100">
                      <a:solidFill>
                        <a:schemeClr val="dk1"/>
                      </a:solidFill>
                      <a:latin typeface="+mn-lt"/>
                      <a:ea typeface="+mn-ea"/>
                      <a:cs typeface="+mn-cs"/>
                    </a:defRPr>
                  </a:lvl5pPr>
                  <a:lvl6pPr marL="2286000" indent="0">
                    <a:defRPr sz="1100">
                      <a:solidFill>
                        <a:schemeClr val="dk1"/>
                      </a:solidFill>
                      <a:latin typeface="+mn-lt"/>
                      <a:ea typeface="+mn-ea"/>
                      <a:cs typeface="+mn-cs"/>
                    </a:defRPr>
                  </a:lvl6pPr>
                  <a:lvl7pPr marL="2743200" indent="0">
                    <a:defRPr sz="1100">
                      <a:solidFill>
                        <a:schemeClr val="dk1"/>
                      </a:solidFill>
                      <a:latin typeface="+mn-lt"/>
                      <a:ea typeface="+mn-ea"/>
                      <a:cs typeface="+mn-cs"/>
                    </a:defRPr>
                  </a:lvl7pPr>
                  <a:lvl8pPr marL="3200400" indent="0">
                    <a:defRPr sz="1100">
                      <a:solidFill>
                        <a:schemeClr val="dk1"/>
                      </a:solidFill>
                      <a:latin typeface="+mn-lt"/>
                      <a:ea typeface="+mn-ea"/>
                      <a:cs typeface="+mn-cs"/>
                    </a:defRPr>
                  </a:lvl8pPr>
                  <a:lvl9pPr marL="3657600" indent="0">
                    <a:defRPr sz="1100">
                      <a:solidFill>
                        <a:schemeClr val="dk1"/>
                      </a:solidFill>
                      <a:latin typeface="+mn-lt"/>
                      <a:ea typeface="+mn-ea"/>
                      <a:cs typeface="+mn-cs"/>
                    </a:defRPr>
                  </a:lvl9pP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en-US" altLang="ja-JP" sz="1100" b="0" i="0" u="none" strike="noStrike" kern="0" cap="none" spc="0" normalizeH="0" baseline="0" noProof="0" dirty="0">
                      <a:ln>
                        <a:noFill/>
                      </a:ln>
                      <a:solidFill>
                        <a:prstClr val="black"/>
                      </a:solidFill>
                      <a:effectLst/>
                      <a:uLnTx/>
                      <a:uFillTx/>
                      <a:latin typeface="Tahoma" panose="020B0604030504040204" pitchFamily="34" charset="0"/>
                      <a:ea typeface="Tahoma" panose="020B0604030504040204" pitchFamily="34" charset="0"/>
                      <a:cs typeface="Tahoma" panose="020B0604030504040204" pitchFamily="34" charset="0"/>
                    </a:rPr>
                    <a:t>LG CNS review</a:t>
                  </a:r>
                </a:p>
                <a:p>
                  <a:pPr marL="0" marR="0" lvl="0" indent="0" algn="ctr" defTabSz="914400" eaLnBrk="1" fontAlgn="base" latinLnBrk="0" hangingPunct="1">
                    <a:lnSpc>
                      <a:spcPct val="100000"/>
                    </a:lnSpc>
                    <a:spcBef>
                      <a:spcPct val="0"/>
                    </a:spcBef>
                    <a:spcAft>
                      <a:spcPct val="0"/>
                    </a:spcAft>
                    <a:buClrTx/>
                    <a:buSzTx/>
                    <a:buFontTx/>
                    <a:buNone/>
                    <a:tabLst/>
                    <a:defRPr/>
                  </a:pPr>
                  <a:endParaRPr kumimoji="0" lang="ja-JP" altLang="en-US" sz="1100" b="0" i="0" u="none" strike="noStrike" kern="0" cap="none" spc="0" normalizeH="0" baseline="0" noProof="0" dirty="0">
                    <a:ln>
                      <a:noFill/>
                    </a:ln>
                    <a:solidFill>
                      <a:prstClr val="black"/>
                    </a:solidFill>
                    <a:effectLst/>
                    <a:uLnTx/>
                    <a:uFillTx/>
                    <a:latin typeface="Tahoma" panose="020B0604030504040204" pitchFamily="34" charset="0"/>
                    <a:ea typeface="メイリオ" pitchFamily="50" charset="-128"/>
                    <a:cs typeface="Tahoma" panose="020B0604030504040204" pitchFamily="34" charset="0"/>
                  </a:endParaRPr>
                </a:p>
              </p:txBody>
            </p:sp>
          </p:grpSp>
          <p:cxnSp>
            <p:nvCxnSpPr>
              <p:cNvPr id="19" name="Elbow Connector 18">
                <a:extLst>
                  <a:ext uri="{FF2B5EF4-FFF2-40B4-BE49-F238E27FC236}">
                    <a16:creationId xmlns:a16="http://schemas.microsoft.com/office/drawing/2014/main" id="{CC6F9262-9E13-2CF2-E267-73DBC49C49CD}"/>
                  </a:ext>
                </a:extLst>
              </p:cNvPr>
              <p:cNvCxnSpPr>
                <a:stCxn id="12" idx="1"/>
              </p:cNvCxnSpPr>
              <p:nvPr/>
            </p:nvCxnSpPr>
            <p:spPr>
              <a:xfrm rot="10800000">
                <a:off x="3981883" y="1943557"/>
                <a:ext cx="100678" cy="2884828"/>
              </a:xfrm>
              <a:prstGeom prst="bentConnector2">
                <a:avLst/>
              </a:prstGeom>
              <a:noFill/>
              <a:ln w="19050" cap="flat" cmpd="sng" algn="ctr">
                <a:solidFill>
                  <a:srgbClr val="ED7D31"/>
                </a:solidFill>
                <a:prstDash val="dash"/>
                <a:miter lim="800000"/>
              </a:ln>
              <a:effectLst/>
            </p:spPr>
          </p:cxnSp>
          <p:cxnSp>
            <p:nvCxnSpPr>
              <p:cNvPr id="20" name="Elbow Connector 19">
                <a:extLst>
                  <a:ext uri="{FF2B5EF4-FFF2-40B4-BE49-F238E27FC236}">
                    <a16:creationId xmlns:a16="http://schemas.microsoft.com/office/drawing/2014/main" id="{902EC016-DB7D-788D-8EE6-0BFC700D05C2}"/>
                  </a:ext>
                </a:extLst>
              </p:cNvPr>
              <p:cNvCxnSpPr>
                <a:stCxn id="12" idx="3"/>
              </p:cNvCxnSpPr>
              <p:nvPr/>
            </p:nvCxnSpPr>
            <p:spPr>
              <a:xfrm flipV="1">
                <a:off x="10634919" y="1879884"/>
                <a:ext cx="12862" cy="2948502"/>
              </a:xfrm>
              <a:prstGeom prst="bentConnector4">
                <a:avLst>
                  <a:gd name="adj1" fmla="val 51433"/>
                  <a:gd name="adj2" fmla="val 52902"/>
                </a:avLst>
              </a:prstGeom>
              <a:noFill/>
              <a:ln w="19050" cap="flat" cmpd="sng" algn="ctr">
                <a:solidFill>
                  <a:srgbClr val="ED7D31"/>
                </a:solidFill>
                <a:prstDash val="dash"/>
                <a:miter lim="800000"/>
              </a:ln>
              <a:effectLst/>
            </p:spPr>
          </p:cxnSp>
          <p:cxnSp>
            <p:nvCxnSpPr>
              <p:cNvPr id="21" name="Elbow Connector 20">
                <a:extLst>
                  <a:ext uri="{FF2B5EF4-FFF2-40B4-BE49-F238E27FC236}">
                    <a16:creationId xmlns:a16="http://schemas.microsoft.com/office/drawing/2014/main" id="{48E3CB8E-AC12-3C9F-171D-A0D39EC35200}"/>
                  </a:ext>
                </a:extLst>
              </p:cNvPr>
              <p:cNvCxnSpPr>
                <a:stCxn id="26" idx="2"/>
                <a:endCxn id="12" idx="0"/>
              </p:cNvCxnSpPr>
              <p:nvPr/>
            </p:nvCxnSpPr>
            <p:spPr>
              <a:xfrm rot="16200000" flipH="1">
                <a:off x="6134309" y="3530727"/>
                <a:ext cx="871612" cy="1381400"/>
              </a:xfrm>
              <a:prstGeom prst="bentConnector3">
                <a:avLst>
                  <a:gd name="adj1" fmla="val 50000"/>
                </a:avLst>
              </a:prstGeom>
              <a:noFill/>
              <a:ln w="28575" cap="flat" cmpd="sng" algn="ctr">
                <a:solidFill>
                  <a:srgbClr val="ED7D31"/>
                </a:solidFill>
                <a:prstDash val="dash"/>
                <a:miter lim="800000"/>
                <a:headEnd type="none" w="med" len="med"/>
                <a:tailEnd type="triangle" w="med" len="med"/>
              </a:ln>
              <a:effectLst/>
            </p:spPr>
          </p:cxnSp>
          <p:sp>
            <p:nvSpPr>
              <p:cNvPr id="22" name="Rectangle 21">
                <a:extLst>
                  <a:ext uri="{FF2B5EF4-FFF2-40B4-BE49-F238E27FC236}">
                    <a16:creationId xmlns:a16="http://schemas.microsoft.com/office/drawing/2014/main" id="{98FEC079-0B1E-0456-51C6-568AE34C4629}"/>
                  </a:ext>
                </a:extLst>
              </p:cNvPr>
              <p:cNvSpPr/>
              <p:nvPr/>
            </p:nvSpPr>
            <p:spPr>
              <a:xfrm>
                <a:off x="5996258" y="3927039"/>
                <a:ext cx="1264557" cy="229367"/>
              </a:xfrm>
              <a:prstGeom prst="rect">
                <a:avLst/>
              </a:prstGeom>
              <a:noFill/>
              <a:ln w="12700"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1" lang="en-US" altLang="ja-JP" sz="1100" b="0" i="0" u="none" strike="noStrike" kern="1200" cap="none" spc="0" normalizeH="0" baseline="0" noProof="0" dirty="0">
                    <a:ln>
                      <a:noFill/>
                    </a:ln>
                    <a:solidFill>
                      <a:srgbClr val="FF0000"/>
                    </a:solidFill>
                    <a:effectLst/>
                    <a:uLnTx/>
                    <a:uFillTx/>
                    <a:latin typeface="Tahoma" panose="020B0604030504040204" pitchFamily="34" charset="0"/>
                    <a:ea typeface="Tahoma" panose="020B0604030504040204" pitchFamily="34" charset="0"/>
                    <a:cs typeface="Tahoma" panose="020B0604030504040204" pitchFamily="34" charset="0"/>
                  </a:rPr>
                  <a:t>Comments/bugs</a:t>
                </a:r>
                <a:endParaRPr kumimoji="1" lang="ja-JP" altLang="en-US" sz="1100" b="0" i="0" u="none" strike="noStrike" kern="1200" cap="none" spc="0" normalizeH="0" baseline="0" noProof="0" dirty="0">
                  <a:ln>
                    <a:noFill/>
                  </a:ln>
                  <a:solidFill>
                    <a:srgbClr val="FF0000"/>
                  </a:solidFill>
                  <a:effectLst/>
                  <a:uLnTx/>
                  <a:uFillTx/>
                  <a:latin typeface="Tahoma" panose="020B0604030504040204" pitchFamily="34" charset="0"/>
                  <a:ea typeface="+mn-ea"/>
                  <a:cs typeface="Tahoma" panose="020B0604030504040204" pitchFamily="34" charset="0"/>
                </a:endParaRPr>
              </a:p>
            </p:txBody>
          </p:sp>
        </p:grpSp>
        <p:sp>
          <p:nvSpPr>
            <p:cNvPr id="10" name="Chevron 9">
              <a:extLst>
                <a:ext uri="{FF2B5EF4-FFF2-40B4-BE49-F238E27FC236}">
                  <a16:creationId xmlns:a16="http://schemas.microsoft.com/office/drawing/2014/main" id="{36F1678C-F797-9F30-4F89-26F4232B83D9}"/>
                </a:ext>
              </a:extLst>
            </p:cNvPr>
            <p:cNvSpPr/>
            <p:nvPr/>
          </p:nvSpPr>
          <p:spPr bwMode="auto">
            <a:xfrm>
              <a:off x="8704131" y="2261445"/>
              <a:ext cx="2388862" cy="657403"/>
            </a:xfrm>
            <a:prstGeom prst="chevron">
              <a:avLst/>
            </a:prstGeom>
            <a:solidFill>
              <a:srgbClr val="36365C">
                <a:alpha val="50000"/>
              </a:srgbClr>
            </a:solidFill>
            <a:ln>
              <a:noFill/>
            </a:ln>
            <a:effectLst/>
          </p:spPr>
          <p:txBody>
            <a:bodyPr rot="0" spcFirstLastPara="0" vert="horz" wrap="square" lIns="18288" tIns="0" rIns="0" bIns="0" numCol="1" spcCol="0" rtlCol="0" fromWordArt="0" anchor="ctr" anchorCtr="0" forceAA="0" upright="1"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6</a:t>
              </a:r>
              <a:r>
                <a:rPr kumimoji="0" lang="vi"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a:t>
              </a:r>
              <a:r>
                <a:rPr kumimoji="0" 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1200" b="0" i="0" u="none" strike="noStrike" kern="1200" cap="none" spc="0" normalizeH="0" baseline="0" noProof="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Support bug fixing</a:t>
              </a:r>
              <a:endParaRPr kumimoji="0" 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endParaRPr>
            </a:p>
          </p:txBody>
        </p:sp>
        <p:sp>
          <p:nvSpPr>
            <p:cNvPr id="11" name="Chevron 10">
              <a:extLst>
                <a:ext uri="{FF2B5EF4-FFF2-40B4-BE49-F238E27FC236}">
                  <a16:creationId xmlns:a16="http://schemas.microsoft.com/office/drawing/2014/main" id="{4DD2A800-F5F1-4996-9AE1-3C90547DE099}"/>
                </a:ext>
              </a:extLst>
            </p:cNvPr>
            <p:cNvSpPr/>
            <p:nvPr/>
          </p:nvSpPr>
          <p:spPr bwMode="auto">
            <a:xfrm>
              <a:off x="7070129" y="2252809"/>
              <a:ext cx="1899408" cy="666039"/>
            </a:xfrm>
            <a:prstGeom prst="chevron">
              <a:avLst/>
            </a:prstGeom>
            <a:solidFill>
              <a:srgbClr val="7030A0"/>
            </a:solidFill>
            <a:ln>
              <a:noFill/>
            </a:ln>
            <a:effectLst/>
          </p:spPr>
          <p:txBody>
            <a:bodyPr rot="0" spcFirstLastPara="0" vert="horz" wrap="square" lIns="18288" tIns="0" rIns="0" bIns="0" numCol="1" spcCol="0" rtlCol="0" fromWordArt="0" anchor="ctr" anchorCtr="0" forceAA="0" upright="1" compatLnSpc="1">
              <a:prstTxWarp prst="textNoShape">
                <a:avLst/>
              </a:prstTxWarp>
              <a:noAutofit/>
            </a:bodyPr>
            <a:lstStyle>
              <a:lvl1pPr marL="0" indent="0">
                <a:defRPr sz="1100">
                  <a:latin typeface="+mn-lt"/>
                  <a:ea typeface="+mn-ea"/>
                  <a:cs typeface="+mn-cs"/>
                </a:defRPr>
              </a:lvl1pPr>
              <a:lvl2pPr marL="457200" indent="0">
                <a:defRPr sz="1100">
                  <a:latin typeface="+mn-lt"/>
                  <a:ea typeface="+mn-ea"/>
                  <a:cs typeface="+mn-cs"/>
                </a:defRPr>
              </a:lvl2pPr>
              <a:lvl3pPr marL="914400" indent="0">
                <a:defRPr sz="1100">
                  <a:latin typeface="+mn-lt"/>
                  <a:ea typeface="+mn-ea"/>
                  <a:cs typeface="+mn-cs"/>
                </a:defRPr>
              </a:lvl3pPr>
              <a:lvl4pPr marL="1371600" indent="0">
                <a:defRPr sz="1100">
                  <a:latin typeface="+mn-lt"/>
                  <a:ea typeface="+mn-ea"/>
                  <a:cs typeface="+mn-cs"/>
                </a:defRPr>
              </a:lvl4pPr>
              <a:lvl5pPr marL="1828800" indent="0">
                <a:defRPr sz="1100">
                  <a:latin typeface="+mn-lt"/>
                  <a:ea typeface="+mn-ea"/>
                  <a:cs typeface="+mn-cs"/>
                </a:defRPr>
              </a:lvl5pPr>
              <a:lvl6pPr marL="2286000" indent="0">
                <a:defRPr sz="1100">
                  <a:latin typeface="+mn-lt"/>
                  <a:ea typeface="+mn-ea"/>
                  <a:cs typeface="+mn-cs"/>
                </a:defRPr>
              </a:lvl6pPr>
              <a:lvl7pPr marL="2743200" indent="0">
                <a:defRPr sz="1100">
                  <a:latin typeface="+mn-lt"/>
                  <a:ea typeface="+mn-ea"/>
                  <a:cs typeface="+mn-cs"/>
                </a:defRPr>
              </a:lvl7pPr>
              <a:lvl8pPr marL="3200400" indent="0">
                <a:defRPr sz="1100">
                  <a:latin typeface="+mn-lt"/>
                  <a:ea typeface="+mn-ea"/>
                  <a:cs typeface="+mn-cs"/>
                </a:defRPr>
              </a:lvl8pPr>
              <a:lvl9pPr marL="3657600" indent="0">
                <a:defRPr sz="1100">
                  <a:latin typeface="+mn-lt"/>
                  <a:ea typeface="+mn-ea"/>
                  <a:cs typeface="+mn-cs"/>
                </a:defRPr>
              </a:lvl9pPr>
            </a:lstStyle>
            <a:p>
              <a:pPr marL="0" marR="0" lvl="0" indent="0" defTabSz="914400" eaLnBrk="1" fontAlgn="auto" latinLnBrk="0" hangingPunct="1">
                <a:lnSpc>
                  <a:spcPct val="100000"/>
                </a:lnSpc>
                <a:spcBef>
                  <a:spcPts val="0"/>
                </a:spcBef>
                <a:spcAft>
                  <a:spcPts val="0"/>
                </a:spcAft>
                <a:buClrTx/>
                <a:buSzTx/>
                <a:buFontTx/>
                <a:buNone/>
                <a:tabLst/>
                <a:defRPr/>
              </a:pPr>
              <a:r>
                <a:rPr kumimoji="0" 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5</a:t>
              </a:r>
              <a:r>
                <a:rPr kumimoji="0" lang="vi"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a:t>
              </a:r>
              <a:r>
                <a:rPr kumimoji="0" lang="en-US" sz="1200" b="0"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Deployment</a:t>
              </a:r>
            </a:p>
          </p:txBody>
        </p:sp>
      </p:grpSp>
    </p:spTree>
    <p:extLst>
      <p:ext uri="{BB962C8B-B14F-4D97-AF65-F5344CB8AC3E}">
        <p14:creationId xmlns:p14="http://schemas.microsoft.com/office/powerpoint/2010/main" val="4033541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C07E217F-0A14-B1C6-6CEA-264811DE9F48}"/>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17</a:t>
            </a:fld>
            <a:endParaRPr lang="en-US" dirty="0">
              <a:solidFill>
                <a:srgbClr val="034EA2"/>
              </a:solidFill>
            </a:endParaRPr>
          </a:p>
        </p:txBody>
      </p:sp>
      <p:grpSp>
        <p:nvGrpSpPr>
          <p:cNvPr id="3" name="Group 2">
            <a:extLst>
              <a:ext uri="{FF2B5EF4-FFF2-40B4-BE49-F238E27FC236}">
                <a16:creationId xmlns:a16="http://schemas.microsoft.com/office/drawing/2014/main" id="{2BA84FF4-09E1-1CF5-BB9B-3C712F2DBED5}"/>
              </a:ext>
            </a:extLst>
          </p:cNvPr>
          <p:cNvGrpSpPr/>
          <p:nvPr/>
        </p:nvGrpSpPr>
        <p:grpSpPr>
          <a:xfrm>
            <a:off x="479425" y="461520"/>
            <a:ext cx="7005108" cy="584775"/>
            <a:chOff x="479425" y="461520"/>
            <a:chExt cx="7005108" cy="584775"/>
          </a:xfrm>
        </p:grpSpPr>
        <p:sp>
          <p:nvSpPr>
            <p:cNvPr id="4" name="Round Diagonal Corner Rectangle 3">
              <a:extLst>
                <a:ext uri="{FF2B5EF4-FFF2-40B4-BE49-F238E27FC236}">
                  <a16:creationId xmlns:a16="http://schemas.microsoft.com/office/drawing/2014/main" id="{91C43C97-96A3-B70F-ED9D-E08AC2C209DF}"/>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A6DB4022-1E40-3EC4-BCF4-D92BD80A7854}"/>
                </a:ext>
              </a:extLst>
            </p:cNvPr>
            <p:cNvSpPr txBox="1"/>
            <p:nvPr/>
          </p:nvSpPr>
          <p:spPr>
            <a:xfrm>
              <a:off x="536265" y="461520"/>
              <a:ext cx="6948268"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7. Working Model &amp; Process</a:t>
              </a:r>
            </a:p>
          </p:txBody>
        </p:sp>
      </p:grpSp>
      <p:sp>
        <p:nvSpPr>
          <p:cNvPr id="24" name="Text Placeholder 15">
            <a:extLst>
              <a:ext uri="{FF2B5EF4-FFF2-40B4-BE49-F238E27FC236}">
                <a16:creationId xmlns:a16="http://schemas.microsoft.com/office/drawing/2014/main" id="{D745C87A-6AFE-5491-8099-35153C68002A}"/>
              </a:ext>
            </a:extLst>
          </p:cNvPr>
          <p:cNvSpPr txBox="1">
            <a:spLocks/>
          </p:cNvSpPr>
          <p:nvPr/>
        </p:nvSpPr>
        <p:spPr>
          <a:xfrm>
            <a:off x="948683" y="966054"/>
            <a:ext cx="10463213" cy="423185"/>
          </a:xfrm>
          <a:prstGeom prst="rect">
            <a:avLst/>
          </a:prstGeom>
        </p:spPr>
        <p:txBody>
          <a:bodyPr/>
          <a:lstStyle>
            <a:lvl1pPr marL="228600" indent="-228600" algn="l" defTabSz="914400" rtl="0" eaLnBrk="1" latinLnBrk="0" hangingPunct="1">
              <a:lnSpc>
                <a:spcPct val="90000"/>
              </a:lnSpc>
              <a:spcBef>
                <a:spcPts val="1000"/>
              </a:spcBef>
              <a:buClr>
                <a:srgbClr val="F27228"/>
              </a:buClr>
              <a:buFont typeface="Arial" panose="020B0604020202020204" pitchFamily="34" charset="0"/>
              <a:buChar char="•"/>
              <a:defRPr sz="1600" kern="1200">
                <a:solidFill>
                  <a:srgbClr val="36365C"/>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(e) Task and Issue Management System</a:t>
            </a:r>
            <a:endParaRPr kumimoji="0" lang="vi-VN" sz="20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endParaRPr>
          </a:p>
        </p:txBody>
      </p:sp>
      <p:grpSp>
        <p:nvGrpSpPr>
          <p:cNvPr id="25" name="Group 24">
            <a:extLst>
              <a:ext uri="{FF2B5EF4-FFF2-40B4-BE49-F238E27FC236}">
                <a16:creationId xmlns:a16="http://schemas.microsoft.com/office/drawing/2014/main" id="{DB985971-3610-E58B-64E7-86271081733C}"/>
              </a:ext>
            </a:extLst>
          </p:cNvPr>
          <p:cNvGrpSpPr/>
          <p:nvPr/>
        </p:nvGrpSpPr>
        <p:grpSpPr>
          <a:xfrm>
            <a:off x="1257302" y="1484181"/>
            <a:ext cx="9595425" cy="2152987"/>
            <a:chOff x="1257302" y="1704666"/>
            <a:chExt cx="10291098" cy="4147575"/>
          </a:xfrm>
        </p:grpSpPr>
        <p:grpSp>
          <p:nvGrpSpPr>
            <p:cNvPr id="26" name="Group 25">
              <a:extLst>
                <a:ext uri="{FF2B5EF4-FFF2-40B4-BE49-F238E27FC236}">
                  <a16:creationId xmlns:a16="http://schemas.microsoft.com/office/drawing/2014/main" id="{21CBB9C0-4761-9FE5-278A-09815FACF834}"/>
                </a:ext>
              </a:extLst>
            </p:cNvPr>
            <p:cNvGrpSpPr/>
            <p:nvPr/>
          </p:nvGrpSpPr>
          <p:grpSpPr>
            <a:xfrm>
              <a:off x="8731988" y="3922430"/>
              <a:ext cx="2816412" cy="1889741"/>
              <a:chOff x="5083711" y="2903816"/>
              <a:chExt cx="2415211" cy="1642618"/>
            </a:xfrm>
          </p:grpSpPr>
          <p:pic>
            <p:nvPicPr>
              <p:cNvPr id="37" name="Picture 36">
                <a:extLst>
                  <a:ext uri="{FF2B5EF4-FFF2-40B4-BE49-F238E27FC236}">
                    <a16:creationId xmlns:a16="http://schemas.microsoft.com/office/drawing/2014/main" id="{E4EA0AF7-5FD3-8285-B4CB-36D280F005EE}"/>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5083711" y="2903816"/>
                <a:ext cx="2415209" cy="1642618"/>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38" name="Rectangle 37">
                <a:extLst>
                  <a:ext uri="{FF2B5EF4-FFF2-40B4-BE49-F238E27FC236}">
                    <a16:creationId xmlns:a16="http://schemas.microsoft.com/office/drawing/2014/main" id="{963C7469-536B-CAAC-DA4E-9E865E0E8B46}"/>
                  </a:ext>
                </a:extLst>
              </p:cNvPr>
              <p:cNvSpPr/>
              <p:nvPr/>
            </p:nvSpPr>
            <p:spPr>
              <a:xfrm>
                <a:off x="5860506" y="4265353"/>
                <a:ext cx="1638416" cy="281081"/>
              </a:xfrm>
              <a:prstGeom prst="rect">
                <a:avLst/>
              </a:prstGeom>
              <a:solidFill>
                <a:srgbClr val="70AD47"/>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 sz="12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Bug Resolving Chart</a:t>
                </a:r>
              </a:p>
            </p:txBody>
          </p:sp>
        </p:grpSp>
        <p:grpSp>
          <p:nvGrpSpPr>
            <p:cNvPr id="27" name="Group 26">
              <a:extLst>
                <a:ext uri="{FF2B5EF4-FFF2-40B4-BE49-F238E27FC236}">
                  <a16:creationId xmlns:a16="http://schemas.microsoft.com/office/drawing/2014/main" id="{164EBEF9-EB03-70C8-0306-76C95C443276}"/>
                </a:ext>
              </a:extLst>
            </p:cNvPr>
            <p:cNvGrpSpPr/>
            <p:nvPr/>
          </p:nvGrpSpPr>
          <p:grpSpPr>
            <a:xfrm>
              <a:off x="5719528" y="3922430"/>
              <a:ext cx="2850173" cy="1918236"/>
              <a:chOff x="4309419" y="849967"/>
              <a:chExt cx="1863016" cy="1383746"/>
            </a:xfrm>
          </p:grpSpPr>
          <p:pic>
            <p:nvPicPr>
              <p:cNvPr id="35" name="Picture 34">
                <a:extLst>
                  <a:ext uri="{FF2B5EF4-FFF2-40B4-BE49-F238E27FC236}">
                    <a16:creationId xmlns:a16="http://schemas.microsoft.com/office/drawing/2014/main" id="{10D8729C-6A35-D1B5-434D-F79093986899}"/>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309419" y="849967"/>
                <a:ext cx="1863016" cy="1383746"/>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36" name="Rectangle 35">
                <a:extLst>
                  <a:ext uri="{FF2B5EF4-FFF2-40B4-BE49-F238E27FC236}">
                    <a16:creationId xmlns:a16="http://schemas.microsoft.com/office/drawing/2014/main" id="{32C58B2A-CD1D-08C9-ACEA-9DC9F5156FBA}"/>
                  </a:ext>
                </a:extLst>
              </p:cNvPr>
              <p:cNvSpPr/>
              <p:nvPr/>
            </p:nvSpPr>
            <p:spPr>
              <a:xfrm>
                <a:off x="4309419" y="850851"/>
                <a:ext cx="1343302" cy="188226"/>
              </a:xfrm>
              <a:prstGeom prst="rect">
                <a:avLst/>
              </a:prstGeom>
              <a:solidFill>
                <a:srgbClr val="ED7D31"/>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 sz="1200" b="1" i="0" u="none" strike="noStrike" kern="1200" cap="none" spc="0" normalizeH="0" baseline="0" noProof="0" dirty="0" err="1">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Testcase</a:t>
                </a:r>
                <a:r>
                  <a:rPr kumimoji="0" lang="en-US" altLang="ja" sz="12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 Execution</a:t>
                </a:r>
                <a:endParaRPr kumimoji="0" lang="ja" altLang="en-US" sz="1200" b="0" i="0" u="none" strike="noStrike" kern="1200" cap="none" spc="0" normalizeH="0" baseline="0" noProof="0" dirty="0">
                  <a:ln>
                    <a:noFill/>
                  </a:ln>
                  <a:solidFill>
                    <a:prstClr val="white"/>
                  </a:solidFill>
                  <a:effectLst/>
                  <a:uLnTx/>
                  <a:uFillTx/>
                  <a:latin typeface="Tahoma" panose="020B0604030504040204" pitchFamily="34" charset="0"/>
                  <a:ea typeface="+mn-ea"/>
                  <a:cs typeface="Tahoma" panose="020B0604030504040204" pitchFamily="34" charset="0"/>
                </a:endParaRPr>
              </a:p>
            </p:txBody>
          </p:sp>
        </p:grpSp>
        <p:grpSp>
          <p:nvGrpSpPr>
            <p:cNvPr id="28" name="Group 27">
              <a:extLst>
                <a:ext uri="{FF2B5EF4-FFF2-40B4-BE49-F238E27FC236}">
                  <a16:creationId xmlns:a16="http://schemas.microsoft.com/office/drawing/2014/main" id="{A46C9361-7621-8E1B-B429-A671BC685C80}"/>
                </a:ext>
              </a:extLst>
            </p:cNvPr>
            <p:cNvGrpSpPr/>
            <p:nvPr/>
          </p:nvGrpSpPr>
          <p:grpSpPr>
            <a:xfrm>
              <a:off x="8731987" y="1704666"/>
              <a:ext cx="2816413" cy="2087265"/>
              <a:chOff x="4618585" y="590550"/>
              <a:chExt cx="2213289" cy="1676400"/>
            </a:xfrm>
          </p:grpSpPr>
          <p:pic>
            <p:nvPicPr>
              <p:cNvPr id="33" name="Picture 32" descr="Screen Shot 2016-11-25 at 8.57.13 AM.png">
                <a:extLst>
                  <a:ext uri="{FF2B5EF4-FFF2-40B4-BE49-F238E27FC236}">
                    <a16:creationId xmlns:a16="http://schemas.microsoft.com/office/drawing/2014/main" id="{EF2B2F42-7A6F-5626-9B86-6CA8DAC23D1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18585" y="590550"/>
                <a:ext cx="2213289" cy="1676400"/>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34" name="Rectangle 33">
                <a:extLst>
                  <a:ext uri="{FF2B5EF4-FFF2-40B4-BE49-F238E27FC236}">
                    <a16:creationId xmlns:a16="http://schemas.microsoft.com/office/drawing/2014/main" id="{4C784C41-40EB-EE66-D8E1-EF65086C5CB5}"/>
                  </a:ext>
                </a:extLst>
              </p:cNvPr>
              <p:cNvSpPr/>
              <p:nvPr/>
            </p:nvSpPr>
            <p:spPr>
              <a:xfrm>
                <a:off x="5091599" y="2036561"/>
                <a:ext cx="1740275" cy="230389"/>
              </a:xfrm>
              <a:prstGeom prst="rect">
                <a:avLst/>
              </a:prstGeom>
              <a:solidFill>
                <a:srgbClr val="A5A5A5"/>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 sz="12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Task Processing Chart</a:t>
                </a:r>
              </a:p>
            </p:txBody>
          </p:sp>
        </p:grpSp>
        <p:grpSp>
          <p:nvGrpSpPr>
            <p:cNvPr id="29" name="Group 28">
              <a:extLst>
                <a:ext uri="{FF2B5EF4-FFF2-40B4-BE49-F238E27FC236}">
                  <a16:creationId xmlns:a16="http://schemas.microsoft.com/office/drawing/2014/main" id="{00ECD179-46FE-457C-F529-DEE325A42016}"/>
                </a:ext>
              </a:extLst>
            </p:cNvPr>
            <p:cNvGrpSpPr/>
            <p:nvPr/>
          </p:nvGrpSpPr>
          <p:grpSpPr>
            <a:xfrm>
              <a:off x="5719527" y="1705628"/>
              <a:ext cx="2850173" cy="2086303"/>
              <a:chOff x="5692695" y="1299996"/>
              <a:chExt cx="2893858" cy="2204881"/>
            </a:xfrm>
          </p:grpSpPr>
          <p:pic>
            <p:nvPicPr>
              <p:cNvPr id="31" name="Picture 30">
                <a:extLst>
                  <a:ext uri="{FF2B5EF4-FFF2-40B4-BE49-F238E27FC236}">
                    <a16:creationId xmlns:a16="http://schemas.microsoft.com/office/drawing/2014/main" id="{788B4DFE-EDC9-E056-4CEF-6BCED05BB613}"/>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5692695" y="1301015"/>
                <a:ext cx="2893858" cy="2203862"/>
              </a:xfrm>
              <a:prstGeom prst="rect">
                <a:avLst/>
              </a:prstGeom>
              <a:ln w="3175" cap="sq">
                <a:solidFill>
                  <a:srgbClr val="000000"/>
                </a:solidFill>
                <a:prstDash val="solid"/>
                <a:miter lim="800000"/>
              </a:ln>
              <a:effectLst>
                <a:outerShdw blurRad="50800" dist="38100" dir="2700000" algn="tl" rotWithShape="0">
                  <a:srgbClr val="000000">
                    <a:alpha val="43000"/>
                  </a:srgbClr>
                </a:outerShdw>
              </a:effectLst>
            </p:spPr>
          </p:pic>
          <p:sp>
            <p:nvSpPr>
              <p:cNvPr id="32" name="Rectangle 31">
                <a:extLst>
                  <a:ext uri="{FF2B5EF4-FFF2-40B4-BE49-F238E27FC236}">
                    <a16:creationId xmlns:a16="http://schemas.microsoft.com/office/drawing/2014/main" id="{C1C8D629-DE03-D0B2-BD89-43A526B13336}"/>
                  </a:ext>
                </a:extLst>
              </p:cNvPr>
              <p:cNvSpPr/>
              <p:nvPr/>
            </p:nvSpPr>
            <p:spPr>
              <a:xfrm>
                <a:off x="6704563" y="1299996"/>
                <a:ext cx="1881990" cy="358719"/>
              </a:xfrm>
              <a:prstGeom prst="rect">
                <a:avLst/>
              </a:prstGeom>
              <a:solidFill>
                <a:srgbClr val="4F127F"/>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 sz="1200" b="1" i="0" u="none" strike="noStrike" kern="1200" cap="none" spc="0" normalizeH="0" baseline="0" noProof="0" dirty="0">
                    <a:ln>
                      <a:noFill/>
                    </a:ln>
                    <a:solidFill>
                      <a:prstClr val="white"/>
                    </a:solidFill>
                    <a:effectLst/>
                    <a:uLnTx/>
                    <a:uFillTx/>
                    <a:latin typeface="Tahoma" panose="020B0604030504040204" pitchFamily="34" charset="0"/>
                    <a:ea typeface="Tahoma" panose="020B0604030504040204" pitchFamily="34" charset="0"/>
                    <a:cs typeface="Tahoma" panose="020B0604030504040204" pitchFamily="34" charset="0"/>
                  </a:rPr>
                  <a:t>Project Dashboard</a:t>
                </a:r>
              </a:p>
            </p:txBody>
          </p:sp>
        </p:grpSp>
        <p:pic>
          <p:nvPicPr>
            <p:cNvPr id="30" name="Picture 29">
              <a:extLst>
                <a:ext uri="{FF2B5EF4-FFF2-40B4-BE49-F238E27FC236}">
                  <a16:creationId xmlns:a16="http://schemas.microsoft.com/office/drawing/2014/main" id="{2C04DFC5-2675-E0AA-7227-CCE02BF89AC1}"/>
                </a:ext>
              </a:extLst>
            </p:cNvPr>
            <p:cNvPicPr>
              <a:picLocks noChangeAspect="1"/>
            </p:cNvPicPr>
            <p:nvPr/>
          </p:nvPicPr>
          <p:blipFill>
            <a:blip r:embed="rId6"/>
            <a:stretch>
              <a:fillRect/>
            </a:stretch>
          </p:blipFill>
          <p:spPr>
            <a:xfrm>
              <a:off x="1257302" y="1713855"/>
              <a:ext cx="4294208" cy="4138386"/>
            </a:xfrm>
            <a:prstGeom prst="rect">
              <a:avLst/>
            </a:prstGeom>
            <a:ln>
              <a:solidFill>
                <a:srgbClr val="0000CC"/>
              </a:solidFill>
            </a:ln>
            <a:effectLst>
              <a:outerShdw blurRad="50800" dist="38100" dir="2700000" algn="tl" rotWithShape="0">
                <a:prstClr val="black">
                  <a:alpha val="40000"/>
                </a:prstClr>
              </a:outerShdw>
            </a:effectLst>
          </p:spPr>
        </p:pic>
      </p:grpSp>
      <p:sp>
        <p:nvSpPr>
          <p:cNvPr id="39" name="Rectangle 38">
            <a:extLst>
              <a:ext uri="{FF2B5EF4-FFF2-40B4-BE49-F238E27FC236}">
                <a16:creationId xmlns:a16="http://schemas.microsoft.com/office/drawing/2014/main" id="{72302B38-BD52-66EB-2FE1-072901D8C231}"/>
              </a:ext>
            </a:extLst>
          </p:cNvPr>
          <p:cNvSpPr/>
          <p:nvPr/>
        </p:nvSpPr>
        <p:spPr>
          <a:xfrm>
            <a:off x="2419005" y="1382864"/>
            <a:ext cx="2842220" cy="247457"/>
          </a:xfrm>
          <a:prstGeom prst="rect">
            <a:avLst/>
          </a:prstGeom>
          <a:solidFill>
            <a:srgbClr val="4472C4"/>
          </a:solidFill>
          <a:ln>
            <a:noFill/>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ja" sz="1467"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rPr>
              <a:t>Workflow of Wire wiki Tasks</a:t>
            </a:r>
            <a:endParaRPr kumimoji="0" lang="ja" altLang="en-US" sz="1467" b="1" i="0" u="none" strike="noStrike" kern="1200" cap="none" spc="0" normalizeH="0" baseline="0" noProof="0" dirty="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40" name="Text Placeholder 15">
            <a:extLst>
              <a:ext uri="{FF2B5EF4-FFF2-40B4-BE49-F238E27FC236}">
                <a16:creationId xmlns:a16="http://schemas.microsoft.com/office/drawing/2014/main" id="{49ECD493-2FB1-B1CD-E9D3-DAFF650AE076}"/>
              </a:ext>
            </a:extLst>
          </p:cNvPr>
          <p:cNvSpPr txBox="1">
            <a:spLocks/>
          </p:cNvSpPr>
          <p:nvPr/>
        </p:nvSpPr>
        <p:spPr>
          <a:xfrm>
            <a:off x="1027193" y="3833249"/>
            <a:ext cx="3621008" cy="423185"/>
          </a:xfrm>
          <a:prstGeom prst="rect">
            <a:avLst/>
          </a:prstGeom>
        </p:spPr>
        <p:txBody>
          <a:bodyPr/>
          <a:lstStyle>
            <a:lvl1pPr marL="228600" indent="-228600" algn="l" defTabSz="914400" rtl="0" eaLnBrk="1" latinLnBrk="0" hangingPunct="1">
              <a:lnSpc>
                <a:spcPct val="90000"/>
              </a:lnSpc>
              <a:spcBef>
                <a:spcPts val="1000"/>
              </a:spcBef>
              <a:buClr>
                <a:srgbClr val="F27228"/>
              </a:buClr>
              <a:buFont typeface="Arial" panose="020B0604020202020204" pitchFamily="34" charset="0"/>
              <a:buChar char="•"/>
              <a:defRPr sz="1600" kern="1200">
                <a:solidFill>
                  <a:srgbClr val="36365C"/>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2000" b="1" i="0" u="none" strike="noStrike" kern="1200" cap="none" spc="0" normalizeH="0" baseline="0" noProof="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(f) Issues </a:t>
            </a:r>
            <a:r>
              <a:rPr kumimoji="0" lang="en-US" sz="20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Escalation Path</a:t>
            </a:r>
          </a:p>
        </p:txBody>
      </p:sp>
      <p:graphicFrame>
        <p:nvGraphicFramePr>
          <p:cNvPr id="41" name="Diagram 40">
            <a:extLst>
              <a:ext uri="{FF2B5EF4-FFF2-40B4-BE49-F238E27FC236}">
                <a16:creationId xmlns:a16="http://schemas.microsoft.com/office/drawing/2014/main" id="{EFF9E520-0E0F-175F-63E8-98CBE8E75638}"/>
              </a:ext>
            </a:extLst>
          </p:cNvPr>
          <p:cNvGraphicFramePr/>
          <p:nvPr>
            <p:extLst>
              <p:ext uri="{D42A27DB-BD31-4B8C-83A1-F6EECF244321}">
                <p14:modId xmlns:p14="http://schemas.microsoft.com/office/powerpoint/2010/main" val="254542440"/>
              </p:ext>
            </p:extLst>
          </p:nvPr>
        </p:nvGraphicFramePr>
        <p:xfrm>
          <a:off x="2643080" y="4167858"/>
          <a:ext cx="6242687" cy="2228622"/>
        </p:xfrm>
        <a:graphic>
          <a:graphicData uri="http://schemas.openxmlformats.org/drawingml/2006/diagram">
            <dgm:relIds xmlns:dgm="http://schemas.openxmlformats.org/drawingml/2006/diagram" xmlns:r="http://schemas.openxmlformats.org/officeDocument/2006/relationships" r:dm="rId7" r:lo="rId8" r:qs="rId9" r:cs="rId10"/>
          </a:graphicData>
        </a:graphic>
      </p:graphicFrame>
    </p:spTree>
    <p:extLst>
      <p:ext uri="{BB962C8B-B14F-4D97-AF65-F5344CB8AC3E}">
        <p14:creationId xmlns:p14="http://schemas.microsoft.com/office/powerpoint/2010/main" val="346091075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C07E217F-0A14-B1C6-6CEA-264811DE9F48}"/>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18</a:t>
            </a:fld>
            <a:endParaRPr lang="en-US" dirty="0">
              <a:solidFill>
                <a:srgbClr val="034EA2"/>
              </a:solidFill>
            </a:endParaRPr>
          </a:p>
        </p:txBody>
      </p:sp>
      <p:grpSp>
        <p:nvGrpSpPr>
          <p:cNvPr id="3" name="Group 2">
            <a:extLst>
              <a:ext uri="{FF2B5EF4-FFF2-40B4-BE49-F238E27FC236}">
                <a16:creationId xmlns:a16="http://schemas.microsoft.com/office/drawing/2014/main" id="{2BA84FF4-09E1-1CF5-BB9B-3C712F2DBED5}"/>
              </a:ext>
            </a:extLst>
          </p:cNvPr>
          <p:cNvGrpSpPr/>
          <p:nvPr/>
        </p:nvGrpSpPr>
        <p:grpSpPr>
          <a:xfrm>
            <a:off x="479425" y="461520"/>
            <a:ext cx="8336802" cy="584775"/>
            <a:chOff x="479425" y="461520"/>
            <a:chExt cx="8336802" cy="584775"/>
          </a:xfrm>
        </p:grpSpPr>
        <p:sp>
          <p:nvSpPr>
            <p:cNvPr id="4" name="Round Diagonal Corner Rectangle 3">
              <a:extLst>
                <a:ext uri="{FF2B5EF4-FFF2-40B4-BE49-F238E27FC236}">
                  <a16:creationId xmlns:a16="http://schemas.microsoft.com/office/drawing/2014/main" id="{91C43C97-96A3-B70F-ED9D-E08AC2C209DF}"/>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5" name="TextBox 4">
              <a:extLst>
                <a:ext uri="{FF2B5EF4-FFF2-40B4-BE49-F238E27FC236}">
                  <a16:creationId xmlns:a16="http://schemas.microsoft.com/office/drawing/2014/main" id="{A6DB4022-1E40-3EC4-BCF4-D92BD80A7854}"/>
                </a:ext>
              </a:extLst>
            </p:cNvPr>
            <p:cNvSpPr txBox="1"/>
            <p:nvPr/>
          </p:nvSpPr>
          <p:spPr>
            <a:xfrm>
              <a:off x="536265" y="461520"/>
              <a:ext cx="8279962"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8. </a:t>
              </a:r>
              <a:r>
                <a:rPr kumimoji="0" lang="en-US" altLang="ja-JP" sz="32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Performance Metric Measurement</a:t>
              </a:r>
              <a:endParaRPr lang="en-US" sz="3200" b="1" dirty="0">
                <a:solidFill>
                  <a:srgbClr val="212967"/>
                </a:solidFill>
                <a:latin typeface="Segoe UI" panose="020B0502040204020203" pitchFamily="34" charset="0"/>
                <a:cs typeface="Segoe UI" panose="020B0502040204020203" pitchFamily="34" charset="0"/>
              </a:endParaRPr>
            </a:p>
          </p:txBody>
        </p:sp>
      </p:grpSp>
      <p:graphicFrame>
        <p:nvGraphicFramePr>
          <p:cNvPr id="6" name="Table 5">
            <a:extLst>
              <a:ext uri="{FF2B5EF4-FFF2-40B4-BE49-F238E27FC236}">
                <a16:creationId xmlns:a16="http://schemas.microsoft.com/office/drawing/2014/main" id="{4F032BE3-B6FE-6252-9D9A-A8D9FBE97628}"/>
              </a:ext>
            </a:extLst>
          </p:cNvPr>
          <p:cNvGraphicFramePr>
            <a:graphicFrameLocks noGrp="1"/>
          </p:cNvGraphicFramePr>
          <p:nvPr>
            <p:extLst>
              <p:ext uri="{D42A27DB-BD31-4B8C-83A1-F6EECF244321}">
                <p14:modId xmlns:p14="http://schemas.microsoft.com/office/powerpoint/2010/main" val="2675070268"/>
              </p:ext>
            </p:extLst>
          </p:nvPr>
        </p:nvGraphicFramePr>
        <p:xfrm>
          <a:off x="626165" y="1425343"/>
          <a:ext cx="10875929" cy="2152280"/>
        </p:xfrm>
        <a:graphic>
          <a:graphicData uri="http://schemas.openxmlformats.org/drawingml/2006/table">
            <a:tbl>
              <a:tblPr firstRow="1" bandRow="1"/>
              <a:tblGrid>
                <a:gridCol w="1749586">
                  <a:extLst>
                    <a:ext uri="{9D8B030D-6E8A-4147-A177-3AD203B41FA5}">
                      <a16:colId xmlns:a16="http://schemas.microsoft.com/office/drawing/2014/main" val="521077199"/>
                    </a:ext>
                  </a:extLst>
                </a:gridCol>
                <a:gridCol w="1683147">
                  <a:extLst>
                    <a:ext uri="{9D8B030D-6E8A-4147-A177-3AD203B41FA5}">
                      <a16:colId xmlns:a16="http://schemas.microsoft.com/office/drawing/2014/main" val="2200749904"/>
                    </a:ext>
                  </a:extLst>
                </a:gridCol>
                <a:gridCol w="3299854">
                  <a:extLst>
                    <a:ext uri="{9D8B030D-6E8A-4147-A177-3AD203B41FA5}">
                      <a16:colId xmlns:a16="http://schemas.microsoft.com/office/drawing/2014/main" val="3800181995"/>
                    </a:ext>
                  </a:extLst>
                </a:gridCol>
                <a:gridCol w="1294474">
                  <a:extLst>
                    <a:ext uri="{9D8B030D-6E8A-4147-A177-3AD203B41FA5}">
                      <a16:colId xmlns:a16="http://schemas.microsoft.com/office/drawing/2014/main" val="2125230083"/>
                    </a:ext>
                  </a:extLst>
                </a:gridCol>
                <a:gridCol w="1708251">
                  <a:extLst>
                    <a:ext uri="{9D8B030D-6E8A-4147-A177-3AD203B41FA5}">
                      <a16:colId xmlns:a16="http://schemas.microsoft.com/office/drawing/2014/main" val="2600987258"/>
                    </a:ext>
                  </a:extLst>
                </a:gridCol>
                <a:gridCol w="1140617">
                  <a:extLst>
                    <a:ext uri="{9D8B030D-6E8A-4147-A177-3AD203B41FA5}">
                      <a16:colId xmlns:a16="http://schemas.microsoft.com/office/drawing/2014/main" val="2434694504"/>
                    </a:ext>
                  </a:extLst>
                </a:gridCol>
              </a:tblGrid>
              <a:tr h="527236">
                <a:tc rowSpan="2">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a:r>
                        <a:rPr lang="en-US" sz="1500" dirty="0"/>
                        <a:t>Category</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0B3C2"/>
                    </a:solidFill>
                  </a:tcPr>
                </a:tc>
                <a:tc rowSpan="2">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a:r>
                        <a:rPr lang="en-US" sz="1500" dirty="0"/>
                        <a:t>Metric</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0B3C2"/>
                    </a:solidFill>
                  </a:tcPr>
                </a:tc>
                <a:tc rowSpan="2">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a:r>
                        <a:rPr lang="en-US" sz="1500" dirty="0"/>
                        <a:t>Formula</a:t>
                      </a:r>
                    </a:p>
                  </a:txBody>
                  <a:tcPr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0B3C2"/>
                    </a:solidFill>
                  </a:tcPr>
                </a:tc>
                <a:tc gridSpan="3">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a:r>
                        <a:rPr lang="en-US" sz="1500" dirty="0"/>
                        <a:t>Norm</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0B3C2"/>
                    </a:solidFill>
                  </a:tcPr>
                </a:tc>
                <a:tc hMerge="1">
                  <a:txBody>
                    <a:bodyPr/>
                    <a:lstStyle/>
                    <a:p>
                      <a:endParaRPr lang="en-US" dirty="0"/>
                    </a:p>
                  </a:txBody>
                  <a:tcPr/>
                </a:tc>
                <a:tc hMerge="1">
                  <a:txBody>
                    <a:bodyPr/>
                    <a:lstStyle/>
                    <a:p>
                      <a:endParaRPr lang="en-US" dirty="0"/>
                    </a:p>
                  </a:txBody>
                  <a:tcPr/>
                </a:tc>
                <a:extLst>
                  <a:ext uri="{0D108BD9-81ED-4DB2-BD59-A6C34878D82A}">
                    <a16:rowId xmlns:a16="http://schemas.microsoft.com/office/drawing/2014/main" val="2759651529"/>
                  </a:ext>
                </a:extLst>
              </a:tr>
              <a:tr h="520014">
                <a:tc vMerge="1">
                  <a:txBody>
                    <a:bodyPr/>
                    <a:lstStyle/>
                    <a:p>
                      <a:endParaRPr lang="en-US" dirty="0"/>
                    </a:p>
                  </a:txBody>
                  <a:tcPr/>
                </a:tc>
                <a:tc vMerge="1">
                  <a:txBody>
                    <a:bodyPr/>
                    <a:lstStyle/>
                    <a:p>
                      <a:endParaRPr lang="en-US" dirty="0"/>
                    </a:p>
                  </a:txBody>
                  <a:tcPr/>
                </a:tc>
                <a:tc vMerge="1">
                  <a:txBody>
                    <a:bodyPr/>
                    <a:lstStyle/>
                    <a:p>
                      <a:endParaRPr lang="en-US" dirty="0"/>
                    </a:p>
                  </a:txBody>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algn="ctr"/>
                      <a:r>
                        <a:rPr lang="en-US" dirty="0"/>
                        <a:t>Red</a:t>
                      </a:r>
                    </a:p>
                  </a:txBody>
                  <a:tcPr>
                    <a:lnL w="381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algn="ctr"/>
                      <a:r>
                        <a:rPr lang="en-US" dirty="0"/>
                        <a:t>Neutral</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algn="ctr"/>
                      <a:r>
                        <a:rPr lang="en-US" dirty="0"/>
                        <a:t>Green</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extLst>
                  <a:ext uri="{0D108BD9-81ED-4DB2-BD59-A6C34878D82A}">
                    <a16:rowId xmlns:a16="http://schemas.microsoft.com/office/drawing/2014/main" val="2922474401"/>
                  </a:ext>
                </a:extLst>
              </a:tr>
              <a:tr h="110503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500" dirty="0"/>
                        <a:t>Performance</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500" dirty="0"/>
                        <a:t>Development productivity based on LG CNS standard</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500" dirty="0"/>
                        <a:t>LG CNS Standard Productivity/</a:t>
                      </a:r>
                    </a:p>
                    <a:p>
                      <a:r>
                        <a:rPr lang="en-US" sz="1500" dirty="0"/>
                        <a:t>FPT Actual Productivity (MD/Function)</a:t>
                      </a:r>
                    </a:p>
                  </a:txBody>
                  <a:tcPr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algn="ctr"/>
                      <a:r>
                        <a:rPr lang="en-US" sz="1500" kern="1200" dirty="0">
                          <a:solidFill>
                            <a:schemeClr val="dk1"/>
                          </a:solidFill>
                          <a:effectLst/>
                          <a:latin typeface="+mn-lt"/>
                          <a:ea typeface="+mn-ea"/>
                          <a:cs typeface="+mn-cs"/>
                        </a:rPr>
                        <a:t>&gt; 70%</a:t>
                      </a:r>
                      <a:endParaRPr lang="en-US" sz="1500" dirty="0"/>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algn="ctr"/>
                      <a:r>
                        <a:rPr lang="en-US" sz="1500" kern="1200" dirty="0">
                          <a:solidFill>
                            <a:schemeClr val="dk1"/>
                          </a:solidFill>
                          <a:effectLst/>
                          <a:latin typeface="+mn-lt"/>
                          <a:ea typeface="+mn-ea"/>
                          <a:cs typeface="+mn-cs"/>
                        </a:rPr>
                        <a:t>75%</a:t>
                      </a:r>
                      <a:endParaRPr lang="en-US" sz="1500" dirty="0"/>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algn="ctr"/>
                      <a:r>
                        <a:rPr lang="en-US" sz="1500" kern="1200" dirty="0">
                          <a:solidFill>
                            <a:schemeClr val="dk1"/>
                          </a:solidFill>
                          <a:effectLst/>
                          <a:latin typeface="+mn-lt"/>
                          <a:ea typeface="+mn-ea"/>
                          <a:cs typeface="+mn-cs"/>
                        </a:rPr>
                        <a:t>&lt; 80%</a:t>
                      </a:r>
                    </a:p>
                  </a:txBody>
                  <a:tcPr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4002089105"/>
                  </a:ext>
                </a:extLst>
              </a:tr>
            </a:tbl>
          </a:graphicData>
        </a:graphic>
      </p:graphicFrame>
      <p:sp>
        <p:nvSpPr>
          <p:cNvPr id="7" name="TextBox 6">
            <a:extLst>
              <a:ext uri="{FF2B5EF4-FFF2-40B4-BE49-F238E27FC236}">
                <a16:creationId xmlns:a16="http://schemas.microsoft.com/office/drawing/2014/main" id="{155C1E9B-A934-6CB8-DA3B-A8A38607B51A}"/>
              </a:ext>
            </a:extLst>
          </p:cNvPr>
          <p:cNvSpPr txBox="1"/>
          <p:nvPr/>
        </p:nvSpPr>
        <p:spPr>
          <a:xfrm>
            <a:off x="626165" y="3956671"/>
            <a:ext cx="10786477" cy="553998"/>
          </a:xfrm>
          <a:prstGeom prst="rect">
            <a:avLst/>
          </a:prstGeom>
          <a:solidFill>
            <a:srgbClr val="E7E6E6"/>
          </a:solidFill>
        </p:spPr>
        <p:txBody>
          <a:bodyPr wrap="square" rtlCol="0">
            <a:spAutoFit/>
          </a:bodyPr>
          <a:lstStyle>
            <a:defPPr>
              <a:defRPr lang="en-US"/>
            </a:defPPr>
            <a:lvl1pPr marL="285750" indent="-285750">
              <a:buFont typeface="Wingdings" panose="05000000000000000000" pitchFamily="2" charset="2"/>
              <a:buChar char="q"/>
              <a:defRPr sz="1500"/>
            </a:lvl1pPr>
          </a:lstStyle>
          <a:p>
            <a:pPr>
              <a:buClrTx/>
              <a:defRPr/>
            </a:pPr>
            <a:r>
              <a:rPr lang="en-US" kern="1200" dirty="0">
                <a:solidFill>
                  <a:srgbClr val="36365C"/>
                </a:solidFill>
                <a:latin typeface="Segoe UI"/>
                <a:ea typeface="+mn-ea"/>
                <a:cs typeface="+mn-cs"/>
              </a:rPr>
              <a:t>The norm is referenced from similar projects with the same </a:t>
            </a:r>
            <a:r>
              <a:rPr lang="en-US" b="1" kern="1200" dirty="0">
                <a:solidFill>
                  <a:srgbClr val="36365C"/>
                </a:solidFill>
                <a:latin typeface="Segoe UI"/>
                <a:ea typeface="+mn-ea"/>
                <a:cs typeface="+mn-cs"/>
              </a:rPr>
              <a:t>Technology,</a:t>
            </a:r>
            <a:r>
              <a:rPr lang="en-US" kern="1200" dirty="0">
                <a:solidFill>
                  <a:srgbClr val="36365C"/>
                </a:solidFill>
                <a:latin typeface="Segoe UI"/>
                <a:ea typeface="+mn-ea"/>
                <a:cs typeface="+mn-cs"/>
              </a:rPr>
              <a:t> </a:t>
            </a:r>
            <a:r>
              <a:rPr lang="en-US" b="1" kern="1200" dirty="0">
                <a:solidFill>
                  <a:srgbClr val="36365C"/>
                </a:solidFill>
                <a:latin typeface="Segoe UI"/>
                <a:ea typeface="+mn-ea"/>
                <a:cs typeface="+mn-cs"/>
              </a:rPr>
              <a:t>Development Scope and Business Domain.</a:t>
            </a:r>
            <a:endParaRPr lang="en-US" kern="1200" dirty="0">
              <a:solidFill>
                <a:srgbClr val="36365C"/>
              </a:solidFill>
              <a:latin typeface="Segoe UI"/>
              <a:ea typeface="+mn-ea"/>
              <a:cs typeface="+mn-cs"/>
            </a:endParaRPr>
          </a:p>
          <a:p>
            <a:pPr>
              <a:buClrTx/>
            </a:pPr>
            <a:r>
              <a:rPr lang="en-US" kern="1200" dirty="0">
                <a:solidFill>
                  <a:srgbClr val="36365C"/>
                </a:solidFill>
                <a:latin typeface="Segoe UI"/>
                <a:ea typeface="+mn-ea"/>
                <a:cs typeface="+mn-cs"/>
              </a:rPr>
              <a:t>Productivity is calculated monthly based on the</a:t>
            </a:r>
            <a:r>
              <a:rPr lang="en-US" b="1" kern="1200" dirty="0">
                <a:solidFill>
                  <a:srgbClr val="36365C"/>
                </a:solidFill>
                <a:latin typeface="Segoe UI"/>
                <a:ea typeface="+mn-ea"/>
                <a:cs typeface="+mn-cs"/>
              </a:rPr>
              <a:t> template </a:t>
            </a:r>
            <a:r>
              <a:rPr lang="en-US" kern="1200" dirty="0">
                <a:solidFill>
                  <a:srgbClr val="36365C"/>
                </a:solidFill>
                <a:latin typeface="Segoe UI"/>
                <a:ea typeface="+mn-ea"/>
                <a:cs typeface="+mn-cs"/>
              </a:rPr>
              <a:t>agreed upon with LG CNS.</a:t>
            </a:r>
          </a:p>
        </p:txBody>
      </p:sp>
      <p:graphicFrame>
        <p:nvGraphicFramePr>
          <p:cNvPr id="8" name="Object 7">
            <a:extLst>
              <a:ext uri="{FF2B5EF4-FFF2-40B4-BE49-F238E27FC236}">
                <a16:creationId xmlns:a16="http://schemas.microsoft.com/office/drawing/2014/main" id="{1CD27DAD-3A3D-274E-B8F5-AEA2F5553498}"/>
              </a:ext>
            </a:extLst>
          </p:cNvPr>
          <p:cNvGraphicFramePr>
            <a:graphicFrameLocks noChangeAspect="1"/>
          </p:cNvGraphicFramePr>
          <p:nvPr>
            <p:extLst>
              <p:ext uri="{D42A27DB-BD31-4B8C-83A1-F6EECF244321}">
                <p14:modId xmlns:p14="http://schemas.microsoft.com/office/powerpoint/2010/main" val="3458913474"/>
              </p:ext>
            </p:extLst>
          </p:nvPr>
        </p:nvGraphicFramePr>
        <p:xfrm>
          <a:off x="9937044" y="4823057"/>
          <a:ext cx="965200" cy="609600"/>
        </p:xfrm>
        <a:graphic>
          <a:graphicData uri="http://schemas.openxmlformats.org/presentationml/2006/ole">
            <mc:AlternateContent xmlns:mc="http://schemas.openxmlformats.org/markup-compatibility/2006">
              <mc:Choice xmlns:v="urn:schemas-microsoft-com:vml" Requires="v">
                <p:oleObj name="Worksheet" showAsIcon="1" r:id="rId2" imgW="965200" imgH="609600" progId="Excel.Sheet.12">
                  <p:embed/>
                </p:oleObj>
              </mc:Choice>
              <mc:Fallback>
                <p:oleObj name="Worksheet" showAsIcon="1" r:id="rId2" imgW="965200" imgH="609600" progId="Excel.Sheet.12">
                  <p:embed/>
                  <p:pic>
                    <p:nvPicPr>
                      <p:cNvPr id="8" name="Object 7">
                        <a:extLst>
                          <a:ext uri="{FF2B5EF4-FFF2-40B4-BE49-F238E27FC236}">
                            <a16:creationId xmlns:a16="http://schemas.microsoft.com/office/drawing/2014/main" id="{1CD27DAD-3A3D-274E-B8F5-AEA2F5553498}"/>
                          </a:ext>
                        </a:extLst>
                      </p:cNvPr>
                      <p:cNvPicPr/>
                      <p:nvPr/>
                    </p:nvPicPr>
                    <p:blipFill>
                      <a:blip r:embed="rId3"/>
                      <a:stretch>
                        <a:fillRect/>
                      </a:stretch>
                    </p:blipFill>
                    <p:spPr>
                      <a:xfrm>
                        <a:off x="9937044" y="4823057"/>
                        <a:ext cx="965200" cy="609600"/>
                      </a:xfrm>
                      <a:prstGeom prst="rect">
                        <a:avLst/>
                      </a:prstGeom>
                    </p:spPr>
                  </p:pic>
                </p:oleObj>
              </mc:Fallback>
            </mc:AlternateContent>
          </a:graphicData>
        </a:graphic>
      </p:graphicFrame>
    </p:spTree>
    <p:extLst>
      <p:ext uri="{BB962C8B-B14F-4D97-AF65-F5344CB8AC3E}">
        <p14:creationId xmlns:p14="http://schemas.microsoft.com/office/powerpoint/2010/main" val="22930155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DD4B5FD5-8C3E-737B-B75D-51BF99CFED04}"/>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19</a:t>
            </a:fld>
            <a:endParaRPr lang="en-US" dirty="0">
              <a:solidFill>
                <a:srgbClr val="034EA2"/>
              </a:solidFill>
            </a:endParaRPr>
          </a:p>
        </p:txBody>
      </p:sp>
      <p:grpSp>
        <p:nvGrpSpPr>
          <p:cNvPr id="4" name="Group 3">
            <a:extLst>
              <a:ext uri="{FF2B5EF4-FFF2-40B4-BE49-F238E27FC236}">
                <a16:creationId xmlns:a16="http://schemas.microsoft.com/office/drawing/2014/main" id="{6F9CF892-8B0F-4726-2A85-48466EF45695}"/>
              </a:ext>
            </a:extLst>
          </p:cNvPr>
          <p:cNvGrpSpPr/>
          <p:nvPr/>
        </p:nvGrpSpPr>
        <p:grpSpPr>
          <a:xfrm>
            <a:off x="479425" y="461520"/>
            <a:ext cx="7409352" cy="584775"/>
            <a:chOff x="479425" y="461520"/>
            <a:chExt cx="7409352" cy="584775"/>
          </a:xfrm>
        </p:grpSpPr>
        <p:sp>
          <p:nvSpPr>
            <p:cNvPr id="5" name="Round Diagonal Corner Rectangle 4">
              <a:extLst>
                <a:ext uri="{FF2B5EF4-FFF2-40B4-BE49-F238E27FC236}">
                  <a16:creationId xmlns:a16="http://schemas.microsoft.com/office/drawing/2014/main" id="{627EF2BF-2380-179E-F918-60F5E8E7964F}"/>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B31FFEF4-1439-95ED-DA27-818DE023D446}"/>
                </a:ext>
              </a:extLst>
            </p:cNvPr>
            <p:cNvSpPr txBox="1"/>
            <p:nvPr/>
          </p:nvSpPr>
          <p:spPr>
            <a:xfrm>
              <a:off x="536264" y="461520"/>
              <a:ext cx="7352513"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9. Constraint And Assumptions</a:t>
              </a:r>
            </a:p>
          </p:txBody>
        </p:sp>
      </p:grpSp>
      <p:graphicFrame>
        <p:nvGraphicFramePr>
          <p:cNvPr id="3" name="Table 2">
            <a:extLst>
              <a:ext uri="{FF2B5EF4-FFF2-40B4-BE49-F238E27FC236}">
                <a16:creationId xmlns:a16="http://schemas.microsoft.com/office/drawing/2014/main" id="{A547CF83-6FBB-273A-9391-FF0C65E1CE00}"/>
              </a:ext>
            </a:extLst>
          </p:cNvPr>
          <p:cNvGraphicFramePr>
            <a:graphicFrameLocks noGrp="1"/>
          </p:cNvGraphicFramePr>
          <p:nvPr>
            <p:extLst>
              <p:ext uri="{D42A27DB-BD31-4B8C-83A1-F6EECF244321}">
                <p14:modId xmlns:p14="http://schemas.microsoft.com/office/powerpoint/2010/main" val="1543199021"/>
              </p:ext>
            </p:extLst>
          </p:nvPr>
        </p:nvGraphicFramePr>
        <p:xfrm>
          <a:off x="644204" y="1731614"/>
          <a:ext cx="10916515" cy="2427960"/>
        </p:xfrm>
        <a:graphic>
          <a:graphicData uri="http://schemas.openxmlformats.org/drawingml/2006/table">
            <a:tbl>
              <a:tblPr firstRow="1" bandRow="1"/>
              <a:tblGrid>
                <a:gridCol w="546500">
                  <a:extLst>
                    <a:ext uri="{9D8B030D-6E8A-4147-A177-3AD203B41FA5}">
                      <a16:colId xmlns:a16="http://schemas.microsoft.com/office/drawing/2014/main" val="20000"/>
                    </a:ext>
                  </a:extLst>
                </a:gridCol>
                <a:gridCol w="7753612">
                  <a:extLst>
                    <a:ext uri="{9D8B030D-6E8A-4147-A177-3AD203B41FA5}">
                      <a16:colId xmlns:a16="http://schemas.microsoft.com/office/drawing/2014/main" val="20001"/>
                    </a:ext>
                  </a:extLst>
                </a:gridCol>
                <a:gridCol w="1337799">
                  <a:extLst>
                    <a:ext uri="{9D8B030D-6E8A-4147-A177-3AD203B41FA5}">
                      <a16:colId xmlns:a16="http://schemas.microsoft.com/office/drawing/2014/main" val="20002"/>
                    </a:ext>
                  </a:extLst>
                </a:gridCol>
                <a:gridCol w="1278604">
                  <a:extLst>
                    <a:ext uri="{9D8B030D-6E8A-4147-A177-3AD203B41FA5}">
                      <a16:colId xmlns:a16="http://schemas.microsoft.com/office/drawing/2014/main" val="1245536545"/>
                    </a:ext>
                  </a:extLst>
                </a:gridCol>
              </a:tblGrid>
              <a:tr h="286352">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fontAlgn="b"/>
                      <a:r>
                        <a:rPr lang="en-US" altLang="ja-JP" sz="1200" u="none" strike="noStrike" dirty="0">
                          <a:effectLst/>
                          <a:latin typeface="Tahoma" panose="020B0604030504040204" pitchFamily="34" charset="0"/>
                          <a:ea typeface="Tahoma" panose="020B0604030504040204" pitchFamily="34" charset="0"/>
                          <a:cs typeface="Tahoma" panose="020B0604030504040204" pitchFamily="34" charset="0"/>
                        </a:rPr>
                        <a:t>#</a:t>
                      </a:r>
                      <a:endParaRPr lang="en-US" altLang="ja-JP" sz="1200" b="1" i="0" u="none" strike="noStrike" dirty="0">
                        <a:solidFill>
                          <a:srgbClr val="002060"/>
                        </a:solidFill>
                        <a:effectLst/>
                        <a:latin typeface="Tahoma" panose="020B0604030504040204" pitchFamily="34" charset="0"/>
                        <a:ea typeface="Tahoma" panose="020B0604030504040204" pitchFamily="34" charset="0"/>
                        <a:cs typeface="Tahoma" panose="020B0604030504040204" pitchFamily="34" charset="0"/>
                      </a:endParaRPr>
                    </a:p>
                  </a:txBody>
                  <a:tcPr marL="45720" marR="45720" anchor="b">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0B3C2"/>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fontAlgn="b"/>
                      <a:r>
                        <a:rPr lang="en-US" altLang="ja-JP" sz="1200" u="none" strike="noStrike" kern="1200" dirty="0">
                          <a:effectLst/>
                          <a:latin typeface="Tahoma" panose="020B0604030504040204" pitchFamily="34" charset="0"/>
                          <a:ea typeface="Tahoma" panose="020B0604030504040204" pitchFamily="34" charset="0"/>
                          <a:cs typeface="Tahoma" panose="020B0604030504040204" pitchFamily="34" charset="0"/>
                        </a:rPr>
                        <a:t>Description</a:t>
                      </a:r>
                      <a:endParaRPr lang="en-US" sz="1200" b="1" u="none" strike="noStrike" kern="1200" dirty="0">
                        <a:solidFill>
                          <a:srgbClr val="002060"/>
                        </a:solidFill>
                        <a:effectLst/>
                        <a:latin typeface="Tahoma" panose="020B0604030504040204" pitchFamily="34" charset="0"/>
                        <a:ea typeface="Tahoma" panose="020B0604030504040204" pitchFamily="34" charset="0"/>
                        <a:cs typeface="Tahoma" panose="020B0604030504040204" pitchFamily="34" charset="0"/>
                      </a:endParaRPr>
                    </a:p>
                  </a:txBody>
                  <a:tcPr marL="45720" marR="45720" anchor="b">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0B3C2"/>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fontAlgn="b"/>
                      <a:r>
                        <a:rPr lang="en-US" sz="1200" u="none" strike="noStrike" dirty="0">
                          <a:effectLst/>
                          <a:latin typeface="Tahoma" panose="020B0604030504040204" pitchFamily="34" charset="0"/>
                          <a:ea typeface="Tahoma" panose="020B0604030504040204" pitchFamily="34" charset="0"/>
                          <a:cs typeface="Tahoma" panose="020B0604030504040204" pitchFamily="34" charset="0"/>
                        </a:rPr>
                        <a:t>Type</a:t>
                      </a:r>
                      <a:endParaRPr lang="en-US" sz="1200" b="1" i="0" u="none" strike="noStrike" dirty="0">
                        <a:solidFill>
                          <a:srgbClr val="002060"/>
                        </a:solidFill>
                        <a:effectLst/>
                        <a:latin typeface="Tahoma" panose="020B0604030504040204" pitchFamily="34" charset="0"/>
                        <a:ea typeface="Tahoma" panose="020B0604030504040204" pitchFamily="34" charset="0"/>
                        <a:cs typeface="Tahoma" panose="020B0604030504040204" pitchFamily="34" charset="0"/>
                      </a:endParaRPr>
                    </a:p>
                  </a:txBody>
                  <a:tcPr marL="45720" marR="45720" anchor="b">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0B3C2"/>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fontAlgn="b"/>
                      <a:r>
                        <a:rPr lang="en-US" sz="1200" u="none" strike="noStrike" dirty="0">
                          <a:effectLst/>
                          <a:latin typeface="Tahoma" panose="020B0604030504040204" pitchFamily="34" charset="0"/>
                          <a:ea typeface="Tahoma" panose="020B0604030504040204" pitchFamily="34" charset="0"/>
                          <a:cs typeface="Tahoma" panose="020B0604030504040204" pitchFamily="34" charset="0"/>
                        </a:rPr>
                        <a:t>PIC</a:t>
                      </a:r>
                      <a:endParaRPr lang="en-US" sz="1200" b="1" i="0" u="none" strike="noStrike" dirty="0">
                        <a:solidFill>
                          <a:srgbClr val="002060"/>
                        </a:solidFill>
                        <a:effectLst/>
                        <a:latin typeface="Tahoma" panose="020B0604030504040204" pitchFamily="34" charset="0"/>
                        <a:ea typeface="Tahoma" panose="020B0604030504040204" pitchFamily="34" charset="0"/>
                        <a:cs typeface="Tahoma" panose="020B0604030504040204" pitchFamily="34" charset="0"/>
                      </a:endParaRPr>
                    </a:p>
                  </a:txBody>
                  <a:tcPr marL="45720" marR="45720" anchor="b">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0B3C2"/>
                    </a:solidFill>
                  </a:tcPr>
                </a:tc>
                <a:extLst>
                  <a:ext uri="{0D108BD9-81ED-4DB2-BD59-A6C34878D82A}">
                    <a16:rowId xmlns:a16="http://schemas.microsoft.com/office/drawing/2014/main" val="10000"/>
                  </a:ext>
                </a:extLst>
              </a:tr>
              <a:tr h="899357">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algn="ctr" fontAlgn="b"/>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1</a:t>
                      </a:r>
                      <a:endParaRPr kumimoji="1" lang="en-US" altLang="ja-JP" sz="120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marL="45720" marR="4572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b" latinLnBrk="0" hangingPunct="1">
                        <a:lnSpc>
                          <a:spcPct val="150000"/>
                        </a:lnSpc>
                        <a:spcBef>
                          <a:spcPts val="0"/>
                        </a:spcBef>
                        <a:spcAft>
                          <a:spcPts val="0"/>
                        </a:spcAft>
                        <a:buClrTx/>
                        <a:buSzTx/>
                        <a:buFontTx/>
                        <a:buNone/>
                        <a:tabLst/>
                        <a:defRPr/>
                      </a:pPr>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LG CNS has to provide environment construction procedure manual for the target development/testing system. It also include software related to the target development system, third parties (including licenses if necessary)</a:t>
                      </a:r>
                      <a:endParaRPr kumimoji="1" lang="en-US" altLang="ja-JP" sz="120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marL="45720" marR="4572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algn="ctr" fontAlgn="b">
                        <a:lnSpc>
                          <a:spcPct val="150000"/>
                        </a:lnSpc>
                      </a:pPr>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Environment</a:t>
                      </a:r>
                      <a:endParaRPr kumimoji="1" lang="en-US" sz="120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marL="45720" marR="4572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ctr" defTabSz="914400" rtl="0" eaLnBrk="1" fontAlgn="b" latinLnBrk="0" hangingPunct="1">
                        <a:lnSpc>
                          <a:spcPct val="150000"/>
                        </a:lnSpc>
                        <a:spcBef>
                          <a:spcPts val="0"/>
                        </a:spcBef>
                        <a:spcAft>
                          <a:spcPts val="0"/>
                        </a:spcAft>
                        <a:buClrTx/>
                        <a:buSzTx/>
                        <a:buFontTx/>
                        <a:buNone/>
                        <a:tabLst/>
                        <a:defRPr/>
                      </a:pPr>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LG CNS</a:t>
                      </a:r>
                      <a:endParaRPr kumimoji="1" lang="en-US" altLang="ja-JP" sz="120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marL="45720" marR="45720"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3"/>
                  </a:ext>
                </a:extLst>
              </a:tr>
              <a:tr h="915598">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algn="ctr" fontAlgn="b"/>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2</a:t>
                      </a:r>
                      <a:endParaRPr kumimoji="1" lang="en-US" altLang="ja-JP" sz="120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marL="45720" marR="4572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285750" marR="0" lvl="0" indent="-285750" algn="l" defTabSz="914400" rtl="0" eaLnBrk="1" fontAlgn="auto" latinLnBrk="0" hangingPunct="1">
                        <a:lnSpc>
                          <a:spcPct val="150000"/>
                        </a:lnSpc>
                        <a:spcBef>
                          <a:spcPts val="0"/>
                        </a:spcBef>
                        <a:spcAft>
                          <a:spcPts val="0"/>
                        </a:spcAft>
                        <a:buClrTx/>
                        <a:buSzTx/>
                        <a:buFontTx/>
                        <a:buChar char="-"/>
                        <a:tabLst/>
                        <a:defRPr/>
                      </a:pPr>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For high priority questions, LG CNS feedback time is within 1 day</a:t>
                      </a:r>
                    </a:p>
                    <a:p>
                      <a:pPr marL="285750" marR="0" lvl="0" indent="-285750" algn="l" defTabSz="914400" rtl="0" eaLnBrk="1" fontAlgn="auto" latinLnBrk="0" hangingPunct="1">
                        <a:lnSpc>
                          <a:spcPct val="150000"/>
                        </a:lnSpc>
                        <a:spcBef>
                          <a:spcPts val="0"/>
                        </a:spcBef>
                        <a:spcAft>
                          <a:spcPts val="0"/>
                        </a:spcAft>
                        <a:buClrTx/>
                        <a:buSzTx/>
                        <a:buFontTx/>
                        <a:buChar char="-"/>
                        <a:tabLst/>
                        <a:defRPr/>
                      </a:pPr>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For medium / low priority questions, LG CNS feedback time is within 2 days</a:t>
                      </a:r>
                    </a:p>
                    <a:p>
                      <a:pPr marL="285750" marR="0" lvl="0" indent="-285750" algn="l" defTabSz="914400" rtl="0" eaLnBrk="1" fontAlgn="auto" latinLnBrk="0" hangingPunct="1">
                        <a:lnSpc>
                          <a:spcPct val="150000"/>
                        </a:lnSpc>
                        <a:spcBef>
                          <a:spcPts val="0"/>
                        </a:spcBef>
                        <a:spcAft>
                          <a:spcPts val="0"/>
                        </a:spcAft>
                        <a:buClrTx/>
                        <a:buSzTx/>
                        <a:buFontTx/>
                        <a:buChar char="-"/>
                        <a:tabLst/>
                        <a:defRPr/>
                      </a:pPr>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In case of urgent need or need further investigation, the deadline feedback will be discussed</a:t>
                      </a:r>
                      <a:endParaRPr kumimoji="1" lang="en-US" altLang="ja-JP" sz="120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marL="45720" marR="4572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algn="ctr" fontAlgn="b">
                        <a:lnSpc>
                          <a:spcPct val="150000"/>
                        </a:lnSpc>
                      </a:pPr>
                      <a:r>
                        <a:rPr kumimoji="1" lang="en-US" sz="1200" kern="1200" dirty="0">
                          <a:latin typeface="Tahoma" panose="020B0604030504040204" pitchFamily="34" charset="0"/>
                          <a:ea typeface="Tahoma" panose="020B0604030504040204" pitchFamily="34" charset="0"/>
                          <a:cs typeface="Tahoma" panose="020B0604030504040204" pitchFamily="34" charset="0"/>
                        </a:rPr>
                        <a:t>Communication</a:t>
                      </a:r>
                      <a:endParaRPr kumimoji="1" lang="en-US" sz="120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marL="45720" marR="4572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ctr" defTabSz="914400" rtl="0" eaLnBrk="1" fontAlgn="b" latinLnBrk="0" hangingPunct="1">
                        <a:lnSpc>
                          <a:spcPct val="150000"/>
                        </a:lnSpc>
                        <a:spcBef>
                          <a:spcPts val="0"/>
                        </a:spcBef>
                        <a:spcAft>
                          <a:spcPts val="0"/>
                        </a:spcAft>
                        <a:buClrTx/>
                        <a:buSzTx/>
                        <a:buFontTx/>
                        <a:buNone/>
                        <a:tabLst/>
                        <a:defRPr/>
                      </a:pPr>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LG CNS</a:t>
                      </a:r>
                      <a:endParaRPr kumimoji="1" lang="en-US" altLang="ja-JP" sz="120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marL="45720" marR="4572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extLst>
                  <a:ext uri="{0D108BD9-81ED-4DB2-BD59-A6C34878D82A}">
                    <a16:rowId xmlns:a16="http://schemas.microsoft.com/office/drawing/2014/main" val="10005"/>
                  </a:ext>
                </a:extLst>
              </a:tr>
              <a:tr h="326653">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algn="ctr" fontAlgn="b"/>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3</a:t>
                      </a:r>
                      <a:endParaRPr kumimoji="1" lang="en-US" altLang="ja-JP" sz="120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marL="45720" marR="4572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algn="l" fontAlgn="b">
                        <a:lnSpc>
                          <a:spcPct val="150000"/>
                        </a:lnSpc>
                      </a:pPr>
                      <a:r>
                        <a:rPr kumimoji="1" lang="en-US" sz="1200" kern="1200" dirty="0">
                          <a:latin typeface="Tahoma" panose="020B0604030504040204" pitchFamily="34" charset="0"/>
                          <a:ea typeface="Tahoma" panose="020B0604030504040204" pitchFamily="34" charset="0"/>
                          <a:cs typeface="Tahoma" panose="020B0604030504040204" pitchFamily="34" charset="0"/>
                        </a:rPr>
                        <a:t>All change request (if any) must be approved before development starting.</a:t>
                      </a:r>
                      <a:endParaRPr kumimoji="1" lang="en-US" sz="120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marL="45720" marR="4572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algn="ctr" fontAlgn="b">
                        <a:lnSpc>
                          <a:spcPct val="150000"/>
                        </a:lnSpc>
                      </a:pPr>
                      <a:r>
                        <a:rPr kumimoji="1" lang="en-US" sz="1200" kern="1200" dirty="0">
                          <a:latin typeface="Tahoma" panose="020B0604030504040204" pitchFamily="34" charset="0"/>
                          <a:ea typeface="Tahoma" panose="020B0604030504040204" pitchFamily="34" charset="0"/>
                          <a:cs typeface="Tahoma" panose="020B0604030504040204" pitchFamily="34" charset="0"/>
                        </a:rPr>
                        <a:t>Scope</a:t>
                      </a:r>
                      <a:endParaRPr kumimoji="1" lang="en-US" sz="120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marL="45720" marR="4572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ctr" defTabSz="914400" rtl="0" eaLnBrk="1" fontAlgn="b" latinLnBrk="0" hangingPunct="1">
                        <a:lnSpc>
                          <a:spcPct val="150000"/>
                        </a:lnSpc>
                        <a:spcBef>
                          <a:spcPts val="0"/>
                        </a:spcBef>
                        <a:spcAft>
                          <a:spcPts val="0"/>
                        </a:spcAft>
                        <a:buClrTx/>
                        <a:buSzTx/>
                        <a:buFontTx/>
                        <a:buNone/>
                        <a:tabLst/>
                        <a:defRPr/>
                      </a:pPr>
                      <a:r>
                        <a:rPr kumimoji="1" lang="en-US" sz="1200" kern="1200" dirty="0">
                          <a:latin typeface="Tahoma" panose="020B0604030504040204" pitchFamily="34" charset="0"/>
                          <a:ea typeface="Tahoma" panose="020B0604030504040204" pitchFamily="34" charset="0"/>
                          <a:cs typeface="Tahoma" panose="020B0604030504040204" pitchFamily="34" charset="0"/>
                        </a:rPr>
                        <a:t>FPT/LG CNS</a:t>
                      </a:r>
                      <a:endParaRPr kumimoji="1" lang="en-US" altLang="ja-JP" sz="1200" kern="1200" dirty="0">
                        <a:solidFill>
                          <a:srgbClr val="002060"/>
                        </a:solidFill>
                        <a:latin typeface="Tahoma" panose="020B0604030504040204" pitchFamily="34" charset="0"/>
                        <a:ea typeface="Tahoma" panose="020B0604030504040204" pitchFamily="34" charset="0"/>
                        <a:cs typeface="Tahoma" panose="020B0604030504040204" pitchFamily="34" charset="0"/>
                      </a:endParaRPr>
                    </a:p>
                  </a:txBody>
                  <a:tcPr marL="45720" marR="45720"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6"/>
                  </a:ext>
                </a:extLst>
              </a:tr>
            </a:tbl>
          </a:graphicData>
        </a:graphic>
      </p:graphicFrame>
      <p:sp>
        <p:nvSpPr>
          <p:cNvPr id="7" name="Text Placeholder 15">
            <a:extLst>
              <a:ext uri="{FF2B5EF4-FFF2-40B4-BE49-F238E27FC236}">
                <a16:creationId xmlns:a16="http://schemas.microsoft.com/office/drawing/2014/main" id="{B84847AA-E9FD-916C-455D-40DC04817FB9}"/>
              </a:ext>
            </a:extLst>
          </p:cNvPr>
          <p:cNvSpPr txBox="1">
            <a:spLocks/>
          </p:cNvSpPr>
          <p:nvPr/>
        </p:nvSpPr>
        <p:spPr>
          <a:xfrm>
            <a:off x="631280" y="1046295"/>
            <a:ext cx="10489064" cy="894388"/>
          </a:xfrm>
          <a:prstGeom prst="rect">
            <a:avLst/>
          </a:prstGeom>
        </p:spPr>
        <p:txBody>
          <a:bodyPr/>
          <a:lstStyle>
            <a:defPPr marR="0" lvl="0" algn="l" rtl="0">
              <a:lnSpc>
                <a:spcPct val="100000"/>
              </a:lnSpc>
              <a:spcBef>
                <a:spcPts val="0"/>
              </a:spcBef>
              <a:spcAft>
                <a:spcPts val="0"/>
              </a:spcAft>
            </a:defPPr>
            <a:lvl1pPr marL="0" indent="0" defTabSz="914400" eaLnBrk="1" fontAlgn="auto" latinLnBrk="0" hangingPunct="1">
              <a:lnSpc>
                <a:spcPct val="90000"/>
              </a:lnSpc>
              <a:spcBef>
                <a:spcPts val="1000"/>
              </a:spcBef>
              <a:buClrTx/>
              <a:buSzTx/>
              <a:buFont typeface="Arial" panose="020B0604020202020204" pitchFamily="34" charset="0"/>
              <a:buNone/>
              <a:tabLst/>
              <a:defRPr kumimoji="0" sz="1800" b="1" kern="1200" spc="0" normalizeH="0" baseline="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defRPr>
            </a:lvl1pPr>
            <a:lvl2pPr marL="685800" indent="-228600" defTabSz="914400" eaLnBrk="1" latinLnBrk="0" hangingPunct="1">
              <a:lnSpc>
                <a:spcPct val="90000"/>
              </a:lnSpc>
              <a:spcBef>
                <a:spcPts val="500"/>
              </a:spcBef>
              <a:buClr>
                <a:srgbClr val="F27228"/>
              </a:buClr>
              <a:buFont typeface="Arial" panose="020B0604020202020204" pitchFamily="34" charset="0"/>
              <a:buChar char="•"/>
              <a:defRPr kern="1200">
                <a:solidFill>
                  <a:srgbClr val="36365C"/>
                </a:solidFill>
                <a:latin typeface="Tahoma" panose="020B0604030504040204" pitchFamily="34" charset="0"/>
                <a:ea typeface="Tahoma" panose="020B0604030504040204" pitchFamily="34" charset="0"/>
                <a:cs typeface="Tahoma" panose="020B0604030504040204" pitchFamily="34" charset="0"/>
              </a:defRPr>
            </a:lvl2pPr>
            <a:lvl3pPr marL="1143000" indent="-228600" defTabSz="914400" eaLnBrk="1" latinLnBrk="0" hangingPunct="1">
              <a:lnSpc>
                <a:spcPct val="90000"/>
              </a:lnSpc>
              <a:spcBef>
                <a:spcPts val="500"/>
              </a:spcBef>
              <a:buClr>
                <a:srgbClr val="F27228"/>
              </a:buClr>
              <a:buFont typeface="Arial" panose="020B0604020202020204" pitchFamily="34" charset="0"/>
              <a:buChar char="•"/>
              <a:defRPr kern="1200">
                <a:solidFill>
                  <a:srgbClr val="36365C"/>
                </a:solidFill>
                <a:latin typeface="Tahoma" panose="020B0604030504040204" pitchFamily="34" charset="0"/>
                <a:ea typeface="Tahoma" panose="020B0604030504040204" pitchFamily="34" charset="0"/>
                <a:cs typeface="Tahoma" panose="020B0604030504040204" pitchFamily="34" charset="0"/>
              </a:defRPr>
            </a:lvl3pPr>
            <a:lvl4pPr marL="1600200" indent="-228600" defTabSz="914400" eaLnBrk="1" latinLnBrk="0" hangingPunct="1">
              <a:lnSpc>
                <a:spcPct val="90000"/>
              </a:lnSpc>
              <a:spcBef>
                <a:spcPts val="500"/>
              </a:spcBef>
              <a:buClr>
                <a:srgbClr val="F27228"/>
              </a:buClr>
              <a:buFont typeface="Arial" panose="020B0604020202020204" pitchFamily="34" charset="0"/>
              <a:buChar char="•"/>
              <a:defRPr kern="1200">
                <a:solidFill>
                  <a:srgbClr val="36365C"/>
                </a:solidFill>
                <a:latin typeface="Tahoma" panose="020B0604030504040204" pitchFamily="34" charset="0"/>
                <a:ea typeface="Tahoma" panose="020B0604030504040204" pitchFamily="34" charset="0"/>
                <a:cs typeface="Tahoma" panose="020B0604030504040204" pitchFamily="34" charset="0"/>
              </a:defRPr>
            </a:lvl4pPr>
            <a:lvl5pPr marL="2057400" indent="-228600" defTabSz="914400" eaLnBrk="1" latinLnBrk="0" hangingPunct="1">
              <a:lnSpc>
                <a:spcPct val="90000"/>
              </a:lnSpc>
              <a:spcBef>
                <a:spcPts val="500"/>
              </a:spcBef>
              <a:buClr>
                <a:srgbClr val="F27228"/>
              </a:buClr>
              <a:buFont typeface="Arial" panose="020B0604020202020204" pitchFamily="34" charset="0"/>
              <a:buChar char="•"/>
              <a:defRPr kern="1200">
                <a:solidFill>
                  <a:srgbClr val="36365C"/>
                </a:solidFill>
                <a:latin typeface="Tahoma" panose="020B0604030504040204" pitchFamily="34" charset="0"/>
                <a:ea typeface="Tahoma" panose="020B0604030504040204" pitchFamily="34" charset="0"/>
                <a:cs typeface="Tahoma" panose="020B0604030504040204" pitchFamily="34" charset="0"/>
              </a:defRPr>
            </a:lvl5pPr>
            <a:lvl6pPr marL="25146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defTabSz="91440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Dependency, Constraint</a:t>
            </a:r>
          </a:p>
          <a:p>
            <a:r>
              <a:rPr lang="en-US" sz="1400" b="0" dirty="0"/>
              <a:t>The following dependency/constraint can be changed depending the information of response or answer from LG CNS</a:t>
            </a:r>
          </a:p>
        </p:txBody>
      </p:sp>
      <p:sp>
        <p:nvSpPr>
          <p:cNvPr id="8" name="Text Placeholder 15">
            <a:extLst>
              <a:ext uri="{FF2B5EF4-FFF2-40B4-BE49-F238E27FC236}">
                <a16:creationId xmlns:a16="http://schemas.microsoft.com/office/drawing/2014/main" id="{F18BDC32-F663-2234-5418-BF4C4C48B03F}"/>
              </a:ext>
            </a:extLst>
          </p:cNvPr>
          <p:cNvSpPr txBox="1">
            <a:spLocks/>
          </p:cNvSpPr>
          <p:nvPr/>
        </p:nvSpPr>
        <p:spPr>
          <a:xfrm>
            <a:off x="657131" y="4228290"/>
            <a:ext cx="10463213" cy="410106"/>
          </a:xfrm>
          <a:prstGeom prst="rect">
            <a:avLst/>
          </a:prstGeom>
        </p:spPr>
        <p:txBody>
          <a:bodyPr/>
          <a:lstStyle>
            <a:lvl1pPr marL="228600" indent="-228600" algn="l" defTabSz="914400" rtl="0" eaLnBrk="1" latinLnBrk="0" hangingPunct="1">
              <a:lnSpc>
                <a:spcPct val="90000"/>
              </a:lnSpc>
              <a:spcBef>
                <a:spcPts val="1000"/>
              </a:spcBef>
              <a:buClr>
                <a:srgbClr val="F27228"/>
              </a:buClr>
              <a:buFont typeface="Arial" panose="020B0604020202020204" pitchFamily="34" charset="0"/>
              <a:buChar char="•"/>
              <a:defRPr sz="1600" kern="1200">
                <a:solidFill>
                  <a:srgbClr val="36365C"/>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Assumptions</a:t>
            </a:r>
          </a:p>
        </p:txBody>
      </p:sp>
      <p:graphicFrame>
        <p:nvGraphicFramePr>
          <p:cNvPr id="9" name="Table 8">
            <a:extLst>
              <a:ext uri="{FF2B5EF4-FFF2-40B4-BE49-F238E27FC236}">
                <a16:creationId xmlns:a16="http://schemas.microsoft.com/office/drawing/2014/main" id="{3DC140A7-1207-30CE-B7C1-696E819F91B9}"/>
              </a:ext>
            </a:extLst>
          </p:cNvPr>
          <p:cNvGraphicFramePr>
            <a:graphicFrameLocks noGrp="1"/>
          </p:cNvGraphicFramePr>
          <p:nvPr>
            <p:extLst>
              <p:ext uri="{D42A27DB-BD31-4B8C-83A1-F6EECF244321}">
                <p14:modId xmlns:p14="http://schemas.microsoft.com/office/powerpoint/2010/main" val="3883694396"/>
              </p:ext>
            </p:extLst>
          </p:nvPr>
        </p:nvGraphicFramePr>
        <p:xfrm>
          <a:off x="670056" y="4559079"/>
          <a:ext cx="10890663" cy="1948935"/>
        </p:xfrm>
        <a:graphic>
          <a:graphicData uri="http://schemas.openxmlformats.org/drawingml/2006/table">
            <a:tbl>
              <a:tblPr firstRow="1" bandRow="1"/>
              <a:tblGrid>
                <a:gridCol w="468263">
                  <a:extLst>
                    <a:ext uri="{9D8B030D-6E8A-4147-A177-3AD203B41FA5}">
                      <a16:colId xmlns:a16="http://schemas.microsoft.com/office/drawing/2014/main" val="20000"/>
                    </a:ext>
                  </a:extLst>
                </a:gridCol>
                <a:gridCol w="10422400">
                  <a:extLst>
                    <a:ext uri="{9D8B030D-6E8A-4147-A177-3AD203B41FA5}">
                      <a16:colId xmlns:a16="http://schemas.microsoft.com/office/drawing/2014/main" val="20002"/>
                    </a:ext>
                  </a:extLst>
                </a:gridCol>
              </a:tblGrid>
              <a:tr h="281002">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fontAlgn="b"/>
                      <a:r>
                        <a:rPr lang="en-US" altLang="ja-JP" sz="1200" u="none" strike="noStrike" dirty="0">
                          <a:effectLst/>
                          <a:latin typeface="Tahoma" panose="020B0604030504040204" pitchFamily="34" charset="0"/>
                          <a:ea typeface="Tahoma" panose="020B0604030504040204" pitchFamily="34" charset="0"/>
                          <a:cs typeface="Tahoma" panose="020B0604030504040204" pitchFamily="34" charset="0"/>
                        </a:rPr>
                        <a:t>#</a:t>
                      </a:r>
                      <a:endParaRPr lang="en-US" altLang="ja-JP" sz="1200" b="1" i="0" u="none" strike="noStrike"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0B3C2"/>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fontAlgn="b"/>
                      <a:r>
                        <a:rPr lang="en-US" sz="1200" u="none" strike="noStrike" dirty="0">
                          <a:effectLst/>
                          <a:latin typeface="Tahoma" panose="020B0604030504040204" pitchFamily="34" charset="0"/>
                          <a:ea typeface="Tahoma" panose="020B0604030504040204" pitchFamily="34" charset="0"/>
                          <a:cs typeface="Tahoma" panose="020B0604030504040204" pitchFamily="34" charset="0"/>
                        </a:rPr>
                        <a:t>Description</a:t>
                      </a:r>
                      <a:endParaRPr lang="en-US" sz="1200" b="1" i="0" u="none" strike="noStrike" dirty="0">
                        <a:solidFill>
                          <a:schemeClr val="tx1"/>
                        </a:solidFill>
                        <a:effectLst/>
                        <a:latin typeface="Tahoma" panose="020B0604030504040204" pitchFamily="34" charset="0"/>
                        <a:ea typeface="Tahoma" panose="020B0604030504040204" pitchFamily="34" charset="0"/>
                        <a:cs typeface="Tahoma" panose="020B0604030504040204" pitchFamily="34" charset="0"/>
                      </a:endParaRPr>
                    </a:p>
                  </a:txBody>
                  <a:tcPr marL="9525" marR="9525" marT="9525" marB="0"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30B3C2"/>
                    </a:solidFill>
                  </a:tcPr>
                </a:tc>
                <a:extLst>
                  <a:ext uri="{0D108BD9-81ED-4DB2-BD59-A6C34878D82A}">
                    <a16:rowId xmlns:a16="http://schemas.microsoft.com/office/drawing/2014/main" val="10000"/>
                  </a:ext>
                </a:extLst>
              </a:tr>
              <a:tr h="29845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1" lang="en-US" sz="1200" kern="1200" dirty="0">
                          <a:latin typeface="Tahoma" panose="020B0604030504040204" pitchFamily="34" charset="0"/>
                          <a:ea typeface="Tahoma" panose="020B0604030504040204" pitchFamily="34" charset="0"/>
                          <a:cs typeface="Tahoma" panose="020B0604030504040204" pitchFamily="34" charset="0"/>
                        </a:rPr>
                        <a:t>1</a:t>
                      </a:r>
                      <a:endParaRPr kumimoji="1" lang="en-US" sz="1200" b="0" kern="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LG CNS</a:t>
                      </a:r>
                      <a:r>
                        <a:rPr kumimoji="1" lang="en-US" sz="1200" kern="1200" dirty="0">
                          <a:latin typeface="Tahoma" panose="020B0604030504040204" pitchFamily="34" charset="0"/>
                          <a:ea typeface="Tahoma" panose="020B0604030504040204" pitchFamily="34" charset="0"/>
                          <a:cs typeface="Tahoma" panose="020B0604030504040204" pitchFamily="34" charset="0"/>
                        </a:rPr>
                        <a:t> provide development environment for FPT</a:t>
                      </a:r>
                      <a:endParaRPr kumimoji="1" lang="en-US" sz="1200" b="0" kern="1200" baseline="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506829822"/>
                  </a:ext>
                </a:extLst>
              </a:tr>
              <a:tr h="29845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1" lang="en-US" sz="1200" kern="1200" dirty="0">
                          <a:latin typeface="Tahoma" panose="020B0604030504040204" pitchFamily="34" charset="0"/>
                          <a:ea typeface="Tahoma" panose="020B0604030504040204" pitchFamily="34" charset="0"/>
                          <a:cs typeface="Tahoma" panose="020B0604030504040204" pitchFamily="34" charset="0"/>
                        </a:rPr>
                        <a:t>2</a:t>
                      </a:r>
                      <a:endParaRPr kumimoji="1" lang="en-US" sz="1200" b="0" kern="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Non-functional requirements (performance, security) are out of scope of FPT</a:t>
                      </a:r>
                      <a:endParaRPr kumimoji="1" lang="en-US" altLang="ja-JP" sz="1200" b="0" kern="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extLst>
                  <a:ext uri="{0D108BD9-81ED-4DB2-BD59-A6C34878D82A}">
                    <a16:rowId xmlns:a16="http://schemas.microsoft.com/office/drawing/2014/main" val="10003"/>
                  </a:ext>
                </a:extLst>
              </a:tr>
              <a:tr h="29845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1" lang="en-US" sz="1200" b="0" kern="1200" dirty="0">
                          <a:solidFill>
                            <a:schemeClr val="dk1"/>
                          </a:solidFill>
                          <a:latin typeface="Tahoma" panose="020B0604030504040204" pitchFamily="34" charset="0"/>
                          <a:ea typeface="Tahoma" panose="020B0604030504040204" pitchFamily="34" charset="0"/>
                          <a:cs typeface="Tahoma" panose="020B0604030504040204" pitchFamily="34" charset="0"/>
                        </a:rPr>
                        <a:t>3</a:t>
                      </a:r>
                      <a:endParaRPr kumimoji="1" lang="en-US" sz="1200" b="0" kern="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The Integration phase will be implemented by LG CNS, FPT only support fix bugs for LG CNS</a:t>
                      </a:r>
                      <a:endParaRPr kumimoji="1" lang="en-US" altLang="ja-JP" sz="1200" b="0" kern="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755115594"/>
                  </a:ext>
                </a:extLst>
              </a:tr>
              <a:tr h="275166">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1" lang="en-US" sz="1200" b="0" kern="1200" dirty="0">
                          <a:solidFill>
                            <a:schemeClr val="dk1"/>
                          </a:solidFill>
                          <a:latin typeface="Tahoma" panose="020B0604030504040204" pitchFamily="34" charset="0"/>
                          <a:ea typeface="Tahoma" panose="020B0604030504040204" pitchFamily="34" charset="0"/>
                          <a:cs typeface="Tahoma" panose="020B0604030504040204" pitchFamily="34" charset="0"/>
                        </a:rPr>
                        <a:t>4</a:t>
                      </a:r>
                      <a:endParaRPr kumimoji="1" lang="en-US" sz="1200" b="0" kern="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Architecture Design/Design/Testcases are out of scope of FPT</a:t>
                      </a:r>
                      <a:endParaRPr kumimoji="1" lang="en-US" altLang="ja-JP" sz="1200" b="0" kern="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DAF1F4"/>
                    </a:solidFill>
                  </a:tcPr>
                </a:tc>
                <a:extLst>
                  <a:ext uri="{0D108BD9-81ED-4DB2-BD59-A6C34878D82A}">
                    <a16:rowId xmlns:a16="http://schemas.microsoft.com/office/drawing/2014/main" val="2264536248"/>
                  </a:ext>
                </a:extLst>
              </a:tr>
              <a:tr h="497417">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ctr" defTabSz="9144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1" lang="en-US" sz="1200" b="0" kern="1200" dirty="0">
                          <a:solidFill>
                            <a:schemeClr val="dk1"/>
                          </a:solidFill>
                          <a:latin typeface="Tahoma" panose="020B0604030504040204" pitchFamily="34" charset="0"/>
                          <a:ea typeface="Tahoma" panose="020B0604030504040204" pitchFamily="34" charset="0"/>
                          <a:cs typeface="Tahoma" panose="020B0604030504040204" pitchFamily="34" charset="0"/>
                        </a:rPr>
                        <a:t>5</a:t>
                      </a:r>
                      <a:endParaRPr kumimoji="1" lang="en-US" sz="1200" b="0" kern="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FPT will confirm with LG CNS for library/plugin/widget/3rd free license that use for development.</a:t>
                      </a:r>
                      <a:r>
                        <a:rPr kumimoji="1" lang="en-US" altLang="ja-JP" sz="1200" kern="1200" baseline="0" dirty="0">
                          <a:latin typeface="Tahoma" panose="020B0604030504040204" pitchFamily="34" charset="0"/>
                          <a:ea typeface="Tahoma" panose="020B0604030504040204" pitchFamily="34" charset="0"/>
                          <a:cs typeface="Tahoma" panose="020B0604030504040204" pitchFamily="34" charset="0"/>
                        </a:rPr>
                        <a:t> </a:t>
                      </a:r>
                      <a:r>
                        <a:rPr kumimoji="1" lang="en-US" altLang="ja-JP" sz="1200" kern="1200" dirty="0">
                          <a:latin typeface="Tahoma" panose="020B0604030504040204" pitchFamily="34" charset="0"/>
                          <a:ea typeface="Tahoma" panose="020B0604030504040204" pitchFamily="34" charset="0"/>
                          <a:cs typeface="Tahoma" panose="020B0604030504040204" pitchFamily="34" charset="0"/>
                        </a:rPr>
                        <a:t>LG CNS will provide &amp; paid cost for library/plugin/widget/3rd (if any)</a:t>
                      </a:r>
                      <a:endParaRPr kumimoji="1" lang="en-US" altLang="ja-JP" sz="1200" b="0" kern="1200" dirty="0">
                        <a:solidFill>
                          <a:schemeClr val="tx1"/>
                        </a:solidFill>
                        <a:latin typeface="Tahoma" panose="020B0604030504040204" pitchFamily="34" charset="0"/>
                        <a:ea typeface="Tahoma" panose="020B0604030504040204" pitchFamily="34" charset="0"/>
                        <a:cs typeface="Tahoma" panose="020B0604030504040204" pitchFamily="34" charset="0"/>
                      </a:endParaRPr>
                    </a:p>
                  </a:txBody>
                  <a:tcP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556008237"/>
                  </a:ext>
                </a:extLst>
              </a:tr>
            </a:tbl>
          </a:graphicData>
        </a:graphic>
      </p:graphicFrame>
    </p:spTree>
    <p:extLst>
      <p:ext uri="{BB962C8B-B14F-4D97-AF65-F5344CB8AC3E}">
        <p14:creationId xmlns:p14="http://schemas.microsoft.com/office/powerpoint/2010/main" val="417819065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TextBox 14">
            <a:extLst>
              <a:ext uri="{FF2B5EF4-FFF2-40B4-BE49-F238E27FC236}">
                <a16:creationId xmlns:a16="http://schemas.microsoft.com/office/drawing/2014/main" id="{669910C6-62E2-052E-9BE3-80F2E9DA3862}"/>
              </a:ext>
            </a:extLst>
          </p:cNvPr>
          <p:cNvSpPr txBox="1"/>
          <p:nvPr/>
        </p:nvSpPr>
        <p:spPr>
          <a:xfrm>
            <a:off x="479424" y="1113206"/>
            <a:ext cx="4084029" cy="276999"/>
          </a:xfrm>
          <a:prstGeom prst="rect">
            <a:avLst/>
          </a:prstGeom>
          <a:noFill/>
        </p:spPr>
        <p:txBody>
          <a:bodyPr wrap="square" rtlCol="0">
            <a:spAutoFit/>
          </a:bodyPr>
          <a:lstStyle>
            <a:defPPr marR="0" lvl="0" algn="l" rtl="0">
              <a:lnSpc>
                <a:spcPct val="100000"/>
              </a:lnSpc>
              <a:spcBef>
                <a:spcPts val="0"/>
              </a:spcBef>
              <a:spcAft>
                <a:spcPts val="0"/>
              </a:spcAft>
              <a:defRPr/>
            </a:defPPr>
            <a:lvl1pPr>
              <a:spcBef>
                <a:spcPts val="1200"/>
              </a:spcBef>
              <a:spcAft>
                <a:spcPts val="300"/>
              </a:spcAft>
              <a:buClr>
                <a:srgbClr val="365F91"/>
              </a:buClr>
              <a:defRPr sz="2800" b="1" kern="1600" cap="all">
                <a:solidFill>
                  <a:srgbClr val="002060"/>
                </a:solidFill>
                <a:effectLst/>
                <a:latin typeface="BR Omega VN" pitchFamily="2" charset="77"/>
                <a:ea typeface="Times New Roman" panose="02020603050405020304" pitchFamily="18" charset="0"/>
                <a:cs typeface="Calibri" panose="020F0502020204030204" pitchFamily="34" charset="0"/>
              </a:defRPr>
            </a:lvl1pPr>
            <a:lvl2pPr>
              <a:defRPr sz="1800" b="1">
                <a:effectLst/>
                <a:latin typeface="BR Omega VN" pitchFamily="2" charset="77"/>
                <a:ea typeface="Times New Roman" panose="02020603050405020304" pitchFamily="18" charset="0"/>
                <a:cs typeface="Times New Roman" panose="02020603050405020304" pitchFamily="18" charset="0"/>
              </a:defRPr>
            </a:lvl2pPr>
          </a:lstStyle>
          <a:p>
            <a:r>
              <a:rPr lang="en-US" sz="1200" b="0" cap="none" dirty="0">
                <a:solidFill>
                  <a:schemeClr val="tx1">
                    <a:lumMod val="85000"/>
                    <a:lumOff val="15000"/>
                  </a:schemeClr>
                </a:solidFill>
                <a:effectLst/>
                <a:latin typeface="Segoe UI Symbol" panose="020B0502040204020203" pitchFamily="34" charset="0"/>
                <a:ea typeface="Segoe UI Symbol" panose="020B0502040204020203" pitchFamily="34" charset="0"/>
                <a:cs typeface="Arial" panose="020B0604020202020204" pitchFamily="34" charset="0"/>
              </a:rPr>
              <a:t>Risks identified as of today are listed below:</a:t>
            </a:r>
            <a:endParaRPr lang="en-VN" sz="1200" b="0" cap="none" dirty="0">
              <a:solidFill>
                <a:schemeClr val="tx1">
                  <a:lumMod val="85000"/>
                  <a:lumOff val="15000"/>
                </a:schemeClr>
              </a:solidFill>
              <a:effectLst/>
              <a:latin typeface="Segoe UI Symbol" panose="020B0502040204020203" pitchFamily="34" charset="0"/>
              <a:ea typeface="Segoe UI Symbol" panose="020B0502040204020203" pitchFamily="34" charset="0"/>
            </a:endParaRPr>
          </a:p>
        </p:txBody>
      </p:sp>
      <p:graphicFrame>
        <p:nvGraphicFramePr>
          <p:cNvPr id="3" name="Table 2">
            <a:extLst>
              <a:ext uri="{FF2B5EF4-FFF2-40B4-BE49-F238E27FC236}">
                <a16:creationId xmlns:a16="http://schemas.microsoft.com/office/drawing/2014/main" id="{E02E6A6B-2046-58B6-4D68-56A4EBF9C992}"/>
              </a:ext>
            </a:extLst>
          </p:cNvPr>
          <p:cNvGraphicFramePr>
            <a:graphicFrameLocks noGrp="1"/>
          </p:cNvGraphicFramePr>
          <p:nvPr>
            <p:extLst>
              <p:ext uri="{D42A27DB-BD31-4B8C-83A1-F6EECF244321}">
                <p14:modId xmlns:p14="http://schemas.microsoft.com/office/powerpoint/2010/main" val="4136873745"/>
              </p:ext>
            </p:extLst>
          </p:nvPr>
        </p:nvGraphicFramePr>
        <p:xfrm>
          <a:off x="479424" y="1539538"/>
          <a:ext cx="11233151" cy="4871511"/>
        </p:xfrm>
        <a:graphic>
          <a:graphicData uri="http://schemas.openxmlformats.org/drawingml/2006/table">
            <a:tbl>
              <a:tblPr firstRow="1" firstCol="1" lastRow="1" lastCol="1" bandRow="1" bandCol="1">
                <a:tableStyleId>{2D5ABB26-0587-4C30-8999-92F81FD0307C}</a:tableStyleId>
              </a:tblPr>
              <a:tblGrid>
                <a:gridCol w="374429">
                  <a:extLst>
                    <a:ext uri="{9D8B030D-6E8A-4147-A177-3AD203B41FA5}">
                      <a16:colId xmlns:a16="http://schemas.microsoft.com/office/drawing/2014/main" val="2338610726"/>
                    </a:ext>
                  </a:extLst>
                </a:gridCol>
                <a:gridCol w="1929223">
                  <a:extLst>
                    <a:ext uri="{9D8B030D-6E8A-4147-A177-3AD203B41FA5}">
                      <a16:colId xmlns:a16="http://schemas.microsoft.com/office/drawing/2014/main" val="3803517249"/>
                    </a:ext>
                  </a:extLst>
                </a:gridCol>
                <a:gridCol w="1929223">
                  <a:extLst>
                    <a:ext uri="{9D8B030D-6E8A-4147-A177-3AD203B41FA5}">
                      <a16:colId xmlns:a16="http://schemas.microsoft.com/office/drawing/2014/main" val="2338869436"/>
                    </a:ext>
                  </a:extLst>
                </a:gridCol>
                <a:gridCol w="909568">
                  <a:extLst>
                    <a:ext uri="{9D8B030D-6E8A-4147-A177-3AD203B41FA5}">
                      <a16:colId xmlns:a16="http://schemas.microsoft.com/office/drawing/2014/main" val="2659513053"/>
                    </a:ext>
                  </a:extLst>
                </a:gridCol>
                <a:gridCol w="801511">
                  <a:extLst>
                    <a:ext uri="{9D8B030D-6E8A-4147-A177-3AD203B41FA5}">
                      <a16:colId xmlns:a16="http://schemas.microsoft.com/office/drawing/2014/main" val="726433585"/>
                    </a:ext>
                  </a:extLst>
                </a:gridCol>
                <a:gridCol w="4096433">
                  <a:extLst>
                    <a:ext uri="{9D8B030D-6E8A-4147-A177-3AD203B41FA5}">
                      <a16:colId xmlns:a16="http://schemas.microsoft.com/office/drawing/2014/main" val="680405714"/>
                    </a:ext>
                  </a:extLst>
                </a:gridCol>
                <a:gridCol w="1192764">
                  <a:extLst>
                    <a:ext uri="{9D8B030D-6E8A-4147-A177-3AD203B41FA5}">
                      <a16:colId xmlns:a16="http://schemas.microsoft.com/office/drawing/2014/main" val="1088222447"/>
                    </a:ext>
                  </a:extLst>
                </a:gridCol>
              </a:tblGrid>
              <a:tr h="426547">
                <a:tc>
                  <a:txBody>
                    <a:bodyPr/>
                    <a:lstStyle/>
                    <a:p>
                      <a:pPr algn="ctr"/>
                      <a:r>
                        <a:rPr lang="en-US" sz="1000" b="1" dirty="0">
                          <a:solidFill>
                            <a:schemeClr val="bg1"/>
                          </a:solidFill>
                          <a:latin typeface="Segoe UI Symbol" panose="020B0502040204020203" pitchFamily="34" charset="0"/>
                          <a:ea typeface="Segoe UI Symbol" panose="020B0502040204020203" pitchFamily="34" charset="0"/>
                          <a:cs typeface="Segoe UI" panose="020B0502040204020203" pitchFamily="34" charset="0"/>
                        </a:rPr>
                        <a:t>#</a:t>
                      </a:r>
                      <a:endParaRPr lang="en-VN" sz="1000" dirty="0">
                        <a:solidFill>
                          <a:schemeClr val="bg1"/>
                        </a:solidFill>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rgbClr val="32B2C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32B2C2"/>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b="1" i="0" u="none" strike="noStrike" cap="none" noProof="0" dirty="0">
                          <a:solidFill>
                            <a:schemeClr val="bg1"/>
                          </a:solidFill>
                          <a:latin typeface="Segoe UI Symbol" panose="020B0502040204020203" pitchFamily="34" charset="0"/>
                          <a:ea typeface="Segoe UI Symbol" panose="020B0502040204020203" pitchFamily="34" charset="0"/>
                          <a:cs typeface="Segoe UI" panose="020B0502040204020203" pitchFamily="34" charset="0"/>
                          <a:sym typeface="Arial"/>
                        </a:rPr>
                        <a:t>Category</a:t>
                      </a:r>
                      <a:endParaRPr lang="en-US" sz="1000" b="1" i="0" u="none" strike="noStrike" cap="none" dirty="0">
                        <a:solidFill>
                          <a:schemeClr val="bg1"/>
                        </a:solidFill>
                        <a:latin typeface="Segoe UI Symbol" panose="020B0502040204020203" pitchFamily="34" charset="0"/>
                        <a:ea typeface="Segoe UI Symbol" panose="020B0502040204020203" pitchFamily="34" charset="0"/>
                        <a:cs typeface="Segoe UI" panose="020B0502040204020203" pitchFamily="34" charset="0"/>
                        <a:sym typeface="Arial"/>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32B2C2"/>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b="1" dirty="0">
                          <a:solidFill>
                            <a:schemeClr val="bg1"/>
                          </a:solidFill>
                          <a:latin typeface="Segoe UI Symbol" panose="020B0502040204020203" pitchFamily="34" charset="0"/>
                          <a:ea typeface="Segoe UI Symbol" panose="020B0502040204020203" pitchFamily="34" charset="0"/>
                          <a:cs typeface="Segoe UI" panose="020B0502040204020203" pitchFamily="34" charset="0"/>
                        </a:rPr>
                        <a:t>Risk</a:t>
                      </a:r>
                      <a:endParaRPr lang="en-US" sz="1000" dirty="0">
                        <a:solidFill>
                          <a:schemeClr val="bg1"/>
                        </a:solidFill>
                        <a:latin typeface="Segoe UI Symbol" panose="020B0502040204020203" pitchFamily="34" charset="0"/>
                        <a:ea typeface="Segoe UI Symbol" panose="020B0502040204020203" pitchFamily="34"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32B2C2"/>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sz="1000" b="1" dirty="0">
                          <a:solidFill>
                            <a:schemeClr val="bg1"/>
                          </a:solidFill>
                          <a:latin typeface="Segoe UI Symbol" panose="020B0502040204020203" pitchFamily="34" charset="0"/>
                          <a:ea typeface="Segoe UI Symbol" panose="020B0502040204020203" pitchFamily="34" charset="0"/>
                          <a:cs typeface="Segoe UI" panose="020B0502040204020203" pitchFamily="34" charset="0"/>
                        </a:rPr>
                        <a:t>Probability</a:t>
                      </a:r>
                      <a:endParaRPr lang="en-US" sz="1000" dirty="0">
                        <a:solidFill>
                          <a:schemeClr val="bg1"/>
                        </a:solidFill>
                        <a:latin typeface="Segoe UI Symbol" panose="020B0502040204020203" pitchFamily="34" charset="0"/>
                        <a:ea typeface="Segoe UI Symbol" panose="020B0502040204020203" pitchFamily="34"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32B2C2"/>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algn="ctr"/>
                      <a:r>
                        <a:rPr lang="en-US" sz="1000" b="1" dirty="0">
                          <a:solidFill>
                            <a:schemeClr val="bg1"/>
                          </a:solidFill>
                          <a:latin typeface="Segoe UI Symbol" panose="020B0502040204020203" pitchFamily="34" charset="0"/>
                          <a:ea typeface="Segoe UI Symbol" panose="020B0502040204020203" pitchFamily="34" charset="0"/>
                          <a:cs typeface="Segoe UI" panose="020B0502040204020203" pitchFamily="34" charset="0"/>
                        </a:rPr>
                        <a:t>Impact</a:t>
                      </a:r>
                      <a:endParaRPr lang="en-VN" sz="1000" b="1" dirty="0">
                        <a:solidFill>
                          <a:schemeClr val="bg1"/>
                        </a:solidFill>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32B2C2"/>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algn="ctr"/>
                      <a:r>
                        <a:rPr lang="en-US" sz="1000" b="1" dirty="0">
                          <a:solidFill>
                            <a:schemeClr val="bg1"/>
                          </a:solidFill>
                          <a:latin typeface="Segoe UI Symbol" panose="020B0502040204020203" pitchFamily="34" charset="0"/>
                          <a:ea typeface="Segoe UI Symbol" panose="020B0502040204020203" pitchFamily="34" charset="0"/>
                          <a:cs typeface="Segoe UI" panose="020B0502040204020203" pitchFamily="34" charset="0"/>
                        </a:rPr>
                        <a:t>Mitigation/ Contingency</a:t>
                      </a:r>
                      <a:endParaRPr lang="en-VN" sz="1000" b="1" dirty="0">
                        <a:solidFill>
                          <a:schemeClr val="bg1"/>
                        </a:solidFill>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rgbClr val="32B2C2"/>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algn="ctr"/>
                      <a:r>
                        <a:rPr lang="en-US" sz="1000" b="1" dirty="0">
                          <a:solidFill>
                            <a:schemeClr val="bg1"/>
                          </a:solidFill>
                          <a:effectLst/>
                          <a:latin typeface="Segoe UI Symbol" panose="020B0502040204020203" pitchFamily="34" charset="0"/>
                          <a:ea typeface="Segoe UI Symbol" panose="020B0502040204020203" pitchFamily="34" charset="0"/>
                          <a:cs typeface="Segoe UI" panose="020B0502040204020203" pitchFamily="34" charset="0"/>
                        </a:rPr>
                        <a:t>Owner</a:t>
                      </a:r>
                      <a:endParaRPr lang="en-VN" sz="1000" b="1" dirty="0">
                        <a:solidFill>
                          <a:schemeClr val="bg1"/>
                        </a:solidFill>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rgbClr val="32B2C2"/>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extLst>
                  <a:ext uri="{0D108BD9-81ED-4DB2-BD59-A6C34878D82A}">
                    <a16:rowId xmlns:a16="http://schemas.microsoft.com/office/drawing/2014/main" val="686566311"/>
                  </a:ext>
                </a:extLst>
              </a:tr>
              <a:tr h="3000501">
                <a:tc>
                  <a:txBody>
                    <a:bodyPr/>
                    <a:lstStyle/>
                    <a:p>
                      <a:pPr algn="ctr"/>
                      <a:r>
                        <a:rPr lang="en-US" sz="1000" b="1" dirty="0">
                          <a:solidFill>
                            <a:schemeClr val="bg1"/>
                          </a:solidFill>
                          <a:latin typeface="Segoe UI Symbol" panose="020B0502040204020203" pitchFamily="34" charset="0"/>
                          <a:ea typeface="Segoe UI Symbol" panose="020B0502040204020203" pitchFamily="34" charset="0"/>
                          <a:cs typeface="Segoe UI" panose="020B0502040204020203" pitchFamily="34" charset="0"/>
                        </a:rPr>
                        <a:t>1</a:t>
                      </a:r>
                      <a:endParaRPr lang="en-VN" sz="1000" b="1" i="0" dirty="0">
                        <a:solidFill>
                          <a:schemeClr val="bg1"/>
                        </a:solidFill>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rgbClr val="32B2C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t>Required Skillset of Human resource </a:t>
                      </a:r>
                      <a:endParaRPr kumimoji="1" lang="en-V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endParaRPr>
                    </a:p>
                    <a:p>
                      <a:pPr algn="ctr"/>
                      <a:endParaRPr kumimoji="1" lang="en-V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t>The project is assigning the senior developer, but since they are approaching the system for the first time, productivity may not be high, and the product quality may suffer.</a:t>
                      </a:r>
                    </a:p>
                    <a:p>
                      <a:pPr algn="ctr"/>
                      <a:endParaRPr kumimoji="1" lang="en-V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US"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t>High</a:t>
                      </a: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t>Productivity, Quality</a:t>
                      </a:r>
                      <a:endParaRPr kumimoji="1" lang="en-V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alpha val="20000"/>
                      </a:srgbClr>
                    </a:solidFill>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t>Mitigation Action:</a:t>
                      </a:r>
                      <a:br>
                        <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br>
                      <a:r>
                        <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t> - Pair the senior developer with a more experienced LG CNS team member who is familiar with the system to mentor and guide them through the initial phases of development.</a:t>
                      </a:r>
                      <a:br>
                        <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br>
                      <a:r>
                        <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t>- Implement regular code reviews and feedback sessions to ensure that any issues with productivity or product quality are identified and addressed promptly.</a:t>
                      </a: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endPar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endParaRPr>
                    </a:p>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t>Contingency Action: </a:t>
                      </a:r>
                      <a:br>
                        <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br>
                      <a:r>
                        <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t> - Consider reallocating resources or adjusting team assignments if it becomes evident that the senior developer's unfamiliarity with the system is significantly impacting productivity or product quality.</a:t>
                      </a:r>
                      <a:br>
                        <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br>
                      <a:r>
                        <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t> - Allocate a contingency budget to cover any potential delays or additional resources required due to the learning curve of the senior developer. </a:t>
                      </a:r>
                      <a:endParaRPr kumimoji="1" lang="en-V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alpha val="20000"/>
                      </a:srgbClr>
                    </a:solidFill>
                  </a:tcPr>
                </a:tc>
                <a:tc>
                  <a:txBody>
                    <a:bodyPr/>
                    <a:lstStyle/>
                    <a:p>
                      <a:pPr algn="ctr"/>
                      <a:r>
                        <a:rPr kumimoji="1" lang="en-I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rPr>
                        <a:t> ABC</a:t>
                      </a:r>
                      <a:endParaRPr kumimoji="1" lang="en-VN" sz="1200" b="0" i="0" u="none" strike="noStrike" kern="1200" cap="none" dirty="0">
                        <a:solidFill>
                          <a:schemeClr val="dk1"/>
                        </a:solidFill>
                        <a:latin typeface="Tahoma" panose="020B0604030504040204" pitchFamily="34" charset="0"/>
                        <a:ea typeface="Tahoma" panose="020B0604030504040204" pitchFamily="34" charset="0"/>
                        <a:cs typeface="Tahoma" panose="020B0604030504040204" pitchFamily="34" charset="0"/>
                        <a:sym typeface="Arial"/>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alpha val="20000"/>
                      </a:srgbClr>
                    </a:solidFill>
                  </a:tcPr>
                </a:tc>
                <a:extLst>
                  <a:ext uri="{0D108BD9-81ED-4DB2-BD59-A6C34878D82A}">
                    <a16:rowId xmlns:a16="http://schemas.microsoft.com/office/drawing/2014/main" val="3847367603"/>
                  </a:ext>
                </a:extLst>
              </a:tr>
              <a:tr h="711212">
                <a:tc>
                  <a:txBody>
                    <a:bodyPr/>
                    <a:lstStyle/>
                    <a:p>
                      <a:pPr algn="ctr"/>
                      <a:r>
                        <a:rPr lang="en-US" sz="1000" b="1" i="0" dirty="0">
                          <a:solidFill>
                            <a:schemeClr val="bg1"/>
                          </a:solidFill>
                          <a:effectLst/>
                          <a:latin typeface="Segoe UI Symbol" panose="020B0502040204020203" pitchFamily="34" charset="0"/>
                          <a:ea typeface="Segoe UI Symbol" panose="020B0502040204020203" pitchFamily="34" charset="0"/>
                          <a:cs typeface="Segoe UI" panose="020B0502040204020203" pitchFamily="34" charset="0"/>
                        </a:rPr>
                        <a:t>2</a:t>
                      </a:r>
                      <a:endParaRPr lang="en-VN" sz="1000" b="1" i="0" dirty="0">
                        <a:solidFill>
                          <a:schemeClr val="bg1"/>
                        </a:solidFill>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rgbClr val="32B2C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rgbClr val="32B2C2"/>
                    </a:solidFill>
                  </a:tcPr>
                </a:tc>
                <a:tc>
                  <a:txBody>
                    <a:bodyPr/>
                    <a:lstStyle/>
                    <a:p>
                      <a:pPr algn="ctr"/>
                      <a:endParaRPr lang="en-VN" sz="100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r>
                        <a:rPr lang="en-IN" sz="1000" dirty="0">
                          <a:effectLst/>
                          <a:latin typeface="Segoe UI Symbol" panose="020B0502040204020203" pitchFamily="34" charset="0"/>
                          <a:ea typeface="Segoe UI Symbol" panose="020B0502040204020203" pitchFamily="34" charset="0"/>
                        </a:rPr>
                        <a:t> </a:t>
                      </a:r>
                      <a:endParaRPr lang="en-VN" sz="100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r>
                        <a:rPr lang="en-IN" sz="1000" dirty="0">
                          <a:effectLst/>
                          <a:latin typeface="Segoe UI Symbol" panose="020B0502040204020203" pitchFamily="34" charset="0"/>
                          <a:ea typeface="Segoe UI Symbol" panose="020B0502040204020203" pitchFamily="34" charset="0"/>
                        </a:rPr>
                        <a:t> </a:t>
                      </a:r>
                      <a:endParaRPr lang="en-VN" sz="100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r>
                        <a:rPr lang="en-IN" sz="1000" dirty="0">
                          <a:effectLst/>
                          <a:latin typeface="Segoe UI Symbol" panose="020B0502040204020203" pitchFamily="34" charset="0"/>
                          <a:ea typeface="Segoe UI Symbol" panose="020B0502040204020203" pitchFamily="34" charset="0"/>
                        </a:rPr>
                        <a:t> </a:t>
                      </a:r>
                      <a:endParaRPr lang="en-VN" sz="100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r>
                        <a:rPr lang="en-IN" sz="1000" dirty="0">
                          <a:effectLst/>
                          <a:latin typeface="Segoe UI Symbol" panose="020B0502040204020203" pitchFamily="34" charset="0"/>
                          <a:ea typeface="Segoe UI Symbol" panose="020B0502040204020203" pitchFamily="34" charset="0"/>
                        </a:rPr>
                        <a:t> </a:t>
                      </a:r>
                      <a:endParaRPr lang="en-VN" sz="100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tc>
                  <a:txBody>
                    <a:bodyPr/>
                    <a:lstStyle/>
                    <a:p>
                      <a:pPr algn="ctr"/>
                      <a:r>
                        <a:rPr lang="en-IN" sz="1000" dirty="0">
                          <a:effectLst/>
                          <a:latin typeface="Segoe UI Symbol" panose="020B0502040204020203" pitchFamily="34" charset="0"/>
                          <a:ea typeface="Segoe UI Symbol" panose="020B0502040204020203" pitchFamily="34" charset="0"/>
                        </a:rPr>
                        <a:t> </a:t>
                      </a:r>
                      <a:endParaRPr lang="en-VN" sz="100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chemeClr val="bg1"/>
                      </a:solidFill>
                      <a:prstDash val="solid"/>
                      <a:round/>
                      <a:headEnd type="none" w="med" len="med"/>
                      <a:tailEnd type="none" w="med" len="med"/>
                    </a:lnB>
                    <a:solidFill>
                      <a:schemeClr val="bg1"/>
                    </a:solidFill>
                  </a:tcPr>
                </a:tc>
                <a:extLst>
                  <a:ext uri="{0D108BD9-81ED-4DB2-BD59-A6C34878D82A}">
                    <a16:rowId xmlns:a16="http://schemas.microsoft.com/office/drawing/2014/main" val="3163317198"/>
                  </a:ext>
                </a:extLst>
              </a:tr>
              <a:tr h="615267">
                <a:tc>
                  <a:txBody>
                    <a:bodyPr/>
                    <a:lstStyle/>
                    <a:p>
                      <a:pPr algn="ctr"/>
                      <a:r>
                        <a:rPr lang="en-VN" sz="1000" b="1" i="0" dirty="0">
                          <a:solidFill>
                            <a:schemeClr val="bg1"/>
                          </a:solidFill>
                          <a:effectLst/>
                          <a:latin typeface="Segoe UI Symbol" panose="020B0502040204020203" pitchFamily="34" charset="0"/>
                          <a:ea typeface="Segoe UI Symbol" panose="020B0502040204020203" pitchFamily="34" charset="0"/>
                          <a:cs typeface="Times New Roman" panose="02020603050405020304" pitchFamily="18" charset="0"/>
                        </a:rPr>
                        <a:t>3</a:t>
                      </a:r>
                    </a:p>
                  </a:txBody>
                  <a:tcPr marL="50165" marR="50165" marT="9525" marB="0" anchor="ctr">
                    <a:lnL w="6350" cap="flat" cmpd="sng" algn="ctr">
                      <a:solidFill>
                        <a:srgbClr val="32B2C2"/>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32B2C2"/>
                      </a:solidFill>
                      <a:prstDash val="solid"/>
                      <a:round/>
                      <a:headEnd type="none" w="med" len="med"/>
                      <a:tailEnd type="none" w="med" len="med"/>
                    </a:lnB>
                    <a:solidFill>
                      <a:srgbClr val="32B2C2"/>
                    </a:solidFill>
                  </a:tcPr>
                </a:tc>
                <a:tc>
                  <a:txBody>
                    <a:bodyPr/>
                    <a:lstStyle/>
                    <a:p>
                      <a:pPr algn="ctr"/>
                      <a:endParaRPr lang="en-VN" sz="100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32B2C2"/>
                      </a:solidFill>
                      <a:prstDash val="solid"/>
                      <a:round/>
                      <a:headEnd type="none" w="med" len="med"/>
                      <a:tailEnd type="none" w="med" len="med"/>
                    </a:lnB>
                    <a:solidFill>
                      <a:srgbClr val="32B2C2">
                        <a:alpha val="20000"/>
                      </a:srgbClr>
                    </a:solidFill>
                  </a:tcPr>
                </a:tc>
                <a:tc>
                  <a:txBody>
                    <a:bodyPr/>
                    <a:lstStyle/>
                    <a:p>
                      <a:pPr algn="ctr"/>
                      <a:r>
                        <a:rPr lang="en-IN" sz="1000" dirty="0">
                          <a:effectLst/>
                          <a:latin typeface="Segoe UI Symbol" panose="020B0502040204020203" pitchFamily="34" charset="0"/>
                          <a:ea typeface="Segoe UI Symbol" panose="020B0502040204020203" pitchFamily="34" charset="0"/>
                        </a:rPr>
                        <a:t> </a:t>
                      </a:r>
                      <a:endParaRPr lang="en-VN" sz="100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32B2C2"/>
                      </a:solidFill>
                      <a:prstDash val="solid"/>
                      <a:round/>
                      <a:headEnd type="none" w="med" len="med"/>
                      <a:tailEnd type="none" w="med" len="med"/>
                    </a:lnB>
                    <a:solidFill>
                      <a:srgbClr val="32B2C2">
                        <a:alpha val="20000"/>
                      </a:srgbClr>
                    </a:solidFill>
                  </a:tcPr>
                </a:tc>
                <a:tc>
                  <a:txBody>
                    <a:bodyPr/>
                    <a:lstStyle/>
                    <a:p>
                      <a:pPr algn="ctr"/>
                      <a:r>
                        <a:rPr lang="en-IN" sz="1000">
                          <a:effectLst/>
                          <a:latin typeface="Segoe UI Symbol" panose="020B0502040204020203" pitchFamily="34" charset="0"/>
                          <a:ea typeface="Segoe UI Symbol" panose="020B0502040204020203" pitchFamily="34" charset="0"/>
                        </a:rPr>
                        <a:t> </a:t>
                      </a:r>
                      <a:endParaRPr lang="en-VN" sz="100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32B2C2"/>
                      </a:solidFill>
                      <a:prstDash val="solid"/>
                      <a:round/>
                      <a:headEnd type="none" w="med" len="med"/>
                      <a:tailEnd type="none" w="med" len="med"/>
                    </a:lnB>
                    <a:solidFill>
                      <a:srgbClr val="32B2C2">
                        <a:alpha val="20000"/>
                      </a:srgbClr>
                    </a:solidFill>
                  </a:tcPr>
                </a:tc>
                <a:tc>
                  <a:txBody>
                    <a:bodyPr/>
                    <a:lstStyle/>
                    <a:p>
                      <a:pPr algn="ctr"/>
                      <a:r>
                        <a:rPr lang="en-IN" sz="1000">
                          <a:effectLst/>
                          <a:latin typeface="Segoe UI Symbol" panose="020B0502040204020203" pitchFamily="34" charset="0"/>
                          <a:ea typeface="Segoe UI Symbol" panose="020B0502040204020203" pitchFamily="34" charset="0"/>
                        </a:rPr>
                        <a:t> </a:t>
                      </a:r>
                      <a:endParaRPr lang="en-VN" sz="100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32B2C2"/>
                      </a:solidFill>
                      <a:prstDash val="solid"/>
                      <a:round/>
                      <a:headEnd type="none" w="med" len="med"/>
                      <a:tailEnd type="none" w="med" len="med"/>
                    </a:lnB>
                    <a:solidFill>
                      <a:srgbClr val="32B2C2">
                        <a:alpha val="20000"/>
                      </a:srgbClr>
                    </a:solidFill>
                  </a:tcPr>
                </a:tc>
                <a:tc>
                  <a:txBody>
                    <a:bodyPr/>
                    <a:lstStyle/>
                    <a:p>
                      <a:pPr algn="ctr"/>
                      <a:r>
                        <a:rPr lang="en-IN" sz="1000" dirty="0">
                          <a:effectLst/>
                          <a:latin typeface="Segoe UI Symbol" panose="020B0502040204020203" pitchFamily="34" charset="0"/>
                          <a:ea typeface="Segoe UI Symbol" panose="020B0502040204020203" pitchFamily="34" charset="0"/>
                        </a:rPr>
                        <a:t> </a:t>
                      </a:r>
                      <a:endParaRPr lang="en-VN" sz="100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chemeClr val="bg1"/>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32B2C2"/>
                      </a:solidFill>
                      <a:prstDash val="solid"/>
                      <a:round/>
                      <a:headEnd type="none" w="med" len="med"/>
                      <a:tailEnd type="none" w="med" len="med"/>
                    </a:lnB>
                    <a:solidFill>
                      <a:srgbClr val="32B2C2">
                        <a:alpha val="20000"/>
                      </a:srgbClr>
                    </a:solidFill>
                  </a:tcPr>
                </a:tc>
                <a:tc>
                  <a:txBody>
                    <a:bodyPr/>
                    <a:lstStyle/>
                    <a:p>
                      <a:pPr algn="ctr"/>
                      <a:r>
                        <a:rPr lang="en-IN" sz="1000" dirty="0">
                          <a:effectLst/>
                          <a:latin typeface="Segoe UI Symbol" panose="020B0502040204020203" pitchFamily="34" charset="0"/>
                          <a:ea typeface="Segoe UI Symbol" panose="020B0502040204020203" pitchFamily="34" charset="0"/>
                        </a:rPr>
                        <a:t> </a:t>
                      </a:r>
                      <a:endParaRPr lang="en-VN" sz="1000" dirty="0">
                        <a:effectLst/>
                        <a:latin typeface="Segoe UI Symbol" panose="020B0502040204020203" pitchFamily="34" charset="0"/>
                        <a:ea typeface="Segoe UI Symbol" panose="020B0502040204020203" pitchFamily="34" charset="0"/>
                        <a:cs typeface="Times New Roman" panose="02020603050405020304" pitchFamily="18" charset="0"/>
                      </a:endParaRPr>
                    </a:p>
                  </a:txBody>
                  <a:tcPr marL="50165" marR="50165" marT="9525" marB="0" anchor="ctr">
                    <a:lnL w="6350" cap="flat" cmpd="sng" algn="ctr">
                      <a:solidFill>
                        <a:schemeClr val="bg1"/>
                      </a:solidFill>
                      <a:prstDash val="solid"/>
                      <a:round/>
                      <a:headEnd type="none" w="med" len="med"/>
                      <a:tailEnd type="none" w="med" len="med"/>
                    </a:lnL>
                    <a:lnR w="6350" cap="flat" cmpd="sng" algn="ctr">
                      <a:solidFill>
                        <a:srgbClr val="32B2C2"/>
                      </a:solidFill>
                      <a:prstDash val="solid"/>
                      <a:round/>
                      <a:headEnd type="none" w="med" len="med"/>
                      <a:tailEnd type="none" w="med" len="med"/>
                    </a:lnR>
                    <a:lnT w="6350" cap="flat" cmpd="sng" algn="ctr">
                      <a:solidFill>
                        <a:schemeClr val="bg1"/>
                      </a:solidFill>
                      <a:prstDash val="solid"/>
                      <a:round/>
                      <a:headEnd type="none" w="med" len="med"/>
                      <a:tailEnd type="none" w="med" len="med"/>
                    </a:lnT>
                    <a:lnB w="6350" cap="flat" cmpd="sng" algn="ctr">
                      <a:solidFill>
                        <a:srgbClr val="32B2C2"/>
                      </a:solidFill>
                      <a:prstDash val="solid"/>
                      <a:round/>
                      <a:headEnd type="none" w="med" len="med"/>
                      <a:tailEnd type="none" w="med" len="med"/>
                    </a:lnB>
                    <a:solidFill>
                      <a:srgbClr val="32B2C2">
                        <a:alpha val="20000"/>
                      </a:srgbClr>
                    </a:solidFill>
                  </a:tcPr>
                </a:tc>
                <a:extLst>
                  <a:ext uri="{0D108BD9-81ED-4DB2-BD59-A6C34878D82A}">
                    <a16:rowId xmlns:a16="http://schemas.microsoft.com/office/drawing/2014/main" val="4248160183"/>
                  </a:ext>
                </a:extLst>
              </a:tr>
            </a:tbl>
          </a:graphicData>
        </a:graphic>
      </p:graphicFrame>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20</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7899804" cy="584775"/>
            <a:chOff x="479425" y="461520"/>
            <a:chExt cx="7899804"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4" y="461520"/>
              <a:ext cx="7842965"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10. Risk Management</a:t>
              </a:r>
            </a:p>
          </p:txBody>
        </p:sp>
      </p:grpSp>
    </p:spTree>
    <p:extLst>
      <p:ext uri="{BB962C8B-B14F-4D97-AF65-F5344CB8AC3E}">
        <p14:creationId xmlns:p14="http://schemas.microsoft.com/office/powerpoint/2010/main" val="81648769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21</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7899804" cy="584775"/>
            <a:chOff x="479425" y="461520"/>
            <a:chExt cx="7899804"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4" y="461520"/>
              <a:ext cx="7842965"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11. Security Assurance</a:t>
              </a:r>
            </a:p>
          </p:txBody>
        </p:sp>
      </p:grpSp>
      <p:sp>
        <p:nvSpPr>
          <p:cNvPr id="7" name="Rectangle 6">
            <a:extLst>
              <a:ext uri="{FF2B5EF4-FFF2-40B4-BE49-F238E27FC236}">
                <a16:creationId xmlns:a16="http://schemas.microsoft.com/office/drawing/2014/main" id="{BA8272BF-7E5D-7038-5803-EFBBD7F0FA36}"/>
              </a:ext>
            </a:extLst>
          </p:cNvPr>
          <p:cNvSpPr/>
          <p:nvPr/>
        </p:nvSpPr>
        <p:spPr>
          <a:xfrm>
            <a:off x="465624" y="1342500"/>
            <a:ext cx="11307993" cy="2874789"/>
          </a:xfrm>
          <a:prstGeom prst="rect">
            <a:avLst/>
          </a:prstGeom>
          <a:noFill/>
          <a:ln w="15875" cap="flat" cmpd="sng" algn="ctr">
            <a:solidFill>
              <a:srgbClr val="36365C"/>
            </a:solidFill>
            <a:prstDash val="solid"/>
            <a:miter lim="800000"/>
          </a:ln>
          <a:effectLst/>
        </p:spPr>
        <p:txBody>
          <a:bodyPr lIns="121912" tIns="60956" rIns="121912" bIns="6095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graphicFrame>
        <p:nvGraphicFramePr>
          <p:cNvPr id="8" name="Table 7">
            <a:extLst>
              <a:ext uri="{FF2B5EF4-FFF2-40B4-BE49-F238E27FC236}">
                <a16:creationId xmlns:a16="http://schemas.microsoft.com/office/drawing/2014/main" id="{8D47150E-E892-DCBF-0FE2-9BCADEF6A7FF}"/>
              </a:ext>
            </a:extLst>
          </p:cNvPr>
          <p:cNvGraphicFramePr>
            <a:graphicFrameLocks noGrp="1"/>
          </p:cNvGraphicFramePr>
          <p:nvPr/>
        </p:nvGraphicFramePr>
        <p:xfrm>
          <a:off x="4470401" y="1393778"/>
          <a:ext cx="7251700" cy="2783546"/>
        </p:xfrm>
        <a:graphic>
          <a:graphicData uri="http://schemas.openxmlformats.org/drawingml/2006/table">
            <a:tbl>
              <a:tblPr firstRow="1" bandRow="1"/>
              <a:tblGrid>
                <a:gridCol w="3255092">
                  <a:extLst>
                    <a:ext uri="{9D8B030D-6E8A-4147-A177-3AD203B41FA5}">
                      <a16:colId xmlns:a16="http://schemas.microsoft.com/office/drawing/2014/main" val="20001"/>
                    </a:ext>
                  </a:extLst>
                </a:gridCol>
                <a:gridCol w="3996608">
                  <a:extLst>
                    <a:ext uri="{9D8B030D-6E8A-4147-A177-3AD203B41FA5}">
                      <a16:colId xmlns:a16="http://schemas.microsoft.com/office/drawing/2014/main" val="20002"/>
                    </a:ext>
                  </a:extLst>
                </a:gridCol>
              </a:tblGrid>
              <a:tr h="302441">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a:r>
                        <a:rPr lang="en-US" sz="1200" dirty="0">
                          <a:latin typeface="Segoe UI" panose="020B0502040204020203" pitchFamily="34" charset="0"/>
                          <a:cs typeface="Segoe UI" panose="020B0502040204020203" pitchFamily="34" charset="0"/>
                        </a:rPr>
                        <a:t>Client Security Tool</a:t>
                      </a: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a:r>
                        <a:rPr lang="en-US" sz="1200" dirty="0">
                          <a:latin typeface="Segoe UI" panose="020B0502040204020203" pitchFamily="34" charset="0"/>
                          <a:cs typeface="Segoe UI" panose="020B0502040204020203" pitchFamily="34" charset="0"/>
                        </a:rPr>
                        <a:t>System Security Tool</a:t>
                      </a: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10000"/>
                  </a:ext>
                </a:extLst>
              </a:tr>
              <a:tr h="462577">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lvl="0"/>
                      <a:r>
                        <a:rPr lang="en-US" sz="1200" kern="1200" dirty="0">
                          <a:effectLst/>
                          <a:latin typeface="Segoe UI" panose="020B0502040204020203" pitchFamily="34" charset="0"/>
                          <a:cs typeface="Segoe UI" panose="020B0502040204020203" pitchFamily="34" charset="0"/>
                        </a:rPr>
                        <a:t>McAfee Endpoint security (AV, Host IPS)</a:t>
                      </a:r>
                      <a:endParaRPr lang="en-US" sz="1200" kern="1200" dirty="0">
                        <a:solidFill>
                          <a:schemeClr val="dk1"/>
                        </a:solidFill>
                        <a:effectLst/>
                        <a:latin typeface="Segoe UI" panose="020B0502040204020203" pitchFamily="34" charset="0"/>
                        <a:ea typeface="+mn-ea"/>
                        <a:cs typeface="Segoe UI" panose="020B0502040204020203" pitchFamily="34" charset="0"/>
                      </a:endParaRPr>
                    </a:p>
                  </a:txBody>
                  <a:tcPr marL="162517" marR="162517" marT="81259" marB="81259">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4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kern="1200" dirty="0">
                          <a:effectLst/>
                          <a:latin typeface="Segoe UI" panose="020B0502040204020203" pitchFamily="34" charset="0"/>
                          <a:cs typeface="Segoe UI" panose="020B0502040204020203" pitchFamily="34" charset="0"/>
                        </a:rPr>
                        <a:t>McAfee IDS/IPS, </a:t>
                      </a:r>
                      <a:r>
                        <a:rPr lang="en-US" sz="1200" dirty="0">
                          <a:latin typeface="Segoe UI" panose="020B0502040204020203" pitchFamily="34" charset="0"/>
                          <a:cs typeface="Segoe UI" panose="020B0502040204020203" pitchFamily="34" charset="0"/>
                        </a:rPr>
                        <a:t>McAfee Web gateway (Proxy), McAfee </a:t>
                      </a:r>
                      <a:r>
                        <a:rPr lang="en-US" sz="1200" dirty="0" err="1">
                          <a:latin typeface="Segoe UI" panose="020B0502040204020203" pitchFamily="34" charset="0"/>
                          <a:cs typeface="Segoe UI" panose="020B0502040204020203" pitchFamily="34" charset="0"/>
                        </a:rPr>
                        <a:t>ePO</a:t>
                      </a:r>
                      <a:r>
                        <a:rPr lang="en-US" sz="1200" dirty="0">
                          <a:latin typeface="Segoe UI" panose="020B0502040204020203" pitchFamily="34" charset="0"/>
                          <a:cs typeface="Segoe UI" panose="020B0502040204020203" pitchFamily="34" charset="0"/>
                        </a:rPr>
                        <a:t>, </a:t>
                      </a:r>
                      <a:r>
                        <a:rPr lang="en-US" sz="1200" kern="1200" dirty="0">
                          <a:effectLst/>
                          <a:latin typeface="Segoe UI" panose="020B0502040204020203" pitchFamily="34" charset="0"/>
                          <a:cs typeface="Segoe UI" panose="020B0502040204020203" pitchFamily="34" charset="0"/>
                        </a:rPr>
                        <a:t>Checkpoint Firewall</a:t>
                      </a:r>
                      <a:endParaRPr lang="en-US" sz="1200" kern="1200" dirty="0">
                        <a:solidFill>
                          <a:schemeClr val="dk1"/>
                        </a:solidFill>
                        <a:effectLst/>
                        <a:latin typeface="Segoe UI" panose="020B0502040204020203" pitchFamily="34" charset="0"/>
                        <a:ea typeface="+mn-ea"/>
                        <a:cs typeface="Segoe UI" panose="020B0502040204020203" pitchFamily="34" charset="0"/>
                      </a:endParaRPr>
                    </a:p>
                  </a:txBody>
                  <a:tcPr marL="162517" marR="162517" marT="81259" marB="81259">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40000"/>
                      </a:srgbClr>
                    </a:solidFill>
                  </a:tcPr>
                </a:tc>
                <a:extLst>
                  <a:ext uri="{0D108BD9-81ED-4DB2-BD59-A6C34878D82A}">
                    <a16:rowId xmlns:a16="http://schemas.microsoft.com/office/drawing/2014/main" val="10001"/>
                  </a:ext>
                </a:extLst>
              </a:tr>
              <a:tr h="302441">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lvl="0"/>
                      <a:r>
                        <a:rPr lang="en-US" sz="1200" kern="1200" dirty="0">
                          <a:effectLst/>
                          <a:latin typeface="Segoe UI" panose="020B0502040204020203" pitchFamily="34" charset="0"/>
                          <a:cs typeface="Segoe UI" panose="020B0502040204020203" pitchFamily="34" charset="0"/>
                        </a:rPr>
                        <a:t>McAfee Host Firewall</a:t>
                      </a:r>
                      <a:endParaRPr lang="en-US" sz="1200" kern="1200" dirty="0">
                        <a:solidFill>
                          <a:schemeClr val="dk1"/>
                        </a:solidFill>
                        <a:effectLst/>
                        <a:latin typeface="Segoe UI" panose="020B0502040204020203" pitchFamily="34" charset="0"/>
                        <a:ea typeface="+mn-ea"/>
                        <a:cs typeface="Segoe UI" panose="020B0502040204020203" pitchFamily="34" charset="0"/>
                      </a:endParaRP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2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effectLst/>
                          <a:latin typeface="Segoe UI" panose="020B0502040204020203" pitchFamily="34" charset="0"/>
                          <a:cs typeface="Segoe UI" panose="020B0502040204020203" pitchFamily="34" charset="0"/>
                        </a:rPr>
                        <a:t>ForeScout</a:t>
                      </a:r>
                      <a:r>
                        <a:rPr lang="en-US" sz="1200" kern="1200" dirty="0">
                          <a:effectLst/>
                          <a:latin typeface="Segoe UI" panose="020B0502040204020203" pitchFamily="34" charset="0"/>
                          <a:cs typeface="Segoe UI" panose="020B0502040204020203" pitchFamily="34" charset="0"/>
                        </a:rPr>
                        <a:t> NAC</a:t>
                      </a:r>
                      <a:endParaRPr lang="en-US" sz="1200" kern="1200" dirty="0">
                        <a:solidFill>
                          <a:schemeClr val="dk1"/>
                        </a:solidFill>
                        <a:effectLst/>
                        <a:latin typeface="Segoe UI" panose="020B0502040204020203" pitchFamily="34" charset="0"/>
                        <a:ea typeface="+mn-ea"/>
                        <a:cs typeface="Segoe UI" panose="020B0502040204020203" pitchFamily="34" charset="0"/>
                      </a:endParaRP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20000"/>
                      </a:srgbClr>
                    </a:solidFill>
                  </a:tcPr>
                </a:tc>
                <a:extLst>
                  <a:ext uri="{0D108BD9-81ED-4DB2-BD59-A6C34878D82A}">
                    <a16:rowId xmlns:a16="http://schemas.microsoft.com/office/drawing/2014/main" val="10002"/>
                  </a:ext>
                </a:extLst>
              </a:tr>
              <a:tr h="302441">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lvl="0"/>
                      <a:r>
                        <a:rPr lang="en-US" sz="1200" kern="1200" dirty="0">
                          <a:effectLst/>
                          <a:latin typeface="Segoe UI" panose="020B0502040204020203" pitchFamily="34" charset="0"/>
                          <a:cs typeface="Segoe UI" panose="020B0502040204020203" pitchFamily="34" charset="0"/>
                        </a:rPr>
                        <a:t>McAfee DLP Endpoint (Device Control)</a:t>
                      </a:r>
                      <a:endParaRPr lang="en-US" sz="1200" kern="1200" dirty="0">
                        <a:solidFill>
                          <a:schemeClr val="dk1"/>
                        </a:solidFill>
                        <a:effectLst/>
                        <a:latin typeface="Segoe UI" panose="020B0502040204020203" pitchFamily="34" charset="0"/>
                        <a:ea typeface="+mn-ea"/>
                        <a:cs typeface="Segoe UI" panose="020B0502040204020203" pitchFamily="34" charset="0"/>
                      </a:endParaRP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4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effectLst/>
                          <a:latin typeface="Segoe UI" panose="020B0502040204020203" pitchFamily="34" charset="0"/>
                          <a:cs typeface="Segoe UI" panose="020B0502040204020203" pitchFamily="34" charset="0"/>
                        </a:rPr>
                        <a:t>CyRadar</a:t>
                      </a:r>
                      <a:r>
                        <a:rPr lang="en-US" sz="1200" kern="1200" dirty="0">
                          <a:effectLst/>
                          <a:latin typeface="Segoe UI" panose="020B0502040204020203" pitchFamily="34" charset="0"/>
                          <a:cs typeface="Segoe UI" panose="020B0502040204020203" pitchFamily="34" charset="0"/>
                        </a:rPr>
                        <a:t> - Threat Detection</a:t>
                      </a:r>
                      <a:r>
                        <a:rPr lang="en-US" sz="1200" dirty="0">
                          <a:latin typeface="Segoe UI" panose="020B0502040204020203" pitchFamily="34" charset="0"/>
                          <a:cs typeface="Segoe UI" panose="020B0502040204020203" pitchFamily="34" charset="0"/>
                        </a:rPr>
                        <a:t>, IBM </a:t>
                      </a:r>
                      <a:r>
                        <a:rPr lang="en-US" sz="1200" dirty="0" err="1">
                          <a:latin typeface="Segoe UI" panose="020B0502040204020203" pitchFamily="34" charset="0"/>
                          <a:cs typeface="Segoe UI" panose="020B0502040204020203" pitchFamily="34" charset="0"/>
                        </a:rPr>
                        <a:t>QRadar</a:t>
                      </a:r>
                      <a:r>
                        <a:rPr lang="en-US" sz="1200" dirty="0">
                          <a:latin typeface="Segoe UI" panose="020B0502040204020203" pitchFamily="34" charset="0"/>
                          <a:cs typeface="Segoe UI" panose="020B0502040204020203" pitchFamily="34" charset="0"/>
                        </a:rPr>
                        <a:t> SIEM </a:t>
                      </a: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40000"/>
                      </a:srgbClr>
                    </a:solidFill>
                  </a:tcPr>
                </a:tc>
                <a:extLst>
                  <a:ext uri="{0D108BD9-81ED-4DB2-BD59-A6C34878D82A}">
                    <a16:rowId xmlns:a16="http://schemas.microsoft.com/office/drawing/2014/main" val="10003"/>
                  </a:ext>
                </a:extLst>
              </a:tr>
              <a:tr h="462577">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effectLst/>
                          <a:latin typeface="Segoe UI" panose="020B0502040204020203" pitchFamily="34" charset="0"/>
                          <a:cs typeface="Segoe UI" panose="020B0502040204020203" pitchFamily="34" charset="0"/>
                        </a:rPr>
                        <a:t>McAfee File and Removable Media Protection (encryption)</a:t>
                      </a:r>
                      <a:endParaRPr lang="en-US" sz="1200" kern="1200" dirty="0">
                        <a:solidFill>
                          <a:schemeClr val="dk1"/>
                        </a:solidFill>
                        <a:effectLst/>
                        <a:latin typeface="Segoe UI" panose="020B0502040204020203" pitchFamily="34" charset="0"/>
                        <a:ea typeface="+mn-ea"/>
                        <a:cs typeface="Segoe UI" panose="020B0502040204020203" pitchFamily="34" charset="0"/>
                      </a:endParaRP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2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effectLst/>
                          <a:latin typeface="Segoe UI" panose="020B0502040204020203" pitchFamily="34" charset="0"/>
                          <a:cs typeface="Segoe UI" panose="020B0502040204020203" pitchFamily="34" charset="0"/>
                        </a:rPr>
                        <a:t>Rapid7 </a:t>
                      </a:r>
                      <a:r>
                        <a:rPr lang="en-US" sz="1200" kern="1200" dirty="0" err="1">
                          <a:effectLst/>
                          <a:latin typeface="Segoe UI" panose="020B0502040204020203" pitchFamily="34" charset="0"/>
                          <a:cs typeface="Segoe UI" panose="020B0502040204020203" pitchFamily="34" charset="0"/>
                        </a:rPr>
                        <a:t>Nexpose</a:t>
                      </a:r>
                      <a:r>
                        <a:rPr lang="en-US" sz="1200" kern="1200" dirty="0">
                          <a:effectLst/>
                          <a:latin typeface="Segoe UI" panose="020B0502040204020203" pitchFamily="34" charset="0"/>
                          <a:cs typeface="Segoe UI" panose="020B0502040204020203" pitchFamily="34" charset="0"/>
                        </a:rPr>
                        <a:t>, Rapid7 </a:t>
                      </a:r>
                      <a:r>
                        <a:rPr lang="en-US" sz="1200" kern="1200" dirty="0" err="1">
                          <a:effectLst/>
                          <a:latin typeface="Segoe UI" panose="020B0502040204020203" pitchFamily="34" charset="0"/>
                          <a:cs typeface="Segoe UI" panose="020B0502040204020203" pitchFamily="34" charset="0"/>
                        </a:rPr>
                        <a:t>Nexpose</a:t>
                      </a:r>
                      <a:r>
                        <a:rPr lang="en-US" sz="1200" kern="1200" dirty="0">
                          <a:effectLst/>
                          <a:latin typeface="Segoe UI" panose="020B0502040204020203" pitchFamily="34" charset="0"/>
                          <a:cs typeface="Segoe UI" panose="020B0502040204020203" pitchFamily="34" charset="0"/>
                        </a:rPr>
                        <a:t>, </a:t>
                      </a:r>
                      <a:r>
                        <a:rPr lang="en-US" sz="1200" kern="1200" dirty="0" err="1">
                          <a:effectLst/>
                          <a:latin typeface="Segoe UI" panose="020B0502040204020203" pitchFamily="34" charset="0"/>
                          <a:cs typeface="Segoe UI" panose="020B0502040204020203" pitchFamily="34" charset="0"/>
                        </a:rPr>
                        <a:t>Acunetix</a:t>
                      </a:r>
                      <a:r>
                        <a:rPr lang="en-US" sz="1200" kern="1200" dirty="0">
                          <a:effectLst/>
                          <a:latin typeface="Segoe UI" panose="020B0502040204020203" pitchFamily="34" charset="0"/>
                          <a:cs typeface="Segoe UI" panose="020B0502040204020203" pitchFamily="34" charset="0"/>
                        </a:rPr>
                        <a:t>, Nessus for Vulnerability scan, Penetration test of system</a:t>
                      </a:r>
                      <a:endParaRPr lang="en-US" sz="1200" kern="1200" dirty="0">
                        <a:solidFill>
                          <a:schemeClr val="dk1"/>
                        </a:solidFill>
                        <a:effectLst/>
                        <a:latin typeface="Segoe UI" panose="020B0502040204020203" pitchFamily="34" charset="0"/>
                        <a:ea typeface="+mn-ea"/>
                        <a:cs typeface="Segoe UI" panose="020B0502040204020203" pitchFamily="34" charset="0"/>
                      </a:endParaRP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20000"/>
                      </a:srgbClr>
                    </a:solidFill>
                  </a:tcPr>
                </a:tc>
                <a:extLst>
                  <a:ext uri="{0D108BD9-81ED-4DB2-BD59-A6C34878D82A}">
                    <a16:rowId xmlns:a16="http://schemas.microsoft.com/office/drawing/2014/main" val="10004"/>
                  </a:ext>
                </a:extLst>
              </a:tr>
              <a:tr h="302441">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effectLst/>
                          <a:latin typeface="Segoe UI" panose="020B0502040204020203" pitchFamily="34" charset="0"/>
                          <a:cs typeface="Segoe UI" panose="020B0502040204020203" pitchFamily="34" charset="0"/>
                        </a:rPr>
                        <a:t>McAfee Application Control</a:t>
                      </a:r>
                      <a:endParaRPr lang="en-US" sz="1200" kern="1200" dirty="0">
                        <a:solidFill>
                          <a:schemeClr val="dk1"/>
                        </a:solidFill>
                        <a:effectLst/>
                        <a:latin typeface="Segoe UI" panose="020B0502040204020203" pitchFamily="34" charset="0"/>
                        <a:ea typeface="+mn-ea"/>
                        <a:cs typeface="Segoe UI" panose="020B0502040204020203" pitchFamily="34" charset="0"/>
                      </a:endParaRP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4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effectLst/>
                          <a:latin typeface="Segoe UI" panose="020B0502040204020203" pitchFamily="34" charset="0"/>
                          <a:cs typeface="Segoe UI" panose="020B0502040204020203" pitchFamily="34" charset="0"/>
                        </a:rPr>
                        <a:t>ManageEngine</a:t>
                      </a:r>
                      <a:r>
                        <a:rPr lang="en-US" sz="1200" kern="1200" dirty="0">
                          <a:effectLst/>
                          <a:latin typeface="Segoe UI" panose="020B0502040204020203" pitchFamily="34" charset="0"/>
                          <a:cs typeface="Segoe UI" panose="020B0502040204020203" pitchFamily="34" charset="0"/>
                        </a:rPr>
                        <a:t> AD Audit, AD Manager</a:t>
                      </a:r>
                      <a:endParaRPr lang="en-US" sz="1200" kern="1200" dirty="0">
                        <a:solidFill>
                          <a:schemeClr val="dk1"/>
                        </a:solidFill>
                        <a:effectLst/>
                        <a:latin typeface="Segoe UI" panose="020B0502040204020203" pitchFamily="34" charset="0"/>
                        <a:ea typeface="+mn-ea"/>
                        <a:cs typeface="Segoe UI" panose="020B0502040204020203" pitchFamily="34" charset="0"/>
                      </a:endParaRP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40000"/>
                      </a:srgbClr>
                    </a:solidFill>
                  </a:tcPr>
                </a:tc>
                <a:extLst>
                  <a:ext uri="{0D108BD9-81ED-4DB2-BD59-A6C34878D82A}">
                    <a16:rowId xmlns:a16="http://schemas.microsoft.com/office/drawing/2014/main" val="10005"/>
                  </a:ext>
                </a:extLst>
              </a:tr>
              <a:tr h="302441">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err="1">
                          <a:effectLst/>
                          <a:latin typeface="Segoe UI" panose="020B0502040204020203" pitchFamily="34" charset="0"/>
                          <a:cs typeface="Segoe UI" panose="020B0502040204020203" pitchFamily="34" charset="0"/>
                        </a:rPr>
                        <a:t>ForeScout</a:t>
                      </a:r>
                      <a:r>
                        <a:rPr lang="en-US" sz="1200" kern="1200" dirty="0">
                          <a:effectLst/>
                          <a:latin typeface="Segoe UI" panose="020B0502040204020203" pitchFamily="34" charset="0"/>
                          <a:cs typeface="Segoe UI" panose="020B0502040204020203" pitchFamily="34" charset="0"/>
                        </a:rPr>
                        <a:t> NAC client</a:t>
                      </a:r>
                      <a:endParaRPr lang="en-US" sz="1200" kern="1200" dirty="0">
                        <a:solidFill>
                          <a:schemeClr val="dk1"/>
                        </a:solidFill>
                        <a:effectLst/>
                        <a:latin typeface="Segoe UI" panose="020B0502040204020203" pitchFamily="34" charset="0"/>
                        <a:ea typeface="+mn-ea"/>
                        <a:cs typeface="Segoe UI" panose="020B0502040204020203" pitchFamily="34" charset="0"/>
                      </a:endParaRP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2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latin typeface="Segoe UI" panose="020B0502040204020203" pitchFamily="34" charset="0"/>
                          <a:cs typeface="Segoe UI" panose="020B0502040204020203" pitchFamily="34" charset="0"/>
                        </a:rPr>
                        <a:t>Microsoft SCCM, Microsoft Office 365 EMS </a:t>
                      </a: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20000"/>
                      </a:srgbClr>
                    </a:solidFill>
                  </a:tcPr>
                </a:tc>
                <a:extLst>
                  <a:ext uri="{0D108BD9-81ED-4DB2-BD59-A6C34878D82A}">
                    <a16:rowId xmlns:a16="http://schemas.microsoft.com/office/drawing/2014/main" val="10006"/>
                  </a:ext>
                </a:extLst>
              </a:tr>
            </a:tbl>
          </a:graphicData>
        </a:graphic>
      </p:graphicFrame>
      <p:graphicFrame>
        <p:nvGraphicFramePr>
          <p:cNvPr id="9" name="Table 8">
            <a:extLst>
              <a:ext uri="{FF2B5EF4-FFF2-40B4-BE49-F238E27FC236}">
                <a16:creationId xmlns:a16="http://schemas.microsoft.com/office/drawing/2014/main" id="{96FE1F67-AE70-A545-66F6-C0E425D0F648}"/>
              </a:ext>
            </a:extLst>
          </p:cNvPr>
          <p:cNvGraphicFramePr>
            <a:graphicFrameLocks noGrp="1"/>
          </p:cNvGraphicFramePr>
          <p:nvPr/>
        </p:nvGraphicFramePr>
        <p:xfrm>
          <a:off x="418383" y="4378654"/>
          <a:ext cx="11099675" cy="1726990"/>
        </p:xfrm>
        <a:graphic>
          <a:graphicData uri="http://schemas.openxmlformats.org/drawingml/2006/table">
            <a:tbl>
              <a:tblPr firstRow="1" bandRow="1"/>
              <a:tblGrid>
                <a:gridCol w="561572">
                  <a:extLst>
                    <a:ext uri="{9D8B030D-6E8A-4147-A177-3AD203B41FA5}">
                      <a16:colId xmlns:a16="http://schemas.microsoft.com/office/drawing/2014/main" val="20000"/>
                    </a:ext>
                  </a:extLst>
                </a:gridCol>
                <a:gridCol w="1820459">
                  <a:extLst>
                    <a:ext uri="{9D8B030D-6E8A-4147-A177-3AD203B41FA5}">
                      <a16:colId xmlns:a16="http://schemas.microsoft.com/office/drawing/2014/main" val="20001"/>
                    </a:ext>
                  </a:extLst>
                </a:gridCol>
                <a:gridCol w="8717644">
                  <a:extLst>
                    <a:ext uri="{9D8B030D-6E8A-4147-A177-3AD203B41FA5}">
                      <a16:colId xmlns:a16="http://schemas.microsoft.com/office/drawing/2014/main" val="20002"/>
                    </a:ext>
                  </a:extLst>
                </a:gridCol>
              </a:tblGrid>
              <a:tr h="231998">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a:r>
                        <a:rPr lang="en-US" sz="1200" dirty="0">
                          <a:latin typeface="Segoe UI" panose="020B0502040204020203" pitchFamily="34" charset="0"/>
                          <a:cs typeface="Segoe UI" panose="020B0502040204020203" pitchFamily="34" charset="0"/>
                        </a:rPr>
                        <a:t>No</a:t>
                      </a:r>
                    </a:p>
                  </a:txBody>
                  <a:tcPr marL="162517" marR="162517" marT="81259" marB="81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a:r>
                        <a:rPr lang="en-US" sz="1200" dirty="0">
                          <a:latin typeface="Segoe UI" panose="020B0502040204020203" pitchFamily="34" charset="0"/>
                          <a:cs typeface="Segoe UI" panose="020B0502040204020203" pitchFamily="34" charset="0"/>
                        </a:rPr>
                        <a:t>Item</a:t>
                      </a:r>
                    </a:p>
                  </a:txBody>
                  <a:tcPr marL="162517" marR="162517" marT="81259" marB="81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1" i="0" u="none" strike="noStrike" cap="none">
                          <a:solidFill>
                            <a:schemeClr val="lt1"/>
                          </a:solidFill>
                          <a:latin typeface="Segoe UI"/>
                          <a:sym typeface="Arial"/>
                        </a:defRPr>
                      </a:lvl9pPr>
                    </a:lstStyle>
                    <a:p>
                      <a:pPr algn="ctr"/>
                      <a:r>
                        <a:rPr lang="en-US" sz="1200" dirty="0">
                          <a:latin typeface="Segoe UI" panose="020B0502040204020203" pitchFamily="34" charset="0"/>
                          <a:cs typeface="Segoe UI" panose="020B0502040204020203" pitchFamily="34" charset="0"/>
                        </a:rPr>
                        <a:t>Description</a:t>
                      </a:r>
                    </a:p>
                  </a:txBody>
                  <a:tcPr marL="162517" marR="162517" marT="81259" marB="81259" anchor="ct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10000"/>
                  </a:ext>
                </a:extLst>
              </a:tr>
              <a:tr h="0">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200" dirty="0">
                          <a:latin typeface="Segoe UI" panose="020B0502040204020203" pitchFamily="34" charset="0"/>
                          <a:cs typeface="Segoe UI" panose="020B0502040204020203" pitchFamily="34" charset="0"/>
                        </a:rPr>
                        <a:t>1</a:t>
                      </a:r>
                    </a:p>
                  </a:txBody>
                  <a:tcPr marL="162517" marR="162517" marT="81259" marB="81259">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4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200" dirty="0">
                          <a:latin typeface="Segoe UI" panose="020B0502040204020203" pitchFamily="34" charset="0"/>
                          <a:cs typeface="Segoe UI" panose="020B0502040204020203" pitchFamily="34" charset="0"/>
                        </a:rPr>
                        <a:t>Security camera/door</a:t>
                      </a:r>
                    </a:p>
                  </a:txBody>
                  <a:tcPr marL="162517" marR="162517" marT="81259" marB="81259" anchor="ct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4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200" dirty="0">
                          <a:latin typeface="Segoe UI" panose="020B0502040204020203" pitchFamily="34" charset="0"/>
                          <a:cs typeface="Segoe UI" panose="020B0502040204020203" pitchFamily="34" charset="0"/>
                        </a:rPr>
                        <a:t>Security cameras are working on at the all Entry Gates along with secure doors</a:t>
                      </a:r>
                    </a:p>
                  </a:txBody>
                  <a:tcPr marL="162517" marR="162517" marT="81259" marB="81259">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40000"/>
                      </a:srgbClr>
                    </a:solidFill>
                  </a:tcPr>
                </a:tc>
                <a:extLst>
                  <a:ext uri="{0D108BD9-81ED-4DB2-BD59-A6C34878D82A}">
                    <a16:rowId xmlns:a16="http://schemas.microsoft.com/office/drawing/2014/main" val="10002"/>
                  </a:ext>
                </a:extLst>
              </a:tr>
              <a:tr h="248479">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200" dirty="0">
                          <a:latin typeface="Segoe UI" panose="020B0502040204020203" pitchFamily="34" charset="0"/>
                          <a:cs typeface="Segoe UI" panose="020B0502040204020203" pitchFamily="34" charset="0"/>
                        </a:rPr>
                        <a:t>2</a:t>
                      </a: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2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200" dirty="0">
                          <a:latin typeface="Segoe UI" panose="020B0502040204020203" pitchFamily="34" charset="0"/>
                          <a:cs typeface="Segoe UI" panose="020B0502040204020203" pitchFamily="34" charset="0"/>
                        </a:rPr>
                        <a:t>Hardware/</a:t>
                      </a:r>
                      <a:r>
                        <a:rPr lang="en-US" sz="1200" baseline="0" dirty="0">
                          <a:latin typeface="Segoe UI" panose="020B0502040204020203" pitchFamily="34" charset="0"/>
                          <a:cs typeface="Segoe UI" panose="020B0502040204020203" pitchFamily="34" charset="0"/>
                        </a:rPr>
                        <a:t>devices</a:t>
                      </a:r>
                      <a:endParaRPr lang="en-US" sz="1200" dirty="0">
                        <a:latin typeface="Segoe UI" panose="020B0502040204020203" pitchFamily="34" charset="0"/>
                        <a:cs typeface="Segoe UI" panose="020B0502040204020203" pitchFamily="34" charset="0"/>
                      </a:endParaRPr>
                    </a:p>
                  </a:txBody>
                  <a:tcPr marL="162517" marR="162517" marT="81259" marB="81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2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pPr marL="0" indent="0">
                        <a:buFontTx/>
                        <a:buNone/>
                      </a:pPr>
                      <a:r>
                        <a:rPr lang="en-US" sz="1200" baseline="0" dirty="0">
                          <a:latin typeface="Segoe UI" panose="020B0502040204020203" pitchFamily="34" charset="0"/>
                          <a:cs typeface="Segoe UI" panose="020B0502040204020203" pitchFamily="34" charset="0"/>
                        </a:rPr>
                        <a:t>All assets of projects are </a:t>
                      </a:r>
                      <a:r>
                        <a:rPr lang="en-US" sz="1200" baseline="0">
                          <a:latin typeface="Segoe UI" panose="020B0502040204020203" pitchFamily="34" charset="0"/>
                          <a:cs typeface="Segoe UI" panose="020B0502040204020203" pitchFamily="34" charset="0"/>
                        </a:rPr>
                        <a:t>kept inside room and </a:t>
                      </a:r>
                      <a:r>
                        <a:rPr lang="en-US" sz="1200" baseline="0" dirty="0">
                          <a:latin typeface="Segoe UI" panose="020B0502040204020203" pitchFamily="34" charset="0"/>
                          <a:cs typeface="Segoe UI" panose="020B0502040204020203" pitchFamily="34" charset="0"/>
                        </a:rPr>
                        <a:t>managed to follow asset management process</a:t>
                      </a:r>
                      <a:endParaRPr lang="en-US" sz="1200" dirty="0">
                        <a:latin typeface="Segoe UI" panose="020B0502040204020203" pitchFamily="34" charset="0"/>
                        <a:cs typeface="Segoe UI" panose="020B0502040204020203" pitchFamily="34" charset="0"/>
                      </a:endParaRP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20000"/>
                      </a:srgbClr>
                    </a:solidFill>
                  </a:tcPr>
                </a:tc>
                <a:extLst>
                  <a:ext uri="{0D108BD9-81ED-4DB2-BD59-A6C34878D82A}">
                    <a16:rowId xmlns:a16="http://schemas.microsoft.com/office/drawing/2014/main" val="10003"/>
                  </a:ext>
                </a:extLst>
              </a:tr>
              <a:tr h="231998">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200" dirty="0">
                          <a:latin typeface="Segoe UI" panose="020B0502040204020203" pitchFamily="34" charset="0"/>
                          <a:cs typeface="Segoe UI" panose="020B0502040204020203" pitchFamily="34" charset="0"/>
                        </a:rPr>
                        <a:t>3</a:t>
                      </a: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4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200" dirty="0">
                          <a:latin typeface="Segoe UI" panose="020B0502040204020203" pitchFamily="34" charset="0"/>
                          <a:cs typeface="Segoe UI" panose="020B0502040204020203" pitchFamily="34" charset="0"/>
                        </a:rPr>
                        <a:t>PC security</a:t>
                      </a:r>
                    </a:p>
                  </a:txBody>
                  <a:tcPr marL="162517" marR="162517" marT="81259" marB="81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4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200" dirty="0">
                          <a:latin typeface="Segoe UI" panose="020B0502040204020203" pitchFamily="34" charset="0"/>
                          <a:cs typeface="Segoe UI" panose="020B0502040204020203" pitchFamily="34" charset="0"/>
                        </a:rPr>
                        <a:t>The data are</a:t>
                      </a:r>
                      <a:r>
                        <a:rPr lang="en-US" sz="1200" baseline="0" dirty="0">
                          <a:latin typeface="Segoe UI" panose="020B0502040204020203" pitchFamily="34" charset="0"/>
                          <a:cs typeface="Segoe UI" panose="020B0502040204020203" pitchFamily="34" charset="0"/>
                        </a:rPr>
                        <a:t> not allowed to</a:t>
                      </a:r>
                      <a:r>
                        <a:rPr lang="en-US" sz="1200" dirty="0">
                          <a:latin typeface="Segoe UI" panose="020B0502040204020203" pitchFamily="34" charset="0"/>
                          <a:cs typeface="Segoe UI" panose="020B0502040204020203" pitchFamily="34" charset="0"/>
                        </a:rPr>
                        <a:t> share/copy to portable devices without permission</a:t>
                      </a: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40000"/>
                      </a:srgbClr>
                    </a:solidFill>
                  </a:tcPr>
                </a:tc>
                <a:extLst>
                  <a:ext uri="{0D108BD9-81ED-4DB2-BD59-A6C34878D82A}">
                    <a16:rowId xmlns:a16="http://schemas.microsoft.com/office/drawing/2014/main" val="10004"/>
                  </a:ext>
                </a:extLst>
              </a:tr>
              <a:tr h="231998">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200" dirty="0">
                          <a:latin typeface="Segoe UI" panose="020B0502040204020203" pitchFamily="34" charset="0"/>
                          <a:cs typeface="Segoe UI" panose="020B0502040204020203" pitchFamily="34" charset="0"/>
                        </a:rPr>
                        <a:t>4</a:t>
                      </a: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2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200" dirty="0">
                          <a:latin typeface="Segoe UI" panose="020B0502040204020203" pitchFamily="34" charset="0"/>
                          <a:cs typeface="Segoe UI" panose="020B0502040204020203" pitchFamily="34" charset="0"/>
                        </a:rPr>
                        <a:t>Email security</a:t>
                      </a:r>
                    </a:p>
                  </a:txBody>
                  <a:tcPr marL="162517" marR="162517" marT="81259" marB="81259" anchor="ctr">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20000"/>
                      </a:srgbClr>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dk1"/>
                          </a:solidFill>
                          <a:latin typeface="Segoe UI"/>
                          <a:sym typeface="Arial"/>
                        </a:defRPr>
                      </a:lvl9pPr>
                    </a:lstStyle>
                    <a:p>
                      <a:r>
                        <a:rPr lang="en-US" sz="1200" dirty="0">
                          <a:latin typeface="Segoe UI" panose="020B0502040204020203" pitchFamily="34" charset="0"/>
                          <a:cs typeface="Segoe UI" panose="020B0502040204020203" pitchFamily="34" charset="0"/>
                        </a:rPr>
                        <a:t>Email is monitored. The engineer cannot send data to other online storage.</a:t>
                      </a:r>
                    </a:p>
                  </a:txBody>
                  <a:tcPr marL="162517" marR="162517" marT="81259" marB="81259">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36365C">
                        <a:tint val="20000"/>
                      </a:srgbClr>
                    </a:solidFill>
                  </a:tcPr>
                </a:tc>
                <a:extLst>
                  <a:ext uri="{0D108BD9-81ED-4DB2-BD59-A6C34878D82A}">
                    <a16:rowId xmlns:a16="http://schemas.microsoft.com/office/drawing/2014/main" val="10005"/>
                  </a:ext>
                </a:extLst>
              </a:tr>
            </a:tbl>
          </a:graphicData>
        </a:graphic>
      </p:graphicFrame>
      <p:sp>
        <p:nvSpPr>
          <p:cNvPr id="10" name="Rectangle 9">
            <a:extLst>
              <a:ext uri="{FF2B5EF4-FFF2-40B4-BE49-F238E27FC236}">
                <a16:creationId xmlns:a16="http://schemas.microsoft.com/office/drawing/2014/main" id="{B2199D3C-0FD2-F60F-3AB6-8FA3439F0FC7}"/>
              </a:ext>
            </a:extLst>
          </p:cNvPr>
          <p:cNvSpPr/>
          <p:nvPr/>
        </p:nvSpPr>
        <p:spPr>
          <a:xfrm>
            <a:off x="659511" y="1988808"/>
            <a:ext cx="3660924" cy="2182950"/>
          </a:xfrm>
          <a:prstGeom prst="rect">
            <a:avLst/>
          </a:prstGeom>
          <a:solidFill>
            <a:sysClr val="window" lastClr="FFFFFF"/>
          </a:solidFill>
          <a:ln w="25400" cap="flat" cmpd="sng" algn="ctr">
            <a:solidFill>
              <a:srgbClr val="FF5050"/>
            </a:solidFill>
            <a:prstDash val="solid"/>
            <a:miter lim="800000"/>
          </a:ln>
          <a:effectLst/>
        </p:spPr>
        <p:txBody>
          <a:bodyPr lIns="121912" tIns="60956" rIns="121912" bIns="6095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1" name="Rectangle 10">
            <a:extLst>
              <a:ext uri="{FF2B5EF4-FFF2-40B4-BE49-F238E27FC236}">
                <a16:creationId xmlns:a16="http://schemas.microsoft.com/office/drawing/2014/main" id="{86F8543A-F6B1-0928-DFCC-E87C016E4D1C}"/>
              </a:ext>
            </a:extLst>
          </p:cNvPr>
          <p:cNvSpPr/>
          <p:nvPr/>
        </p:nvSpPr>
        <p:spPr>
          <a:xfrm>
            <a:off x="3333099" y="1932776"/>
            <a:ext cx="922876" cy="109332"/>
          </a:xfrm>
          <a:prstGeom prst="rect">
            <a:avLst/>
          </a:prstGeom>
          <a:solidFill>
            <a:srgbClr val="70AD47">
              <a:lumMod val="50000"/>
            </a:srgbClr>
          </a:solidFill>
          <a:ln w="6350" cap="flat" cmpd="sng" algn="ctr">
            <a:solidFill>
              <a:srgbClr val="36365C"/>
            </a:solidFill>
            <a:prstDash val="solid"/>
            <a:miter lim="800000"/>
          </a:ln>
          <a:effectLst/>
        </p:spPr>
        <p:txBody>
          <a:bodyPr lIns="121912" tIns="60956" rIns="121912" bIns="6095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dirty="0">
              <a:ln>
                <a:noFill/>
              </a:ln>
              <a:solidFill>
                <a:srgbClr val="135ABC"/>
              </a:solidFill>
              <a:effectLst/>
              <a:uLnTx/>
              <a:uFillTx/>
              <a:latin typeface="Segoe UI" panose="020B0502040204020203" pitchFamily="34" charset="0"/>
              <a:ea typeface="+mn-ea"/>
              <a:cs typeface="Segoe UI" panose="020B0502040204020203" pitchFamily="34" charset="0"/>
            </a:endParaRPr>
          </a:p>
        </p:txBody>
      </p:sp>
      <p:sp>
        <p:nvSpPr>
          <p:cNvPr id="12" name="Flowchart: Merge 19">
            <a:extLst>
              <a:ext uri="{FF2B5EF4-FFF2-40B4-BE49-F238E27FC236}">
                <a16:creationId xmlns:a16="http://schemas.microsoft.com/office/drawing/2014/main" id="{D56134CB-D291-A21F-B937-9E4830FA6177}"/>
              </a:ext>
            </a:extLst>
          </p:cNvPr>
          <p:cNvSpPr/>
          <p:nvPr/>
        </p:nvSpPr>
        <p:spPr>
          <a:xfrm>
            <a:off x="3333096" y="2076611"/>
            <a:ext cx="921936" cy="358175"/>
          </a:xfrm>
          <a:prstGeom prst="flowChartMerge">
            <a:avLst/>
          </a:prstGeom>
          <a:solidFill>
            <a:srgbClr val="44546A">
              <a:lumMod val="20000"/>
              <a:lumOff val="80000"/>
              <a:alpha val="32000"/>
            </a:srgbClr>
          </a:solidFill>
          <a:ln w="6350" cap="flat" cmpd="sng" algn="ctr">
            <a:noFill/>
            <a:prstDash val="solid"/>
            <a:miter lim="800000"/>
          </a:ln>
          <a:effectLst/>
        </p:spPr>
        <p:txBody>
          <a:bodyPr lIns="121912" tIns="60956" rIns="121912" bIns="6095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sp>
        <p:nvSpPr>
          <p:cNvPr id="13" name="Flowchart: Merge 20">
            <a:extLst>
              <a:ext uri="{FF2B5EF4-FFF2-40B4-BE49-F238E27FC236}">
                <a16:creationId xmlns:a16="http://schemas.microsoft.com/office/drawing/2014/main" id="{8779EC6A-513B-0CA2-A845-A0F841EE684F}"/>
              </a:ext>
            </a:extLst>
          </p:cNvPr>
          <p:cNvSpPr/>
          <p:nvPr/>
        </p:nvSpPr>
        <p:spPr>
          <a:xfrm rot="10800000">
            <a:off x="3335820" y="1547242"/>
            <a:ext cx="921936" cy="358175"/>
          </a:xfrm>
          <a:prstGeom prst="flowChartMerge">
            <a:avLst/>
          </a:prstGeom>
          <a:solidFill>
            <a:srgbClr val="44546A">
              <a:lumMod val="20000"/>
              <a:lumOff val="80000"/>
              <a:alpha val="32000"/>
            </a:srgbClr>
          </a:solidFill>
          <a:ln w="6350" cap="flat" cmpd="sng" algn="ctr">
            <a:noFill/>
            <a:prstDash val="solid"/>
            <a:miter lim="800000"/>
          </a:ln>
          <a:effectLst/>
        </p:spPr>
        <p:txBody>
          <a:bodyPr lIns="121912" tIns="60956" rIns="121912" bIns="60956"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3200" b="0" i="0" u="none" strike="noStrike" kern="1200" cap="none" spc="0" normalizeH="0" baseline="0" noProof="0">
              <a:ln>
                <a:noFill/>
              </a:ln>
              <a:solidFill>
                <a:prstClr val="white"/>
              </a:solidFill>
              <a:effectLst/>
              <a:uLnTx/>
              <a:uFillTx/>
              <a:latin typeface="Segoe UI" panose="020B0502040204020203" pitchFamily="34" charset="0"/>
              <a:ea typeface="+mn-ea"/>
              <a:cs typeface="Segoe UI" panose="020B0502040204020203" pitchFamily="34" charset="0"/>
            </a:endParaRPr>
          </a:p>
        </p:txBody>
      </p:sp>
      <p:pic>
        <p:nvPicPr>
          <p:cNvPr id="14" name="Picture 4" descr="http://cafef.vcmedia.vn/thumb_w/630/Images/Uploaded/Share/a2a1f5bd9a2fc528672acf6bfcb2301a/2013/11/15/04/giai-doan-1-dap-ung-duoc-cho-lam-viec-cho-17001900-nguoi.jpg">
            <a:extLst>
              <a:ext uri="{FF2B5EF4-FFF2-40B4-BE49-F238E27FC236}">
                <a16:creationId xmlns:a16="http://schemas.microsoft.com/office/drawing/2014/main" id="{7FCBECA3-2B40-C7BC-FA18-279EB6B1198C}"/>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74663" y="2155550"/>
            <a:ext cx="2724431" cy="1873696"/>
          </a:xfrm>
          <a:prstGeom prst="rect">
            <a:avLst/>
          </a:prstGeom>
          <a:noFill/>
        </p:spPr>
      </p:pic>
      <p:pic>
        <p:nvPicPr>
          <p:cNvPr id="16" name="Picture 3">
            <a:extLst>
              <a:ext uri="{FF2B5EF4-FFF2-40B4-BE49-F238E27FC236}">
                <a16:creationId xmlns:a16="http://schemas.microsoft.com/office/drawing/2014/main" id="{0EC4498E-0255-F847-71AB-CDF122246DA8}"/>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649060" y="2304643"/>
            <a:ext cx="334925" cy="2585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7" name="Picture 3">
            <a:extLst>
              <a:ext uri="{FF2B5EF4-FFF2-40B4-BE49-F238E27FC236}">
                <a16:creationId xmlns:a16="http://schemas.microsoft.com/office/drawing/2014/main" id="{585A9149-1C47-240A-DD88-9F6029165822}"/>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3624000" y="1341690"/>
            <a:ext cx="334925" cy="25853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5">
            <a:extLst>
              <a:ext uri="{FF2B5EF4-FFF2-40B4-BE49-F238E27FC236}">
                <a16:creationId xmlns:a16="http://schemas.microsoft.com/office/drawing/2014/main" id="{A7BAD093-C935-65FF-0348-39655FCA3AAD}"/>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3437375" y="1807898"/>
            <a:ext cx="354088" cy="34765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nvGrpSpPr>
          <p:cNvPr id="19" name="Group 18">
            <a:extLst>
              <a:ext uri="{FF2B5EF4-FFF2-40B4-BE49-F238E27FC236}">
                <a16:creationId xmlns:a16="http://schemas.microsoft.com/office/drawing/2014/main" id="{52910E44-F1A0-4BE1-CB9A-1BDF31335202}"/>
              </a:ext>
            </a:extLst>
          </p:cNvPr>
          <p:cNvGrpSpPr/>
          <p:nvPr/>
        </p:nvGrpSpPr>
        <p:grpSpPr>
          <a:xfrm>
            <a:off x="9382125" y="4227913"/>
            <a:ext cx="2391492" cy="1877732"/>
            <a:chOff x="9201873" y="4240440"/>
            <a:chExt cx="2569387" cy="2163807"/>
          </a:xfrm>
        </p:grpSpPr>
        <p:sp>
          <p:nvSpPr>
            <p:cNvPr id="20" name="TextBox 19">
              <a:extLst>
                <a:ext uri="{FF2B5EF4-FFF2-40B4-BE49-F238E27FC236}">
                  <a16:creationId xmlns:a16="http://schemas.microsoft.com/office/drawing/2014/main" id="{DB70F2DB-BC56-935D-4AEE-4CBF2C7CDDE1}"/>
                </a:ext>
              </a:extLst>
            </p:cNvPr>
            <p:cNvSpPr txBox="1"/>
            <p:nvPr/>
          </p:nvSpPr>
          <p:spPr>
            <a:xfrm>
              <a:off x="9201873" y="4240440"/>
              <a:ext cx="2520224" cy="2163807"/>
            </a:xfrm>
            <a:prstGeom prst="rect">
              <a:avLst/>
            </a:prstGeom>
            <a:solidFill>
              <a:sysClr val="window" lastClr="FFFFFF"/>
            </a:solidFill>
            <a:ln>
              <a:solidFill>
                <a:srgbClr val="70AD47">
                  <a:lumMod val="75000"/>
                </a:srgbClr>
              </a:solidFill>
            </a:ln>
          </p:spPr>
          <p:txBody>
            <a:bodyPr wrap="square" lIns="0" rIns="0" rtlCol="0">
              <a:noAutofit/>
            </a:bodyPr>
            <a:lstStyle/>
            <a:p>
              <a:pPr marL="144000" marR="0" lvl="0" indent="0" algn="ctr" defTabSz="914400" eaLnBrk="1" fontAlgn="auto" latinLnBrk="0" hangingPunct="1">
                <a:lnSpc>
                  <a:spcPct val="100000"/>
                </a:lnSpc>
                <a:spcBef>
                  <a:spcPts val="300"/>
                </a:spcBef>
                <a:spcAft>
                  <a:spcPts val="300"/>
                </a:spcAft>
                <a:buClr>
                  <a:srgbClr val="36365C">
                    <a:lumMod val="75000"/>
                    <a:lumOff val="25000"/>
                  </a:srgbClr>
                </a:buClr>
                <a:buSzTx/>
                <a:buFontTx/>
                <a:buNone/>
                <a:tabLst/>
                <a:defRPr/>
              </a:pPr>
              <a:r>
                <a:rPr kumimoji="0" lang="pt-BR" altLang="ja-JP" sz="1600" b="1" i="0" u="none" strike="noStrike" kern="1200" cap="none" spc="0" normalizeH="0" baseline="0" noProof="0" dirty="0">
                  <a:ln>
                    <a:noFill/>
                  </a:ln>
                  <a:solidFill>
                    <a:srgbClr val="36365C">
                      <a:lumMod val="75000"/>
                      <a:lumOff val="25000"/>
                    </a:srgbClr>
                  </a:solidFill>
                  <a:effectLst/>
                  <a:uLnTx/>
                  <a:uFillTx/>
                  <a:latin typeface="Segoe UI" panose="020B0502040204020203" pitchFamily="34" charset="0"/>
                  <a:ea typeface="+mn-ea"/>
                  <a:cs typeface="Segoe UI" panose="020B0502040204020203" pitchFamily="34" charset="0"/>
                </a:rPr>
                <a:t>ISO 27001:2013 </a:t>
              </a:r>
            </a:p>
            <a:p>
              <a:pPr marL="144000" marR="0" lvl="0" indent="0" algn="ctr" defTabSz="914400" eaLnBrk="1" fontAlgn="auto" latinLnBrk="0" hangingPunct="1">
                <a:lnSpc>
                  <a:spcPct val="100000"/>
                </a:lnSpc>
                <a:spcBef>
                  <a:spcPts val="300"/>
                </a:spcBef>
                <a:spcAft>
                  <a:spcPts val="300"/>
                </a:spcAft>
                <a:buClr>
                  <a:srgbClr val="36365C">
                    <a:lumMod val="75000"/>
                    <a:lumOff val="25000"/>
                  </a:srgbClr>
                </a:buClr>
                <a:buSzTx/>
                <a:buFontTx/>
                <a:buNone/>
                <a:tabLst/>
                <a:defRPr/>
              </a:pPr>
              <a:r>
                <a:rPr kumimoji="0" lang="pt-BR" altLang="ja-JP" sz="1600" b="1" i="0" u="none" strike="noStrike" kern="1200" cap="none" spc="0" normalizeH="0" baseline="0" noProof="0" dirty="0">
                  <a:ln>
                    <a:noFill/>
                  </a:ln>
                  <a:solidFill>
                    <a:srgbClr val="36365C">
                      <a:lumMod val="75000"/>
                      <a:lumOff val="25000"/>
                    </a:srgbClr>
                  </a:solidFill>
                  <a:effectLst/>
                  <a:uLnTx/>
                  <a:uFillTx/>
                  <a:latin typeface="Segoe UI" panose="020B0502040204020203" pitchFamily="34" charset="0"/>
                  <a:ea typeface="+mn-ea"/>
                  <a:cs typeface="Segoe UI" panose="020B0502040204020203" pitchFamily="34" charset="0"/>
                </a:rPr>
                <a:t>(BS 7799 -2:2002)</a:t>
              </a:r>
            </a:p>
          </p:txBody>
        </p:sp>
        <p:sp>
          <p:nvSpPr>
            <p:cNvPr id="21" name="TextBox 20">
              <a:extLst>
                <a:ext uri="{FF2B5EF4-FFF2-40B4-BE49-F238E27FC236}">
                  <a16:creationId xmlns:a16="http://schemas.microsoft.com/office/drawing/2014/main" id="{6ABE96F2-AF64-2688-4353-CB9DEEA70137}"/>
                </a:ext>
              </a:extLst>
            </p:cNvPr>
            <p:cNvSpPr txBox="1"/>
            <p:nvPr/>
          </p:nvSpPr>
          <p:spPr>
            <a:xfrm>
              <a:off x="9329197" y="5805214"/>
              <a:ext cx="2442063" cy="584775"/>
            </a:xfrm>
            <a:prstGeom prst="rect">
              <a:avLst/>
            </a:prstGeom>
            <a:noFill/>
          </p:spPr>
          <p:txBody>
            <a:bodyPr wrap="square" rtlCol="0">
              <a:sp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SG" sz="1600" b="1" i="0" u="none" strike="noStrike" kern="1200" cap="none" spc="0" normalizeH="0" baseline="0" noProof="0" dirty="0">
                  <a:ln>
                    <a:noFill/>
                  </a:ln>
                  <a:solidFill>
                    <a:srgbClr val="36365C"/>
                  </a:solidFill>
                  <a:effectLst/>
                  <a:uLnTx/>
                  <a:uFillTx/>
                  <a:latin typeface="Segoe UI" panose="020B0502040204020203" pitchFamily="34" charset="0"/>
                  <a:ea typeface="+mn-ea"/>
                  <a:cs typeface="Segoe UI" panose="020B0502040204020203" pitchFamily="34" charset="0"/>
                </a:rPr>
                <a:t>International Security Standards</a:t>
              </a:r>
            </a:p>
          </p:txBody>
        </p:sp>
        <p:pic>
          <p:nvPicPr>
            <p:cNvPr id="22" name="Picture 2" descr="Image result for ISO 27001:2013">
              <a:extLst>
                <a:ext uri="{FF2B5EF4-FFF2-40B4-BE49-F238E27FC236}">
                  <a16:creationId xmlns:a16="http://schemas.microsoft.com/office/drawing/2014/main" id="{F36AF700-F061-1333-B127-EC224B4E2A61}"/>
                </a:ext>
              </a:extLst>
            </p:cNvPr>
            <p:cNvPicPr>
              <a:picLocks noChangeAspect="1" noChangeArrowheads="1"/>
            </p:cNvPicPr>
            <p:nvPr/>
          </p:nvPicPr>
          <p:blipFill>
            <a:blip r:embed="rId5" cstate="screen">
              <a:extLst>
                <a:ext uri="{28A0092B-C50C-407E-A947-70E740481C1C}">
                  <a14:useLocalDpi xmlns:a14="http://schemas.microsoft.com/office/drawing/2010/main"/>
                </a:ext>
              </a:extLst>
            </a:blip>
            <a:srcRect/>
            <a:stretch>
              <a:fillRect/>
            </a:stretch>
          </p:blipFill>
          <p:spPr bwMode="auto">
            <a:xfrm>
              <a:off x="10051957" y="4863562"/>
              <a:ext cx="990240" cy="990240"/>
            </a:xfrm>
            <a:prstGeom prst="rect">
              <a:avLst/>
            </a:prstGeom>
            <a:noFill/>
            <a:extLst>
              <a:ext uri="{909E8E84-426E-40DD-AFC4-6F175D3DCCD1}">
                <a14:hiddenFill xmlns:a14="http://schemas.microsoft.com/office/drawing/2010/main">
                  <a:solidFill>
                    <a:srgbClr val="FFFFFF"/>
                  </a:solidFill>
                </a14:hiddenFill>
              </a:ext>
            </a:extLst>
          </p:spPr>
        </p:pic>
      </p:grpSp>
      <p:sp>
        <p:nvSpPr>
          <p:cNvPr id="23" name="Text Placeholder 15">
            <a:extLst>
              <a:ext uri="{FF2B5EF4-FFF2-40B4-BE49-F238E27FC236}">
                <a16:creationId xmlns:a16="http://schemas.microsoft.com/office/drawing/2014/main" id="{37708CE2-69C3-7133-0D4B-E9DD006A290F}"/>
              </a:ext>
            </a:extLst>
          </p:cNvPr>
          <p:cNvSpPr txBox="1">
            <a:spLocks/>
          </p:cNvSpPr>
          <p:nvPr/>
        </p:nvSpPr>
        <p:spPr>
          <a:xfrm>
            <a:off x="949419" y="961160"/>
            <a:ext cx="10463213" cy="311184"/>
          </a:xfrm>
          <a:prstGeom prst="rect">
            <a:avLst/>
          </a:prstGeom>
        </p:spPr>
        <p:txBody>
          <a:bodyPr/>
          <a:lstStyle>
            <a:lvl1pPr marL="228600" indent="-228600" algn="l" defTabSz="914400" rtl="0" eaLnBrk="1" latinLnBrk="0" hangingPunct="1">
              <a:lnSpc>
                <a:spcPct val="90000"/>
              </a:lnSpc>
              <a:spcBef>
                <a:spcPts val="1000"/>
              </a:spcBef>
              <a:buClr>
                <a:srgbClr val="F27228"/>
              </a:buClr>
              <a:buFont typeface="Arial" panose="020B0604020202020204" pitchFamily="34" charset="0"/>
              <a:buChar char="•"/>
              <a:defRPr sz="1600" kern="1200">
                <a:solidFill>
                  <a:srgbClr val="36365C"/>
                </a:solidFill>
                <a:latin typeface="Tahoma" panose="020B0604030504040204" pitchFamily="34" charset="0"/>
                <a:ea typeface="Tahoma" panose="020B0604030504040204" pitchFamily="34" charset="0"/>
                <a:cs typeface="Tahoma" panose="020B0604030504040204" pitchFamily="34" charset="0"/>
              </a:defRPr>
            </a:lvl1pPr>
            <a:lvl2pPr marL="6858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2pPr>
            <a:lvl3pPr marL="11430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3pPr>
            <a:lvl4pPr marL="16002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4pPr>
            <a:lvl5pPr marL="2057400" indent="-228600" algn="l" defTabSz="914400" rtl="0" eaLnBrk="1" latinLnBrk="0" hangingPunct="1">
              <a:lnSpc>
                <a:spcPct val="90000"/>
              </a:lnSpc>
              <a:spcBef>
                <a:spcPts val="500"/>
              </a:spcBef>
              <a:buClr>
                <a:srgbClr val="F27228"/>
              </a:buClr>
              <a:buFont typeface="Arial" panose="020B0604020202020204" pitchFamily="34" charset="0"/>
              <a:buChar char="•"/>
              <a:defRPr sz="1400" kern="1200">
                <a:solidFill>
                  <a:srgbClr val="36365C"/>
                </a:solidFill>
                <a:latin typeface="Tahoma" panose="020B0604030504040204" pitchFamily="34" charset="0"/>
                <a:ea typeface="Tahoma" panose="020B0604030504040204" pitchFamily="34" charset="0"/>
                <a:cs typeface="Tahoma" panose="020B0604030504040204" pitchFamily="34"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en-US" sz="1800" b="1" i="0" u="none" strike="noStrike" kern="1200" cap="none" spc="0" normalizeH="0" baseline="0" noProof="0" dirty="0">
                <a:ln>
                  <a:noFill/>
                </a:ln>
                <a:solidFill>
                  <a:srgbClr val="36365C"/>
                </a:solidFill>
                <a:effectLst/>
                <a:uLnTx/>
                <a:uFillTx/>
                <a:latin typeface="Tahoma" panose="020B0604030504040204" pitchFamily="34" charset="0"/>
                <a:ea typeface="Tahoma" panose="020B0604030504040204" pitchFamily="34" charset="0"/>
                <a:cs typeface="Tahoma" panose="020B0604030504040204" pitchFamily="34" charset="0"/>
              </a:rPr>
              <a:t>Security Room</a:t>
            </a:r>
          </a:p>
        </p:txBody>
      </p:sp>
    </p:spTree>
    <p:extLst>
      <p:ext uri="{BB962C8B-B14F-4D97-AF65-F5344CB8AC3E}">
        <p14:creationId xmlns:p14="http://schemas.microsoft.com/office/powerpoint/2010/main" val="17329135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22</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9341908" cy="584775"/>
            <a:chOff x="479425" y="461520"/>
            <a:chExt cx="9341908"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4" y="461520"/>
              <a:ext cx="9285069"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12. Working space – FPT Software Da Nang</a:t>
              </a:r>
            </a:p>
          </p:txBody>
        </p:sp>
      </p:grpSp>
      <p:grpSp>
        <p:nvGrpSpPr>
          <p:cNvPr id="3" name="Group 2">
            <a:extLst>
              <a:ext uri="{FF2B5EF4-FFF2-40B4-BE49-F238E27FC236}">
                <a16:creationId xmlns:a16="http://schemas.microsoft.com/office/drawing/2014/main" id="{2550A2D7-987F-85C7-6B9F-F6A90EDEBEBB}"/>
              </a:ext>
            </a:extLst>
          </p:cNvPr>
          <p:cNvGrpSpPr>
            <a:grpSpLocks noChangeAspect="1"/>
          </p:cNvGrpSpPr>
          <p:nvPr/>
        </p:nvGrpSpPr>
        <p:grpSpPr bwMode="auto">
          <a:xfrm>
            <a:off x="1059980" y="1565751"/>
            <a:ext cx="3166750" cy="4844562"/>
            <a:chOff x="713" y="88"/>
            <a:chExt cx="2669" cy="4125"/>
          </a:xfrm>
          <a:solidFill>
            <a:sysClr val="window" lastClr="FFFFFF">
              <a:lumMod val="75000"/>
            </a:sysClr>
          </a:solidFill>
        </p:grpSpPr>
        <p:grpSp>
          <p:nvGrpSpPr>
            <p:cNvPr id="15" name="Group 1977">
              <a:extLst>
                <a:ext uri="{FF2B5EF4-FFF2-40B4-BE49-F238E27FC236}">
                  <a16:creationId xmlns:a16="http://schemas.microsoft.com/office/drawing/2014/main" id="{EC4779E8-837B-0A1B-64B1-6644A0E1501D}"/>
                </a:ext>
              </a:extLst>
            </p:cNvPr>
            <p:cNvGrpSpPr>
              <a:grpSpLocks/>
            </p:cNvGrpSpPr>
            <p:nvPr/>
          </p:nvGrpSpPr>
          <p:grpSpPr bwMode="auto">
            <a:xfrm>
              <a:off x="713" y="88"/>
              <a:ext cx="2669" cy="4125"/>
              <a:chOff x="713" y="88"/>
              <a:chExt cx="2669" cy="4125"/>
            </a:xfrm>
            <a:grpFill/>
          </p:grpSpPr>
          <p:sp>
            <p:nvSpPr>
              <p:cNvPr id="202" name="Freeform 1777">
                <a:extLst>
                  <a:ext uri="{FF2B5EF4-FFF2-40B4-BE49-F238E27FC236}">
                    <a16:creationId xmlns:a16="http://schemas.microsoft.com/office/drawing/2014/main" id="{4D3F890D-6948-2A92-AA06-DABA2FA9FFCF}"/>
                  </a:ext>
                </a:extLst>
              </p:cNvPr>
              <p:cNvSpPr>
                <a:spLocks/>
              </p:cNvSpPr>
              <p:nvPr/>
            </p:nvSpPr>
            <p:spPr bwMode="auto">
              <a:xfrm>
                <a:off x="1694" y="3846"/>
                <a:ext cx="61" cy="76"/>
              </a:xfrm>
              <a:custGeom>
                <a:avLst/>
                <a:gdLst>
                  <a:gd name="T0" fmla="*/ 0 w 275"/>
                  <a:gd name="T1" fmla="*/ 14 h 343"/>
                  <a:gd name="T2" fmla="*/ 50 w 275"/>
                  <a:gd name="T3" fmla="*/ 108 h 343"/>
                  <a:gd name="T4" fmla="*/ 133 w 275"/>
                  <a:gd name="T5" fmla="*/ 200 h 343"/>
                  <a:gd name="T6" fmla="*/ 193 w 275"/>
                  <a:gd name="T7" fmla="*/ 292 h 343"/>
                  <a:gd name="T8" fmla="*/ 223 w 275"/>
                  <a:gd name="T9" fmla="*/ 331 h 343"/>
                  <a:gd name="T10" fmla="*/ 273 w 275"/>
                  <a:gd name="T11" fmla="*/ 262 h 343"/>
                  <a:gd name="T12" fmla="*/ 232 w 275"/>
                  <a:gd name="T13" fmla="*/ 218 h 343"/>
                  <a:gd name="T14" fmla="*/ 98 w 275"/>
                  <a:gd name="T15" fmla="*/ 104 h 343"/>
                  <a:gd name="T16" fmla="*/ 0 w 275"/>
                  <a:gd name="T17" fmla="*/ 14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 h="343">
                    <a:moveTo>
                      <a:pt x="0" y="14"/>
                    </a:moveTo>
                    <a:cubicBezTo>
                      <a:pt x="0" y="14"/>
                      <a:pt x="13" y="48"/>
                      <a:pt x="50" y="108"/>
                    </a:cubicBezTo>
                    <a:cubicBezTo>
                      <a:pt x="87" y="168"/>
                      <a:pt x="101" y="170"/>
                      <a:pt x="133" y="200"/>
                    </a:cubicBezTo>
                    <a:cubicBezTo>
                      <a:pt x="165" y="230"/>
                      <a:pt x="193" y="264"/>
                      <a:pt x="193" y="292"/>
                    </a:cubicBezTo>
                    <a:cubicBezTo>
                      <a:pt x="193" y="320"/>
                      <a:pt x="200" y="343"/>
                      <a:pt x="223" y="331"/>
                    </a:cubicBezTo>
                    <a:cubicBezTo>
                      <a:pt x="245" y="320"/>
                      <a:pt x="275" y="294"/>
                      <a:pt x="273" y="262"/>
                    </a:cubicBezTo>
                    <a:cubicBezTo>
                      <a:pt x="271" y="230"/>
                      <a:pt x="257" y="223"/>
                      <a:pt x="232" y="218"/>
                    </a:cubicBezTo>
                    <a:cubicBezTo>
                      <a:pt x="206" y="214"/>
                      <a:pt x="112" y="124"/>
                      <a:pt x="98" y="104"/>
                    </a:cubicBezTo>
                    <a:cubicBezTo>
                      <a:pt x="85" y="83"/>
                      <a:pt x="13" y="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03" name="Freeform 1778">
                <a:extLst>
                  <a:ext uri="{FF2B5EF4-FFF2-40B4-BE49-F238E27FC236}">
                    <a16:creationId xmlns:a16="http://schemas.microsoft.com/office/drawing/2014/main" id="{6DF2422D-5774-D65C-8B39-F97A98795F34}"/>
                  </a:ext>
                </a:extLst>
              </p:cNvPr>
              <p:cNvSpPr>
                <a:spLocks noEditPoints="1"/>
              </p:cNvSpPr>
              <p:nvPr/>
            </p:nvSpPr>
            <p:spPr bwMode="auto">
              <a:xfrm>
                <a:off x="1693" y="3848"/>
                <a:ext cx="63" cy="73"/>
              </a:xfrm>
              <a:custGeom>
                <a:avLst/>
                <a:gdLst>
                  <a:gd name="T0" fmla="*/ 2 w 285"/>
                  <a:gd name="T1" fmla="*/ 3 h 332"/>
                  <a:gd name="T2" fmla="*/ 0 w 285"/>
                  <a:gd name="T3" fmla="*/ 5 h 332"/>
                  <a:gd name="T4" fmla="*/ 1 w 285"/>
                  <a:gd name="T5" fmla="*/ 8 h 332"/>
                  <a:gd name="T6" fmla="*/ 51 w 285"/>
                  <a:gd name="T7" fmla="*/ 102 h 332"/>
                  <a:gd name="T8" fmla="*/ 114 w 285"/>
                  <a:gd name="T9" fmla="*/ 177 h 332"/>
                  <a:gd name="T10" fmla="*/ 135 w 285"/>
                  <a:gd name="T11" fmla="*/ 195 h 332"/>
                  <a:gd name="T12" fmla="*/ 193 w 285"/>
                  <a:gd name="T13" fmla="*/ 284 h 332"/>
                  <a:gd name="T14" fmla="*/ 207 w 285"/>
                  <a:gd name="T15" fmla="*/ 328 h 332"/>
                  <a:gd name="T16" fmla="*/ 229 w 285"/>
                  <a:gd name="T17" fmla="*/ 327 h 332"/>
                  <a:gd name="T18" fmla="*/ 282 w 285"/>
                  <a:gd name="T19" fmla="*/ 254 h 332"/>
                  <a:gd name="T20" fmla="*/ 237 w 285"/>
                  <a:gd name="T21" fmla="*/ 206 h 332"/>
                  <a:gd name="T22" fmla="*/ 107 w 285"/>
                  <a:gd name="T23" fmla="*/ 93 h 332"/>
                  <a:gd name="T24" fmla="*/ 10 w 285"/>
                  <a:gd name="T25" fmla="*/ 0 h 332"/>
                  <a:gd name="T26" fmla="*/ 2 w 285"/>
                  <a:gd name="T27" fmla="*/ 3 h 332"/>
                  <a:gd name="T28" fmla="*/ 212 w 285"/>
                  <a:gd name="T29" fmla="*/ 321 h 332"/>
                  <a:gd name="T30" fmla="*/ 202 w 285"/>
                  <a:gd name="T31" fmla="*/ 284 h 332"/>
                  <a:gd name="T32" fmla="*/ 141 w 285"/>
                  <a:gd name="T33" fmla="*/ 189 h 332"/>
                  <a:gd name="T34" fmla="*/ 120 w 285"/>
                  <a:gd name="T35" fmla="*/ 171 h 332"/>
                  <a:gd name="T36" fmla="*/ 59 w 285"/>
                  <a:gd name="T37" fmla="*/ 98 h 332"/>
                  <a:gd name="T38" fmla="*/ 11 w 285"/>
                  <a:gd name="T39" fmla="*/ 9 h 332"/>
                  <a:gd name="T40" fmla="*/ 100 w 285"/>
                  <a:gd name="T41" fmla="*/ 98 h 332"/>
                  <a:gd name="T42" fmla="*/ 236 w 285"/>
                  <a:gd name="T43" fmla="*/ 215 h 332"/>
                  <a:gd name="T44" fmla="*/ 274 w 285"/>
                  <a:gd name="T45" fmla="*/ 254 h 332"/>
                  <a:gd name="T46" fmla="*/ 274 w 285"/>
                  <a:gd name="T47" fmla="*/ 258 h 332"/>
                  <a:gd name="T48" fmla="*/ 226 w 285"/>
                  <a:gd name="T49" fmla="*/ 319 h 332"/>
                  <a:gd name="T50" fmla="*/ 212 w 285"/>
                  <a:gd name="T51" fmla="*/ 321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5" h="332">
                    <a:moveTo>
                      <a:pt x="2" y="3"/>
                    </a:moveTo>
                    <a:cubicBezTo>
                      <a:pt x="0" y="5"/>
                      <a:pt x="0" y="5"/>
                      <a:pt x="0" y="5"/>
                    </a:cubicBezTo>
                    <a:cubicBezTo>
                      <a:pt x="1" y="8"/>
                      <a:pt x="1" y="8"/>
                      <a:pt x="1" y="8"/>
                    </a:cubicBezTo>
                    <a:cubicBezTo>
                      <a:pt x="1" y="9"/>
                      <a:pt x="15" y="43"/>
                      <a:pt x="51" y="102"/>
                    </a:cubicBezTo>
                    <a:cubicBezTo>
                      <a:pt x="80" y="148"/>
                      <a:pt x="95" y="161"/>
                      <a:pt x="114" y="177"/>
                    </a:cubicBezTo>
                    <a:cubicBezTo>
                      <a:pt x="135" y="195"/>
                      <a:pt x="135" y="195"/>
                      <a:pt x="135" y="195"/>
                    </a:cubicBezTo>
                    <a:cubicBezTo>
                      <a:pt x="173" y="230"/>
                      <a:pt x="193" y="262"/>
                      <a:pt x="193" y="284"/>
                    </a:cubicBezTo>
                    <a:cubicBezTo>
                      <a:pt x="193" y="307"/>
                      <a:pt x="198" y="322"/>
                      <a:pt x="207" y="328"/>
                    </a:cubicBezTo>
                    <a:cubicBezTo>
                      <a:pt x="213" y="332"/>
                      <a:pt x="221" y="331"/>
                      <a:pt x="229" y="327"/>
                    </a:cubicBezTo>
                    <a:cubicBezTo>
                      <a:pt x="255" y="314"/>
                      <a:pt x="285" y="287"/>
                      <a:pt x="282" y="254"/>
                    </a:cubicBezTo>
                    <a:cubicBezTo>
                      <a:pt x="280" y="220"/>
                      <a:pt x="265" y="211"/>
                      <a:pt x="237" y="206"/>
                    </a:cubicBezTo>
                    <a:cubicBezTo>
                      <a:pt x="215" y="202"/>
                      <a:pt x="121" y="114"/>
                      <a:pt x="107" y="93"/>
                    </a:cubicBezTo>
                    <a:cubicBezTo>
                      <a:pt x="97" y="79"/>
                      <a:pt x="34" y="3"/>
                      <a:pt x="10" y="0"/>
                    </a:cubicBezTo>
                    <a:cubicBezTo>
                      <a:pt x="6" y="0"/>
                      <a:pt x="3" y="1"/>
                      <a:pt x="2" y="3"/>
                    </a:cubicBezTo>
                    <a:close/>
                    <a:moveTo>
                      <a:pt x="212" y="321"/>
                    </a:moveTo>
                    <a:cubicBezTo>
                      <a:pt x="206" y="317"/>
                      <a:pt x="202" y="303"/>
                      <a:pt x="202" y="284"/>
                    </a:cubicBezTo>
                    <a:cubicBezTo>
                      <a:pt x="202" y="252"/>
                      <a:pt x="169" y="215"/>
                      <a:pt x="141" y="189"/>
                    </a:cubicBezTo>
                    <a:cubicBezTo>
                      <a:pt x="120" y="171"/>
                      <a:pt x="120" y="171"/>
                      <a:pt x="120" y="171"/>
                    </a:cubicBezTo>
                    <a:cubicBezTo>
                      <a:pt x="100" y="154"/>
                      <a:pt x="86" y="143"/>
                      <a:pt x="59" y="98"/>
                    </a:cubicBezTo>
                    <a:cubicBezTo>
                      <a:pt x="30" y="52"/>
                      <a:pt x="16" y="21"/>
                      <a:pt x="11" y="9"/>
                    </a:cubicBezTo>
                    <a:cubicBezTo>
                      <a:pt x="31" y="14"/>
                      <a:pt x="86" y="77"/>
                      <a:pt x="100" y="98"/>
                    </a:cubicBezTo>
                    <a:cubicBezTo>
                      <a:pt x="114" y="119"/>
                      <a:pt x="208" y="210"/>
                      <a:pt x="236" y="215"/>
                    </a:cubicBezTo>
                    <a:cubicBezTo>
                      <a:pt x="261" y="219"/>
                      <a:pt x="272" y="226"/>
                      <a:pt x="274" y="254"/>
                    </a:cubicBezTo>
                    <a:cubicBezTo>
                      <a:pt x="274" y="256"/>
                      <a:pt x="274" y="257"/>
                      <a:pt x="274" y="258"/>
                    </a:cubicBezTo>
                    <a:cubicBezTo>
                      <a:pt x="274" y="285"/>
                      <a:pt x="248" y="308"/>
                      <a:pt x="226" y="319"/>
                    </a:cubicBezTo>
                    <a:cubicBezTo>
                      <a:pt x="220" y="322"/>
                      <a:pt x="215" y="323"/>
                      <a:pt x="212" y="3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04" name="Freeform 1779">
                <a:extLst>
                  <a:ext uri="{FF2B5EF4-FFF2-40B4-BE49-F238E27FC236}">
                    <a16:creationId xmlns:a16="http://schemas.microsoft.com/office/drawing/2014/main" id="{BEA7B518-8853-C19B-EFBB-A006FE0FDBC5}"/>
                  </a:ext>
                </a:extLst>
              </p:cNvPr>
              <p:cNvSpPr>
                <a:spLocks/>
              </p:cNvSpPr>
              <p:nvPr/>
            </p:nvSpPr>
            <p:spPr bwMode="auto">
              <a:xfrm>
                <a:off x="1712" y="3689"/>
                <a:ext cx="192" cy="101"/>
              </a:xfrm>
              <a:custGeom>
                <a:avLst/>
                <a:gdLst>
                  <a:gd name="T0" fmla="*/ 97 w 869"/>
                  <a:gd name="T1" fmla="*/ 34 h 454"/>
                  <a:gd name="T2" fmla="*/ 81 w 869"/>
                  <a:gd name="T3" fmla="*/ 85 h 454"/>
                  <a:gd name="T4" fmla="*/ 191 w 869"/>
                  <a:gd name="T5" fmla="*/ 69 h 454"/>
                  <a:gd name="T6" fmla="*/ 314 w 869"/>
                  <a:gd name="T7" fmla="*/ 154 h 454"/>
                  <a:gd name="T8" fmla="*/ 432 w 869"/>
                  <a:gd name="T9" fmla="*/ 323 h 454"/>
                  <a:gd name="T10" fmla="*/ 568 w 869"/>
                  <a:gd name="T11" fmla="*/ 417 h 454"/>
                  <a:gd name="T12" fmla="*/ 650 w 869"/>
                  <a:gd name="T13" fmla="*/ 423 h 454"/>
                  <a:gd name="T14" fmla="*/ 682 w 869"/>
                  <a:gd name="T15" fmla="*/ 303 h 454"/>
                  <a:gd name="T16" fmla="*/ 793 w 869"/>
                  <a:gd name="T17" fmla="*/ 310 h 454"/>
                  <a:gd name="T18" fmla="*/ 762 w 869"/>
                  <a:gd name="T19" fmla="*/ 172 h 454"/>
                  <a:gd name="T20" fmla="*/ 528 w 869"/>
                  <a:gd name="T21" fmla="*/ 105 h 454"/>
                  <a:gd name="T22" fmla="*/ 337 w 869"/>
                  <a:gd name="T23" fmla="*/ 20 h 454"/>
                  <a:gd name="T24" fmla="*/ 97 w 869"/>
                  <a:gd name="T25" fmla="*/ 34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9" h="454">
                    <a:moveTo>
                      <a:pt x="97" y="34"/>
                    </a:moveTo>
                    <a:cubicBezTo>
                      <a:pt x="97" y="34"/>
                      <a:pt x="0" y="81"/>
                      <a:pt x="81" y="85"/>
                    </a:cubicBezTo>
                    <a:cubicBezTo>
                      <a:pt x="162" y="89"/>
                      <a:pt x="137" y="60"/>
                      <a:pt x="191" y="69"/>
                    </a:cubicBezTo>
                    <a:cubicBezTo>
                      <a:pt x="245" y="78"/>
                      <a:pt x="287" y="93"/>
                      <a:pt x="314" y="154"/>
                    </a:cubicBezTo>
                    <a:cubicBezTo>
                      <a:pt x="314" y="154"/>
                      <a:pt x="362" y="275"/>
                      <a:pt x="432" y="323"/>
                    </a:cubicBezTo>
                    <a:cubicBezTo>
                      <a:pt x="502" y="372"/>
                      <a:pt x="537" y="398"/>
                      <a:pt x="568" y="417"/>
                    </a:cubicBezTo>
                    <a:cubicBezTo>
                      <a:pt x="599" y="436"/>
                      <a:pt x="635" y="454"/>
                      <a:pt x="650" y="423"/>
                    </a:cubicBezTo>
                    <a:cubicBezTo>
                      <a:pt x="665" y="392"/>
                      <a:pt x="700" y="334"/>
                      <a:pt x="682" y="303"/>
                    </a:cubicBezTo>
                    <a:cubicBezTo>
                      <a:pt x="665" y="272"/>
                      <a:pt x="755" y="370"/>
                      <a:pt x="793" y="310"/>
                    </a:cubicBezTo>
                    <a:cubicBezTo>
                      <a:pt x="830" y="249"/>
                      <a:pt x="869" y="216"/>
                      <a:pt x="762" y="172"/>
                    </a:cubicBezTo>
                    <a:cubicBezTo>
                      <a:pt x="654" y="129"/>
                      <a:pt x="591" y="133"/>
                      <a:pt x="528" y="105"/>
                    </a:cubicBezTo>
                    <a:cubicBezTo>
                      <a:pt x="464" y="77"/>
                      <a:pt x="361" y="30"/>
                      <a:pt x="337" y="20"/>
                    </a:cubicBezTo>
                    <a:cubicBezTo>
                      <a:pt x="299" y="6"/>
                      <a:pt x="170" y="0"/>
                      <a:pt x="97"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05" name="Freeform 1780">
                <a:extLst>
                  <a:ext uri="{FF2B5EF4-FFF2-40B4-BE49-F238E27FC236}">
                    <a16:creationId xmlns:a16="http://schemas.microsoft.com/office/drawing/2014/main" id="{D4252CB1-4E9A-1485-4CEB-0F9990919231}"/>
                  </a:ext>
                </a:extLst>
              </p:cNvPr>
              <p:cNvSpPr>
                <a:spLocks noEditPoints="1"/>
              </p:cNvSpPr>
              <p:nvPr/>
            </p:nvSpPr>
            <p:spPr bwMode="auto">
              <a:xfrm>
                <a:off x="1721" y="3688"/>
                <a:ext cx="176" cy="100"/>
              </a:xfrm>
              <a:custGeom>
                <a:avLst/>
                <a:gdLst>
                  <a:gd name="T0" fmla="*/ 54 w 800"/>
                  <a:gd name="T1" fmla="*/ 34 h 452"/>
                  <a:gd name="T2" fmla="*/ 54 w 800"/>
                  <a:gd name="T3" fmla="*/ 34 h 452"/>
                  <a:gd name="T4" fmla="*/ 4 w 800"/>
                  <a:gd name="T5" fmla="*/ 79 h 452"/>
                  <a:gd name="T6" fmla="*/ 40 w 800"/>
                  <a:gd name="T7" fmla="*/ 93 h 452"/>
                  <a:gd name="T8" fmla="*/ 109 w 800"/>
                  <a:gd name="T9" fmla="*/ 82 h 452"/>
                  <a:gd name="T10" fmla="*/ 149 w 800"/>
                  <a:gd name="T11" fmla="*/ 77 h 452"/>
                  <a:gd name="T12" fmla="*/ 269 w 800"/>
                  <a:gd name="T13" fmla="*/ 159 h 452"/>
                  <a:gd name="T14" fmla="*/ 389 w 800"/>
                  <a:gd name="T15" fmla="*/ 331 h 452"/>
                  <a:gd name="T16" fmla="*/ 456 w 800"/>
                  <a:gd name="T17" fmla="*/ 378 h 452"/>
                  <a:gd name="T18" fmla="*/ 525 w 800"/>
                  <a:gd name="T19" fmla="*/ 425 h 452"/>
                  <a:gd name="T20" fmla="*/ 593 w 800"/>
                  <a:gd name="T21" fmla="*/ 447 h 452"/>
                  <a:gd name="T22" fmla="*/ 613 w 800"/>
                  <a:gd name="T23" fmla="*/ 429 h 452"/>
                  <a:gd name="T24" fmla="*/ 620 w 800"/>
                  <a:gd name="T25" fmla="*/ 414 h 452"/>
                  <a:gd name="T26" fmla="*/ 650 w 800"/>
                  <a:gd name="T27" fmla="*/ 327 h 452"/>
                  <a:gd name="T28" fmla="*/ 647 w 800"/>
                  <a:gd name="T29" fmla="*/ 309 h 452"/>
                  <a:gd name="T30" fmla="*/ 651 w 800"/>
                  <a:gd name="T31" fmla="*/ 312 h 452"/>
                  <a:gd name="T32" fmla="*/ 727 w 800"/>
                  <a:gd name="T33" fmla="*/ 337 h 452"/>
                  <a:gd name="T34" fmla="*/ 755 w 800"/>
                  <a:gd name="T35" fmla="*/ 316 h 452"/>
                  <a:gd name="T36" fmla="*/ 768 w 800"/>
                  <a:gd name="T37" fmla="*/ 297 h 452"/>
                  <a:gd name="T38" fmla="*/ 793 w 800"/>
                  <a:gd name="T39" fmla="*/ 225 h 452"/>
                  <a:gd name="T40" fmla="*/ 722 w 800"/>
                  <a:gd name="T41" fmla="*/ 172 h 452"/>
                  <a:gd name="T42" fmla="*/ 579 w 800"/>
                  <a:gd name="T43" fmla="*/ 131 h 452"/>
                  <a:gd name="T44" fmla="*/ 488 w 800"/>
                  <a:gd name="T45" fmla="*/ 105 h 452"/>
                  <a:gd name="T46" fmla="*/ 434 w 800"/>
                  <a:gd name="T47" fmla="*/ 81 h 452"/>
                  <a:gd name="T48" fmla="*/ 297 w 800"/>
                  <a:gd name="T49" fmla="*/ 20 h 452"/>
                  <a:gd name="T50" fmla="*/ 54 w 800"/>
                  <a:gd name="T51" fmla="*/ 34 h 452"/>
                  <a:gd name="T52" fmla="*/ 294 w 800"/>
                  <a:gd name="T53" fmla="*/ 29 h 452"/>
                  <a:gd name="T54" fmla="*/ 430 w 800"/>
                  <a:gd name="T55" fmla="*/ 89 h 452"/>
                  <a:gd name="T56" fmla="*/ 485 w 800"/>
                  <a:gd name="T57" fmla="*/ 113 h 452"/>
                  <a:gd name="T58" fmla="*/ 577 w 800"/>
                  <a:gd name="T59" fmla="*/ 140 h 452"/>
                  <a:gd name="T60" fmla="*/ 719 w 800"/>
                  <a:gd name="T61" fmla="*/ 181 h 452"/>
                  <a:gd name="T62" fmla="*/ 785 w 800"/>
                  <a:gd name="T63" fmla="*/ 228 h 452"/>
                  <a:gd name="T64" fmla="*/ 760 w 800"/>
                  <a:gd name="T65" fmla="*/ 292 h 452"/>
                  <a:gd name="T66" fmla="*/ 748 w 800"/>
                  <a:gd name="T67" fmla="*/ 311 h 452"/>
                  <a:gd name="T68" fmla="*/ 725 w 800"/>
                  <a:gd name="T69" fmla="*/ 329 h 452"/>
                  <a:gd name="T70" fmla="*/ 655 w 800"/>
                  <a:gd name="T71" fmla="*/ 304 h 452"/>
                  <a:gd name="T72" fmla="*/ 636 w 800"/>
                  <a:gd name="T73" fmla="*/ 298 h 452"/>
                  <a:gd name="T74" fmla="*/ 637 w 800"/>
                  <a:gd name="T75" fmla="*/ 309 h 452"/>
                  <a:gd name="T76" fmla="*/ 612 w 800"/>
                  <a:gd name="T77" fmla="*/ 410 h 452"/>
                  <a:gd name="T78" fmla="*/ 605 w 800"/>
                  <a:gd name="T79" fmla="*/ 425 h 452"/>
                  <a:gd name="T80" fmla="*/ 591 w 800"/>
                  <a:gd name="T81" fmla="*/ 438 h 452"/>
                  <a:gd name="T82" fmla="*/ 529 w 800"/>
                  <a:gd name="T83" fmla="*/ 418 h 452"/>
                  <a:gd name="T84" fmla="*/ 461 w 800"/>
                  <a:gd name="T85" fmla="*/ 371 h 452"/>
                  <a:gd name="T86" fmla="*/ 393 w 800"/>
                  <a:gd name="T87" fmla="*/ 324 h 452"/>
                  <a:gd name="T88" fmla="*/ 277 w 800"/>
                  <a:gd name="T89" fmla="*/ 156 h 452"/>
                  <a:gd name="T90" fmla="*/ 151 w 800"/>
                  <a:gd name="T91" fmla="*/ 69 h 452"/>
                  <a:gd name="T92" fmla="*/ 105 w 800"/>
                  <a:gd name="T93" fmla="*/ 74 h 452"/>
                  <a:gd name="T94" fmla="*/ 40 w 800"/>
                  <a:gd name="T95" fmla="*/ 85 h 452"/>
                  <a:gd name="T96" fmla="*/ 12 w 800"/>
                  <a:gd name="T97" fmla="*/ 77 h 452"/>
                  <a:gd name="T98" fmla="*/ 12 w 800"/>
                  <a:gd name="T99" fmla="*/ 76 h 452"/>
                  <a:gd name="T100" fmla="*/ 58 w 800"/>
                  <a:gd name="T101" fmla="*/ 42 h 452"/>
                  <a:gd name="T102" fmla="*/ 294 w 800"/>
                  <a:gd name="T103" fmla="*/ 29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00" h="452">
                    <a:moveTo>
                      <a:pt x="54" y="34"/>
                    </a:moveTo>
                    <a:cubicBezTo>
                      <a:pt x="54" y="34"/>
                      <a:pt x="54" y="34"/>
                      <a:pt x="54" y="34"/>
                    </a:cubicBezTo>
                    <a:cubicBezTo>
                      <a:pt x="41" y="40"/>
                      <a:pt x="0" y="62"/>
                      <a:pt x="4" y="79"/>
                    </a:cubicBezTo>
                    <a:cubicBezTo>
                      <a:pt x="5" y="88"/>
                      <a:pt x="17" y="92"/>
                      <a:pt x="40" y="93"/>
                    </a:cubicBezTo>
                    <a:cubicBezTo>
                      <a:pt x="83" y="96"/>
                      <a:pt x="98" y="88"/>
                      <a:pt x="109" y="82"/>
                    </a:cubicBezTo>
                    <a:cubicBezTo>
                      <a:pt x="119" y="77"/>
                      <a:pt x="125" y="73"/>
                      <a:pt x="149" y="77"/>
                    </a:cubicBezTo>
                    <a:cubicBezTo>
                      <a:pt x="208" y="87"/>
                      <a:pt x="244" y="103"/>
                      <a:pt x="269" y="159"/>
                    </a:cubicBezTo>
                    <a:cubicBezTo>
                      <a:pt x="271" y="164"/>
                      <a:pt x="318" y="282"/>
                      <a:pt x="389" y="331"/>
                    </a:cubicBezTo>
                    <a:cubicBezTo>
                      <a:pt x="456" y="378"/>
                      <a:pt x="456" y="378"/>
                      <a:pt x="456" y="378"/>
                    </a:cubicBezTo>
                    <a:cubicBezTo>
                      <a:pt x="485" y="399"/>
                      <a:pt x="506" y="413"/>
                      <a:pt x="525" y="425"/>
                    </a:cubicBezTo>
                    <a:cubicBezTo>
                      <a:pt x="547" y="439"/>
                      <a:pt x="573" y="452"/>
                      <a:pt x="593" y="447"/>
                    </a:cubicBezTo>
                    <a:cubicBezTo>
                      <a:pt x="602" y="444"/>
                      <a:pt x="608" y="438"/>
                      <a:pt x="613" y="429"/>
                    </a:cubicBezTo>
                    <a:cubicBezTo>
                      <a:pt x="620" y="414"/>
                      <a:pt x="620" y="414"/>
                      <a:pt x="620" y="414"/>
                    </a:cubicBezTo>
                    <a:cubicBezTo>
                      <a:pt x="633" y="388"/>
                      <a:pt x="650" y="355"/>
                      <a:pt x="650" y="327"/>
                    </a:cubicBezTo>
                    <a:cubicBezTo>
                      <a:pt x="650" y="321"/>
                      <a:pt x="649" y="315"/>
                      <a:pt x="647" y="309"/>
                    </a:cubicBezTo>
                    <a:cubicBezTo>
                      <a:pt x="648" y="310"/>
                      <a:pt x="649" y="311"/>
                      <a:pt x="651" y="312"/>
                    </a:cubicBezTo>
                    <a:cubicBezTo>
                      <a:pt x="669" y="323"/>
                      <a:pt x="700" y="343"/>
                      <a:pt x="727" y="337"/>
                    </a:cubicBezTo>
                    <a:cubicBezTo>
                      <a:pt x="739" y="334"/>
                      <a:pt x="748" y="327"/>
                      <a:pt x="755" y="316"/>
                    </a:cubicBezTo>
                    <a:cubicBezTo>
                      <a:pt x="768" y="297"/>
                      <a:pt x="768" y="297"/>
                      <a:pt x="768" y="297"/>
                    </a:cubicBezTo>
                    <a:cubicBezTo>
                      <a:pt x="786" y="269"/>
                      <a:pt x="800" y="247"/>
                      <a:pt x="793" y="225"/>
                    </a:cubicBezTo>
                    <a:cubicBezTo>
                      <a:pt x="787" y="206"/>
                      <a:pt x="765" y="190"/>
                      <a:pt x="722" y="172"/>
                    </a:cubicBezTo>
                    <a:cubicBezTo>
                      <a:pt x="664" y="149"/>
                      <a:pt x="619" y="140"/>
                      <a:pt x="579" y="131"/>
                    </a:cubicBezTo>
                    <a:cubicBezTo>
                      <a:pt x="546" y="124"/>
                      <a:pt x="517" y="118"/>
                      <a:pt x="488" y="105"/>
                    </a:cubicBezTo>
                    <a:cubicBezTo>
                      <a:pt x="434" y="81"/>
                      <a:pt x="434" y="81"/>
                      <a:pt x="434" y="81"/>
                    </a:cubicBezTo>
                    <a:cubicBezTo>
                      <a:pt x="378" y="56"/>
                      <a:pt x="315" y="27"/>
                      <a:pt x="297" y="20"/>
                    </a:cubicBezTo>
                    <a:cubicBezTo>
                      <a:pt x="257" y="5"/>
                      <a:pt x="127" y="0"/>
                      <a:pt x="54" y="34"/>
                    </a:cubicBezTo>
                    <a:close/>
                    <a:moveTo>
                      <a:pt x="294" y="29"/>
                    </a:moveTo>
                    <a:cubicBezTo>
                      <a:pt x="312" y="35"/>
                      <a:pt x="375" y="64"/>
                      <a:pt x="430" y="89"/>
                    </a:cubicBezTo>
                    <a:cubicBezTo>
                      <a:pt x="485" y="113"/>
                      <a:pt x="485" y="113"/>
                      <a:pt x="485" y="113"/>
                    </a:cubicBezTo>
                    <a:cubicBezTo>
                      <a:pt x="514" y="126"/>
                      <a:pt x="544" y="133"/>
                      <a:pt x="577" y="140"/>
                    </a:cubicBezTo>
                    <a:cubicBezTo>
                      <a:pt x="617" y="148"/>
                      <a:pt x="661" y="157"/>
                      <a:pt x="719" y="181"/>
                    </a:cubicBezTo>
                    <a:cubicBezTo>
                      <a:pt x="759" y="196"/>
                      <a:pt x="780" y="212"/>
                      <a:pt x="785" y="228"/>
                    </a:cubicBezTo>
                    <a:cubicBezTo>
                      <a:pt x="791" y="246"/>
                      <a:pt x="777" y="266"/>
                      <a:pt x="760" y="292"/>
                    </a:cubicBezTo>
                    <a:cubicBezTo>
                      <a:pt x="748" y="311"/>
                      <a:pt x="748" y="311"/>
                      <a:pt x="748" y="311"/>
                    </a:cubicBezTo>
                    <a:cubicBezTo>
                      <a:pt x="742" y="321"/>
                      <a:pt x="735" y="326"/>
                      <a:pt x="725" y="329"/>
                    </a:cubicBezTo>
                    <a:cubicBezTo>
                      <a:pt x="702" y="334"/>
                      <a:pt x="672" y="315"/>
                      <a:pt x="655" y="304"/>
                    </a:cubicBezTo>
                    <a:cubicBezTo>
                      <a:pt x="644" y="297"/>
                      <a:pt x="640" y="294"/>
                      <a:pt x="636" y="298"/>
                    </a:cubicBezTo>
                    <a:cubicBezTo>
                      <a:pt x="633" y="301"/>
                      <a:pt x="636" y="306"/>
                      <a:pt x="637" y="309"/>
                    </a:cubicBezTo>
                    <a:cubicBezTo>
                      <a:pt x="651" y="334"/>
                      <a:pt x="628" y="380"/>
                      <a:pt x="612" y="410"/>
                    </a:cubicBezTo>
                    <a:cubicBezTo>
                      <a:pt x="605" y="425"/>
                      <a:pt x="605" y="425"/>
                      <a:pt x="605" y="425"/>
                    </a:cubicBezTo>
                    <a:cubicBezTo>
                      <a:pt x="602" y="432"/>
                      <a:pt x="597" y="436"/>
                      <a:pt x="591" y="438"/>
                    </a:cubicBezTo>
                    <a:cubicBezTo>
                      <a:pt x="574" y="443"/>
                      <a:pt x="549" y="430"/>
                      <a:pt x="529" y="418"/>
                    </a:cubicBezTo>
                    <a:cubicBezTo>
                      <a:pt x="510" y="406"/>
                      <a:pt x="490" y="392"/>
                      <a:pt x="461" y="371"/>
                    </a:cubicBezTo>
                    <a:cubicBezTo>
                      <a:pt x="393" y="324"/>
                      <a:pt x="393" y="324"/>
                      <a:pt x="393" y="324"/>
                    </a:cubicBezTo>
                    <a:cubicBezTo>
                      <a:pt x="325" y="276"/>
                      <a:pt x="277" y="157"/>
                      <a:pt x="277" y="156"/>
                    </a:cubicBezTo>
                    <a:cubicBezTo>
                      <a:pt x="248" y="91"/>
                      <a:pt x="201" y="77"/>
                      <a:pt x="151" y="69"/>
                    </a:cubicBezTo>
                    <a:cubicBezTo>
                      <a:pt x="124" y="64"/>
                      <a:pt x="115" y="69"/>
                      <a:pt x="105" y="74"/>
                    </a:cubicBezTo>
                    <a:cubicBezTo>
                      <a:pt x="94" y="80"/>
                      <a:pt x="81" y="87"/>
                      <a:pt x="40" y="85"/>
                    </a:cubicBezTo>
                    <a:cubicBezTo>
                      <a:pt x="15" y="83"/>
                      <a:pt x="12" y="78"/>
                      <a:pt x="12" y="77"/>
                    </a:cubicBezTo>
                    <a:cubicBezTo>
                      <a:pt x="12" y="77"/>
                      <a:pt x="12" y="77"/>
                      <a:pt x="12" y="76"/>
                    </a:cubicBezTo>
                    <a:cubicBezTo>
                      <a:pt x="12" y="69"/>
                      <a:pt x="35" y="53"/>
                      <a:pt x="58" y="42"/>
                    </a:cubicBezTo>
                    <a:cubicBezTo>
                      <a:pt x="128" y="9"/>
                      <a:pt x="256" y="14"/>
                      <a:pt x="29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06" name="Freeform 1781">
                <a:extLst>
                  <a:ext uri="{FF2B5EF4-FFF2-40B4-BE49-F238E27FC236}">
                    <a16:creationId xmlns:a16="http://schemas.microsoft.com/office/drawing/2014/main" id="{4672CADA-CBD3-1E47-4271-ACEAD2AA57B9}"/>
                  </a:ext>
                </a:extLst>
              </p:cNvPr>
              <p:cNvSpPr>
                <a:spLocks/>
              </p:cNvSpPr>
              <p:nvPr/>
            </p:nvSpPr>
            <p:spPr bwMode="auto">
              <a:xfrm>
                <a:off x="1659" y="3755"/>
                <a:ext cx="177" cy="155"/>
              </a:xfrm>
              <a:custGeom>
                <a:avLst/>
                <a:gdLst>
                  <a:gd name="T0" fmla="*/ 313 w 805"/>
                  <a:gd name="T1" fmla="*/ 77 h 700"/>
                  <a:gd name="T2" fmla="*/ 246 w 805"/>
                  <a:gd name="T3" fmla="*/ 86 h 700"/>
                  <a:gd name="T4" fmla="*/ 215 w 805"/>
                  <a:gd name="T5" fmla="*/ 156 h 700"/>
                  <a:gd name="T6" fmla="*/ 132 w 805"/>
                  <a:gd name="T7" fmla="*/ 177 h 700"/>
                  <a:gd name="T8" fmla="*/ 58 w 805"/>
                  <a:gd name="T9" fmla="*/ 201 h 700"/>
                  <a:gd name="T10" fmla="*/ 0 w 805"/>
                  <a:gd name="T11" fmla="*/ 204 h 700"/>
                  <a:gd name="T12" fmla="*/ 133 w 805"/>
                  <a:gd name="T13" fmla="*/ 351 h 700"/>
                  <a:gd name="T14" fmla="*/ 316 w 805"/>
                  <a:gd name="T15" fmla="*/ 517 h 700"/>
                  <a:gd name="T16" fmla="*/ 534 w 805"/>
                  <a:gd name="T17" fmla="*/ 697 h 700"/>
                  <a:gd name="T18" fmla="*/ 690 w 805"/>
                  <a:gd name="T19" fmla="*/ 700 h 700"/>
                  <a:gd name="T20" fmla="*/ 789 w 805"/>
                  <a:gd name="T21" fmla="*/ 528 h 700"/>
                  <a:gd name="T22" fmla="*/ 724 w 805"/>
                  <a:gd name="T23" fmla="*/ 404 h 700"/>
                  <a:gd name="T24" fmla="*/ 716 w 805"/>
                  <a:gd name="T25" fmla="*/ 347 h 700"/>
                  <a:gd name="T26" fmla="*/ 504 w 805"/>
                  <a:gd name="T27" fmla="*/ 139 h 700"/>
                  <a:gd name="T28" fmla="*/ 371 w 805"/>
                  <a:gd name="T29" fmla="*/ 16 h 700"/>
                  <a:gd name="T30" fmla="*/ 350 w 805"/>
                  <a:gd name="T31" fmla="*/ 0 h 700"/>
                  <a:gd name="T32" fmla="*/ 354 w 805"/>
                  <a:gd name="T33" fmla="*/ 29 h 700"/>
                  <a:gd name="T34" fmla="*/ 313 w 805"/>
                  <a:gd name="T35" fmla="*/ 77 h 7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805" h="700">
                    <a:moveTo>
                      <a:pt x="313" y="77"/>
                    </a:moveTo>
                    <a:cubicBezTo>
                      <a:pt x="289" y="81"/>
                      <a:pt x="267" y="80"/>
                      <a:pt x="246" y="86"/>
                    </a:cubicBezTo>
                    <a:cubicBezTo>
                      <a:pt x="224" y="91"/>
                      <a:pt x="218" y="142"/>
                      <a:pt x="215" y="156"/>
                    </a:cubicBezTo>
                    <a:cubicBezTo>
                      <a:pt x="212" y="171"/>
                      <a:pt x="153" y="175"/>
                      <a:pt x="132" y="177"/>
                    </a:cubicBezTo>
                    <a:cubicBezTo>
                      <a:pt x="110" y="178"/>
                      <a:pt x="58" y="201"/>
                      <a:pt x="58" y="201"/>
                    </a:cubicBezTo>
                    <a:cubicBezTo>
                      <a:pt x="0" y="204"/>
                      <a:pt x="0" y="204"/>
                      <a:pt x="0" y="204"/>
                    </a:cubicBezTo>
                    <a:cubicBezTo>
                      <a:pt x="58" y="268"/>
                      <a:pt x="133" y="351"/>
                      <a:pt x="133" y="351"/>
                    </a:cubicBezTo>
                    <a:cubicBezTo>
                      <a:pt x="316" y="517"/>
                      <a:pt x="316" y="517"/>
                      <a:pt x="316" y="517"/>
                    </a:cubicBezTo>
                    <a:cubicBezTo>
                      <a:pt x="534" y="697"/>
                      <a:pt x="534" y="697"/>
                      <a:pt x="534" y="697"/>
                    </a:cubicBezTo>
                    <a:cubicBezTo>
                      <a:pt x="690" y="700"/>
                      <a:pt x="690" y="700"/>
                      <a:pt x="690" y="700"/>
                    </a:cubicBezTo>
                    <a:cubicBezTo>
                      <a:pt x="690" y="700"/>
                      <a:pt x="772" y="642"/>
                      <a:pt x="789" y="528"/>
                    </a:cubicBezTo>
                    <a:cubicBezTo>
                      <a:pt x="788" y="495"/>
                      <a:pt x="805" y="459"/>
                      <a:pt x="724" y="404"/>
                    </a:cubicBezTo>
                    <a:cubicBezTo>
                      <a:pt x="716" y="354"/>
                      <a:pt x="716" y="347"/>
                      <a:pt x="716" y="347"/>
                    </a:cubicBezTo>
                    <a:cubicBezTo>
                      <a:pt x="716" y="347"/>
                      <a:pt x="632" y="231"/>
                      <a:pt x="504" y="139"/>
                    </a:cubicBezTo>
                    <a:cubicBezTo>
                      <a:pt x="423" y="60"/>
                      <a:pt x="371" y="16"/>
                      <a:pt x="371" y="16"/>
                    </a:cubicBezTo>
                    <a:cubicBezTo>
                      <a:pt x="371" y="16"/>
                      <a:pt x="362" y="10"/>
                      <a:pt x="350" y="0"/>
                    </a:cubicBezTo>
                    <a:cubicBezTo>
                      <a:pt x="351" y="11"/>
                      <a:pt x="353" y="22"/>
                      <a:pt x="354" y="29"/>
                    </a:cubicBezTo>
                    <a:cubicBezTo>
                      <a:pt x="357" y="53"/>
                      <a:pt x="338" y="73"/>
                      <a:pt x="313" y="7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07" name="Freeform 1782">
                <a:extLst>
                  <a:ext uri="{FF2B5EF4-FFF2-40B4-BE49-F238E27FC236}">
                    <a16:creationId xmlns:a16="http://schemas.microsoft.com/office/drawing/2014/main" id="{4F9A7EBF-A6D2-C358-3C9E-612FAB0A063B}"/>
                  </a:ext>
                </a:extLst>
              </p:cNvPr>
              <p:cNvSpPr>
                <a:spLocks/>
              </p:cNvSpPr>
              <p:nvPr/>
            </p:nvSpPr>
            <p:spPr bwMode="auto">
              <a:xfrm>
                <a:off x="1683" y="3697"/>
                <a:ext cx="180" cy="140"/>
              </a:xfrm>
              <a:custGeom>
                <a:avLst/>
                <a:gdLst>
                  <a:gd name="T0" fmla="*/ 756 w 814"/>
                  <a:gd name="T1" fmla="*/ 449 h 636"/>
                  <a:gd name="T2" fmla="*/ 560 w 814"/>
                  <a:gd name="T3" fmla="*/ 338 h 636"/>
                  <a:gd name="T4" fmla="*/ 446 w 814"/>
                  <a:gd name="T5" fmla="*/ 201 h 636"/>
                  <a:gd name="T6" fmla="*/ 362 w 814"/>
                  <a:gd name="T7" fmla="*/ 68 h 636"/>
                  <a:gd name="T8" fmla="*/ 257 w 814"/>
                  <a:gd name="T9" fmla="*/ 78 h 636"/>
                  <a:gd name="T10" fmla="*/ 216 w 814"/>
                  <a:gd name="T11" fmla="*/ 85 h 636"/>
                  <a:gd name="T12" fmla="*/ 185 w 814"/>
                  <a:gd name="T13" fmla="*/ 74 h 636"/>
                  <a:gd name="T14" fmla="*/ 108 w 814"/>
                  <a:gd name="T15" fmla="*/ 25 h 636"/>
                  <a:gd name="T16" fmla="*/ 56 w 814"/>
                  <a:gd name="T17" fmla="*/ 13 h 636"/>
                  <a:gd name="T18" fmla="*/ 51 w 814"/>
                  <a:gd name="T19" fmla="*/ 10 h 636"/>
                  <a:gd name="T20" fmla="*/ 37 w 814"/>
                  <a:gd name="T21" fmla="*/ 0 h 636"/>
                  <a:gd name="T22" fmla="*/ 0 w 814"/>
                  <a:gd name="T23" fmla="*/ 22 h 636"/>
                  <a:gd name="T24" fmla="*/ 51 w 814"/>
                  <a:gd name="T25" fmla="*/ 33 h 636"/>
                  <a:gd name="T26" fmla="*/ 55 w 814"/>
                  <a:gd name="T27" fmla="*/ 36 h 636"/>
                  <a:gd name="T28" fmla="*/ 173 w 814"/>
                  <a:gd name="T29" fmla="*/ 120 h 636"/>
                  <a:gd name="T30" fmla="*/ 330 w 814"/>
                  <a:gd name="T31" fmla="*/ 296 h 636"/>
                  <a:gd name="T32" fmla="*/ 512 w 814"/>
                  <a:gd name="T33" fmla="*/ 437 h 636"/>
                  <a:gd name="T34" fmla="*/ 689 w 814"/>
                  <a:gd name="T35" fmla="*/ 581 h 636"/>
                  <a:gd name="T36" fmla="*/ 754 w 814"/>
                  <a:gd name="T37" fmla="*/ 596 h 636"/>
                  <a:gd name="T38" fmla="*/ 806 w 814"/>
                  <a:gd name="T39" fmla="*/ 551 h 636"/>
                  <a:gd name="T40" fmla="*/ 756 w 814"/>
                  <a:gd name="T41" fmla="*/ 449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4" h="636">
                    <a:moveTo>
                      <a:pt x="756" y="449"/>
                    </a:moveTo>
                    <a:cubicBezTo>
                      <a:pt x="698" y="417"/>
                      <a:pt x="600" y="367"/>
                      <a:pt x="560" y="338"/>
                    </a:cubicBezTo>
                    <a:cubicBezTo>
                      <a:pt x="519" y="309"/>
                      <a:pt x="464" y="235"/>
                      <a:pt x="446" y="201"/>
                    </a:cubicBezTo>
                    <a:cubicBezTo>
                      <a:pt x="427" y="166"/>
                      <a:pt x="384" y="75"/>
                      <a:pt x="362" y="68"/>
                    </a:cubicBezTo>
                    <a:cubicBezTo>
                      <a:pt x="340" y="61"/>
                      <a:pt x="296" y="65"/>
                      <a:pt x="257" y="78"/>
                    </a:cubicBezTo>
                    <a:cubicBezTo>
                      <a:pt x="234" y="87"/>
                      <a:pt x="216" y="85"/>
                      <a:pt x="216" y="85"/>
                    </a:cubicBezTo>
                    <a:cubicBezTo>
                      <a:pt x="216" y="85"/>
                      <a:pt x="202" y="91"/>
                      <a:pt x="185" y="74"/>
                    </a:cubicBezTo>
                    <a:cubicBezTo>
                      <a:pt x="167" y="56"/>
                      <a:pt x="124" y="25"/>
                      <a:pt x="108" y="25"/>
                    </a:cubicBezTo>
                    <a:cubicBezTo>
                      <a:pt x="95" y="25"/>
                      <a:pt x="70" y="18"/>
                      <a:pt x="56" y="13"/>
                    </a:cubicBezTo>
                    <a:cubicBezTo>
                      <a:pt x="54" y="12"/>
                      <a:pt x="52" y="11"/>
                      <a:pt x="51" y="10"/>
                    </a:cubicBezTo>
                    <a:cubicBezTo>
                      <a:pt x="48" y="9"/>
                      <a:pt x="43" y="5"/>
                      <a:pt x="37" y="0"/>
                    </a:cubicBezTo>
                    <a:cubicBezTo>
                      <a:pt x="26" y="4"/>
                      <a:pt x="12" y="12"/>
                      <a:pt x="0" y="22"/>
                    </a:cubicBezTo>
                    <a:cubicBezTo>
                      <a:pt x="20" y="24"/>
                      <a:pt x="37" y="27"/>
                      <a:pt x="51" y="33"/>
                    </a:cubicBezTo>
                    <a:cubicBezTo>
                      <a:pt x="52" y="34"/>
                      <a:pt x="54" y="35"/>
                      <a:pt x="55" y="36"/>
                    </a:cubicBezTo>
                    <a:cubicBezTo>
                      <a:pt x="88" y="51"/>
                      <a:pt x="154" y="99"/>
                      <a:pt x="173" y="120"/>
                    </a:cubicBezTo>
                    <a:cubicBezTo>
                      <a:pt x="193" y="142"/>
                      <a:pt x="310" y="274"/>
                      <a:pt x="330" y="296"/>
                    </a:cubicBezTo>
                    <a:cubicBezTo>
                      <a:pt x="351" y="317"/>
                      <a:pt x="477" y="417"/>
                      <a:pt x="512" y="437"/>
                    </a:cubicBezTo>
                    <a:cubicBezTo>
                      <a:pt x="547" y="457"/>
                      <a:pt x="679" y="560"/>
                      <a:pt x="689" y="581"/>
                    </a:cubicBezTo>
                    <a:cubicBezTo>
                      <a:pt x="700" y="603"/>
                      <a:pt x="721" y="636"/>
                      <a:pt x="754" y="596"/>
                    </a:cubicBezTo>
                    <a:cubicBezTo>
                      <a:pt x="788" y="555"/>
                      <a:pt x="803" y="561"/>
                      <a:pt x="806" y="551"/>
                    </a:cubicBezTo>
                    <a:cubicBezTo>
                      <a:pt x="809" y="541"/>
                      <a:pt x="814" y="480"/>
                      <a:pt x="756" y="4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08" name="Freeform 1783">
                <a:extLst>
                  <a:ext uri="{FF2B5EF4-FFF2-40B4-BE49-F238E27FC236}">
                    <a16:creationId xmlns:a16="http://schemas.microsoft.com/office/drawing/2014/main" id="{04F5BF2E-AD6F-24E7-233D-EF46D9B92959}"/>
                  </a:ext>
                </a:extLst>
              </p:cNvPr>
              <p:cNvSpPr>
                <a:spLocks noEditPoints="1"/>
              </p:cNvSpPr>
              <p:nvPr/>
            </p:nvSpPr>
            <p:spPr bwMode="auto">
              <a:xfrm>
                <a:off x="1681" y="3695"/>
                <a:ext cx="182" cy="139"/>
              </a:xfrm>
              <a:custGeom>
                <a:avLst/>
                <a:gdLst>
                  <a:gd name="T0" fmla="*/ 45 w 826"/>
                  <a:gd name="T1" fmla="*/ 1 h 626"/>
                  <a:gd name="T2" fmla="*/ 6 w 826"/>
                  <a:gd name="T3" fmla="*/ 24 h 626"/>
                  <a:gd name="T4" fmla="*/ 0 w 826"/>
                  <a:gd name="T5" fmla="*/ 30 h 626"/>
                  <a:gd name="T6" fmla="*/ 9 w 826"/>
                  <a:gd name="T7" fmla="*/ 31 h 626"/>
                  <a:gd name="T8" fmla="*/ 58 w 826"/>
                  <a:gd name="T9" fmla="*/ 42 h 626"/>
                  <a:gd name="T10" fmla="*/ 62 w 826"/>
                  <a:gd name="T11" fmla="*/ 44 h 626"/>
                  <a:gd name="T12" fmla="*/ 179 w 826"/>
                  <a:gd name="T13" fmla="*/ 128 h 626"/>
                  <a:gd name="T14" fmla="*/ 336 w 826"/>
                  <a:gd name="T15" fmla="*/ 304 h 626"/>
                  <a:gd name="T16" fmla="*/ 519 w 826"/>
                  <a:gd name="T17" fmla="*/ 446 h 626"/>
                  <a:gd name="T18" fmla="*/ 695 w 826"/>
                  <a:gd name="T19" fmla="*/ 588 h 626"/>
                  <a:gd name="T20" fmla="*/ 730 w 826"/>
                  <a:gd name="T21" fmla="*/ 624 h 626"/>
                  <a:gd name="T22" fmla="*/ 767 w 826"/>
                  <a:gd name="T23" fmla="*/ 604 h 626"/>
                  <a:gd name="T24" fmla="*/ 808 w 826"/>
                  <a:gd name="T25" fmla="*/ 568 h 626"/>
                  <a:gd name="T26" fmla="*/ 819 w 826"/>
                  <a:gd name="T27" fmla="*/ 557 h 626"/>
                  <a:gd name="T28" fmla="*/ 767 w 826"/>
                  <a:gd name="T29" fmla="*/ 450 h 626"/>
                  <a:gd name="T30" fmla="*/ 720 w 826"/>
                  <a:gd name="T31" fmla="*/ 424 h 626"/>
                  <a:gd name="T32" fmla="*/ 571 w 826"/>
                  <a:gd name="T33" fmla="*/ 339 h 626"/>
                  <a:gd name="T34" fmla="*/ 459 w 826"/>
                  <a:gd name="T35" fmla="*/ 204 h 626"/>
                  <a:gd name="T36" fmla="*/ 447 w 826"/>
                  <a:gd name="T37" fmla="*/ 181 h 626"/>
                  <a:gd name="T38" fmla="*/ 372 w 826"/>
                  <a:gd name="T39" fmla="*/ 69 h 626"/>
                  <a:gd name="T40" fmla="*/ 264 w 826"/>
                  <a:gd name="T41" fmla="*/ 79 h 626"/>
                  <a:gd name="T42" fmla="*/ 226 w 826"/>
                  <a:gd name="T43" fmla="*/ 86 h 626"/>
                  <a:gd name="T44" fmla="*/ 225 w 826"/>
                  <a:gd name="T45" fmla="*/ 86 h 626"/>
                  <a:gd name="T46" fmla="*/ 224 w 826"/>
                  <a:gd name="T47" fmla="*/ 86 h 626"/>
                  <a:gd name="T48" fmla="*/ 197 w 826"/>
                  <a:gd name="T49" fmla="*/ 76 h 626"/>
                  <a:gd name="T50" fmla="*/ 117 w 826"/>
                  <a:gd name="T51" fmla="*/ 25 h 626"/>
                  <a:gd name="T52" fmla="*/ 67 w 826"/>
                  <a:gd name="T53" fmla="*/ 14 h 626"/>
                  <a:gd name="T54" fmla="*/ 62 w 826"/>
                  <a:gd name="T55" fmla="*/ 12 h 626"/>
                  <a:gd name="T56" fmla="*/ 50 w 826"/>
                  <a:gd name="T57" fmla="*/ 3 h 626"/>
                  <a:gd name="T58" fmla="*/ 47 w 826"/>
                  <a:gd name="T59" fmla="*/ 0 h 626"/>
                  <a:gd name="T60" fmla="*/ 45 w 826"/>
                  <a:gd name="T61" fmla="*/ 1 h 626"/>
                  <a:gd name="T62" fmla="*/ 45 w 826"/>
                  <a:gd name="T63" fmla="*/ 10 h 626"/>
                  <a:gd name="T64" fmla="*/ 57 w 826"/>
                  <a:gd name="T65" fmla="*/ 19 h 626"/>
                  <a:gd name="T66" fmla="*/ 64 w 826"/>
                  <a:gd name="T67" fmla="*/ 22 h 626"/>
                  <a:gd name="T68" fmla="*/ 117 w 826"/>
                  <a:gd name="T69" fmla="*/ 34 h 626"/>
                  <a:gd name="T70" fmla="*/ 191 w 826"/>
                  <a:gd name="T71" fmla="*/ 82 h 626"/>
                  <a:gd name="T72" fmla="*/ 226 w 826"/>
                  <a:gd name="T73" fmla="*/ 95 h 626"/>
                  <a:gd name="T74" fmla="*/ 267 w 826"/>
                  <a:gd name="T75" fmla="*/ 87 h 626"/>
                  <a:gd name="T76" fmla="*/ 370 w 826"/>
                  <a:gd name="T77" fmla="*/ 77 h 626"/>
                  <a:gd name="T78" fmla="*/ 439 w 826"/>
                  <a:gd name="T79" fmla="*/ 185 h 626"/>
                  <a:gd name="T80" fmla="*/ 451 w 826"/>
                  <a:gd name="T81" fmla="*/ 208 h 626"/>
                  <a:gd name="T82" fmla="*/ 566 w 826"/>
                  <a:gd name="T83" fmla="*/ 346 h 626"/>
                  <a:gd name="T84" fmla="*/ 716 w 826"/>
                  <a:gd name="T85" fmla="*/ 432 h 626"/>
                  <a:gd name="T86" fmla="*/ 763 w 826"/>
                  <a:gd name="T87" fmla="*/ 458 h 626"/>
                  <a:gd name="T88" fmla="*/ 811 w 826"/>
                  <a:gd name="T89" fmla="*/ 555 h 626"/>
                  <a:gd name="T90" fmla="*/ 804 w 826"/>
                  <a:gd name="T91" fmla="*/ 560 h 626"/>
                  <a:gd name="T92" fmla="*/ 760 w 826"/>
                  <a:gd name="T93" fmla="*/ 598 h 626"/>
                  <a:gd name="T94" fmla="*/ 731 w 826"/>
                  <a:gd name="T95" fmla="*/ 615 h 626"/>
                  <a:gd name="T96" fmla="*/ 702 w 826"/>
                  <a:gd name="T97" fmla="*/ 585 h 626"/>
                  <a:gd name="T98" fmla="*/ 523 w 826"/>
                  <a:gd name="T99" fmla="*/ 438 h 626"/>
                  <a:gd name="T100" fmla="*/ 343 w 826"/>
                  <a:gd name="T101" fmla="*/ 298 h 626"/>
                  <a:gd name="T102" fmla="*/ 185 w 826"/>
                  <a:gd name="T103" fmla="*/ 122 h 626"/>
                  <a:gd name="T104" fmla="*/ 66 w 826"/>
                  <a:gd name="T105" fmla="*/ 37 h 626"/>
                  <a:gd name="T106" fmla="*/ 61 w 826"/>
                  <a:gd name="T107" fmla="*/ 34 h 626"/>
                  <a:gd name="T108" fmla="*/ 20 w 826"/>
                  <a:gd name="T109" fmla="*/ 24 h 626"/>
                  <a:gd name="T110" fmla="*/ 45 w 826"/>
                  <a:gd name="T111" fmla="*/ 1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26" h="626">
                    <a:moveTo>
                      <a:pt x="45" y="1"/>
                    </a:moveTo>
                    <a:cubicBezTo>
                      <a:pt x="32" y="5"/>
                      <a:pt x="18" y="14"/>
                      <a:pt x="6" y="24"/>
                    </a:cubicBezTo>
                    <a:cubicBezTo>
                      <a:pt x="0" y="30"/>
                      <a:pt x="0" y="30"/>
                      <a:pt x="0" y="30"/>
                    </a:cubicBezTo>
                    <a:cubicBezTo>
                      <a:pt x="9" y="31"/>
                      <a:pt x="9" y="31"/>
                      <a:pt x="9" y="31"/>
                    </a:cubicBezTo>
                    <a:cubicBezTo>
                      <a:pt x="26" y="33"/>
                      <a:pt x="44" y="36"/>
                      <a:pt x="58" y="42"/>
                    </a:cubicBezTo>
                    <a:cubicBezTo>
                      <a:pt x="62" y="44"/>
                      <a:pt x="62" y="44"/>
                      <a:pt x="62" y="44"/>
                    </a:cubicBezTo>
                    <a:cubicBezTo>
                      <a:pt x="95" y="60"/>
                      <a:pt x="161" y="108"/>
                      <a:pt x="179" y="128"/>
                    </a:cubicBezTo>
                    <a:cubicBezTo>
                      <a:pt x="336" y="304"/>
                      <a:pt x="336" y="304"/>
                      <a:pt x="336" y="304"/>
                    </a:cubicBezTo>
                    <a:cubicBezTo>
                      <a:pt x="356" y="325"/>
                      <a:pt x="483" y="425"/>
                      <a:pt x="519" y="446"/>
                    </a:cubicBezTo>
                    <a:cubicBezTo>
                      <a:pt x="557" y="468"/>
                      <a:pt x="685" y="569"/>
                      <a:pt x="695" y="588"/>
                    </a:cubicBezTo>
                    <a:cubicBezTo>
                      <a:pt x="705" y="610"/>
                      <a:pt x="717" y="622"/>
                      <a:pt x="730" y="624"/>
                    </a:cubicBezTo>
                    <a:cubicBezTo>
                      <a:pt x="742" y="626"/>
                      <a:pt x="754" y="619"/>
                      <a:pt x="767" y="604"/>
                    </a:cubicBezTo>
                    <a:cubicBezTo>
                      <a:pt x="787" y="579"/>
                      <a:pt x="800" y="572"/>
                      <a:pt x="808" y="568"/>
                    </a:cubicBezTo>
                    <a:cubicBezTo>
                      <a:pt x="814" y="565"/>
                      <a:pt x="818" y="563"/>
                      <a:pt x="819" y="557"/>
                    </a:cubicBezTo>
                    <a:cubicBezTo>
                      <a:pt x="823" y="544"/>
                      <a:pt x="826" y="482"/>
                      <a:pt x="767" y="450"/>
                    </a:cubicBezTo>
                    <a:cubicBezTo>
                      <a:pt x="720" y="424"/>
                      <a:pt x="720" y="424"/>
                      <a:pt x="720" y="424"/>
                    </a:cubicBezTo>
                    <a:cubicBezTo>
                      <a:pt x="664" y="395"/>
                      <a:pt x="602" y="361"/>
                      <a:pt x="571" y="339"/>
                    </a:cubicBezTo>
                    <a:cubicBezTo>
                      <a:pt x="533" y="312"/>
                      <a:pt x="478" y="239"/>
                      <a:pt x="459" y="204"/>
                    </a:cubicBezTo>
                    <a:cubicBezTo>
                      <a:pt x="447" y="181"/>
                      <a:pt x="447" y="181"/>
                      <a:pt x="447" y="181"/>
                    </a:cubicBezTo>
                    <a:cubicBezTo>
                      <a:pt x="418" y="125"/>
                      <a:pt x="390" y="75"/>
                      <a:pt x="372" y="69"/>
                    </a:cubicBezTo>
                    <a:cubicBezTo>
                      <a:pt x="350" y="61"/>
                      <a:pt x="304" y="66"/>
                      <a:pt x="264" y="79"/>
                    </a:cubicBezTo>
                    <a:cubicBezTo>
                      <a:pt x="243" y="87"/>
                      <a:pt x="226" y="86"/>
                      <a:pt x="226" y="86"/>
                    </a:cubicBezTo>
                    <a:cubicBezTo>
                      <a:pt x="225" y="86"/>
                      <a:pt x="225" y="86"/>
                      <a:pt x="225" y="86"/>
                    </a:cubicBezTo>
                    <a:cubicBezTo>
                      <a:pt x="224" y="86"/>
                      <a:pt x="224" y="86"/>
                      <a:pt x="224" y="86"/>
                    </a:cubicBezTo>
                    <a:cubicBezTo>
                      <a:pt x="223" y="86"/>
                      <a:pt x="212" y="91"/>
                      <a:pt x="197" y="76"/>
                    </a:cubicBezTo>
                    <a:cubicBezTo>
                      <a:pt x="179" y="58"/>
                      <a:pt x="135" y="25"/>
                      <a:pt x="117" y="25"/>
                    </a:cubicBezTo>
                    <a:cubicBezTo>
                      <a:pt x="105" y="25"/>
                      <a:pt x="80" y="19"/>
                      <a:pt x="67" y="14"/>
                    </a:cubicBezTo>
                    <a:cubicBezTo>
                      <a:pt x="62" y="12"/>
                      <a:pt x="62" y="12"/>
                      <a:pt x="62" y="12"/>
                    </a:cubicBezTo>
                    <a:cubicBezTo>
                      <a:pt x="62" y="12"/>
                      <a:pt x="50" y="3"/>
                      <a:pt x="50" y="3"/>
                    </a:cubicBezTo>
                    <a:cubicBezTo>
                      <a:pt x="47" y="0"/>
                      <a:pt x="47" y="0"/>
                      <a:pt x="47" y="0"/>
                    </a:cubicBezTo>
                    <a:lnTo>
                      <a:pt x="45" y="1"/>
                    </a:lnTo>
                    <a:close/>
                    <a:moveTo>
                      <a:pt x="45" y="10"/>
                    </a:moveTo>
                    <a:cubicBezTo>
                      <a:pt x="47" y="11"/>
                      <a:pt x="57" y="19"/>
                      <a:pt x="57" y="19"/>
                    </a:cubicBezTo>
                    <a:cubicBezTo>
                      <a:pt x="64" y="22"/>
                      <a:pt x="64" y="22"/>
                      <a:pt x="64" y="22"/>
                    </a:cubicBezTo>
                    <a:cubicBezTo>
                      <a:pt x="78" y="28"/>
                      <a:pt x="103" y="34"/>
                      <a:pt x="117" y="34"/>
                    </a:cubicBezTo>
                    <a:cubicBezTo>
                      <a:pt x="131" y="34"/>
                      <a:pt x="173" y="64"/>
                      <a:pt x="191" y="82"/>
                    </a:cubicBezTo>
                    <a:cubicBezTo>
                      <a:pt x="208" y="99"/>
                      <a:pt x="223" y="96"/>
                      <a:pt x="226" y="95"/>
                    </a:cubicBezTo>
                    <a:cubicBezTo>
                      <a:pt x="228" y="95"/>
                      <a:pt x="245" y="96"/>
                      <a:pt x="267" y="87"/>
                    </a:cubicBezTo>
                    <a:cubicBezTo>
                      <a:pt x="305" y="75"/>
                      <a:pt x="349" y="70"/>
                      <a:pt x="370" y="77"/>
                    </a:cubicBezTo>
                    <a:cubicBezTo>
                      <a:pt x="386" y="82"/>
                      <a:pt x="420" y="149"/>
                      <a:pt x="439" y="185"/>
                    </a:cubicBezTo>
                    <a:cubicBezTo>
                      <a:pt x="451" y="208"/>
                      <a:pt x="451" y="208"/>
                      <a:pt x="451" y="208"/>
                    </a:cubicBezTo>
                    <a:cubicBezTo>
                      <a:pt x="471" y="245"/>
                      <a:pt x="526" y="318"/>
                      <a:pt x="566" y="346"/>
                    </a:cubicBezTo>
                    <a:cubicBezTo>
                      <a:pt x="597" y="368"/>
                      <a:pt x="660" y="402"/>
                      <a:pt x="716" y="432"/>
                    </a:cubicBezTo>
                    <a:cubicBezTo>
                      <a:pt x="763" y="458"/>
                      <a:pt x="763" y="458"/>
                      <a:pt x="763" y="458"/>
                    </a:cubicBezTo>
                    <a:cubicBezTo>
                      <a:pt x="817" y="487"/>
                      <a:pt x="814" y="545"/>
                      <a:pt x="811" y="555"/>
                    </a:cubicBezTo>
                    <a:cubicBezTo>
                      <a:pt x="811" y="557"/>
                      <a:pt x="809" y="558"/>
                      <a:pt x="804" y="560"/>
                    </a:cubicBezTo>
                    <a:cubicBezTo>
                      <a:pt x="796" y="565"/>
                      <a:pt x="781" y="572"/>
                      <a:pt x="760" y="598"/>
                    </a:cubicBezTo>
                    <a:cubicBezTo>
                      <a:pt x="750" y="611"/>
                      <a:pt x="740" y="617"/>
                      <a:pt x="731" y="615"/>
                    </a:cubicBezTo>
                    <a:cubicBezTo>
                      <a:pt x="721" y="614"/>
                      <a:pt x="711" y="604"/>
                      <a:pt x="702" y="585"/>
                    </a:cubicBezTo>
                    <a:cubicBezTo>
                      <a:pt x="691" y="561"/>
                      <a:pt x="554" y="457"/>
                      <a:pt x="523" y="438"/>
                    </a:cubicBezTo>
                    <a:cubicBezTo>
                      <a:pt x="488" y="418"/>
                      <a:pt x="362" y="319"/>
                      <a:pt x="343" y="298"/>
                    </a:cubicBezTo>
                    <a:cubicBezTo>
                      <a:pt x="185" y="122"/>
                      <a:pt x="185" y="122"/>
                      <a:pt x="185" y="122"/>
                    </a:cubicBezTo>
                    <a:cubicBezTo>
                      <a:pt x="165" y="100"/>
                      <a:pt x="98" y="52"/>
                      <a:pt x="66" y="37"/>
                    </a:cubicBezTo>
                    <a:cubicBezTo>
                      <a:pt x="66" y="37"/>
                      <a:pt x="61" y="34"/>
                      <a:pt x="61" y="34"/>
                    </a:cubicBezTo>
                    <a:cubicBezTo>
                      <a:pt x="49" y="29"/>
                      <a:pt x="35" y="26"/>
                      <a:pt x="20" y="24"/>
                    </a:cubicBezTo>
                    <a:cubicBezTo>
                      <a:pt x="28" y="18"/>
                      <a:pt x="37" y="13"/>
                      <a:pt x="4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09" name="Freeform 1784">
                <a:extLst>
                  <a:ext uri="{FF2B5EF4-FFF2-40B4-BE49-F238E27FC236}">
                    <a16:creationId xmlns:a16="http://schemas.microsoft.com/office/drawing/2014/main" id="{EE13BEDF-B8B6-F3D7-35D4-2E300250BA14}"/>
                  </a:ext>
                </a:extLst>
              </p:cNvPr>
              <p:cNvSpPr>
                <a:spLocks/>
              </p:cNvSpPr>
              <p:nvPr/>
            </p:nvSpPr>
            <p:spPr bwMode="auto">
              <a:xfrm>
                <a:off x="713" y="299"/>
                <a:ext cx="363" cy="464"/>
              </a:xfrm>
              <a:custGeom>
                <a:avLst/>
                <a:gdLst>
                  <a:gd name="T0" fmla="*/ 1314 w 1644"/>
                  <a:gd name="T1" fmla="*/ 1861 h 2103"/>
                  <a:gd name="T2" fmla="*/ 1443 w 1644"/>
                  <a:gd name="T3" fmla="*/ 1827 h 2103"/>
                  <a:gd name="T4" fmla="*/ 1419 w 1644"/>
                  <a:gd name="T5" fmla="*/ 1565 h 2103"/>
                  <a:gd name="T6" fmla="*/ 1437 w 1644"/>
                  <a:gd name="T7" fmla="*/ 1429 h 2103"/>
                  <a:gd name="T8" fmla="*/ 1585 w 1644"/>
                  <a:gd name="T9" fmla="*/ 1316 h 2103"/>
                  <a:gd name="T10" fmla="*/ 1643 w 1644"/>
                  <a:gd name="T11" fmla="*/ 1142 h 2103"/>
                  <a:gd name="T12" fmla="*/ 1568 w 1644"/>
                  <a:gd name="T13" fmla="*/ 836 h 2103"/>
                  <a:gd name="T14" fmla="*/ 1582 w 1644"/>
                  <a:gd name="T15" fmla="*/ 758 h 2103"/>
                  <a:gd name="T16" fmla="*/ 1494 w 1644"/>
                  <a:gd name="T17" fmla="*/ 594 h 2103"/>
                  <a:gd name="T18" fmla="*/ 1355 w 1644"/>
                  <a:gd name="T19" fmla="*/ 643 h 2103"/>
                  <a:gd name="T20" fmla="*/ 1109 w 1644"/>
                  <a:gd name="T21" fmla="*/ 585 h 2103"/>
                  <a:gd name="T22" fmla="*/ 1022 w 1644"/>
                  <a:gd name="T23" fmla="*/ 667 h 2103"/>
                  <a:gd name="T24" fmla="*/ 859 w 1644"/>
                  <a:gd name="T25" fmla="*/ 630 h 2103"/>
                  <a:gd name="T26" fmla="*/ 705 w 1644"/>
                  <a:gd name="T27" fmla="*/ 506 h 2103"/>
                  <a:gd name="T28" fmla="*/ 631 w 1644"/>
                  <a:gd name="T29" fmla="*/ 390 h 2103"/>
                  <a:gd name="T30" fmla="*/ 626 w 1644"/>
                  <a:gd name="T31" fmla="*/ 467 h 2103"/>
                  <a:gd name="T32" fmla="*/ 530 w 1644"/>
                  <a:gd name="T33" fmla="*/ 374 h 2103"/>
                  <a:gd name="T34" fmla="*/ 434 w 1644"/>
                  <a:gd name="T35" fmla="*/ 340 h 2103"/>
                  <a:gd name="T36" fmla="*/ 314 w 1644"/>
                  <a:gd name="T37" fmla="*/ 187 h 2103"/>
                  <a:gd name="T38" fmla="*/ 254 w 1644"/>
                  <a:gd name="T39" fmla="*/ 44 h 2103"/>
                  <a:gd name="T40" fmla="*/ 125 w 1644"/>
                  <a:gd name="T41" fmla="*/ 139 h 2103"/>
                  <a:gd name="T42" fmla="*/ 396 w 1644"/>
                  <a:gd name="T43" fmla="*/ 659 h 2103"/>
                  <a:gd name="T44" fmla="*/ 566 w 1644"/>
                  <a:gd name="T45" fmla="*/ 1007 h 2103"/>
                  <a:gd name="T46" fmla="*/ 770 w 1644"/>
                  <a:gd name="T47" fmla="*/ 910 h 2103"/>
                  <a:gd name="T48" fmla="*/ 807 w 1644"/>
                  <a:gd name="T49" fmla="*/ 925 h 2103"/>
                  <a:gd name="T50" fmla="*/ 958 w 1644"/>
                  <a:gd name="T51" fmla="*/ 1018 h 2103"/>
                  <a:gd name="T52" fmla="*/ 824 w 1644"/>
                  <a:gd name="T53" fmla="*/ 1386 h 2103"/>
                  <a:gd name="T54" fmla="*/ 902 w 1644"/>
                  <a:gd name="T55" fmla="*/ 1368 h 2103"/>
                  <a:gd name="T56" fmla="*/ 843 w 1644"/>
                  <a:gd name="T57" fmla="*/ 1559 h 2103"/>
                  <a:gd name="T58" fmla="*/ 824 w 1644"/>
                  <a:gd name="T59" fmla="*/ 1626 h 2103"/>
                  <a:gd name="T60" fmla="*/ 980 w 1644"/>
                  <a:gd name="T61" fmla="*/ 1879 h 2103"/>
                  <a:gd name="T62" fmla="*/ 1216 w 1644"/>
                  <a:gd name="T63" fmla="*/ 2097 h 2103"/>
                  <a:gd name="T64" fmla="*/ 1212 w 1644"/>
                  <a:gd name="T65" fmla="*/ 2064 h 21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44" h="2103">
                    <a:moveTo>
                      <a:pt x="1281" y="1963"/>
                    </a:moveTo>
                    <a:cubicBezTo>
                      <a:pt x="1364" y="1922"/>
                      <a:pt x="1312" y="1932"/>
                      <a:pt x="1314" y="1861"/>
                    </a:cubicBezTo>
                    <a:cubicBezTo>
                      <a:pt x="1316" y="1790"/>
                      <a:pt x="1391" y="1862"/>
                      <a:pt x="1433" y="1879"/>
                    </a:cubicBezTo>
                    <a:cubicBezTo>
                      <a:pt x="1475" y="1897"/>
                      <a:pt x="1455" y="1870"/>
                      <a:pt x="1443" y="1827"/>
                    </a:cubicBezTo>
                    <a:cubicBezTo>
                      <a:pt x="1431" y="1784"/>
                      <a:pt x="1454" y="1707"/>
                      <a:pt x="1485" y="1638"/>
                    </a:cubicBezTo>
                    <a:cubicBezTo>
                      <a:pt x="1516" y="1568"/>
                      <a:pt x="1441" y="1582"/>
                      <a:pt x="1419" y="1565"/>
                    </a:cubicBezTo>
                    <a:cubicBezTo>
                      <a:pt x="1398" y="1547"/>
                      <a:pt x="1416" y="1508"/>
                      <a:pt x="1408" y="1488"/>
                    </a:cubicBezTo>
                    <a:cubicBezTo>
                      <a:pt x="1399" y="1469"/>
                      <a:pt x="1357" y="1429"/>
                      <a:pt x="1437" y="1429"/>
                    </a:cubicBezTo>
                    <a:cubicBezTo>
                      <a:pt x="1516" y="1429"/>
                      <a:pt x="1497" y="1370"/>
                      <a:pt x="1512" y="1344"/>
                    </a:cubicBezTo>
                    <a:cubicBezTo>
                      <a:pt x="1527" y="1319"/>
                      <a:pt x="1533" y="1322"/>
                      <a:pt x="1585" y="1316"/>
                    </a:cubicBezTo>
                    <a:cubicBezTo>
                      <a:pt x="1636" y="1311"/>
                      <a:pt x="1606" y="1220"/>
                      <a:pt x="1610" y="1197"/>
                    </a:cubicBezTo>
                    <a:cubicBezTo>
                      <a:pt x="1613" y="1175"/>
                      <a:pt x="1644" y="1171"/>
                      <a:pt x="1643" y="1142"/>
                    </a:cubicBezTo>
                    <a:cubicBezTo>
                      <a:pt x="1642" y="1113"/>
                      <a:pt x="1625" y="1056"/>
                      <a:pt x="1620" y="1013"/>
                    </a:cubicBezTo>
                    <a:cubicBezTo>
                      <a:pt x="1616" y="970"/>
                      <a:pt x="1584" y="896"/>
                      <a:pt x="1568" y="836"/>
                    </a:cubicBezTo>
                    <a:cubicBezTo>
                      <a:pt x="1552" y="776"/>
                      <a:pt x="1574" y="759"/>
                      <a:pt x="1574" y="759"/>
                    </a:cubicBezTo>
                    <a:cubicBezTo>
                      <a:pt x="1582" y="758"/>
                      <a:pt x="1582" y="758"/>
                      <a:pt x="1582" y="758"/>
                    </a:cubicBezTo>
                    <a:cubicBezTo>
                      <a:pt x="1580" y="735"/>
                      <a:pt x="1550" y="699"/>
                      <a:pt x="1520" y="664"/>
                    </a:cubicBezTo>
                    <a:cubicBezTo>
                      <a:pt x="1490" y="630"/>
                      <a:pt x="1505" y="638"/>
                      <a:pt x="1494" y="594"/>
                    </a:cubicBezTo>
                    <a:cubicBezTo>
                      <a:pt x="1482" y="549"/>
                      <a:pt x="1454" y="546"/>
                      <a:pt x="1410" y="552"/>
                    </a:cubicBezTo>
                    <a:cubicBezTo>
                      <a:pt x="1367" y="558"/>
                      <a:pt x="1364" y="562"/>
                      <a:pt x="1355" y="643"/>
                    </a:cubicBezTo>
                    <a:cubicBezTo>
                      <a:pt x="1347" y="723"/>
                      <a:pt x="1241" y="637"/>
                      <a:pt x="1197" y="604"/>
                    </a:cubicBezTo>
                    <a:cubicBezTo>
                      <a:pt x="1152" y="571"/>
                      <a:pt x="1109" y="565"/>
                      <a:pt x="1109" y="585"/>
                    </a:cubicBezTo>
                    <a:cubicBezTo>
                      <a:pt x="1109" y="605"/>
                      <a:pt x="1113" y="615"/>
                      <a:pt x="1099" y="634"/>
                    </a:cubicBezTo>
                    <a:cubicBezTo>
                      <a:pt x="1084" y="653"/>
                      <a:pt x="1058" y="670"/>
                      <a:pt x="1022" y="667"/>
                    </a:cubicBezTo>
                    <a:cubicBezTo>
                      <a:pt x="986" y="664"/>
                      <a:pt x="947" y="611"/>
                      <a:pt x="916" y="585"/>
                    </a:cubicBezTo>
                    <a:cubicBezTo>
                      <a:pt x="884" y="559"/>
                      <a:pt x="871" y="602"/>
                      <a:pt x="859" y="630"/>
                    </a:cubicBezTo>
                    <a:cubicBezTo>
                      <a:pt x="848" y="657"/>
                      <a:pt x="816" y="628"/>
                      <a:pt x="791" y="594"/>
                    </a:cubicBezTo>
                    <a:cubicBezTo>
                      <a:pt x="767" y="559"/>
                      <a:pt x="721" y="537"/>
                      <a:pt x="705" y="506"/>
                    </a:cubicBezTo>
                    <a:cubicBezTo>
                      <a:pt x="689" y="474"/>
                      <a:pt x="699" y="464"/>
                      <a:pt x="701" y="439"/>
                    </a:cubicBezTo>
                    <a:cubicBezTo>
                      <a:pt x="702" y="415"/>
                      <a:pt x="657" y="411"/>
                      <a:pt x="631" y="390"/>
                    </a:cubicBezTo>
                    <a:cubicBezTo>
                      <a:pt x="605" y="370"/>
                      <a:pt x="600" y="398"/>
                      <a:pt x="610" y="421"/>
                    </a:cubicBezTo>
                    <a:cubicBezTo>
                      <a:pt x="620" y="444"/>
                      <a:pt x="626" y="444"/>
                      <a:pt x="626" y="467"/>
                    </a:cubicBezTo>
                    <a:cubicBezTo>
                      <a:pt x="626" y="490"/>
                      <a:pt x="545" y="441"/>
                      <a:pt x="538" y="429"/>
                    </a:cubicBezTo>
                    <a:cubicBezTo>
                      <a:pt x="530" y="418"/>
                      <a:pt x="533" y="399"/>
                      <a:pt x="530" y="374"/>
                    </a:cubicBezTo>
                    <a:cubicBezTo>
                      <a:pt x="528" y="350"/>
                      <a:pt x="476" y="400"/>
                      <a:pt x="476" y="400"/>
                    </a:cubicBezTo>
                    <a:cubicBezTo>
                      <a:pt x="476" y="400"/>
                      <a:pt x="448" y="359"/>
                      <a:pt x="434" y="340"/>
                    </a:cubicBezTo>
                    <a:cubicBezTo>
                      <a:pt x="419" y="321"/>
                      <a:pt x="369" y="262"/>
                      <a:pt x="341" y="229"/>
                    </a:cubicBezTo>
                    <a:cubicBezTo>
                      <a:pt x="314" y="196"/>
                      <a:pt x="311" y="226"/>
                      <a:pt x="314" y="187"/>
                    </a:cubicBezTo>
                    <a:cubicBezTo>
                      <a:pt x="317" y="148"/>
                      <a:pt x="291" y="119"/>
                      <a:pt x="272" y="95"/>
                    </a:cubicBezTo>
                    <a:cubicBezTo>
                      <a:pt x="254" y="70"/>
                      <a:pt x="255" y="80"/>
                      <a:pt x="254" y="44"/>
                    </a:cubicBezTo>
                    <a:cubicBezTo>
                      <a:pt x="253" y="27"/>
                      <a:pt x="248" y="11"/>
                      <a:pt x="243" y="0"/>
                    </a:cubicBezTo>
                    <a:cubicBezTo>
                      <a:pt x="185" y="68"/>
                      <a:pt x="125" y="139"/>
                      <a:pt x="125" y="139"/>
                    </a:cubicBezTo>
                    <a:cubicBezTo>
                      <a:pt x="0" y="176"/>
                      <a:pt x="0" y="176"/>
                      <a:pt x="0" y="176"/>
                    </a:cubicBezTo>
                    <a:cubicBezTo>
                      <a:pt x="0" y="176"/>
                      <a:pt x="67" y="330"/>
                      <a:pt x="396" y="659"/>
                    </a:cubicBezTo>
                    <a:cubicBezTo>
                      <a:pt x="396" y="704"/>
                      <a:pt x="389" y="704"/>
                      <a:pt x="452" y="752"/>
                    </a:cubicBezTo>
                    <a:cubicBezTo>
                      <a:pt x="515" y="799"/>
                      <a:pt x="547" y="897"/>
                      <a:pt x="566" y="1007"/>
                    </a:cubicBezTo>
                    <a:cubicBezTo>
                      <a:pt x="564" y="1076"/>
                      <a:pt x="595" y="1173"/>
                      <a:pt x="696" y="1078"/>
                    </a:cubicBezTo>
                    <a:cubicBezTo>
                      <a:pt x="755" y="1024"/>
                      <a:pt x="760" y="992"/>
                      <a:pt x="770" y="910"/>
                    </a:cubicBezTo>
                    <a:cubicBezTo>
                      <a:pt x="774" y="900"/>
                      <a:pt x="781" y="895"/>
                      <a:pt x="789" y="900"/>
                    </a:cubicBezTo>
                    <a:cubicBezTo>
                      <a:pt x="795" y="903"/>
                      <a:pt x="801" y="911"/>
                      <a:pt x="807" y="925"/>
                    </a:cubicBezTo>
                    <a:cubicBezTo>
                      <a:pt x="807" y="944"/>
                      <a:pt x="802" y="1037"/>
                      <a:pt x="837" y="1050"/>
                    </a:cubicBezTo>
                    <a:cubicBezTo>
                      <a:pt x="872" y="1063"/>
                      <a:pt x="926" y="1052"/>
                      <a:pt x="958" y="1018"/>
                    </a:cubicBezTo>
                    <a:cubicBezTo>
                      <a:pt x="978" y="1085"/>
                      <a:pt x="1008" y="1113"/>
                      <a:pt x="939" y="1256"/>
                    </a:cubicBezTo>
                    <a:cubicBezTo>
                      <a:pt x="895" y="1308"/>
                      <a:pt x="824" y="1386"/>
                      <a:pt x="824" y="1386"/>
                    </a:cubicBezTo>
                    <a:cubicBezTo>
                      <a:pt x="856" y="1418"/>
                      <a:pt x="856" y="1418"/>
                      <a:pt x="856" y="1418"/>
                    </a:cubicBezTo>
                    <a:cubicBezTo>
                      <a:pt x="902" y="1368"/>
                      <a:pt x="902" y="1368"/>
                      <a:pt x="902" y="1368"/>
                    </a:cubicBezTo>
                    <a:cubicBezTo>
                      <a:pt x="902" y="1368"/>
                      <a:pt x="943" y="1364"/>
                      <a:pt x="897" y="1435"/>
                    </a:cubicBezTo>
                    <a:cubicBezTo>
                      <a:pt x="852" y="1507"/>
                      <a:pt x="843" y="1559"/>
                      <a:pt x="843" y="1559"/>
                    </a:cubicBezTo>
                    <a:cubicBezTo>
                      <a:pt x="748" y="1595"/>
                      <a:pt x="748" y="1595"/>
                      <a:pt x="748" y="1595"/>
                    </a:cubicBezTo>
                    <a:cubicBezTo>
                      <a:pt x="748" y="1595"/>
                      <a:pt x="811" y="1680"/>
                      <a:pt x="824" y="1626"/>
                    </a:cubicBezTo>
                    <a:cubicBezTo>
                      <a:pt x="850" y="1641"/>
                      <a:pt x="882" y="1682"/>
                      <a:pt x="891" y="1760"/>
                    </a:cubicBezTo>
                    <a:cubicBezTo>
                      <a:pt x="900" y="1838"/>
                      <a:pt x="932" y="1833"/>
                      <a:pt x="980" y="1879"/>
                    </a:cubicBezTo>
                    <a:cubicBezTo>
                      <a:pt x="1027" y="1924"/>
                      <a:pt x="1047" y="1976"/>
                      <a:pt x="1058" y="2019"/>
                    </a:cubicBezTo>
                    <a:cubicBezTo>
                      <a:pt x="1068" y="2063"/>
                      <a:pt x="1068" y="2071"/>
                      <a:pt x="1216" y="2097"/>
                    </a:cubicBezTo>
                    <a:cubicBezTo>
                      <a:pt x="1217" y="2099"/>
                      <a:pt x="1218" y="2101"/>
                      <a:pt x="1220" y="2103"/>
                    </a:cubicBezTo>
                    <a:cubicBezTo>
                      <a:pt x="1216" y="2089"/>
                      <a:pt x="1213" y="2075"/>
                      <a:pt x="1212" y="2064"/>
                    </a:cubicBezTo>
                    <a:cubicBezTo>
                      <a:pt x="1208" y="2031"/>
                      <a:pt x="1198" y="2004"/>
                      <a:pt x="1281" y="196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10" name="Freeform 1785">
                <a:extLst>
                  <a:ext uri="{FF2B5EF4-FFF2-40B4-BE49-F238E27FC236}">
                    <a16:creationId xmlns:a16="http://schemas.microsoft.com/office/drawing/2014/main" id="{C4374706-5838-175D-3902-6FB579FF2CE4}"/>
                  </a:ext>
                </a:extLst>
              </p:cNvPr>
              <p:cNvSpPr>
                <a:spLocks/>
              </p:cNvSpPr>
              <p:nvPr/>
            </p:nvSpPr>
            <p:spPr bwMode="auto">
              <a:xfrm>
                <a:off x="1404" y="709"/>
                <a:ext cx="272" cy="230"/>
              </a:xfrm>
              <a:custGeom>
                <a:avLst/>
                <a:gdLst>
                  <a:gd name="T0" fmla="*/ 3 w 1232"/>
                  <a:gd name="T1" fmla="*/ 558 h 1038"/>
                  <a:gd name="T2" fmla="*/ 1 w 1232"/>
                  <a:gd name="T3" fmla="*/ 462 h 1038"/>
                  <a:gd name="T4" fmla="*/ 138 w 1232"/>
                  <a:gd name="T5" fmla="*/ 465 h 1038"/>
                  <a:gd name="T6" fmla="*/ 193 w 1232"/>
                  <a:gd name="T7" fmla="*/ 432 h 1038"/>
                  <a:gd name="T8" fmla="*/ 191 w 1232"/>
                  <a:gd name="T9" fmla="*/ 346 h 1038"/>
                  <a:gd name="T10" fmla="*/ 118 w 1232"/>
                  <a:gd name="T11" fmla="*/ 240 h 1038"/>
                  <a:gd name="T12" fmla="*/ 40 w 1232"/>
                  <a:gd name="T13" fmla="*/ 119 h 1038"/>
                  <a:gd name="T14" fmla="*/ 31 w 1232"/>
                  <a:gd name="T15" fmla="*/ 53 h 1038"/>
                  <a:gd name="T16" fmla="*/ 64 w 1232"/>
                  <a:gd name="T17" fmla="*/ 0 h 1038"/>
                  <a:gd name="T18" fmla="*/ 131 w 1232"/>
                  <a:gd name="T19" fmla="*/ 84 h 1038"/>
                  <a:gd name="T20" fmla="*/ 262 w 1232"/>
                  <a:gd name="T21" fmla="*/ 159 h 1038"/>
                  <a:gd name="T22" fmla="*/ 357 w 1232"/>
                  <a:gd name="T23" fmla="*/ 217 h 1038"/>
                  <a:gd name="T24" fmla="*/ 416 w 1232"/>
                  <a:gd name="T25" fmla="*/ 206 h 1038"/>
                  <a:gd name="T26" fmla="*/ 509 w 1232"/>
                  <a:gd name="T27" fmla="*/ 250 h 1038"/>
                  <a:gd name="T28" fmla="*/ 586 w 1232"/>
                  <a:gd name="T29" fmla="*/ 217 h 1038"/>
                  <a:gd name="T30" fmla="*/ 569 w 1232"/>
                  <a:gd name="T31" fmla="*/ 148 h 1038"/>
                  <a:gd name="T32" fmla="*/ 707 w 1232"/>
                  <a:gd name="T33" fmla="*/ 140 h 1038"/>
                  <a:gd name="T34" fmla="*/ 765 w 1232"/>
                  <a:gd name="T35" fmla="*/ 183 h 1038"/>
                  <a:gd name="T36" fmla="*/ 806 w 1232"/>
                  <a:gd name="T37" fmla="*/ 212 h 1038"/>
                  <a:gd name="T38" fmla="*/ 821 w 1232"/>
                  <a:gd name="T39" fmla="*/ 271 h 1038"/>
                  <a:gd name="T40" fmla="*/ 838 w 1232"/>
                  <a:gd name="T41" fmla="*/ 304 h 1038"/>
                  <a:gd name="T42" fmla="*/ 887 w 1232"/>
                  <a:gd name="T43" fmla="*/ 306 h 1038"/>
                  <a:gd name="T44" fmla="*/ 929 w 1232"/>
                  <a:gd name="T45" fmla="*/ 382 h 1038"/>
                  <a:gd name="T46" fmla="*/ 993 w 1232"/>
                  <a:gd name="T47" fmla="*/ 572 h 1038"/>
                  <a:gd name="T48" fmla="*/ 1014 w 1232"/>
                  <a:gd name="T49" fmla="*/ 692 h 1038"/>
                  <a:gd name="T50" fmla="*/ 1058 w 1232"/>
                  <a:gd name="T51" fmla="*/ 695 h 1038"/>
                  <a:gd name="T52" fmla="*/ 1094 w 1232"/>
                  <a:gd name="T53" fmla="*/ 745 h 1038"/>
                  <a:gd name="T54" fmla="*/ 1144 w 1232"/>
                  <a:gd name="T55" fmla="*/ 769 h 1038"/>
                  <a:gd name="T56" fmla="*/ 1187 w 1232"/>
                  <a:gd name="T57" fmla="*/ 820 h 1038"/>
                  <a:gd name="T58" fmla="*/ 1227 w 1232"/>
                  <a:gd name="T59" fmla="*/ 886 h 1038"/>
                  <a:gd name="T60" fmla="*/ 1167 w 1232"/>
                  <a:gd name="T61" fmla="*/ 887 h 1038"/>
                  <a:gd name="T62" fmla="*/ 1080 w 1232"/>
                  <a:gd name="T63" fmla="*/ 861 h 1038"/>
                  <a:gd name="T64" fmla="*/ 1088 w 1232"/>
                  <a:gd name="T65" fmla="*/ 932 h 1038"/>
                  <a:gd name="T66" fmla="*/ 1021 w 1232"/>
                  <a:gd name="T67" fmla="*/ 904 h 1038"/>
                  <a:gd name="T68" fmla="*/ 1010 w 1232"/>
                  <a:gd name="T69" fmla="*/ 998 h 1038"/>
                  <a:gd name="T70" fmla="*/ 932 w 1232"/>
                  <a:gd name="T71" fmla="*/ 982 h 1038"/>
                  <a:gd name="T72" fmla="*/ 820 w 1232"/>
                  <a:gd name="T73" fmla="*/ 956 h 1038"/>
                  <a:gd name="T74" fmla="*/ 689 w 1232"/>
                  <a:gd name="T75" fmla="*/ 939 h 1038"/>
                  <a:gd name="T76" fmla="*/ 513 w 1232"/>
                  <a:gd name="T77" fmla="*/ 878 h 1038"/>
                  <a:gd name="T78" fmla="*/ 467 w 1232"/>
                  <a:gd name="T79" fmla="*/ 851 h 1038"/>
                  <a:gd name="T80" fmla="*/ 425 w 1232"/>
                  <a:gd name="T81" fmla="*/ 780 h 1038"/>
                  <a:gd name="T82" fmla="*/ 336 w 1232"/>
                  <a:gd name="T83" fmla="*/ 706 h 1038"/>
                  <a:gd name="T84" fmla="*/ 293 w 1232"/>
                  <a:gd name="T85" fmla="*/ 697 h 1038"/>
                  <a:gd name="T86" fmla="*/ 205 w 1232"/>
                  <a:gd name="T87" fmla="*/ 706 h 1038"/>
                  <a:gd name="T88" fmla="*/ 146 w 1232"/>
                  <a:gd name="T89" fmla="*/ 647 h 1038"/>
                  <a:gd name="T90" fmla="*/ 59 w 1232"/>
                  <a:gd name="T91" fmla="*/ 557 h 1038"/>
                  <a:gd name="T92" fmla="*/ 3 w 1232"/>
                  <a:gd name="T93" fmla="*/ 558 h 10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232" h="1038">
                    <a:moveTo>
                      <a:pt x="3" y="558"/>
                    </a:moveTo>
                    <a:cubicBezTo>
                      <a:pt x="3" y="558"/>
                      <a:pt x="0" y="499"/>
                      <a:pt x="1" y="462"/>
                    </a:cubicBezTo>
                    <a:cubicBezTo>
                      <a:pt x="3" y="424"/>
                      <a:pt x="84" y="451"/>
                      <a:pt x="138" y="465"/>
                    </a:cubicBezTo>
                    <a:cubicBezTo>
                      <a:pt x="154" y="447"/>
                      <a:pt x="193" y="432"/>
                      <a:pt x="193" y="432"/>
                    </a:cubicBezTo>
                    <a:cubicBezTo>
                      <a:pt x="193" y="432"/>
                      <a:pt x="198" y="398"/>
                      <a:pt x="191" y="346"/>
                    </a:cubicBezTo>
                    <a:cubicBezTo>
                      <a:pt x="162" y="320"/>
                      <a:pt x="131" y="262"/>
                      <a:pt x="118" y="240"/>
                    </a:cubicBezTo>
                    <a:cubicBezTo>
                      <a:pt x="106" y="218"/>
                      <a:pt x="54" y="137"/>
                      <a:pt x="40" y="119"/>
                    </a:cubicBezTo>
                    <a:cubicBezTo>
                      <a:pt x="26" y="100"/>
                      <a:pt x="31" y="84"/>
                      <a:pt x="31" y="53"/>
                    </a:cubicBezTo>
                    <a:cubicBezTo>
                      <a:pt x="31" y="22"/>
                      <a:pt x="64" y="0"/>
                      <a:pt x="64" y="0"/>
                    </a:cubicBezTo>
                    <a:cubicBezTo>
                      <a:pt x="98" y="2"/>
                      <a:pt x="107" y="45"/>
                      <a:pt x="131" y="84"/>
                    </a:cubicBezTo>
                    <a:cubicBezTo>
                      <a:pt x="154" y="123"/>
                      <a:pt x="204" y="134"/>
                      <a:pt x="262" y="159"/>
                    </a:cubicBezTo>
                    <a:cubicBezTo>
                      <a:pt x="319" y="184"/>
                      <a:pt x="333" y="214"/>
                      <a:pt x="357" y="217"/>
                    </a:cubicBezTo>
                    <a:cubicBezTo>
                      <a:pt x="380" y="220"/>
                      <a:pt x="380" y="209"/>
                      <a:pt x="416" y="206"/>
                    </a:cubicBezTo>
                    <a:cubicBezTo>
                      <a:pt x="452" y="203"/>
                      <a:pt x="509" y="250"/>
                      <a:pt x="509" y="250"/>
                    </a:cubicBezTo>
                    <a:cubicBezTo>
                      <a:pt x="509" y="250"/>
                      <a:pt x="586" y="229"/>
                      <a:pt x="586" y="217"/>
                    </a:cubicBezTo>
                    <a:cubicBezTo>
                      <a:pt x="586" y="204"/>
                      <a:pt x="569" y="148"/>
                      <a:pt x="569" y="148"/>
                    </a:cubicBezTo>
                    <a:cubicBezTo>
                      <a:pt x="569" y="148"/>
                      <a:pt x="648" y="128"/>
                      <a:pt x="707" y="140"/>
                    </a:cubicBezTo>
                    <a:cubicBezTo>
                      <a:pt x="767" y="153"/>
                      <a:pt x="751" y="181"/>
                      <a:pt x="765" y="183"/>
                    </a:cubicBezTo>
                    <a:cubicBezTo>
                      <a:pt x="779" y="184"/>
                      <a:pt x="798" y="198"/>
                      <a:pt x="806" y="212"/>
                    </a:cubicBezTo>
                    <a:cubicBezTo>
                      <a:pt x="813" y="226"/>
                      <a:pt x="812" y="246"/>
                      <a:pt x="821" y="271"/>
                    </a:cubicBezTo>
                    <a:cubicBezTo>
                      <a:pt x="831" y="296"/>
                      <a:pt x="834" y="309"/>
                      <a:pt x="838" y="304"/>
                    </a:cubicBezTo>
                    <a:cubicBezTo>
                      <a:pt x="843" y="299"/>
                      <a:pt x="887" y="281"/>
                      <a:pt x="887" y="306"/>
                    </a:cubicBezTo>
                    <a:cubicBezTo>
                      <a:pt x="887" y="331"/>
                      <a:pt x="890" y="327"/>
                      <a:pt x="929" y="382"/>
                    </a:cubicBezTo>
                    <a:cubicBezTo>
                      <a:pt x="968" y="437"/>
                      <a:pt x="980" y="471"/>
                      <a:pt x="993" y="572"/>
                    </a:cubicBezTo>
                    <a:cubicBezTo>
                      <a:pt x="1005" y="674"/>
                      <a:pt x="1013" y="677"/>
                      <a:pt x="1014" y="692"/>
                    </a:cubicBezTo>
                    <a:cubicBezTo>
                      <a:pt x="1016" y="708"/>
                      <a:pt x="1028" y="700"/>
                      <a:pt x="1058" y="695"/>
                    </a:cubicBezTo>
                    <a:cubicBezTo>
                      <a:pt x="1088" y="691"/>
                      <a:pt x="1094" y="734"/>
                      <a:pt x="1094" y="745"/>
                    </a:cubicBezTo>
                    <a:cubicBezTo>
                      <a:pt x="1094" y="756"/>
                      <a:pt x="1128" y="769"/>
                      <a:pt x="1144" y="769"/>
                    </a:cubicBezTo>
                    <a:cubicBezTo>
                      <a:pt x="1159" y="769"/>
                      <a:pt x="1183" y="789"/>
                      <a:pt x="1187" y="820"/>
                    </a:cubicBezTo>
                    <a:cubicBezTo>
                      <a:pt x="1192" y="851"/>
                      <a:pt x="1232" y="886"/>
                      <a:pt x="1227" y="886"/>
                    </a:cubicBezTo>
                    <a:cubicBezTo>
                      <a:pt x="1213" y="887"/>
                      <a:pt x="1185" y="888"/>
                      <a:pt x="1167" y="887"/>
                    </a:cubicBezTo>
                    <a:cubicBezTo>
                      <a:pt x="1144" y="886"/>
                      <a:pt x="1108" y="861"/>
                      <a:pt x="1080" y="861"/>
                    </a:cubicBezTo>
                    <a:cubicBezTo>
                      <a:pt x="1052" y="861"/>
                      <a:pt x="1081" y="893"/>
                      <a:pt x="1088" y="932"/>
                    </a:cubicBezTo>
                    <a:cubicBezTo>
                      <a:pt x="1094" y="971"/>
                      <a:pt x="1033" y="918"/>
                      <a:pt x="1021" y="904"/>
                    </a:cubicBezTo>
                    <a:cubicBezTo>
                      <a:pt x="1008" y="890"/>
                      <a:pt x="1010" y="957"/>
                      <a:pt x="1010" y="998"/>
                    </a:cubicBezTo>
                    <a:cubicBezTo>
                      <a:pt x="1010" y="1038"/>
                      <a:pt x="960" y="1006"/>
                      <a:pt x="932" y="982"/>
                    </a:cubicBezTo>
                    <a:cubicBezTo>
                      <a:pt x="904" y="959"/>
                      <a:pt x="885" y="956"/>
                      <a:pt x="820" y="956"/>
                    </a:cubicBezTo>
                    <a:cubicBezTo>
                      <a:pt x="754" y="956"/>
                      <a:pt x="715" y="953"/>
                      <a:pt x="689" y="939"/>
                    </a:cubicBezTo>
                    <a:cubicBezTo>
                      <a:pt x="662" y="925"/>
                      <a:pt x="544" y="889"/>
                      <a:pt x="513" y="878"/>
                    </a:cubicBezTo>
                    <a:cubicBezTo>
                      <a:pt x="481" y="867"/>
                      <a:pt x="475" y="876"/>
                      <a:pt x="467" y="851"/>
                    </a:cubicBezTo>
                    <a:cubicBezTo>
                      <a:pt x="460" y="826"/>
                      <a:pt x="435" y="787"/>
                      <a:pt x="425" y="780"/>
                    </a:cubicBezTo>
                    <a:cubicBezTo>
                      <a:pt x="416" y="772"/>
                      <a:pt x="360" y="727"/>
                      <a:pt x="336" y="706"/>
                    </a:cubicBezTo>
                    <a:cubicBezTo>
                      <a:pt x="313" y="686"/>
                      <a:pt x="310" y="683"/>
                      <a:pt x="293" y="697"/>
                    </a:cubicBezTo>
                    <a:cubicBezTo>
                      <a:pt x="276" y="711"/>
                      <a:pt x="229" y="722"/>
                      <a:pt x="205" y="706"/>
                    </a:cubicBezTo>
                    <a:cubicBezTo>
                      <a:pt x="182" y="691"/>
                      <a:pt x="148" y="697"/>
                      <a:pt x="146" y="647"/>
                    </a:cubicBezTo>
                    <a:cubicBezTo>
                      <a:pt x="145" y="597"/>
                      <a:pt x="87" y="572"/>
                      <a:pt x="59" y="557"/>
                    </a:cubicBezTo>
                    <a:cubicBezTo>
                      <a:pt x="59" y="557"/>
                      <a:pt x="19" y="552"/>
                      <a:pt x="3" y="55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11" name="Freeform 1786">
                <a:extLst>
                  <a:ext uri="{FF2B5EF4-FFF2-40B4-BE49-F238E27FC236}">
                    <a16:creationId xmlns:a16="http://schemas.microsoft.com/office/drawing/2014/main" id="{BDA1BE41-0613-601D-8304-1D4CED1842CF}"/>
                  </a:ext>
                </a:extLst>
              </p:cNvPr>
              <p:cNvSpPr>
                <a:spLocks/>
              </p:cNvSpPr>
              <p:nvPr/>
            </p:nvSpPr>
            <p:spPr bwMode="auto">
              <a:xfrm>
                <a:off x="1643" y="828"/>
                <a:ext cx="107" cy="89"/>
              </a:xfrm>
              <a:custGeom>
                <a:avLst/>
                <a:gdLst>
                  <a:gd name="T0" fmla="*/ 451 w 486"/>
                  <a:gd name="T1" fmla="*/ 247 h 400"/>
                  <a:gd name="T2" fmla="*/ 418 w 486"/>
                  <a:gd name="T3" fmla="*/ 162 h 400"/>
                  <a:gd name="T4" fmla="*/ 339 w 486"/>
                  <a:gd name="T5" fmla="*/ 151 h 400"/>
                  <a:gd name="T6" fmla="*/ 295 w 486"/>
                  <a:gd name="T7" fmla="*/ 75 h 400"/>
                  <a:gd name="T8" fmla="*/ 248 w 486"/>
                  <a:gd name="T9" fmla="*/ 42 h 400"/>
                  <a:gd name="T10" fmla="*/ 200 w 486"/>
                  <a:gd name="T11" fmla="*/ 19 h 400"/>
                  <a:gd name="T12" fmla="*/ 155 w 486"/>
                  <a:gd name="T13" fmla="*/ 42 h 400"/>
                  <a:gd name="T14" fmla="*/ 111 w 486"/>
                  <a:gd name="T15" fmla="*/ 29 h 400"/>
                  <a:gd name="T16" fmla="*/ 68 w 486"/>
                  <a:gd name="T17" fmla="*/ 15 h 400"/>
                  <a:gd name="T18" fmla="*/ 66 w 486"/>
                  <a:gd name="T19" fmla="*/ 73 h 400"/>
                  <a:gd name="T20" fmla="*/ 35 w 486"/>
                  <a:gd name="T21" fmla="*/ 125 h 400"/>
                  <a:gd name="T22" fmla="*/ 0 w 486"/>
                  <a:gd name="T23" fmla="*/ 167 h 400"/>
                  <a:gd name="T24" fmla="*/ 12 w 486"/>
                  <a:gd name="T25" fmla="*/ 206 h 400"/>
                  <a:gd name="T26" fmla="*/ 62 w 486"/>
                  <a:gd name="T27" fmla="*/ 230 h 400"/>
                  <a:gd name="T28" fmla="*/ 105 w 486"/>
                  <a:gd name="T29" fmla="*/ 281 h 400"/>
                  <a:gd name="T30" fmla="*/ 145 w 486"/>
                  <a:gd name="T31" fmla="*/ 347 h 400"/>
                  <a:gd name="T32" fmla="*/ 178 w 486"/>
                  <a:gd name="T33" fmla="*/ 379 h 400"/>
                  <a:gd name="T34" fmla="*/ 204 w 486"/>
                  <a:gd name="T35" fmla="*/ 369 h 400"/>
                  <a:gd name="T36" fmla="*/ 246 w 486"/>
                  <a:gd name="T37" fmla="*/ 327 h 400"/>
                  <a:gd name="T38" fmla="*/ 287 w 486"/>
                  <a:gd name="T39" fmla="*/ 340 h 400"/>
                  <a:gd name="T40" fmla="*/ 308 w 486"/>
                  <a:gd name="T41" fmla="*/ 364 h 400"/>
                  <a:gd name="T42" fmla="*/ 364 w 486"/>
                  <a:gd name="T43" fmla="*/ 302 h 400"/>
                  <a:gd name="T44" fmla="*/ 393 w 486"/>
                  <a:gd name="T45" fmla="*/ 265 h 400"/>
                  <a:gd name="T46" fmla="*/ 438 w 486"/>
                  <a:gd name="T47" fmla="*/ 265 h 400"/>
                  <a:gd name="T48" fmla="*/ 486 w 486"/>
                  <a:gd name="T49" fmla="*/ 298 h 400"/>
                  <a:gd name="T50" fmla="*/ 451 w 486"/>
                  <a:gd name="T51" fmla="*/ 247 h 4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6" h="400">
                    <a:moveTo>
                      <a:pt x="451" y="247"/>
                    </a:moveTo>
                    <a:cubicBezTo>
                      <a:pt x="434" y="220"/>
                      <a:pt x="426" y="207"/>
                      <a:pt x="418" y="162"/>
                    </a:cubicBezTo>
                    <a:cubicBezTo>
                      <a:pt x="411" y="118"/>
                      <a:pt x="370" y="147"/>
                      <a:pt x="339" y="151"/>
                    </a:cubicBezTo>
                    <a:cubicBezTo>
                      <a:pt x="308" y="155"/>
                      <a:pt x="308" y="137"/>
                      <a:pt x="295" y="75"/>
                    </a:cubicBezTo>
                    <a:cubicBezTo>
                      <a:pt x="281" y="13"/>
                      <a:pt x="264" y="25"/>
                      <a:pt x="248" y="42"/>
                    </a:cubicBezTo>
                    <a:cubicBezTo>
                      <a:pt x="233" y="60"/>
                      <a:pt x="213" y="38"/>
                      <a:pt x="200" y="19"/>
                    </a:cubicBezTo>
                    <a:cubicBezTo>
                      <a:pt x="186" y="0"/>
                      <a:pt x="163" y="23"/>
                      <a:pt x="155" y="42"/>
                    </a:cubicBezTo>
                    <a:cubicBezTo>
                      <a:pt x="147" y="62"/>
                      <a:pt x="124" y="40"/>
                      <a:pt x="111" y="29"/>
                    </a:cubicBezTo>
                    <a:cubicBezTo>
                      <a:pt x="97" y="17"/>
                      <a:pt x="68" y="15"/>
                      <a:pt x="68" y="15"/>
                    </a:cubicBezTo>
                    <a:cubicBezTo>
                      <a:pt x="68" y="15"/>
                      <a:pt x="66" y="44"/>
                      <a:pt x="66" y="73"/>
                    </a:cubicBezTo>
                    <a:cubicBezTo>
                      <a:pt x="66" y="102"/>
                      <a:pt x="47" y="114"/>
                      <a:pt x="35" y="125"/>
                    </a:cubicBezTo>
                    <a:cubicBezTo>
                      <a:pt x="29" y="132"/>
                      <a:pt x="13" y="151"/>
                      <a:pt x="0" y="167"/>
                    </a:cubicBezTo>
                    <a:cubicBezTo>
                      <a:pt x="10" y="180"/>
                      <a:pt x="12" y="199"/>
                      <a:pt x="12" y="206"/>
                    </a:cubicBezTo>
                    <a:cubicBezTo>
                      <a:pt x="12" y="217"/>
                      <a:pt x="46" y="230"/>
                      <a:pt x="62" y="230"/>
                    </a:cubicBezTo>
                    <a:cubicBezTo>
                      <a:pt x="77" y="230"/>
                      <a:pt x="101" y="250"/>
                      <a:pt x="105" y="281"/>
                    </a:cubicBezTo>
                    <a:cubicBezTo>
                      <a:pt x="110" y="312"/>
                      <a:pt x="151" y="347"/>
                      <a:pt x="145" y="347"/>
                    </a:cubicBezTo>
                    <a:cubicBezTo>
                      <a:pt x="160" y="356"/>
                      <a:pt x="176" y="368"/>
                      <a:pt x="178" y="379"/>
                    </a:cubicBezTo>
                    <a:cubicBezTo>
                      <a:pt x="182" y="400"/>
                      <a:pt x="196" y="385"/>
                      <a:pt x="204" y="369"/>
                    </a:cubicBezTo>
                    <a:cubicBezTo>
                      <a:pt x="211" y="354"/>
                      <a:pt x="225" y="331"/>
                      <a:pt x="246" y="327"/>
                    </a:cubicBezTo>
                    <a:cubicBezTo>
                      <a:pt x="267" y="323"/>
                      <a:pt x="287" y="331"/>
                      <a:pt x="287" y="340"/>
                    </a:cubicBezTo>
                    <a:cubicBezTo>
                      <a:pt x="287" y="350"/>
                      <a:pt x="295" y="396"/>
                      <a:pt x="308" y="364"/>
                    </a:cubicBezTo>
                    <a:cubicBezTo>
                      <a:pt x="324" y="300"/>
                      <a:pt x="345" y="302"/>
                      <a:pt x="364" y="302"/>
                    </a:cubicBezTo>
                    <a:cubicBezTo>
                      <a:pt x="384" y="302"/>
                      <a:pt x="386" y="292"/>
                      <a:pt x="393" y="265"/>
                    </a:cubicBezTo>
                    <a:cubicBezTo>
                      <a:pt x="401" y="238"/>
                      <a:pt x="418" y="230"/>
                      <a:pt x="438" y="265"/>
                    </a:cubicBezTo>
                    <a:cubicBezTo>
                      <a:pt x="457" y="300"/>
                      <a:pt x="486" y="298"/>
                      <a:pt x="486" y="298"/>
                    </a:cubicBezTo>
                    <a:cubicBezTo>
                      <a:pt x="486" y="298"/>
                      <a:pt x="469" y="275"/>
                      <a:pt x="451" y="2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12" name="Freeform 1787">
                <a:extLst>
                  <a:ext uri="{FF2B5EF4-FFF2-40B4-BE49-F238E27FC236}">
                    <a16:creationId xmlns:a16="http://schemas.microsoft.com/office/drawing/2014/main" id="{364F4021-8BCA-44B2-CCC5-11A7EEE7C185}"/>
                  </a:ext>
                </a:extLst>
              </p:cNvPr>
              <p:cNvSpPr>
                <a:spLocks/>
              </p:cNvSpPr>
              <p:nvPr/>
            </p:nvSpPr>
            <p:spPr bwMode="auto">
              <a:xfrm>
                <a:off x="767" y="232"/>
                <a:ext cx="430" cy="319"/>
              </a:xfrm>
              <a:custGeom>
                <a:avLst/>
                <a:gdLst>
                  <a:gd name="T0" fmla="*/ 29 w 1946"/>
                  <a:gd name="T1" fmla="*/ 397 h 1445"/>
                  <a:gd name="T2" fmla="*/ 71 w 1946"/>
                  <a:gd name="T3" fmla="*/ 489 h 1445"/>
                  <a:gd name="T4" fmla="*/ 98 w 1946"/>
                  <a:gd name="T5" fmla="*/ 531 h 1445"/>
                  <a:gd name="T6" fmla="*/ 191 w 1946"/>
                  <a:gd name="T7" fmla="*/ 642 h 1445"/>
                  <a:gd name="T8" fmla="*/ 233 w 1946"/>
                  <a:gd name="T9" fmla="*/ 702 h 1445"/>
                  <a:gd name="T10" fmla="*/ 287 w 1946"/>
                  <a:gd name="T11" fmla="*/ 676 h 1445"/>
                  <a:gd name="T12" fmla="*/ 295 w 1946"/>
                  <a:gd name="T13" fmla="*/ 731 h 1445"/>
                  <a:gd name="T14" fmla="*/ 383 w 1946"/>
                  <a:gd name="T15" fmla="*/ 769 h 1445"/>
                  <a:gd name="T16" fmla="*/ 367 w 1946"/>
                  <a:gd name="T17" fmla="*/ 723 h 1445"/>
                  <a:gd name="T18" fmla="*/ 388 w 1946"/>
                  <a:gd name="T19" fmla="*/ 692 h 1445"/>
                  <a:gd name="T20" fmla="*/ 458 w 1946"/>
                  <a:gd name="T21" fmla="*/ 741 h 1445"/>
                  <a:gd name="T22" fmla="*/ 462 w 1946"/>
                  <a:gd name="T23" fmla="*/ 808 h 1445"/>
                  <a:gd name="T24" fmla="*/ 548 w 1946"/>
                  <a:gd name="T25" fmla="*/ 896 h 1445"/>
                  <a:gd name="T26" fmla="*/ 616 w 1946"/>
                  <a:gd name="T27" fmla="*/ 932 h 1445"/>
                  <a:gd name="T28" fmla="*/ 673 w 1946"/>
                  <a:gd name="T29" fmla="*/ 887 h 1445"/>
                  <a:gd name="T30" fmla="*/ 779 w 1946"/>
                  <a:gd name="T31" fmla="*/ 969 h 1445"/>
                  <a:gd name="T32" fmla="*/ 856 w 1946"/>
                  <a:gd name="T33" fmla="*/ 936 h 1445"/>
                  <a:gd name="T34" fmla="*/ 866 w 1946"/>
                  <a:gd name="T35" fmla="*/ 887 h 1445"/>
                  <a:gd name="T36" fmla="*/ 954 w 1946"/>
                  <a:gd name="T37" fmla="*/ 906 h 1445"/>
                  <a:gd name="T38" fmla="*/ 1112 w 1946"/>
                  <a:gd name="T39" fmla="*/ 945 h 1445"/>
                  <a:gd name="T40" fmla="*/ 1167 w 1946"/>
                  <a:gd name="T41" fmla="*/ 854 h 1445"/>
                  <a:gd name="T42" fmla="*/ 1251 w 1946"/>
                  <a:gd name="T43" fmla="*/ 896 h 1445"/>
                  <a:gd name="T44" fmla="*/ 1277 w 1946"/>
                  <a:gd name="T45" fmla="*/ 966 h 1445"/>
                  <a:gd name="T46" fmla="*/ 1339 w 1946"/>
                  <a:gd name="T47" fmla="*/ 1060 h 1445"/>
                  <a:gd name="T48" fmla="*/ 1381 w 1946"/>
                  <a:gd name="T49" fmla="*/ 1004 h 1445"/>
                  <a:gd name="T50" fmla="*/ 1473 w 1946"/>
                  <a:gd name="T51" fmla="*/ 1025 h 1445"/>
                  <a:gd name="T52" fmla="*/ 1557 w 1946"/>
                  <a:gd name="T53" fmla="*/ 1102 h 1445"/>
                  <a:gd name="T54" fmla="*/ 1581 w 1946"/>
                  <a:gd name="T55" fmla="*/ 1138 h 1445"/>
                  <a:gd name="T56" fmla="*/ 1590 w 1946"/>
                  <a:gd name="T57" fmla="*/ 1186 h 1445"/>
                  <a:gd name="T58" fmla="*/ 1590 w 1946"/>
                  <a:gd name="T59" fmla="*/ 1227 h 1445"/>
                  <a:gd name="T60" fmla="*/ 1648 w 1946"/>
                  <a:gd name="T61" fmla="*/ 1291 h 1445"/>
                  <a:gd name="T62" fmla="*/ 1718 w 1946"/>
                  <a:gd name="T63" fmla="*/ 1406 h 1445"/>
                  <a:gd name="T64" fmla="*/ 1787 w 1946"/>
                  <a:gd name="T65" fmla="*/ 1411 h 1445"/>
                  <a:gd name="T66" fmla="*/ 1860 w 1946"/>
                  <a:gd name="T67" fmla="*/ 1367 h 1445"/>
                  <a:gd name="T68" fmla="*/ 1875 w 1946"/>
                  <a:gd name="T69" fmla="*/ 1282 h 1445"/>
                  <a:gd name="T70" fmla="*/ 1829 w 1946"/>
                  <a:gd name="T71" fmla="*/ 1144 h 1445"/>
                  <a:gd name="T72" fmla="*/ 1911 w 1946"/>
                  <a:gd name="T73" fmla="*/ 1063 h 1445"/>
                  <a:gd name="T74" fmla="*/ 1854 w 1946"/>
                  <a:gd name="T75" fmla="*/ 949 h 1445"/>
                  <a:gd name="T76" fmla="*/ 1835 w 1946"/>
                  <a:gd name="T77" fmla="*/ 870 h 1445"/>
                  <a:gd name="T78" fmla="*/ 1763 w 1946"/>
                  <a:gd name="T79" fmla="*/ 772 h 1445"/>
                  <a:gd name="T80" fmla="*/ 1751 w 1946"/>
                  <a:gd name="T81" fmla="*/ 720 h 1445"/>
                  <a:gd name="T82" fmla="*/ 1681 w 1946"/>
                  <a:gd name="T83" fmla="*/ 669 h 1445"/>
                  <a:gd name="T84" fmla="*/ 1656 w 1946"/>
                  <a:gd name="T85" fmla="*/ 601 h 1445"/>
                  <a:gd name="T86" fmla="*/ 1597 w 1946"/>
                  <a:gd name="T87" fmla="*/ 545 h 1445"/>
                  <a:gd name="T88" fmla="*/ 1466 w 1946"/>
                  <a:gd name="T89" fmla="*/ 498 h 1445"/>
                  <a:gd name="T90" fmla="*/ 1460 w 1946"/>
                  <a:gd name="T91" fmla="*/ 410 h 1445"/>
                  <a:gd name="T92" fmla="*/ 1404 w 1946"/>
                  <a:gd name="T93" fmla="*/ 300 h 1445"/>
                  <a:gd name="T94" fmla="*/ 1361 w 1946"/>
                  <a:gd name="T95" fmla="*/ 274 h 1445"/>
                  <a:gd name="T96" fmla="*/ 1304 w 1946"/>
                  <a:gd name="T97" fmla="*/ 167 h 1445"/>
                  <a:gd name="T98" fmla="*/ 1146 w 1946"/>
                  <a:gd name="T99" fmla="*/ 17 h 1445"/>
                  <a:gd name="T100" fmla="*/ 966 w 1946"/>
                  <a:gd name="T101" fmla="*/ 264 h 1445"/>
                  <a:gd name="T102" fmla="*/ 838 w 1946"/>
                  <a:gd name="T103" fmla="*/ 405 h 1445"/>
                  <a:gd name="T104" fmla="*/ 680 w 1946"/>
                  <a:gd name="T105" fmla="*/ 420 h 1445"/>
                  <a:gd name="T106" fmla="*/ 209 w 1946"/>
                  <a:gd name="T107" fmla="*/ 48 h 1445"/>
                  <a:gd name="T108" fmla="*/ 101 w 1946"/>
                  <a:gd name="T109" fmla="*/ 190 h 1445"/>
                  <a:gd name="T110" fmla="*/ 0 w 1946"/>
                  <a:gd name="T111" fmla="*/ 302 h 1445"/>
                  <a:gd name="T112" fmla="*/ 11 w 1946"/>
                  <a:gd name="T113" fmla="*/ 346 h 1445"/>
                  <a:gd name="T114" fmla="*/ 29 w 1946"/>
                  <a:gd name="T115" fmla="*/ 397 h 14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946" h="1445">
                    <a:moveTo>
                      <a:pt x="29" y="397"/>
                    </a:moveTo>
                    <a:cubicBezTo>
                      <a:pt x="48" y="421"/>
                      <a:pt x="74" y="450"/>
                      <a:pt x="71" y="489"/>
                    </a:cubicBezTo>
                    <a:cubicBezTo>
                      <a:pt x="68" y="528"/>
                      <a:pt x="71" y="498"/>
                      <a:pt x="98" y="531"/>
                    </a:cubicBezTo>
                    <a:cubicBezTo>
                      <a:pt x="126" y="564"/>
                      <a:pt x="176" y="623"/>
                      <a:pt x="191" y="642"/>
                    </a:cubicBezTo>
                    <a:cubicBezTo>
                      <a:pt x="205" y="661"/>
                      <a:pt x="233" y="702"/>
                      <a:pt x="233" y="702"/>
                    </a:cubicBezTo>
                    <a:cubicBezTo>
                      <a:pt x="233" y="702"/>
                      <a:pt x="285" y="652"/>
                      <a:pt x="287" y="676"/>
                    </a:cubicBezTo>
                    <a:cubicBezTo>
                      <a:pt x="290" y="701"/>
                      <a:pt x="287" y="720"/>
                      <a:pt x="295" y="731"/>
                    </a:cubicBezTo>
                    <a:cubicBezTo>
                      <a:pt x="302" y="743"/>
                      <a:pt x="383" y="792"/>
                      <a:pt x="383" y="769"/>
                    </a:cubicBezTo>
                    <a:cubicBezTo>
                      <a:pt x="383" y="746"/>
                      <a:pt x="377" y="746"/>
                      <a:pt x="367" y="723"/>
                    </a:cubicBezTo>
                    <a:cubicBezTo>
                      <a:pt x="357" y="700"/>
                      <a:pt x="362" y="672"/>
                      <a:pt x="388" y="692"/>
                    </a:cubicBezTo>
                    <a:cubicBezTo>
                      <a:pt x="414" y="713"/>
                      <a:pt x="459" y="717"/>
                      <a:pt x="458" y="741"/>
                    </a:cubicBezTo>
                    <a:cubicBezTo>
                      <a:pt x="456" y="766"/>
                      <a:pt x="446" y="776"/>
                      <a:pt x="462" y="808"/>
                    </a:cubicBezTo>
                    <a:cubicBezTo>
                      <a:pt x="478" y="839"/>
                      <a:pt x="524" y="861"/>
                      <a:pt x="548" y="896"/>
                    </a:cubicBezTo>
                    <a:cubicBezTo>
                      <a:pt x="573" y="930"/>
                      <a:pt x="605" y="959"/>
                      <a:pt x="616" y="932"/>
                    </a:cubicBezTo>
                    <a:cubicBezTo>
                      <a:pt x="628" y="904"/>
                      <a:pt x="641" y="861"/>
                      <a:pt x="673" y="887"/>
                    </a:cubicBezTo>
                    <a:cubicBezTo>
                      <a:pt x="704" y="913"/>
                      <a:pt x="743" y="966"/>
                      <a:pt x="779" y="969"/>
                    </a:cubicBezTo>
                    <a:cubicBezTo>
                      <a:pt x="815" y="972"/>
                      <a:pt x="841" y="955"/>
                      <a:pt x="856" y="936"/>
                    </a:cubicBezTo>
                    <a:cubicBezTo>
                      <a:pt x="870" y="917"/>
                      <a:pt x="866" y="907"/>
                      <a:pt x="866" y="887"/>
                    </a:cubicBezTo>
                    <a:cubicBezTo>
                      <a:pt x="866" y="867"/>
                      <a:pt x="909" y="873"/>
                      <a:pt x="954" y="906"/>
                    </a:cubicBezTo>
                    <a:cubicBezTo>
                      <a:pt x="998" y="939"/>
                      <a:pt x="1104" y="1025"/>
                      <a:pt x="1112" y="945"/>
                    </a:cubicBezTo>
                    <a:cubicBezTo>
                      <a:pt x="1121" y="864"/>
                      <a:pt x="1124" y="860"/>
                      <a:pt x="1167" y="854"/>
                    </a:cubicBezTo>
                    <a:cubicBezTo>
                      <a:pt x="1211" y="848"/>
                      <a:pt x="1239" y="851"/>
                      <a:pt x="1251" y="896"/>
                    </a:cubicBezTo>
                    <a:cubicBezTo>
                      <a:pt x="1262" y="940"/>
                      <a:pt x="1247" y="932"/>
                      <a:pt x="1277" y="966"/>
                    </a:cubicBezTo>
                    <a:cubicBezTo>
                      <a:pt x="1307" y="1001"/>
                      <a:pt x="1337" y="1037"/>
                      <a:pt x="1339" y="1060"/>
                    </a:cubicBezTo>
                    <a:cubicBezTo>
                      <a:pt x="1340" y="1083"/>
                      <a:pt x="1353" y="1010"/>
                      <a:pt x="1381" y="1004"/>
                    </a:cubicBezTo>
                    <a:cubicBezTo>
                      <a:pt x="1408" y="998"/>
                      <a:pt x="1438" y="998"/>
                      <a:pt x="1473" y="1025"/>
                    </a:cubicBezTo>
                    <a:cubicBezTo>
                      <a:pt x="1508" y="1053"/>
                      <a:pt x="1555" y="1077"/>
                      <a:pt x="1557" y="1102"/>
                    </a:cubicBezTo>
                    <a:cubicBezTo>
                      <a:pt x="1558" y="1126"/>
                      <a:pt x="1565" y="1138"/>
                      <a:pt x="1581" y="1138"/>
                    </a:cubicBezTo>
                    <a:cubicBezTo>
                      <a:pt x="1597" y="1138"/>
                      <a:pt x="1601" y="1167"/>
                      <a:pt x="1590" y="1186"/>
                    </a:cubicBezTo>
                    <a:cubicBezTo>
                      <a:pt x="1578" y="1204"/>
                      <a:pt x="1586" y="1222"/>
                      <a:pt x="1590" y="1227"/>
                    </a:cubicBezTo>
                    <a:cubicBezTo>
                      <a:pt x="1594" y="1233"/>
                      <a:pt x="1611" y="1249"/>
                      <a:pt x="1648" y="1291"/>
                    </a:cubicBezTo>
                    <a:cubicBezTo>
                      <a:pt x="1684" y="1333"/>
                      <a:pt x="1707" y="1383"/>
                      <a:pt x="1718" y="1406"/>
                    </a:cubicBezTo>
                    <a:cubicBezTo>
                      <a:pt x="1730" y="1429"/>
                      <a:pt x="1757" y="1445"/>
                      <a:pt x="1787" y="1411"/>
                    </a:cubicBezTo>
                    <a:cubicBezTo>
                      <a:pt x="1818" y="1376"/>
                      <a:pt x="1823" y="1372"/>
                      <a:pt x="1860" y="1367"/>
                    </a:cubicBezTo>
                    <a:cubicBezTo>
                      <a:pt x="1896" y="1363"/>
                      <a:pt x="1924" y="1354"/>
                      <a:pt x="1875" y="1282"/>
                    </a:cubicBezTo>
                    <a:cubicBezTo>
                      <a:pt x="1826" y="1210"/>
                      <a:pt x="1790" y="1164"/>
                      <a:pt x="1829" y="1144"/>
                    </a:cubicBezTo>
                    <a:cubicBezTo>
                      <a:pt x="1868" y="1124"/>
                      <a:pt x="1946" y="1089"/>
                      <a:pt x="1911" y="1063"/>
                    </a:cubicBezTo>
                    <a:cubicBezTo>
                      <a:pt x="1877" y="1037"/>
                      <a:pt x="1848" y="987"/>
                      <a:pt x="1854" y="949"/>
                    </a:cubicBezTo>
                    <a:cubicBezTo>
                      <a:pt x="1860" y="912"/>
                      <a:pt x="1884" y="897"/>
                      <a:pt x="1835" y="870"/>
                    </a:cubicBezTo>
                    <a:cubicBezTo>
                      <a:pt x="1786" y="842"/>
                      <a:pt x="1780" y="795"/>
                      <a:pt x="1763" y="772"/>
                    </a:cubicBezTo>
                    <a:cubicBezTo>
                      <a:pt x="1746" y="749"/>
                      <a:pt x="1767" y="731"/>
                      <a:pt x="1751" y="720"/>
                    </a:cubicBezTo>
                    <a:cubicBezTo>
                      <a:pt x="1736" y="708"/>
                      <a:pt x="1701" y="687"/>
                      <a:pt x="1681" y="669"/>
                    </a:cubicBezTo>
                    <a:cubicBezTo>
                      <a:pt x="1661" y="652"/>
                      <a:pt x="1659" y="636"/>
                      <a:pt x="1656" y="601"/>
                    </a:cubicBezTo>
                    <a:cubicBezTo>
                      <a:pt x="1653" y="567"/>
                      <a:pt x="1665" y="545"/>
                      <a:pt x="1597" y="545"/>
                    </a:cubicBezTo>
                    <a:cubicBezTo>
                      <a:pt x="1529" y="545"/>
                      <a:pt x="1489" y="550"/>
                      <a:pt x="1466" y="498"/>
                    </a:cubicBezTo>
                    <a:cubicBezTo>
                      <a:pt x="1443" y="446"/>
                      <a:pt x="1460" y="454"/>
                      <a:pt x="1460" y="410"/>
                    </a:cubicBezTo>
                    <a:cubicBezTo>
                      <a:pt x="1460" y="365"/>
                      <a:pt x="1464" y="300"/>
                      <a:pt x="1404" y="300"/>
                    </a:cubicBezTo>
                    <a:cubicBezTo>
                      <a:pt x="1366" y="300"/>
                      <a:pt x="1360" y="288"/>
                      <a:pt x="1361" y="274"/>
                    </a:cubicBezTo>
                    <a:cubicBezTo>
                      <a:pt x="1344" y="260"/>
                      <a:pt x="1325" y="227"/>
                      <a:pt x="1304" y="167"/>
                    </a:cubicBezTo>
                    <a:cubicBezTo>
                      <a:pt x="1291" y="132"/>
                      <a:pt x="1228" y="0"/>
                      <a:pt x="1146" y="17"/>
                    </a:cubicBezTo>
                    <a:cubicBezTo>
                      <a:pt x="1107" y="121"/>
                      <a:pt x="1068" y="221"/>
                      <a:pt x="966" y="264"/>
                    </a:cubicBezTo>
                    <a:cubicBezTo>
                      <a:pt x="957" y="316"/>
                      <a:pt x="968" y="385"/>
                      <a:pt x="838" y="405"/>
                    </a:cubicBezTo>
                    <a:cubicBezTo>
                      <a:pt x="825" y="465"/>
                      <a:pt x="748" y="534"/>
                      <a:pt x="680" y="420"/>
                    </a:cubicBezTo>
                    <a:cubicBezTo>
                      <a:pt x="624" y="320"/>
                      <a:pt x="536" y="156"/>
                      <a:pt x="209" y="48"/>
                    </a:cubicBezTo>
                    <a:cubicBezTo>
                      <a:pt x="192" y="45"/>
                      <a:pt x="122" y="37"/>
                      <a:pt x="101" y="190"/>
                    </a:cubicBezTo>
                    <a:cubicBezTo>
                      <a:pt x="83" y="208"/>
                      <a:pt x="42" y="254"/>
                      <a:pt x="0" y="302"/>
                    </a:cubicBezTo>
                    <a:cubicBezTo>
                      <a:pt x="5" y="313"/>
                      <a:pt x="10" y="329"/>
                      <a:pt x="11" y="346"/>
                    </a:cubicBezTo>
                    <a:cubicBezTo>
                      <a:pt x="12" y="382"/>
                      <a:pt x="11" y="372"/>
                      <a:pt x="29" y="3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13" name="Freeform 1788">
                <a:extLst>
                  <a:ext uri="{FF2B5EF4-FFF2-40B4-BE49-F238E27FC236}">
                    <a16:creationId xmlns:a16="http://schemas.microsoft.com/office/drawing/2014/main" id="{670B01EC-B364-039B-B844-C132BE23B405}"/>
                  </a:ext>
                </a:extLst>
              </p:cNvPr>
              <p:cNvSpPr>
                <a:spLocks/>
              </p:cNvSpPr>
              <p:nvPr/>
            </p:nvSpPr>
            <p:spPr bwMode="auto">
              <a:xfrm>
                <a:off x="1742" y="342"/>
                <a:ext cx="321" cy="315"/>
              </a:xfrm>
              <a:custGeom>
                <a:avLst/>
                <a:gdLst>
                  <a:gd name="T0" fmla="*/ 329 w 1453"/>
                  <a:gd name="T1" fmla="*/ 127 h 1424"/>
                  <a:gd name="T2" fmla="*/ 157 w 1453"/>
                  <a:gd name="T3" fmla="*/ 8 h 1424"/>
                  <a:gd name="T4" fmla="*/ 95 w 1453"/>
                  <a:gd name="T5" fmla="*/ 48 h 1424"/>
                  <a:gd name="T6" fmla="*/ 170 w 1453"/>
                  <a:gd name="T7" fmla="*/ 248 h 1424"/>
                  <a:gd name="T8" fmla="*/ 124 w 1453"/>
                  <a:gd name="T9" fmla="*/ 383 h 1424"/>
                  <a:gd name="T10" fmla="*/ 2 w 1453"/>
                  <a:gd name="T11" fmla="*/ 496 h 1424"/>
                  <a:gd name="T12" fmla="*/ 24 w 1453"/>
                  <a:gd name="T13" fmla="*/ 676 h 1424"/>
                  <a:gd name="T14" fmla="*/ 75 w 1453"/>
                  <a:gd name="T15" fmla="*/ 882 h 1424"/>
                  <a:gd name="T16" fmla="*/ 110 w 1453"/>
                  <a:gd name="T17" fmla="*/ 1041 h 1424"/>
                  <a:gd name="T18" fmla="*/ 66 w 1453"/>
                  <a:gd name="T19" fmla="*/ 1080 h 1424"/>
                  <a:gd name="T20" fmla="*/ 152 w 1453"/>
                  <a:gd name="T21" fmla="*/ 1214 h 1424"/>
                  <a:gd name="T22" fmla="*/ 278 w 1453"/>
                  <a:gd name="T23" fmla="*/ 1317 h 1424"/>
                  <a:gd name="T24" fmla="*/ 459 w 1453"/>
                  <a:gd name="T25" fmla="*/ 1234 h 1424"/>
                  <a:gd name="T26" fmla="*/ 604 w 1453"/>
                  <a:gd name="T27" fmla="*/ 1086 h 1424"/>
                  <a:gd name="T28" fmla="*/ 731 w 1453"/>
                  <a:gd name="T29" fmla="*/ 1175 h 1424"/>
                  <a:gd name="T30" fmla="*/ 817 w 1453"/>
                  <a:gd name="T31" fmla="*/ 1099 h 1424"/>
                  <a:gd name="T32" fmla="*/ 904 w 1453"/>
                  <a:gd name="T33" fmla="*/ 1174 h 1424"/>
                  <a:gd name="T34" fmla="*/ 900 w 1453"/>
                  <a:gd name="T35" fmla="*/ 1231 h 1424"/>
                  <a:gd name="T36" fmla="*/ 978 w 1453"/>
                  <a:gd name="T37" fmla="*/ 1320 h 1424"/>
                  <a:gd name="T38" fmla="*/ 1070 w 1453"/>
                  <a:gd name="T39" fmla="*/ 1423 h 1424"/>
                  <a:gd name="T40" fmla="*/ 1216 w 1453"/>
                  <a:gd name="T41" fmla="*/ 1385 h 1424"/>
                  <a:gd name="T42" fmla="*/ 1328 w 1453"/>
                  <a:gd name="T43" fmla="*/ 1330 h 1424"/>
                  <a:gd name="T44" fmla="*/ 1251 w 1453"/>
                  <a:gd name="T45" fmla="*/ 1203 h 1424"/>
                  <a:gd name="T46" fmla="*/ 1453 w 1453"/>
                  <a:gd name="T47" fmla="*/ 1079 h 1424"/>
                  <a:gd name="T48" fmla="*/ 1384 w 1453"/>
                  <a:gd name="T49" fmla="*/ 935 h 1424"/>
                  <a:gd name="T50" fmla="*/ 1228 w 1453"/>
                  <a:gd name="T51" fmla="*/ 913 h 1424"/>
                  <a:gd name="T52" fmla="*/ 1066 w 1453"/>
                  <a:gd name="T53" fmla="*/ 799 h 1424"/>
                  <a:gd name="T54" fmla="*/ 1078 w 1453"/>
                  <a:gd name="T55" fmla="*/ 688 h 1424"/>
                  <a:gd name="T56" fmla="*/ 959 w 1453"/>
                  <a:gd name="T57" fmla="*/ 669 h 1424"/>
                  <a:gd name="T58" fmla="*/ 815 w 1453"/>
                  <a:gd name="T59" fmla="*/ 601 h 1424"/>
                  <a:gd name="T60" fmla="*/ 654 w 1453"/>
                  <a:gd name="T61" fmla="*/ 585 h 1424"/>
                  <a:gd name="T62" fmla="*/ 675 w 1453"/>
                  <a:gd name="T63" fmla="*/ 315 h 1424"/>
                  <a:gd name="T64" fmla="*/ 546 w 1453"/>
                  <a:gd name="T65" fmla="*/ 73 h 1424"/>
                  <a:gd name="T66" fmla="*/ 490 w 1453"/>
                  <a:gd name="T67" fmla="*/ 74 h 14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453" h="1424">
                    <a:moveTo>
                      <a:pt x="426" y="132"/>
                    </a:moveTo>
                    <a:cubicBezTo>
                      <a:pt x="416" y="147"/>
                      <a:pt x="368" y="126"/>
                      <a:pt x="329" y="127"/>
                    </a:cubicBezTo>
                    <a:cubicBezTo>
                      <a:pt x="290" y="128"/>
                      <a:pt x="299" y="140"/>
                      <a:pt x="288" y="98"/>
                    </a:cubicBezTo>
                    <a:cubicBezTo>
                      <a:pt x="277" y="57"/>
                      <a:pt x="185" y="20"/>
                      <a:pt x="157" y="8"/>
                    </a:cubicBezTo>
                    <a:cubicBezTo>
                      <a:pt x="139" y="0"/>
                      <a:pt x="113" y="31"/>
                      <a:pt x="96" y="55"/>
                    </a:cubicBezTo>
                    <a:cubicBezTo>
                      <a:pt x="96" y="52"/>
                      <a:pt x="96" y="50"/>
                      <a:pt x="95" y="48"/>
                    </a:cubicBezTo>
                    <a:cubicBezTo>
                      <a:pt x="100" y="80"/>
                      <a:pt x="109" y="135"/>
                      <a:pt x="120" y="157"/>
                    </a:cubicBezTo>
                    <a:cubicBezTo>
                      <a:pt x="138" y="190"/>
                      <a:pt x="175" y="238"/>
                      <a:pt x="170" y="248"/>
                    </a:cubicBezTo>
                    <a:cubicBezTo>
                      <a:pt x="166" y="257"/>
                      <a:pt x="144" y="279"/>
                      <a:pt x="138" y="299"/>
                    </a:cubicBezTo>
                    <a:cubicBezTo>
                      <a:pt x="131" y="319"/>
                      <a:pt x="133" y="372"/>
                      <a:pt x="124" y="383"/>
                    </a:cubicBezTo>
                    <a:cubicBezTo>
                      <a:pt x="114" y="394"/>
                      <a:pt x="57" y="457"/>
                      <a:pt x="38" y="464"/>
                    </a:cubicBezTo>
                    <a:cubicBezTo>
                      <a:pt x="19" y="472"/>
                      <a:pt x="2" y="477"/>
                      <a:pt x="2" y="496"/>
                    </a:cubicBezTo>
                    <a:cubicBezTo>
                      <a:pt x="2" y="508"/>
                      <a:pt x="1" y="579"/>
                      <a:pt x="0" y="624"/>
                    </a:cubicBezTo>
                    <a:cubicBezTo>
                      <a:pt x="21" y="634"/>
                      <a:pt x="28" y="653"/>
                      <a:pt x="24" y="676"/>
                    </a:cubicBezTo>
                    <a:cubicBezTo>
                      <a:pt x="18" y="709"/>
                      <a:pt x="8" y="787"/>
                      <a:pt x="8" y="787"/>
                    </a:cubicBezTo>
                    <a:cubicBezTo>
                      <a:pt x="8" y="837"/>
                      <a:pt x="39" y="848"/>
                      <a:pt x="75" y="882"/>
                    </a:cubicBezTo>
                    <a:cubicBezTo>
                      <a:pt x="111" y="916"/>
                      <a:pt x="147" y="935"/>
                      <a:pt x="147" y="974"/>
                    </a:cubicBezTo>
                    <a:cubicBezTo>
                      <a:pt x="147" y="1013"/>
                      <a:pt x="144" y="1018"/>
                      <a:pt x="110" y="1041"/>
                    </a:cubicBezTo>
                    <a:cubicBezTo>
                      <a:pt x="97" y="1064"/>
                      <a:pt x="82" y="1075"/>
                      <a:pt x="66" y="1080"/>
                    </a:cubicBezTo>
                    <a:cubicBezTo>
                      <a:pt x="66" y="1080"/>
                      <a:pt x="66" y="1080"/>
                      <a:pt x="66" y="1080"/>
                    </a:cubicBezTo>
                    <a:cubicBezTo>
                      <a:pt x="69" y="1205"/>
                      <a:pt x="69" y="1205"/>
                      <a:pt x="69" y="1205"/>
                    </a:cubicBezTo>
                    <a:cubicBezTo>
                      <a:pt x="69" y="1205"/>
                      <a:pt x="108" y="1205"/>
                      <a:pt x="152" y="1214"/>
                    </a:cubicBezTo>
                    <a:cubicBezTo>
                      <a:pt x="195" y="1224"/>
                      <a:pt x="211" y="1259"/>
                      <a:pt x="222" y="1272"/>
                    </a:cubicBezTo>
                    <a:cubicBezTo>
                      <a:pt x="233" y="1284"/>
                      <a:pt x="262" y="1306"/>
                      <a:pt x="278" y="1317"/>
                    </a:cubicBezTo>
                    <a:cubicBezTo>
                      <a:pt x="293" y="1328"/>
                      <a:pt x="307" y="1339"/>
                      <a:pt x="362" y="1308"/>
                    </a:cubicBezTo>
                    <a:cubicBezTo>
                      <a:pt x="417" y="1277"/>
                      <a:pt x="449" y="1272"/>
                      <a:pt x="459" y="1234"/>
                    </a:cubicBezTo>
                    <a:cubicBezTo>
                      <a:pt x="468" y="1197"/>
                      <a:pt x="470" y="1174"/>
                      <a:pt x="487" y="1152"/>
                    </a:cubicBezTo>
                    <a:cubicBezTo>
                      <a:pt x="504" y="1130"/>
                      <a:pt x="533" y="1086"/>
                      <a:pt x="604" y="1086"/>
                    </a:cubicBezTo>
                    <a:cubicBezTo>
                      <a:pt x="674" y="1086"/>
                      <a:pt x="705" y="1094"/>
                      <a:pt x="705" y="1114"/>
                    </a:cubicBezTo>
                    <a:cubicBezTo>
                      <a:pt x="705" y="1135"/>
                      <a:pt x="705" y="1169"/>
                      <a:pt x="731" y="1175"/>
                    </a:cubicBezTo>
                    <a:cubicBezTo>
                      <a:pt x="758" y="1181"/>
                      <a:pt x="786" y="1166"/>
                      <a:pt x="788" y="1135"/>
                    </a:cubicBezTo>
                    <a:cubicBezTo>
                      <a:pt x="789" y="1104"/>
                      <a:pt x="814" y="1093"/>
                      <a:pt x="817" y="1099"/>
                    </a:cubicBezTo>
                    <a:cubicBezTo>
                      <a:pt x="820" y="1105"/>
                      <a:pt x="850" y="1136"/>
                      <a:pt x="862" y="1147"/>
                    </a:cubicBezTo>
                    <a:cubicBezTo>
                      <a:pt x="875" y="1158"/>
                      <a:pt x="894" y="1171"/>
                      <a:pt x="904" y="1174"/>
                    </a:cubicBezTo>
                    <a:cubicBezTo>
                      <a:pt x="915" y="1177"/>
                      <a:pt x="912" y="1192"/>
                      <a:pt x="898" y="1200"/>
                    </a:cubicBezTo>
                    <a:cubicBezTo>
                      <a:pt x="884" y="1208"/>
                      <a:pt x="881" y="1222"/>
                      <a:pt x="900" y="1231"/>
                    </a:cubicBezTo>
                    <a:cubicBezTo>
                      <a:pt x="918" y="1241"/>
                      <a:pt x="940" y="1267"/>
                      <a:pt x="942" y="1287"/>
                    </a:cubicBezTo>
                    <a:cubicBezTo>
                      <a:pt x="943" y="1308"/>
                      <a:pt x="939" y="1314"/>
                      <a:pt x="978" y="1320"/>
                    </a:cubicBezTo>
                    <a:cubicBezTo>
                      <a:pt x="1017" y="1326"/>
                      <a:pt x="1032" y="1330"/>
                      <a:pt x="1039" y="1370"/>
                    </a:cubicBezTo>
                    <a:cubicBezTo>
                      <a:pt x="1045" y="1411"/>
                      <a:pt x="1057" y="1418"/>
                      <a:pt x="1070" y="1423"/>
                    </a:cubicBezTo>
                    <a:cubicBezTo>
                      <a:pt x="1069" y="1423"/>
                      <a:pt x="1069" y="1424"/>
                      <a:pt x="1068" y="1424"/>
                    </a:cubicBezTo>
                    <a:cubicBezTo>
                      <a:pt x="1126" y="1421"/>
                      <a:pt x="1150" y="1398"/>
                      <a:pt x="1216" y="1385"/>
                    </a:cubicBezTo>
                    <a:cubicBezTo>
                      <a:pt x="1292" y="1369"/>
                      <a:pt x="1288" y="1388"/>
                      <a:pt x="1312" y="1391"/>
                    </a:cubicBezTo>
                    <a:cubicBezTo>
                      <a:pt x="1335" y="1394"/>
                      <a:pt x="1328" y="1360"/>
                      <a:pt x="1328" y="1330"/>
                    </a:cubicBezTo>
                    <a:cubicBezTo>
                      <a:pt x="1328" y="1300"/>
                      <a:pt x="1303" y="1270"/>
                      <a:pt x="1288" y="1247"/>
                    </a:cubicBezTo>
                    <a:cubicBezTo>
                      <a:pt x="1274" y="1223"/>
                      <a:pt x="1257" y="1223"/>
                      <a:pt x="1251" y="1203"/>
                    </a:cubicBezTo>
                    <a:cubicBezTo>
                      <a:pt x="1244" y="1182"/>
                      <a:pt x="1298" y="1138"/>
                      <a:pt x="1378" y="1102"/>
                    </a:cubicBezTo>
                    <a:cubicBezTo>
                      <a:pt x="1415" y="1095"/>
                      <a:pt x="1439" y="1087"/>
                      <a:pt x="1453" y="1079"/>
                    </a:cubicBezTo>
                    <a:cubicBezTo>
                      <a:pt x="1449" y="1077"/>
                      <a:pt x="1446" y="1072"/>
                      <a:pt x="1444" y="1059"/>
                    </a:cubicBezTo>
                    <a:cubicBezTo>
                      <a:pt x="1440" y="1032"/>
                      <a:pt x="1442" y="939"/>
                      <a:pt x="1384" y="935"/>
                    </a:cubicBezTo>
                    <a:cubicBezTo>
                      <a:pt x="1353" y="937"/>
                      <a:pt x="1324" y="952"/>
                      <a:pt x="1316" y="952"/>
                    </a:cubicBezTo>
                    <a:cubicBezTo>
                      <a:pt x="1309" y="952"/>
                      <a:pt x="1260" y="945"/>
                      <a:pt x="1228" y="913"/>
                    </a:cubicBezTo>
                    <a:cubicBezTo>
                      <a:pt x="1195" y="882"/>
                      <a:pt x="1150" y="846"/>
                      <a:pt x="1133" y="840"/>
                    </a:cubicBezTo>
                    <a:cubicBezTo>
                      <a:pt x="1115" y="834"/>
                      <a:pt x="1068" y="821"/>
                      <a:pt x="1066" y="799"/>
                    </a:cubicBezTo>
                    <a:cubicBezTo>
                      <a:pt x="1067" y="786"/>
                      <a:pt x="1076" y="783"/>
                      <a:pt x="1082" y="766"/>
                    </a:cubicBezTo>
                    <a:cubicBezTo>
                      <a:pt x="1089" y="750"/>
                      <a:pt x="1086" y="719"/>
                      <a:pt x="1078" y="688"/>
                    </a:cubicBezTo>
                    <a:cubicBezTo>
                      <a:pt x="1069" y="672"/>
                      <a:pt x="1052" y="640"/>
                      <a:pt x="1001" y="677"/>
                    </a:cubicBezTo>
                    <a:cubicBezTo>
                      <a:pt x="983" y="687"/>
                      <a:pt x="967" y="686"/>
                      <a:pt x="959" y="669"/>
                    </a:cubicBezTo>
                    <a:cubicBezTo>
                      <a:pt x="952" y="652"/>
                      <a:pt x="931" y="619"/>
                      <a:pt x="901" y="618"/>
                    </a:cubicBezTo>
                    <a:cubicBezTo>
                      <a:pt x="872" y="618"/>
                      <a:pt x="838" y="615"/>
                      <a:pt x="815" y="601"/>
                    </a:cubicBezTo>
                    <a:cubicBezTo>
                      <a:pt x="793" y="587"/>
                      <a:pt x="779" y="569"/>
                      <a:pt x="732" y="586"/>
                    </a:cubicBezTo>
                    <a:cubicBezTo>
                      <a:pt x="698" y="591"/>
                      <a:pt x="654" y="585"/>
                      <a:pt x="654" y="585"/>
                    </a:cubicBezTo>
                    <a:cubicBezTo>
                      <a:pt x="654" y="585"/>
                      <a:pt x="688" y="513"/>
                      <a:pt x="691" y="493"/>
                    </a:cubicBezTo>
                    <a:cubicBezTo>
                      <a:pt x="694" y="473"/>
                      <a:pt x="690" y="392"/>
                      <a:pt x="675" y="315"/>
                    </a:cubicBezTo>
                    <a:cubicBezTo>
                      <a:pt x="684" y="264"/>
                      <a:pt x="688" y="194"/>
                      <a:pt x="638" y="176"/>
                    </a:cubicBezTo>
                    <a:cubicBezTo>
                      <a:pt x="587" y="157"/>
                      <a:pt x="543" y="138"/>
                      <a:pt x="546" y="73"/>
                    </a:cubicBezTo>
                    <a:cubicBezTo>
                      <a:pt x="546" y="67"/>
                      <a:pt x="546" y="61"/>
                      <a:pt x="546" y="56"/>
                    </a:cubicBezTo>
                    <a:cubicBezTo>
                      <a:pt x="524" y="66"/>
                      <a:pt x="503" y="74"/>
                      <a:pt x="490" y="74"/>
                    </a:cubicBezTo>
                    <a:cubicBezTo>
                      <a:pt x="449" y="74"/>
                      <a:pt x="436" y="116"/>
                      <a:pt x="426" y="1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14" name="Freeform 1789">
                <a:extLst>
                  <a:ext uri="{FF2B5EF4-FFF2-40B4-BE49-F238E27FC236}">
                    <a16:creationId xmlns:a16="http://schemas.microsoft.com/office/drawing/2014/main" id="{43F0BDF0-FCA2-DEC8-CFFF-530F517A4DE4}"/>
                  </a:ext>
                </a:extLst>
              </p:cNvPr>
              <p:cNvSpPr>
                <a:spLocks/>
              </p:cNvSpPr>
              <p:nvPr/>
            </p:nvSpPr>
            <p:spPr bwMode="auto">
              <a:xfrm>
                <a:off x="1686" y="879"/>
                <a:ext cx="155" cy="180"/>
              </a:xfrm>
              <a:custGeom>
                <a:avLst/>
                <a:gdLst>
                  <a:gd name="T0" fmla="*/ 680 w 705"/>
                  <a:gd name="T1" fmla="*/ 302 h 815"/>
                  <a:gd name="T2" fmla="*/ 616 w 705"/>
                  <a:gd name="T3" fmla="*/ 315 h 815"/>
                  <a:gd name="T4" fmla="*/ 553 w 705"/>
                  <a:gd name="T5" fmla="*/ 277 h 815"/>
                  <a:gd name="T6" fmla="*/ 500 w 705"/>
                  <a:gd name="T7" fmla="*/ 236 h 815"/>
                  <a:gd name="T8" fmla="*/ 431 w 705"/>
                  <a:gd name="T9" fmla="*/ 275 h 815"/>
                  <a:gd name="T10" fmla="*/ 347 w 705"/>
                  <a:gd name="T11" fmla="*/ 244 h 815"/>
                  <a:gd name="T12" fmla="*/ 361 w 705"/>
                  <a:gd name="T13" fmla="*/ 201 h 815"/>
                  <a:gd name="T14" fmla="*/ 380 w 705"/>
                  <a:gd name="T15" fmla="*/ 180 h 815"/>
                  <a:gd name="T16" fmla="*/ 345 w 705"/>
                  <a:gd name="T17" fmla="*/ 165 h 815"/>
                  <a:gd name="T18" fmla="*/ 320 w 705"/>
                  <a:gd name="T19" fmla="*/ 128 h 815"/>
                  <a:gd name="T20" fmla="*/ 293 w 705"/>
                  <a:gd name="T21" fmla="*/ 74 h 815"/>
                  <a:gd name="T22" fmla="*/ 273 w 705"/>
                  <a:gd name="T23" fmla="*/ 63 h 815"/>
                  <a:gd name="T24" fmla="*/ 245 w 705"/>
                  <a:gd name="T25" fmla="*/ 35 h 815"/>
                  <a:gd name="T26" fmla="*/ 200 w 705"/>
                  <a:gd name="T27" fmla="*/ 35 h 815"/>
                  <a:gd name="T28" fmla="*/ 171 w 705"/>
                  <a:gd name="T29" fmla="*/ 72 h 815"/>
                  <a:gd name="T30" fmla="*/ 115 w 705"/>
                  <a:gd name="T31" fmla="*/ 134 h 815"/>
                  <a:gd name="T32" fmla="*/ 94 w 705"/>
                  <a:gd name="T33" fmla="*/ 110 h 815"/>
                  <a:gd name="T34" fmla="*/ 53 w 705"/>
                  <a:gd name="T35" fmla="*/ 97 h 815"/>
                  <a:gd name="T36" fmla="*/ 11 w 705"/>
                  <a:gd name="T37" fmla="*/ 139 h 815"/>
                  <a:gd name="T38" fmla="*/ 0 w 705"/>
                  <a:gd name="T39" fmla="*/ 155 h 815"/>
                  <a:gd name="T40" fmla="*/ 22 w 705"/>
                  <a:gd name="T41" fmla="*/ 176 h 815"/>
                  <a:gd name="T42" fmla="*/ 69 w 705"/>
                  <a:gd name="T43" fmla="*/ 277 h 815"/>
                  <a:gd name="T44" fmla="*/ 98 w 705"/>
                  <a:gd name="T45" fmla="*/ 325 h 815"/>
                  <a:gd name="T46" fmla="*/ 131 w 705"/>
                  <a:gd name="T47" fmla="*/ 335 h 815"/>
                  <a:gd name="T48" fmla="*/ 144 w 705"/>
                  <a:gd name="T49" fmla="*/ 366 h 815"/>
                  <a:gd name="T50" fmla="*/ 193 w 705"/>
                  <a:gd name="T51" fmla="*/ 358 h 815"/>
                  <a:gd name="T52" fmla="*/ 202 w 705"/>
                  <a:gd name="T53" fmla="*/ 389 h 815"/>
                  <a:gd name="T54" fmla="*/ 254 w 705"/>
                  <a:gd name="T55" fmla="*/ 406 h 815"/>
                  <a:gd name="T56" fmla="*/ 239 w 705"/>
                  <a:gd name="T57" fmla="*/ 557 h 815"/>
                  <a:gd name="T58" fmla="*/ 193 w 705"/>
                  <a:gd name="T59" fmla="*/ 670 h 815"/>
                  <a:gd name="T60" fmla="*/ 186 w 705"/>
                  <a:gd name="T61" fmla="*/ 683 h 815"/>
                  <a:gd name="T62" fmla="*/ 254 w 705"/>
                  <a:gd name="T63" fmla="*/ 721 h 815"/>
                  <a:gd name="T64" fmla="*/ 411 w 705"/>
                  <a:gd name="T65" fmla="*/ 571 h 815"/>
                  <a:gd name="T66" fmla="*/ 559 w 705"/>
                  <a:gd name="T67" fmla="*/ 414 h 815"/>
                  <a:gd name="T68" fmla="*/ 662 w 705"/>
                  <a:gd name="T69" fmla="*/ 381 h 815"/>
                  <a:gd name="T70" fmla="*/ 705 w 705"/>
                  <a:gd name="T71" fmla="*/ 335 h 815"/>
                  <a:gd name="T72" fmla="*/ 705 w 705"/>
                  <a:gd name="T73" fmla="*/ 303 h 815"/>
                  <a:gd name="T74" fmla="*/ 680 w 705"/>
                  <a:gd name="T75" fmla="*/ 302 h 8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705" h="815">
                    <a:moveTo>
                      <a:pt x="680" y="302"/>
                    </a:moveTo>
                    <a:cubicBezTo>
                      <a:pt x="647" y="304"/>
                      <a:pt x="638" y="315"/>
                      <a:pt x="616" y="315"/>
                    </a:cubicBezTo>
                    <a:cubicBezTo>
                      <a:pt x="595" y="315"/>
                      <a:pt x="560" y="298"/>
                      <a:pt x="553" y="277"/>
                    </a:cubicBezTo>
                    <a:cubicBezTo>
                      <a:pt x="545" y="255"/>
                      <a:pt x="529" y="236"/>
                      <a:pt x="500" y="236"/>
                    </a:cubicBezTo>
                    <a:cubicBezTo>
                      <a:pt x="471" y="236"/>
                      <a:pt x="452" y="271"/>
                      <a:pt x="431" y="275"/>
                    </a:cubicBezTo>
                    <a:cubicBezTo>
                      <a:pt x="409" y="279"/>
                      <a:pt x="349" y="312"/>
                      <a:pt x="347" y="244"/>
                    </a:cubicBezTo>
                    <a:cubicBezTo>
                      <a:pt x="353" y="207"/>
                      <a:pt x="361" y="201"/>
                      <a:pt x="361" y="201"/>
                    </a:cubicBezTo>
                    <a:cubicBezTo>
                      <a:pt x="382" y="184"/>
                      <a:pt x="382" y="190"/>
                      <a:pt x="380" y="180"/>
                    </a:cubicBezTo>
                    <a:cubicBezTo>
                      <a:pt x="378" y="170"/>
                      <a:pt x="376" y="163"/>
                      <a:pt x="345" y="165"/>
                    </a:cubicBezTo>
                    <a:cubicBezTo>
                      <a:pt x="314" y="166"/>
                      <a:pt x="320" y="151"/>
                      <a:pt x="320" y="128"/>
                    </a:cubicBezTo>
                    <a:cubicBezTo>
                      <a:pt x="320" y="105"/>
                      <a:pt x="334" y="87"/>
                      <a:pt x="293" y="74"/>
                    </a:cubicBezTo>
                    <a:cubicBezTo>
                      <a:pt x="285" y="71"/>
                      <a:pt x="279" y="67"/>
                      <a:pt x="273" y="63"/>
                    </a:cubicBezTo>
                    <a:cubicBezTo>
                      <a:pt x="264" y="59"/>
                      <a:pt x="253" y="50"/>
                      <a:pt x="245" y="35"/>
                    </a:cubicBezTo>
                    <a:cubicBezTo>
                      <a:pt x="225" y="0"/>
                      <a:pt x="208" y="8"/>
                      <a:pt x="200" y="35"/>
                    </a:cubicBezTo>
                    <a:cubicBezTo>
                      <a:pt x="193" y="62"/>
                      <a:pt x="191" y="72"/>
                      <a:pt x="171" y="72"/>
                    </a:cubicBezTo>
                    <a:cubicBezTo>
                      <a:pt x="152" y="72"/>
                      <a:pt x="131" y="70"/>
                      <a:pt x="115" y="134"/>
                    </a:cubicBezTo>
                    <a:cubicBezTo>
                      <a:pt x="102" y="166"/>
                      <a:pt x="94" y="120"/>
                      <a:pt x="94" y="110"/>
                    </a:cubicBezTo>
                    <a:cubicBezTo>
                      <a:pt x="94" y="101"/>
                      <a:pt x="74" y="93"/>
                      <a:pt x="53" y="97"/>
                    </a:cubicBezTo>
                    <a:cubicBezTo>
                      <a:pt x="32" y="101"/>
                      <a:pt x="18" y="124"/>
                      <a:pt x="11" y="139"/>
                    </a:cubicBezTo>
                    <a:cubicBezTo>
                      <a:pt x="8" y="145"/>
                      <a:pt x="4" y="151"/>
                      <a:pt x="0" y="155"/>
                    </a:cubicBezTo>
                    <a:cubicBezTo>
                      <a:pt x="7" y="165"/>
                      <a:pt x="16" y="177"/>
                      <a:pt x="22" y="176"/>
                    </a:cubicBezTo>
                    <a:cubicBezTo>
                      <a:pt x="34" y="219"/>
                      <a:pt x="42" y="248"/>
                      <a:pt x="69" y="277"/>
                    </a:cubicBezTo>
                    <a:cubicBezTo>
                      <a:pt x="96" y="306"/>
                      <a:pt x="96" y="315"/>
                      <a:pt x="98" y="325"/>
                    </a:cubicBezTo>
                    <a:cubicBezTo>
                      <a:pt x="100" y="335"/>
                      <a:pt x="131" y="335"/>
                      <a:pt x="131" y="335"/>
                    </a:cubicBezTo>
                    <a:cubicBezTo>
                      <a:pt x="131" y="335"/>
                      <a:pt x="134" y="362"/>
                      <a:pt x="144" y="366"/>
                    </a:cubicBezTo>
                    <a:cubicBezTo>
                      <a:pt x="154" y="370"/>
                      <a:pt x="193" y="358"/>
                      <a:pt x="193" y="358"/>
                    </a:cubicBezTo>
                    <a:cubicBezTo>
                      <a:pt x="193" y="358"/>
                      <a:pt x="185" y="387"/>
                      <a:pt x="202" y="389"/>
                    </a:cubicBezTo>
                    <a:cubicBezTo>
                      <a:pt x="220" y="391"/>
                      <a:pt x="254" y="381"/>
                      <a:pt x="254" y="406"/>
                    </a:cubicBezTo>
                    <a:cubicBezTo>
                      <a:pt x="254" y="432"/>
                      <a:pt x="243" y="534"/>
                      <a:pt x="239" y="557"/>
                    </a:cubicBezTo>
                    <a:cubicBezTo>
                      <a:pt x="235" y="581"/>
                      <a:pt x="193" y="641"/>
                      <a:pt x="193" y="670"/>
                    </a:cubicBezTo>
                    <a:cubicBezTo>
                      <a:pt x="190" y="674"/>
                      <a:pt x="188" y="678"/>
                      <a:pt x="186" y="683"/>
                    </a:cubicBezTo>
                    <a:cubicBezTo>
                      <a:pt x="185" y="700"/>
                      <a:pt x="176" y="815"/>
                      <a:pt x="254" y="721"/>
                    </a:cubicBezTo>
                    <a:cubicBezTo>
                      <a:pt x="302" y="662"/>
                      <a:pt x="380" y="607"/>
                      <a:pt x="411" y="571"/>
                    </a:cubicBezTo>
                    <a:cubicBezTo>
                      <a:pt x="443" y="534"/>
                      <a:pt x="532" y="431"/>
                      <a:pt x="559" y="414"/>
                    </a:cubicBezTo>
                    <a:cubicBezTo>
                      <a:pt x="580" y="405"/>
                      <a:pt x="613" y="389"/>
                      <a:pt x="662" y="381"/>
                    </a:cubicBezTo>
                    <a:cubicBezTo>
                      <a:pt x="682" y="378"/>
                      <a:pt x="705" y="367"/>
                      <a:pt x="705" y="335"/>
                    </a:cubicBezTo>
                    <a:cubicBezTo>
                      <a:pt x="705" y="324"/>
                      <a:pt x="705" y="313"/>
                      <a:pt x="705" y="303"/>
                    </a:cubicBezTo>
                    <a:cubicBezTo>
                      <a:pt x="699" y="302"/>
                      <a:pt x="692" y="301"/>
                      <a:pt x="680" y="30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15" name="Freeform 1790">
                <a:extLst>
                  <a:ext uri="{FF2B5EF4-FFF2-40B4-BE49-F238E27FC236}">
                    <a16:creationId xmlns:a16="http://schemas.microsoft.com/office/drawing/2014/main" id="{7A309B66-77E9-48F3-D407-F7957E4B40F1}"/>
                  </a:ext>
                </a:extLst>
              </p:cNvPr>
              <p:cNvSpPr>
                <a:spLocks/>
              </p:cNvSpPr>
              <p:nvPr/>
            </p:nvSpPr>
            <p:spPr bwMode="auto">
              <a:xfrm>
                <a:off x="1683" y="672"/>
                <a:ext cx="103" cy="89"/>
              </a:xfrm>
              <a:custGeom>
                <a:avLst/>
                <a:gdLst>
                  <a:gd name="T0" fmla="*/ 206 w 464"/>
                  <a:gd name="T1" fmla="*/ 373 h 404"/>
                  <a:gd name="T2" fmla="*/ 355 w 464"/>
                  <a:gd name="T3" fmla="*/ 363 h 404"/>
                  <a:gd name="T4" fmla="*/ 369 w 464"/>
                  <a:gd name="T5" fmla="*/ 363 h 404"/>
                  <a:gd name="T6" fmla="*/ 369 w 464"/>
                  <a:gd name="T7" fmla="*/ 363 h 404"/>
                  <a:gd name="T8" fmla="*/ 388 w 464"/>
                  <a:gd name="T9" fmla="*/ 354 h 404"/>
                  <a:gd name="T10" fmla="*/ 420 w 464"/>
                  <a:gd name="T11" fmla="*/ 348 h 404"/>
                  <a:gd name="T12" fmla="*/ 433 w 464"/>
                  <a:gd name="T13" fmla="*/ 332 h 404"/>
                  <a:gd name="T14" fmla="*/ 450 w 464"/>
                  <a:gd name="T15" fmla="*/ 284 h 404"/>
                  <a:gd name="T16" fmla="*/ 463 w 464"/>
                  <a:gd name="T17" fmla="*/ 178 h 404"/>
                  <a:gd name="T18" fmla="*/ 400 w 464"/>
                  <a:gd name="T19" fmla="*/ 135 h 404"/>
                  <a:gd name="T20" fmla="*/ 341 w 464"/>
                  <a:gd name="T21" fmla="*/ 157 h 404"/>
                  <a:gd name="T22" fmla="*/ 339 w 464"/>
                  <a:gd name="T23" fmla="*/ 101 h 404"/>
                  <a:gd name="T24" fmla="*/ 306 w 464"/>
                  <a:gd name="T25" fmla="*/ 93 h 404"/>
                  <a:gd name="T26" fmla="*/ 278 w 464"/>
                  <a:gd name="T27" fmla="*/ 67 h 404"/>
                  <a:gd name="T28" fmla="*/ 247 w 464"/>
                  <a:gd name="T29" fmla="*/ 85 h 404"/>
                  <a:gd name="T30" fmla="*/ 141 w 464"/>
                  <a:gd name="T31" fmla="*/ 45 h 404"/>
                  <a:gd name="T32" fmla="*/ 116 w 464"/>
                  <a:gd name="T33" fmla="*/ 4 h 404"/>
                  <a:gd name="T34" fmla="*/ 80 w 464"/>
                  <a:gd name="T35" fmla="*/ 34 h 404"/>
                  <a:gd name="T36" fmla="*/ 44 w 464"/>
                  <a:gd name="T37" fmla="*/ 31 h 404"/>
                  <a:gd name="T38" fmla="*/ 39 w 464"/>
                  <a:gd name="T39" fmla="*/ 22 h 404"/>
                  <a:gd name="T40" fmla="*/ 11 w 464"/>
                  <a:gd name="T41" fmla="*/ 65 h 404"/>
                  <a:gd name="T42" fmla="*/ 21 w 464"/>
                  <a:gd name="T43" fmla="*/ 135 h 404"/>
                  <a:gd name="T44" fmla="*/ 26 w 464"/>
                  <a:gd name="T45" fmla="*/ 216 h 404"/>
                  <a:gd name="T46" fmla="*/ 106 w 464"/>
                  <a:gd name="T47" fmla="*/ 251 h 404"/>
                  <a:gd name="T48" fmla="*/ 125 w 464"/>
                  <a:gd name="T49" fmla="*/ 315 h 404"/>
                  <a:gd name="T50" fmla="*/ 98 w 464"/>
                  <a:gd name="T51" fmla="*/ 350 h 404"/>
                  <a:gd name="T52" fmla="*/ 162 w 464"/>
                  <a:gd name="T53" fmla="*/ 354 h 404"/>
                  <a:gd name="T54" fmla="*/ 206 w 464"/>
                  <a:gd name="T55" fmla="*/ 373 h 4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464" h="404">
                    <a:moveTo>
                      <a:pt x="206" y="373"/>
                    </a:moveTo>
                    <a:cubicBezTo>
                      <a:pt x="247" y="379"/>
                      <a:pt x="280" y="404"/>
                      <a:pt x="355" y="363"/>
                    </a:cubicBezTo>
                    <a:cubicBezTo>
                      <a:pt x="360" y="363"/>
                      <a:pt x="365" y="363"/>
                      <a:pt x="369" y="363"/>
                    </a:cubicBezTo>
                    <a:cubicBezTo>
                      <a:pt x="369" y="363"/>
                      <a:pt x="369" y="363"/>
                      <a:pt x="369" y="363"/>
                    </a:cubicBezTo>
                    <a:cubicBezTo>
                      <a:pt x="379" y="358"/>
                      <a:pt x="388" y="354"/>
                      <a:pt x="388" y="354"/>
                    </a:cubicBezTo>
                    <a:cubicBezTo>
                      <a:pt x="420" y="348"/>
                      <a:pt x="420" y="348"/>
                      <a:pt x="420" y="348"/>
                    </a:cubicBezTo>
                    <a:cubicBezTo>
                      <a:pt x="433" y="332"/>
                      <a:pt x="433" y="332"/>
                      <a:pt x="433" y="332"/>
                    </a:cubicBezTo>
                    <a:cubicBezTo>
                      <a:pt x="436" y="322"/>
                      <a:pt x="441" y="306"/>
                      <a:pt x="450" y="284"/>
                    </a:cubicBezTo>
                    <a:cubicBezTo>
                      <a:pt x="462" y="256"/>
                      <a:pt x="464" y="210"/>
                      <a:pt x="463" y="178"/>
                    </a:cubicBezTo>
                    <a:cubicBezTo>
                      <a:pt x="445" y="176"/>
                      <a:pt x="411" y="168"/>
                      <a:pt x="400" y="135"/>
                    </a:cubicBezTo>
                    <a:cubicBezTo>
                      <a:pt x="376" y="143"/>
                      <a:pt x="341" y="165"/>
                      <a:pt x="341" y="157"/>
                    </a:cubicBezTo>
                    <a:cubicBezTo>
                      <a:pt x="341" y="149"/>
                      <a:pt x="339" y="101"/>
                      <a:pt x="339" y="101"/>
                    </a:cubicBezTo>
                    <a:cubicBezTo>
                      <a:pt x="306" y="93"/>
                      <a:pt x="306" y="93"/>
                      <a:pt x="306" y="93"/>
                    </a:cubicBezTo>
                    <a:cubicBezTo>
                      <a:pt x="306" y="93"/>
                      <a:pt x="292" y="65"/>
                      <a:pt x="278" y="67"/>
                    </a:cubicBezTo>
                    <a:cubicBezTo>
                      <a:pt x="264" y="68"/>
                      <a:pt x="258" y="85"/>
                      <a:pt x="247" y="85"/>
                    </a:cubicBezTo>
                    <a:cubicBezTo>
                      <a:pt x="236" y="85"/>
                      <a:pt x="130" y="112"/>
                      <a:pt x="141" y="45"/>
                    </a:cubicBezTo>
                    <a:cubicBezTo>
                      <a:pt x="140" y="1"/>
                      <a:pt x="141" y="0"/>
                      <a:pt x="116" y="4"/>
                    </a:cubicBezTo>
                    <a:cubicBezTo>
                      <a:pt x="91" y="9"/>
                      <a:pt x="90" y="29"/>
                      <a:pt x="80" y="34"/>
                    </a:cubicBezTo>
                    <a:cubicBezTo>
                      <a:pt x="71" y="39"/>
                      <a:pt x="55" y="31"/>
                      <a:pt x="44" y="31"/>
                    </a:cubicBezTo>
                    <a:cubicBezTo>
                      <a:pt x="42" y="31"/>
                      <a:pt x="41" y="28"/>
                      <a:pt x="39" y="22"/>
                    </a:cubicBezTo>
                    <a:cubicBezTo>
                      <a:pt x="22" y="35"/>
                      <a:pt x="0" y="55"/>
                      <a:pt x="11" y="65"/>
                    </a:cubicBezTo>
                    <a:cubicBezTo>
                      <a:pt x="28" y="81"/>
                      <a:pt x="21" y="116"/>
                      <a:pt x="21" y="135"/>
                    </a:cubicBezTo>
                    <a:cubicBezTo>
                      <a:pt x="21" y="154"/>
                      <a:pt x="9" y="207"/>
                      <a:pt x="26" y="216"/>
                    </a:cubicBezTo>
                    <a:cubicBezTo>
                      <a:pt x="44" y="226"/>
                      <a:pt x="86" y="241"/>
                      <a:pt x="106" y="251"/>
                    </a:cubicBezTo>
                    <a:cubicBezTo>
                      <a:pt x="125" y="261"/>
                      <a:pt x="131" y="303"/>
                      <a:pt x="125" y="315"/>
                    </a:cubicBezTo>
                    <a:cubicBezTo>
                      <a:pt x="122" y="322"/>
                      <a:pt x="108" y="338"/>
                      <a:pt x="98" y="350"/>
                    </a:cubicBezTo>
                    <a:cubicBezTo>
                      <a:pt x="162" y="354"/>
                      <a:pt x="162" y="354"/>
                      <a:pt x="162" y="354"/>
                    </a:cubicBezTo>
                    <a:cubicBezTo>
                      <a:pt x="162" y="354"/>
                      <a:pt x="166" y="367"/>
                      <a:pt x="206" y="37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16" name="Freeform 1791">
                <a:extLst>
                  <a:ext uri="{FF2B5EF4-FFF2-40B4-BE49-F238E27FC236}">
                    <a16:creationId xmlns:a16="http://schemas.microsoft.com/office/drawing/2014/main" id="{5577A633-D3DB-8566-BE71-00FBCCFEA1E3}"/>
                  </a:ext>
                </a:extLst>
              </p:cNvPr>
              <p:cNvSpPr>
                <a:spLocks/>
              </p:cNvSpPr>
              <p:nvPr/>
            </p:nvSpPr>
            <p:spPr bwMode="auto">
              <a:xfrm>
                <a:off x="1678" y="749"/>
                <a:ext cx="92" cy="97"/>
              </a:xfrm>
              <a:custGeom>
                <a:avLst/>
                <a:gdLst>
                  <a:gd name="T0" fmla="*/ 387 w 417"/>
                  <a:gd name="T1" fmla="*/ 333 h 439"/>
                  <a:gd name="T2" fmla="*/ 335 w 417"/>
                  <a:gd name="T3" fmla="*/ 259 h 439"/>
                  <a:gd name="T4" fmla="*/ 306 w 417"/>
                  <a:gd name="T5" fmla="*/ 168 h 439"/>
                  <a:gd name="T6" fmla="*/ 319 w 417"/>
                  <a:gd name="T7" fmla="*/ 104 h 439"/>
                  <a:gd name="T8" fmla="*/ 372 w 417"/>
                  <a:gd name="T9" fmla="*/ 29 h 439"/>
                  <a:gd name="T10" fmla="*/ 391 w 417"/>
                  <a:gd name="T11" fmla="*/ 13 h 439"/>
                  <a:gd name="T12" fmla="*/ 377 w 417"/>
                  <a:gd name="T13" fmla="*/ 13 h 439"/>
                  <a:gd name="T14" fmla="*/ 228 w 417"/>
                  <a:gd name="T15" fmla="*/ 23 h 439"/>
                  <a:gd name="T16" fmla="*/ 184 w 417"/>
                  <a:gd name="T17" fmla="*/ 4 h 439"/>
                  <a:gd name="T18" fmla="*/ 116 w 417"/>
                  <a:gd name="T19" fmla="*/ 0 h 439"/>
                  <a:gd name="T20" fmla="*/ 83 w 417"/>
                  <a:gd name="T21" fmla="*/ 29 h 439"/>
                  <a:gd name="T22" fmla="*/ 16 w 417"/>
                  <a:gd name="T23" fmla="*/ 60 h 439"/>
                  <a:gd name="T24" fmla="*/ 37 w 417"/>
                  <a:gd name="T25" fmla="*/ 106 h 439"/>
                  <a:gd name="T26" fmla="*/ 33 w 417"/>
                  <a:gd name="T27" fmla="*/ 187 h 439"/>
                  <a:gd name="T28" fmla="*/ 87 w 417"/>
                  <a:gd name="T29" fmla="*/ 271 h 439"/>
                  <a:gd name="T30" fmla="*/ 89 w 417"/>
                  <a:gd name="T31" fmla="*/ 325 h 439"/>
                  <a:gd name="T32" fmla="*/ 139 w 417"/>
                  <a:gd name="T33" fmla="*/ 377 h 439"/>
                  <a:gd name="T34" fmla="*/ 161 w 417"/>
                  <a:gd name="T35" fmla="*/ 422 h 439"/>
                  <a:gd name="T36" fmla="*/ 261 w 417"/>
                  <a:gd name="T37" fmla="*/ 418 h 439"/>
                  <a:gd name="T38" fmla="*/ 327 w 417"/>
                  <a:gd name="T39" fmla="*/ 420 h 439"/>
                  <a:gd name="T40" fmla="*/ 372 w 417"/>
                  <a:gd name="T41" fmla="*/ 425 h 439"/>
                  <a:gd name="T42" fmla="*/ 417 w 417"/>
                  <a:gd name="T43" fmla="*/ 371 h 439"/>
                  <a:gd name="T44" fmla="*/ 387 w 417"/>
                  <a:gd name="T45" fmla="*/ 333 h 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17" h="439">
                    <a:moveTo>
                      <a:pt x="387" y="333"/>
                    </a:moveTo>
                    <a:cubicBezTo>
                      <a:pt x="381" y="307"/>
                      <a:pt x="366" y="278"/>
                      <a:pt x="335" y="259"/>
                    </a:cubicBezTo>
                    <a:cubicBezTo>
                      <a:pt x="304" y="240"/>
                      <a:pt x="306" y="193"/>
                      <a:pt x="306" y="168"/>
                    </a:cubicBezTo>
                    <a:cubicBezTo>
                      <a:pt x="306" y="143"/>
                      <a:pt x="298" y="114"/>
                      <a:pt x="319" y="104"/>
                    </a:cubicBezTo>
                    <a:cubicBezTo>
                      <a:pt x="341" y="95"/>
                      <a:pt x="364" y="40"/>
                      <a:pt x="372" y="29"/>
                    </a:cubicBezTo>
                    <a:cubicBezTo>
                      <a:pt x="375" y="24"/>
                      <a:pt x="383" y="18"/>
                      <a:pt x="391" y="13"/>
                    </a:cubicBezTo>
                    <a:cubicBezTo>
                      <a:pt x="387" y="13"/>
                      <a:pt x="382" y="13"/>
                      <a:pt x="377" y="13"/>
                    </a:cubicBezTo>
                    <a:cubicBezTo>
                      <a:pt x="302" y="54"/>
                      <a:pt x="269" y="29"/>
                      <a:pt x="228" y="23"/>
                    </a:cubicBezTo>
                    <a:cubicBezTo>
                      <a:pt x="188" y="17"/>
                      <a:pt x="184" y="4"/>
                      <a:pt x="184" y="4"/>
                    </a:cubicBezTo>
                    <a:cubicBezTo>
                      <a:pt x="116" y="0"/>
                      <a:pt x="116" y="0"/>
                      <a:pt x="116" y="0"/>
                    </a:cubicBezTo>
                    <a:cubicBezTo>
                      <a:pt x="116" y="0"/>
                      <a:pt x="103" y="19"/>
                      <a:pt x="83" y="29"/>
                    </a:cubicBezTo>
                    <a:cubicBezTo>
                      <a:pt x="64" y="38"/>
                      <a:pt x="31" y="44"/>
                      <a:pt x="16" y="60"/>
                    </a:cubicBezTo>
                    <a:cubicBezTo>
                      <a:pt x="0" y="75"/>
                      <a:pt x="16" y="106"/>
                      <a:pt x="37" y="106"/>
                    </a:cubicBezTo>
                    <a:cubicBezTo>
                      <a:pt x="58" y="106"/>
                      <a:pt x="33" y="145"/>
                      <a:pt x="33" y="187"/>
                    </a:cubicBezTo>
                    <a:cubicBezTo>
                      <a:pt x="33" y="230"/>
                      <a:pt x="70" y="240"/>
                      <a:pt x="87" y="271"/>
                    </a:cubicBezTo>
                    <a:cubicBezTo>
                      <a:pt x="105" y="302"/>
                      <a:pt x="91" y="294"/>
                      <a:pt x="89" y="325"/>
                    </a:cubicBezTo>
                    <a:cubicBezTo>
                      <a:pt x="87" y="356"/>
                      <a:pt x="112" y="360"/>
                      <a:pt x="139" y="377"/>
                    </a:cubicBezTo>
                    <a:cubicBezTo>
                      <a:pt x="167" y="395"/>
                      <a:pt x="141" y="439"/>
                      <a:pt x="161" y="422"/>
                    </a:cubicBezTo>
                    <a:cubicBezTo>
                      <a:pt x="180" y="404"/>
                      <a:pt x="244" y="422"/>
                      <a:pt x="261" y="418"/>
                    </a:cubicBezTo>
                    <a:cubicBezTo>
                      <a:pt x="283" y="396"/>
                      <a:pt x="312" y="408"/>
                      <a:pt x="327" y="420"/>
                    </a:cubicBezTo>
                    <a:cubicBezTo>
                      <a:pt x="343" y="431"/>
                      <a:pt x="356" y="433"/>
                      <a:pt x="372" y="425"/>
                    </a:cubicBezTo>
                    <a:cubicBezTo>
                      <a:pt x="381" y="421"/>
                      <a:pt x="401" y="394"/>
                      <a:pt x="417" y="371"/>
                    </a:cubicBezTo>
                    <a:cubicBezTo>
                      <a:pt x="400" y="366"/>
                      <a:pt x="392" y="352"/>
                      <a:pt x="387" y="3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17" name="Freeform 1792">
                <a:extLst>
                  <a:ext uri="{FF2B5EF4-FFF2-40B4-BE49-F238E27FC236}">
                    <a16:creationId xmlns:a16="http://schemas.microsoft.com/office/drawing/2014/main" id="{32DD954C-66A5-A6DA-AC40-96797AD44027}"/>
                  </a:ext>
                </a:extLst>
              </p:cNvPr>
              <p:cNvSpPr>
                <a:spLocks/>
              </p:cNvSpPr>
              <p:nvPr/>
            </p:nvSpPr>
            <p:spPr bwMode="auto">
              <a:xfrm>
                <a:off x="1744" y="683"/>
                <a:ext cx="125" cy="149"/>
              </a:xfrm>
              <a:custGeom>
                <a:avLst/>
                <a:gdLst>
                  <a:gd name="T0" fmla="*/ 375 w 567"/>
                  <a:gd name="T1" fmla="*/ 195 h 672"/>
                  <a:gd name="T2" fmla="*/ 414 w 567"/>
                  <a:gd name="T3" fmla="*/ 45 h 672"/>
                  <a:gd name="T4" fmla="*/ 432 w 567"/>
                  <a:gd name="T5" fmla="*/ 20 h 672"/>
                  <a:gd name="T6" fmla="*/ 362 w 567"/>
                  <a:gd name="T7" fmla="*/ 3 h 672"/>
                  <a:gd name="T8" fmla="*/ 323 w 567"/>
                  <a:gd name="T9" fmla="*/ 40 h 672"/>
                  <a:gd name="T10" fmla="*/ 264 w 567"/>
                  <a:gd name="T11" fmla="*/ 50 h 672"/>
                  <a:gd name="T12" fmla="*/ 203 w 567"/>
                  <a:gd name="T13" fmla="*/ 23 h 672"/>
                  <a:gd name="T14" fmla="*/ 199 w 567"/>
                  <a:gd name="T15" fmla="*/ 126 h 672"/>
                  <a:gd name="T16" fmla="*/ 187 w 567"/>
                  <a:gd name="T17" fmla="*/ 125 h 672"/>
                  <a:gd name="T18" fmla="*/ 174 w 567"/>
                  <a:gd name="T19" fmla="*/ 231 h 672"/>
                  <a:gd name="T20" fmla="*/ 152 w 567"/>
                  <a:gd name="T21" fmla="*/ 288 h 672"/>
                  <a:gd name="T22" fmla="*/ 112 w 567"/>
                  <a:gd name="T23" fmla="*/ 301 h 672"/>
                  <a:gd name="T24" fmla="*/ 74 w 567"/>
                  <a:gd name="T25" fmla="*/ 326 h 672"/>
                  <a:gd name="T26" fmla="*/ 21 w 567"/>
                  <a:gd name="T27" fmla="*/ 401 h 672"/>
                  <a:gd name="T28" fmla="*/ 8 w 567"/>
                  <a:gd name="T29" fmla="*/ 465 h 672"/>
                  <a:gd name="T30" fmla="*/ 37 w 567"/>
                  <a:gd name="T31" fmla="*/ 556 h 672"/>
                  <a:gd name="T32" fmla="*/ 89 w 567"/>
                  <a:gd name="T33" fmla="*/ 630 h 672"/>
                  <a:gd name="T34" fmla="*/ 138 w 567"/>
                  <a:gd name="T35" fmla="*/ 670 h 672"/>
                  <a:gd name="T36" fmla="*/ 196 w 567"/>
                  <a:gd name="T37" fmla="*/ 662 h 672"/>
                  <a:gd name="T38" fmla="*/ 300 w 567"/>
                  <a:gd name="T39" fmla="*/ 645 h 672"/>
                  <a:gd name="T40" fmla="*/ 360 w 567"/>
                  <a:gd name="T41" fmla="*/ 628 h 672"/>
                  <a:gd name="T42" fmla="*/ 379 w 567"/>
                  <a:gd name="T43" fmla="*/ 601 h 672"/>
                  <a:gd name="T44" fmla="*/ 405 w 567"/>
                  <a:gd name="T45" fmla="*/ 597 h 672"/>
                  <a:gd name="T46" fmla="*/ 424 w 567"/>
                  <a:gd name="T47" fmla="*/ 552 h 672"/>
                  <a:gd name="T48" fmla="*/ 443 w 567"/>
                  <a:gd name="T49" fmla="*/ 481 h 672"/>
                  <a:gd name="T50" fmla="*/ 468 w 567"/>
                  <a:gd name="T51" fmla="*/ 442 h 672"/>
                  <a:gd name="T52" fmla="*/ 474 w 567"/>
                  <a:gd name="T53" fmla="*/ 384 h 672"/>
                  <a:gd name="T54" fmla="*/ 540 w 567"/>
                  <a:gd name="T55" fmla="*/ 359 h 672"/>
                  <a:gd name="T56" fmla="*/ 517 w 567"/>
                  <a:gd name="T57" fmla="*/ 314 h 672"/>
                  <a:gd name="T58" fmla="*/ 548 w 567"/>
                  <a:gd name="T59" fmla="*/ 273 h 672"/>
                  <a:gd name="T60" fmla="*/ 567 w 567"/>
                  <a:gd name="T61" fmla="*/ 250 h 672"/>
                  <a:gd name="T62" fmla="*/ 475 w 567"/>
                  <a:gd name="T63" fmla="*/ 229 h 672"/>
                  <a:gd name="T64" fmla="*/ 375 w 567"/>
                  <a:gd name="T65" fmla="*/ 195 h 6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67" h="672">
                    <a:moveTo>
                      <a:pt x="375" y="195"/>
                    </a:moveTo>
                    <a:cubicBezTo>
                      <a:pt x="358" y="182"/>
                      <a:pt x="400" y="69"/>
                      <a:pt x="414" y="45"/>
                    </a:cubicBezTo>
                    <a:cubicBezTo>
                      <a:pt x="421" y="34"/>
                      <a:pt x="427" y="26"/>
                      <a:pt x="432" y="20"/>
                    </a:cubicBezTo>
                    <a:cubicBezTo>
                      <a:pt x="411" y="11"/>
                      <a:pt x="382" y="0"/>
                      <a:pt x="362" y="3"/>
                    </a:cubicBezTo>
                    <a:cubicBezTo>
                      <a:pt x="341" y="6"/>
                      <a:pt x="339" y="29"/>
                      <a:pt x="323" y="40"/>
                    </a:cubicBezTo>
                    <a:cubicBezTo>
                      <a:pt x="308" y="51"/>
                      <a:pt x="274" y="67"/>
                      <a:pt x="264" y="50"/>
                    </a:cubicBezTo>
                    <a:cubicBezTo>
                      <a:pt x="255" y="32"/>
                      <a:pt x="216" y="20"/>
                      <a:pt x="203" y="23"/>
                    </a:cubicBezTo>
                    <a:cubicBezTo>
                      <a:pt x="191" y="26"/>
                      <a:pt x="199" y="126"/>
                      <a:pt x="199" y="126"/>
                    </a:cubicBezTo>
                    <a:cubicBezTo>
                      <a:pt x="199" y="126"/>
                      <a:pt x="194" y="126"/>
                      <a:pt x="187" y="125"/>
                    </a:cubicBezTo>
                    <a:cubicBezTo>
                      <a:pt x="188" y="157"/>
                      <a:pt x="186" y="203"/>
                      <a:pt x="174" y="231"/>
                    </a:cubicBezTo>
                    <a:cubicBezTo>
                      <a:pt x="155" y="275"/>
                      <a:pt x="152" y="288"/>
                      <a:pt x="152" y="288"/>
                    </a:cubicBezTo>
                    <a:cubicBezTo>
                      <a:pt x="112" y="301"/>
                      <a:pt x="112" y="301"/>
                      <a:pt x="112" y="301"/>
                    </a:cubicBezTo>
                    <a:cubicBezTo>
                      <a:pt x="112" y="301"/>
                      <a:pt x="81" y="314"/>
                      <a:pt x="74" y="326"/>
                    </a:cubicBezTo>
                    <a:cubicBezTo>
                      <a:pt x="66" y="337"/>
                      <a:pt x="43" y="392"/>
                      <a:pt x="21" y="401"/>
                    </a:cubicBezTo>
                    <a:cubicBezTo>
                      <a:pt x="0" y="411"/>
                      <a:pt x="8" y="440"/>
                      <a:pt x="8" y="465"/>
                    </a:cubicBezTo>
                    <a:cubicBezTo>
                      <a:pt x="8" y="490"/>
                      <a:pt x="6" y="537"/>
                      <a:pt x="37" y="556"/>
                    </a:cubicBezTo>
                    <a:cubicBezTo>
                      <a:pt x="68" y="575"/>
                      <a:pt x="83" y="604"/>
                      <a:pt x="89" y="630"/>
                    </a:cubicBezTo>
                    <a:cubicBezTo>
                      <a:pt x="95" y="655"/>
                      <a:pt x="108" y="672"/>
                      <a:pt x="138" y="670"/>
                    </a:cubicBezTo>
                    <a:cubicBezTo>
                      <a:pt x="167" y="668"/>
                      <a:pt x="155" y="659"/>
                      <a:pt x="196" y="662"/>
                    </a:cubicBezTo>
                    <a:cubicBezTo>
                      <a:pt x="236" y="666"/>
                      <a:pt x="298" y="653"/>
                      <a:pt x="300" y="645"/>
                    </a:cubicBezTo>
                    <a:cubicBezTo>
                      <a:pt x="302" y="637"/>
                      <a:pt x="337" y="622"/>
                      <a:pt x="360" y="628"/>
                    </a:cubicBezTo>
                    <a:cubicBezTo>
                      <a:pt x="383" y="633"/>
                      <a:pt x="378" y="608"/>
                      <a:pt x="379" y="601"/>
                    </a:cubicBezTo>
                    <a:cubicBezTo>
                      <a:pt x="381" y="593"/>
                      <a:pt x="383" y="603"/>
                      <a:pt x="405" y="597"/>
                    </a:cubicBezTo>
                    <a:cubicBezTo>
                      <a:pt x="426" y="591"/>
                      <a:pt x="426" y="577"/>
                      <a:pt x="424" y="552"/>
                    </a:cubicBezTo>
                    <a:cubicBezTo>
                      <a:pt x="422" y="527"/>
                      <a:pt x="426" y="481"/>
                      <a:pt x="443" y="481"/>
                    </a:cubicBezTo>
                    <a:cubicBezTo>
                      <a:pt x="461" y="481"/>
                      <a:pt x="472" y="471"/>
                      <a:pt x="468" y="442"/>
                    </a:cubicBezTo>
                    <a:cubicBezTo>
                      <a:pt x="465" y="413"/>
                      <a:pt x="463" y="392"/>
                      <a:pt x="474" y="384"/>
                    </a:cubicBezTo>
                    <a:cubicBezTo>
                      <a:pt x="486" y="376"/>
                      <a:pt x="546" y="374"/>
                      <a:pt x="540" y="359"/>
                    </a:cubicBezTo>
                    <a:cubicBezTo>
                      <a:pt x="534" y="343"/>
                      <a:pt x="517" y="328"/>
                      <a:pt x="517" y="314"/>
                    </a:cubicBezTo>
                    <a:cubicBezTo>
                      <a:pt x="517" y="301"/>
                      <a:pt x="523" y="287"/>
                      <a:pt x="548" y="273"/>
                    </a:cubicBezTo>
                    <a:cubicBezTo>
                      <a:pt x="556" y="269"/>
                      <a:pt x="562" y="260"/>
                      <a:pt x="567" y="250"/>
                    </a:cubicBezTo>
                    <a:cubicBezTo>
                      <a:pt x="534" y="245"/>
                      <a:pt x="496" y="236"/>
                      <a:pt x="475" y="229"/>
                    </a:cubicBezTo>
                    <a:cubicBezTo>
                      <a:pt x="447" y="219"/>
                      <a:pt x="392" y="208"/>
                      <a:pt x="375" y="19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18" name="Freeform 1793">
                <a:extLst>
                  <a:ext uri="{FF2B5EF4-FFF2-40B4-BE49-F238E27FC236}">
                    <a16:creationId xmlns:a16="http://schemas.microsoft.com/office/drawing/2014/main" id="{6D0E28F8-371F-F545-7F28-F4639EEB2A29}"/>
                  </a:ext>
                </a:extLst>
              </p:cNvPr>
              <p:cNvSpPr>
                <a:spLocks/>
              </p:cNvSpPr>
              <p:nvPr/>
            </p:nvSpPr>
            <p:spPr bwMode="auto">
              <a:xfrm>
                <a:off x="1809" y="739"/>
                <a:ext cx="108" cy="116"/>
              </a:xfrm>
              <a:custGeom>
                <a:avLst/>
                <a:gdLst>
                  <a:gd name="T0" fmla="*/ 414 w 488"/>
                  <a:gd name="T1" fmla="*/ 321 h 527"/>
                  <a:gd name="T2" fmla="*/ 413 w 488"/>
                  <a:gd name="T3" fmla="*/ 277 h 527"/>
                  <a:gd name="T4" fmla="*/ 458 w 488"/>
                  <a:gd name="T5" fmla="*/ 291 h 527"/>
                  <a:gd name="T6" fmla="*/ 488 w 488"/>
                  <a:gd name="T7" fmla="*/ 285 h 527"/>
                  <a:gd name="T8" fmla="*/ 431 w 488"/>
                  <a:gd name="T9" fmla="*/ 222 h 527"/>
                  <a:gd name="T10" fmla="*/ 415 w 488"/>
                  <a:gd name="T11" fmla="*/ 181 h 527"/>
                  <a:gd name="T12" fmla="*/ 435 w 488"/>
                  <a:gd name="T13" fmla="*/ 86 h 527"/>
                  <a:gd name="T14" fmla="*/ 291 w 488"/>
                  <a:gd name="T15" fmla="*/ 8 h 527"/>
                  <a:gd name="T16" fmla="*/ 273 w 488"/>
                  <a:gd name="T17" fmla="*/ 0 h 527"/>
                  <a:gd name="T18" fmla="*/ 255 w 488"/>
                  <a:gd name="T19" fmla="*/ 21 h 527"/>
                  <a:gd name="T20" fmla="*/ 224 w 488"/>
                  <a:gd name="T21" fmla="*/ 62 h 527"/>
                  <a:gd name="T22" fmla="*/ 247 w 488"/>
                  <a:gd name="T23" fmla="*/ 107 h 527"/>
                  <a:gd name="T24" fmla="*/ 181 w 488"/>
                  <a:gd name="T25" fmla="*/ 132 h 527"/>
                  <a:gd name="T26" fmla="*/ 175 w 488"/>
                  <a:gd name="T27" fmla="*/ 190 h 527"/>
                  <a:gd name="T28" fmla="*/ 150 w 488"/>
                  <a:gd name="T29" fmla="*/ 229 h 527"/>
                  <a:gd name="T30" fmla="*/ 131 w 488"/>
                  <a:gd name="T31" fmla="*/ 300 h 527"/>
                  <a:gd name="T32" fmla="*/ 112 w 488"/>
                  <a:gd name="T33" fmla="*/ 345 h 527"/>
                  <a:gd name="T34" fmla="*/ 86 w 488"/>
                  <a:gd name="T35" fmla="*/ 349 h 527"/>
                  <a:gd name="T36" fmla="*/ 67 w 488"/>
                  <a:gd name="T37" fmla="*/ 376 h 527"/>
                  <a:gd name="T38" fmla="*/ 7 w 488"/>
                  <a:gd name="T39" fmla="*/ 393 h 527"/>
                  <a:gd name="T40" fmla="*/ 0 w 488"/>
                  <a:gd name="T41" fmla="*/ 398 h 527"/>
                  <a:gd name="T42" fmla="*/ 44 w 488"/>
                  <a:gd name="T43" fmla="*/ 434 h 527"/>
                  <a:gd name="T44" fmla="*/ 83 w 488"/>
                  <a:gd name="T45" fmla="*/ 498 h 527"/>
                  <a:gd name="T46" fmla="*/ 119 w 488"/>
                  <a:gd name="T47" fmla="*/ 527 h 527"/>
                  <a:gd name="T48" fmla="*/ 210 w 488"/>
                  <a:gd name="T49" fmla="*/ 503 h 527"/>
                  <a:gd name="T50" fmla="*/ 282 w 488"/>
                  <a:gd name="T51" fmla="*/ 514 h 527"/>
                  <a:gd name="T52" fmla="*/ 320 w 488"/>
                  <a:gd name="T53" fmla="*/ 515 h 527"/>
                  <a:gd name="T54" fmla="*/ 350 w 488"/>
                  <a:gd name="T55" fmla="*/ 462 h 527"/>
                  <a:gd name="T56" fmla="*/ 383 w 488"/>
                  <a:gd name="T57" fmla="*/ 446 h 527"/>
                  <a:gd name="T58" fmla="*/ 401 w 488"/>
                  <a:gd name="T59" fmla="*/ 396 h 527"/>
                  <a:gd name="T60" fmla="*/ 419 w 488"/>
                  <a:gd name="T61" fmla="*/ 395 h 527"/>
                  <a:gd name="T62" fmla="*/ 462 w 488"/>
                  <a:gd name="T63" fmla="*/ 361 h 527"/>
                  <a:gd name="T64" fmla="*/ 414 w 488"/>
                  <a:gd name="T65" fmla="*/ 321 h 5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8" h="527">
                    <a:moveTo>
                      <a:pt x="414" y="321"/>
                    </a:moveTo>
                    <a:cubicBezTo>
                      <a:pt x="414" y="321"/>
                      <a:pt x="395" y="283"/>
                      <a:pt x="413" y="277"/>
                    </a:cubicBezTo>
                    <a:cubicBezTo>
                      <a:pt x="430" y="272"/>
                      <a:pt x="443" y="291"/>
                      <a:pt x="458" y="291"/>
                    </a:cubicBezTo>
                    <a:cubicBezTo>
                      <a:pt x="473" y="291"/>
                      <a:pt x="488" y="285"/>
                      <a:pt x="488" y="285"/>
                    </a:cubicBezTo>
                    <a:cubicBezTo>
                      <a:pt x="431" y="222"/>
                      <a:pt x="431" y="222"/>
                      <a:pt x="431" y="222"/>
                    </a:cubicBezTo>
                    <a:cubicBezTo>
                      <a:pt x="431" y="222"/>
                      <a:pt x="406" y="209"/>
                      <a:pt x="415" y="181"/>
                    </a:cubicBezTo>
                    <a:cubicBezTo>
                      <a:pt x="423" y="153"/>
                      <a:pt x="450" y="141"/>
                      <a:pt x="435" y="86"/>
                    </a:cubicBezTo>
                    <a:cubicBezTo>
                      <a:pt x="435" y="86"/>
                      <a:pt x="323" y="24"/>
                      <a:pt x="291" y="8"/>
                    </a:cubicBezTo>
                    <a:cubicBezTo>
                      <a:pt x="291" y="8"/>
                      <a:pt x="281" y="4"/>
                      <a:pt x="273" y="0"/>
                    </a:cubicBezTo>
                    <a:cubicBezTo>
                      <a:pt x="268" y="9"/>
                      <a:pt x="262" y="17"/>
                      <a:pt x="255" y="21"/>
                    </a:cubicBezTo>
                    <a:cubicBezTo>
                      <a:pt x="230" y="35"/>
                      <a:pt x="224" y="49"/>
                      <a:pt x="224" y="62"/>
                    </a:cubicBezTo>
                    <a:cubicBezTo>
                      <a:pt x="224" y="76"/>
                      <a:pt x="241" y="91"/>
                      <a:pt x="247" y="107"/>
                    </a:cubicBezTo>
                    <a:cubicBezTo>
                      <a:pt x="253" y="122"/>
                      <a:pt x="193" y="124"/>
                      <a:pt x="181" y="132"/>
                    </a:cubicBezTo>
                    <a:cubicBezTo>
                      <a:pt x="170" y="140"/>
                      <a:pt x="172" y="161"/>
                      <a:pt x="175" y="190"/>
                    </a:cubicBezTo>
                    <a:cubicBezTo>
                      <a:pt x="179" y="219"/>
                      <a:pt x="168" y="229"/>
                      <a:pt x="150" y="229"/>
                    </a:cubicBezTo>
                    <a:cubicBezTo>
                      <a:pt x="133" y="229"/>
                      <a:pt x="129" y="275"/>
                      <a:pt x="131" y="300"/>
                    </a:cubicBezTo>
                    <a:cubicBezTo>
                      <a:pt x="133" y="325"/>
                      <a:pt x="133" y="339"/>
                      <a:pt x="112" y="345"/>
                    </a:cubicBezTo>
                    <a:cubicBezTo>
                      <a:pt x="90" y="351"/>
                      <a:pt x="88" y="341"/>
                      <a:pt x="86" y="349"/>
                    </a:cubicBezTo>
                    <a:cubicBezTo>
                      <a:pt x="85" y="356"/>
                      <a:pt x="90" y="381"/>
                      <a:pt x="67" y="376"/>
                    </a:cubicBezTo>
                    <a:cubicBezTo>
                      <a:pt x="44" y="370"/>
                      <a:pt x="9" y="385"/>
                      <a:pt x="7" y="393"/>
                    </a:cubicBezTo>
                    <a:cubicBezTo>
                      <a:pt x="7" y="395"/>
                      <a:pt x="4" y="396"/>
                      <a:pt x="0" y="398"/>
                    </a:cubicBezTo>
                    <a:cubicBezTo>
                      <a:pt x="18" y="410"/>
                      <a:pt x="40" y="425"/>
                      <a:pt x="44" y="434"/>
                    </a:cubicBezTo>
                    <a:cubicBezTo>
                      <a:pt x="52" y="449"/>
                      <a:pt x="83" y="482"/>
                      <a:pt x="83" y="498"/>
                    </a:cubicBezTo>
                    <a:cubicBezTo>
                      <a:pt x="83" y="513"/>
                      <a:pt x="83" y="527"/>
                      <a:pt x="119" y="527"/>
                    </a:cubicBezTo>
                    <a:cubicBezTo>
                      <a:pt x="156" y="527"/>
                      <a:pt x="181" y="517"/>
                      <a:pt x="210" y="503"/>
                    </a:cubicBezTo>
                    <a:cubicBezTo>
                      <a:pt x="231" y="494"/>
                      <a:pt x="255" y="496"/>
                      <a:pt x="282" y="514"/>
                    </a:cubicBezTo>
                    <a:cubicBezTo>
                      <a:pt x="320" y="515"/>
                      <a:pt x="320" y="515"/>
                      <a:pt x="320" y="515"/>
                    </a:cubicBezTo>
                    <a:cubicBezTo>
                      <a:pt x="320" y="515"/>
                      <a:pt x="350" y="480"/>
                      <a:pt x="350" y="462"/>
                    </a:cubicBezTo>
                    <a:cubicBezTo>
                      <a:pt x="350" y="445"/>
                      <a:pt x="383" y="446"/>
                      <a:pt x="383" y="446"/>
                    </a:cubicBezTo>
                    <a:cubicBezTo>
                      <a:pt x="383" y="446"/>
                      <a:pt x="399" y="408"/>
                      <a:pt x="401" y="396"/>
                    </a:cubicBezTo>
                    <a:cubicBezTo>
                      <a:pt x="403" y="384"/>
                      <a:pt x="419" y="395"/>
                      <a:pt x="419" y="395"/>
                    </a:cubicBezTo>
                    <a:cubicBezTo>
                      <a:pt x="419" y="395"/>
                      <a:pt x="469" y="373"/>
                      <a:pt x="462" y="361"/>
                    </a:cubicBezTo>
                    <a:cubicBezTo>
                      <a:pt x="456" y="349"/>
                      <a:pt x="414" y="321"/>
                      <a:pt x="414" y="3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19" name="Freeform 1794">
                <a:extLst>
                  <a:ext uri="{FF2B5EF4-FFF2-40B4-BE49-F238E27FC236}">
                    <a16:creationId xmlns:a16="http://schemas.microsoft.com/office/drawing/2014/main" id="{95165975-B144-F816-E270-A4AEE97887BF}"/>
                  </a:ext>
                </a:extLst>
              </p:cNvPr>
              <p:cNvSpPr>
                <a:spLocks/>
              </p:cNvSpPr>
              <p:nvPr/>
            </p:nvSpPr>
            <p:spPr bwMode="auto">
              <a:xfrm>
                <a:off x="1714" y="827"/>
                <a:ext cx="159" cy="119"/>
              </a:xfrm>
              <a:custGeom>
                <a:avLst/>
                <a:gdLst>
                  <a:gd name="T0" fmla="*/ 639 w 721"/>
                  <a:gd name="T1" fmla="*/ 105 h 539"/>
                  <a:gd name="T2" fmla="*/ 548 w 721"/>
                  <a:gd name="T3" fmla="*/ 129 h 539"/>
                  <a:gd name="T4" fmla="*/ 512 w 721"/>
                  <a:gd name="T5" fmla="*/ 100 h 539"/>
                  <a:gd name="T6" fmla="*/ 473 w 721"/>
                  <a:gd name="T7" fmla="*/ 36 h 539"/>
                  <a:gd name="T8" fmla="*/ 429 w 721"/>
                  <a:gd name="T9" fmla="*/ 0 h 539"/>
                  <a:gd name="T10" fmla="*/ 332 w 721"/>
                  <a:gd name="T11" fmla="*/ 12 h 539"/>
                  <a:gd name="T12" fmla="*/ 274 w 721"/>
                  <a:gd name="T13" fmla="*/ 20 h 539"/>
                  <a:gd name="T14" fmla="*/ 255 w 721"/>
                  <a:gd name="T15" fmla="*/ 18 h 539"/>
                  <a:gd name="T16" fmla="*/ 210 w 721"/>
                  <a:gd name="T17" fmla="*/ 72 h 539"/>
                  <a:gd name="T18" fmla="*/ 165 w 721"/>
                  <a:gd name="T19" fmla="*/ 67 h 539"/>
                  <a:gd name="T20" fmla="*/ 99 w 721"/>
                  <a:gd name="T21" fmla="*/ 65 h 539"/>
                  <a:gd name="T22" fmla="*/ 0 w 721"/>
                  <a:gd name="T23" fmla="*/ 65 h 539"/>
                  <a:gd name="T24" fmla="*/ 88 w 721"/>
                  <a:gd name="T25" fmla="*/ 111 h 539"/>
                  <a:gd name="T26" fmla="*/ 127 w 721"/>
                  <a:gd name="T27" fmla="*/ 161 h 539"/>
                  <a:gd name="T28" fmla="*/ 135 w 721"/>
                  <a:gd name="T29" fmla="*/ 202 h 539"/>
                  <a:gd name="T30" fmla="*/ 171 w 721"/>
                  <a:gd name="T31" fmla="*/ 269 h 539"/>
                  <a:gd name="T32" fmla="*/ 209 w 721"/>
                  <a:gd name="T33" fmla="*/ 317 h 539"/>
                  <a:gd name="T34" fmla="*/ 236 w 721"/>
                  <a:gd name="T35" fmla="*/ 378 h 539"/>
                  <a:gd name="T36" fmla="*/ 284 w 721"/>
                  <a:gd name="T37" fmla="*/ 409 h 539"/>
                  <a:gd name="T38" fmla="*/ 255 w 721"/>
                  <a:gd name="T39" fmla="*/ 453 h 539"/>
                  <a:gd name="T40" fmla="*/ 250 w 721"/>
                  <a:gd name="T41" fmla="*/ 487 h 539"/>
                  <a:gd name="T42" fmla="*/ 299 w 721"/>
                  <a:gd name="T43" fmla="*/ 481 h 539"/>
                  <a:gd name="T44" fmla="*/ 355 w 721"/>
                  <a:gd name="T45" fmla="*/ 442 h 539"/>
                  <a:gd name="T46" fmla="*/ 415 w 721"/>
                  <a:gd name="T47" fmla="*/ 465 h 539"/>
                  <a:gd name="T48" fmla="*/ 492 w 721"/>
                  <a:gd name="T49" fmla="*/ 521 h 539"/>
                  <a:gd name="T50" fmla="*/ 578 w 721"/>
                  <a:gd name="T51" fmla="*/ 510 h 539"/>
                  <a:gd name="T52" fmla="*/ 585 w 721"/>
                  <a:gd name="T53" fmla="*/ 516 h 539"/>
                  <a:gd name="T54" fmla="*/ 621 w 721"/>
                  <a:gd name="T55" fmla="*/ 539 h 539"/>
                  <a:gd name="T56" fmla="*/ 634 w 721"/>
                  <a:gd name="T57" fmla="*/ 508 h 539"/>
                  <a:gd name="T58" fmla="*/ 649 w 721"/>
                  <a:gd name="T59" fmla="*/ 420 h 539"/>
                  <a:gd name="T60" fmla="*/ 663 w 721"/>
                  <a:gd name="T61" fmla="*/ 366 h 539"/>
                  <a:gd name="T62" fmla="*/ 671 w 721"/>
                  <a:gd name="T63" fmla="*/ 307 h 539"/>
                  <a:gd name="T64" fmla="*/ 693 w 721"/>
                  <a:gd name="T65" fmla="*/ 268 h 539"/>
                  <a:gd name="T66" fmla="*/ 664 w 721"/>
                  <a:gd name="T67" fmla="*/ 211 h 539"/>
                  <a:gd name="T68" fmla="*/ 709 w 721"/>
                  <a:gd name="T69" fmla="*/ 145 h 539"/>
                  <a:gd name="T70" fmla="*/ 709 w 721"/>
                  <a:gd name="T71" fmla="*/ 116 h 539"/>
                  <a:gd name="T72" fmla="*/ 721 w 721"/>
                  <a:gd name="T73" fmla="*/ 117 h 539"/>
                  <a:gd name="T74" fmla="*/ 711 w 721"/>
                  <a:gd name="T75" fmla="*/ 116 h 539"/>
                  <a:gd name="T76" fmla="*/ 639 w 721"/>
                  <a:gd name="T77" fmla="*/ 105 h 5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721" h="539">
                    <a:moveTo>
                      <a:pt x="639" y="105"/>
                    </a:moveTo>
                    <a:cubicBezTo>
                      <a:pt x="610" y="119"/>
                      <a:pt x="585" y="129"/>
                      <a:pt x="548" y="129"/>
                    </a:cubicBezTo>
                    <a:cubicBezTo>
                      <a:pt x="512" y="129"/>
                      <a:pt x="512" y="115"/>
                      <a:pt x="512" y="100"/>
                    </a:cubicBezTo>
                    <a:cubicBezTo>
                      <a:pt x="512" y="84"/>
                      <a:pt x="481" y="51"/>
                      <a:pt x="473" y="36"/>
                    </a:cubicBezTo>
                    <a:cubicBezTo>
                      <a:pt x="469" y="27"/>
                      <a:pt x="447" y="12"/>
                      <a:pt x="429" y="0"/>
                    </a:cubicBezTo>
                    <a:cubicBezTo>
                      <a:pt x="412" y="7"/>
                      <a:pt x="365" y="16"/>
                      <a:pt x="332" y="12"/>
                    </a:cubicBezTo>
                    <a:cubicBezTo>
                      <a:pt x="291" y="9"/>
                      <a:pt x="303" y="18"/>
                      <a:pt x="274" y="20"/>
                    </a:cubicBezTo>
                    <a:cubicBezTo>
                      <a:pt x="267" y="21"/>
                      <a:pt x="261" y="20"/>
                      <a:pt x="255" y="18"/>
                    </a:cubicBezTo>
                    <a:cubicBezTo>
                      <a:pt x="239" y="41"/>
                      <a:pt x="219" y="68"/>
                      <a:pt x="210" y="72"/>
                    </a:cubicBezTo>
                    <a:cubicBezTo>
                      <a:pt x="194" y="80"/>
                      <a:pt x="181" y="78"/>
                      <a:pt x="165" y="67"/>
                    </a:cubicBezTo>
                    <a:cubicBezTo>
                      <a:pt x="150" y="55"/>
                      <a:pt x="121" y="43"/>
                      <a:pt x="99" y="65"/>
                    </a:cubicBezTo>
                    <a:cubicBezTo>
                      <a:pt x="92" y="66"/>
                      <a:pt x="21" y="54"/>
                      <a:pt x="0" y="65"/>
                    </a:cubicBezTo>
                    <a:cubicBezTo>
                      <a:pt x="8" y="138"/>
                      <a:pt x="80" y="109"/>
                      <a:pt x="88" y="111"/>
                    </a:cubicBezTo>
                    <a:cubicBezTo>
                      <a:pt x="119" y="121"/>
                      <a:pt x="127" y="124"/>
                      <a:pt x="127" y="161"/>
                    </a:cubicBezTo>
                    <a:cubicBezTo>
                      <a:pt x="127" y="164"/>
                      <a:pt x="129" y="186"/>
                      <a:pt x="135" y="202"/>
                    </a:cubicBezTo>
                    <a:cubicBezTo>
                      <a:pt x="145" y="236"/>
                      <a:pt x="157" y="245"/>
                      <a:pt x="171" y="269"/>
                    </a:cubicBezTo>
                    <a:cubicBezTo>
                      <a:pt x="186" y="287"/>
                      <a:pt x="196" y="302"/>
                      <a:pt x="209" y="317"/>
                    </a:cubicBezTo>
                    <a:cubicBezTo>
                      <a:pt x="224" y="334"/>
                      <a:pt x="215" y="370"/>
                      <a:pt x="236" y="378"/>
                    </a:cubicBezTo>
                    <a:cubicBezTo>
                      <a:pt x="257" y="385"/>
                      <a:pt x="290" y="383"/>
                      <a:pt x="284" y="409"/>
                    </a:cubicBezTo>
                    <a:cubicBezTo>
                      <a:pt x="277" y="435"/>
                      <a:pt x="268" y="440"/>
                      <a:pt x="255" y="453"/>
                    </a:cubicBezTo>
                    <a:cubicBezTo>
                      <a:pt x="239" y="468"/>
                      <a:pt x="243" y="479"/>
                      <a:pt x="250" y="487"/>
                    </a:cubicBezTo>
                    <a:cubicBezTo>
                      <a:pt x="258" y="494"/>
                      <a:pt x="277" y="508"/>
                      <a:pt x="299" y="481"/>
                    </a:cubicBezTo>
                    <a:cubicBezTo>
                      <a:pt x="320" y="454"/>
                      <a:pt x="337" y="442"/>
                      <a:pt x="355" y="442"/>
                    </a:cubicBezTo>
                    <a:cubicBezTo>
                      <a:pt x="372" y="442"/>
                      <a:pt x="405" y="454"/>
                      <a:pt x="415" y="465"/>
                    </a:cubicBezTo>
                    <a:cubicBezTo>
                      <a:pt x="425" y="477"/>
                      <a:pt x="463" y="525"/>
                      <a:pt x="492" y="521"/>
                    </a:cubicBezTo>
                    <a:cubicBezTo>
                      <a:pt x="518" y="518"/>
                      <a:pt x="555" y="499"/>
                      <a:pt x="578" y="510"/>
                    </a:cubicBezTo>
                    <a:cubicBezTo>
                      <a:pt x="578" y="508"/>
                      <a:pt x="585" y="515"/>
                      <a:pt x="585" y="516"/>
                    </a:cubicBezTo>
                    <a:cubicBezTo>
                      <a:pt x="596" y="527"/>
                      <a:pt x="610" y="534"/>
                      <a:pt x="621" y="539"/>
                    </a:cubicBezTo>
                    <a:cubicBezTo>
                      <a:pt x="628" y="532"/>
                      <a:pt x="634" y="522"/>
                      <a:pt x="634" y="508"/>
                    </a:cubicBezTo>
                    <a:cubicBezTo>
                      <a:pt x="634" y="480"/>
                      <a:pt x="639" y="428"/>
                      <a:pt x="649" y="420"/>
                    </a:cubicBezTo>
                    <a:cubicBezTo>
                      <a:pt x="659" y="413"/>
                      <a:pt x="672" y="396"/>
                      <a:pt x="663" y="366"/>
                    </a:cubicBezTo>
                    <a:cubicBezTo>
                      <a:pt x="655" y="336"/>
                      <a:pt x="658" y="319"/>
                      <a:pt x="671" y="307"/>
                    </a:cubicBezTo>
                    <a:cubicBezTo>
                      <a:pt x="684" y="295"/>
                      <a:pt x="696" y="274"/>
                      <a:pt x="693" y="268"/>
                    </a:cubicBezTo>
                    <a:cubicBezTo>
                      <a:pt x="691" y="261"/>
                      <a:pt x="651" y="235"/>
                      <a:pt x="664" y="211"/>
                    </a:cubicBezTo>
                    <a:cubicBezTo>
                      <a:pt x="677" y="188"/>
                      <a:pt x="709" y="166"/>
                      <a:pt x="709" y="145"/>
                    </a:cubicBezTo>
                    <a:cubicBezTo>
                      <a:pt x="709" y="125"/>
                      <a:pt x="709" y="116"/>
                      <a:pt x="709" y="116"/>
                    </a:cubicBezTo>
                    <a:cubicBezTo>
                      <a:pt x="721" y="117"/>
                      <a:pt x="721" y="117"/>
                      <a:pt x="721" y="117"/>
                    </a:cubicBezTo>
                    <a:cubicBezTo>
                      <a:pt x="711" y="116"/>
                      <a:pt x="711" y="116"/>
                      <a:pt x="711" y="116"/>
                    </a:cubicBezTo>
                    <a:cubicBezTo>
                      <a:pt x="684" y="98"/>
                      <a:pt x="660" y="96"/>
                      <a:pt x="639" y="10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20" name="Freeform 1795">
                <a:extLst>
                  <a:ext uri="{FF2B5EF4-FFF2-40B4-BE49-F238E27FC236}">
                    <a16:creationId xmlns:a16="http://schemas.microsoft.com/office/drawing/2014/main" id="{43639D01-A4CB-9D3B-7F4A-CD167FBC1713}"/>
                  </a:ext>
                </a:extLst>
              </p:cNvPr>
              <p:cNvSpPr>
                <a:spLocks/>
              </p:cNvSpPr>
              <p:nvPr/>
            </p:nvSpPr>
            <p:spPr bwMode="auto">
              <a:xfrm>
                <a:off x="1676" y="572"/>
                <a:ext cx="302" cy="139"/>
              </a:xfrm>
              <a:custGeom>
                <a:avLst/>
                <a:gdLst>
                  <a:gd name="T0" fmla="*/ 1339 w 1370"/>
                  <a:gd name="T1" fmla="*/ 327 h 629"/>
                  <a:gd name="T2" fmla="*/ 1278 w 1370"/>
                  <a:gd name="T3" fmla="*/ 277 h 629"/>
                  <a:gd name="T4" fmla="*/ 1242 w 1370"/>
                  <a:gd name="T5" fmla="*/ 244 h 629"/>
                  <a:gd name="T6" fmla="*/ 1200 w 1370"/>
                  <a:gd name="T7" fmla="*/ 188 h 629"/>
                  <a:gd name="T8" fmla="*/ 1198 w 1370"/>
                  <a:gd name="T9" fmla="*/ 157 h 629"/>
                  <a:gd name="T10" fmla="*/ 1204 w 1370"/>
                  <a:gd name="T11" fmla="*/ 131 h 629"/>
                  <a:gd name="T12" fmla="*/ 1162 w 1370"/>
                  <a:gd name="T13" fmla="*/ 104 h 629"/>
                  <a:gd name="T14" fmla="*/ 1117 w 1370"/>
                  <a:gd name="T15" fmla="*/ 56 h 629"/>
                  <a:gd name="T16" fmla="*/ 1088 w 1370"/>
                  <a:gd name="T17" fmla="*/ 92 h 629"/>
                  <a:gd name="T18" fmla="*/ 1031 w 1370"/>
                  <a:gd name="T19" fmla="*/ 132 h 629"/>
                  <a:gd name="T20" fmla="*/ 1005 w 1370"/>
                  <a:gd name="T21" fmla="*/ 71 h 629"/>
                  <a:gd name="T22" fmla="*/ 904 w 1370"/>
                  <a:gd name="T23" fmla="*/ 43 h 629"/>
                  <a:gd name="T24" fmla="*/ 787 w 1370"/>
                  <a:gd name="T25" fmla="*/ 109 h 629"/>
                  <a:gd name="T26" fmla="*/ 759 w 1370"/>
                  <a:gd name="T27" fmla="*/ 191 h 629"/>
                  <a:gd name="T28" fmla="*/ 662 w 1370"/>
                  <a:gd name="T29" fmla="*/ 265 h 629"/>
                  <a:gd name="T30" fmla="*/ 578 w 1370"/>
                  <a:gd name="T31" fmla="*/ 274 h 629"/>
                  <a:gd name="T32" fmla="*/ 522 w 1370"/>
                  <a:gd name="T33" fmla="*/ 229 h 629"/>
                  <a:gd name="T34" fmla="*/ 452 w 1370"/>
                  <a:gd name="T35" fmla="*/ 171 h 629"/>
                  <a:gd name="T36" fmla="*/ 369 w 1370"/>
                  <a:gd name="T37" fmla="*/ 162 h 629"/>
                  <a:gd name="T38" fmla="*/ 366 w 1370"/>
                  <a:gd name="T39" fmla="*/ 37 h 629"/>
                  <a:gd name="T40" fmla="*/ 291 w 1370"/>
                  <a:gd name="T41" fmla="*/ 20 h 629"/>
                  <a:gd name="T42" fmla="*/ 240 w 1370"/>
                  <a:gd name="T43" fmla="*/ 20 h 629"/>
                  <a:gd name="T44" fmla="*/ 226 w 1370"/>
                  <a:gd name="T45" fmla="*/ 137 h 629"/>
                  <a:gd name="T46" fmla="*/ 194 w 1370"/>
                  <a:gd name="T47" fmla="*/ 237 h 629"/>
                  <a:gd name="T48" fmla="*/ 152 w 1370"/>
                  <a:gd name="T49" fmla="*/ 265 h 629"/>
                  <a:gd name="T50" fmla="*/ 92 w 1370"/>
                  <a:gd name="T51" fmla="*/ 232 h 629"/>
                  <a:gd name="T52" fmla="*/ 45 w 1370"/>
                  <a:gd name="T53" fmla="*/ 305 h 629"/>
                  <a:gd name="T54" fmla="*/ 0 w 1370"/>
                  <a:gd name="T55" fmla="*/ 329 h 629"/>
                  <a:gd name="T56" fmla="*/ 29 w 1370"/>
                  <a:gd name="T57" fmla="*/ 364 h 629"/>
                  <a:gd name="T58" fmla="*/ 77 w 1370"/>
                  <a:gd name="T59" fmla="*/ 480 h 629"/>
                  <a:gd name="T60" fmla="*/ 113 w 1370"/>
                  <a:gd name="T61" fmla="*/ 483 h 629"/>
                  <a:gd name="T62" fmla="*/ 149 w 1370"/>
                  <a:gd name="T63" fmla="*/ 453 h 629"/>
                  <a:gd name="T64" fmla="*/ 174 w 1370"/>
                  <a:gd name="T65" fmla="*/ 494 h 629"/>
                  <a:gd name="T66" fmla="*/ 280 w 1370"/>
                  <a:gd name="T67" fmla="*/ 534 h 629"/>
                  <a:gd name="T68" fmla="*/ 311 w 1370"/>
                  <a:gd name="T69" fmla="*/ 516 h 629"/>
                  <a:gd name="T70" fmla="*/ 339 w 1370"/>
                  <a:gd name="T71" fmla="*/ 542 h 629"/>
                  <a:gd name="T72" fmla="*/ 372 w 1370"/>
                  <a:gd name="T73" fmla="*/ 550 h 629"/>
                  <a:gd name="T74" fmla="*/ 374 w 1370"/>
                  <a:gd name="T75" fmla="*/ 606 h 629"/>
                  <a:gd name="T76" fmla="*/ 433 w 1370"/>
                  <a:gd name="T77" fmla="*/ 584 h 629"/>
                  <a:gd name="T78" fmla="*/ 508 w 1370"/>
                  <a:gd name="T79" fmla="*/ 628 h 629"/>
                  <a:gd name="T80" fmla="*/ 512 w 1370"/>
                  <a:gd name="T81" fmla="*/ 525 h 629"/>
                  <a:gd name="T82" fmla="*/ 573 w 1370"/>
                  <a:gd name="T83" fmla="*/ 552 h 629"/>
                  <a:gd name="T84" fmla="*/ 632 w 1370"/>
                  <a:gd name="T85" fmla="*/ 542 h 629"/>
                  <a:gd name="T86" fmla="*/ 671 w 1370"/>
                  <a:gd name="T87" fmla="*/ 505 h 629"/>
                  <a:gd name="T88" fmla="*/ 749 w 1370"/>
                  <a:gd name="T89" fmla="*/ 525 h 629"/>
                  <a:gd name="T90" fmla="*/ 1005 w 1370"/>
                  <a:gd name="T91" fmla="*/ 591 h 629"/>
                  <a:gd name="T92" fmla="*/ 1100 w 1370"/>
                  <a:gd name="T93" fmla="*/ 591 h 629"/>
                  <a:gd name="T94" fmla="*/ 1147 w 1370"/>
                  <a:gd name="T95" fmla="*/ 566 h 629"/>
                  <a:gd name="T96" fmla="*/ 1234 w 1370"/>
                  <a:gd name="T97" fmla="*/ 581 h 629"/>
                  <a:gd name="T98" fmla="*/ 1286 w 1370"/>
                  <a:gd name="T99" fmla="*/ 469 h 629"/>
                  <a:gd name="T100" fmla="*/ 1300 w 1370"/>
                  <a:gd name="T101" fmla="*/ 411 h 629"/>
                  <a:gd name="T102" fmla="*/ 1370 w 1370"/>
                  <a:gd name="T103" fmla="*/ 380 h 629"/>
                  <a:gd name="T104" fmla="*/ 1339 w 1370"/>
                  <a:gd name="T105" fmla="*/ 327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70" h="629">
                    <a:moveTo>
                      <a:pt x="1339" y="327"/>
                    </a:moveTo>
                    <a:cubicBezTo>
                      <a:pt x="1332" y="287"/>
                      <a:pt x="1317" y="283"/>
                      <a:pt x="1278" y="277"/>
                    </a:cubicBezTo>
                    <a:cubicBezTo>
                      <a:pt x="1239" y="271"/>
                      <a:pt x="1243" y="265"/>
                      <a:pt x="1242" y="244"/>
                    </a:cubicBezTo>
                    <a:cubicBezTo>
                      <a:pt x="1240" y="224"/>
                      <a:pt x="1218" y="198"/>
                      <a:pt x="1200" y="188"/>
                    </a:cubicBezTo>
                    <a:cubicBezTo>
                      <a:pt x="1181" y="179"/>
                      <a:pt x="1184" y="165"/>
                      <a:pt x="1198" y="157"/>
                    </a:cubicBezTo>
                    <a:cubicBezTo>
                      <a:pt x="1212" y="149"/>
                      <a:pt x="1215" y="134"/>
                      <a:pt x="1204" y="131"/>
                    </a:cubicBezTo>
                    <a:cubicBezTo>
                      <a:pt x="1194" y="128"/>
                      <a:pt x="1175" y="115"/>
                      <a:pt x="1162" y="104"/>
                    </a:cubicBezTo>
                    <a:cubicBezTo>
                      <a:pt x="1150" y="93"/>
                      <a:pt x="1120" y="62"/>
                      <a:pt x="1117" y="56"/>
                    </a:cubicBezTo>
                    <a:cubicBezTo>
                      <a:pt x="1114" y="50"/>
                      <a:pt x="1089" y="61"/>
                      <a:pt x="1088" y="92"/>
                    </a:cubicBezTo>
                    <a:cubicBezTo>
                      <a:pt x="1086" y="123"/>
                      <a:pt x="1058" y="138"/>
                      <a:pt x="1031" y="132"/>
                    </a:cubicBezTo>
                    <a:cubicBezTo>
                      <a:pt x="1005" y="126"/>
                      <a:pt x="1005" y="92"/>
                      <a:pt x="1005" y="71"/>
                    </a:cubicBezTo>
                    <a:cubicBezTo>
                      <a:pt x="1005" y="51"/>
                      <a:pt x="974" y="43"/>
                      <a:pt x="904" y="43"/>
                    </a:cubicBezTo>
                    <a:cubicBezTo>
                      <a:pt x="833" y="43"/>
                      <a:pt x="804" y="87"/>
                      <a:pt x="787" y="109"/>
                    </a:cubicBezTo>
                    <a:cubicBezTo>
                      <a:pt x="770" y="131"/>
                      <a:pt x="768" y="154"/>
                      <a:pt x="759" y="191"/>
                    </a:cubicBezTo>
                    <a:cubicBezTo>
                      <a:pt x="749" y="229"/>
                      <a:pt x="717" y="234"/>
                      <a:pt x="662" y="265"/>
                    </a:cubicBezTo>
                    <a:cubicBezTo>
                      <a:pt x="607" y="296"/>
                      <a:pt x="593" y="285"/>
                      <a:pt x="578" y="274"/>
                    </a:cubicBezTo>
                    <a:cubicBezTo>
                      <a:pt x="562" y="263"/>
                      <a:pt x="533" y="241"/>
                      <a:pt x="522" y="229"/>
                    </a:cubicBezTo>
                    <a:cubicBezTo>
                      <a:pt x="511" y="216"/>
                      <a:pt x="495" y="181"/>
                      <a:pt x="452" y="171"/>
                    </a:cubicBezTo>
                    <a:cubicBezTo>
                      <a:pt x="408" y="162"/>
                      <a:pt x="369" y="162"/>
                      <a:pt x="369" y="162"/>
                    </a:cubicBezTo>
                    <a:cubicBezTo>
                      <a:pt x="366" y="37"/>
                      <a:pt x="366" y="37"/>
                      <a:pt x="366" y="37"/>
                    </a:cubicBezTo>
                    <a:cubicBezTo>
                      <a:pt x="340" y="45"/>
                      <a:pt x="313" y="33"/>
                      <a:pt x="291" y="20"/>
                    </a:cubicBezTo>
                    <a:cubicBezTo>
                      <a:pt x="257" y="0"/>
                      <a:pt x="240" y="20"/>
                      <a:pt x="240" y="20"/>
                    </a:cubicBezTo>
                    <a:cubicBezTo>
                      <a:pt x="240" y="20"/>
                      <a:pt x="233" y="92"/>
                      <a:pt x="226" y="137"/>
                    </a:cubicBezTo>
                    <a:cubicBezTo>
                      <a:pt x="218" y="182"/>
                      <a:pt x="207" y="210"/>
                      <a:pt x="194" y="237"/>
                    </a:cubicBezTo>
                    <a:cubicBezTo>
                      <a:pt x="182" y="263"/>
                      <a:pt x="165" y="279"/>
                      <a:pt x="152" y="265"/>
                    </a:cubicBezTo>
                    <a:cubicBezTo>
                      <a:pt x="140" y="251"/>
                      <a:pt x="134" y="244"/>
                      <a:pt x="92" y="232"/>
                    </a:cubicBezTo>
                    <a:cubicBezTo>
                      <a:pt x="87" y="277"/>
                      <a:pt x="84" y="271"/>
                      <a:pt x="45" y="305"/>
                    </a:cubicBezTo>
                    <a:cubicBezTo>
                      <a:pt x="34" y="315"/>
                      <a:pt x="17" y="323"/>
                      <a:pt x="0" y="329"/>
                    </a:cubicBezTo>
                    <a:cubicBezTo>
                      <a:pt x="8" y="342"/>
                      <a:pt x="18" y="355"/>
                      <a:pt x="29" y="364"/>
                    </a:cubicBezTo>
                    <a:cubicBezTo>
                      <a:pt x="68" y="399"/>
                      <a:pt x="67" y="480"/>
                      <a:pt x="77" y="480"/>
                    </a:cubicBezTo>
                    <a:cubicBezTo>
                      <a:pt x="88" y="480"/>
                      <a:pt x="104" y="488"/>
                      <a:pt x="113" y="483"/>
                    </a:cubicBezTo>
                    <a:cubicBezTo>
                      <a:pt x="123" y="478"/>
                      <a:pt x="124" y="458"/>
                      <a:pt x="149" y="453"/>
                    </a:cubicBezTo>
                    <a:cubicBezTo>
                      <a:pt x="174" y="449"/>
                      <a:pt x="173" y="450"/>
                      <a:pt x="174" y="494"/>
                    </a:cubicBezTo>
                    <a:cubicBezTo>
                      <a:pt x="163" y="561"/>
                      <a:pt x="269" y="534"/>
                      <a:pt x="280" y="534"/>
                    </a:cubicBezTo>
                    <a:cubicBezTo>
                      <a:pt x="291" y="534"/>
                      <a:pt x="297" y="517"/>
                      <a:pt x="311" y="516"/>
                    </a:cubicBezTo>
                    <a:cubicBezTo>
                      <a:pt x="325" y="514"/>
                      <a:pt x="339" y="542"/>
                      <a:pt x="339" y="542"/>
                    </a:cubicBezTo>
                    <a:cubicBezTo>
                      <a:pt x="372" y="550"/>
                      <a:pt x="372" y="550"/>
                      <a:pt x="372" y="550"/>
                    </a:cubicBezTo>
                    <a:cubicBezTo>
                      <a:pt x="372" y="550"/>
                      <a:pt x="374" y="598"/>
                      <a:pt x="374" y="606"/>
                    </a:cubicBezTo>
                    <a:cubicBezTo>
                      <a:pt x="374" y="614"/>
                      <a:pt x="409" y="592"/>
                      <a:pt x="433" y="584"/>
                    </a:cubicBezTo>
                    <a:cubicBezTo>
                      <a:pt x="448" y="629"/>
                      <a:pt x="508" y="628"/>
                      <a:pt x="508" y="628"/>
                    </a:cubicBezTo>
                    <a:cubicBezTo>
                      <a:pt x="508" y="628"/>
                      <a:pt x="500" y="528"/>
                      <a:pt x="512" y="525"/>
                    </a:cubicBezTo>
                    <a:cubicBezTo>
                      <a:pt x="525" y="522"/>
                      <a:pt x="564" y="534"/>
                      <a:pt x="573" y="552"/>
                    </a:cubicBezTo>
                    <a:cubicBezTo>
                      <a:pt x="583" y="569"/>
                      <a:pt x="617" y="553"/>
                      <a:pt x="632" y="542"/>
                    </a:cubicBezTo>
                    <a:cubicBezTo>
                      <a:pt x="648" y="531"/>
                      <a:pt x="650" y="508"/>
                      <a:pt x="671" y="505"/>
                    </a:cubicBezTo>
                    <a:cubicBezTo>
                      <a:pt x="693" y="502"/>
                      <a:pt x="727" y="516"/>
                      <a:pt x="749" y="525"/>
                    </a:cubicBezTo>
                    <a:cubicBezTo>
                      <a:pt x="833" y="584"/>
                      <a:pt x="957" y="591"/>
                      <a:pt x="1005" y="591"/>
                    </a:cubicBezTo>
                    <a:cubicBezTo>
                      <a:pt x="1053" y="591"/>
                      <a:pt x="1077" y="594"/>
                      <a:pt x="1100" y="591"/>
                    </a:cubicBezTo>
                    <a:cubicBezTo>
                      <a:pt x="1100" y="567"/>
                      <a:pt x="1128" y="558"/>
                      <a:pt x="1147" y="566"/>
                    </a:cubicBezTo>
                    <a:cubicBezTo>
                      <a:pt x="1166" y="573"/>
                      <a:pt x="1204" y="584"/>
                      <a:pt x="1234" y="581"/>
                    </a:cubicBezTo>
                    <a:cubicBezTo>
                      <a:pt x="1264" y="578"/>
                      <a:pt x="1282" y="491"/>
                      <a:pt x="1286" y="469"/>
                    </a:cubicBezTo>
                    <a:cubicBezTo>
                      <a:pt x="1289" y="447"/>
                      <a:pt x="1289" y="419"/>
                      <a:pt x="1300" y="411"/>
                    </a:cubicBezTo>
                    <a:cubicBezTo>
                      <a:pt x="1310" y="403"/>
                      <a:pt x="1332" y="399"/>
                      <a:pt x="1370" y="380"/>
                    </a:cubicBezTo>
                    <a:cubicBezTo>
                      <a:pt x="1357" y="375"/>
                      <a:pt x="1345" y="368"/>
                      <a:pt x="1339" y="3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21" name="Freeform 1796">
                <a:extLst>
                  <a:ext uri="{FF2B5EF4-FFF2-40B4-BE49-F238E27FC236}">
                    <a16:creationId xmlns:a16="http://schemas.microsoft.com/office/drawing/2014/main" id="{81E42087-48B1-4FFD-694E-0897577AA848}"/>
                  </a:ext>
                </a:extLst>
              </p:cNvPr>
              <p:cNvSpPr>
                <a:spLocks/>
              </p:cNvSpPr>
              <p:nvPr/>
            </p:nvSpPr>
            <p:spPr bwMode="auto">
              <a:xfrm>
                <a:off x="1823" y="563"/>
                <a:ext cx="400" cy="203"/>
              </a:xfrm>
              <a:custGeom>
                <a:avLst/>
                <a:gdLst>
                  <a:gd name="T0" fmla="*/ 1751 w 1812"/>
                  <a:gd name="T1" fmla="*/ 139 h 921"/>
                  <a:gd name="T2" fmla="*/ 1648 w 1812"/>
                  <a:gd name="T3" fmla="*/ 26 h 921"/>
                  <a:gd name="T4" fmla="*/ 1383 w 1812"/>
                  <a:gd name="T5" fmla="*/ 96 h 921"/>
                  <a:gd name="T6" fmla="*/ 1234 w 1812"/>
                  <a:gd name="T7" fmla="*/ 68 h 921"/>
                  <a:gd name="T8" fmla="*/ 1104 w 1812"/>
                  <a:gd name="T9" fmla="*/ 88 h 921"/>
                  <a:gd name="T10" fmla="*/ 1011 w 1812"/>
                  <a:gd name="T11" fmla="*/ 104 h 921"/>
                  <a:gd name="T12" fmla="*/ 921 w 1812"/>
                  <a:gd name="T13" fmla="*/ 249 h 921"/>
                  <a:gd name="T14" fmla="*/ 945 w 1812"/>
                  <a:gd name="T15" fmla="*/ 393 h 921"/>
                  <a:gd name="T16" fmla="*/ 701 w 1812"/>
                  <a:gd name="T17" fmla="*/ 426 h 921"/>
                  <a:gd name="T18" fmla="*/ 619 w 1812"/>
                  <a:gd name="T19" fmla="*/ 514 h 921"/>
                  <a:gd name="T20" fmla="*/ 480 w 1812"/>
                  <a:gd name="T21" fmla="*/ 611 h 921"/>
                  <a:gd name="T22" fmla="*/ 338 w 1812"/>
                  <a:gd name="T23" fmla="*/ 636 h 921"/>
                  <a:gd name="T24" fmla="*/ 74 w 1812"/>
                  <a:gd name="T25" fmla="*/ 567 h 921"/>
                  <a:gd name="T26" fmla="*/ 17 w 1812"/>
                  <a:gd name="T27" fmla="*/ 742 h 921"/>
                  <a:gd name="T28" fmla="*/ 238 w 1812"/>
                  <a:gd name="T29" fmla="*/ 806 h 921"/>
                  <a:gd name="T30" fmla="*/ 364 w 1812"/>
                  <a:gd name="T31" fmla="*/ 836 h 921"/>
                  <a:gd name="T32" fmla="*/ 433 w 1812"/>
                  <a:gd name="T33" fmla="*/ 831 h 921"/>
                  <a:gd name="T34" fmla="*/ 626 w 1812"/>
                  <a:gd name="T35" fmla="*/ 916 h 921"/>
                  <a:gd name="T36" fmla="*/ 638 w 1812"/>
                  <a:gd name="T37" fmla="*/ 859 h 921"/>
                  <a:gd name="T38" fmla="*/ 696 w 1812"/>
                  <a:gd name="T39" fmla="*/ 835 h 921"/>
                  <a:gd name="T40" fmla="*/ 744 w 1812"/>
                  <a:gd name="T41" fmla="*/ 835 h 921"/>
                  <a:gd name="T42" fmla="*/ 815 w 1812"/>
                  <a:gd name="T43" fmla="*/ 819 h 921"/>
                  <a:gd name="T44" fmla="*/ 841 w 1812"/>
                  <a:gd name="T45" fmla="*/ 908 h 921"/>
                  <a:gd name="T46" fmla="*/ 1019 w 1812"/>
                  <a:gd name="T47" fmla="*/ 836 h 921"/>
                  <a:gd name="T48" fmla="*/ 1090 w 1812"/>
                  <a:gd name="T49" fmla="*/ 630 h 921"/>
                  <a:gd name="T50" fmla="*/ 1170 w 1812"/>
                  <a:gd name="T51" fmla="*/ 485 h 921"/>
                  <a:gd name="T52" fmla="*/ 1280 w 1812"/>
                  <a:gd name="T53" fmla="*/ 468 h 921"/>
                  <a:gd name="T54" fmla="*/ 1324 w 1812"/>
                  <a:gd name="T55" fmla="*/ 486 h 921"/>
                  <a:gd name="T56" fmla="*/ 1470 w 1812"/>
                  <a:gd name="T57" fmla="*/ 371 h 921"/>
                  <a:gd name="T58" fmla="*/ 1609 w 1812"/>
                  <a:gd name="T59" fmla="*/ 291 h 921"/>
                  <a:gd name="T60" fmla="*/ 1670 w 1812"/>
                  <a:gd name="T61" fmla="*/ 233 h 921"/>
                  <a:gd name="T62" fmla="*/ 1732 w 1812"/>
                  <a:gd name="T63" fmla="*/ 254 h 921"/>
                  <a:gd name="T64" fmla="*/ 1812 w 1812"/>
                  <a:gd name="T65" fmla="*/ 230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812" h="921">
                    <a:moveTo>
                      <a:pt x="1781" y="199"/>
                    </a:moveTo>
                    <a:cubicBezTo>
                      <a:pt x="1774" y="185"/>
                      <a:pt x="1763" y="139"/>
                      <a:pt x="1751" y="139"/>
                    </a:cubicBezTo>
                    <a:cubicBezTo>
                      <a:pt x="1740" y="139"/>
                      <a:pt x="1726" y="114"/>
                      <a:pt x="1717" y="91"/>
                    </a:cubicBezTo>
                    <a:cubicBezTo>
                      <a:pt x="1707" y="67"/>
                      <a:pt x="1679" y="24"/>
                      <a:pt x="1648" y="26"/>
                    </a:cubicBezTo>
                    <a:cubicBezTo>
                      <a:pt x="1617" y="27"/>
                      <a:pt x="1518" y="66"/>
                      <a:pt x="1495" y="75"/>
                    </a:cubicBezTo>
                    <a:cubicBezTo>
                      <a:pt x="1472" y="83"/>
                      <a:pt x="1410" y="96"/>
                      <a:pt x="1383" y="96"/>
                    </a:cubicBezTo>
                    <a:cubicBezTo>
                      <a:pt x="1356" y="96"/>
                      <a:pt x="1275" y="96"/>
                      <a:pt x="1275" y="96"/>
                    </a:cubicBezTo>
                    <a:cubicBezTo>
                      <a:pt x="1275" y="96"/>
                      <a:pt x="1234" y="83"/>
                      <a:pt x="1234" y="68"/>
                    </a:cubicBezTo>
                    <a:cubicBezTo>
                      <a:pt x="1234" y="54"/>
                      <a:pt x="1231" y="0"/>
                      <a:pt x="1188" y="28"/>
                    </a:cubicBezTo>
                    <a:cubicBezTo>
                      <a:pt x="1146" y="55"/>
                      <a:pt x="1121" y="96"/>
                      <a:pt x="1104" y="88"/>
                    </a:cubicBezTo>
                    <a:cubicBezTo>
                      <a:pt x="1096" y="84"/>
                      <a:pt x="1090" y="84"/>
                      <a:pt x="1086" y="81"/>
                    </a:cubicBezTo>
                    <a:cubicBezTo>
                      <a:pt x="1072" y="89"/>
                      <a:pt x="1048" y="97"/>
                      <a:pt x="1011" y="104"/>
                    </a:cubicBezTo>
                    <a:cubicBezTo>
                      <a:pt x="931" y="140"/>
                      <a:pt x="877" y="184"/>
                      <a:pt x="884" y="205"/>
                    </a:cubicBezTo>
                    <a:cubicBezTo>
                      <a:pt x="890" y="225"/>
                      <a:pt x="907" y="225"/>
                      <a:pt x="921" y="249"/>
                    </a:cubicBezTo>
                    <a:cubicBezTo>
                      <a:pt x="936" y="272"/>
                      <a:pt x="961" y="302"/>
                      <a:pt x="961" y="332"/>
                    </a:cubicBezTo>
                    <a:cubicBezTo>
                      <a:pt x="961" y="362"/>
                      <a:pt x="968" y="396"/>
                      <a:pt x="945" y="393"/>
                    </a:cubicBezTo>
                    <a:cubicBezTo>
                      <a:pt x="921" y="390"/>
                      <a:pt x="925" y="371"/>
                      <a:pt x="849" y="387"/>
                    </a:cubicBezTo>
                    <a:cubicBezTo>
                      <a:pt x="783" y="400"/>
                      <a:pt x="759" y="423"/>
                      <a:pt x="701" y="426"/>
                    </a:cubicBezTo>
                    <a:cubicBezTo>
                      <a:pt x="665" y="444"/>
                      <a:pt x="643" y="449"/>
                      <a:pt x="633" y="456"/>
                    </a:cubicBezTo>
                    <a:cubicBezTo>
                      <a:pt x="622" y="464"/>
                      <a:pt x="622" y="492"/>
                      <a:pt x="619" y="514"/>
                    </a:cubicBezTo>
                    <a:cubicBezTo>
                      <a:pt x="615" y="536"/>
                      <a:pt x="597" y="623"/>
                      <a:pt x="567" y="626"/>
                    </a:cubicBezTo>
                    <a:cubicBezTo>
                      <a:pt x="537" y="629"/>
                      <a:pt x="499" y="618"/>
                      <a:pt x="480" y="611"/>
                    </a:cubicBezTo>
                    <a:cubicBezTo>
                      <a:pt x="461" y="603"/>
                      <a:pt x="433" y="612"/>
                      <a:pt x="433" y="636"/>
                    </a:cubicBezTo>
                    <a:cubicBezTo>
                      <a:pt x="410" y="639"/>
                      <a:pt x="386" y="636"/>
                      <a:pt x="338" y="636"/>
                    </a:cubicBezTo>
                    <a:cubicBezTo>
                      <a:pt x="290" y="636"/>
                      <a:pt x="166" y="629"/>
                      <a:pt x="82" y="570"/>
                    </a:cubicBezTo>
                    <a:cubicBezTo>
                      <a:pt x="80" y="569"/>
                      <a:pt x="77" y="568"/>
                      <a:pt x="74" y="567"/>
                    </a:cubicBezTo>
                    <a:cubicBezTo>
                      <a:pt x="69" y="573"/>
                      <a:pt x="63" y="581"/>
                      <a:pt x="56" y="592"/>
                    </a:cubicBezTo>
                    <a:cubicBezTo>
                      <a:pt x="42" y="616"/>
                      <a:pt x="0" y="729"/>
                      <a:pt x="17" y="742"/>
                    </a:cubicBezTo>
                    <a:cubicBezTo>
                      <a:pt x="34" y="755"/>
                      <a:pt x="89" y="766"/>
                      <a:pt x="117" y="776"/>
                    </a:cubicBezTo>
                    <a:cubicBezTo>
                      <a:pt x="144" y="786"/>
                      <a:pt x="202" y="803"/>
                      <a:pt x="238" y="806"/>
                    </a:cubicBezTo>
                    <a:cubicBezTo>
                      <a:pt x="248" y="807"/>
                      <a:pt x="256" y="804"/>
                      <a:pt x="266" y="809"/>
                    </a:cubicBezTo>
                    <a:cubicBezTo>
                      <a:pt x="292" y="812"/>
                      <a:pt x="328" y="819"/>
                      <a:pt x="364" y="836"/>
                    </a:cubicBezTo>
                    <a:cubicBezTo>
                      <a:pt x="375" y="842"/>
                      <a:pt x="401" y="865"/>
                      <a:pt x="406" y="843"/>
                    </a:cubicBezTo>
                    <a:cubicBezTo>
                      <a:pt x="411" y="820"/>
                      <a:pt x="433" y="831"/>
                      <a:pt x="433" y="831"/>
                    </a:cubicBezTo>
                    <a:cubicBezTo>
                      <a:pt x="433" y="831"/>
                      <a:pt x="494" y="855"/>
                      <a:pt x="509" y="865"/>
                    </a:cubicBezTo>
                    <a:cubicBezTo>
                      <a:pt x="524" y="876"/>
                      <a:pt x="583" y="912"/>
                      <a:pt x="626" y="916"/>
                    </a:cubicBezTo>
                    <a:cubicBezTo>
                      <a:pt x="668" y="921"/>
                      <a:pt x="717" y="921"/>
                      <a:pt x="710" y="910"/>
                    </a:cubicBezTo>
                    <a:cubicBezTo>
                      <a:pt x="704" y="899"/>
                      <a:pt x="619" y="886"/>
                      <a:pt x="638" y="859"/>
                    </a:cubicBezTo>
                    <a:cubicBezTo>
                      <a:pt x="657" y="858"/>
                      <a:pt x="678" y="839"/>
                      <a:pt x="673" y="817"/>
                    </a:cubicBezTo>
                    <a:cubicBezTo>
                      <a:pt x="683" y="810"/>
                      <a:pt x="696" y="825"/>
                      <a:pt x="696" y="835"/>
                    </a:cubicBezTo>
                    <a:cubicBezTo>
                      <a:pt x="696" y="845"/>
                      <a:pt x="717" y="848"/>
                      <a:pt x="720" y="817"/>
                    </a:cubicBezTo>
                    <a:cubicBezTo>
                      <a:pt x="731" y="806"/>
                      <a:pt x="745" y="822"/>
                      <a:pt x="744" y="835"/>
                    </a:cubicBezTo>
                    <a:cubicBezTo>
                      <a:pt x="742" y="848"/>
                      <a:pt x="770" y="825"/>
                      <a:pt x="785" y="814"/>
                    </a:cubicBezTo>
                    <a:cubicBezTo>
                      <a:pt x="800" y="802"/>
                      <a:pt x="842" y="778"/>
                      <a:pt x="815" y="819"/>
                    </a:cubicBezTo>
                    <a:cubicBezTo>
                      <a:pt x="802" y="839"/>
                      <a:pt x="793" y="852"/>
                      <a:pt x="793" y="855"/>
                    </a:cubicBezTo>
                    <a:cubicBezTo>
                      <a:pt x="793" y="890"/>
                      <a:pt x="829" y="914"/>
                      <a:pt x="841" y="908"/>
                    </a:cubicBezTo>
                    <a:cubicBezTo>
                      <a:pt x="887" y="885"/>
                      <a:pt x="906" y="864"/>
                      <a:pt x="935" y="865"/>
                    </a:cubicBezTo>
                    <a:cubicBezTo>
                      <a:pt x="964" y="867"/>
                      <a:pt x="1012" y="847"/>
                      <a:pt x="1019" y="836"/>
                    </a:cubicBezTo>
                    <a:cubicBezTo>
                      <a:pt x="1027" y="825"/>
                      <a:pt x="1104" y="733"/>
                      <a:pt x="1107" y="689"/>
                    </a:cubicBezTo>
                    <a:cubicBezTo>
                      <a:pt x="1110" y="645"/>
                      <a:pt x="1112" y="630"/>
                      <a:pt x="1090" y="630"/>
                    </a:cubicBezTo>
                    <a:cubicBezTo>
                      <a:pt x="1086" y="544"/>
                      <a:pt x="1099" y="477"/>
                      <a:pt x="1099" y="477"/>
                    </a:cubicBezTo>
                    <a:cubicBezTo>
                      <a:pt x="1099" y="477"/>
                      <a:pt x="1132" y="429"/>
                      <a:pt x="1170" y="485"/>
                    </a:cubicBezTo>
                    <a:cubicBezTo>
                      <a:pt x="1204" y="458"/>
                      <a:pt x="1229" y="448"/>
                      <a:pt x="1236" y="474"/>
                    </a:cubicBezTo>
                    <a:cubicBezTo>
                      <a:pt x="1242" y="500"/>
                      <a:pt x="1262" y="500"/>
                      <a:pt x="1280" y="468"/>
                    </a:cubicBezTo>
                    <a:cubicBezTo>
                      <a:pt x="1298" y="437"/>
                      <a:pt x="1308" y="426"/>
                      <a:pt x="1308" y="433"/>
                    </a:cubicBezTo>
                    <a:cubicBezTo>
                      <a:pt x="1308" y="439"/>
                      <a:pt x="1324" y="486"/>
                      <a:pt x="1324" y="486"/>
                    </a:cubicBezTo>
                    <a:cubicBezTo>
                      <a:pt x="1324" y="486"/>
                      <a:pt x="1372" y="490"/>
                      <a:pt x="1392" y="467"/>
                    </a:cubicBezTo>
                    <a:cubicBezTo>
                      <a:pt x="1411" y="445"/>
                      <a:pt x="1461" y="392"/>
                      <a:pt x="1470" y="371"/>
                    </a:cubicBezTo>
                    <a:cubicBezTo>
                      <a:pt x="1485" y="361"/>
                      <a:pt x="1543" y="360"/>
                      <a:pt x="1543" y="360"/>
                    </a:cubicBezTo>
                    <a:cubicBezTo>
                      <a:pt x="1543" y="360"/>
                      <a:pt x="1587" y="309"/>
                      <a:pt x="1609" y="291"/>
                    </a:cubicBezTo>
                    <a:cubicBezTo>
                      <a:pt x="1608" y="266"/>
                      <a:pt x="1606" y="228"/>
                      <a:pt x="1636" y="221"/>
                    </a:cubicBezTo>
                    <a:cubicBezTo>
                      <a:pt x="1666" y="213"/>
                      <a:pt x="1670" y="233"/>
                      <a:pt x="1670" y="233"/>
                    </a:cubicBezTo>
                    <a:cubicBezTo>
                      <a:pt x="1670" y="233"/>
                      <a:pt x="1706" y="215"/>
                      <a:pt x="1714" y="207"/>
                    </a:cubicBezTo>
                    <a:cubicBezTo>
                      <a:pt x="1721" y="198"/>
                      <a:pt x="1726" y="242"/>
                      <a:pt x="1732" y="254"/>
                    </a:cubicBezTo>
                    <a:cubicBezTo>
                      <a:pt x="1739" y="266"/>
                      <a:pt x="1764" y="269"/>
                      <a:pt x="1790" y="246"/>
                    </a:cubicBezTo>
                    <a:cubicBezTo>
                      <a:pt x="1812" y="230"/>
                      <a:pt x="1812" y="230"/>
                      <a:pt x="1812" y="230"/>
                    </a:cubicBezTo>
                    <a:cubicBezTo>
                      <a:pt x="1812" y="230"/>
                      <a:pt x="1788" y="214"/>
                      <a:pt x="1781" y="1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22" name="Freeform 1797">
                <a:extLst>
                  <a:ext uri="{FF2B5EF4-FFF2-40B4-BE49-F238E27FC236}">
                    <a16:creationId xmlns:a16="http://schemas.microsoft.com/office/drawing/2014/main" id="{E10A1AE3-9A0C-0E4E-619D-F3C992D59BB7}"/>
                  </a:ext>
                </a:extLst>
              </p:cNvPr>
              <p:cNvSpPr>
                <a:spLocks/>
              </p:cNvSpPr>
              <p:nvPr/>
            </p:nvSpPr>
            <p:spPr bwMode="auto">
              <a:xfrm>
                <a:off x="1413" y="273"/>
                <a:ext cx="200" cy="333"/>
              </a:xfrm>
              <a:custGeom>
                <a:avLst/>
                <a:gdLst>
                  <a:gd name="T0" fmla="*/ 768 w 902"/>
                  <a:gd name="T1" fmla="*/ 85 h 1509"/>
                  <a:gd name="T2" fmla="*/ 687 w 902"/>
                  <a:gd name="T3" fmla="*/ 108 h 1509"/>
                  <a:gd name="T4" fmla="*/ 604 w 902"/>
                  <a:gd name="T5" fmla="*/ 93 h 1509"/>
                  <a:gd name="T6" fmla="*/ 560 w 902"/>
                  <a:gd name="T7" fmla="*/ 90 h 1509"/>
                  <a:gd name="T8" fmla="*/ 509 w 902"/>
                  <a:gd name="T9" fmla="*/ 71 h 1509"/>
                  <a:gd name="T10" fmla="*/ 438 w 902"/>
                  <a:gd name="T11" fmla="*/ 43 h 1509"/>
                  <a:gd name="T12" fmla="*/ 360 w 902"/>
                  <a:gd name="T13" fmla="*/ 17 h 1509"/>
                  <a:gd name="T14" fmla="*/ 345 w 902"/>
                  <a:gd name="T15" fmla="*/ 90 h 1509"/>
                  <a:gd name="T16" fmla="*/ 314 w 902"/>
                  <a:gd name="T17" fmla="*/ 282 h 1509"/>
                  <a:gd name="T18" fmla="*/ 263 w 902"/>
                  <a:gd name="T19" fmla="*/ 420 h 1509"/>
                  <a:gd name="T20" fmla="*/ 246 w 902"/>
                  <a:gd name="T21" fmla="*/ 469 h 1509"/>
                  <a:gd name="T22" fmla="*/ 201 w 902"/>
                  <a:gd name="T23" fmla="*/ 515 h 1509"/>
                  <a:gd name="T24" fmla="*/ 126 w 902"/>
                  <a:gd name="T25" fmla="*/ 488 h 1509"/>
                  <a:gd name="T26" fmla="*/ 87 w 902"/>
                  <a:gd name="T27" fmla="*/ 574 h 1509"/>
                  <a:gd name="T28" fmla="*/ 16 w 902"/>
                  <a:gd name="T29" fmla="*/ 634 h 1509"/>
                  <a:gd name="T30" fmla="*/ 70 w 902"/>
                  <a:gd name="T31" fmla="*/ 796 h 1509"/>
                  <a:gd name="T32" fmla="*/ 170 w 902"/>
                  <a:gd name="T33" fmla="*/ 927 h 1509"/>
                  <a:gd name="T34" fmla="*/ 267 w 902"/>
                  <a:gd name="T35" fmla="*/ 1046 h 1509"/>
                  <a:gd name="T36" fmla="*/ 313 w 902"/>
                  <a:gd name="T37" fmla="*/ 1104 h 1509"/>
                  <a:gd name="T38" fmla="*/ 297 w 902"/>
                  <a:gd name="T39" fmla="*/ 1160 h 1509"/>
                  <a:gd name="T40" fmla="*/ 264 w 902"/>
                  <a:gd name="T41" fmla="*/ 1228 h 1509"/>
                  <a:gd name="T42" fmla="*/ 264 w 902"/>
                  <a:gd name="T43" fmla="*/ 1228 h 1509"/>
                  <a:gd name="T44" fmla="*/ 277 w 902"/>
                  <a:gd name="T45" fmla="*/ 1237 h 1509"/>
                  <a:gd name="T46" fmla="*/ 365 w 902"/>
                  <a:gd name="T47" fmla="*/ 1255 h 1509"/>
                  <a:gd name="T48" fmla="*/ 421 w 902"/>
                  <a:gd name="T49" fmla="*/ 1301 h 1509"/>
                  <a:gd name="T50" fmla="*/ 375 w 902"/>
                  <a:gd name="T51" fmla="*/ 1333 h 1509"/>
                  <a:gd name="T52" fmla="*/ 402 w 902"/>
                  <a:gd name="T53" fmla="*/ 1369 h 1509"/>
                  <a:gd name="T54" fmla="*/ 447 w 902"/>
                  <a:gd name="T55" fmla="*/ 1375 h 1509"/>
                  <a:gd name="T56" fmla="*/ 458 w 902"/>
                  <a:gd name="T57" fmla="*/ 1430 h 1509"/>
                  <a:gd name="T58" fmla="*/ 483 w 902"/>
                  <a:gd name="T59" fmla="*/ 1460 h 1509"/>
                  <a:gd name="T60" fmla="*/ 503 w 902"/>
                  <a:gd name="T61" fmla="*/ 1500 h 1509"/>
                  <a:gd name="T62" fmla="*/ 520 w 902"/>
                  <a:gd name="T63" fmla="*/ 1509 h 1509"/>
                  <a:gd name="T64" fmla="*/ 520 w 902"/>
                  <a:gd name="T65" fmla="*/ 1509 h 1509"/>
                  <a:gd name="T66" fmla="*/ 570 w 902"/>
                  <a:gd name="T67" fmla="*/ 1435 h 1509"/>
                  <a:gd name="T68" fmla="*/ 675 w 902"/>
                  <a:gd name="T69" fmla="*/ 1483 h 1509"/>
                  <a:gd name="T70" fmla="*/ 773 w 902"/>
                  <a:gd name="T71" fmla="*/ 1439 h 1509"/>
                  <a:gd name="T72" fmla="*/ 810 w 902"/>
                  <a:gd name="T73" fmla="*/ 1404 h 1509"/>
                  <a:gd name="T74" fmla="*/ 726 w 902"/>
                  <a:gd name="T75" fmla="*/ 1312 h 1509"/>
                  <a:gd name="T76" fmla="*/ 771 w 902"/>
                  <a:gd name="T77" fmla="*/ 1229 h 1509"/>
                  <a:gd name="T78" fmla="*/ 776 w 902"/>
                  <a:gd name="T79" fmla="*/ 1146 h 1509"/>
                  <a:gd name="T80" fmla="*/ 781 w 902"/>
                  <a:gd name="T81" fmla="*/ 1050 h 1509"/>
                  <a:gd name="T82" fmla="*/ 823 w 902"/>
                  <a:gd name="T83" fmla="*/ 994 h 1509"/>
                  <a:gd name="T84" fmla="*/ 837 w 902"/>
                  <a:gd name="T85" fmla="*/ 943 h 1509"/>
                  <a:gd name="T86" fmla="*/ 836 w 902"/>
                  <a:gd name="T87" fmla="*/ 943 h 1509"/>
                  <a:gd name="T88" fmla="*/ 760 w 902"/>
                  <a:gd name="T89" fmla="*/ 853 h 1509"/>
                  <a:gd name="T90" fmla="*/ 746 w 902"/>
                  <a:gd name="T91" fmla="*/ 743 h 1509"/>
                  <a:gd name="T92" fmla="*/ 732 w 902"/>
                  <a:gd name="T93" fmla="*/ 679 h 1509"/>
                  <a:gd name="T94" fmla="*/ 693 w 902"/>
                  <a:gd name="T95" fmla="*/ 629 h 1509"/>
                  <a:gd name="T96" fmla="*/ 735 w 902"/>
                  <a:gd name="T97" fmla="*/ 537 h 1509"/>
                  <a:gd name="T98" fmla="*/ 767 w 902"/>
                  <a:gd name="T99" fmla="*/ 473 h 1509"/>
                  <a:gd name="T100" fmla="*/ 849 w 902"/>
                  <a:gd name="T101" fmla="*/ 351 h 1509"/>
                  <a:gd name="T102" fmla="*/ 876 w 902"/>
                  <a:gd name="T103" fmla="*/ 183 h 1509"/>
                  <a:gd name="T104" fmla="*/ 845 w 902"/>
                  <a:gd name="T105" fmla="*/ 113 h 1509"/>
                  <a:gd name="T106" fmla="*/ 821 w 902"/>
                  <a:gd name="T107" fmla="*/ 83 h 1509"/>
                  <a:gd name="T108" fmla="*/ 824 w 902"/>
                  <a:gd name="T109" fmla="*/ 81 h 1509"/>
                  <a:gd name="T110" fmla="*/ 822 w 902"/>
                  <a:gd name="T111" fmla="*/ 82 h 1509"/>
                  <a:gd name="T112" fmla="*/ 782 w 902"/>
                  <a:gd name="T113" fmla="*/ 60 h 1509"/>
                  <a:gd name="T114" fmla="*/ 768 w 902"/>
                  <a:gd name="T115" fmla="*/ 85 h 15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902" h="1509">
                    <a:moveTo>
                      <a:pt x="768" y="85"/>
                    </a:moveTo>
                    <a:cubicBezTo>
                      <a:pt x="737" y="105"/>
                      <a:pt x="720" y="129"/>
                      <a:pt x="687" y="108"/>
                    </a:cubicBezTo>
                    <a:cubicBezTo>
                      <a:pt x="655" y="86"/>
                      <a:pt x="645" y="71"/>
                      <a:pt x="604" y="93"/>
                    </a:cubicBezTo>
                    <a:cubicBezTo>
                      <a:pt x="604" y="93"/>
                      <a:pt x="577" y="103"/>
                      <a:pt x="560" y="90"/>
                    </a:cubicBezTo>
                    <a:cubicBezTo>
                      <a:pt x="544" y="77"/>
                      <a:pt x="538" y="71"/>
                      <a:pt x="509" y="71"/>
                    </a:cubicBezTo>
                    <a:cubicBezTo>
                      <a:pt x="480" y="70"/>
                      <a:pt x="459" y="55"/>
                      <a:pt x="438" y="43"/>
                    </a:cubicBezTo>
                    <a:cubicBezTo>
                      <a:pt x="418" y="30"/>
                      <a:pt x="373" y="0"/>
                      <a:pt x="360" y="17"/>
                    </a:cubicBezTo>
                    <a:cubicBezTo>
                      <a:pt x="347" y="35"/>
                      <a:pt x="345" y="60"/>
                      <a:pt x="345" y="90"/>
                    </a:cubicBezTo>
                    <a:cubicBezTo>
                      <a:pt x="345" y="120"/>
                      <a:pt x="323" y="239"/>
                      <a:pt x="314" y="282"/>
                    </a:cubicBezTo>
                    <a:cubicBezTo>
                      <a:pt x="304" y="325"/>
                      <a:pt x="280" y="404"/>
                      <a:pt x="263" y="420"/>
                    </a:cubicBezTo>
                    <a:cubicBezTo>
                      <a:pt x="247" y="436"/>
                      <a:pt x="256" y="445"/>
                      <a:pt x="246" y="469"/>
                    </a:cubicBezTo>
                    <a:cubicBezTo>
                      <a:pt x="235" y="493"/>
                      <a:pt x="233" y="518"/>
                      <a:pt x="201" y="515"/>
                    </a:cubicBezTo>
                    <a:cubicBezTo>
                      <a:pt x="169" y="512"/>
                      <a:pt x="151" y="482"/>
                      <a:pt x="126" y="488"/>
                    </a:cubicBezTo>
                    <a:cubicBezTo>
                      <a:pt x="102" y="493"/>
                      <a:pt x="89" y="541"/>
                      <a:pt x="87" y="574"/>
                    </a:cubicBezTo>
                    <a:cubicBezTo>
                      <a:pt x="85" y="636"/>
                      <a:pt x="16" y="634"/>
                      <a:pt x="16" y="634"/>
                    </a:cubicBezTo>
                    <a:cubicBezTo>
                      <a:pt x="0" y="740"/>
                      <a:pt x="33" y="772"/>
                      <a:pt x="70" y="796"/>
                    </a:cubicBezTo>
                    <a:cubicBezTo>
                      <a:pt x="173" y="852"/>
                      <a:pt x="166" y="875"/>
                      <a:pt x="170" y="927"/>
                    </a:cubicBezTo>
                    <a:cubicBezTo>
                      <a:pt x="212" y="936"/>
                      <a:pt x="247" y="1010"/>
                      <a:pt x="267" y="1046"/>
                    </a:cubicBezTo>
                    <a:cubicBezTo>
                      <a:pt x="287" y="1081"/>
                      <a:pt x="313" y="1104"/>
                      <a:pt x="313" y="1104"/>
                    </a:cubicBezTo>
                    <a:cubicBezTo>
                      <a:pt x="313" y="1104"/>
                      <a:pt x="297" y="1107"/>
                      <a:pt x="297" y="1160"/>
                    </a:cubicBezTo>
                    <a:cubicBezTo>
                      <a:pt x="297" y="1191"/>
                      <a:pt x="283" y="1213"/>
                      <a:pt x="264" y="1228"/>
                    </a:cubicBezTo>
                    <a:cubicBezTo>
                      <a:pt x="264" y="1228"/>
                      <a:pt x="264" y="1228"/>
                      <a:pt x="264" y="1228"/>
                    </a:cubicBezTo>
                    <a:cubicBezTo>
                      <a:pt x="277" y="1237"/>
                      <a:pt x="277" y="1237"/>
                      <a:pt x="277" y="1237"/>
                    </a:cubicBezTo>
                    <a:cubicBezTo>
                      <a:pt x="277" y="1237"/>
                      <a:pt x="354" y="1243"/>
                      <a:pt x="365" y="1255"/>
                    </a:cubicBezTo>
                    <a:cubicBezTo>
                      <a:pt x="375" y="1268"/>
                      <a:pt x="432" y="1297"/>
                      <a:pt x="421" y="1301"/>
                    </a:cubicBezTo>
                    <a:cubicBezTo>
                      <a:pt x="410" y="1304"/>
                      <a:pt x="377" y="1324"/>
                      <a:pt x="375" y="1333"/>
                    </a:cubicBezTo>
                    <a:cubicBezTo>
                      <a:pt x="374" y="1343"/>
                      <a:pt x="402" y="1369"/>
                      <a:pt x="402" y="1369"/>
                    </a:cubicBezTo>
                    <a:cubicBezTo>
                      <a:pt x="447" y="1375"/>
                      <a:pt x="447" y="1375"/>
                      <a:pt x="447" y="1375"/>
                    </a:cubicBezTo>
                    <a:cubicBezTo>
                      <a:pt x="458" y="1430"/>
                      <a:pt x="458" y="1430"/>
                      <a:pt x="458" y="1430"/>
                    </a:cubicBezTo>
                    <a:cubicBezTo>
                      <a:pt x="483" y="1460"/>
                      <a:pt x="483" y="1460"/>
                      <a:pt x="483" y="1460"/>
                    </a:cubicBezTo>
                    <a:cubicBezTo>
                      <a:pt x="503" y="1500"/>
                      <a:pt x="503" y="1500"/>
                      <a:pt x="503" y="1500"/>
                    </a:cubicBezTo>
                    <a:cubicBezTo>
                      <a:pt x="520" y="1509"/>
                      <a:pt x="520" y="1509"/>
                      <a:pt x="520" y="1509"/>
                    </a:cubicBezTo>
                    <a:cubicBezTo>
                      <a:pt x="520" y="1509"/>
                      <a:pt x="520" y="1509"/>
                      <a:pt x="520" y="1509"/>
                    </a:cubicBezTo>
                    <a:cubicBezTo>
                      <a:pt x="526" y="1481"/>
                      <a:pt x="559" y="1445"/>
                      <a:pt x="570" y="1435"/>
                    </a:cubicBezTo>
                    <a:cubicBezTo>
                      <a:pt x="583" y="1424"/>
                      <a:pt x="645" y="1467"/>
                      <a:pt x="675" y="1483"/>
                    </a:cubicBezTo>
                    <a:cubicBezTo>
                      <a:pt x="704" y="1499"/>
                      <a:pt x="739" y="1463"/>
                      <a:pt x="773" y="1439"/>
                    </a:cubicBezTo>
                    <a:cubicBezTo>
                      <a:pt x="790" y="1428"/>
                      <a:pt x="802" y="1415"/>
                      <a:pt x="810" y="1404"/>
                    </a:cubicBezTo>
                    <a:cubicBezTo>
                      <a:pt x="781" y="1376"/>
                      <a:pt x="743" y="1340"/>
                      <a:pt x="726" y="1312"/>
                    </a:cubicBezTo>
                    <a:cubicBezTo>
                      <a:pt x="701" y="1269"/>
                      <a:pt x="751" y="1249"/>
                      <a:pt x="771" y="1229"/>
                    </a:cubicBezTo>
                    <a:cubicBezTo>
                      <a:pt x="792" y="1209"/>
                      <a:pt x="784" y="1176"/>
                      <a:pt x="776" y="1146"/>
                    </a:cubicBezTo>
                    <a:cubicBezTo>
                      <a:pt x="768" y="1117"/>
                      <a:pt x="774" y="1090"/>
                      <a:pt x="781" y="1050"/>
                    </a:cubicBezTo>
                    <a:cubicBezTo>
                      <a:pt x="787" y="1009"/>
                      <a:pt x="815" y="1028"/>
                      <a:pt x="823" y="994"/>
                    </a:cubicBezTo>
                    <a:cubicBezTo>
                      <a:pt x="824" y="976"/>
                      <a:pt x="829" y="959"/>
                      <a:pt x="837" y="943"/>
                    </a:cubicBezTo>
                    <a:cubicBezTo>
                      <a:pt x="836" y="943"/>
                      <a:pt x="836" y="943"/>
                      <a:pt x="836" y="943"/>
                    </a:cubicBezTo>
                    <a:cubicBezTo>
                      <a:pt x="812" y="922"/>
                      <a:pt x="771" y="884"/>
                      <a:pt x="760" y="853"/>
                    </a:cubicBezTo>
                    <a:cubicBezTo>
                      <a:pt x="748" y="817"/>
                      <a:pt x="746" y="786"/>
                      <a:pt x="746" y="743"/>
                    </a:cubicBezTo>
                    <a:cubicBezTo>
                      <a:pt x="746" y="699"/>
                      <a:pt x="745" y="693"/>
                      <a:pt x="732" y="679"/>
                    </a:cubicBezTo>
                    <a:cubicBezTo>
                      <a:pt x="720" y="665"/>
                      <a:pt x="704" y="654"/>
                      <a:pt x="693" y="629"/>
                    </a:cubicBezTo>
                    <a:cubicBezTo>
                      <a:pt x="682" y="604"/>
                      <a:pt x="704" y="560"/>
                      <a:pt x="735" y="537"/>
                    </a:cubicBezTo>
                    <a:cubicBezTo>
                      <a:pt x="767" y="513"/>
                      <a:pt x="760" y="521"/>
                      <a:pt x="767" y="473"/>
                    </a:cubicBezTo>
                    <a:cubicBezTo>
                      <a:pt x="773" y="425"/>
                      <a:pt x="827" y="378"/>
                      <a:pt x="849" y="351"/>
                    </a:cubicBezTo>
                    <a:cubicBezTo>
                      <a:pt x="902" y="311"/>
                      <a:pt x="876" y="206"/>
                      <a:pt x="876" y="183"/>
                    </a:cubicBezTo>
                    <a:cubicBezTo>
                      <a:pt x="876" y="160"/>
                      <a:pt x="860" y="144"/>
                      <a:pt x="845" y="113"/>
                    </a:cubicBezTo>
                    <a:cubicBezTo>
                      <a:pt x="840" y="103"/>
                      <a:pt x="831" y="93"/>
                      <a:pt x="821" y="83"/>
                    </a:cubicBezTo>
                    <a:cubicBezTo>
                      <a:pt x="822" y="82"/>
                      <a:pt x="823" y="81"/>
                      <a:pt x="824" y="81"/>
                    </a:cubicBezTo>
                    <a:cubicBezTo>
                      <a:pt x="823" y="81"/>
                      <a:pt x="823" y="81"/>
                      <a:pt x="822" y="82"/>
                    </a:cubicBezTo>
                    <a:cubicBezTo>
                      <a:pt x="807" y="73"/>
                      <a:pt x="793" y="66"/>
                      <a:pt x="782" y="60"/>
                    </a:cubicBezTo>
                    <a:cubicBezTo>
                      <a:pt x="782" y="70"/>
                      <a:pt x="778" y="78"/>
                      <a:pt x="768" y="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23" name="Freeform 1798">
                <a:extLst>
                  <a:ext uri="{FF2B5EF4-FFF2-40B4-BE49-F238E27FC236}">
                    <a16:creationId xmlns:a16="http://schemas.microsoft.com/office/drawing/2014/main" id="{F79748F3-2334-D93A-E4C1-9426D9F13FF8}"/>
                  </a:ext>
                </a:extLst>
              </p:cNvPr>
              <p:cNvSpPr>
                <a:spLocks/>
              </p:cNvSpPr>
              <p:nvPr/>
            </p:nvSpPr>
            <p:spPr bwMode="auto">
              <a:xfrm>
                <a:off x="1284" y="88"/>
                <a:ext cx="325" cy="334"/>
              </a:xfrm>
              <a:custGeom>
                <a:avLst/>
                <a:gdLst>
                  <a:gd name="T0" fmla="*/ 69 w 1471"/>
                  <a:gd name="T1" fmla="*/ 879 h 1513"/>
                  <a:gd name="T2" fmla="*/ 133 w 1471"/>
                  <a:gd name="T3" fmla="*/ 937 h 1513"/>
                  <a:gd name="T4" fmla="*/ 155 w 1471"/>
                  <a:gd name="T5" fmla="*/ 963 h 1513"/>
                  <a:gd name="T6" fmla="*/ 107 w 1471"/>
                  <a:gd name="T7" fmla="*/ 1032 h 1513"/>
                  <a:gd name="T8" fmla="*/ 154 w 1471"/>
                  <a:gd name="T9" fmla="*/ 1085 h 1513"/>
                  <a:gd name="T10" fmla="*/ 157 w 1471"/>
                  <a:gd name="T11" fmla="*/ 1169 h 1513"/>
                  <a:gd name="T12" fmla="*/ 238 w 1471"/>
                  <a:gd name="T13" fmla="*/ 1236 h 1513"/>
                  <a:gd name="T14" fmla="*/ 280 w 1471"/>
                  <a:gd name="T15" fmla="*/ 1317 h 1513"/>
                  <a:gd name="T16" fmla="*/ 257 w 1471"/>
                  <a:gd name="T17" fmla="*/ 1391 h 1513"/>
                  <a:gd name="T18" fmla="*/ 293 w 1471"/>
                  <a:gd name="T19" fmla="*/ 1423 h 1513"/>
                  <a:gd name="T20" fmla="*/ 363 w 1471"/>
                  <a:gd name="T21" fmla="*/ 1353 h 1513"/>
                  <a:gd name="T22" fmla="*/ 516 w 1471"/>
                  <a:gd name="T23" fmla="*/ 1495 h 1513"/>
                  <a:gd name="T24" fmla="*/ 550 w 1471"/>
                  <a:gd name="T25" fmla="*/ 1497 h 1513"/>
                  <a:gd name="T26" fmla="*/ 602 w 1471"/>
                  <a:gd name="T27" fmla="*/ 1470 h 1513"/>
                  <a:gd name="T28" fmla="*/ 673 w 1471"/>
                  <a:gd name="T29" fmla="*/ 1410 h 1513"/>
                  <a:gd name="T30" fmla="*/ 712 w 1471"/>
                  <a:gd name="T31" fmla="*/ 1324 h 1513"/>
                  <a:gd name="T32" fmla="*/ 787 w 1471"/>
                  <a:gd name="T33" fmla="*/ 1351 h 1513"/>
                  <a:gd name="T34" fmla="*/ 832 w 1471"/>
                  <a:gd name="T35" fmla="*/ 1305 h 1513"/>
                  <a:gd name="T36" fmla="*/ 849 w 1471"/>
                  <a:gd name="T37" fmla="*/ 1256 h 1513"/>
                  <a:gd name="T38" fmla="*/ 900 w 1471"/>
                  <a:gd name="T39" fmla="*/ 1118 h 1513"/>
                  <a:gd name="T40" fmla="*/ 931 w 1471"/>
                  <a:gd name="T41" fmla="*/ 926 h 1513"/>
                  <a:gd name="T42" fmla="*/ 946 w 1471"/>
                  <a:gd name="T43" fmla="*/ 853 h 1513"/>
                  <a:gd name="T44" fmla="*/ 1024 w 1471"/>
                  <a:gd name="T45" fmla="*/ 879 h 1513"/>
                  <a:gd name="T46" fmla="*/ 1095 w 1471"/>
                  <a:gd name="T47" fmla="*/ 907 h 1513"/>
                  <a:gd name="T48" fmla="*/ 1146 w 1471"/>
                  <a:gd name="T49" fmla="*/ 926 h 1513"/>
                  <a:gd name="T50" fmla="*/ 1190 w 1471"/>
                  <a:gd name="T51" fmla="*/ 929 h 1513"/>
                  <a:gd name="T52" fmla="*/ 1273 w 1471"/>
                  <a:gd name="T53" fmla="*/ 944 h 1513"/>
                  <a:gd name="T54" fmla="*/ 1354 w 1471"/>
                  <a:gd name="T55" fmla="*/ 921 h 1513"/>
                  <a:gd name="T56" fmla="*/ 1354 w 1471"/>
                  <a:gd name="T57" fmla="*/ 833 h 1513"/>
                  <a:gd name="T58" fmla="*/ 1318 w 1471"/>
                  <a:gd name="T59" fmla="*/ 750 h 1513"/>
                  <a:gd name="T60" fmla="*/ 1214 w 1471"/>
                  <a:gd name="T61" fmla="*/ 723 h 1513"/>
                  <a:gd name="T62" fmla="*/ 1103 w 1471"/>
                  <a:gd name="T63" fmla="*/ 642 h 1513"/>
                  <a:gd name="T64" fmla="*/ 1172 w 1471"/>
                  <a:gd name="T65" fmla="*/ 511 h 1513"/>
                  <a:gd name="T66" fmla="*/ 1278 w 1471"/>
                  <a:gd name="T67" fmla="*/ 451 h 1513"/>
                  <a:gd name="T68" fmla="*/ 1358 w 1471"/>
                  <a:gd name="T69" fmla="*/ 446 h 1513"/>
                  <a:gd name="T70" fmla="*/ 1400 w 1471"/>
                  <a:gd name="T71" fmla="*/ 361 h 1513"/>
                  <a:gd name="T72" fmla="*/ 1471 w 1471"/>
                  <a:gd name="T73" fmla="*/ 308 h 1513"/>
                  <a:gd name="T74" fmla="*/ 1356 w 1471"/>
                  <a:gd name="T75" fmla="*/ 166 h 1513"/>
                  <a:gd name="T76" fmla="*/ 1179 w 1471"/>
                  <a:gd name="T77" fmla="*/ 0 h 1513"/>
                  <a:gd name="T78" fmla="*/ 1132 w 1471"/>
                  <a:gd name="T79" fmla="*/ 29 h 1513"/>
                  <a:gd name="T80" fmla="*/ 1033 w 1471"/>
                  <a:gd name="T81" fmla="*/ 133 h 1513"/>
                  <a:gd name="T82" fmla="*/ 769 w 1471"/>
                  <a:gd name="T83" fmla="*/ 202 h 1513"/>
                  <a:gd name="T84" fmla="*/ 559 w 1471"/>
                  <a:gd name="T85" fmla="*/ 395 h 1513"/>
                  <a:gd name="T86" fmla="*/ 505 w 1471"/>
                  <a:gd name="T87" fmla="*/ 591 h 1513"/>
                  <a:gd name="T88" fmla="*/ 406 w 1471"/>
                  <a:gd name="T89" fmla="*/ 648 h 1513"/>
                  <a:gd name="T90" fmla="*/ 284 w 1471"/>
                  <a:gd name="T91" fmla="*/ 626 h 1513"/>
                  <a:gd name="T92" fmla="*/ 178 w 1471"/>
                  <a:gd name="T93" fmla="*/ 715 h 1513"/>
                  <a:gd name="T94" fmla="*/ 70 w 1471"/>
                  <a:gd name="T95" fmla="*/ 845 h 1513"/>
                  <a:gd name="T96" fmla="*/ 45 w 1471"/>
                  <a:gd name="T97" fmla="*/ 830 h 1513"/>
                  <a:gd name="T98" fmla="*/ 10 w 1471"/>
                  <a:gd name="T99" fmla="*/ 839 h 1513"/>
                  <a:gd name="T100" fmla="*/ 69 w 1471"/>
                  <a:gd name="T101" fmla="*/ 879 h 15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1471" h="1513">
                    <a:moveTo>
                      <a:pt x="69" y="879"/>
                    </a:moveTo>
                    <a:cubicBezTo>
                      <a:pt x="75" y="904"/>
                      <a:pt x="75" y="923"/>
                      <a:pt x="133" y="937"/>
                    </a:cubicBezTo>
                    <a:cubicBezTo>
                      <a:pt x="142" y="953"/>
                      <a:pt x="155" y="963"/>
                      <a:pt x="155" y="963"/>
                    </a:cubicBezTo>
                    <a:cubicBezTo>
                      <a:pt x="155" y="963"/>
                      <a:pt x="95" y="1003"/>
                      <a:pt x="107" y="1032"/>
                    </a:cubicBezTo>
                    <a:cubicBezTo>
                      <a:pt x="119" y="1061"/>
                      <a:pt x="147" y="1072"/>
                      <a:pt x="154" y="1085"/>
                    </a:cubicBezTo>
                    <a:cubicBezTo>
                      <a:pt x="160" y="1098"/>
                      <a:pt x="157" y="1169"/>
                      <a:pt x="157" y="1169"/>
                    </a:cubicBezTo>
                    <a:cubicBezTo>
                      <a:pt x="157" y="1169"/>
                      <a:pt x="207" y="1212"/>
                      <a:pt x="238" y="1236"/>
                    </a:cubicBezTo>
                    <a:cubicBezTo>
                      <a:pt x="270" y="1260"/>
                      <a:pt x="286" y="1284"/>
                      <a:pt x="280" y="1317"/>
                    </a:cubicBezTo>
                    <a:cubicBezTo>
                      <a:pt x="275" y="1351"/>
                      <a:pt x="248" y="1369"/>
                      <a:pt x="257" y="1391"/>
                    </a:cubicBezTo>
                    <a:cubicBezTo>
                      <a:pt x="266" y="1412"/>
                      <a:pt x="293" y="1423"/>
                      <a:pt x="293" y="1423"/>
                    </a:cubicBezTo>
                    <a:cubicBezTo>
                      <a:pt x="295" y="1354"/>
                      <a:pt x="328" y="1335"/>
                      <a:pt x="363" y="1353"/>
                    </a:cubicBezTo>
                    <a:cubicBezTo>
                      <a:pt x="399" y="1371"/>
                      <a:pt x="502" y="1485"/>
                      <a:pt x="516" y="1495"/>
                    </a:cubicBezTo>
                    <a:cubicBezTo>
                      <a:pt x="530" y="1504"/>
                      <a:pt x="534" y="1513"/>
                      <a:pt x="550" y="1497"/>
                    </a:cubicBezTo>
                    <a:cubicBezTo>
                      <a:pt x="566" y="1481"/>
                      <a:pt x="569" y="1473"/>
                      <a:pt x="602" y="1470"/>
                    </a:cubicBezTo>
                    <a:cubicBezTo>
                      <a:pt x="602" y="1470"/>
                      <a:pt x="671" y="1472"/>
                      <a:pt x="673" y="1410"/>
                    </a:cubicBezTo>
                    <a:cubicBezTo>
                      <a:pt x="675" y="1377"/>
                      <a:pt x="688" y="1329"/>
                      <a:pt x="712" y="1324"/>
                    </a:cubicBezTo>
                    <a:cubicBezTo>
                      <a:pt x="737" y="1318"/>
                      <a:pt x="755" y="1348"/>
                      <a:pt x="787" y="1351"/>
                    </a:cubicBezTo>
                    <a:cubicBezTo>
                      <a:pt x="819" y="1354"/>
                      <a:pt x="821" y="1329"/>
                      <a:pt x="832" y="1305"/>
                    </a:cubicBezTo>
                    <a:cubicBezTo>
                      <a:pt x="842" y="1281"/>
                      <a:pt x="833" y="1272"/>
                      <a:pt x="849" y="1256"/>
                    </a:cubicBezTo>
                    <a:cubicBezTo>
                      <a:pt x="866" y="1240"/>
                      <a:pt x="890" y="1161"/>
                      <a:pt x="900" y="1118"/>
                    </a:cubicBezTo>
                    <a:cubicBezTo>
                      <a:pt x="909" y="1075"/>
                      <a:pt x="931" y="956"/>
                      <a:pt x="931" y="926"/>
                    </a:cubicBezTo>
                    <a:cubicBezTo>
                      <a:pt x="931" y="896"/>
                      <a:pt x="933" y="871"/>
                      <a:pt x="946" y="853"/>
                    </a:cubicBezTo>
                    <a:cubicBezTo>
                      <a:pt x="959" y="836"/>
                      <a:pt x="1004" y="866"/>
                      <a:pt x="1024" y="879"/>
                    </a:cubicBezTo>
                    <a:cubicBezTo>
                      <a:pt x="1045" y="891"/>
                      <a:pt x="1066" y="906"/>
                      <a:pt x="1095" y="907"/>
                    </a:cubicBezTo>
                    <a:cubicBezTo>
                      <a:pt x="1124" y="907"/>
                      <a:pt x="1130" y="913"/>
                      <a:pt x="1146" y="926"/>
                    </a:cubicBezTo>
                    <a:cubicBezTo>
                      <a:pt x="1163" y="939"/>
                      <a:pt x="1190" y="929"/>
                      <a:pt x="1190" y="929"/>
                    </a:cubicBezTo>
                    <a:cubicBezTo>
                      <a:pt x="1231" y="907"/>
                      <a:pt x="1241" y="922"/>
                      <a:pt x="1273" y="944"/>
                    </a:cubicBezTo>
                    <a:cubicBezTo>
                      <a:pt x="1306" y="965"/>
                      <a:pt x="1323" y="941"/>
                      <a:pt x="1354" y="921"/>
                    </a:cubicBezTo>
                    <a:cubicBezTo>
                      <a:pt x="1385" y="900"/>
                      <a:pt x="1354" y="866"/>
                      <a:pt x="1354" y="833"/>
                    </a:cubicBezTo>
                    <a:cubicBezTo>
                      <a:pt x="1354" y="800"/>
                      <a:pt x="1348" y="780"/>
                      <a:pt x="1318" y="750"/>
                    </a:cubicBezTo>
                    <a:cubicBezTo>
                      <a:pt x="1288" y="720"/>
                      <a:pt x="1238" y="748"/>
                      <a:pt x="1214" y="723"/>
                    </a:cubicBezTo>
                    <a:cubicBezTo>
                      <a:pt x="1189" y="696"/>
                      <a:pt x="1144" y="673"/>
                      <a:pt x="1103" y="642"/>
                    </a:cubicBezTo>
                    <a:cubicBezTo>
                      <a:pt x="1062" y="610"/>
                      <a:pt x="1118" y="559"/>
                      <a:pt x="1172" y="511"/>
                    </a:cubicBezTo>
                    <a:cubicBezTo>
                      <a:pt x="1226" y="462"/>
                      <a:pt x="1252" y="452"/>
                      <a:pt x="1278" y="451"/>
                    </a:cubicBezTo>
                    <a:cubicBezTo>
                      <a:pt x="1304" y="450"/>
                      <a:pt x="1358" y="459"/>
                      <a:pt x="1358" y="446"/>
                    </a:cubicBezTo>
                    <a:cubicBezTo>
                      <a:pt x="1358" y="434"/>
                      <a:pt x="1373" y="389"/>
                      <a:pt x="1400" y="361"/>
                    </a:cubicBezTo>
                    <a:cubicBezTo>
                      <a:pt x="1416" y="344"/>
                      <a:pt x="1448" y="323"/>
                      <a:pt x="1471" y="308"/>
                    </a:cubicBezTo>
                    <a:cubicBezTo>
                      <a:pt x="1438" y="262"/>
                      <a:pt x="1394" y="202"/>
                      <a:pt x="1356" y="166"/>
                    </a:cubicBezTo>
                    <a:cubicBezTo>
                      <a:pt x="1290" y="102"/>
                      <a:pt x="1208" y="38"/>
                      <a:pt x="1179" y="0"/>
                    </a:cubicBezTo>
                    <a:cubicBezTo>
                      <a:pt x="1179" y="0"/>
                      <a:pt x="1166" y="9"/>
                      <a:pt x="1132" y="29"/>
                    </a:cubicBezTo>
                    <a:cubicBezTo>
                      <a:pt x="1102" y="47"/>
                      <a:pt x="1095" y="87"/>
                      <a:pt x="1033" y="133"/>
                    </a:cubicBezTo>
                    <a:cubicBezTo>
                      <a:pt x="933" y="115"/>
                      <a:pt x="867" y="152"/>
                      <a:pt x="769" y="202"/>
                    </a:cubicBezTo>
                    <a:cubicBezTo>
                      <a:pt x="695" y="240"/>
                      <a:pt x="512" y="263"/>
                      <a:pt x="559" y="395"/>
                    </a:cubicBezTo>
                    <a:cubicBezTo>
                      <a:pt x="585" y="481"/>
                      <a:pt x="609" y="481"/>
                      <a:pt x="505" y="591"/>
                    </a:cubicBezTo>
                    <a:cubicBezTo>
                      <a:pt x="470" y="643"/>
                      <a:pt x="470" y="648"/>
                      <a:pt x="406" y="648"/>
                    </a:cubicBezTo>
                    <a:cubicBezTo>
                      <a:pt x="341" y="648"/>
                      <a:pt x="310" y="613"/>
                      <a:pt x="284" y="626"/>
                    </a:cubicBezTo>
                    <a:cubicBezTo>
                      <a:pt x="284" y="626"/>
                      <a:pt x="202" y="687"/>
                      <a:pt x="178" y="715"/>
                    </a:cubicBezTo>
                    <a:cubicBezTo>
                      <a:pt x="155" y="743"/>
                      <a:pt x="88" y="842"/>
                      <a:pt x="70" y="845"/>
                    </a:cubicBezTo>
                    <a:cubicBezTo>
                      <a:pt x="63" y="845"/>
                      <a:pt x="54" y="838"/>
                      <a:pt x="45" y="830"/>
                    </a:cubicBezTo>
                    <a:cubicBezTo>
                      <a:pt x="10" y="839"/>
                      <a:pt x="10" y="839"/>
                      <a:pt x="10" y="839"/>
                    </a:cubicBezTo>
                    <a:cubicBezTo>
                      <a:pt x="10" y="839"/>
                      <a:pt x="0" y="862"/>
                      <a:pt x="69" y="8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24" name="Freeform 1799">
                <a:extLst>
                  <a:ext uri="{FF2B5EF4-FFF2-40B4-BE49-F238E27FC236}">
                    <a16:creationId xmlns:a16="http://schemas.microsoft.com/office/drawing/2014/main" id="{B49BB4B0-CAEE-D47A-C01D-A18405B75065}"/>
                  </a:ext>
                </a:extLst>
              </p:cNvPr>
              <p:cNvSpPr>
                <a:spLocks/>
              </p:cNvSpPr>
              <p:nvPr/>
            </p:nvSpPr>
            <p:spPr bwMode="auto">
              <a:xfrm>
                <a:off x="1067" y="228"/>
                <a:ext cx="286" cy="266"/>
              </a:xfrm>
              <a:custGeom>
                <a:avLst/>
                <a:gdLst>
                  <a:gd name="T0" fmla="*/ 44 w 1294"/>
                  <a:gd name="T1" fmla="*/ 317 h 1201"/>
                  <a:gd name="T2" fmla="*/ 100 w 1294"/>
                  <a:gd name="T3" fmla="*/ 427 h 1201"/>
                  <a:gd name="T4" fmla="*/ 106 w 1294"/>
                  <a:gd name="T5" fmla="*/ 515 h 1201"/>
                  <a:gd name="T6" fmla="*/ 237 w 1294"/>
                  <a:gd name="T7" fmla="*/ 562 h 1201"/>
                  <a:gd name="T8" fmla="*/ 296 w 1294"/>
                  <a:gd name="T9" fmla="*/ 618 h 1201"/>
                  <a:gd name="T10" fmla="*/ 321 w 1294"/>
                  <a:gd name="T11" fmla="*/ 686 h 1201"/>
                  <a:gd name="T12" fmla="*/ 391 w 1294"/>
                  <a:gd name="T13" fmla="*/ 737 h 1201"/>
                  <a:gd name="T14" fmla="*/ 403 w 1294"/>
                  <a:gd name="T15" fmla="*/ 789 h 1201"/>
                  <a:gd name="T16" fmla="*/ 475 w 1294"/>
                  <a:gd name="T17" fmla="*/ 887 h 1201"/>
                  <a:gd name="T18" fmla="*/ 494 w 1294"/>
                  <a:gd name="T19" fmla="*/ 966 h 1201"/>
                  <a:gd name="T20" fmla="*/ 551 w 1294"/>
                  <a:gd name="T21" fmla="*/ 1080 h 1201"/>
                  <a:gd name="T22" fmla="*/ 558 w 1294"/>
                  <a:gd name="T23" fmla="*/ 1103 h 1201"/>
                  <a:gd name="T24" fmla="*/ 644 w 1294"/>
                  <a:gd name="T25" fmla="*/ 1163 h 1201"/>
                  <a:gd name="T26" fmla="*/ 683 w 1294"/>
                  <a:gd name="T27" fmla="*/ 1166 h 1201"/>
                  <a:gd name="T28" fmla="*/ 816 w 1294"/>
                  <a:gd name="T29" fmla="*/ 1200 h 1201"/>
                  <a:gd name="T30" fmla="*/ 842 w 1294"/>
                  <a:gd name="T31" fmla="*/ 1183 h 1201"/>
                  <a:gd name="T32" fmla="*/ 846 w 1294"/>
                  <a:gd name="T33" fmla="*/ 1127 h 1201"/>
                  <a:gd name="T34" fmla="*/ 892 w 1294"/>
                  <a:gd name="T35" fmla="*/ 1156 h 1201"/>
                  <a:gd name="T36" fmla="*/ 960 w 1294"/>
                  <a:gd name="T37" fmla="*/ 1166 h 1201"/>
                  <a:gd name="T38" fmla="*/ 1008 w 1294"/>
                  <a:gd name="T39" fmla="*/ 1196 h 1201"/>
                  <a:gd name="T40" fmla="*/ 1064 w 1294"/>
                  <a:gd name="T41" fmla="*/ 1122 h 1201"/>
                  <a:gd name="T42" fmla="*/ 1011 w 1294"/>
                  <a:gd name="T43" fmla="*/ 983 h 1201"/>
                  <a:gd name="T44" fmla="*/ 1022 w 1294"/>
                  <a:gd name="T45" fmla="*/ 945 h 1201"/>
                  <a:gd name="T46" fmla="*/ 1055 w 1294"/>
                  <a:gd name="T47" fmla="*/ 890 h 1201"/>
                  <a:gd name="T48" fmla="*/ 1067 w 1294"/>
                  <a:gd name="T49" fmla="*/ 834 h 1201"/>
                  <a:gd name="T50" fmla="*/ 1156 w 1294"/>
                  <a:gd name="T51" fmla="*/ 907 h 1201"/>
                  <a:gd name="T52" fmla="*/ 1237 w 1294"/>
                  <a:gd name="T53" fmla="*/ 978 h 1201"/>
                  <a:gd name="T54" fmla="*/ 1253 w 1294"/>
                  <a:gd name="T55" fmla="*/ 907 h 1201"/>
                  <a:gd name="T56" fmla="*/ 1293 w 1294"/>
                  <a:gd name="T57" fmla="*/ 834 h 1201"/>
                  <a:gd name="T58" fmla="*/ 1274 w 1294"/>
                  <a:gd name="T59" fmla="*/ 788 h 1201"/>
                  <a:gd name="T60" fmla="*/ 1238 w 1294"/>
                  <a:gd name="T61" fmla="*/ 756 h 1201"/>
                  <a:gd name="T62" fmla="*/ 1261 w 1294"/>
                  <a:gd name="T63" fmla="*/ 682 h 1201"/>
                  <a:gd name="T64" fmla="*/ 1219 w 1294"/>
                  <a:gd name="T65" fmla="*/ 601 h 1201"/>
                  <a:gd name="T66" fmla="*/ 1138 w 1294"/>
                  <a:gd name="T67" fmla="*/ 534 h 1201"/>
                  <a:gd name="T68" fmla="*/ 1135 w 1294"/>
                  <a:gd name="T69" fmla="*/ 450 h 1201"/>
                  <a:gd name="T70" fmla="*/ 1088 w 1294"/>
                  <a:gd name="T71" fmla="*/ 397 h 1201"/>
                  <a:gd name="T72" fmla="*/ 1136 w 1294"/>
                  <a:gd name="T73" fmla="*/ 328 h 1201"/>
                  <a:gd name="T74" fmla="*/ 1114 w 1294"/>
                  <a:gd name="T75" fmla="*/ 302 h 1201"/>
                  <a:gd name="T76" fmla="*/ 1050 w 1294"/>
                  <a:gd name="T77" fmla="*/ 244 h 1201"/>
                  <a:gd name="T78" fmla="*/ 991 w 1294"/>
                  <a:gd name="T79" fmla="*/ 204 h 1201"/>
                  <a:gd name="T80" fmla="*/ 1026 w 1294"/>
                  <a:gd name="T81" fmla="*/ 195 h 1201"/>
                  <a:gd name="T82" fmla="*/ 988 w 1294"/>
                  <a:gd name="T83" fmla="*/ 160 h 1201"/>
                  <a:gd name="T84" fmla="*/ 928 w 1294"/>
                  <a:gd name="T85" fmla="*/ 142 h 1201"/>
                  <a:gd name="T86" fmla="*/ 928 w 1294"/>
                  <a:gd name="T87" fmla="*/ 11 h 1201"/>
                  <a:gd name="T88" fmla="*/ 593 w 1294"/>
                  <a:gd name="T89" fmla="*/ 283 h 1201"/>
                  <a:gd name="T90" fmla="*/ 556 w 1294"/>
                  <a:gd name="T91" fmla="*/ 445 h 1201"/>
                  <a:gd name="T92" fmla="*/ 166 w 1294"/>
                  <a:gd name="T93" fmla="*/ 73 h 1201"/>
                  <a:gd name="T94" fmla="*/ 73 w 1294"/>
                  <a:gd name="T95" fmla="*/ 218 h 1201"/>
                  <a:gd name="T96" fmla="*/ 1 w 1294"/>
                  <a:gd name="T97" fmla="*/ 291 h 1201"/>
                  <a:gd name="T98" fmla="*/ 44 w 1294"/>
                  <a:gd name="T99" fmla="*/ 317 h 1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294" h="1201">
                    <a:moveTo>
                      <a:pt x="44" y="317"/>
                    </a:moveTo>
                    <a:cubicBezTo>
                      <a:pt x="104" y="317"/>
                      <a:pt x="100" y="382"/>
                      <a:pt x="100" y="427"/>
                    </a:cubicBezTo>
                    <a:cubicBezTo>
                      <a:pt x="100" y="471"/>
                      <a:pt x="83" y="463"/>
                      <a:pt x="106" y="515"/>
                    </a:cubicBezTo>
                    <a:cubicBezTo>
                      <a:pt x="129" y="567"/>
                      <a:pt x="169" y="562"/>
                      <a:pt x="237" y="562"/>
                    </a:cubicBezTo>
                    <a:cubicBezTo>
                      <a:pt x="305" y="562"/>
                      <a:pt x="293" y="584"/>
                      <a:pt x="296" y="618"/>
                    </a:cubicBezTo>
                    <a:cubicBezTo>
                      <a:pt x="299" y="653"/>
                      <a:pt x="301" y="669"/>
                      <a:pt x="321" y="686"/>
                    </a:cubicBezTo>
                    <a:cubicBezTo>
                      <a:pt x="341" y="704"/>
                      <a:pt x="376" y="725"/>
                      <a:pt x="391" y="737"/>
                    </a:cubicBezTo>
                    <a:cubicBezTo>
                      <a:pt x="407" y="748"/>
                      <a:pt x="386" y="766"/>
                      <a:pt x="403" y="789"/>
                    </a:cubicBezTo>
                    <a:cubicBezTo>
                      <a:pt x="420" y="812"/>
                      <a:pt x="426" y="859"/>
                      <a:pt x="475" y="887"/>
                    </a:cubicBezTo>
                    <a:cubicBezTo>
                      <a:pt x="524" y="914"/>
                      <a:pt x="500" y="929"/>
                      <a:pt x="494" y="966"/>
                    </a:cubicBezTo>
                    <a:cubicBezTo>
                      <a:pt x="488" y="1004"/>
                      <a:pt x="517" y="1054"/>
                      <a:pt x="551" y="1080"/>
                    </a:cubicBezTo>
                    <a:cubicBezTo>
                      <a:pt x="561" y="1087"/>
                      <a:pt x="562" y="1095"/>
                      <a:pt x="558" y="1103"/>
                    </a:cubicBezTo>
                    <a:cubicBezTo>
                      <a:pt x="581" y="1134"/>
                      <a:pt x="622" y="1164"/>
                      <a:pt x="644" y="1163"/>
                    </a:cubicBezTo>
                    <a:cubicBezTo>
                      <a:pt x="668" y="1162"/>
                      <a:pt x="664" y="1157"/>
                      <a:pt x="683" y="1166"/>
                    </a:cubicBezTo>
                    <a:cubicBezTo>
                      <a:pt x="703" y="1175"/>
                      <a:pt x="784" y="1199"/>
                      <a:pt x="816" y="1200"/>
                    </a:cubicBezTo>
                    <a:cubicBezTo>
                      <a:pt x="847" y="1201"/>
                      <a:pt x="842" y="1190"/>
                      <a:pt x="842" y="1183"/>
                    </a:cubicBezTo>
                    <a:cubicBezTo>
                      <a:pt x="842" y="1177"/>
                      <a:pt x="840" y="1141"/>
                      <a:pt x="846" y="1127"/>
                    </a:cubicBezTo>
                    <a:cubicBezTo>
                      <a:pt x="851" y="1113"/>
                      <a:pt x="883" y="1144"/>
                      <a:pt x="892" y="1156"/>
                    </a:cubicBezTo>
                    <a:cubicBezTo>
                      <a:pt x="900" y="1168"/>
                      <a:pt x="932" y="1156"/>
                      <a:pt x="960" y="1166"/>
                    </a:cubicBezTo>
                    <a:cubicBezTo>
                      <a:pt x="987" y="1176"/>
                      <a:pt x="996" y="1194"/>
                      <a:pt x="1008" y="1196"/>
                    </a:cubicBezTo>
                    <a:cubicBezTo>
                      <a:pt x="1020" y="1198"/>
                      <a:pt x="1048" y="1161"/>
                      <a:pt x="1064" y="1122"/>
                    </a:cubicBezTo>
                    <a:cubicBezTo>
                      <a:pt x="1080" y="1083"/>
                      <a:pt x="1025" y="1010"/>
                      <a:pt x="1011" y="983"/>
                    </a:cubicBezTo>
                    <a:cubicBezTo>
                      <a:pt x="997" y="956"/>
                      <a:pt x="1009" y="949"/>
                      <a:pt x="1022" y="945"/>
                    </a:cubicBezTo>
                    <a:cubicBezTo>
                      <a:pt x="1077" y="933"/>
                      <a:pt x="1056" y="918"/>
                      <a:pt x="1055" y="890"/>
                    </a:cubicBezTo>
                    <a:cubicBezTo>
                      <a:pt x="1054" y="862"/>
                      <a:pt x="1049" y="848"/>
                      <a:pt x="1067" y="834"/>
                    </a:cubicBezTo>
                    <a:cubicBezTo>
                      <a:pt x="1085" y="820"/>
                      <a:pt x="1141" y="888"/>
                      <a:pt x="1156" y="907"/>
                    </a:cubicBezTo>
                    <a:cubicBezTo>
                      <a:pt x="1171" y="926"/>
                      <a:pt x="1212" y="979"/>
                      <a:pt x="1237" y="978"/>
                    </a:cubicBezTo>
                    <a:cubicBezTo>
                      <a:pt x="1261" y="977"/>
                      <a:pt x="1252" y="933"/>
                      <a:pt x="1253" y="907"/>
                    </a:cubicBezTo>
                    <a:cubicBezTo>
                      <a:pt x="1254" y="881"/>
                      <a:pt x="1291" y="875"/>
                      <a:pt x="1293" y="834"/>
                    </a:cubicBezTo>
                    <a:cubicBezTo>
                      <a:pt x="1294" y="793"/>
                      <a:pt x="1290" y="795"/>
                      <a:pt x="1274" y="788"/>
                    </a:cubicBezTo>
                    <a:cubicBezTo>
                      <a:pt x="1274" y="788"/>
                      <a:pt x="1247" y="777"/>
                      <a:pt x="1238" y="756"/>
                    </a:cubicBezTo>
                    <a:cubicBezTo>
                      <a:pt x="1229" y="734"/>
                      <a:pt x="1256" y="716"/>
                      <a:pt x="1261" y="682"/>
                    </a:cubicBezTo>
                    <a:cubicBezTo>
                      <a:pt x="1267" y="649"/>
                      <a:pt x="1251" y="625"/>
                      <a:pt x="1219" y="601"/>
                    </a:cubicBezTo>
                    <a:cubicBezTo>
                      <a:pt x="1188" y="577"/>
                      <a:pt x="1138" y="534"/>
                      <a:pt x="1138" y="534"/>
                    </a:cubicBezTo>
                    <a:cubicBezTo>
                      <a:pt x="1138" y="534"/>
                      <a:pt x="1141" y="463"/>
                      <a:pt x="1135" y="450"/>
                    </a:cubicBezTo>
                    <a:cubicBezTo>
                      <a:pt x="1128" y="437"/>
                      <a:pt x="1100" y="426"/>
                      <a:pt x="1088" y="397"/>
                    </a:cubicBezTo>
                    <a:cubicBezTo>
                      <a:pt x="1076" y="368"/>
                      <a:pt x="1136" y="328"/>
                      <a:pt x="1136" y="328"/>
                    </a:cubicBezTo>
                    <a:cubicBezTo>
                      <a:pt x="1136" y="328"/>
                      <a:pt x="1123" y="318"/>
                      <a:pt x="1114" y="302"/>
                    </a:cubicBezTo>
                    <a:cubicBezTo>
                      <a:pt x="1056" y="288"/>
                      <a:pt x="1056" y="269"/>
                      <a:pt x="1050" y="244"/>
                    </a:cubicBezTo>
                    <a:cubicBezTo>
                      <a:pt x="981" y="227"/>
                      <a:pt x="991" y="204"/>
                      <a:pt x="991" y="204"/>
                    </a:cubicBezTo>
                    <a:cubicBezTo>
                      <a:pt x="1026" y="195"/>
                      <a:pt x="1026" y="195"/>
                      <a:pt x="1026" y="195"/>
                    </a:cubicBezTo>
                    <a:cubicBezTo>
                      <a:pt x="1011" y="181"/>
                      <a:pt x="996" y="162"/>
                      <a:pt x="988" y="160"/>
                    </a:cubicBezTo>
                    <a:cubicBezTo>
                      <a:pt x="976" y="155"/>
                      <a:pt x="928" y="142"/>
                      <a:pt x="928" y="142"/>
                    </a:cubicBezTo>
                    <a:cubicBezTo>
                      <a:pt x="928" y="11"/>
                      <a:pt x="928" y="11"/>
                      <a:pt x="928" y="11"/>
                    </a:cubicBezTo>
                    <a:cubicBezTo>
                      <a:pt x="928" y="11"/>
                      <a:pt x="699" y="0"/>
                      <a:pt x="593" y="283"/>
                    </a:cubicBezTo>
                    <a:cubicBezTo>
                      <a:pt x="577" y="320"/>
                      <a:pt x="558" y="424"/>
                      <a:pt x="556" y="445"/>
                    </a:cubicBezTo>
                    <a:cubicBezTo>
                      <a:pt x="478" y="367"/>
                      <a:pt x="207" y="84"/>
                      <a:pt x="166" y="73"/>
                    </a:cubicBezTo>
                    <a:cubicBezTo>
                      <a:pt x="149" y="73"/>
                      <a:pt x="99" y="88"/>
                      <a:pt x="73" y="218"/>
                    </a:cubicBezTo>
                    <a:cubicBezTo>
                      <a:pt x="67" y="256"/>
                      <a:pt x="41" y="324"/>
                      <a:pt x="1" y="291"/>
                    </a:cubicBezTo>
                    <a:cubicBezTo>
                      <a:pt x="0" y="305"/>
                      <a:pt x="6" y="317"/>
                      <a:pt x="44" y="3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25" name="Freeform 1800">
                <a:extLst>
                  <a:ext uri="{FF2B5EF4-FFF2-40B4-BE49-F238E27FC236}">
                    <a16:creationId xmlns:a16="http://schemas.microsoft.com/office/drawing/2014/main" id="{C0775DF8-3338-67B7-32E6-4FA63821BCE0}"/>
                  </a:ext>
                </a:extLst>
              </p:cNvPr>
              <p:cNvSpPr>
                <a:spLocks/>
              </p:cNvSpPr>
              <p:nvPr/>
            </p:nvSpPr>
            <p:spPr bwMode="auto">
              <a:xfrm>
                <a:off x="1162" y="383"/>
                <a:ext cx="321" cy="267"/>
              </a:xfrm>
              <a:custGeom>
                <a:avLst/>
                <a:gdLst>
                  <a:gd name="T0" fmla="*/ 1404 w 1450"/>
                  <a:gd name="T1" fmla="*/ 547 h 1211"/>
                  <a:gd name="T2" fmla="*/ 1307 w 1450"/>
                  <a:gd name="T3" fmla="*/ 428 h 1211"/>
                  <a:gd name="T4" fmla="*/ 1207 w 1450"/>
                  <a:gd name="T5" fmla="*/ 297 h 1211"/>
                  <a:gd name="T6" fmla="*/ 1153 w 1450"/>
                  <a:gd name="T7" fmla="*/ 135 h 1211"/>
                  <a:gd name="T8" fmla="*/ 1101 w 1450"/>
                  <a:gd name="T9" fmla="*/ 162 h 1211"/>
                  <a:gd name="T10" fmla="*/ 1067 w 1450"/>
                  <a:gd name="T11" fmla="*/ 160 h 1211"/>
                  <a:gd name="T12" fmla="*/ 914 w 1450"/>
                  <a:gd name="T13" fmla="*/ 18 h 1211"/>
                  <a:gd name="T14" fmla="*/ 844 w 1450"/>
                  <a:gd name="T15" fmla="*/ 88 h 1211"/>
                  <a:gd name="T16" fmla="*/ 863 w 1450"/>
                  <a:gd name="T17" fmla="*/ 134 h 1211"/>
                  <a:gd name="T18" fmla="*/ 823 w 1450"/>
                  <a:gd name="T19" fmla="*/ 207 h 1211"/>
                  <a:gd name="T20" fmla="*/ 807 w 1450"/>
                  <a:gd name="T21" fmla="*/ 278 h 1211"/>
                  <a:gd name="T22" fmla="*/ 726 w 1450"/>
                  <a:gd name="T23" fmla="*/ 207 h 1211"/>
                  <a:gd name="T24" fmla="*/ 637 w 1450"/>
                  <a:gd name="T25" fmla="*/ 134 h 1211"/>
                  <a:gd name="T26" fmla="*/ 625 w 1450"/>
                  <a:gd name="T27" fmla="*/ 190 h 1211"/>
                  <a:gd name="T28" fmla="*/ 592 w 1450"/>
                  <a:gd name="T29" fmla="*/ 245 h 1211"/>
                  <a:gd name="T30" fmla="*/ 581 w 1450"/>
                  <a:gd name="T31" fmla="*/ 283 h 1211"/>
                  <a:gd name="T32" fmla="*/ 634 w 1450"/>
                  <a:gd name="T33" fmla="*/ 422 h 1211"/>
                  <a:gd name="T34" fmla="*/ 578 w 1450"/>
                  <a:gd name="T35" fmla="*/ 496 h 1211"/>
                  <a:gd name="T36" fmla="*/ 530 w 1450"/>
                  <a:gd name="T37" fmla="*/ 466 h 1211"/>
                  <a:gd name="T38" fmla="*/ 462 w 1450"/>
                  <a:gd name="T39" fmla="*/ 456 h 1211"/>
                  <a:gd name="T40" fmla="*/ 416 w 1450"/>
                  <a:gd name="T41" fmla="*/ 427 h 1211"/>
                  <a:gd name="T42" fmla="*/ 412 w 1450"/>
                  <a:gd name="T43" fmla="*/ 483 h 1211"/>
                  <a:gd name="T44" fmla="*/ 386 w 1450"/>
                  <a:gd name="T45" fmla="*/ 500 h 1211"/>
                  <a:gd name="T46" fmla="*/ 253 w 1450"/>
                  <a:gd name="T47" fmla="*/ 466 h 1211"/>
                  <a:gd name="T48" fmla="*/ 214 w 1450"/>
                  <a:gd name="T49" fmla="*/ 463 h 1211"/>
                  <a:gd name="T50" fmla="*/ 128 w 1450"/>
                  <a:gd name="T51" fmla="*/ 403 h 1211"/>
                  <a:gd name="T52" fmla="*/ 39 w 1450"/>
                  <a:gd name="T53" fmla="*/ 461 h 1211"/>
                  <a:gd name="T54" fmla="*/ 85 w 1450"/>
                  <a:gd name="T55" fmla="*/ 599 h 1211"/>
                  <a:gd name="T56" fmla="*/ 70 w 1450"/>
                  <a:gd name="T57" fmla="*/ 684 h 1211"/>
                  <a:gd name="T58" fmla="*/ 30 w 1450"/>
                  <a:gd name="T59" fmla="*/ 695 h 1211"/>
                  <a:gd name="T60" fmla="*/ 149 w 1450"/>
                  <a:gd name="T61" fmla="*/ 773 h 1211"/>
                  <a:gd name="T62" fmla="*/ 271 w 1450"/>
                  <a:gd name="T63" fmla="*/ 797 h 1211"/>
                  <a:gd name="T64" fmla="*/ 326 w 1450"/>
                  <a:gd name="T65" fmla="*/ 787 h 1211"/>
                  <a:gd name="T66" fmla="*/ 386 w 1450"/>
                  <a:gd name="T67" fmla="*/ 769 h 1211"/>
                  <a:gd name="T68" fmla="*/ 477 w 1450"/>
                  <a:gd name="T69" fmla="*/ 737 h 1211"/>
                  <a:gd name="T70" fmla="*/ 518 w 1450"/>
                  <a:gd name="T71" fmla="*/ 829 h 1211"/>
                  <a:gd name="T72" fmla="*/ 470 w 1450"/>
                  <a:gd name="T73" fmla="*/ 993 h 1211"/>
                  <a:gd name="T74" fmla="*/ 504 w 1450"/>
                  <a:gd name="T75" fmla="*/ 1119 h 1211"/>
                  <a:gd name="T76" fmla="*/ 677 w 1450"/>
                  <a:gd name="T77" fmla="*/ 1185 h 1211"/>
                  <a:gd name="T78" fmla="*/ 738 w 1450"/>
                  <a:gd name="T79" fmla="*/ 1152 h 1211"/>
                  <a:gd name="T80" fmla="*/ 830 w 1450"/>
                  <a:gd name="T81" fmla="*/ 1112 h 1211"/>
                  <a:gd name="T82" fmla="*/ 908 w 1450"/>
                  <a:gd name="T83" fmla="*/ 1138 h 1211"/>
                  <a:gd name="T84" fmla="*/ 962 w 1450"/>
                  <a:gd name="T85" fmla="*/ 1117 h 1211"/>
                  <a:gd name="T86" fmla="*/ 976 w 1450"/>
                  <a:gd name="T87" fmla="*/ 1148 h 1211"/>
                  <a:gd name="T88" fmla="*/ 1028 w 1450"/>
                  <a:gd name="T89" fmla="*/ 1209 h 1211"/>
                  <a:gd name="T90" fmla="*/ 1075 w 1450"/>
                  <a:gd name="T91" fmla="*/ 1211 h 1211"/>
                  <a:gd name="T92" fmla="*/ 1119 w 1450"/>
                  <a:gd name="T93" fmla="*/ 1184 h 1211"/>
                  <a:gd name="T94" fmla="*/ 1171 w 1450"/>
                  <a:gd name="T95" fmla="*/ 1140 h 1211"/>
                  <a:gd name="T96" fmla="*/ 1183 w 1450"/>
                  <a:gd name="T97" fmla="*/ 928 h 1211"/>
                  <a:gd name="T98" fmla="*/ 1287 w 1450"/>
                  <a:gd name="T99" fmla="*/ 837 h 1211"/>
                  <a:gd name="T100" fmla="*/ 1304 w 1450"/>
                  <a:gd name="T101" fmla="*/ 778 h 1211"/>
                  <a:gd name="T102" fmla="*/ 1351 w 1450"/>
                  <a:gd name="T103" fmla="*/ 752 h 1211"/>
                  <a:gd name="T104" fmla="*/ 1434 w 1450"/>
                  <a:gd name="T105" fmla="*/ 661 h 1211"/>
                  <a:gd name="T106" fmla="*/ 1450 w 1450"/>
                  <a:gd name="T107" fmla="*/ 605 h 1211"/>
                  <a:gd name="T108" fmla="*/ 1404 w 1450"/>
                  <a:gd name="T109" fmla="*/ 547 h 121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450" h="1211">
                    <a:moveTo>
                      <a:pt x="1404" y="547"/>
                    </a:moveTo>
                    <a:cubicBezTo>
                      <a:pt x="1384" y="511"/>
                      <a:pt x="1349" y="437"/>
                      <a:pt x="1307" y="428"/>
                    </a:cubicBezTo>
                    <a:cubicBezTo>
                      <a:pt x="1303" y="376"/>
                      <a:pt x="1310" y="353"/>
                      <a:pt x="1207" y="297"/>
                    </a:cubicBezTo>
                    <a:cubicBezTo>
                      <a:pt x="1170" y="273"/>
                      <a:pt x="1137" y="241"/>
                      <a:pt x="1153" y="135"/>
                    </a:cubicBezTo>
                    <a:cubicBezTo>
                      <a:pt x="1120" y="138"/>
                      <a:pt x="1117" y="146"/>
                      <a:pt x="1101" y="162"/>
                    </a:cubicBezTo>
                    <a:cubicBezTo>
                      <a:pt x="1085" y="178"/>
                      <a:pt x="1081" y="169"/>
                      <a:pt x="1067" y="160"/>
                    </a:cubicBezTo>
                    <a:cubicBezTo>
                      <a:pt x="1053" y="150"/>
                      <a:pt x="950" y="36"/>
                      <a:pt x="914" y="18"/>
                    </a:cubicBezTo>
                    <a:cubicBezTo>
                      <a:pt x="879" y="0"/>
                      <a:pt x="846" y="19"/>
                      <a:pt x="844" y="88"/>
                    </a:cubicBezTo>
                    <a:cubicBezTo>
                      <a:pt x="860" y="95"/>
                      <a:pt x="864" y="93"/>
                      <a:pt x="863" y="134"/>
                    </a:cubicBezTo>
                    <a:cubicBezTo>
                      <a:pt x="861" y="175"/>
                      <a:pt x="824" y="181"/>
                      <a:pt x="823" y="207"/>
                    </a:cubicBezTo>
                    <a:cubicBezTo>
                      <a:pt x="822" y="233"/>
                      <a:pt x="831" y="277"/>
                      <a:pt x="807" y="278"/>
                    </a:cubicBezTo>
                    <a:cubicBezTo>
                      <a:pt x="782" y="279"/>
                      <a:pt x="741" y="226"/>
                      <a:pt x="726" y="207"/>
                    </a:cubicBezTo>
                    <a:cubicBezTo>
                      <a:pt x="711" y="188"/>
                      <a:pt x="655" y="120"/>
                      <a:pt x="637" y="134"/>
                    </a:cubicBezTo>
                    <a:cubicBezTo>
                      <a:pt x="619" y="148"/>
                      <a:pt x="624" y="162"/>
                      <a:pt x="625" y="190"/>
                    </a:cubicBezTo>
                    <a:cubicBezTo>
                      <a:pt x="626" y="218"/>
                      <a:pt x="647" y="233"/>
                      <a:pt x="592" y="245"/>
                    </a:cubicBezTo>
                    <a:cubicBezTo>
                      <a:pt x="579" y="249"/>
                      <a:pt x="567" y="256"/>
                      <a:pt x="581" y="283"/>
                    </a:cubicBezTo>
                    <a:cubicBezTo>
                      <a:pt x="595" y="310"/>
                      <a:pt x="650" y="383"/>
                      <a:pt x="634" y="422"/>
                    </a:cubicBezTo>
                    <a:cubicBezTo>
                      <a:pt x="618" y="461"/>
                      <a:pt x="590" y="498"/>
                      <a:pt x="578" y="496"/>
                    </a:cubicBezTo>
                    <a:cubicBezTo>
                      <a:pt x="566" y="494"/>
                      <a:pt x="557" y="476"/>
                      <a:pt x="530" y="466"/>
                    </a:cubicBezTo>
                    <a:cubicBezTo>
                      <a:pt x="502" y="456"/>
                      <a:pt x="470" y="468"/>
                      <a:pt x="462" y="456"/>
                    </a:cubicBezTo>
                    <a:cubicBezTo>
                      <a:pt x="453" y="444"/>
                      <a:pt x="421" y="413"/>
                      <a:pt x="416" y="427"/>
                    </a:cubicBezTo>
                    <a:cubicBezTo>
                      <a:pt x="410" y="441"/>
                      <a:pt x="412" y="477"/>
                      <a:pt x="412" y="483"/>
                    </a:cubicBezTo>
                    <a:cubicBezTo>
                      <a:pt x="412" y="490"/>
                      <a:pt x="417" y="501"/>
                      <a:pt x="386" y="500"/>
                    </a:cubicBezTo>
                    <a:cubicBezTo>
                      <a:pt x="354" y="499"/>
                      <a:pt x="273" y="475"/>
                      <a:pt x="253" y="466"/>
                    </a:cubicBezTo>
                    <a:cubicBezTo>
                      <a:pt x="234" y="457"/>
                      <a:pt x="238" y="462"/>
                      <a:pt x="214" y="463"/>
                    </a:cubicBezTo>
                    <a:cubicBezTo>
                      <a:pt x="192" y="464"/>
                      <a:pt x="151" y="434"/>
                      <a:pt x="128" y="403"/>
                    </a:cubicBezTo>
                    <a:cubicBezTo>
                      <a:pt x="116" y="424"/>
                      <a:pt x="67" y="446"/>
                      <a:pt x="39" y="461"/>
                    </a:cubicBezTo>
                    <a:cubicBezTo>
                      <a:pt x="0" y="481"/>
                      <a:pt x="36" y="527"/>
                      <a:pt x="85" y="599"/>
                    </a:cubicBezTo>
                    <a:cubicBezTo>
                      <a:pt x="134" y="671"/>
                      <a:pt x="106" y="680"/>
                      <a:pt x="70" y="684"/>
                    </a:cubicBezTo>
                    <a:cubicBezTo>
                      <a:pt x="51" y="687"/>
                      <a:pt x="40" y="689"/>
                      <a:pt x="30" y="695"/>
                    </a:cubicBezTo>
                    <a:cubicBezTo>
                      <a:pt x="57" y="711"/>
                      <a:pt x="128" y="752"/>
                      <a:pt x="149" y="773"/>
                    </a:cubicBezTo>
                    <a:cubicBezTo>
                      <a:pt x="176" y="800"/>
                      <a:pt x="246" y="818"/>
                      <a:pt x="271" y="797"/>
                    </a:cubicBezTo>
                    <a:cubicBezTo>
                      <a:pt x="295" y="775"/>
                      <a:pt x="293" y="761"/>
                      <a:pt x="326" y="787"/>
                    </a:cubicBezTo>
                    <a:cubicBezTo>
                      <a:pt x="349" y="798"/>
                      <a:pt x="363" y="791"/>
                      <a:pt x="386" y="769"/>
                    </a:cubicBezTo>
                    <a:cubicBezTo>
                      <a:pt x="408" y="746"/>
                      <a:pt x="437" y="716"/>
                      <a:pt x="477" y="737"/>
                    </a:cubicBezTo>
                    <a:cubicBezTo>
                      <a:pt x="517" y="757"/>
                      <a:pt x="548" y="786"/>
                      <a:pt x="518" y="829"/>
                    </a:cubicBezTo>
                    <a:cubicBezTo>
                      <a:pt x="488" y="872"/>
                      <a:pt x="470" y="931"/>
                      <a:pt x="470" y="993"/>
                    </a:cubicBezTo>
                    <a:cubicBezTo>
                      <a:pt x="470" y="1056"/>
                      <a:pt x="461" y="1096"/>
                      <a:pt x="504" y="1119"/>
                    </a:cubicBezTo>
                    <a:cubicBezTo>
                      <a:pt x="547" y="1143"/>
                      <a:pt x="655" y="1185"/>
                      <a:pt x="677" y="1185"/>
                    </a:cubicBezTo>
                    <a:cubicBezTo>
                      <a:pt x="698" y="1185"/>
                      <a:pt x="723" y="1200"/>
                      <a:pt x="738" y="1152"/>
                    </a:cubicBezTo>
                    <a:cubicBezTo>
                      <a:pt x="753" y="1105"/>
                      <a:pt x="799" y="1104"/>
                      <a:pt x="830" y="1112"/>
                    </a:cubicBezTo>
                    <a:cubicBezTo>
                      <a:pt x="861" y="1119"/>
                      <a:pt x="878" y="1144"/>
                      <a:pt x="908" y="1138"/>
                    </a:cubicBezTo>
                    <a:cubicBezTo>
                      <a:pt x="938" y="1133"/>
                      <a:pt x="958" y="1120"/>
                      <a:pt x="962" y="1117"/>
                    </a:cubicBezTo>
                    <a:cubicBezTo>
                      <a:pt x="967" y="1114"/>
                      <a:pt x="972" y="1117"/>
                      <a:pt x="976" y="1148"/>
                    </a:cubicBezTo>
                    <a:cubicBezTo>
                      <a:pt x="981" y="1179"/>
                      <a:pt x="976" y="1208"/>
                      <a:pt x="1028" y="1209"/>
                    </a:cubicBezTo>
                    <a:cubicBezTo>
                      <a:pt x="1072" y="1210"/>
                      <a:pt x="1075" y="1211"/>
                      <a:pt x="1075" y="1211"/>
                    </a:cubicBezTo>
                    <a:cubicBezTo>
                      <a:pt x="1076" y="1211"/>
                      <a:pt x="1101" y="1190"/>
                      <a:pt x="1119" y="1184"/>
                    </a:cubicBezTo>
                    <a:cubicBezTo>
                      <a:pt x="1138" y="1177"/>
                      <a:pt x="1171" y="1185"/>
                      <a:pt x="1171" y="1140"/>
                    </a:cubicBezTo>
                    <a:cubicBezTo>
                      <a:pt x="1171" y="1094"/>
                      <a:pt x="1147" y="961"/>
                      <a:pt x="1183" y="928"/>
                    </a:cubicBezTo>
                    <a:cubicBezTo>
                      <a:pt x="1218" y="895"/>
                      <a:pt x="1270" y="861"/>
                      <a:pt x="1287" y="837"/>
                    </a:cubicBezTo>
                    <a:cubicBezTo>
                      <a:pt x="1304" y="812"/>
                      <a:pt x="1304" y="782"/>
                      <a:pt x="1304" y="778"/>
                    </a:cubicBezTo>
                    <a:cubicBezTo>
                      <a:pt x="1304" y="773"/>
                      <a:pt x="1313" y="758"/>
                      <a:pt x="1351" y="752"/>
                    </a:cubicBezTo>
                    <a:cubicBezTo>
                      <a:pt x="1390" y="745"/>
                      <a:pt x="1434" y="715"/>
                      <a:pt x="1434" y="661"/>
                    </a:cubicBezTo>
                    <a:cubicBezTo>
                      <a:pt x="1434" y="608"/>
                      <a:pt x="1450" y="605"/>
                      <a:pt x="1450" y="605"/>
                    </a:cubicBezTo>
                    <a:cubicBezTo>
                      <a:pt x="1450" y="605"/>
                      <a:pt x="1424" y="582"/>
                      <a:pt x="1404" y="5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26" name="Freeform 1801">
                <a:extLst>
                  <a:ext uri="{FF2B5EF4-FFF2-40B4-BE49-F238E27FC236}">
                    <a16:creationId xmlns:a16="http://schemas.microsoft.com/office/drawing/2014/main" id="{2E209D8D-A630-A09C-01C0-39495C4E992E}"/>
                  </a:ext>
                </a:extLst>
              </p:cNvPr>
              <p:cNvSpPr>
                <a:spLocks/>
              </p:cNvSpPr>
              <p:nvPr/>
            </p:nvSpPr>
            <p:spPr bwMode="auto">
              <a:xfrm>
                <a:off x="1399" y="544"/>
                <a:ext cx="158" cy="221"/>
              </a:xfrm>
              <a:custGeom>
                <a:avLst/>
                <a:gdLst>
                  <a:gd name="T0" fmla="*/ 156 w 718"/>
                  <a:gd name="T1" fmla="*/ 833 h 999"/>
                  <a:gd name="T2" fmla="*/ 287 w 718"/>
                  <a:gd name="T3" fmla="*/ 908 h 999"/>
                  <a:gd name="T4" fmla="*/ 382 w 718"/>
                  <a:gd name="T5" fmla="*/ 966 h 999"/>
                  <a:gd name="T6" fmla="*/ 441 w 718"/>
                  <a:gd name="T7" fmla="*/ 955 h 999"/>
                  <a:gd name="T8" fmla="*/ 534 w 718"/>
                  <a:gd name="T9" fmla="*/ 999 h 999"/>
                  <a:gd name="T10" fmla="*/ 611 w 718"/>
                  <a:gd name="T11" fmla="*/ 966 h 999"/>
                  <a:gd name="T12" fmla="*/ 594 w 718"/>
                  <a:gd name="T13" fmla="*/ 897 h 999"/>
                  <a:gd name="T14" fmla="*/ 599 w 718"/>
                  <a:gd name="T15" fmla="*/ 896 h 999"/>
                  <a:gd name="T16" fmla="*/ 587 w 718"/>
                  <a:gd name="T17" fmla="*/ 819 h 999"/>
                  <a:gd name="T18" fmla="*/ 569 w 718"/>
                  <a:gd name="T19" fmla="*/ 691 h 999"/>
                  <a:gd name="T20" fmla="*/ 605 w 718"/>
                  <a:gd name="T21" fmla="*/ 640 h 999"/>
                  <a:gd name="T22" fmla="*/ 612 w 718"/>
                  <a:gd name="T23" fmla="*/ 576 h 999"/>
                  <a:gd name="T24" fmla="*/ 605 w 718"/>
                  <a:gd name="T25" fmla="*/ 532 h 999"/>
                  <a:gd name="T26" fmla="*/ 658 w 718"/>
                  <a:gd name="T27" fmla="*/ 509 h 999"/>
                  <a:gd name="T28" fmla="*/ 718 w 718"/>
                  <a:gd name="T29" fmla="*/ 485 h 999"/>
                  <a:gd name="T30" fmla="*/ 709 w 718"/>
                  <a:gd name="T31" fmla="*/ 425 h 999"/>
                  <a:gd name="T32" fmla="*/ 665 w 718"/>
                  <a:gd name="T33" fmla="*/ 395 h 999"/>
                  <a:gd name="T34" fmla="*/ 615 w 718"/>
                  <a:gd name="T35" fmla="*/ 333 h 999"/>
                  <a:gd name="T36" fmla="*/ 586 w 718"/>
                  <a:gd name="T37" fmla="*/ 289 h 999"/>
                  <a:gd name="T38" fmla="*/ 587 w 718"/>
                  <a:gd name="T39" fmla="*/ 281 h 999"/>
                  <a:gd name="T40" fmla="*/ 570 w 718"/>
                  <a:gd name="T41" fmla="*/ 272 h 999"/>
                  <a:gd name="T42" fmla="*/ 550 w 718"/>
                  <a:gd name="T43" fmla="*/ 232 h 999"/>
                  <a:gd name="T44" fmla="*/ 525 w 718"/>
                  <a:gd name="T45" fmla="*/ 202 h 999"/>
                  <a:gd name="T46" fmla="*/ 514 w 718"/>
                  <a:gd name="T47" fmla="*/ 147 h 999"/>
                  <a:gd name="T48" fmla="*/ 469 w 718"/>
                  <a:gd name="T49" fmla="*/ 141 h 999"/>
                  <a:gd name="T50" fmla="*/ 442 w 718"/>
                  <a:gd name="T51" fmla="*/ 105 h 999"/>
                  <a:gd name="T52" fmla="*/ 488 w 718"/>
                  <a:gd name="T53" fmla="*/ 73 h 999"/>
                  <a:gd name="T54" fmla="*/ 432 w 718"/>
                  <a:gd name="T55" fmla="*/ 27 h 999"/>
                  <a:gd name="T56" fmla="*/ 344 w 718"/>
                  <a:gd name="T57" fmla="*/ 9 h 999"/>
                  <a:gd name="T58" fmla="*/ 331 w 718"/>
                  <a:gd name="T59" fmla="*/ 0 h 999"/>
                  <a:gd name="T60" fmla="*/ 281 w 718"/>
                  <a:gd name="T61" fmla="*/ 23 h 999"/>
                  <a:gd name="T62" fmla="*/ 234 w 718"/>
                  <a:gd name="T63" fmla="*/ 49 h 999"/>
                  <a:gd name="T64" fmla="*/ 217 w 718"/>
                  <a:gd name="T65" fmla="*/ 108 h 999"/>
                  <a:gd name="T66" fmla="*/ 113 w 718"/>
                  <a:gd name="T67" fmla="*/ 199 h 999"/>
                  <a:gd name="T68" fmla="*/ 101 w 718"/>
                  <a:gd name="T69" fmla="*/ 411 h 999"/>
                  <a:gd name="T70" fmla="*/ 49 w 718"/>
                  <a:gd name="T71" fmla="*/ 455 h 999"/>
                  <a:gd name="T72" fmla="*/ 5 w 718"/>
                  <a:gd name="T73" fmla="*/ 482 h 999"/>
                  <a:gd name="T74" fmla="*/ 0 w 718"/>
                  <a:gd name="T75" fmla="*/ 482 h 999"/>
                  <a:gd name="T76" fmla="*/ 18 w 718"/>
                  <a:gd name="T77" fmla="*/ 540 h 999"/>
                  <a:gd name="T78" fmla="*/ 29 w 718"/>
                  <a:gd name="T79" fmla="*/ 610 h 999"/>
                  <a:gd name="T80" fmla="*/ 53 w 718"/>
                  <a:gd name="T81" fmla="*/ 699 h 999"/>
                  <a:gd name="T82" fmla="*/ 91 w 718"/>
                  <a:gd name="T83" fmla="*/ 749 h 999"/>
                  <a:gd name="T84" fmla="*/ 156 w 718"/>
                  <a:gd name="T85" fmla="*/ 833 h 9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718" h="999">
                    <a:moveTo>
                      <a:pt x="156" y="833"/>
                    </a:moveTo>
                    <a:cubicBezTo>
                      <a:pt x="179" y="872"/>
                      <a:pt x="229" y="883"/>
                      <a:pt x="287" y="908"/>
                    </a:cubicBezTo>
                    <a:cubicBezTo>
                      <a:pt x="344" y="933"/>
                      <a:pt x="358" y="963"/>
                      <a:pt x="382" y="966"/>
                    </a:cubicBezTo>
                    <a:cubicBezTo>
                      <a:pt x="405" y="969"/>
                      <a:pt x="405" y="958"/>
                      <a:pt x="441" y="955"/>
                    </a:cubicBezTo>
                    <a:cubicBezTo>
                      <a:pt x="477" y="952"/>
                      <a:pt x="534" y="999"/>
                      <a:pt x="534" y="999"/>
                    </a:cubicBezTo>
                    <a:cubicBezTo>
                      <a:pt x="534" y="999"/>
                      <a:pt x="611" y="978"/>
                      <a:pt x="611" y="966"/>
                    </a:cubicBezTo>
                    <a:cubicBezTo>
                      <a:pt x="611" y="953"/>
                      <a:pt x="594" y="897"/>
                      <a:pt x="594" y="897"/>
                    </a:cubicBezTo>
                    <a:cubicBezTo>
                      <a:pt x="594" y="897"/>
                      <a:pt x="596" y="897"/>
                      <a:pt x="599" y="896"/>
                    </a:cubicBezTo>
                    <a:cubicBezTo>
                      <a:pt x="594" y="872"/>
                      <a:pt x="590" y="846"/>
                      <a:pt x="587" y="819"/>
                    </a:cubicBezTo>
                    <a:cubicBezTo>
                      <a:pt x="578" y="721"/>
                      <a:pt x="575" y="713"/>
                      <a:pt x="569" y="691"/>
                    </a:cubicBezTo>
                    <a:cubicBezTo>
                      <a:pt x="562" y="670"/>
                      <a:pt x="597" y="649"/>
                      <a:pt x="605" y="640"/>
                    </a:cubicBezTo>
                    <a:cubicBezTo>
                      <a:pt x="612" y="631"/>
                      <a:pt x="637" y="596"/>
                      <a:pt x="612" y="576"/>
                    </a:cubicBezTo>
                    <a:cubicBezTo>
                      <a:pt x="587" y="556"/>
                      <a:pt x="597" y="561"/>
                      <a:pt x="605" y="532"/>
                    </a:cubicBezTo>
                    <a:cubicBezTo>
                      <a:pt x="612" y="504"/>
                      <a:pt x="639" y="503"/>
                      <a:pt x="658" y="509"/>
                    </a:cubicBezTo>
                    <a:cubicBezTo>
                      <a:pt x="668" y="513"/>
                      <a:pt x="696" y="498"/>
                      <a:pt x="718" y="485"/>
                    </a:cubicBezTo>
                    <a:cubicBezTo>
                      <a:pt x="713" y="463"/>
                      <a:pt x="710" y="442"/>
                      <a:pt x="709" y="425"/>
                    </a:cubicBezTo>
                    <a:cubicBezTo>
                      <a:pt x="707" y="377"/>
                      <a:pt x="701" y="387"/>
                      <a:pt x="665" y="395"/>
                    </a:cubicBezTo>
                    <a:cubicBezTo>
                      <a:pt x="629" y="403"/>
                      <a:pt x="623" y="364"/>
                      <a:pt x="615" y="333"/>
                    </a:cubicBezTo>
                    <a:cubicBezTo>
                      <a:pt x="608" y="302"/>
                      <a:pt x="600" y="299"/>
                      <a:pt x="586" y="289"/>
                    </a:cubicBezTo>
                    <a:cubicBezTo>
                      <a:pt x="586" y="287"/>
                      <a:pt x="586" y="284"/>
                      <a:pt x="587" y="281"/>
                    </a:cubicBezTo>
                    <a:cubicBezTo>
                      <a:pt x="570" y="272"/>
                      <a:pt x="570" y="272"/>
                      <a:pt x="570" y="272"/>
                    </a:cubicBezTo>
                    <a:cubicBezTo>
                      <a:pt x="550" y="232"/>
                      <a:pt x="550" y="232"/>
                      <a:pt x="550" y="232"/>
                    </a:cubicBezTo>
                    <a:cubicBezTo>
                      <a:pt x="525" y="202"/>
                      <a:pt x="525" y="202"/>
                      <a:pt x="525" y="202"/>
                    </a:cubicBezTo>
                    <a:cubicBezTo>
                      <a:pt x="514" y="147"/>
                      <a:pt x="514" y="147"/>
                      <a:pt x="514" y="147"/>
                    </a:cubicBezTo>
                    <a:cubicBezTo>
                      <a:pt x="469" y="141"/>
                      <a:pt x="469" y="141"/>
                      <a:pt x="469" y="141"/>
                    </a:cubicBezTo>
                    <a:cubicBezTo>
                      <a:pt x="469" y="141"/>
                      <a:pt x="441" y="115"/>
                      <a:pt x="442" y="105"/>
                    </a:cubicBezTo>
                    <a:cubicBezTo>
                      <a:pt x="444" y="96"/>
                      <a:pt x="477" y="76"/>
                      <a:pt x="488" y="73"/>
                    </a:cubicBezTo>
                    <a:cubicBezTo>
                      <a:pt x="499" y="69"/>
                      <a:pt x="442" y="40"/>
                      <a:pt x="432" y="27"/>
                    </a:cubicBezTo>
                    <a:cubicBezTo>
                      <a:pt x="421" y="15"/>
                      <a:pt x="344" y="9"/>
                      <a:pt x="344" y="9"/>
                    </a:cubicBezTo>
                    <a:cubicBezTo>
                      <a:pt x="331" y="0"/>
                      <a:pt x="331" y="0"/>
                      <a:pt x="331" y="0"/>
                    </a:cubicBezTo>
                    <a:cubicBezTo>
                      <a:pt x="317" y="12"/>
                      <a:pt x="298" y="20"/>
                      <a:pt x="281" y="23"/>
                    </a:cubicBezTo>
                    <a:cubicBezTo>
                      <a:pt x="243" y="29"/>
                      <a:pt x="234" y="44"/>
                      <a:pt x="234" y="49"/>
                    </a:cubicBezTo>
                    <a:cubicBezTo>
                      <a:pt x="234" y="53"/>
                      <a:pt x="234" y="83"/>
                      <a:pt x="217" y="108"/>
                    </a:cubicBezTo>
                    <a:cubicBezTo>
                      <a:pt x="200" y="132"/>
                      <a:pt x="148" y="166"/>
                      <a:pt x="113" y="199"/>
                    </a:cubicBezTo>
                    <a:cubicBezTo>
                      <a:pt x="77" y="232"/>
                      <a:pt x="101" y="365"/>
                      <a:pt x="101" y="411"/>
                    </a:cubicBezTo>
                    <a:cubicBezTo>
                      <a:pt x="101" y="456"/>
                      <a:pt x="68" y="448"/>
                      <a:pt x="49" y="455"/>
                    </a:cubicBezTo>
                    <a:cubicBezTo>
                      <a:pt x="31" y="461"/>
                      <a:pt x="6" y="482"/>
                      <a:pt x="5" y="482"/>
                    </a:cubicBezTo>
                    <a:cubicBezTo>
                      <a:pt x="5" y="482"/>
                      <a:pt x="5" y="482"/>
                      <a:pt x="0" y="482"/>
                    </a:cubicBezTo>
                    <a:cubicBezTo>
                      <a:pt x="7" y="507"/>
                      <a:pt x="14" y="530"/>
                      <a:pt x="18" y="540"/>
                    </a:cubicBezTo>
                    <a:cubicBezTo>
                      <a:pt x="29" y="567"/>
                      <a:pt x="29" y="579"/>
                      <a:pt x="29" y="610"/>
                    </a:cubicBezTo>
                    <a:cubicBezTo>
                      <a:pt x="29" y="642"/>
                      <a:pt x="32" y="673"/>
                      <a:pt x="53" y="699"/>
                    </a:cubicBezTo>
                    <a:cubicBezTo>
                      <a:pt x="70" y="721"/>
                      <a:pt x="84" y="731"/>
                      <a:pt x="91" y="749"/>
                    </a:cubicBezTo>
                    <a:cubicBezTo>
                      <a:pt x="123" y="753"/>
                      <a:pt x="133" y="795"/>
                      <a:pt x="156" y="8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27" name="Freeform 1802">
                <a:extLst>
                  <a:ext uri="{FF2B5EF4-FFF2-40B4-BE49-F238E27FC236}">
                    <a16:creationId xmlns:a16="http://schemas.microsoft.com/office/drawing/2014/main" id="{CFC6AD0C-6BAA-DA99-EA17-A3D136407E8B}"/>
                  </a:ext>
                </a:extLst>
              </p:cNvPr>
              <p:cNvSpPr>
                <a:spLocks/>
              </p:cNvSpPr>
              <p:nvPr/>
            </p:nvSpPr>
            <p:spPr bwMode="auto">
              <a:xfrm>
                <a:off x="1528" y="583"/>
                <a:ext cx="128" cy="131"/>
              </a:xfrm>
              <a:custGeom>
                <a:avLst/>
                <a:gdLst>
                  <a:gd name="T0" fmla="*/ 441 w 577"/>
                  <a:gd name="T1" fmla="*/ 165 h 592"/>
                  <a:gd name="T2" fmla="*/ 324 w 577"/>
                  <a:gd name="T3" fmla="*/ 34 h 592"/>
                  <a:gd name="T4" fmla="*/ 291 w 577"/>
                  <a:gd name="T5" fmla="*/ 0 h 592"/>
                  <a:gd name="T6" fmla="*/ 254 w 577"/>
                  <a:gd name="T7" fmla="*/ 35 h 592"/>
                  <a:gd name="T8" fmla="*/ 156 w 577"/>
                  <a:gd name="T9" fmla="*/ 79 h 592"/>
                  <a:gd name="T10" fmla="*/ 51 w 577"/>
                  <a:gd name="T11" fmla="*/ 31 h 592"/>
                  <a:gd name="T12" fmla="*/ 0 w 577"/>
                  <a:gd name="T13" fmla="*/ 113 h 592"/>
                  <a:gd name="T14" fmla="*/ 29 w 577"/>
                  <a:gd name="T15" fmla="*/ 157 h 592"/>
                  <a:gd name="T16" fmla="*/ 79 w 577"/>
                  <a:gd name="T17" fmla="*/ 219 h 592"/>
                  <a:gd name="T18" fmla="*/ 123 w 577"/>
                  <a:gd name="T19" fmla="*/ 249 h 592"/>
                  <a:gd name="T20" fmla="*/ 156 w 577"/>
                  <a:gd name="T21" fmla="*/ 416 h 592"/>
                  <a:gd name="T22" fmla="*/ 213 w 577"/>
                  <a:gd name="T23" fmla="*/ 501 h 592"/>
                  <a:gd name="T24" fmla="*/ 372 w 577"/>
                  <a:gd name="T25" fmla="*/ 515 h 592"/>
                  <a:gd name="T26" fmla="*/ 478 w 577"/>
                  <a:gd name="T27" fmla="*/ 589 h 592"/>
                  <a:gd name="T28" fmla="*/ 525 w 577"/>
                  <a:gd name="T29" fmla="*/ 551 h 592"/>
                  <a:gd name="T30" fmla="*/ 566 w 577"/>
                  <a:gd name="T31" fmla="*/ 491 h 592"/>
                  <a:gd name="T32" fmla="*/ 527 w 577"/>
                  <a:gd name="T33" fmla="*/ 413 h 592"/>
                  <a:gd name="T34" fmla="*/ 534 w 577"/>
                  <a:gd name="T35" fmla="*/ 335 h 592"/>
                  <a:gd name="T36" fmla="*/ 545 w 577"/>
                  <a:gd name="T37" fmla="*/ 269 h 592"/>
                  <a:gd name="T38" fmla="*/ 441 w 577"/>
                  <a:gd name="T39" fmla="*/ 165 h 5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77" h="592">
                    <a:moveTo>
                      <a:pt x="441" y="165"/>
                    </a:moveTo>
                    <a:cubicBezTo>
                      <a:pt x="419" y="141"/>
                      <a:pt x="344" y="59"/>
                      <a:pt x="324" y="34"/>
                    </a:cubicBezTo>
                    <a:cubicBezTo>
                      <a:pt x="317" y="26"/>
                      <a:pt x="305" y="14"/>
                      <a:pt x="291" y="0"/>
                    </a:cubicBezTo>
                    <a:cubicBezTo>
                      <a:pt x="283" y="11"/>
                      <a:pt x="271" y="24"/>
                      <a:pt x="254" y="35"/>
                    </a:cubicBezTo>
                    <a:cubicBezTo>
                      <a:pt x="220" y="59"/>
                      <a:pt x="185" y="95"/>
                      <a:pt x="156" y="79"/>
                    </a:cubicBezTo>
                    <a:cubicBezTo>
                      <a:pt x="126" y="63"/>
                      <a:pt x="64" y="20"/>
                      <a:pt x="51" y="31"/>
                    </a:cubicBezTo>
                    <a:cubicBezTo>
                      <a:pt x="39" y="42"/>
                      <a:pt x="0" y="85"/>
                      <a:pt x="0" y="113"/>
                    </a:cubicBezTo>
                    <a:cubicBezTo>
                      <a:pt x="14" y="123"/>
                      <a:pt x="22" y="126"/>
                      <a:pt x="29" y="157"/>
                    </a:cubicBezTo>
                    <a:cubicBezTo>
                      <a:pt x="37" y="188"/>
                      <a:pt x="43" y="227"/>
                      <a:pt x="79" y="219"/>
                    </a:cubicBezTo>
                    <a:cubicBezTo>
                      <a:pt x="115" y="211"/>
                      <a:pt x="121" y="201"/>
                      <a:pt x="123" y="249"/>
                    </a:cubicBezTo>
                    <a:cubicBezTo>
                      <a:pt x="125" y="297"/>
                      <a:pt x="153" y="381"/>
                      <a:pt x="156" y="416"/>
                    </a:cubicBezTo>
                    <a:cubicBezTo>
                      <a:pt x="159" y="450"/>
                      <a:pt x="153" y="497"/>
                      <a:pt x="213" y="501"/>
                    </a:cubicBezTo>
                    <a:cubicBezTo>
                      <a:pt x="274" y="506"/>
                      <a:pt x="346" y="492"/>
                      <a:pt x="372" y="515"/>
                    </a:cubicBezTo>
                    <a:cubicBezTo>
                      <a:pt x="399" y="539"/>
                      <a:pt x="471" y="586"/>
                      <a:pt x="478" y="589"/>
                    </a:cubicBezTo>
                    <a:cubicBezTo>
                      <a:pt x="486" y="592"/>
                      <a:pt x="508" y="570"/>
                      <a:pt x="525" y="551"/>
                    </a:cubicBezTo>
                    <a:cubicBezTo>
                      <a:pt x="542" y="533"/>
                      <a:pt x="577" y="508"/>
                      <a:pt x="566" y="491"/>
                    </a:cubicBezTo>
                    <a:cubicBezTo>
                      <a:pt x="555" y="473"/>
                      <a:pt x="520" y="461"/>
                      <a:pt x="527" y="413"/>
                    </a:cubicBezTo>
                    <a:cubicBezTo>
                      <a:pt x="533" y="364"/>
                      <a:pt x="533" y="347"/>
                      <a:pt x="534" y="335"/>
                    </a:cubicBezTo>
                    <a:cubicBezTo>
                      <a:pt x="536" y="325"/>
                      <a:pt x="542" y="288"/>
                      <a:pt x="545" y="269"/>
                    </a:cubicBezTo>
                    <a:cubicBezTo>
                      <a:pt x="520" y="244"/>
                      <a:pt x="458" y="183"/>
                      <a:pt x="441" y="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28" name="Freeform 1803">
                <a:extLst>
                  <a:ext uri="{FF2B5EF4-FFF2-40B4-BE49-F238E27FC236}">
                    <a16:creationId xmlns:a16="http://schemas.microsoft.com/office/drawing/2014/main" id="{BE421485-8EAF-5BBA-AAE2-10C6334D4823}"/>
                  </a:ext>
                </a:extLst>
              </p:cNvPr>
              <p:cNvSpPr>
                <a:spLocks/>
              </p:cNvSpPr>
              <p:nvPr/>
            </p:nvSpPr>
            <p:spPr bwMode="auto">
              <a:xfrm>
                <a:off x="1568" y="446"/>
                <a:ext cx="207" cy="204"/>
              </a:xfrm>
              <a:custGeom>
                <a:avLst/>
                <a:gdLst>
                  <a:gd name="T0" fmla="*/ 212 w 934"/>
                  <a:gd name="T1" fmla="*/ 56 h 921"/>
                  <a:gd name="T2" fmla="*/ 122 w 934"/>
                  <a:gd name="T3" fmla="*/ 208 h 921"/>
                  <a:gd name="T4" fmla="*/ 80 w 934"/>
                  <a:gd name="T5" fmla="*/ 264 h 921"/>
                  <a:gd name="T6" fmla="*/ 75 w 934"/>
                  <a:gd name="T7" fmla="*/ 360 h 921"/>
                  <a:gd name="T8" fmla="*/ 70 w 934"/>
                  <a:gd name="T9" fmla="*/ 443 h 921"/>
                  <a:gd name="T10" fmla="*/ 25 w 934"/>
                  <a:gd name="T11" fmla="*/ 526 h 921"/>
                  <a:gd name="T12" fmla="*/ 142 w 934"/>
                  <a:gd name="T13" fmla="*/ 652 h 921"/>
                  <a:gd name="T14" fmla="*/ 259 w 934"/>
                  <a:gd name="T15" fmla="*/ 783 h 921"/>
                  <a:gd name="T16" fmla="*/ 374 w 934"/>
                  <a:gd name="T17" fmla="*/ 898 h 921"/>
                  <a:gd name="T18" fmla="*/ 395 w 934"/>
                  <a:gd name="T19" fmla="*/ 921 h 921"/>
                  <a:gd name="T20" fmla="*/ 532 w 934"/>
                  <a:gd name="T21" fmla="*/ 876 h 921"/>
                  <a:gd name="T22" fmla="*/ 579 w 934"/>
                  <a:gd name="T23" fmla="*/ 803 h 921"/>
                  <a:gd name="T24" fmla="*/ 639 w 934"/>
                  <a:gd name="T25" fmla="*/ 836 h 921"/>
                  <a:gd name="T26" fmla="*/ 681 w 934"/>
                  <a:gd name="T27" fmla="*/ 808 h 921"/>
                  <a:gd name="T28" fmla="*/ 713 w 934"/>
                  <a:gd name="T29" fmla="*/ 708 h 921"/>
                  <a:gd name="T30" fmla="*/ 727 w 934"/>
                  <a:gd name="T31" fmla="*/ 591 h 921"/>
                  <a:gd name="T32" fmla="*/ 778 w 934"/>
                  <a:gd name="T33" fmla="*/ 591 h 921"/>
                  <a:gd name="T34" fmla="*/ 897 w 934"/>
                  <a:gd name="T35" fmla="*/ 569 h 921"/>
                  <a:gd name="T36" fmla="*/ 934 w 934"/>
                  <a:gd name="T37" fmla="*/ 502 h 921"/>
                  <a:gd name="T38" fmla="*/ 862 w 934"/>
                  <a:gd name="T39" fmla="*/ 410 h 921"/>
                  <a:gd name="T40" fmla="*/ 795 w 934"/>
                  <a:gd name="T41" fmla="*/ 315 h 921"/>
                  <a:gd name="T42" fmla="*/ 811 w 934"/>
                  <a:gd name="T43" fmla="*/ 204 h 921"/>
                  <a:gd name="T44" fmla="*/ 755 w 934"/>
                  <a:gd name="T45" fmla="*/ 144 h 921"/>
                  <a:gd name="T46" fmla="*/ 583 w 934"/>
                  <a:gd name="T47" fmla="*/ 209 h 921"/>
                  <a:gd name="T48" fmla="*/ 473 w 934"/>
                  <a:gd name="T49" fmla="*/ 275 h 921"/>
                  <a:gd name="T50" fmla="*/ 405 w 934"/>
                  <a:gd name="T51" fmla="*/ 323 h 921"/>
                  <a:gd name="T52" fmla="*/ 376 w 934"/>
                  <a:gd name="T53" fmla="*/ 222 h 921"/>
                  <a:gd name="T54" fmla="*/ 212 w 934"/>
                  <a:gd name="T55" fmla="*/ 56 h 9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Lst>
                <a:rect l="0" t="0" r="r" b="b"/>
                <a:pathLst>
                  <a:path w="934" h="921">
                    <a:moveTo>
                      <a:pt x="212" y="56"/>
                    </a:moveTo>
                    <a:cubicBezTo>
                      <a:pt x="212" y="56"/>
                      <a:pt x="128" y="128"/>
                      <a:pt x="122" y="208"/>
                    </a:cubicBezTo>
                    <a:cubicBezTo>
                      <a:pt x="114" y="242"/>
                      <a:pt x="86" y="223"/>
                      <a:pt x="80" y="264"/>
                    </a:cubicBezTo>
                    <a:cubicBezTo>
                      <a:pt x="73" y="304"/>
                      <a:pt x="67" y="331"/>
                      <a:pt x="75" y="360"/>
                    </a:cubicBezTo>
                    <a:cubicBezTo>
                      <a:pt x="83" y="390"/>
                      <a:pt x="91" y="423"/>
                      <a:pt x="70" y="443"/>
                    </a:cubicBezTo>
                    <a:cubicBezTo>
                      <a:pt x="50" y="463"/>
                      <a:pt x="0" y="483"/>
                      <a:pt x="25" y="526"/>
                    </a:cubicBezTo>
                    <a:cubicBezTo>
                      <a:pt x="50" y="568"/>
                      <a:pt x="122" y="627"/>
                      <a:pt x="142" y="652"/>
                    </a:cubicBezTo>
                    <a:cubicBezTo>
                      <a:pt x="162" y="677"/>
                      <a:pt x="237" y="759"/>
                      <a:pt x="259" y="783"/>
                    </a:cubicBezTo>
                    <a:cubicBezTo>
                      <a:pt x="281" y="806"/>
                      <a:pt x="374" y="898"/>
                      <a:pt x="374" y="898"/>
                    </a:cubicBezTo>
                    <a:cubicBezTo>
                      <a:pt x="395" y="921"/>
                      <a:pt x="395" y="921"/>
                      <a:pt x="395" y="921"/>
                    </a:cubicBezTo>
                    <a:cubicBezTo>
                      <a:pt x="395" y="921"/>
                      <a:pt x="493" y="911"/>
                      <a:pt x="532" y="876"/>
                    </a:cubicBezTo>
                    <a:cubicBezTo>
                      <a:pt x="571" y="842"/>
                      <a:pt x="574" y="848"/>
                      <a:pt x="579" y="803"/>
                    </a:cubicBezTo>
                    <a:cubicBezTo>
                      <a:pt x="621" y="815"/>
                      <a:pt x="627" y="822"/>
                      <a:pt x="639" y="836"/>
                    </a:cubicBezTo>
                    <a:cubicBezTo>
                      <a:pt x="652" y="850"/>
                      <a:pt x="669" y="834"/>
                      <a:pt x="681" y="808"/>
                    </a:cubicBezTo>
                    <a:cubicBezTo>
                      <a:pt x="694" y="781"/>
                      <a:pt x="705" y="753"/>
                      <a:pt x="713" y="708"/>
                    </a:cubicBezTo>
                    <a:cubicBezTo>
                      <a:pt x="720" y="663"/>
                      <a:pt x="727" y="591"/>
                      <a:pt x="727" y="591"/>
                    </a:cubicBezTo>
                    <a:cubicBezTo>
                      <a:pt x="727" y="591"/>
                      <a:pt x="744" y="571"/>
                      <a:pt x="778" y="591"/>
                    </a:cubicBezTo>
                    <a:cubicBezTo>
                      <a:pt x="812" y="611"/>
                      <a:pt x="862" y="630"/>
                      <a:pt x="897" y="569"/>
                    </a:cubicBezTo>
                    <a:cubicBezTo>
                      <a:pt x="931" y="546"/>
                      <a:pt x="934" y="541"/>
                      <a:pt x="934" y="502"/>
                    </a:cubicBezTo>
                    <a:cubicBezTo>
                      <a:pt x="934" y="463"/>
                      <a:pt x="898" y="444"/>
                      <a:pt x="862" y="410"/>
                    </a:cubicBezTo>
                    <a:cubicBezTo>
                      <a:pt x="826" y="376"/>
                      <a:pt x="795" y="365"/>
                      <a:pt x="795" y="315"/>
                    </a:cubicBezTo>
                    <a:cubicBezTo>
                      <a:pt x="795" y="315"/>
                      <a:pt x="805" y="237"/>
                      <a:pt x="811" y="204"/>
                    </a:cubicBezTo>
                    <a:cubicBezTo>
                      <a:pt x="817" y="172"/>
                      <a:pt x="801" y="148"/>
                      <a:pt x="755" y="144"/>
                    </a:cubicBezTo>
                    <a:cubicBezTo>
                      <a:pt x="708" y="139"/>
                      <a:pt x="611" y="184"/>
                      <a:pt x="583" y="209"/>
                    </a:cubicBezTo>
                    <a:cubicBezTo>
                      <a:pt x="555" y="234"/>
                      <a:pt x="519" y="284"/>
                      <a:pt x="473" y="275"/>
                    </a:cubicBezTo>
                    <a:cubicBezTo>
                      <a:pt x="426" y="265"/>
                      <a:pt x="415" y="324"/>
                      <a:pt x="405" y="323"/>
                    </a:cubicBezTo>
                    <a:cubicBezTo>
                      <a:pt x="388" y="312"/>
                      <a:pt x="368" y="284"/>
                      <a:pt x="376" y="222"/>
                    </a:cubicBezTo>
                    <a:cubicBezTo>
                      <a:pt x="384" y="159"/>
                      <a:pt x="393" y="0"/>
                      <a:pt x="212" y="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29" name="Freeform 1804">
                <a:extLst>
                  <a:ext uri="{FF2B5EF4-FFF2-40B4-BE49-F238E27FC236}">
                    <a16:creationId xmlns:a16="http://schemas.microsoft.com/office/drawing/2014/main" id="{8503B8B8-1B77-2219-3054-AE3E314D1200}"/>
                  </a:ext>
                </a:extLst>
              </p:cNvPr>
              <p:cNvSpPr>
                <a:spLocks/>
              </p:cNvSpPr>
              <p:nvPr/>
            </p:nvSpPr>
            <p:spPr bwMode="auto">
              <a:xfrm>
                <a:off x="1564" y="265"/>
                <a:ext cx="217" cy="253"/>
              </a:xfrm>
              <a:custGeom>
                <a:avLst/>
                <a:gdLst>
                  <a:gd name="T0" fmla="*/ 814 w 981"/>
                  <a:gd name="T1" fmla="*/ 287 h 1147"/>
                  <a:gd name="T2" fmla="*/ 749 w 981"/>
                  <a:gd name="T3" fmla="*/ 218 h 1147"/>
                  <a:gd name="T4" fmla="*/ 680 w 981"/>
                  <a:gd name="T5" fmla="*/ 243 h 1147"/>
                  <a:gd name="T6" fmla="*/ 599 w 981"/>
                  <a:gd name="T7" fmla="*/ 282 h 1147"/>
                  <a:gd name="T8" fmla="*/ 443 w 981"/>
                  <a:gd name="T9" fmla="*/ 242 h 1147"/>
                  <a:gd name="T10" fmla="*/ 376 w 981"/>
                  <a:gd name="T11" fmla="*/ 112 h 1147"/>
                  <a:gd name="T12" fmla="*/ 400 w 981"/>
                  <a:gd name="T13" fmla="*/ 77 h 1147"/>
                  <a:gd name="T14" fmla="*/ 417 w 981"/>
                  <a:gd name="T15" fmla="*/ 24 h 1147"/>
                  <a:gd name="T16" fmla="*/ 370 w 981"/>
                  <a:gd name="T17" fmla="*/ 3 h 1147"/>
                  <a:gd name="T18" fmla="*/ 275 w 981"/>
                  <a:gd name="T19" fmla="*/ 41 h 1147"/>
                  <a:gd name="T20" fmla="*/ 202 w 981"/>
                  <a:gd name="T21" fmla="*/ 69 h 1147"/>
                  <a:gd name="T22" fmla="*/ 139 w 981"/>
                  <a:gd name="T23" fmla="*/ 120 h 1147"/>
                  <a:gd name="T24" fmla="*/ 163 w 981"/>
                  <a:gd name="T25" fmla="*/ 150 h 1147"/>
                  <a:gd name="T26" fmla="*/ 194 w 981"/>
                  <a:gd name="T27" fmla="*/ 220 h 1147"/>
                  <a:gd name="T28" fmla="*/ 167 w 981"/>
                  <a:gd name="T29" fmla="*/ 388 h 1147"/>
                  <a:gd name="T30" fmla="*/ 85 w 981"/>
                  <a:gd name="T31" fmla="*/ 510 h 1147"/>
                  <a:gd name="T32" fmla="*/ 53 w 981"/>
                  <a:gd name="T33" fmla="*/ 574 h 1147"/>
                  <a:gd name="T34" fmla="*/ 11 w 981"/>
                  <a:gd name="T35" fmla="*/ 666 h 1147"/>
                  <a:gd name="T36" fmla="*/ 50 w 981"/>
                  <a:gd name="T37" fmla="*/ 716 h 1147"/>
                  <a:gd name="T38" fmla="*/ 64 w 981"/>
                  <a:gd name="T39" fmla="*/ 780 h 1147"/>
                  <a:gd name="T40" fmla="*/ 78 w 981"/>
                  <a:gd name="T41" fmla="*/ 890 h 1147"/>
                  <a:gd name="T42" fmla="*/ 154 w 981"/>
                  <a:gd name="T43" fmla="*/ 980 h 1147"/>
                  <a:gd name="T44" fmla="*/ 231 w 981"/>
                  <a:gd name="T45" fmla="*/ 879 h 1147"/>
                  <a:gd name="T46" fmla="*/ 395 w 981"/>
                  <a:gd name="T47" fmla="*/ 1045 h 1147"/>
                  <a:gd name="T48" fmla="*/ 424 w 981"/>
                  <a:gd name="T49" fmla="*/ 1146 h 1147"/>
                  <a:gd name="T50" fmla="*/ 492 w 981"/>
                  <a:gd name="T51" fmla="*/ 1098 h 1147"/>
                  <a:gd name="T52" fmla="*/ 602 w 981"/>
                  <a:gd name="T53" fmla="*/ 1032 h 1147"/>
                  <a:gd name="T54" fmla="*/ 774 w 981"/>
                  <a:gd name="T55" fmla="*/ 967 h 1147"/>
                  <a:gd name="T56" fmla="*/ 806 w 981"/>
                  <a:gd name="T57" fmla="*/ 975 h 1147"/>
                  <a:gd name="T58" fmla="*/ 808 w 981"/>
                  <a:gd name="T59" fmla="*/ 847 h 1147"/>
                  <a:gd name="T60" fmla="*/ 844 w 981"/>
                  <a:gd name="T61" fmla="*/ 815 h 1147"/>
                  <a:gd name="T62" fmla="*/ 930 w 981"/>
                  <a:gd name="T63" fmla="*/ 734 h 1147"/>
                  <a:gd name="T64" fmla="*/ 944 w 981"/>
                  <a:gd name="T65" fmla="*/ 650 h 1147"/>
                  <a:gd name="T66" fmla="*/ 976 w 981"/>
                  <a:gd name="T67" fmla="*/ 599 h 1147"/>
                  <a:gd name="T68" fmla="*/ 926 w 981"/>
                  <a:gd name="T69" fmla="*/ 508 h 1147"/>
                  <a:gd name="T70" fmla="*/ 901 w 981"/>
                  <a:gd name="T71" fmla="*/ 399 h 1147"/>
                  <a:gd name="T72" fmla="*/ 856 w 981"/>
                  <a:gd name="T73" fmla="*/ 390 h 1147"/>
                  <a:gd name="T74" fmla="*/ 814 w 981"/>
                  <a:gd name="T75" fmla="*/ 287 h 11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981" h="1147">
                    <a:moveTo>
                      <a:pt x="814" y="287"/>
                    </a:moveTo>
                    <a:cubicBezTo>
                      <a:pt x="819" y="237"/>
                      <a:pt x="786" y="220"/>
                      <a:pt x="749" y="218"/>
                    </a:cubicBezTo>
                    <a:cubicBezTo>
                      <a:pt x="711" y="217"/>
                      <a:pt x="708" y="223"/>
                      <a:pt x="680" y="243"/>
                    </a:cubicBezTo>
                    <a:cubicBezTo>
                      <a:pt x="652" y="264"/>
                      <a:pt x="658" y="275"/>
                      <a:pt x="599" y="282"/>
                    </a:cubicBezTo>
                    <a:cubicBezTo>
                      <a:pt x="540" y="290"/>
                      <a:pt x="474" y="265"/>
                      <a:pt x="443" y="242"/>
                    </a:cubicBezTo>
                    <a:cubicBezTo>
                      <a:pt x="412" y="218"/>
                      <a:pt x="379" y="142"/>
                      <a:pt x="376" y="112"/>
                    </a:cubicBezTo>
                    <a:cubicBezTo>
                      <a:pt x="373" y="83"/>
                      <a:pt x="378" y="89"/>
                      <a:pt x="400" y="77"/>
                    </a:cubicBezTo>
                    <a:cubicBezTo>
                      <a:pt x="421" y="64"/>
                      <a:pt x="417" y="41"/>
                      <a:pt x="417" y="24"/>
                    </a:cubicBezTo>
                    <a:cubicBezTo>
                      <a:pt x="417" y="6"/>
                      <a:pt x="389" y="6"/>
                      <a:pt x="370" y="3"/>
                    </a:cubicBezTo>
                    <a:cubicBezTo>
                      <a:pt x="351" y="0"/>
                      <a:pt x="301" y="25"/>
                      <a:pt x="275" y="41"/>
                    </a:cubicBezTo>
                    <a:cubicBezTo>
                      <a:pt x="248" y="56"/>
                      <a:pt x="222" y="58"/>
                      <a:pt x="202" y="69"/>
                    </a:cubicBezTo>
                    <a:cubicBezTo>
                      <a:pt x="188" y="76"/>
                      <a:pt x="157" y="103"/>
                      <a:pt x="139" y="120"/>
                    </a:cubicBezTo>
                    <a:cubicBezTo>
                      <a:pt x="149" y="130"/>
                      <a:pt x="158" y="140"/>
                      <a:pt x="163" y="150"/>
                    </a:cubicBezTo>
                    <a:cubicBezTo>
                      <a:pt x="178" y="181"/>
                      <a:pt x="194" y="197"/>
                      <a:pt x="194" y="220"/>
                    </a:cubicBezTo>
                    <a:cubicBezTo>
                      <a:pt x="194" y="243"/>
                      <a:pt x="220" y="348"/>
                      <a:pt x="167" y="388"/>
                    </a:cubicBezTo>
                    <a:cubicBezTo>
                      <a:pt x="145" y="415"/>
                      <a:pt x="91" y="462"/>
                      <a:pt x="85" y="510"/>
                    </a:cubicBezTo>
                    <a:cubicBezTo>
                      <a:pt x="78" y="558"/>
                      <a:pt x="85" y="550"/>
                      <a:pt x="53" y="574"/>
                    </a:cubicBezTo>
                    <a:cubicBezTo>
                      <a:pt x="22" y="597"/>
                      <a:pt x="0" y="641"/>
                      <a:pt x="11" y="666"/>
                    </a:cubicBezTo>
                    <a:cubicBezTo>
                      <a:pt x="22" y="691"/>
                      <a:pt x="38" y="702"/>
                      <a:pt x="50" y="716"/>
                    </a:cubicBezTo>
                    <a:cubicBezTo>
                      <a:pt x="63" y="730"/>
                      <a:pt x="64" y="736"/>
                      <a:pt x="64" y="780"/>
                    </a:cubicBezTo>
                    <a:cubicBezTo>
                      <a:pt x="64" y="823"/>
                      <a:pt x="66" y="854"/>
                      <a:pt x="78" y="890"/>
                    </a:cubicBezTo>
                    <a:cubicBezTo>
                      <a:pt x="89" y="921"/>
                      <a:pt x="130" y="959"/>
                      <a:pt x="154" y="980"/>
                    </a:cubicBezTo>
                    <a:cubicBezTo>
                      <a:pt x="180" y="923"/>
                      <a:pt x="231" y="879"/>
                      <a:pt x="231" y="879"/>
                    </a:cubicBezTo>
                    <a:cubicBezTo>
                      <a:pt x="412" y="823"/>
                      <a:pt x="403" y="982"/>
                      <a:pt x="395" y="1045"/>
                    </a:cubicBezTo>
                    <a:cubicBezTo>
                      <a:pt x="387" y="1107"/>
                      <a:pt x="407" y="1135"/>
                      <a:pt x="424" y="1146"/>
                    </a:cubicBezTo>
                    <a:cubicBezTo>
                      <a:pt x="434" y="1147"/>
                      <a:pt x="445" y="1088"/>
                      <a:pt x="492" y="1098"/>
                    </a:cubicBezTo>
                    <a:cubicBezTo>
                      <a:pt x="538" y="1107"/>
                      <a:pt x="574" y="1057"/>
                      <a:pt x="602" y="1032"/>
                    </a:cubicBezTo>
                    <a:cubicBezTo>
                      <a:pt x="630" y="1007"/>
                      <a:pt x="727" y="962"/>
                      <a:pt x="774" y="967"/>
                    </a:cubicBezTo>
                    <a:cubicBezTo>
                      <a:pt x="787" y="968"/>
                      <a:pt x="797" y="971"/>
                      <a:pt x="806" y="975"/>
                    </a:cubicBezTo>
                    <a:cubicBezTo>
                      <a:pt x="807" y="930"/>
                      <a:pt x="808" y="859"/>
                      <a:pt x="808" y="847"/>
                    </a:cubicBezTo>
                    <a:cubicBezTo>
                      <a:pt x="808" y="828"/>
                      <a:pt x="825" y="823"/>
                      <a:pt x="844" y="815"/>
                    </a:cubicBezTo>
                    <a:cubicBezTo>
                      <a:pt x="863" y="808"/>
                      <a:pt x="920" y="745"/>
                      <a:pt x="930" y="734"/>
                    </a:cubicBezTo>
                    <a:cubicBezTo>
                      <a:pt x="939" y="723"/>
                      <a:pt x="937" y="670"/>
                      <a:pt x="944" y="650"/>
                    </a:cubicBezTo>
                    <a:cubicBezTo>
                      <a:pt x="950" y="630"/>
                      <a:pt x="972" y="608"/>
                      <a:pt x="976" y="599"/>
                    </a:cubicBezTo>
                    <a:cubicBezTo>
                      <a:pt x="981" y="589"/>
                      <a:pt x="944" y="541"/>
                      <a:pt x="926" y="508"/>
                    </a:cubicBezTo>
                    <a:cubicBezTo>
                      <a:pt x="915" y="486"/>
                      <a:pt x="906" y="431"/>
                      <a:pt x="901" y="399"/>
                    </a:cubicBezTo>
                    <a:cubicBezTo>
                      <a:pt x="895" y="398"/>
                      <a:pt x="881" y="395"/>
                      <a:pt x="856" y="390"/>
                    </a:cubicBezTo>
                    <a:cubicBezTo>
                      <a:pt x="803" y="379"/>
                      <a:pt x="810" y="337"/>
                      <a:pt x="814" y="2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30" name="Freeform 1805">
                <a:extLst>
                  <a:ext uri="{FF2B5EF4-FFF2-40B4-BE49-F238E27FC236}">
                    <a16:creationId xmlns:a16="http://schemas.microsoft.com/office/drawing/2014/main" id="{C14C2C8E-8496-3CE4-3444-EBD9F051ED0E}"/>
                  </a:ext>
                </a:extLst>
              </p:cNvPr>
              <p:cNvSpPr>
                <a:spLocks/>
              </p:cNvSpPr>
              <p:nvPr/>
            </p:nvSpPr>
            <p:spPr bwMode="auto">
              <a:xfrm>
                <a:off x="1519" y="156"/>
                <a:ext cx="405" cy="219"/>
              </a:xfrm>
              <a:custGeom>
                <a:avLst/>
                <a:gdLst>
                  <a:gd name="T0" fmla="*/ 1656 w 1836"/>
                  <a:gd name="T1" fmla="*/ 700 h 989"/>
                  <a:gd name="T2" fmla="*/ 1767 w 1836"/>
                  <a:gd name="T3" fmla="*/ 555 h 989"/>
                  <a:gd name="T4" fmla="*/ 1804 w 1836"/>
                  <a:gd name="T5" fmla="*/ 484 h 989"/>
                  <a:gd name="T6" fmla="*/ 1836 w 1836"/>
                  <a:gd name="T7" fmla="*/ 445 h 989"/>
                  <a:gd name="T8" fmla="*/ 1790 w 1836"/>
                  <a:gd name="T9" fmla="*/ 396 h 989"/>
                  <a:gd name="T10" fmla="*/ 1638 w 1836"/>
                  <a:gd name="T11" fmla="*/ 328 h 989"/>
                  <a:gd name="T12" fmla="*/ 1520 w 1836"/>
                  <a:gd name="T13" fmla="*/ 252 h 989"/>
                  <a:gd name="T14" fmla="*/ 1418 w 1836"/>
                  <a:gd name="T15" fmla="*/ 311 h 989"/>
                  <a:gd name="T16" fmla="*/ 1311 w 1836"/>
                  <a:gd name="T17" fmla="*/ 331 h 989"/>
                  <a:gd name="T18" fmla="*/ 1196 w 1836"/>
                  <a:gd name="T19" fmla="*/ 247 h 989"/>
                  <a:gd name="T20" fmla="*/ 1061 w 1836"/>
                  <a:gd name="T21" fmla="*/ 168 h 989"/>
                  <a:gd name="T22" fmla="*/ 887 w 1836"/>
                  <a:gd name="T23" fmla="*/ 200 h 989"/>
                  <a:gd name="T24" fmla="*/ 777 w 1836"/>
                  <a:gd name="T25" fmla="*/ 250 h 989"/>
                  <a:gd name="T26" fmla="*/ 646 w 1836"/>
                  <a:gd name="T27" fmla="*/ 174 h 989"/>
                  <a:gd name="T28" fmla="*/ 461 w 1836"/>
                  <a:gd name="T29" fmla="*/ 67 h 989"/>
                  <a:gd name="T30" fmla="*/ 409 w 1836"/>
                  <a:gd name="T31" fmla="*/ 0 h 989"/>
                  <a:gd name="T32" fmla="*/ 338 w 1836"/>
                  <a:gd name="T33" fmla="*/ 53 h 989"/>
                  <a:gd name="T34" fmla="*/ 296 w 1836"/>
                  <a:gd name="T35" fmla="*/ 138 h 989"/>
                  <a:gd name="T36" fmla="*/ 216 w 1836"/>
                  <a:gd name="T37" fmla="*/ 143 h 989"/>
                  <a:gd name="T38" fmla="*/ 110 w 1836"/>
                  <a:gd name="T39" fmla="*/ 203 h 989"/>
                  <a:gd name="T40" fmla="*/ 41 w 1836"/>
                  <a:gd name="T41" fmla="*/ 334 h 989"/>
                  <a:gd name="T42" fmla="*/ 152 w 1836"/>
                  <a:gd name="T43" fmla="*/ 415 h 989"/>
                  <a:gd name="T44" fmla="*/ 256 w 1836"/>
                  <a:gd name="T45" fmla="*/ 442 h 989"/>
                  <a:gd name="T46" fmla="*/ 292 w 1836"/>
                  <a:gd name="T47" fmla="*/ 525 h 989"/>
                  <a:gd name="T48" fmla="*/ 306 w 1836"/>
                  <a:gd name="T49" fmla="*/ 588 h 989"/>
                  <a:gd name="T50" fmla="*/ 346 w 1836"/>
                  <a:gd name="T51" fmla="*/ 610 h 989"/>
                  <a:gd name="T52" fmla="*/ 408 w 1836"/>
                  <a:gd name="T53" fmla="*/ 560 h 989"/>
                  <a:gd name="T54" fmla="*/ 481 w 1836"/>
                  <a:gd name="T55" fmla="*/ 532 h 989"/>
                  <a:gd name="T56" fmla="*/ 576 w 1836"/>
                  <a:gd name="T57" fmla="*/ 494 h 989"/>
                  <a:gd name="T58" fmla="*/ 623 w 1836"/>
                  <a:gd name="T59" fmla="*/ 515 h 989"/>
                  <a:gd name="T60" fmla="*/ 606 w 1836"/>
                  <a:gd name="T61" fmla="*/ 568 h 989"/>
                  <a:gd name="T62" fmla="*/ 582 w 1836"/>
                  <a:gd name="T63" fmla="*/ 603 h 989"/>
                  <a:gd name="T64" fmla="*/ 649 w 1836"/>
                  <a:gd name="T65" fmla="*/ 733 h 989"/>
                  <a:gd name="T66" fmla="*/ 805 w 1836"/>
                  <a:gd name="T67" fmla="*/ 773 h 989"/>
                  <a:gd name="T68" fmla="*/ 886 w 1836"/>
                  <a:gd name="T69" fmla="*/ 734 h 989"/>
                  <a:gd name="T70" fmla="*/ 955 w 1836"/>
                  <a:gd name="T71" fmla="*/ 709 h 989"/>
                  <a:gd name="T72" fmla="*/ 1020 w 1836"/>
                  <a:gd name="T73" fmla="*/ 778 h 989"/>
                  <a:gd name="T74" fmla="*/ 1062 w 1836"/>
                  <a:gd name="T75" fmla="*/ 881 h 989"/>
                  <a:gd name="T76" fmla="*/ 1107 w 1836"/>
                  <a:gd name="T77" fmla="*/ 890 h 989"/>
                  <a:gd name="T78" fmla="*/ 1108 w 1836"/>
                  <a:gd name="T79" fmla="*/ 897 h 989"/>
                  <a:gd name="T80" fmla="*/ 1169 w 1836"/>
                  <a:gd name="T81" fmla="*/ 850 h 989"/>
                  <a:gd name="T82" fmla="*/ 1300 w 1836"/>
                  <a:gd name="T83" fmla="*/ 940 h 989"/>
                  <a:gd name="T84" fmla="*/ 1341 w 1836"/>
                  <a:gd name="T85" fmla="*/ 969 h 989"/>
                  <a:gd name="T86" fmla="*/ 1438 w 1836"/>
                  <a:gd name="T87" fmla="*/ 974 h 989"/>
                  <a:gd name="T88" fmla="*/ 1502 w 1836"/>
                  <a:gd name="T89" fmla="*/ 916 h 989"/>
                  <a:gd name="T90" fmla="*/ 1558 w 1836"/>
                  <a:gd name="T91" fmla="*/ 898 h 989"/>
                  <a:gd name="T92" fmla="*/ 1572 w 1836"/>
                  <a:gd name="T93" fmla="*/ 754 h 989"/>
                  <a:gd name="T94" fmla="*/ 1656 w 1836"/>
                  <a:gd name="T95" fmla="*/ 700 h 9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36" h="989">
                    <a:moveTo>
                      <a:pt x="1656" y="700"/>
                    </a:moveTo>
                    <a:cubicBezTo>
                      <a:pt x="1674" y="697"/>
                      <a:pt x="1745" y="631"/>
                      <a:pt x="1767" y="555"/>
                    </a:cubicBezTo>
                    <a:cubicBezTo>
                      <a:pt x="1788" y="478"/>
                      <a:pt x="1798" y="491"/>
                      <a:pt x="1804" y="484"/>
                    </a:cubicBezTo>
                    <a:cubicBezTo>
                      <a:pt x="1810" y="477"/>
                      <a:pt x="1836" y="445"/>
                      <a:pt x="1836" y="445"/>
                    </a:cubicBezTo>
                    <a:cubicBezTo>
                      <a:pt x="1790" y="396"/>
                      <a:pt x="1790" y="396"/>
                      <a:pt x="1790" y="396"/>
                    </a:cubicBezTo>
                    <a:cubicBezTo>
                      <a:pt x="1790" y="396"/>
                      <a:pt x="1689" y="328"/>
                      <a:pt x="1638" y="328"/>
                    </a:cubicBezTo>
                    <a:cubicBezTo>
                      <a:pt x="1604" y="288"/>
                      <a:pt x="1579" y="253"/>
                      <a:pt x="1520" y="252"/>
                    </a:cubicBezTo>
                    <a:cubicBezTo>
                      <a:pt x="1470" y="278"/>
                      <a:pt x="1441" y="302"/>
                      <a:pt x="1418" y="311"/>
                    </a:cubicBezTo>
                    <a:cubicBezTo>
                      <a:pt x="1395" y="319"/>
                      <a:pt x="1364" y="338"/>
                      <a:pt x="1311" y="331"/>
                    </a:cubicBezTo>
                    <a:cubicBezTo>
                      <a:pt x="1258" y="324"/>
                      <a:pt x="1220" y="301"/>
                      <a:pt x="1196" y="247"/>
                    </a:cubicBezTo>
                    <a:cubicBezTo>
                      <a:pt x="1172" y="211"/>
                      <a:pt x="1116" y="168"/>
                      <a:pt x="1061" y="168"/>
                    </a:cubicBezTo>
                    <a:cubicBezTo>
                      <a:pt x="1007" y="168"/>
                      <a:pt x="930" y="144"/>
                      <a:pt x="887" y="200"/>
                    </a:cubicBezTo>
                    <a:cubicBezTo>
                      <a:pt x="848" y="237"/>
                      <a:pt x="813" y="250"/>
                      <a:pt x="777" y="250"/>
                    </a:cubicBezTo>
                    <a:cubicBezTo>
                      <a:pt x="741" y="250"/>
                      <a:pt x="663" y="195"/>
                      <a:pt x="646" y="174"/>
                    </a:cubicBezTo>
                    <a:cubicBezTo>
                      <a:pt x="629" y="152"/>
                      <a:pt x="546" y="41"/>
                      <a:pt x="461" y="67"/>
                    </a:cubicBezTo>
                    <a:cubicBezTo>
                      <a:pt x="453" y="61"/>
                      <a:pt x="434" y="34"/>
                      <a:pt x="409" y="0"/>
                    </a:cubicBezTo>
                    <a:cubicBezTo>
                      <a:pt x="386" y="15"/>
                      <a:pt x="354" y="36"/>
                      <a:pt x="338" y="53"/>
                    </a:cubicBezTo>
                    <a:cubicBezTo>
                      <a:pt x="311" y="81"/>
                      <a:pt x="296" y="126"/>
                      <a:pt x="296" y="138"/>
                    </a:cubicBezTo>
                    <a:cubicBezTo>
                      <a:pt x="296" y="151"/>
                      <a:pt x="242" y="142"/>
                      <a:pt x="216" y="143"/>
                    </a:cubicBezTo>
                    <a:cubicBezTo>
                      <a:pt x="190" y="144"/>
                      <a:pt x="164" y="154"/>
                      <a:pt x="110" y="203"/>
                    </a:cubicBezTo>
                    <a:cubicBezTo>
                      <a:pt x="56" y="251"/>
                      <a:pt x="0" y="302"/>
                      <a:pt x="41" y="334"/>
                    </a:cubicBezTo>
                    <a:cubicBezTo>
                      <a:pt x="82" y="365"/>
                      <a:pt x="127" y="388"/>
                      <a:pt x="152" y="415"/>
                    </a:cubicBezTo>
                    <a:cubicBezTo>
                      <a:pt x="176" y="440"/>
                      <a:pt x="226" y="412"/>
                      <a:pt x="256" y="442"/>
                    </a:cubicBezTo>
                    <a:cubicBezTo>
                      <a:pt x="286" y="472"/>
                      <a:pt x="292" y="492"/>
                      <a:pt x="292" y="525"/>
                    </a:cubicBezTo>
                    <a:cubicBezTo>
                      <a:pt x="292" y="547"/>
                      <a:pt x="306" y="570"/>
                      <a:pt x="306" y="588"/>
                    </a:cubicBezTo>
                    <a:cubicBezTo>
                      <a:pt x="317" y="594"/>
                      <a:pt x="331" y="601"/>
                      <a:pt x="346" y="610"/>
                    </a:cubicBezTo>
                    <a:cubicBezTo>
                      <a:pt x="364" y="593"/>
                      <a:pt x="394" y="567"/>
                      <a:pt x="408" y="560"/>
                    </a:cubicBezTo>
                    <a:cubicBezTo>
                      <a:pt x="428" y="549"/>
                      <a:pt x="454" y="547"/>
                      <a:pt x="481" y="532"/>
                    </a:cubicBezTo>
                    <a:cubicBezTo>
                      <a:pt x="507" y="516"/>
                      <a:pt x="557" y="491"/>
                      <a:pt x="576" y="494"/>
                    </a:cubicBezTo>
                    <a:cubicBezTo>
                      <a:pt x="595" y="497"/>
                      <a:pt x="623" y="497"/>
                      <a:pt x="623" y="515"/>
                    </a:cubicBezTo>
                    <a:cubicBezTo>
                      <a:pt x="623" y="532"/>
                      <a:pt x="627" y="555"/>
                      <a:pt x="606" y="568"/>
                    </a:cubicBezTo>
                    <a:cubicBezTo>
                      <a:pt x="584" y="580"/>
                      <a:pt x="579" y="574"/>
                      <a:pt x="582" y="603"/>
                    </a:cubicBezTo>
                    <a:cubicBezTo>
                      <a:pt x="585" y="633"/>
                      <a:pt x="618" y="709"/>
                      <a:pt x="649" y="733"/>
                    </a:cubicBezTo>
                    <a:cubicBezTo>
                      <a:pt x="680" y="756"/>
                      <a:pt x="746" y="781"/>
                      <a:pt x="805" y="773"/>
                    </a:cubicBezTo>
                    <a:cubicBezTo>
                      <a:pt x="864" y="766"/>
                      <a:pt x="858" y="755"/>
                      <a:pt x="886" y="734"/>
                    </a:cubicBezTo>
                    <a:cubicBezTo>
                      <a:pt x="914" y="714"/>
                      <a:pt x="917" y="708"/>
                      <a:pt x="955" y="709"/>
                    </a:cubicBezTo>
                    <a:cubicBezTo>
                      <a:pt x="992" y="711"/>
                      <a:pt x="1025" y="728"/>
                      <a:pt x="1020" y="778"/>
                    </a:cubicBezTo>
                    <a:cubicBezTo>
                      <a:pt x="1016" y="828"/>
                      <a:pt x="1009" y="870"/>
                      <a:pt x="1062" y="881"/>
                    </a:cubicBezTo>
                    <a:cubicBezTo>
                      <a:pt x="1087" y="886"/>
                      <a:pt x="1101" y="889"/>
                      <a:pt x="1107" y="890"/>
                    </a:cubicBezTo>
                    <a:cubicBezTo>
                      <a:pt x="1108" y="892"/>
                      <a:pt x="1108" y="894"/>
                      <a:pt x="1108" y="897"/>
                    </a:cubicBezTo>
                    <a:cubicBezTo>
                      <a:pt x="1125" y="873"/>
                      <a:pt x="1151" y="842"/>
                      <a:pt x="1169" y="850"/>
                    </a:cubicBezTo>
                    <a:cubicBezTo>
                      <a:pt x="1197" y="862"/>
                      <a:pt x="1289" y="899"/>
                      <a:pt x="1300" y="940"/>
                    </a:cubicBezTo>
                    <a:cubicBezTo>
                      <a:pt x="1311" y="982"/>
                      <a:pt x="1302" y="970"/>
                      <a:pt x="1341" y="969"/>
                    </a:cubicBezTo>
                    <a:cubicBezTo>
                      <a:pt x="1380" y="968"/>
                      <a:pt x="1428" y="989"/>
                      <a:pt x="1438" y="974"/>
                    </a:cubicBezTo>
                    <a:cubicBezTo>
                      <a:pt x="1448" y="958"/>
                      <a:pt x="1461" y="916"/>
                      <a:pt x="1502" y="916"/>
                    </a:cubicBezTo>
                    <a:cubicBezTo>
                      <a:pt x="1515" y="916"/>
                      <a:pt x="1536" y="908"/>
                      <a:pt x="1558" y="898"/>
                    </a:cubicBezTo>
                    <a:cubicBezTo>
                      <a:pt x="1560" y="839"/>
                      <a:pt x="1558" y="784"/>
                      <a:pt x="1572" y="754"/>
                    </a:cubicBezTo>
                    <a:cubicBezTo>
                      <a:pt x="1588" y="720"/>
                      <a:pt x="1637" y="703"/>
                      <a:pt x="1656" y="7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31" name="Freeform 1806">
                <a:extLst>
                  <a:ext uri="{FF2B5EF4-FFF2-40B4-BE49-F238E27FC236}">
                    <a16:creationId xmlns:a16="http://schemas.microsoft.com/office/drawing/2014/main" id="{45286622-DC2F-1617-9E82-2197C17A21C3}"/>
                  </a:ext>
                </a:extLst>
              </p:cNvPr>
              <p:cNvSpPr>
                <a:spLocks/>
              </p:cNvSpPr>
              <p:nvPr/>
            </p:nvSpPr>
            <p:spPr bwMode="auto">
              <a:xfrm>
                <a:off x="1634" y="642"/>
                <a:ext cx="84" cy="118"/>
              </a:xfrm>
              <a:custGeom>
                <a:avLst/>
                <a:gdLst>
                  <a:gd name="T0" fmla="*/ 318 w 383"/>
                  <a:gd name="T1" fmla="*/ 483 h 534"/>
                  <a:gd name="T2" fmla="*/ 383 w 383"/>
                  <a:gd name="T3" fmla="*/ 486 h 534"/>
                  <a:gd name="T4" fmla="*/ 383 w 383"/>
                  <a:gd name="T5" fmla="*/ 486 h 534"/>
                  <a:gd name="T6" fmla="*/ 322 w 383"/>
                  <a:gd name="T7" fmla="*/ 483 h 534"/>
                  <a:gd name="T8" fmla="*/ 349 w 383"/>
                  <a:gd name="T9" fmla="*/ 448 h 534"/>
                  <a:gd name="T10" fmla="*/ 330 w 383"/>
                  <a:gd name="T11" fmla="*/ 384 h 534"/>
                  <a:gd name="T12" fmla="*/ 250 w 383"/>
                  <a:gd name="T13" fmla="*/ 349 h 534"/>
                  <a:gd name="T14" fmla="*/ 245 w 383"/>
                  <a:gd name="T15" fmla="*/ 268 h 534"/>
                  <a:gd name="T16" fmla="*/ 235 w 383"/>
                  <a:gd name="T17" fmla="*/ 198 h 534"/>
                  <a:gd name="T18" fmla="*/ 263 w 383"/>
                  <a:gd name="T19" fmla="*/ 155 h 534"/>
                  <a:gd name="T20" fmla="*/ 220 w 383"/>
                  <a:gd name="T21" fmla="*/ 48 h 534"/>
                  <a:gd name="T22" fmla="*/ 191 w 383"/>
                  <a:gd name="T23" fmla="*/ 13 h 534"/>
                  <a:gd name="T24" fmla="*/ 99 w 383"/>
                  <a:gd name="T25" fmla="*/ 34 h 534"/>
                  <a:gd name="T26" fmla="*/ 78 w 383"/>
                  <a:gd name="T27" fmla="*/ 11 h 534"/>
                  <a:gd name="T28" fmla="*/ 67 w 383"/>
                  <a:gd name="T29" fmla="*/ 0 h 534"/>
                  <a:gd name="T30" fmla="*/ 56 w 383"/>
                  <a:gd name="T31" fmla="*/ 66 h 534"/>
                  <a:gd name="T32" fmla="*/ 49 w 383"/>
                  <a:gd name="T33" fmla="*/ 144 h 534"/>
                  <a:gd name="T34" fmla="*/ 88 w 383"/>
                  <a:gd name="T35" fmla="*/ 222 h 534"/>
                  <a:gd name="T36" fmla="*/ 47 w 383"/>
                  <a:gd name="T37" fmla="*/ 282 h 534"/>
                  <a:gd name="T38" fmla="*/ 0 w 383"/>
                  <a:gd name="T39" fmla="*/ 320 h 534"/>
                  <a:gd name="T40" fmla="*/ 75 w 383"/>
                  <a:gd name="T41" fmla="*/ 339 h 534"/>
                  <a:gd name="T42" fmla="*/ 155 w 383"/>
                  <a:gd name="T43" fmla="*/ 345 h 534"/>
                  <a:gd name="T44" fmla="*/ 227 w 383"/>
                  <a:gd name="T45" fmla="*/ 475 h 534"/>
                  <a:gd name="T46" fmla="*/ 230 w 383"/>
                  <a:gd name="T47" fmla="*/ 534 h 534"/>
                  <a:gd name="T48" fmla="*/ 285 w 383"/>
                  <a:gd name="T49" fmla="*/ 512 h 534"/>
                  <a:gd name="T50" fmla="*/ 318 w 383"/>
                  <a:gd name="T51" fmla="*/ 483 h 5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383" h="534">
                    <a:moveTo>
                      <a:pt x="318" y="483"/>
                    </a:moveTo>
                    <a:cubicBezTo>
                      <a:pt x="383" y="486"/>
                      <a:pt x="383" y="486"/>
                      <a:pt x="383" y="486"/>
                    </a:cubicBezTo>
                    <a:cubicBezTo>
                      <a:pt x="383" y="486"/>
                      <a:pt x="383" y="486"/>
                      <a:pt x="383" y="486"/>
                    </a:cubicBezTo>
                    <a:cubicBezTo>
                      <a:pt x="322" y="483"/>
                      <a:pt x="322" y="483"/>
                      <a:pt x="322" y="483"/>
                    </a:cubicBezTo>
                    <a:cubicBezTo>
                      <a:pt x="332" y="471"/>
                      <a:pt x="346" y="455"/>
                      <a:pt x="349" y="448"/>
                    </a:cubicBezTo>
                    <a:cubicBezTo>
                      <a:pt x="355" y="436"/>
                      <a:pt x="349" y="394"/>
                      <a:pt x="330" y="384"/>
                    </a:cubicBezTo>
                    <a:cubicBezTo>
                      <a:pt x="310" y="374"/>
                      <a:pt x="268" y="359"/>
                      <a:pt x="250" y="349"/>
                    </a:cubicBezTo>
                    <a:cubicBezTo>
                      <a:pt x="233" y="340"/>
                      <a:pt x="245" y="287"/>
                      <a:pt x="245" y="268"/>
                    </a:cubicBezTo>
                    <a:cubicBezTo>
                      <a:pt x="245" y="249"/>
                      <a:pt x="252" y="214"/>
                      <a:pt x="235" y="198"/>
                    </a:cubicBezTo>
                    <a:cubicBezTo>
                      <a:pt x="224" y="188"/>
                      <a:pt x="246" y="168"/>
                      <a:pt x="263" y="155"/>
                    </a:cubicBezTo>
                    <a:cubicBezTo>
                      <a:pt x="257" y="133"/>
                      <a:pt x="251" y="76"/>
                      <a:pt x="220" y="48"/>
                    </a:cubicBezTo>
                    <a:cubicBezTo>
                      <a:pt x="209" y="39"/>
                      <a:pt x="199" y="26"/>
                      <a:pt x="191" y="13"/>
                    </a:cubicBezTo>
                    <a:cubicBezTo>
                      <a:pt x="148" y="29"/>
                      <a:pt x="99" y="34"/>
                      <a:pt x="99" y="34"/>
                    </a:cubicBezTo>
                    <a:cubicBezTo>
                      <a:pt x="78" y="11"/>
                      <a:pt x="78" y="11"/>
                      <a:pt x="78" y="11"/>
                    </a:cubicBezTo>
                    <a:cubicBezTo>
                      <a:pt x="78" y="11"/>
                      <a:pt x="74" y="7"/>
                      <a:pt x="67" y="0"/>
                    </a:cubicBezTo>
                    <a:cubicBezTo>
                      <a:pt x="64" y="19"/>
                      <a:pt x="58" y="56"/>
                      <a:pt x="56" y="66"/>
                    </a:cubicBezTo>
                    <a:cubicBezTo>
                      <a:pt x="55" y="78"/>
                      <a:pt x="55" y="95"/>
                      <a:pt x="49" y="144"/>
                    </a:cubicBezTo>
                    <a:cubicBezTo>
                      <a:pt x="42" y="192"/>
                      <a:pt x="77" y="204"/>
                      <a:pt x="88" y="222"/>
                    </a:cubicBezTo>
                    <a:cubicBezTo>
                      <a:pt x="99" y="239"/>
                      <a:pt x="64" y="264"/>
                      <a:pt x="47" y="282"/>
                    </a:cubicBezTo>
                    <a:cubicBezTo>
                      <a:pt x="30" y="301"/>
                      <a:pt x="8" y="323"/>
                      <a:pt x="0" y="320"/>
                    </a:cubicBezTo>
                    <a:cubicBezTo>
                      <a:pt x="3" y="346"/>
                      <a:pt x="23" y="341"/>
                      <a:pt x="75" y="339"/>
                    </a:cubicBezTo>
                    <a:cubicBezTo>
                      <a:pt x="127" y="337"/>
                      <a:pt x="155" y="345"/>
                      <a:pt x="155" y="345"/>
                    </a:cubicBezTo>
                    <a:cubicBezTo>
                      <a:pt x="207" y="384"/>
                      <a:pt x="225" y="449"/>
                      <a:pt x="227" y="475"/>
                    </a:cubicBezTo>
                    <a:cubicBezTo>
                      <a:pt x="228" y="490"/>
                      <a:pt x="229" y="515"/>
                      <a:pt x="230" y="534"/>
                    </a:cubicBezTo>
                    <a:cubicBezTo>
                      <a:pt x="247" y="525"/>
                      <a:pt x="270" y="519"/>
                      <a:pt x="285" y="512"/>
                    </a:cubicBezTo>
                    <a:cubicBezTo>
                      <a:pt x="305" y="502"/>
                      <a:pt x="318" y="483"/>
                      <a:pt x="318" y="4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32" name="Freeform 1807">
                <a:extLst>
                  <a:ext uri="{FF2B5EF4-FFF2-40B4-BE49-F238E27FC236}">
                    <a16:creationId xmlns:a16="http://schemas.microsoft.com/office/drawing/2014/main" id="{DF199123-E3E2-E950-E69A-520E9F67F24F}"/>
                  </a:ext>
                </a:extLst>
              </p:cNvPr>
              <p:cNvSpPr>
                <a:spLocks/>
              </p:cNvSpPr>
              <p:nvPr/>
            </p:nvSpPr>
            <p:spPr bwMode="auto">
              <a:xfrm>
                <a:off x="1633" y="719"/>
                <a:ext cx="48" cy="51"/>
              </a:xfrm>
              <a:custGeom>
                <a:avLst/>
                <a:gdLst>
                  <a:gd name="T0" fmla="*/ 158 w 217"/>
                  <a:gd name="T1" fmla="*/ 39 h 229"/>
                  <a:gd name="T2" fmla="*/ 11 w 217"/>
                  <a:gd name="T3" fmla="*/ 10 h 229"/>
                  <a:gd name="T4" fmla="*/ 0 w 217"/>
                  <a:gd name="T5" fmla="*/ 116 h 229"/>
                  <a:gd name="T6" fmla="*/ 74 w 217"/>
                  <a:gd name="T7" fmla="*/ 155 h 229"/>
                  <a:gd name="T8" fmla="*/ 100 w 217"/>
                  <a:gd name="T9" fmla="*/ 227 h 229"/>
                  <a:gd name="T10" fmla="*/ 180 w 217"/>
                  <a:gd name="T11" fmla="*/ 229 h 229"/>
                  <a:gd name="T12" fmla="*/ 158 w 217"/>
                  <a:gd name="T13" fmla="*/ 39 h 229"/>
                </a:gdLst>
                <a:ahLst/>
                <a:cxnLst>
                  <a:cxn ang="0">
                    <a:pos x="T0" y="T1"/>
                  </a:cxn>
                  <a:cxn ang="0">
                    <a:pos x="T2" y="T3"/>
                  </a:cxn>
                  <a:cxn ang="0">
                    <a:pos x="T4" y="T5"/>
                  </a:cxn>
                  <a:cxn ang="0">
                    <a:pos x="T6" y="T7"/>
                  </a:cxn>
                  <a:cxn ang="0">
                    <a:pos x="T8" y="T9"/>
                  </a:cxn>
                  <a:cxn ang="0">
                    <a:pos x="T10" y="T11"/>
                  </a:cxn>
                  <a:cxn ang="0">
                    <a:pos x="T12" y="T13"/>
                  </a:cxn>
                </a:cxnLst>
                <a:rect l="0" t="0" r="r" b="b"/>
                <a:pathLst>
                  <a:path w="217" h="229">
                    <a:moveTo>
                      <a:pt x="158" y="39"/>
                    </a:moveTo>
                    <a:cubicBezTo>
                      <a:pt x="124" y="0"/>
                      <a:pt x="48" y="6"/>
                      <a:pt x="11" y="10"/>
                    </a:cubicBezTo>
                    <a:cubicBezTo>
                      <a:pt x="31" y="41"/>
                      <a:pt x="20" y="88"/>
                      <a:pt x="0" y="116"/>
                    </a:cubicBezTo>
                    <a:cubicBezTo>
                      <a:pt x="59" y="145"/>
                      <a:pt x="74" y="155"/>
                      <a:pt x="74" y="155"/>
                    </a:cubicBezTo>
                    <a:cubicBezTo>
                      <a:pt x="102" y="181"/>
                      <a:pt x="100" y="227"/>
                      <a:pt x="100" y="227"/>
                    </a:cubicBezTo>
                    <a:cubicBezTo>
                      <a:pt x="100" y="227"/>
                      <a:pt x="150" y="220"/>
                      <a:pt x="180" y="229"/>
                    </a:cubicBezTo>
                    <a:cubicBezTo>
                      <a:pt x="180" y="229"/>
                      <a:pt x="217" y="125"/>
                      <a:pt x="158"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33" name="Freeform 1808">
                <a:extLst>
                  <a:ext uri="{FF2B5EF4-FFF2-40B4-BE49-F238E27FC236}">
                    <a16:creationId xmlns:a16="http://schemas.microsoft.com/office/drawing/2014/main" id="{50AB96EA-A598-60C8-2650-3E16C99D1CE3}"/>
                  </a:ext>
                </a:extLst>
              </p:cNvPr>
              <p:cNvSpPr>
                <a:spLocks/>
              </p:cNvSpPr>
              <p:nvPr/>
            </p:nvSpPr>
            <p:spPr bwMode="auto">
              <a:xfrm>
                <a:off x="1523" y="657"/>
                <a:ext cx="181" cy="209"/>
              </a:xfrm>
              <a:custGeom>
                <a:avLst/>
                <a:gdLst>
                  <a:gd name="T0" fmla="*/ 43 w 819"/>
                  <a:gd name="T1" fmla="*/ 127 h 944"/>
                  <a:gd name="T2" fmla="*/ 7 w 819"/>
                  <a:gd name="T3" fmla="*/ 178 h 944"/>
                  <a:gd name="T4" fmla="*/ 25 w 819"/>
                  <a:gd name="T5" fmla="*/ 306 h 944"/>
                  <a:gd name="T6" fmla="*/ 37 w 819"/>
                  <a:gd name="T7" fmla="*/ 383 h 944"/>
                  <a:gd name="T8" fmla="*/ 170 w 819"/>
                  <a:gd name="T9" fmla="*/ 376 h 944"/>
                  <a:gd name="T10" fmla="*/ 228 w 819"/>
                  <a:gd name="T11" fmla="*/ 419 h 944"/>
                  <a:gd name="T12" fmla="*/ 269 w 819"/>
                  <a:gd name="T13" fmla="*/ 448 h 944"/>
                  <a:gd name="T14" fmla="*/ 284 w 819"/>
                  <a:gd name="T15" fmla="*/ 507 h 944"/>
                  <a:gd name="T16" fmla="*/ 301 w 819"/>
                  <a:gd name="T17" fmla="*/ 540 h 944"/>
                  <a:gd name="T18" fmla="*/ 350 w 819"/>
                  <a:gd name="T19" fmla="*/ 542 h 944"/>
                  <a:gd name="T20" fmla="*/ 392 w 819"/>
                  <a:gd name="T21" fmla="*/ 618 h 944"/>
                  <a:gd name="T22" fmla="*/ 456 w 819"/>
                  <a:gd name="T23" fmla="*/ 808 h 944"/>
                  <a:gd name="T24" fmla="*/ 477 w 819"/>
                  <a:gd name="T25" fmla="*/ 928 h 944"/>
                  <a:gd name="T26" fmla="*/ 521 w 819"/>
                  <a:gd name="T27" fmla="*/ 931 h 944"/>
                  <a:gd name="T28" fmla="*/ 545 w 819"/>
                  <a:gd name="T29" fmla="*/ 942 h 944"/>
                  <a:gd name="T30" fmla="*/ 545 w 819"/>
                  <a:gd name="T31" fmla="*/ 942 h 944"/>
                  <a:gd name="T32" fmla="*/ 580 w 819"/>
                  <a:gd name="T33" fmla="*/ 900 h 944"/>
                  <a:gd name="T34" fmla="*/ 611 w 819"/>
                  <a:gd name="T35" fmla="*/ 848 h 944"/>
                  <a:gd name="T36" fmla="*/ 613 w 819"/>
                  <a:gd name="T37" fmla="*/ 790 h 944"/>
                  <a:gd name="T38" fmla="*/ 656 w 819"/>
                  <a:gd name="T39" fmla="*/ 804 h 944"/>
                  <a:gd name="T40" fmla="*/ 700 w 819"/>
                  <a:gd name="T41" fmla="*/ 817 h 944"/>
                  <a:gd name="T42" fmla="*/ 745 w 819"/>
                  <a:gd name="T43" fmla="*/ 794 h 944"/>
                  <a:gd name="T44" fmla="*/ 793 w 819"/>
                  <a:gd name="T45" fmla="*/ 817 h 944"/>
                  <a:gd name="T46" fmla="*/ 819 w 819"/>
                  <a:gd name="T47" fmla="*/ 805 h 944"/>
                  <a:gd name="T48" fmla="*/ 776 w 819"/>
                  <a:gd name="T49" fmla="*/ 782 h 944"/>
                  <a:gd name="T50" fmla="*/ 761 w 819"/>
                  <a:gd name="T51" fmla="*/ 723 h 944"/>
                  <a:gd name="T52" fmla="*/ 735 w 819"/>
                  <a:gd name="T53" fmla="*/ 663 h 944"/>
                  <a:gd name="T54" fmla="*/ 711 w 819"/>
                  <a:gd name="T55" fmla="*/ 582 h 944"/>
                  <a:gd name="T56" fmla="*/ 680 w 819"/>
                  <a:gd name="T57" fmla="*/ 504 h 944"/>
                  <a:gd name="T58" fmla="*/ 679 w 819"/>
                  <a:gd name="T59" fmla="*/ 509 h 944"/>
                  <a:gd name="T60" fmla="*/ 599 w 819"/>
                  <a:gd name="T61" fmla="*/ 507 h 944"/>
                  <a:gd name="T62" fmla="*/ 573 w 819"/>
                  <a:gd name="T63" fmla="*/ 435 h 944"/>
                  <a:gd name="T64" fmla="*/ 499 w 819"/>
                  <a:gd name="T65" fmla="*/ 396 h 944"/>
                  <a:gd name="T66" fmla="*/ 520 w 819"/>
                  <a:gd name="T67" fmla="*/ 318 h 944"/>
                  <a:gd name="T68" fmla="*/ 426 w 819"/>
                  <a:gd name="T69" fmla="*/ 223 h 944"/>
                  <a:gd name="T70" fmla="*/ 307 w 819"/>
                  <a:gd name="T71" fmla="*/ 191 h 944"/>
                  <a:gd name="T72" fmla="*/ 164 w 819"/>
                  <a:gd name="T73" fmla="*/ 132 h 944"/>
                  <a:gd name="T74" fmla="*/ 71 w 819"/>
                  <a:gd name="T75" fmla="*/ 29 h 944"/>
                  <a:gd name="T76" fmla="*/ 45 w 819"/>
                  <a:gd name="T77" fmla="*/ 59 h 944"/>
                  <a:gd name="T78" fmla="*/ 50 w 819"/>
                  <a:gd name="T79" fmla="*/ 63 h 944"/>
                  <a:gd name="T80" fmla="*/ 43 w 819"/>
                  <a:gd name="T81" fmla="*/ 127 h 9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Lst>
                <a:rect l="0" t="0" r="r" b="b"/>
                <a:pathLst>
                  <a:path w="819" h="944">
                    <a:moveTo>
                      <a:pt x="43" y="127"/>
                    </a:moveTo>
                    <a:cubicBezTo>
                      <a:pt x="35" y="136"/>
                      <a:pt x="0" y="157"/>
                      <a:pt x="7" y="178"/>
                    </a:cubicBezTo>
                    <a:cubicBezTo>
                      <a:pt x="13" y="200"/>
                      <a:pt x="16" y="208"/>
                      <a:pt x="25" y="306"/>
                    </a:cubicBezTo>
                    <a:cubicBezTo>
                      <a:pt x="28" y="333"/>
                      <a:pt x="32" y="359"/>
                      <a:pt x="37" y="383"/>
                    </a:cubicBezTo>
                    <a:cubicBezTo>
                      <a:pt x="55" y="379"/>
                      <a:pt x="120" y="366"/>
                      <a:pt x="170" y="376"/>
                    </a:cubicBezTo>
                    <a:cubicBezTo>
                      <a:pt x="230" y="389"/>
                      <a:pt x="214" y="417"/>
                      <a:pt x="228" y="419"/>
                    </a:cubicBezTo>
                    <a:cubicBezTo>
                      <a:pt x="242" y="420"/>
                      <a:pt x="261" y="434"/>
                      <a:pt x="269" y="448"/>
                    </a:cubicBezTo>
                    <a:cubicBezTo>
                      <a:pt x="276" y="462"/>
                      <a:pt x="275" y="482"/>
                      <a:pt x="284" y="507"/>
                    </a:cubicBezTo>
                    <a:cubicBezTo>
                      <a:pt x="294" y="532"/>
                      <a:pt x="297" y="545"/>
                      <a:pt x="301" y="540"/>
                    </a:cubicBezTo>
                    <a:cubicBezTo>
                      <a:pt x="306" y="535"/>
                      <a:pt x="350" y="517"/>
                      <a:pt x="350" y="542"/>
                    </a:cubicBezTo>
                    <a:cubicBezTo>
                      <a:pt x="350" y="567"/>
                      <a:pt x="353" y="563"/>
                      <a:pt x="392" y="618"/>
                    </a:cubicBezTo>
                    <a:cubicBezTo>
                      <a:pt x="431" y="673"/>
                      <a:pt x="443" y="707"/>
                      <a:pt x="456" y="808"/>
                    </a:cubicBezTo>
                    <a:cubicBezTo>
                      <a:pt x="468" y="910"/>
                      <a:pt x="476" y="913"/>
                      <a:pt x="477" y="928"/>
                    </a:cubicBezTo>
                    <a:cubicBezTo>
                      <a:pt x="479" y="944"/>
                      <a:pt x="491" y="936"/>
                      <a:pt x="521" y="931"/>
                    </a:cubicBezTo>
                    <a:cubicBezTo>
                      <a:pt x="532" y="930"/>
                      <a:pt x="540" y="935"/>
                      <a:pt x="545" y="942"/>
                    </a:cubicBezTo>
                    <a:cubicBezTo>
                      <a:pt x="545" y="942"/>
                      <a:pt x="545" y="942"/>
                      <a:pt x="545" y="942"/>
                    </a:cubicBezTo>
                    <a:cubicBezTo>
                      <a:pt x="558" y="926"/>
                      <a:pt x="574" y="907"/>
                      <a:pt x="580" y="900"/>
                    </a:cubicBezTo>
                    <a:cubicBezTo>
                      <a:pt x="592" y="889"/>
                      <a:pt x="611" y="877"/>
                      <a:pt x="611" y="848"/>
                    </a:cubicBezTo>
                    <a:cubicBezTo>
                      <a:pt x="611" y="819"/>
                      <a:pt x="613" y="790"/>
                      <a:pt x="613" y="790"/>
                    </a:cubicBezTo>
                    <a:cubicBezTo>
                      <a:pt x="613" y="790"/>
                      <a:pt x="642" y="792"/>
                      <a:pt x="656" y="804"/>
                    </a:cubicBezTo>
                    <a:cubicBezTo>
                      <a:pt x="669" y="815"/>
                      <a:pt x="692" y="837"/>
                      <a:pt x="700" y="817"/>
                    </a:cubicBezTo>
                    <a:cubicBezTo>
                      <a:pt x="708" y="798"/>
                      <a:pt x="731" y="775"/>
                      <a:pt x="745" y="794"/>
                    </a:cubicBezTo>
                    <a:cubicBezTo>
                      <a:pt x="758" y="813"/>
                      <a:pt x="778" y="835"/>
                      <a:pt x="793" y="817"/>
                    </a:cubicBezTo>
                    <a:cubicBezTo>
                      <a:pt x="801" y="808"/>
                      <a:pt x="810" y="800"/>
                      <a:pt x="819" y="805"/>
                    </a:cubicBezTo>
                    <a:cubicBezTo>
                      <a:pt x="812" y="796"/>
                      <a:pt x="798" y="785"/>
                      <a:pt x="776" y="782"/>
                    </a:cubicBezTo>
                    <a:cubicBezTo>
                      <a:pt x="761" y="751"/>
                      <a:pt x="761" y="743"/>
                      <a:pt x="761" y="723"/>
                    </a:cubicBezTo>
                    <a:cubicBezTo>
                      <a:pt x="761" y="704"/>
                      <a:pt x="761" y="691"/>
                      <a:pt x="735" y="663"/>
                    </a:cubicBezTo>
                    <a:cubicBezTo>
                      <a:pt x="735" y="663"/>
                      <a:pt x="696" y="639"/>
                      <a:pt x="711" y="582"/>
                    </a:cubicBezTo>
                    <a:cubicBezTo>
                      <a:pt x="715" y="557"/>
                      <a:pt x="728" y="554"/>
                      <a:pt x="680" y="504"/>
                    </a:cubicBezTo>
                    <a:cubicBezTo>
                      <a:pt x="680" y="507"/>
                      <a:pt x="679" y="509"/>
                      <a:pt x="679" y="509"/>
                    </a:cubicBezTo>
                    <a:cubicBezTo>
                      <a:pt x="649" y="500"/>
                      <a:pt x="599" y="507"/>
                      <a:pt x="599" y="507"/>
                    </a:cubicBezTo>
                    <a:cubicBezTo>
                      <a:pt x="599" y="507"/>
                      <a:pt x="601" y="461"/>
                      <a:pt x="573" y="435"/>
                    </a:cubicBezTo>
                    <a:cubicBezTo>
                      <a:pt x="573" y="435"/>
                      <a:pt x="558" y="425"/>
                      <a:pt x="499" y="396"/>
                    </a:cubicBezTo>
                    <a:cubicBezTo>
                      <a:pt x="514" y="376"/>
                      <a:pt x="523" y="345"/>
                      <a:pt x="520" y="318"/>
                    </a:cubicBezTo>
                    <a:cubicBezTo>
                      <a:pt x="467" y="262"/>
                      <a:pt x="426" y="223"/>
                      <a:pt x="426" y="223"/>
                    </a:cubicBezTo>
                    <a:cubicBezTo>
                      <a:pt x="426" y="223"/>
                      <a:pt x="398" y="200"/>
                      <a:pt x="307" y="191"/>
                    </a:cubicBezTo>
                    <a:cubicBezTo>
                      <a:pt x="272" y="197"/>
                      <a:pt x="164" y="206"/>
                      <a:pt x="164" y="132"/>
                    </a:cubicBezTo>
                    <a:cubicBezTo>
                      <a:pt x="149" y="89"/>
                      <a:pt x="140" y="0"/>
                      <a:pt x="71" y="29"/>
                    </a:cubicBezTo>
                    <a:cubicBezTo>
                      <a:pt x="65" y="35"/>
                      <a:pt x="56" y="46"/>
                      <a:pt x="45" y="59"/>
                    </a:cubicBezTo>
                    <a:cubicBezTo>
                      <a:pt x="47" y="60"/>
                      <a:pt x="48" y="62"/>
                      <a:pt x="50" y="63"/>
                    </a:cubicBezTo>
                    <a:cubicBezTo>
                      <a:pt x="75" y="83"/>
                      <a:pt x="50" y="118"/>
                      <a:pt x="43" y="1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34" name="Freeform 1809">
                <a:extLst>
                  <a:ext uri="{FF2B5EF4-FFF2-40B4-BE49-F238E27FC236}">
                    <a16:creationId xmlns:a16="http://schemas.microsoft.com/office/drawing/2014/main" id="{BD11E574-78E7-CF39-AF4A-430E16980676}"/>
                  </a:ext>
                </a:extLst>
              </p:cNvPr>
              <p:cNvSpPr>
                <a:spLocks/>
              </p:cNvSpPr>
              <p:nvPr/>
            </p:nvSpPr>
            <p:spPr bwMode="auto">
              <a:xfrm>
                <a:off x="978" y="453"/>
                <a:ext cx="470" cy="398"/>
              </a:xfrm>
              <a:custGeom>
                <a:avLst/>
                <a:gdLst>
                  <a:gd name="T0" fmla="*/ 1933 w 2128"/>
                  <a:gd name="T1" fmla="*/ 1718 h 1804"/>
                  <a:gd name="T2" fmla="*/ 2068 w 2128"/>
                  <a:gd name="T3" fmla="*/ 1628 h 1804"/>
                  <a:gd name="T4" fmla="*/ 2121 w 2128"/>
                  <a:gd name="T5" fmla="*/ 1509 h 1804"/>
                  <a:gd name="T6" fmla="*/ 1970 w 2128"/>
                  <a:gd name="T7" fmla="*/ 1282 h 1804"/>
                  <a:gd name="T8" fmla="*/ 1994 w 2128"/>
                  <a:gd name="T9" fmla="*/ 1163 h 1804"/>
                  <a:gd name="T10" fmla="*/ 1958 w 2128"/>
                  <a:gd name="T11" fmla="*/ 1113 h 1804"/>
                  <a:gd name="T12" fmla="*/ 1923 w 2128"/>
                  <a:gd name="T13" fmla="*/ 954 h 1804"/>
                  <a:gd name="T14" fmla="*/ 1863 w 2128"/>
                  <a:gd name="T15" fmla="*/ 894 h 1804"/>
                  <a:gd name="T16" fmla="*/ 1797 w 2128"/>
                  <a:gd name="T17" fmla="*/ 802 h 1804"/>
                  <a:gd name="T18" fmla="*/ 1665 w 2128"/>
                  <a:gd name="T19" fmla="*/ 797 h 1804"/>
                  <a:gd name="T20" fmla="*/ 1512 w 2128"/>
                  <a:gd name="T21" fmla="*/ 870 h 1804"/>
                  <a:gd name="T22" fmla="*/ 1305 w 2128"/>
                  <a:gd name="T23" fmla="*/ 678 h 1804"/>
                  <a:gd name="T24" fmla="*/ 1312 w 2128"/>
                  <a:gd name="T25" fmla="*/ 422 h 1804"/>
                  <a:gd name="T26" fmla="*/ 1161 w 2128"/>
                  <a:gd name="T27" fmla="*/ 472 h 1804"/>
                  <a:gd name="T28" fmla="*/ 984 w 2128"/>
                  <a:gd name="T29" fmla="*/ 458 h 1804"/>
                  <a:gd name="T30" fmla="*/ 892 w 2128"/>
                  <a:gd name="T31" fmla="*/ 371 h 1804"/>
                  <a:gd name="T32" fmla="*/ 763 w 2128"/>
                  <a:gd name="T33" fmla="*/ 408 h 1804"/>
                  <a:gd name="T34" fmla="*/ 635 w 2128"/>
                  <a:gd name="T35" fmla="*/ 229 h 1804"/>
                  <a:gd name="T36" fmla="*/ 626 w 2128"/>
                  <a:gd name="T37" fmla="*/ 140 h 1804"/>
                  <a:gd name="T38" fmla="*/ 518 w 2128"/>
                  <a:gd name="T39" fmla="*/ 27 h 1804"/>
                  <a:gd name="T40" fmla="*/ 384 w 2128"/>
                  <a:gd name="T41" fmla="*/ 62 h 1804"/>
                  <a:gd name="T42" fmla="*/ 370 w 2128"/>
                  <a:gd name="T43" fmla="*/ 140 h 1804"/>
                  <a:gd name="T44" fmla="*/ 445 w 2128"/>
                  <a:gd name="T45" fmla="*/ 446 h 1804"/>
                  <a:gd name="T46" fmla="*/ 387 w 2128"/>
                  <a:gd name="T47" fmla="*/ 620 h 1804"/>
                  <a:gd name="T48" fmla="*/ 239 w 2128"/>
                  <a:gd name="T49" fmla="*/ 733 h 1804"/>
                  <a:gd name="T50" fmla="*/ 221 w 2128"/>
                  <a:gd name="T51" fmla="*/ 869 h 1804"/>
                  <a:gd name="T52" fmla="*/ 245 w 2128"/>
                  <a:gd name="T53" fmla="*/ 1131 h 1804"/>
                  <a:gd name="T54" fmla="*/ 116 w 2128"/>
                  <a:gd name="T55" fmla="*/ 1165 h 1804"/>
                  <a:gd name="T56" fmla="*/ 14 w 2128"/>
                  <a:gd name="T57" fmla="*/ 1368 h 1804"/>
                  <a:gd name="T58" fmla="*/ 18 w 2128"/>
                  <a:gd name="T59" fmla="*/ 1401 h 1804"/>
                  <a:gd name="T60" fmla="*/ 463 w 2128"/>
                  <a:gd name="T61" fmla="*/ 1615 h 1804"/>
                  <a:gd name="T62" fmla="*/ 600 w 2128"/>
                  <a:gd name="T63" fmla="*/ 1689 h 1804"/>
                  <a:gd name="T64" fmla="*/ 831 w 2128"/>
                  <a:gd name="T65" fmla="*/ 1416 h 1804"/>
                  <a:gd name="T66" fmla="*/ 1145 w 2128"/>
                  <a:gd name="T67" fmla="*/ 1349 h 1804"/>
                  <a:gd name="T68" fmla="*/ 1679 w 2128"/>
                  <a:gd name="T69" fmla="*/ 1726 h 1804"/>
                  <a:gd name="T70" fmla="*/ 1731 w 2128"/>
                  <a:gd name="T71" fmla="*/ 1776 h 18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2128" h="1804">
                    <a:moveTo>
                      <a:pt x="1861" y="1756"/>
                    </a:moveTo>
                    <a:cubicBezTo>
                      <a:pt x="1889" y="1741"/>
                      <a:pt x="1912" y="1728"/>
                      <a:pt x="1933" y="1718"/>
                    </a:cubicBezTo>
                    <a:cubicBezTo>
                      <a:pt x="1933" y="1706"/>
                      <a:pt x="1930" y="1657"/>
                      <a:pt x="1931" y="1625"/>
                    </a:cubicBezTo>
                    <a:cubicBezTo>
                      <a:pt x="1933" y="1587"/>
                      <a:pt x="2014" y="1614"/>
                      <a:pt x="2068" y="1628"/>
                    </a:cubicBezTo>
                    <a:cubicBezTo>
                      <a:pt x="2084" y="1610"/>
                      <a:pt x="2123" y="1595"/>
                      <a:pt x="2123" y="1595"/>
                    </a:cubicBezTo>
                    <a:cubicBezTo>
                      <a:pt x="2123" y="1595"/>
                      <a:pt x="2128" y="1561"/>
                      <a:pt x="2121" y="1509"/>
                    </a:cubicBezTo>
                    <a:cubicBezTo>
                      <a:pt x="2092" y="1483"/>
                      <a:pt x="2061" y="1425"/>
                      <a:pt x="2048" y="1403"/>
                    </a:cubicBezTo>
                    <a:cubicBezTo>
                      <a:pt x="2036" y="1381"/>
                      <a:pt x="1984" y="1300"/>
                      <a:pt x="1970" y="1282"/>
                    </a:cubicBezTo>
                    <a:cubicBezTo>
                      <a:pt x="1956" y="1263"/>
                      <a:pt x="1961" y="1247"/>
                      <a:pt x="1961" y="1216"/>
                    </a:cubicBezTo>
                    <a:cubicBezTo>
                      <a:pt x="1961" y="1185"/>
                      <a:pt x="1994" y="1163"/>
                      <a:pt x="1994" y="1163"/>
                    </a:cubicBezTo>
                    <a:cubicBezTo>
                      <a:pt x="1995" y="1163"/>
                      <a:pt x="1996" y="1163"/>
                      <a:pt x="1996" y="1163"/>
                    </a:cubicBezTo>
                    <a:cubicBezTo>
                      <a:pt x="1989" y="1145"/>
                      <a:pt x="1975" y="1135"/>
                      <a:pt x="1958" y="1113"/>
                    </a:cubicBezTo>
                    <a:cubicBezTo>
                      <a:pt x="1937" y="1087"/>
                      <a:pt x="1934" y="1056"/>
                      <a:pt x="1934" y="1024"/>
                    </a:cubicBezTo>
                    <a:cubicBezTo>
                      <a:pt x="1934" y="993"/>
                      <a:pt x="1934" y="981"/>
                      <a:pt x="1923" y="954"/>
                    </a:cubicBezTo>
                    <a:cubicBezTo>
                      <a:pt x="1919" y="944"/>
                      <a:pt x="1912" y="921"/>
                      <a:pt x="1905" y="896"/>
                    </a:cubicBezTo>
                    <a:cubicBezTo>
                      <a:pt x="1899" y="895"/>
                      <a:pt x="1887" y="895"/>
                      <a:pt x="1863" y="894"/>
                    </a:cubicBezTo>
                    <a:cubicBezTo>
                      <a:pt x="1811" y="893"/>
                      <a:pt x="1816" y="864"/>
                      <a:pt x="1811" y="833"/>
                    </a:cubicBezTo>
                    <a:cubicBezTo>
                      <a:pt x="1807" y="802"/>
                      <a:pt x="1802" y="799"/>
                      <a:pt x="1797" y="802"/>
                    </a:cubicBezTo>
                    <a:cubicBezTo>
                      <a:pt x="1793" y="805"/>
                      <a:pt x="1773" y="818"/>
                      <a:pt x="1743" y="823"/>
                    </a:cubicBezTo>
                    <a:cubicBezTo>
                      <a:pt x="1713" y="829"/>
                      <a:pt x="1696" y="804"/>
                      <a:pt x="1665" y="797"/>
                    </a:cubicBezTo>
                    <a:cubicBezTo>
                      <a:pt x="1634" y="789"/>
                      <a:pt x="1588" y="790"/>
                      <a:pt x="1573" y="837"/>
                    </a:cubicBezTo>
                    <a:cubicBezTo>
                      <a:pt x="1558" y="885"/>
                      <a:pt x="1533" y="870"/>
                      <a:pt x="1512" y="870"/>
                    </a:cubicBezTo>
                    <a:cubicBezTo>
                      <a:pt x="1490" y="870"/>
                      <a:pt x="1382" y="828"/>
                      <a:pt x="1339" y="804"/>
                    </a:cubicBezTo>
                    <a:cubicBezTo>
                      <a:pt x="1296" y="781"/>
                      <a:pt x="1305" y="741"/>
                      <a:pt x="1305" y="678"/>
                    </a:cubicBezTo>
                    <a:cubicBezTo>
                      <a:pt x="1305" y="616"/>
                      <a:pt x="1323" y="557"/>
                      <a:pt x="1353" y="514"/>
                    </a:cubicBezTo>
                    <a:cubicBezTo>
                      <a:pt x="1383" y="471"/>
                      <a:pt x="1352" y="442"/>
                      <a:pt x="1312" y="422"/>
                    </a:cubicBezTo>
                    <a:cubicBezTo>
                      <a:pt x="1272" y="401"/>
                      <a:pt x="1243" y="431"/>
                      <a:pt x="1221" y="454"/>
                    </a:cubicBezTo>
                    <a:cubicBezTo>
                      <a:pt x="1198" y="476"/>
                      <a:pt x="1184" y="483"/>
                      <a:pt x="1161" y="472"/>
                    </a:cubicBezTo>
                    <a:cubicBezTo>
                      <a:pt x="1128" y="446"/>
                      <a:pt x="1130" y="460"/>
                      <a:pt x="1106" y="482"/>
                    </a:cubicBezTo>
                    <a:cubicBezTo>
                      <a:pt x="1081" y="503"/>
                      <a:pt x="1011" y="485"/>
                      <a:pt x="984" y="458"/>
                    </a:cubicBezTo>
                    <a:cubicBezTo>
                      <a:pt x="963" y="437"/>
                      <a:pt x="892" y="396"/>
                      <a:pt x="865" y="380"/>
                    </a:cubicBezTo>
                    <a:cubicBezTo>
                      <a:pt x="873" y="376"/>
                      <a:pt x="880" y="373"/>
                      <a:pt x="892" y="371"/>
                    </a:cubicBezTo>
                    <a:cubicBezTo>
                      <a:pt x="867" y="375"/>
                      <a:pt x="859" y="383"/>
                      <a:pt x="832" y="413"/>
                    </a:cubicBezTo>
                    <a:cubicBezTo>
                      <a:pt x="802" y="447"/>
                      <a:pt x="775" y="431"/>
                      <a:pt x="763" y="408"/>
                    </a:cubicBezTo>
                    <a:cubicBezTo>
                      <a:pt x="752" y="385"/>
                      <a:pt x="729" y="335"/>
                      <a:pt x="693" y="293"/>
                    </a:cubicBezTo>
                    <a:cubicBezTo>
                      <a:pt x="656" y="251"/>
                      <a:pt x="639" y="235"/>
                      <a:pt x="635" y="229"/>
                    </a:cubicBezTo>
                    <a:cubicBezTo>
                      <a:pt x="631" y="224"/>
                      <a:pt x="623" y="206"/>
                      <a:pt x="635" y="188"/>
                    </a:cubicBezTo>
                    <a:cubicBezTo>
                      <a:pt x="646" y="169"/>
                      <a:pt x="642" y="140"/>
                      <a:pt x="626" y="140"/>
                    </a:cubicBezTo>
                    <a:cubicBezTo>
                      <a:pt x="610" y="140"/>
                      <a:pt x="603" y="128"/>
                      <a:pt x="602" y="104"/>
                    </a:cubicBezTo>
                    <a:cubicBezTo>
                      <a:pt x="600" y="79"/>
                      <a:pt x="553" y="55"/>
                      <a:pt x="518" y="27"/>
                    </a:cubicBezTo>
                    <a:cubicBezTo>
                      <a:pt x="483" y="0"/>
                      <a:pt x="453" y="0"/>
                      <a:pt x="426" y="6"/>
                    </a:cubicBezTo>
                    <a:cubicBezTo>
                      <a:pt x="398" y="12"/>
                      <a:pt x="385" y="85"/>
                      <a:pt x="384" y="62"/>
                    </a:cubicBezTo>
                    <a:cubicBezTo>
                      <a:pt x="376" y="63"/>
                      <a:pt x="376" y="63"/>
                      <a:pt x="376" y="63"/>
                    </a:cubicBezTo>
                    <a:cubicBezTo>
                      <a:pt x="376" y="63"/>
                      <a:pt x="354" y="80"/>
                      <a:pt x="370" y="140"/>
                    </a:cubicBezTo>
                    <a:cubicBezTo>
                      <a:pt x="386" y="200"/>
                      <a:pt x="418" y="274"/>
                      <a:pt x="422" y="317"/>
                    </a:cubicBezTo>
                    <a:cubicBezTo>
                      <a:pt x="427" y="360"/>
                      <a:pt x="444" y="417"/>
                      <a:pt x="445" y="446"/>
                    </a:cubicBezTo>
                    <a:cubicBezTo>
                      <a:pt x="446" y="475"/>
                      <a:pt x="415" y="479"/>
                      <a:pt x="412" y="501"/>
                    </a:cubicBezTo>
                    <a:cubicBezTo>
                      <a:pt x="408" y="524"/>
                      <a:pt x="438" y="615"/>
                      <a:pt x="387" y="620"/>
                    </a:cubicBezTo>
                    <a:cubicBezTo>
                      <a:pt x="335" y="626"/>
                      <a:pt x="329" y="623"/>
                      <a:pt x="314" y="648"/>
                    </a:cubicBezTo>
                    <a:cubicBezTo>
                      <a:pt x="299" y="674"/>
                      <a:pt x="318" y="733"/>
                      <a:pt x="239" y="733"/>
                    </a:cubicBezTo>
                    <a:cubicBezTo>
                      <a:pt x="159" y="733"/>
                      <a:pt x="201" y="773"/>
                      <a:pt x="210" y="792"/>
                    </a:cubicBezTo>
                    <a:cubicBezTo>
                      <a:pt x="218" y="812"/>
                      <a:pt x="200" y="851"/>
                      <a:pt x="221" y="869"/>
                    </a:cubicBezTo>
                    <a:cubicBezTo>
                      <a:pt x="243" y="886"/>
                      <a:pt x="318" y="872"/>
                      <a:pt x="287" y="942"/>
                    </a:cubicBezTo>
                    <a:cubicBezTo>
                      <a:pt x="256" y="1011"/>
                      <a:pt x="233" y="1088"/>
                      <a:pt x="245" y="1131"/>
                    </a:cubicBezTo>
                    <a:cubicBezTo>
                      <a:pt x="257" y="1174"/>
                      <a:pt x="277" y="1201"/>
                      <a:pt x="235" y="1183"/>
                    </a:cubicBezTo>
                    <a:cubicBezTo>
                      <a:pt x="193" y="1166"/>
                      <a:pt x="118" y="1094"/>
                      <a:pt x="116" y="1165"/>
                    </a:cubicBezTo>
                    <a:cubicBezTo>
                      <a:pt x="114" y="1236"/>
                      <a:pt x="166" y="1226"/>
                      <a:pt x="83" y="1267"/>
                    </a:cubicBezTo>
                    <a:cubicBezTo>
                      <a:pt x="0" y="1308"/>
                      <a:pt x="10" y="1335"/>
                      <a:pt x="14" y="1368"/>
                    </a:cubicBezTo>
                    <a:cubicBezTo>
                      <a:pt x="15" y="1379"/>
                      <a:pt x="18" y="1393"/>
                      <a:pt x="22" y="1407"/>
                    </a:cubicBezTo>
                    <a:cubicBezTo>
                      <a:pt x="20" y="1405"/>
                      <a:pt x="19" y="1403"/>
                      <a:pt x="18" y="1401"/>
                    </a:cubicBezTo>
                    <a:cubicBezTo>
                      <a:pt x="43" y="1440"/>
                      <a:pt x="132" y="1581"/>
                      <a:pt x="294" y="1518"/>
                    </a:cubicBezTo>
                    <a:cubicBezTo>
                      <a:pt x="333" y="1540"/>
                      <a:pt x="431" y="1611"/>
                      <a:pt x="463" y="1615"/>
                    </a:cubicBezTo>
                    <a:cubicBezTo>
                      <a:pt x="496" y="1620"/>
                      <a:pt x="528" y="1624"/>
                      <a:pt x="550" y="1650"/>
                    </a:cubicBezTo>
                    <a:cubicBezTo>
                      <a:pt x="571" y="1676"/>
                      <a:pt x="600" y="1689"/>
                      <a:pt x="600" y="1689"/>
                    </a:cubicBezTo>
                    <a:cubicBezTo>
                      <a:pt x="600" y="1689"/>
                      <a:pt x="643" y="1641"/>
                      <a:pt x="673" y="1557"/>
                    </a:cubicBezTo>
                    <a:cubicBezTo>
                      <a:pt x="703" y="1499"/>
                      <a:pt x="790" y="1425"/>
                      <a:pt x="831" y="1416"/>
                    </a:cubicBezTo>
                    <a:cubicBezTo>
                      <a:pt x="872" y="1408"/>
                      <a:pt x="1017" y="1410"/>
                      <a:pt x="1017" y="1410"/>
                    </a:cubicBezTo>
                    <a:cubicBezTo>
                      <a:pt x="1017" y="1410"/>
                      <a:pt x="1095" y="1332"/>
                      <a:pt x="1145" y="1349"/>
                    </a:cubicBezTo>
                    <a:cubicBezTo>
                      <a:pt x="1194" y="1367"/>
                      <a:pt x="1504" y="1581"/>
                      <a:pt x="1504" y="1581"/>
                    </a:cubicBezTo>
                    <a:cubicBezTo>
                      <a:pt x="1504" y="1581"/>
                      <a:pt x="1675" y="1715"/>
                      <a:pt x="1679" y="1726"/>
                    </a:cubicBezTo>
                    <a:cubicBezTo>
                      <a:pt x="1679" y="1726"/>
                      <a:pt x="1682" y="1732"/>
                      <a:pt x="1682" y="1741"/>
                    </a:cubicBezTo>
                    <a:cubicBezTo>
                      <a:pt x="1698" y="1754"/>
                      <a:pt x="1722" y="1773"/>
                      <a:pt x="1731" y="1776"/>
                    </a:cubicBezTo>
                    <a:cubicBezTo>
                      <a:pt x="1745" y="1782"/>
                      <a:pt x="1783" y="1804"/>
                      <a:pt x="1861" y="175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35" name="Freeform 1810">
                <a:extLst>
                  <a:ext uri="{FF2B5EF4-FFF2-40B4-BE49-F238E27FC236}">
                    <a16:creationId xmlns:a16="http://schemas.microsoft.com/office/drawing/2014/main" id="{95127085-18A8-E63F-4329-F9ADF12B75E4}"/>
                  </a:ext>
                </a:extLst>
              </p:cNvPr>
              <p:cNvSpPr>
                <a:spLocks/>
              </p:cNvSpPr>
              <p:nvPr/>
            </p:nvSpPr>
            <p:spPr bwMode="auto">
              <a:xfrm>
                <a:off x="1282" y="829"/>
                <a:ext cx="441" cy="385"/>
              </a:xfrm>
              <a:custGeom>
                <a:avLst/>
                <a:gdLst>
                  <a:gd name="T0" fmla="*/ 831 w 1999"/>
                  <a:gd name="T1" fmla="*/ 937 h 1742"/>
                  <a:gd name="T2" fmla="*/ 922 w 1999"/>
                  <a:gd name="T3" fmla="*/ 970 h 1742"/>
                  <a:gd name="T4" fmla="*/ 900 w 1999"/>
                  <a:gd name="T5" fmla="*/ 1071 h 1742"/>
                  <a:gd name="T6" fmla="*/ 933 w 1999"/>
                  <a:gd name="T7" fmla="*/ 1264 h 1742"/>
                  <a:gd name="T8" fmla="*/ 1047 w 1999"/>
                  <a:gd name="T9" fmla="*/ 1378 h 1742"/>
                  <a:gd name="T10" fmla="*/ 1015 w 1999"/>
                  <a:gd name="T11" fmla="*/ 1461 h 1742"/>
                  <a:gd name="T12" fmla="*/ 1041 w 1999"/>
                  <a:gd name="T13" fmla="*/ 1493 h 1742"/>
                  <a:gd name="T14" fmla="*/ 1093 w 1999"/>
                  <a:gd name="T15" fmla="*/ 1443 h 1742"/>
                  <a:gd name="T16" fmla="*/ 1145 w 1999"/>
                  <a:gd name="T17" fmla="*/ 1435 h 1742"/>
                  <a:gd name="T18" fmla="*/ 1220 w 1999"/>
                  <a:gd name="T19" fmla="*/ 1547 h 1742"/>
                  <a:gd name="T20" fmla="*/ 1348 w 1999"/>
                  <a:gd name="T21" fmla="*/ 1532 h 1742"/>
                  <a:gd name="T22" fmla="*/ 1430 w 1999"/>
                  <a:gd name="T23" fmla="*/ 1632 h 1742"/>
                  <a:gd name="T24" fmla="*/ 1474 w 1999"/>
                  <a:gd name="T25" fmla="*/ 1671 h 1742"/>
                  <a:gd name="T26" fmla="*/ 1528 w 1999"/>
                  <a:gd name="T27" fmla="*/ 1716 h 1742"/>
                  <a:gd name="T28" fmla="*/ 1636 w 1999"/>
                  <a:gd name="T29" fmla="*/ 1742 h 1742"/>
                  <a:gd name="T30" fmla="*/ 1648 w 1999"/>
                  <a:gd name="T31" fmla="*/ 1741 h 1742"/>
                  <a:gd name="T32" fmla="*/ 1641 w 1999"/>
                  <a:gd name="T33" fmla="*/ 1672 h 1742"/>
                  <a:gd name="T34" fmla="*/ 1656 w 1999"/>
                  <a:gd name="T35" fmla="*/ 1610 h 1742"/>
                  <a:gd name="T36" fmla="*/ 1675 w 1999"/>
                  <a:gd name="T37" fmla="*/ 1503 h 1742"/>
                  <a:gd name="T38" fmla="*/ 1688 w 1999"/>
                  <a:gd name="T39" fmla="*/ 1436 h 1742"/>
                  <a:gd name="T40" fmla="*/ 1677 w 1999"/>
                  <a:gd name="T41" fmla="*/ 1391 h 1742"/>
                  <a:gd name="T42" fmla="*/ 1710 w 1999"/>
                  <a:gd name="T43" fmla="*/ 1349 h 1742"/>
                  <a:gd name="T44" fmla="*/ 1740 w 1999"/>
                  <a:gd name="T45" fmla="*/ 1258 h 1742"/>
                  <a:gd name="T46" fmla="*/ 1795 w 1999"/>
                  <a:gd name="T47" fmla="*/ 1182 h 1742"/>
                  <a:gd name="T48" fmla="*/ 1872 w 1999"/>
                  <a:gd name="T49" fmla="*/ 953 h 1742"/>
                  <a:gd name="T50" fmla="*/ 1922 w 1999"/>
                  <a:gd name="T51" fmla="*/ 963 h 1742"/>
                  <a:gd name="T52" fmla="*/ 1934 w 1999"/>
                  <a:gd name="T53" fmla="*/ 946 h 1742"/>
                  <a:gd name="T54" fmla="*/ 1988 w 1999"/>
                  <a:gd name="T55" fmla="*/ 835 h 1742"/>
                  <a:gd name="T56" fmla="*/ 1928 w 1999"/>
                  <a:gd name="T57" fmla="*/ 805 h 1742"/>
                  <a:gd name="T58" fmla="*/ 1776 w 1999"/>
                  <a:gd name="T59" fmla="*/ 721 h 1742"/>
                  <a:gd name="T60" fmla="*/ 1532 w 1999"/>
                  <a:gd name="T61" fmla="*/ 556 h 1742"/>
                  <a:gd name="T62" fmla="*/ 1393 w 1999"/>
                  <a:gd name="T63" fmla="*/ 413 h 1742"/>
                  <a:gd name="T64" fmla="*/ 1374 w 1999"/>
                  <a:gd name="T65" fmla="*/ 413 h 1742"/>
                  <a:gd name="T66" fmla="*/ 1243 w 1999"/>
                  <a:gd name="T67" fmla="*/ 396 h 1742"/>
                  <a:gd name="T68" fmla="*/ 1067 w 1999"/>
                  <a:gd name="T69" fmla="*/ 335 h 1742"/>
                  <a:gd name="T70" fmla="*/ 1021 w 1999"/>
                  <a:gd name="T71" fmla="*/ 308 h 1742"/>
                  <a:gd name="T72" fmla="*/ 979 w 1999"/>
                  <a:gd name="T73" fmla="*/ 237 h 1742"/>
                  <a:gd name="T74" fmla="*/ 890 w 1999"/>
                  <a:gd name="T75" fmla="*/ 163 h 1742"/>
                  <a:gd name="T76" fmla="*/ 847 w 1999"/>
                  <a:gd name="T77" fmla="*/ 154 h 1742"/>
                  <a:gd name="T78" fmla="*/ 759 w 1999"/>
                  <a:gd name="T79" fmla="*/ 163 h 1742"/>
                  <a:gd name="T80" fmla="*/ 700 w 1999"/>
                  <a:gd name="T81" fmla="*/ 104 h 1742"/>
                  <a:gd name="T82" fmla="*/ 613 w 1999"/>
                  <a:gd name="T83" fmla="*/ 14 h 1742"/>
                  <a:gd name="T84" fmla="*/ 557 w 1999"/>
                  <a:gd name="T85" fmla="*/ 15 h 1742"/>
                  <a:gd name="T86" fmla="*/ 557 w 1999"/>
                  <a:gd name="T87" fmla="*/ 0 h 1742"/>
                  <a:gd name="T88" fmla="*/ 557 w 1999"/>
                  <a:gd name="T89" fmla="*/ 12 h 1742"/>
                  <a:gd name="T90" fmla="*/ 485 w 1999"/>
                  <a:gd name="T91" fmla="*/ 50 h 1742"/>
                  <a:gd name="T92" fmla="*/ 355 w 1999"/>
                  <a:gd name="T93" fmla="*/ 70 h 1742"/>
                  <a:gd name="T94" fmla="*/ 306 w 1999"/>
                  <a:gd name="T95" fmla="*/ 35 h 1742"/>
                  <a:gd name="T96" fmla="*/ 306 w 1999"/>
                  <a:gd name="T97" fmla="*/ 35 h 1742"/>
                  <a:gd name="T98" fmla="*/ 266 w 1999"/>
                  <a:gd name="T99" fmla="*/ 85 h 1742"/>
                  <a:gd name="T100" fmla="*/ 0 w 1999"/>
                  <a:gd name="T101" fmla="*/ 251 h 1742"/>
                  <a:gd name="T102" fmla="*/ 65 w 1999"/>
                  <a:gd name="T103" fmla="*/ 381 h 1742"/>
                  <a:gd name="T104" fmla="*/ 336 w 1999"/>
                  <a:gd name="T105" fmla="*/ 251 h 1742"/>
                  <a:gd name="T106" fmla="*/ 383 w 1999"/>
                  <a:gd name="T107" fmla="*/ 310 h 1742"/>
                  <a:gd name="T108" fmla="*/ 301 w 1999"/>
                  <a:gd name="T109" fmla="*/ 526 h 1742"/>
                  <a:gd name="T110" fmla="*/ 413 w 1999"/>
                  <a:gd name="T111" fmla="*/ 593 h 1742"/>
                  <a:gd name="T112" fmla="*/ 519 w 1999"/>
                  <a:gd name="T113" fmla="*/ 623 h 1742"/>
                  <a:gd name="T114" fmla="*/ 612 w 1999"/>
                  <a:gd name="T115" fmla="*/ 669 h 1742"/>
                  <a:gd name="T116" fmla="*/ 684 w 1999"/>
                  <a:gd name="T117" fmla="*/ 671 h 1742"/>
                  <a:gd name="T118" fmla="*/ 680 w 1999"/>
                  <a:gd name="T119" fmla="*/ 771 h 1742"/>
                  <a:gd name="T120" fmla="*/ 639 w 1999"/>
                  <a:gd name="T121" fmla="*/ 855 h 1742"/>
                  <a:gd name="T122" fmla="*/ 746 w 1999"/>
                  <a:gd name="T123" fmla="*/ 932 h 1742"/>
                  <a:gd name="T124" fmla="*/ 831 w 1999"/>
                  <a:gd name="T125" fmla="*/ 937 h 17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999" h="1742">
                    <a:moveTo>
                      <a:pt x="831" y="937"/>
                    </a:moveTo>
                    <a:cubicBezTo>
                      <a:pt x="848" y="937"/>
                      <a:pt x="915" y="957"/>
                      <a:pt x="922" y="970"/>
                    </a:cubicBezTo>
                    <a:cubicBezTo>
                      <a:pt x="928" y="983"/>
                      <a:pt x="946" y="1024"/>
                      <a:pt x="900" y="1071"/>
                    </a:cubicBezTo>
                    <a:cubicBezTo>
                      <a:pt x="876" y="1104"/>
                      <a:pt x="844" y="1166"/>
                      <a:pt x="933" y="1264"/>
                    </a:cubicBezTo>
                    <a:cubicBezTo>
                      <a:pt x="1000" y="1311"/>
                      <a:pt x="1058" y="1337"/>
                      <a:pt x="1047" y="1378"/>
                    </a:cubicBezTo>
                    <a:cubicBezTo>
                      <a:pt x="1036" y="1420"/>
                      <a:pt x="1015" y="1461"/>
                      <a:pt x="1015" y="1461"/>
                    </a:cubicBezTo>
                    <a:cubicBezTo>
                      <a:pt x="1015" y="1461"/>
                      <a:pt x="1032" y="1487"/>
                      <a:pt x="1041" y="1493"/>
                    </a:cubicBezTo>
                    <a:cubicBezTo>
                      <a:pt x="1049" y="1500"/>
                      <a:pt x="1080" y="1459"/>
                      <a:pt x="1093" y="1443"/>
                    </a:cubicBezTo>
                    <a:cubicBezTo>
                      <a:pt x="1106" y="1428"/>
                      <a:pt x="1145" y="1394"/>
                      <a:pt x="1145" y="1435"/>
                    </a:cubicBezTo>
                    <a:cubicBezTo>
                      <a:pt x="1145" y="1476"/>
                      <a:pt x="1175" y="1556"/>
                      <a:pt x="1220" y="1547"/>
                    </a:cubicBezTo>
                    <a:cubicBezTo>
                      <a:pt x="1266" y="1539"/>
                      <a:pt x="1324" y="1506"/>
                      <a:pt x="1348" y="1532"/>
                    </a:cubicBezTo>
                    <a:cubicBezTo>
                      <a:pt x="1372" y="1558"/>
                      <a:pt x="1411" y="1627"/>
                      <a:pt x="1430" y="1632"/>
                    </a:cubicBezTo>
                    <a:cubicBezTo>
                      <a:pt x="1450" y="1636"/>
                      <a:pt x="1474" y="1651"/>
                      <a:pt x="1474" y="1671"/>
                    </a:cubicBezTo>
                    <a:cubicBezTo>
                      <a:pt x="1474" y="1690"/>
                      <a:pt x="1482" y="1709"/>
                      <a:pt x="1528" y="1716"/>
                    </a:cubicBezTo>
                    <a:cubicBezTo>
                      <a:pt x="1573" y="1722"/>
                      <a:pt x="1636" y="1742"/>
                      <a:pt x="1636" y="1742"/>
                    </a:cubicBezTo>
                    <a:cubicBezTo>
                      <a:pt x="1648" y="1741"/>
                      <a:pt x="1648" y="1741"/>
                      <a:pt x="1648" y="1741"/>
                    </a:cubicBezTo>
                    <a:cubicBezTo>
                      <a:pt x="1648" y="1726"/>
                      <a:pt x="1647" y="1707"/>
                      <a:pt x="1641" y="1672"/>
                    </a:cubicBezTo>
                    <a:cubicBezTo>
                      <a:pt x="1635" y="1636"/>
                      <a:pt x="1651" y="1624"/>
                      <a:pt x="1656" y="1610"/>
                    </a:cubicBezTo>
                    <a:cubicBezTo>
                      <a:pt x="1662" y="1596"/>
                      <a:pt x="1675" y="1541"/>
                      <a:pt x="1675" y="1503"/>
                    </a:cubicBezTo>
                    <a:cubicBezTo>
                      <a:pt x="1675" y="1465"/>
                      <a:pt x="1688" y="1442"/>
                      <a:pt x="1688" y="1436"/>
                    </a:cubicBezTo>
                    <a:cubicBezTo>
                      <a:pt x="1688" y="1429"/>
                      <a:pt x="1677" y="1400"/>
                      <a:pt x="1677" y="1391"/>
                    </a:cubicBezTo>
                    <a:cubicBezTo>
                      <a:pt x="1677" y="1383"/>
                      <a:pt x="1705" y="1358"/>
                      <a:pt x="1710" y="1349"/>
                    </a:cubicBezTo>
                    <a:cubicBezTo>
                      <a:pt x="1716" y="1341"/>
                      <a:pt x="1733" y="1290"/>
                      <a:pt x="1740" y="1258"/>
                    </a:cubicBezTo>
                    <a:cubicBezTo>
                      <a:pt x="1746" y="1227"/>
                      <a:pt x="1791" y="1197"/>
                      <a:pt x="1795" y="1182"/>
                    </a:cubicBezTo>
                    <a:cubicBezTo>
                      <a:pt x="1812" y="1116"/>
                      <a:pt x="1869" y="956"/>
                      <a:pt x="1872" y="953"/>
                    </a:cubicBezTo>
                    <a:cubicBezTo>
                      <a:pt x="1900" y="918"/>
                      <a:pt x="1912" y="941"/>
                      <a:pt x="1922" y="963"/>
                    </a:cubicBezTo>
                    <a:cubicBezTo>
                      <a:pt x="1934" y="946"/>
                      <a:pt x="1934" y="946"/>
                      <a:pt x="1934" y="946"/>
                    </a:cubicBezTo>
                    <a:cubicBezTo>
                      <a:pt x="1934" y="946"/>
                      <a:pt x="1999" y="864"/>
                      <a:pt x="1988" y="835"/>
                    </a:cubicBezTo>
                    <a:cubicBezTo>
                      <a:pt x="1978" y="807"/>
                      <a:pt x="1973" y="814"/>
                      <a:pt x="1928" y="805"/>
                    </a:cubicBezTo>
                    <a:cubicBezTo>
                      <a:pt x="1882" y="797"/>
                      <a:pt x="1835" y="773"/>
                      <a:pt x="1776" y="721"/>
                    </a:cubicBezTo>
                    <a:cubicBezTo>
                      <a:pt x="1727" y="695"/>
                      <a:pt x="1558" y="606"/>
                      <a:pt x="1532" y="556"/>
                    </a:cubicBezTo>
                    <a:cubicBezTo>
                      <a:pt x="1481" y="523"/>
                      <a:pt x="1439" y="527"/>
                      <a:pt x="1393" y="413"/>
                    </a:cubicBezTo>
                    <a:cubicBezTo>
                      <a:pt x="1387" y="413"/>
                      <a:pt x="1381" y="413"/>
                      <a:pt x="1374" y="413"/>
                    </a:cubicBezTo>
                    <a:cubicBezTo>
                      <a:pt x="1308" y="413"/>
                      <a:pt x="1269" y="410"/>
                      <a:pt x="1243" y="396"/>
                    </a:cubicBezTo>
                    <a:cubicBezTo>
                      <a:pt x="1216" y="382"/>
                      <a:pt x="1098" y="346"/>
                      <a:pt x="1067" y="335"/>
                    </a:cubicBezTo>
                    <a:cubicBezTo>
                      <a:pt x="1035" y="324"/>
                      <a:pt x="1029" y="333"/>
                      <a:pt x="1021" y="308"/>
                    </a:cubicBezTo>
                    <a:cubicBezTo>
                      <a:pt x="1014" y="283"/>
                      <a:pt x="989" y="244"/>
                      <a:pt x="979" y="237"/>
                    </a:cubicBezTo>
                    <a:cubicBezTo>
                      <a:pt x="970" y="229"/>
                      <a:pt x="914" y="184"/>
                      <a:pt x="890" y="163"/>
                    </a:cubicBezTo>
                    <a:cubicBezTo>
                      <a:pt x="867" y="143"/>
                      <a:pt x="864" y="140"/>
                      <a:pt x="847" y="154"/>
                    </a:cubicBezTo>
                    <a:cubicBezTo>
                      <a:pt x="830" y="168"/>
                      <a:pt x="783" y="179"/>
                      <a:pt x="759" y="163"/>
                    </a:cubicBezTo>
                    <a:cubicBezTo>
                      <a:pt x="736" y="148"/>
                      <a:pt x="702" y="154"/>
                      <a:pt x="700" y="104"/>
                    </a:cubicBezTo>
                    <a:cubicBezTo>
                      <a:pt x="699" y="54"/>
                      <a:pt x="641" y="29"/>
                      <a:pt x="613" y="14"/>
                    </a:cubicBezTo>
                    <a:cubicBezTo>
                      <a:pt x="613" y="14"/>
                      <a:pt x="573" y="9"/>
                      <a:pt x="557" y="15"/>
                    </a:cubicBezTo>
                    <a:cubicBezTo>
                      <a:pt x="557" y="15"/>
                      <a:pt x="557" y="9"/>
                      <a:pt x="557" y="0"/>
                    </a:cubicBezTo>
                    <a:cubicBezTo>
                      <a:pt x="557" y="6"/>
                      <a:pt x="557" y="10"/>
                      <a:pt x="557" y="12"/>
                    </a:cubicBezTo>
                    <a:cubicBezTo>
                      <a:pt x="536" y="22"/>
                      <a:pt x="513" y="35"/>
                      <a:pt x="485" y="50"/>
                    </a:cubicBezTo>
                    <a:cubicBezTo>
                      <a:pt x="407" y="98"/>
                      <a:pt x="369" y="76"/>
                      <a:pt x="355" y="70"/>
                    </a:cubicBezTo>
                    <a:cubicBezTo>
                      <a:pt x="346" y="67"/>
                      <a:pt x="322" y="48"/>
                      <a:pt x="306" y="35"/>
                    </a:cubicBezTo>
                    <a:cubicBezTo>
                      <a:pt x="306" y="35"/>
                      <a:pt x="306" y="35"/>
                      <a:pt x="306" y="35"/>
                    </a:cubicBezTo>
                    <a:cubicBezTo>
                      <a:pt x="306" y="48"/>
                      <a:pt x="299" y="69"/>
                      <a:pt x="266" y="85"/>
                    </a:cubicBezTo>
                    <a:cubicBezTo>
                      <a:pt x="212" y="111"/>
                      <a:pt x="0" y="251"/>
                      <a:pt x="0" y="251"/>
                    </a:cubicBezTo>
                    <a:cubicBezTo>
                      <a:pt x="0" y="251"/>
                      <a:pt x="26" y="381"/>
                      <a:pt x="65" y="381"/>
                    </a:cubicBezTo>
                    <a:cubicBezTo>
                      <a:pt x="85" y="377"/>
                      <a:pt x="180" y="381"/>
                      <a:pt x="336" y="251"/>
                    </a:cubicBezTo>
                    <a:cubicBezTo>
                      <a:pt x="366" y="264"/>
                      <a:pt x="383" y="310"/>
                      <a:pt x="383" y="310"/>
                    </a:cubicBezTo>
                    <a:cubicBezTo>
                      <a:pt x="383" y="310"/>
                      <a:pt x="238" y="388"/>
                      <a:pt x="301" y="526"/>
                    </a:cubicBezTo>
                    <a:cubicBezTo>
                      <a:pt x="314" y="554"/>
                      <a:pt x="338" y="589"/>
                      <a:pt x="413" y="593"/>
                    </a:cubicBezTo>
                    <a:cubicBezTo>
                      <a:pt x="465" y="597"/>
                      <a:pt x="513" y="610"/>
                      <a:pt x="519" y="623"/>
                    </a:cubicBezTo>
                    <a:cubicBezTo>
                      <a:pt x="526" y="636"/>
                      <a:pt x="580" y="682"/>
                      <a:pt x="612" y="669"/>
                    </a:cubicBezTo>
                    <a:cubicBezTo>
                      <a:pt x="645" y="656"/>
                      <a:pt x="675" y="652"/>
                      <a:pt x="684" y="671"/>
                    </a:cubicBezTo>
                    <a:cubicBezTo>
                      <a:pt x="693" y="690"/>
                      <a:pt x="699" y="712"/>
                      <a:pt x="680" y="771"/>
                    </a:cubicBezTo>
                    <a:cubicBezTo>
                      <a:pt x="669" y="804"/>
                      <a:pt x="656" y="832"/>
                      <a:pt x="639" y="855"/>
                    </a:cubicBezTo>
                    <a:cubicBezTo>
                      <a:pt x="668" y="879"/>
                      <a:pt x="733" y="932"/>
                      <a:pt x="746" y="932"/>
                    </a:cubicBezTo>
                    <a:cubicBezTo>
                      <a:pt x="763" y="932"/>
                      <a:pt x="814" y="937"/>
                      <a:pt x="831" y="9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36" name="Freeform 1811">
                <a:extLst>
                  <a:ext uri="{FF2B5EF4-FFF2-40B4-BE49-F238E27FC236}">
                    <a16:creationId xmlns:a16="http://schemas.microsoft.com/office/drawing/2014/main" id="{73B358B8-C484-9FBA-437D-7D75CFE0A82B}"/>
                  </a:ext>
                </a:extLst>
              </p:cNvPr>
              <p:cNvSpPr>
                <a:spLocks/>
              </p:cNvSpPr>
              <p:nvPr/>
            </p:nvSpPr>
            <p:spPr bwMode="auto">
              <a:xfrm>
                <a:off x="1589" y="900"/>
                <a:ext cx="153" cy="152"/>
              </a:xfrm>
              <a:custGeom>
                <a:avLst/>
                <a:gdLst>
                  <a:gd name="T0" fmla="*/ 675 w 690"/>
                  <a:gd name="T1" fmla="*/ 465 h 690"/>
                  <a:gd name="T2" fmla="*/ 690 w 690"/>
                  <a:gd name="T3" fmla="*/ 314 h 690"/>
                  <a:gd name="T4" fmla="*/ 638 w 690"/>
                  <a:gd name="T5" fmla="*/ 297 h 690"/>
                  <a:gd name="T6" fmla="*/ 629 w 690"/>
                  <a:gd name="T7" fmla="*/ 266 h 690"/>
                  <a:gd name="T8" fmla="*/ 580 w 690"/>
                  <a:gd name="T9" fmla="*/ 274 h 690"/>
                  <a:gd name="T10" fmla="*/ 567 w 690"/>
                  <a:gd name="T11" fmla="*/ 243 h 690"/>
                  <a:gd name="T12" fmla="*/ 534 w 690"/>
                  <a:gd name="T13" fmla="*/ 233 h 690"/>
                  <a:gd name="T14" fmla="*/ 505 w 690"/>
                  <a:gd name="T15" fmla="*/ 185 h 690"/>
                  <a:gd name="T16" fmla="*/ 458 w 690"/>
                  <a:gd name="T17" fmla="*/ 84 h 690"/>
                  <a:gd name="T18" fmla="*/ 436 w 690"/>
                  <a:gd name="T19" fmla="*/ 63 h 690"/>
                  <a:gd name="T20" fmla="*/ 421 w 690"/>
                  <a:gd name="T21" fmla="*/ 57 h 690"/>
                  <a:gd name="T22" fmla="*/ 388 w 690"/>
                  <a:gd name="T23" fmla="*/ 25 h 690"/>
                  <a:gd name="T24" fmla="*/ 389 w 690"/>
                  <a:gd name="T25" fmla="*/ 25 h 690"/>
                  <a:gd name="T26" fmla="*/ 328 w 690"/>
                  <a:gd name="T27" fmla="*/ 26 h 690"/>
                  <a:gd name="T28" fmla="*/ 241 w 690"/>
                  <a:gd name="T29" fmla="*/ 0 h 690"/>
                  <a:gd name="T30" fmla="*/ 249 w 690"/>
                  <a:gd name="T31" fmla="*/ 71 h 690"/>
                  <a:gd name="T32" fmla="*/ 182 w 690"/>
                  <a:gd name="T33" fmla="*/ 43 h 690"/>
                  <a:gd name="T34" fmla="*/ 171 w 690"/>
                  <a:gd name="T35" fmla="*/ 137 h 690"/>
                  <a:gd name="T36" fmla="*/ 93 w 690"/>
                  <a:gd name="T37" fmla="*/ 121 h 690"/>
                  <a:gd name="T38" fmla="*/ 0 w 690"/>
                  <a:gd name="T39" fmla="*/ 95 h 690"/>
                  <a:gd name="T40" fmla="*/ 139 w 690"/>
                  <a:gd name="T41" fmla="*/ 238 h 690"/>
                  <a:gd name="T42" fmla="*/ 383 w 690"/>
                  <a:gd name="T43" fmla="*/ 403 h 690"/>
                  <a:gd name="T44" fmla="*/ 535 w 690"/>
                  <a:gd name="T45" fmla="*/ 487 h 690"/>
                  <a:gd name="T46" fmla="*/ 595 w 690"/>
                  <a:gd name="T47" fmla="*/ 517 h 690"/>
                  <a:gd name="T48" fmla="*/ 541 w 690"/>
                  <a:gd name="T49" fmla="*/ 628 h 690"/>
                  <a:gd name="T50" fmla="*/ 529 w 690"/>
                  <a:gd name="T51" fmla="*/ 645 h 690"/>
                  <a:gd name="T52" fmla="*/ 548 w 690"/>
                  <a:gd name="T53" fmla="*/ 672 h 690"/>
                  <a:gd name="T54" fmla="*/ 622 w 690"/>
                  <a:gd name="T55" fmla="*/ 589 h 690"/>
                  <a:gd name="T56" fmla="*/ 622 w 690"/>
                  <a:gd name="T57" fmla="*/ 591 h 690"/>
                  <a:gd name="T58" fmla="*/ 629 w 690"/>
                  <a:gd name="T59" fmla="*/ 578 h 690"/>
                  <a:gd name="T60" fmla="*/ 675 w 690"/>
                  <a:gd name="T61" fmla="*/ 465 h 6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90" h="690">
                    <a:moveTo>
                      <a:pt x="675" y="465"/>
                    </a:moveTo>
                    <a:cubicBezTo>
                      <a:pt x="679" y="442"/>
                      <a:pt x="690" y="340"/>
                      <a:pt x="690" y="314"/>
                    </a:cubicBezTo>
                    <a:cubicBezTo>
                      <a:pt x="690" y="289"/>
                      <a:pt x="656" y="299"/>
                      <a:pt x="638" y="297"/>
                    </a:cubicBezTo>
                    <a:cubicBezTo>
                      <a:pt x="621" y="295"/>
                      <a:pt x="629" y="266"/>
                      <a:pt x="629" y="266"/>
                    </a:cubicBezTo>
                    <a:cubicBezTo>
                      <a:pt x="629" y="266"/>
                      <a:pt x="590" y="278"/>
                      <a:pt x="580" y="274"/>
                    </a:cubicBezTo>
                    <a:cubicBezTo>
                      <a:pt x="570" y="270"/>
                      <a:pt x="567" y="243"/>
                      <a:pt x="567" y="243"/>
                    </a:cubicBezTo>
                    <a:cubicBezTo>
                      <a:pt x="567" y="243"/>
                      <a:pt x="536" y="243"/>
                      <a:pt x="534" y="233"/>
                    </a:cubicBezTo>
                    <a:cubicBezTo>
                      <a:pt x="532" y="223"/>
                      <a:pt x="532" y="214"/>
                      <a:pt x="505" y="185"/>
                    </a:cubicBezTo>
                    <a:cubicBezTo>
                      <a:pt x="478" y="156"/>
                      <a:pt x="470" y="127"/>
                      <a:pt x="458" y="84"/>
                    </a:cubicBezTo>
                    <a:cubicBezTo>
                      <a:pt x="452" y="85"/>
                      <a:pt x="443" y="73"/>
                      <a:pt x="436" y="63"/>
                    </a:cubicBezTo>
                    <a:cubicBezTo>
                      <a:pt x="430" y="69"/>
                      <a:pt x="424" y="70"/>
                      <a:pt x="421" y="57"/>
                    </a:cubicBezTo>
                    <a:cubicBezTo>
                      <a:pt x="419" y="46"/>
                      <a:pt x="403" y="34"/>
                      <a:pt x="388" y="25"/>
                    </a:cubicBezTo>
                    <a:cubicBezTo>
                      <a:pt x="388" y="25"/>
                      <a:pt x="388" y="25"/>
                      <a:pt x="389" y="25"/>
                    </a:cubicBezTo>
                    <a:cubicBezTo>
                      <a:pt x="374" y="26"/>
                      <a:pt x="345" y="27"/>
                      <a:pt x="328" y="26"/>
                    </a:cubicBezTo>
                    <a:cubicBezTo>
                      <a:pt x="305" y="25"/>
                      <a:pt x="269" y="0"/>
                      <a:pt x="241" y="0"/>
                    </a:cubicBezTo>
                    <a:cubicBezTo>
                      <a:pt x="213" y="0"/>
                      <a:pt x="242" y="32"/>
                      <a:pt x="249" y="71"/>
                    </a:cubicBezTo>
                    <a:cubicBezTo>
                      <a:pt x="255" y="110"/>
                      <a:pt x="194" y="57"/>
                      <a:pt x="182" y="43"/>
                    </a:cubicBezTo>
                    <a:cubicBezTo>
                      <a:pt x="169" y="29"/>
                      <a:pt x="171" y="96"/>
                      <a:pt x="171" y="137"/>
                    </a:cubicBezTo>
                    <a:cubicBezTo>
                      <a:pt x="171" y="177"/>
                      <a:pt x="121" y="145"/>
                      <a:pt x="93" y="121"/>
                    </a:cubicBezTo>
                    <a:cubicBezTo>
                      <a:pt x="68" y="100"/>
                      <a:pt x="50" y="96"/>
                      <a:pt x="0" y="95"/>
                    </a:cubicBezTo>
                    <a:cubicBezTo>
                      <a:pt x="46" y="209"/>
                      <a:pt x="88" y="205"/>
                      <a:pt x="139" y="238"/>
                    </a:cubicBezTo>
                    <a:cubicBezTo>
                      <a:pt x="165" y="288"/>
                      <a:pt x="334" y="377"/>
                      <a:pt x="383" y="403"/>
                    </a:cubicBezTo>
                    <a:cubicBezTo>
                      <a:pt x="442" y="455"/>
                      <a:pt x="489" y="479"/>
                      <a:pt x="535" y="487"/>
                    </a:cubicBezTo>
                    <a:cubicBezTo>
                      <a:pt x="580" y="496"/>
                      <a:pt x="585" y="489"/>
                      <a:pt x="595" y="517"/>
                    </a:cubicBezTo>
                    <a:cubicBezTo>
                      <a:pt x="606" y="546"/>
                      <a:pt x="541" y="628"/>
                      <a:pt x="541" y="628"/>
                    </a:cubicBezTo>
                    <a:cubicBezTo>
                      <a:pt x="529" y="645"/>
                      <a:pt x="529" y="645"/>
                      <a:pt x="529" y="645"/>
                    </a:cubicBezTo>
                    <a:cubicBezTo>
                      <a:pt x="535" y="657"/>
                      <a:pt x="540" y="669"/>
                      <a:pt x="548" y="672"/>
                    </a:cubicBezTo>
                    <a:cubicBezTo>
                      <a:pt x="591" y="690"/>
                      <a:pt x="622" y="589"/>
                      <a:pt x="622" y="589"/>
                    </a:cubicBezTo>
                    <a:cubicBezTo>
                      <a:pt x="622" y="589"/>
                      <a:pt x="622" y="590"/>
                      <a:pt x="622" y="591"/>
                    </a:cubicBezTo>
                    <a:cubicBezTo>
                      <a:pt x="624" y="586"/>
                      <a:pt x="626" y="582"/>
                      <a:pt x="629" y="578"/>
                    </a:cubicBezTo>
                    <a:cubicBezTo>
                      <a:pt x="629" y="549"/>
                      <a:pt x="671" y="489"/>
                      <a:pt x="675" y="4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37" name="Freeform 1812">
                <a:extLst>
                  <a:ext uri="{FF2B5EF4-FFF2-40B4-BE49-F238E27FC236}">
                    <a16:creationId xmlns:a16="http://schemas.microsoft.com/office/drawing/2014/main" id="{7C0DAB49-60CF-0971-DA0B-6AB689EBAB7E}"/>
                  </a:ext>
                </a:extLst>
              </p:cNvPr>
              <p:cNvSpPr>
                <a:spLocks/>
              </p:cNvSpPr>
              <p:nvPr/>
            </p:nvSpPr>
            <p:spPr bwMode="auto">
              <a:xfrm>
                <a:off x="1152" y="1018"/>
                <a:ext cx="494" cy="402"/>
              </a:xfrm>
              <a:custGeom>
                <a:avLst/>
                <a:gdLst>
                  <a:gd name="T0" fmla="*/ 2114 w 2234"/>
                  <a:gd name="T1" fmla="*/ 861 h 1817"/>
                  <a:gd name="T2" fmla="*/ 2016 w 2234"/>
                  <a:gd name="T3" fmla="*/ 777 h 1817"/>
                  <a:gd name="T4" fmla="*/ 1806 w 2234"/>
                  <a:gd name="T5" fmla="*/ 692 h 1817"/>
                  <a:gd name="T6" fmla="*/ 1679 w 2234"/>
                  <a:gd name="T7" fmla="*/ 588 h 1817"/>
                  <a:gd name="T8" fmla="*/ 1601 w 2234"/>
                  <a:gd name="T9" fmla="*/ 606 h 1817"/>
                  <a:gd name="T10" fmla="*/ 1519 w 2234"/>
                  <a:gd name="T11" fmla="*/ 409 h 1817"/>
                  <a:gd name="T12" fmla="*/ 1508 w 2234"/>
                  <a:gd name="T13" fmla="*/ 115 h 1817"/>
                  <a:gd name="T14" fmla="*/ 1332 w 2234"/>
                  <a:gd name="T15" fmla="*/ 77 h 1817"/>
                  <a:gd name="T16" fmla="*/ 1175 w 2234"/>
                  <a:gd name="T17" fmla="*/ 39 h 1817"/>
                  <a:gd name="T18" fmla="*/ 1045 w 2234"/>
                  <a:gd name="T19" fmla="*/ 262 h 1817"/>
                  <a:gd name="T20" fmla="*/ 826 w 2234"/>
                  <a:gd name="T21" fmla="*/ 467 h 1817"/>
                  <a:gd name="T22" fmla="*/ 491 w 2234"/>
                  <a:gd name="T23" fmla="*/ 404 h 1817"/>
                  <a:gd name="T24" fmla="*/ 234 w 2234"/>
                  <a:gd name="T25" fmla="*/ 417 h 1817"/>
                  <a:gd name="T26" fmla="*/ 221 w 2234"/>
                  <a:gd name="T27" fmla="*/ 619 h 1817"/>
                  <a:gd name="T28" fmla="*/ 0 w 2234"/>
                  <a:gd name="T29" fmla="*/ 850 h 1817"/>
                  <a:gd name="T30" fmla="*/ 316 w 2234"/>
                  <a:gd name="T31" fmla="*/ 995 h 1817"/>
                  <a:gd name="T32" fmla="*/ 489 w 2234"/>
                  <a:gd name="T33" fmla="*/ 1095 h 1817"/>
                  <a:gd name="T34" fmla="*/ 800 w 2234"/>
                  <a:gd name="T35" fmla="*/ 1326 h 1817"/>
                  <a:gd name="T36" fmla="*/ 1179 w 2234"/>
                  <a:gd name="T37" fmla="*/ 1523 h 1817"/>
                  <a:gd name="T38" fmla="*/ 1447 w 2234"/>
                  <a:gd name="T39" fmla="*/ 1657 h 1817"/>
                  <a:gd name="T40" fmla="*/ 1458 w 2234"/>
                  <a:gd name="T41" fmla="*/ 1743 h 1817"/>
                  <a:gd name="T42" fmla="*/ 1599 w 2234"/>
                  <a:gd name="T43" fmla="*/ 1734 h 1817"/>
                  <a:gd name="T44" fmla="*/ 1823 w 2234"/>
                  <a:gd name="T45" fmla="*/ 1788 h 1817"/>
                  <a:gd name="T46" fmla="*/ 1998 w 2234"/>
                  <a:gd name="T47" fmla="*/ 1790 h 1817"/>
                  <a:gd name="T48" fmla="*/ 2116 w 2234"/>
                  <a:gd name="T49" fmla="*/ 1778 h 1817"/>
                  <a:gd name="T50" fmla="*/ 2178 w 2234"/>
                  <a:gd name="T51" fmla="*/ 1629 h 1817"/>
                  <a:gd name="T52" fmla="*/ 2176 w 2234"/>
                  <a:gd name="T53" fmla="*/ 1534 h 1817"/>
                  <a:gd name="T54" fmla="*/ 2073 w 2234"/>
                  <a:gd name="T55" fmla="*/ 1393 h 1817"/>
                  <a:gd name="T56" fmla="*/ 2054 w 2234"/>
                  <a:gd name="T57" fmla="*/ 1155 h 1817"/>
                  <a:gd name="T58" fmla="*/ 2119 w 2234"/>
                  <a:gd name="T59" fmla="*/ 1077 h 1817"/>
                  <a:gd name="T60" fmla="*/ 2194 w 2234"/>
                  <a:gd name="T61" fmla="*/ 998 h 1817"/>
                  <a:gd name="T62" fmla="*/ 2234 w 2234"/>
                  <a:gd name="T63" fmla="*/ 880 h 1817"/>
                  <a:gd name="T64" fmla="*/ 2222 w 2234"/>
                  <a:gd name="T65" fmla="*/ 887 h 18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234" h="1817">
                    <a:moveTo>
                      <a:pt x="2222" y="887"/>
                    </a:moveTo>
                    <a:cubicBezTo>
                      <a:pt x="2222" y="887"/>
                      <a:pt x="2159" y="867"/>
                      <a:pt x="2114" y="861"/>
                    </a:cubicBezTo>
                    <a:cubicBezTo>
                      <a:pt x="2068" y="854"/>
                      <a:pt x="2060" y="835"/>
                      <a:pt x="2060" y="816"/>
                    </a:cubicBezTo>
                    <a:cubicBezTo>
                      <a:pt x="2060" y="796"/>
                      <a:pt x="2036" y="781"/>
                      <a:pt x="2016" y="777"/>
                    </a:cubicBezTo>
                    <a:cubicBezTo>
                      <a:pt x="1997" y="772"/>
                      <a:pt x="1958" y="703"/>
                      <a:pt x="1934" y="677"/>
                    </a:cubicBezTo>
                    <a:cubicBezTo>
                      <a:pt x="1910" y="651"/>
                      <a:pt x="1852" y="684"/>
                      <a:pt x="1806" y="692"/>
                    </a:cubicBezTo>
                    <a:cubicBezTo>
                      <a:pt x="1761" y="701"/>
                      <a:pt x="1731" y="621"/>
                      <a:pt x="1731" y="580"/>
                    </a:cubicBezTo>
                    <a:cubicBezTo>
                      <a:pt x="1731" y="539"/>
                      <a:pt x="1692" y="573"/>
                      <a:pt x="1679" y="588"/>
                    </a:cubicBezTo>
                    <a:cubicBezTo>
                      <a:pt x="1666" y="604"/>
                      <a:pt x="1635" y="645"/>
                      <a:pt x="1627" y="638"/>
                    </a:cubicBezTo>
                    <a:cubicBezTo>
                      <a:pt x="1618" y="632"/>
                      <a:pt x="1601" y="606"/>
                      <a:pt x="1601" y="606"/>
                    </a:cubicBezTo>
                    <a:cubicBezTo>
                      <a:pt x="1601" y="606"/>
                      <a:pt x="1622" y="565"/>
                      <a:pt x="1633" y="523"/>
                    </a:cubicBezTo>
                    <a:cubicBezTo>
                      <a:pt x="1644" y="482"/>
                      <a:pt x="1586" y="456"/>
                      <a:pt x="1519" y="409"/>
                    </a:cubicBezTo>
                    <a:cubicBezTo>
                      <a:pt x="1430" y="311"/>
                      <a:pt x="1462" y="249"/>
                      <a:pt x="1486" y="216"/>
                    </a:cubicBezTo>
                    <a:cubicBezTo>
                      <a:pt x="1532" y="169"/>
                      <a:pt x="1514" y="128"/>
                      <a:pt x="1508" y="115"/>
                    </a:cubicBezTo>
                    <a:cubicBezTo>
                      <a:pt x="1501" y="102"/>
                      <a:pt x="1434" y="82"/>
                      <a:pt x="1417" y="82"/>
                    </a:cubicBezTo>
                    <a:cubicBezTo>
                      <a:pt x="1400" y="82"/>
                      <a:pt x="1349" y="77"/>
                      <a:pt x="1332" y="77"/>
                    </a:cubicBezTo>
                    <a:cubicBezTo>
                      <a:pt x="1319" y="77"/>
                      <a:pt x="1254" y="24"/>
                      <a:pt x="1225" y="0"/>
                    </a:cubicBezTo>
                    <a:cubicBezTo>
                      <a:pt x="1212" y="17"/>
                      <a:pt x="1195" y="30"/>
                      <a:pt x="1175" y="39"/>
                    </a:cubicBezTo>
                    <a:cubicBezTo>
                      <a:pt x="1127" y="58"/>
                      <a:pt x="1110" y="89"/>
                      <a:pt x="1112" y="162"/>
                    </a:cubicBezTo>
                    <a:cubicBezTo>
                      <a:pt x="1112" y="199"/>
                      <a:pt x="1121" y="251"/>
                      <a:pt x="1045" y="262"/>
                    </a:cubicBezTo>
                    <a:cubicBezTo>
                      <a:pt x="973" y="273"/>
                      <a:pt x="924" y="307"/>
                      <a:pt x="924" y="370"/>
                    </a:cubicBezTo>
                    <a:cubicBezTo>
                      <a:pt x="922" y="400"/>
                      <a:pt x="898" y="450"/>
                      <a:pt x="826" y="467"/>
                    </a:cubicBezTo>
                    <a:cubicBezTo>
                      <a:pt x="792" y="476"/>
                      <a:pt x="744" y="452"/>
                      <a:pt x="684" y="424"/>
                    </a:cubicBezTo>
                    <a:cubicBezTo>
                      <a:pt x="623" y="396"/>
                      <a:pt x="608" y="368"/>
                      <a:pt x="491" y="404"/>
                    </a:cubicBezTo>
                    <a:cubicBezTo>
                      <a:pt x="424" y="398"/>
                      <a:pt x="346" y="387"/>
                      <a:pt x="314" y="407"/>
                    </a:cubicBezTo>
                    <a:cubicBezTo>
                      <a:pt x="264" y="411"/>
                      <a:pt x="234" y="417"/>
                      <a:pt x="234" y="417"/>
                    </a:cubicBezTo>
                    <a:cubicBezTo>
                      <a:pt x="234" y="417"/>
                      <a:pt x="175" y="439"/>
                      <a:pt x="225" y="532"/>
                    </a:cubicBezTo>
                    <a:cubicBezTo>
                      <a:pt x="231" y="586"/>
                      <a:pt x="234" y="604"/>
                      <a:pt x="221" y="619"/>
                    </a:cubicBezTo>
                    <a:cubicBezTo>
                      <a:pt x="208" y="634"/>
                      <a:pt x="162" y="660"/>
                      <a:pt x="162" y="731"/>
                    </a:cubicBezTo>
                    <a:cubicBezTo>
                      <a:pt x="119" y="766"/>
                      <a:pt x="0" y="850"/>
                      <a:pt x="0" y="850"/>
                    </a:cubicBezTo>
                    <a:cubicBezTo>
                      <a:pt x="0" y="850"/>
                      <a:pt x="60" y="958"/>
                      <a:pt x="166" y="956"/>
                    </a:cubicBezTo>
                    <a:cubicBezTo>
                      <a:pt x="225" y="963"/>
                      <a:pt x="279" y="967"/>
                      <a:pt x="316" y="995"/>
                    </a:cubicBezTo>
                    <a:cubicBezTo>
                      <a:pt x="353" y="1023"/>
                      <a:pt x="320" y="1075"/>
                      <a:pt x="363" y="1088"/>
                    </a:cubicBezTo>
                    <a:cubicBezTo>
                      <a:pt x="407" y="1101"/>
                      <a:pt x="463" y="1060"/>
                      <a:pt x="489" y="1095"/>
                    </a:cubicBezTo>
                    <a:cubicBezTo>
                      <a:pt x="515" y="1129"/>
                      <a:pt x="606" y="1240"/>
                      <a:pt x="699" y="1242"/>
                    </a:cubicBezTo>
                    <a:cubicBezTo>
                      <a:pt x="733" y="1257"/>
                      <a:pt x="761" y="1285"/>
                      <a:pt x="800" y="1326"/>
                    </a:cubicBezTo>
                    <a:cubicBezTo>
                      <a:pt x="839" y="1367"/>
                      <a:pt x="876" y="1404"/>
                      <a:pt x="952" y="1447"/>
                    </a:cubicBezTo>
                    <a:cubicBezTo>
                      <a:pt x="1028" y="1491"/>
                      <a:pt x="1127" y="1508"/>
                      <a:pt x="1179" y="1523"/>
                    </a:cubicBezTo>
                    <a:cubicBezTo>
                      <a:pt x="1231" y="1538"/>
                      <a:pt x="1330" y="1597"/>
                      <a:pt x="1352" y="1612"/>
                    </a:cubicBezTo>
                    <a:cubicBezTo>
                      <a:pt x="1374" y="1627"/>
                      <a:pt x="1436" y="1646"/>
                      <a:pt x="1447" y="1657"/>
                    </a:cubicBezTo>
                    <a:cubicBezTo>
                      <a:pt x="1458" y="1668"/>
                      <a:pt x="1486" y="1700"/>
                      <a:pt x="1460" y="1739"/>
                    </a:cubicBezTo>
                    <a:cubicBezTo>
                      <a:pt x="1459" y="1741"/>
                      <a:pt x="1459" y="1742"/>
                      <a:pt x="1458" y="1743"/>
                    </a:cubicBezTo>
                    <a:cubicBezTo>
                      <a:pt x="1476" y="1744"/>
                      <a:pt x="1503" y="1747"/>
                      <a:pt x="1523" y="1753"/>
                    </a:cubicBezTo>
                    <a:cubicBezTo>
                      <a:pt x="1558" y="1763"/>
                      <a:pt x="1589" y="1751"/>
                      <a:pt x="1599" y="1734"/>
                    </a:cubicBezTo>
                    <a:cubicBezTo>
                      <a:pt x="1610" y="1718"/>
                      <a:pt x="1632" y="1718"/>
                      <a:pt x="1672" y="1751"/>
                    </a:cubicBezTo>
                    <a:cubicBezTo>
                      <a:pt x="1721" y="1784"/>
                      <a:pt x="1790" y="1798"/>
                      <a:pt x="1823" y="1788"/>
                    </a:cubicBezTo>
                    <a:cubicBezTo>
                      <a:pt x="1856" y="1778"/>
                      <a:pt x="1891" y="1738"/>
                      <a:pt x="1905" y="1794"/>
                    </a:cubicBezTo>
                    <a:cubicBezTo>
                      <a:pt x="1922" y="1811"/>
                      <a:pt x="1941" y="1817"/>
                      <a:pt x="1998" y="1790"/>
                    </a:cubicBezTo>
                    <a:cubicBezTo>
                      <a:pt x="2029" y="1786"/>
                      <a:pt x="2021" y="1790"/>
                      <a:pt x="2046" y="1800"/>
                    </a:cubicBezTo>
                    <a:cubicBezTo>
                      <a:pt x="2071" y="1811"/>
                      <a:pt x="2106" y="1805"/>
                      <a:pt x="2116" y="1778"/>
                    </a:cubicBezTo>
                    <a:cubicBezTo>
                      <a:pt x="2127" y="1751"/>
                      <a:pt x="2108" y="1695"/>
                      <a:pt x="2137" y="1687"/>
                    </a:cubicBezTo>
                    <a:cubicBezTo>
                      <a:pt x="2166" y="1678"/>
                      <a:pt x="2178" y="1670"/>
                      <a:pt x="2178" y="1629"/>
                    </a:cubicBezTo>
                    <a:cubicBezTo>
                      <a:pt x="2178" y="1591"/>
                      <a:pt x="2168" y="1561"/>
                      <a:pt x="2179" y="1534"/>
                    </a:cubicBezTo>
                    <a:cubicBezTo>
                      <a:pt x="2176" y="1534"/>
                      <a:pt x="2176" y="1534"/>
                      <a:pt x="2176" y="1534"/>
                    </a:cubicBezTo>
                    <a:cubicBezTo>
                      <a:pt x="2170" y="1508"/>
                      <a:pt x="2170" y="1508"/>
                      <a:pt x="2170" y="1508"/>
                    </a:cubicBezTo>
                    <a:cubicBezTo>
                      <a:pt x="2170" y="1508"/>
                      <a:pt x="2102" y="1433"/>
                      <a:pt x="2073" y="1393"/>
                    </a:cubicBezTo>
                    <a:cubicBezTo>
                      <a:pt x="2043" y="1353"/>
                      <a:pt x="2017" y="1277"/>
                      <a:pt x="2025" y="1230"/>
                    </a:cubicBezTo>
                    <a:cubicBezTo>
                      <a:pt x="2032" y="1182"/>
                      <a:pt x="2054" y="1155"/>
                      <a:pt x="2054" y="1155"/>
                    </a:cubicBezTo>
                    <a:cubicBezTo>
                      <a:pt x="2110" y="1157"/>
                      <a:pt x="2110" y="1157"/>
                      <a:pt x="2110" y="1157"/>
                    </a:cubicBezTo>
                    <a:cubicBezTo>
                      <a:pt x="2110" y="1157"/>
                      <a:pt x="2121" y="1103"/>
                      <a:pt x="2119" y="1077"/>
                    </a:cubicBezTo>
                    <a:cubicBezTo>
                      <a:pt x="2117" y="1051"/>
                      <a:pt x="2136" y="1010"/>
                      <a:pt x="2146" y="1005"/>
                    </a:cubicBezTo>
                    <a:cubicBezTo>
                      <a:pt x="2156" y="999"/>
                      <a:pt x="2194" y="998"/>
                      <a:pt x="2194" y="998"/>
                    </a:cubicBezTo>
                    <a:cubicBezTo>
                      <a:pt x="2194" y="998"/>
                      <a:pt x="2233" y="958"/>
                      <a:pt x="2233" y="926"/>
                    </a:cubicBezTo>
                    <a:cubicBezTo>
                      <a:pt x="2233" y="908"/>
                      <a:pt x="2234" y="898"/>
                      <a:pt x="2234" y="880"/>
                    </a:cubicBezTo>
                    <a:cubicBezTo>
                      <a:pt x="2234" y="882"/>
                      <a:pt x="2234" y="884"/>
                      <a:pt x="2234" y="886"/>
                    </a:cubicBezTo>
                    <a:lnTo>
                      <a:pt x="2222" y="88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38" name="Freeform 1813">
                <a:extLst>
                  <a:ext uri="{FF2B5EF4-FFF2-40B4-BE49-F238E27FC236}">
                    <a16:creationId xmlns:a16="http://schemas.microsoft.com/office/drawing/2014/main" id="{22AC2F76-1388-1FB2-075D-BA4DD3FF49D3}"/>
                  </a:ext>
                </a:extLst>
              </p:cNvPr>
              <p:cNvSpPr>
                <a:spLocks/>
              </p:cNvSpPr>
              <p:nvPr/>
            </p:nvSpPr>
            <p:spPr bwMode="auto">
              <a:xfrm>
                <a:off x="1451" y="1357"/>
                <a:ext cx="385" cy="254"/>
              </a:xfrm>
              <a:custGeom>
                <a:avLst/>
                <a:gdLst>
                  <a:gd name="T0" fmla="*/ 1710 w 1743"/>
                  <a:gd name="T1" fmla="*/ 1044 h 1151"/>
                  <a:gd name="T2" fmla="*/ 1699 w 1743"/>
                  <a:gd name="T3" fmla="*/ 1004 h 1151"/>
                  <a:gd name="T4" fmla="*/ 1652 w 1743"/>
                  <a:gd name="T5" fmla="*/ 940 h 1151"/>
                  <a:gd name="T6" fmla="*/ 1646 w 1743"/>
                  <a:gd name="T7" fmla="*/ 860 h 1151"/>
                  <a:gd name="T8" fmla="*/ 1598 w 1743"/>
                  <a:gd name="T9" fmla="*/ 888 h 1151"/>
                  <a:gd name="T10" fmla="*/ 1535 w 1743"/>
                  <a:gd name="T11" fmla="*/ 918 h 1151"/>
                  <a:gd name="T12" fmla="*/ 1504 w 1743"/>
                  <a:gd name="T13" fmla="*/ 878 h 1151"/>
                  <a:gd name="T14" fmla="*/ 1533 w 1743"/>
                  <a:gd name="T15" fmla="*/ 878 h 1151"/>
                  <a:gd name="T16" fmla="*/ 1533 w 1743"/>
                  <a:gd name="T17" fmla="*/ 855 h 1151"/>
                  <a:gd name="T18" fmla="*/ 1375 w 1743"/>
                  <a:gd name="T19" fmla="*/ 707 h 1151"/>
                  <a:gd name="T20" fmla="*/ 1257 w 1743"/>
                  <a:gd name="T21" fmla="*/ 691 h 1151"/>
                  <a:gd name="T22" fmla="*/ 1241 w 1743"/>
                  <a:gd name="T23" fmla="*/ 691 h 1151"/>
                  <a:gd name="T24" fmla="*/ 1243 w 1743"/>
                  <a:gd name="T25" fmla="*/ 665 h 1151"/>
                  <a:gd name="T26" fmla="*/ 1096 w 1743"/>
                  <a:gd name="T27" fmla="*/ 513 h 1151"/>
                  <a:gd name="T28" fmla="*/ 886 w 1743"/>
                  <a:gd name="T29" fmla="*/ 160 h 1151"/>
                  <a:gd name="T30" fmla="*/ 851 w 1743"/>
                  <a:gd name="T31" fmla="*/ 52 h 1151"/>
                  <a:gd name="T32" fmla="*/ 854 w 1743"/>
                  <a:gd name="T33" fmla="*/ 1 h 1151"/>
                  <a:gd name="T34" fmla="*/ 827 w 1743"/>
                  <a:gd name="T35" fmla="*/ 0 h 1151"/>
                  <a:gd name="T36" fmla="*/ 826 w 1743"/>
                  <a:gd name="T37" fmla="*/ 95 h 1151"/>
                  <a:gd name="T38" fmla="*/ 785 w 1743"/>
                  <a:gd name="T39" fmla="*/ 153 h 1151"/>
                  <a:gd name="T40" fmla="*/ 764 w 1743"/>
                  <a:gd name="T41" fmla="*/ 244 h 1151"/>
                  <a:gd name="T42" fmla="*/ 694 w 1743"/>
                  <a:gd name="T43" fmla="*/ 266 h 1151"/>
                  <a:gd name="T44" fmla="*/ 646 w 1743"/>
                  <a:gd name="T45" fmla="*/ 256 h 1151"/>
                  <a:gd name="T46" fmla="*/ 553 w 1743"/>
                  <a:gd name="T47" fmla="*/ 260 h 1151"/>
                  <a:gd name="T48" fmla="*/ 471 w 1743"/>
                  <a:gd name="T49" fmla="*/ 254 h 1151"/>
                  <a:gd name="T50" fmla="*/ 320 w 1743"/>
                  <a:gd name="T51" fmla="*/ 217 h 1151"/>
                  <a:gd name="T52" fmla="*/ 247 w 1743"/>
                  <a:gd name="T53" fmla="*/ 200 h 1151"/>
                  <a:gd name="T54" fmla="*/ 171 w 1743"/>
                  <a:gd name="T55" fmla="*/ 219 h 1151"/>
                  <a:gd name="T56" fmla="*/ 106 w 1743"/>
                  <a:gd name="T57" fmla="*/ 209 h 1151"/>
                  <a:gd name="T58" fmla="*/ 71 w 1743"/>
                  <a:gd name="T59" fmla="*/ 467 h 1151"/>
                  <a:gd name="T60" fmla="*/ 201 w 1743"/>
                  <a:gd name="T61" fmla="*/ 664 h 1151"/>
                  <a:gd name="T62" fmla="*/ 270 w 1743"/>
                  <a:gd name="T63" fmla="*/ 686 h 1151"/>
                  <a:gd name="T64" fmla="*/ 355 w 1743"/>
                  <a:gd name="T65" fmla="*/ 824 h 1151"/>
                  <a:gd name="T66" fmla="*/ 444 w 1743"/>
                  <a:gd name="T67" fmla="*/ 742 h 1151"/>
                  <a:gd name="T68" fmla="*/ 573 w 1743"/>
                  <a:gd name="T69" fmla="*/ 935 h 1151"/>
                  <a:gd name="T70" fmla="*/ 580 w 1743"/>
                  <a:gd name="T71" fmla="*/ 945 h 1151"/>
                  <a:gd name="T72" fmla="*/ 630 w 1743"/>
                  <a:gd name="T73" fmla="*/ 1012 h 1151"/>
                  <a:gd name="T74" fmla="*/ 637 w 1743"/>
                  <a:gd name="T75" fmla="*/ 1021 h 1151"/>
                  <a:gd name="T76" fmla="*/ 735 w 1743"/>
                  <a:gd name="T77" fmla="*/ 996 h 1151"/>
                  <a:gd name="T78" fmla="*/ 793 w 1743"/>
                  <a:gd name="T79" fmla="*/ 965 h 1151"/>
                  <a:gd name="T80" fmla="*/ 874 w 1743"/>
                  <a:gd name="T81" fmla="*/ 990 h 1151"/>
                  <a:gd name="T82" fmla="*/ 975 w 1743"/>
                  <a:gd name="T83" fmla="*/ 920 h 1151"/>
                  <a:gd name="T84" fmla="*/ 1054 w 1743"/>
                  <a:gd name="T85" fmla="*/ 930 h 1151"/>
                  <a:gd name="T86" fmla="*/ 1151 w 1743"/>
                  <a:gd name="T87" fmla="*/ 971 h 1151"/>
                  <a:gd name="T88" fmla="*/ 1186 w 1743"/>
                  <a:gd name="T89" fmla="*/ 1002 h 1151"/>
                  <a:gd name="T90" fmla="*/ 1180 w 1743"/>
                  <a:gd name="T91" fmla="*/ 1058 h 1151"/>
                  <a:gd name="T92" fmla="*/ 1389 w 1743"/>
                  <a:gd name="T93" fmla="*/ 1126 h 1151"/>
                  <a:gd name="T94" fmla="*/ 1484 w 1743"/>
                  <a:gd name="T95" fmla="*/ 1067 h 1151"/>
                  <a:gd name="T96" fmla="*/ 1585 w 1743"/>
                  <a:gd name="T97" fmla="*/ 1050 h 1151"/>
                  <a:gd name="T98" fmla="*/ 1674 w 1743"/>
                  <a:gd name="T99" fmla="*/ 1075 h 1151"/>
                  <a:gd name="T100" fmla="*/ 1743 w 1743"/>
                  <a:gd name="T101" fmla="*/ 1068 h 1151"/>
                  <a:gd name="T102" fmla="*/ 1710 w 1743"/>
                  <a:gd name="T103" fmla="*/ 1044 h 11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743" h="1151">
                    <a:moveTo>
                      <a:pt x="1710" y="1044"/>
                    </a:moveTo>
                    <a:cubicBezTo>
                      <a:pt x="1710" y="1032"/>
                      <a:pt x="1705" y="1018"/>
                      <a:pt x="1699" y="1004"/>
                    </a:cubicBezTo>
                    <a:cubicBezTo>
                      <a:pt x="1686" y="977"/>
                      <a:pt x="1666" y="948"/>
                      <a:pt x="1652" y="940"/>
                    </a:cubicBezTo>
                    <a:cubicBezTo>
                      <a:pt x="1648" y="865"/>
                      <a:pt x="1646" y="860"/>
                      <a:pt x="1646" y="860"/>
                    </a:cubicBezTo>
                    <a:cubicBezTo>
                      <a:pt x="1646" y="860"/>
                      <a:pt x="1600" y="823"/>
                      <a:pt x="1598" y="888"/>
                    </a:cubicBezTo>
                    <a:cubicBezTo>
                      <a:pt x="1570" y="890"/>
                      <a:pt x="1545" y="887"/>
                      <a:pt x="1535" y="918"/>
                    </a:cubicBezTo>
                    <a:cubicBezTo>
                      <a:pt x="1513" y="910"/>
                      <a:pt x="1504" y="888"/>
                      <a:pt x="1504" y="878"/>
                    </a:cubicBezTo>
                    <a:cubicBezTo>
                      <a:pt x="1533" y="878"/>
                      <a:pt x="1533" y="878"/>
                      <a:pt x="1533" y="878"/>
                    </a:cubicBezTo>
                    <a:cubicBezTo>
                      <a:pt x="1533" y="855"/>
                      <a:pt x="1533" y="855"/>
                      <a:pt x="1533" y="855"/>
                    </a:cubicBezTo>
                    <a:cubicBezTo>
                      <a:pt x="1533" y="855"/>
                      <a:pt x="1447" y="761"/>
                      <a:pt x="1375" y="707"/>
                    </a:cubicBezTo>
                    <a:cubicBezTo>
                      <a:pt x="1351" y="685"/>
                      <a:pt x="1291" y="650"/>
                      <a:pt x="1257" y="691"/>
                    </a:cubicBezTo>
                    <a:cubicBezTo>
                      <a:pt x="1249" y="690"/>
                      <a:pt x="1241" y="691"/>
                      <a:pt x="1241" y="691"/>
                    </a:cubicBezTo>
                    <a:cubicBezTo>
                      <a:pt x="1243" y="665"/>
                      <a:pt x="1243" y="665"/>
                      <a:pt x="1243" y="665"/>
                    </a:cubicBezTo>
                    <a:cubicBezTo>
                      <a:pt x="1243" y="665"/>
                      <a:pt x="1132" y="568"/>
                      <a:pt x="1096" y="513"/>
                    </a:cubicBezTo>
                    <a:cubicBezTo>
                      <a:pt x="1060" y="457"/>
                      <a:pt x="914" y="240"/>
                      <a:pt x="886" y="160"/>
                    </a:cubicBezTo>
                    <a:cubicBezTo>
                      <a:pt x="874" y="132"/>
                      <a:pt x="849" y="80"/>
                      <a:pt x="851" y="52"/>
                    </a:cubicBezTo>
                    <a:cubicBezTo>
                      <a:pt x="854" y="1"/>
                      <a:pt x="854" y="1"/>
                      <a:pt x="854" y="1"/>
                    </a:cubicBezTo>
                    <a:cubicBezTo>
                      <a:pt x="827" y="0"/>
                      <a:pt x="827" y="0"/>
                      <a:pt x="827" y="0"/>
                    </a:cubicBezTo>
                    <a:cubicBezTo>
                      <a:pt x="816" y="27"/>
                      <a:pt x="826" y="57"/>
                      <a:pt x="826" y="95"/>
                    </a:cubicBezTo>
                    <a:cubicBezTo>
                      <a:pt x="826" y="136"/>
                      <a:pt x="814" y="144"/>
                      <a:pt x="785" y="153"/>
                    </a:cubicBezTo>
                    <a:cubicBezTo>
                      <a:pt x="756" y="161"/>
                      <a:pt x="775" y="217"/>
                      <a:pt x="764" y="244"/>
                    </a:cubicBezTo>
                    <a:cubicBezTo>
                      <a:pt x="754" y="271"/>
                      <a:pt x="719" y="277"/>
                      <a:pt x="694" y="266"/>
                    </a:cubicBezTo>
                    <a:cubicBezTo>
                      <a:pt x="669" y="256"/>
                      <a:pt x="677" y="252"/>
                      <a:pt x="646" y="256"/>
                    </a:cubicBezTo>
                    <a:cubicBezTo>
                      <a:pt x="589" y="283"/>
                      <a:pt x="570" y="277"/>
                      <a:pt x="553" y="260"/>
                    </a:cubicBezTo>
                    <a:cubicBezTo>
                      <a:pt x="539" y="204"/>
                      <a:pt x="504" y="244"/>
                      <a:pt x="471" y="254"/>
                    </a:cubicBezTo>
                    <a:cubicBezTo>
                      <a:pt x="438" y="264"/>
                      <a:pt x="369" y="250"/>
                      <a:pt x="320" y="217"/>
                    </a:cubicBezTo>
                    <a:cubicBezTo>
                      <a:pt x="280" y="184"/>
                      <a:pt x="258" y="184"/>
                      <a:pt x="247" y="200"/>
                    </a:cubicBezTo>
                    <a:cubicBezTo>
                      <a:pt x="237" y="217"/>
                      <a:pt x="206" y="229"/>
                      <a:pt x="171" y="219"/>
                    </a:cubicBezTo>
                    <a:cubicBezTo>
                      <a:pt x="151" y="213"/>
                      <a:pt x="124" y="210"/>
                      <a:pt x="106" y="209"/>
                    </a:cubicBezTo>
                    <a:cubicBezTo>
                      <a:pt x="77" y="252"/>
                      <a:pt x="0" y="365"/>
                      <a:pt x="71" y="467"/>
                    </a:cubicBezTo>
                    <a:cubicBezTo>
                      <a:pt x="145" y="573"/>
                      <a:pt x="201" y="664"/>
                      <a:pt x="201" y="664"/>
                    </a:cubicBezTo>
                    <a:cubicBezTo>
                      <a:pt x="201" y="664"/>
                      <a:pt x="234" y="707"/>
                      <a:pt x="270" y="686"/>
                    </a:cubicBezTo>
                    <a:cubicBezTo>
                      <a:pt x="286" y="722"/>
                      <a:pt x="314" y="805"/>
                      <a:pt x="355" y="824"/>
                    </a:cubicBezTo>
                    <a:cubicBezTo>
                      <a:pt x="444" y="742"/>
                      <a:pt x="444" y="742"/>
                      <a:pt x="444" y="742"/>
                    </a:cubicBezTo>
                    <a:cubicBezTo>
                      <a:pt x="573" y="935"/>
                      <a:pt x="573" y="935"/>
                      <a:pt x="573" y="935"/>
                    </a:cubicBezTo>
                    <a:cubicBezTo>
                      <a:pt x="580" y="945"/>
                      <a:pt x="580" y="945"/>
                      <a:pt x="580" y="945"/>
                    </a:cubicBezTo>
                    <a:cubicBezTo>
                      <a:pt x="580" y="945"/>
                      <a:pt x="614" y="1002"/>
                      <a:pt x="630" y="1012"/>
                    </a:cubicBezTo>
                    <a:cubicBezTo>
                      <a:pt x="633" y="1015"/>
                      <a:pt x="635" y="1018"/>
                      <a:pt x="637" y="1021"/>
                    </a:cubicBezTo>
                    <a:cubicBezTo>
                      <a:pt x="703" y="1043"/>
                      <a:pt x="725" y="1018"/>
                      <a:pt x="735" y="996"/>
                    </a:cubicBezTo>
                    <a:cubicBezTo>
                      <a:pt x="752" y="961"/>
                      <a:pt x="768" y="963"/>
                      <a:pt x="793" y="965"/>
                    </a:cubicBezTo>
                    <a:cubicBezTo>
                      <a:pt x="822" y="990"/>
                      <a:pt x="855" y="986"/>
                      <a:pt x="874" y="990"/>
                    </a:cubicBezTo>
                    <a:cubicBezTo>
                      <a:pt x="919" y="994"/>
                      <a:pt x="954" y="953"/>
                      <a:pt x="975" y="920"/>
                    </a:cubicBezTo>
                    <a:cubicBezTo>
                      <a:pt x="1002" y="889"/>
                      <a:pt x="1029" y="918"/>
                      <a:pt x="1054" y="930"/>
                    </a:cubicBezTo>
                    <a:cubicBezTo>
                      <a:pt x="1054" y="955"/>
                      <a:pt x="1126" y="965"/>
                      <a:pt x="1151" y="971"/>
                    </a:cubicBezTo>
                    <a:cubicBezTo>
                      <a:pt x="1176" y="978"/>
                      <a:pt x="1186" y="1002"/>
                      <a:pt x="1186" y="1002"/>
                    </a:cubicBezTo>
                    <a:cubicBezTo>
                      <a:pt x="1186" y="1002"/>
                      <a:pt x="1184" y="1015"/>
                      <a:pt x="1180" y="1058"/>
                    </a:cubicBezTo>
                    <a:cubicBezTo>
                      <a:pt x="1176" y="1116"/>
                      <a:pt x="1314" y="1122"/>
                      <a:pt x="1389" y="1126"/>
                    </a:cubicBezTo>
                    <a:cubicBezTo>
                      <a:pt x="1463" y="1151"/>
                      <a:pt x="1461" y="1098"/>
                      <a:pt x="1484" y="1067"/>
                    </a:cubicBezTo>
                    <a:cubicBezTo>
                      <a:pt x="1519" y="1011"/>
                      <a:pt x="1540" y="1040"/>
                      <a:pt x="1585" y="1050"/>
                    </a:cubicBezTo>
                    <a:cubicBezTo>
                      <a:pt x="1647" y="1077"/>
                      <a:pt x="1662" y="1075"/>
                      <a:pt x="1674" y="1075"/>
                    </a:cubicBezTo>
                    <a:cubicBezTo>
                      <a:pt x="1682" y="1075"/>
                      <a:pt x="1720" y="1071"/>
                      <a:pt x="1743" y="1068"/>
                    </a:cubicBezTo>
                    <a:cubicBezTo>
                      <a:pt x="1737" y="1055"/>
                      <a:pt x="1727" y="1044"/>
                      <a:pt x="1710" y="104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39" name="Freeform 1814">
                <a:extLst>
                  <a:ext uri="{FF2B5EF4-FFF2-40B4-BE49-F238E27FC236}">
                    <a16:creationId xmlns:a16="http://schemas.microsoft.com/office/drawing/2014/main" id="{3EF9D967-F4CD-1155-3461-6028953D4F7C}"/>
                  </a:ext>
                </a:extLst>
              </p:cNvPr>
              <p:cNvSpPr>
                <a:spLocks/>
              </p:cNvSpPr>
              <p:nvPr/>
            </p:nvSpPr>
            <p:spPr bwMode="auto">
              <a:xfrm>
                <a:off x="1582" y="1553"/>
                <a:ext cx="377" cy="324"/>
              </a:xfrm>
              <a:custGeom>
                <a:avLst/>
                <a:gdLst>
                  <a:gd name="T0" fmla="*/ 1673 w 1707"/>
                  <a:gd name="T1" fmla="*/ 1137 h 1464"/>
                  <a:gd name="T2" fmla="*/ 1642 w 1707"/>
                  <a:gd name="T3" fmla="*/ 1110 h 1464"/>
                  <a:gd name="T4" fmla="*/ 1386 w 1707"/>
                  <a:gd name="T5" fmla="*/ 875 h 1464"/>
                  <a:gd name="T6" fmla="*/ 1226 w 1707"/>
                  <a:gd name="T7" fmla="*/ 665 h 1464"/>
                  <a:gd name="T8" fmla="*/ 1103 w 1707"/>
                  <a:gd name="T9" fmla="*/ 490 h 1464"/>
                  <a:gd name="T10" fmla="*/ 1088 w 1707"/>
                  <a:gd name="T11" fmla="*/ 398 h 1464"/>
                  <a:gd name="T12" fmla="*/ 1069 w 1707"/>
                  <a:gd name="T13" fmla="*/ 325 h 1464"/>
                  <a:gd name="T14" fmla="*/ 1115 w 1707"/>
                  <a:gd name="T15" fmla="*/ 252 h 1464"/>
                  <a:gd name="T16" fmla="*/ 1152 w 1707"/>
                  <a:gd name="T17" fmla="*/ 199 h 1464"/>
                  <a:gd name="T18" fmla="*/ 1148 w 1707"/>
                  <a:gd name="T19" fmla="*/ 179 h 1464"/>
                  <a:gd name="T20" fmla="*/ 1079 w 1707"/>
                  <a:gd name="T21" fmla="*/ 186 h 1464"/>
                  <a:gd name="T22" fmla="*/ 990 w 1707"/>
                  <a:gd name="T23" fmla="*/ 161 h 1464"/>
                  <a:gd name="T24" fmla="*/ 889 w 1707"/>
                  <a:gd name="T25" fmla="*/ 178 h 1464"/>
                  <a:gd name="T26" fmla="*/ 794 w 1707"/>
                  <a:gd name="T27" fmla="*/ 237 h 1464"/>
                  <a:gd name="T28" fmla="*/ 585 w 1707"/>
                  <a:gd name="T29" fmla="*/ 169 h 1464"/>
                  <a:gd name="T30" fmla="*/ 591 w 1707"/>
                  <a:gd name="T31" fmla="*/ 113 h 1464"/>
                  <a:gd name="T32" fmla="*/ 556 w 1707"/>
                  <a:gd name="T33" fmla="*/ 82 h 1464"/>
                  <a:gd name="T34" fmla="*/ 459 w 1707"/>
                  <a:gd name="T35" fmla="*/ 41 h 1464"/>
                  <a:gd name="T36" fmla="*/ 380 w 1707"/>
                  <a:gd name="T37" fmla="*/ 31 h 1464"/>
                  <a:gd name="T38" fmla="*/ 279 w 1707"/>
                  <a:gd name="T39" fmla="*/ 101 h 1464"/>
                  <a:gd name="T40" fmla="*/ 198 w 1707"/>
                  <a:gd name="T41" fmla="*/ 76 h 1464"/>
                  <a:gd name="T42" fmla="*/ 140 w 1707"/>
                  <a:gd name="T43" fmla="*/ 107 h 1464"/>
                  <a:gd name="T44" fmla="*/ 42 w 1707"/>
                  <a:gd name="T45" fmla="*/ 132 h 1464"/>
                  <a:gd name="T46" fmla="*/ 37 w 1707"/>
                  <a:gd name="T47" fmla="*/ 184 h 1464"/>
                  <a:gd name="T48" fmla="*/ 39 w 1707"/>
                  <a:gd name="T49" fmla="*/ 247 h 1464"/>
                  <a:gd name="T50" fmla="*/ 104 w 1707"/>
                  <a:gd name="T51" fmla="*/ 329 h 1464"/>
                  <a:gd name="T52" fmla="*/ 238 w 1707"/>
                  <a:gd name="T53" fmla="*/ 543 h 1464"/>
                  <a:gd name="T54" fmla="*/ 593 w 1707"/>
                  <a:gd name="T55" fmla="*/ 902 h 1464"/>
                  <a:gd name="T56" fmla="*/ 788 w 1707"/>
                  <a:gd name="T57" fmla="*/ 1073 h 1464"/>
                  <a:gd name="T58" fmla="*/ 855 w 1707"/>
                  <a:gd name="T59" fmla="*/ 1002 h 1464"/>
                  <a:gd name="T60" fmla="*/ 889 w 1707"/>
                  <a:gd name="T61" fmla="*/ 1149 h 1464"/>
                  <a:gd name="T62" fmla="*/ 1034 w 1707"/>
                  <a:gd name="T63" fmla="*/ 1377 h 1464"/>
                  <a:gd name="T64" fmla="*/ 1075 w 1707"/>
                  <a:gd name="T65" fmla="*/ 1395 h 1464"/>
                  <a:gd name="T66" fmla="*/ 1168 w 1707"/>
                  <a:gd name="T67" fmla="*/ 1361 h 1464"/>
                  <a:gd name="T68" fmla="*/ 1170 w 1707"/>
                  <a:gd name="T69" fmla="*/ 1386 h 1464"/>
                  <a:gd name="T70" fmla="*/ 1193 w 1707"/>
                  <a:gd name="T71" fmla="*/ 1389 h 1464"/>
                  <a:gd name="T72" fmla="*/ 1240 w 1707"/>
                  <a:gd name="T73" fmla="*/ 1428 h 1464"/>
                  <a:gd name="T74" fmla="*/ 1306 w 1707"/>
                  <a:gd name="T75" fmla="*/ 1439 h 1464"/>
                  <a:gd name="T76" fmla="*/ 1362 w 1707"/>
                  <a:gd name="T77" fmla="*/ 1443 h 1464"/>
                  <a:gd name="T78" fmla="*/ 1457 w 1707"/>
                  <a:gd name="T79" fmla="*/ 1412 h 1464"/>
                  <a:gd name="T80" fmla="*/ 1497 w 1707"/>
                  <a:gd name="T81" fmla="*/ 1331 h 1464"/>
                  <a:gd name="T82" fmla="*/ 1538 w 1707"/>
                  <a:gd name="T83" fmla="*/ 1292 h 1464"/>
                  <a:gd name="T84" fmla="*/ 1581 w 1707"/>
                  <a:gd name="T85" fmla="*/ 1263 h 1464"/>
                  <a:gd name="T86" fmla="*/ 1707 w 1707"/>
                  <a:gd name="T87" fmla="*/ 1165 h 1464"/>
                  <a:gd name="T88" fmla="*/ 1673 w 1707"/>
                  <a:gd name="T89" fmla="*/ 1137 h 14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1707" h="1464">
                    <a:moveTo>
                      <a:pt x="1673" y="1137"/>
                    </a:moveTo>
                    <a:cubicBezTo>
                      <a:pt x="1664" y="1129"/>
                      <a:pt x="1654" y="1120"/>
                      <a:pt x="1642" y="1110"/>
                    </a:cubicBezTo>
                    <a:cubicBezTo>
                      <a:pt x="1564" y="1042"/>
                      <a:pt x="1439" y="940"/>
                      <a:pt x="1386" y="875"/>
                    </a:cubicBezTo>
                    <a:cubicBezTo>
                      <a:pt x="1325" y="800"/>
                      <a:pt x="1252" y="712"/>
                      <a:pt x="1226" y="665"/>
                    </a:cubicBezTo>
                    <a:cubicBezTo>
                      <a:pt x="1200" y="619"/>
                      <a:pt x="1170" y="538"/>
                      <a:pt x="1103" y="490"/>
                    </a:cubicBezTo>
                    <a:cubicBezTo>
                      <a:pt x="1104" y="446"/>
                      <a:pt x="1110" y="427"/>
                      <a:pt x="1088" y="398"/>
                    </a:cubicBezTo>
                    <a:cubicBezTo>
                      <a:pt x="1067" y="369"/>
                      <a:pt x="1059" y="343"/>
                      <a:pt x="1069" y="325"/>
                    </a:cubicBezTo>
                    <a:cubicBezTo>
                      <a:pt x="1079" y="306"/>
                      <a:pt x="1109" y="260"/>
                      <a:pt x="1115" y="252"/>
                    </a:cubicBezTo>
                    <a:cubicBezTo>
                      <a:pt x="1122" y="244"/>
                      <a:pt x="1152" y="216"/>
                      <a:pt x="1152" y="199"/>
                    </a:cubicBezTo>
                    <a:cubicBezTo>
                      <a:pt x="1152" y="193"/>
                      <a:pt x="1151" y="186"/>
                      <a:pt x="1148" y="179"/>
                    </a:cubicBezTo>
                    <a:cubicBezTo>
                      <a:pt x="1125" y="182"/>
                      <a:pt x="1087" y="186"/>
                      <a:pt x="1079" y="186"/>
                    </a:cubicBezTo>
                    <a:cubicBezTo>
                      <a:pt x="1067" y="186"/>
                      <a:pt x="1052" y="188"/>
                      <a:pt x="990" y="161"/>
                    </a:cubicBezTo>
                    <a:cubicBezTo>
                      <a:pt x="945" y="151"/>
                      <a:pt x="924" y="122"/>
                      <a:pt x="889" y="178"/>
                    </a:cubicBezTo>
                    <a:cubicBezTo>
                      <a:pt x="866" y="209"/>
                      <a:pt x="868" y="262"/>
                      <a:pt x="794" y="237"/>
                    </a:cubicBezTo>
                    <a:cubicBezTo>
                      <a:pt x="719" y="233"/>
                      <a:pt x="581" y="227"/>
                      <a:pt x="585" y="169"/>
                    </a:cubicBezTo>
                    <a:cubicBezTo>
                      <a:pt x="589" y="126"/>
                      <a:pt x="591" y="113"/>
                      <a:pt x="591" y="113"/>
                    </a:cubicBezTo>
                    <a:cubicBezTo>
                      <a:pt x="591" y="113"/>
                      <a:pt x="581" y="89"/>
                      <a:pt x="556" y="82"/>
                    </a:cubicBezTo>
                    <a:cubicBezTo>
                      <a:pt x="531" y="76"/>
                      <a:pt x="459" y="66"/>
                      <a:pt x="459" y="41"/>
                    </a:cubicBezTo>
                    <a:cubicBezTo>
                      <a:pt x="434" y="29"/>
                      <a:pt x="407" y="0"/>
                      <a:pt x="380" y="31"/>
                    </a:cubicBezTo>
                    <a:cubicBezTo>
                      <a:pt x="359" y="64"/>
                      <a:pt x="324" y="105"/>
                      <a:pt x="279" y="101"/>
                    </a:cubicBezTo>
                    <a:cubicBezTo>
                      <a:pt x="260" y="97"/>
                      <a:pt x="227" y="101"/>
                      <a:pt x="198" y="76"/>
                    </a:cubicBezTo>
                    <a:cubicBezTo>
                      <a:pt x="173" y="74"/>
                      <a:pt x="157" y="72"/>
                      <a:pt x="140" y="107"/>
                    </a:cubicBezTo>
                    <a:cubicBezTo>
                      <a:pt x="130" y="129"/>
                      <a:pt x="108" y="154"/>
                      <a:pt x="42" y="132"/>
                    </a:cubicBezTo>
                    <a:cubicBezTo>
                      <a:pt x="50" y="147"/>
                      <a:pt x="49" y="170"/>
                      <a:pt x="37" y="184"/>
                    </a:cubicBezTo>
                    <a:cubicBezTo>
                      <a:pt x="22" y="201"/>
                      <a:pt x="0" y="212"/>
                      <a:pt x="39" y="247"/>
                    </a:cubicBezTo>
                    <a:cubicBezTo>
                      <a:pt x="78" y="281"/>
                      <a:pt x="93" y="294"/>
                      <a:pt x="104" y="329"/>
                    </a:cubicBezTo>
                    <a:cubicBezTo>
                      <a:pt x="115" y="363"/>
                      <a:pt x="110" y="441"/>
                      <a:pt x="238" y="543"/>
                    </a:cubicBezTo>
                    <a:cubicBezTo>
                      <a:pt x="366" y="645"/>
                      <a:pt x="541" y="848"/>
                      <a:pt x="593" y="902"/>
                    </a:cubicBezTo>
                    <a:cubicBezTo>
                      <a:pt x="645" y="956"/>
                      <a:pt x="770" y="1080"/>
                      <a:pt x="788" y="1073"/>
                    </a:cubicBezTo>
                    <a:cubicBezTo>
                      <a:pt x="805" y="1067"/>
                      <a:pt x="844" y="1010"/>
                      <a:pt x="855" y="1002"/>
                    </a:cubicBezTo>
                    <a:cubicBezTo>
                      <a:pt x="861" y="1043"/>
                      <a:pt x="852" y="1075"/>
                      <a:pt x="889" y="1149"/>
                    </a:cubicBezTo>
                    <a:cubicBezTo>
                      <a:pt x="918" y="1206"/>
                      <a:pt x="983" y="1329"/>
                      <a:pt x="1034" y="1377"/>
                    </a:cubicBezTo>
                    <a:cubicBezTo>
                      <a:pt x="1050" y="1390"/>
                      <a:pt x="1064" y="1398"/>
                      <a:pt x="1075" y="1395"/>
                    </a:cubicBezTo>
                    <a:cubicBezTo>
                      <a:pt x="1127" y="1385"/>
                      <a:pt x="1166" y="1344"/>
                      <a:pt x="1168" y="1361"/>
                    </a:cubicBezTo>
                    <a:cubicBezTo>
                      <a:pt x="1169" y="1366"/>
                      <a:pt x="1170" y="1376"/>
                      <a:pt x="1170" y="1386"/>
                    </a:cubicBezTo>
                    <a:cubicBezTo>
                      <a:pt x="1177" y="1386"/>
                      <a:pt x="1185" y="1387"/>
                      <a:pt x="1193" y="1389"/>
                    </a:cubicBezTo>
                    <a:cubicBezTo>
                      <a:pt x="1211" y="1395"/>
                      <a:pt x="1228" y="1416"/>
                      <a:pt x="1240" y="1428"/>
                    </a:cubicBezTo>
                    <a:cubicBezTo>
                      <a:pt x="1253" y="1441"/>
                      <a:pt x="1282" y="1445"/>
                      <a:pt x="1306" y="1439"/>
                    </a:cubicBezTo>
                    <a:cubicBezTo>
                      <a:pt x="1331" y="1433"/>
                      <a:pt x="1337" y="1441"/>
                      <a:pt x="1362" y="1443"/>
                    </a:cubicBezTo>
                    <a:cubicBezTo>
                      <a:pt x="1387" y="1445"/>
                      <a:pt x="1432" y="1464"/>
                      <a:pt x="1457" y="1412"/>
                    </a:cubicBezTo>
                    <a:cubicBezTo>
                      <a:pt x="1482" y="1360"/>
                      <a:pt x="1478" y="1333"/>
                      <a:pt x="1497" y="1331"/>
                    </a:cubicBezTo>
                    <a:cubicBezTo>
                      <a:pt x="1515" y="1329"/>
                      <a:pt x="1538" y="1319"/>
                      <a:pt x="1538" y="1292"/>
                    </a:cubicBezTo>
                    <a:cubicBezTo>
                      <a:pt x="1538" y="1265"/>
                      <a:pt x="1581" y="1263"/>
                      <a:pt x="1581" y="1263"/>
                    </a:cubicBezTo>
                    <a:cubicBezTo>
                      <a:pt x="1581" y="1263"/>
                      <a:pt x="1662" y="1218"/>
                      <a:pt x="1707" y="1165"/>
                    </a:cubicBezTo>
                    <a:cubicBezTo>
                      <a:pt x="1696" y="1156"/>
                      <a:pt x="1684" y="1146"/>
                      <a:pt x="1673" y="11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40" name="Freeform 1815">
                <a:extLst>
                  <a:ext uri="{FF2B5EF4-FFF2-40B4-BE49-F238E27FC236}">
                    <a16:creationId xmlns:a16="http://schemas.microsoft.com/office/drawing/2014/main" id="{9D5A1537-D8BB-0D61-99F9-DB808DFF4943}"/>
                  </a:ext>
                </a:extLst>
              </p:cNvPr>
              <p:cNvSpPr>
                <a:spLocks/>
              </p:cNvSpPr>
              <p:nvPr/>
            </p:nvSpPr>
            <p:spPr bwMode="auto">
              <a:xfrm>
                <a:off x="1831" y="1811"/>
                <a:ext cx="234" cy="244"/>
              </a:xfrm>
              <a:custGeom>
                <a:avLst/>
                <a:gdLst>
                  <a:gd name="T0" fmla="*/ 955 w 1062"/>
                  <a:gd name="T1" fmla="*/ 435 h 1107"/>
                  <a:gd name="T2" fmla="*/ 907 w 1062"/>
                  <a:gd name="T3" fmla="*/ 400 h 1107"/>
                  <a:gd name="T4" fmla="*/ 821 w 1062"/>
                  <a:gd name="T5" fmla="*/ 307 h 1107"/>
                  <a:gd name="T6" fmla="*/ 732 w 1062"/>
                  <a:gd name="T7" fmla="*/ 206 h 1107"/>
                  <a:gd name="T8" fmla="*/ 733 w 1062"/>
                  <a:gd name="T9" fmla="*/ 104 h 1107"/>
                  <a:gd name="T10" fmla="*/ 582 w 1062"/>
                  <a:gd name="T11" fmla="*/ 0 h 1107"/>
                  <a:gd name="T12" fmla="*/ 456 w 1062"/>
                  <a:gd name="T13" fmla="*/ 98 h 1107"/>
                  <a:gd name="T14" fmla="*/ 413 w 1062"/>
                  <a:gd name="T15" fmla="*/ 127 h 1107"/>
                  <a:gd name="T16" fmla="*/ 372 w 1062"/>
                  <a:gd name="T17" fmla="*/ 166 h 1107"/>
                  <a:gd name="T18" fmla="*/ 332 w 1062"/>
                  <a:gd name="T19" fmla="*/ 247 h 1107"/>
                  <a:gd name="T20" fmla="*/ 237 w 1062"/>
                  <a:gd name="T21" fmla="*/ 278 h 1107"/>
                  <a:gd name="T22" fmla="*/ 181 w 1062"/>
                  <a:gd name="T23" fmla="*/ 274 h 1107"/>
                  <a:gd name="T24" fmla="*/ 115 w 1062"/>
                  <a:gd name="T25" fmla="*/ 263 h 1107"/>
                  <a:gd name="T26" fmla="*/ 68 w 1062"/>
                  <a:gd name="T27" fmla="*/ 224 h 1107"/>
                  <a:gd name="T28" fmla="*/ 45 w 1062"/>
                  <a:gd name="T29" fmla="*/ 221 h 1107"/>
                  <a:gd name="T30" fmla="*/ 30 w 1062"/>
                  <a:gd name="T31" fmla="*/ 285 h 1107"/>
                  <a:gd name="T32" fmla="*/ 24 w 1062"/>
                  <a:gd name="T33" fmla="*/ 354 h 1107"/>
                  <a:gd name="T34" fmla="*/ 50 w 1062"/>
                  <a:gd name="T35" fmla="*/ 468 h 1107"/>
                  <a:gd name="T36" fmla="*/ 100 w 1062"/>
                  <a:gd name="T37" fmla="*/ 702 h 1107"/>
                  <a:gd name="T38" fmla="*/ 167 w 1062"/>
                  <a:gd name="T39" fmla="*/ 823 h 1107"/>
                  <a:gd name="T40" fmla="*/ 229 w 1062"/>
                  <a:gd name="T41" fmla="*/ 929 h 1107"/>
                  <a:gd name="T42" fmla="*/ 359 w 1062"/>
                  <a:gd name="T43" fmla="*/ 825 h 1107"/>
                  <a:gd name="T44" fmla="*/ 418 w 1062"/>
                  <a:gd name="T45" fmla="*/ 836 h 1107"/>
                  <a:gd name="T46" fmla="*/ 446 w 1062"/>
                  <a:gd name="T47" fmla="*/ 936 h 1107"/>
                  <a:gd name="T48" fmla="*/ 580 w 1062"/>
                  <a:gd name="T49" fmla="*/ 1107 h 1107"/>
                  <a:gd name="T50" fmla="*/ 672 w 1062"/>
                  <a:gd name="T51" fmla="*/ 1098 h 1107"/>
                  <a:gd name="T52" fmla="*/ 680 w 1062"/>
                  <a:gd name="T53" fmla="*/ 1061 h 1107"/>
                  <a:gd name="T54" fmla="*/ 688 w 1062"/>
                  <a:gd name="T55" fmla="*/ 997 h 1107"/>
                  <a:gd name="T56" fmla="*/ 758 w 1062"/>
                  <a:gd name="T57" fmla="*/ 942 h 1107"/>
                  <a:gd name="T58" fmla="*/ 661 w 1062"/>
                  <a:gd name="T59" fmla="*/ 832 h 1107"/>
                  <a:gd name="T60" fmla="*/ 688 w 1062"/>
                  <a:gd name="T61" fmla="*/ 795 h 1107"/>
                  <a:gd name="T62" fmla="*/ 864 w 1062"/>
                  <a:gd name="T63" fmla="*/ 735 h 1107"/>
                  <a:gd name="T64" fmla="*/ 936 w 1062"/>
                  <a:gd name="T65" fmla="*/ 687 h 1107"/>
                  <a:gd name="T66" fmla="*/ 988 w 1062"/>
                  <a:gd name="T67" fmla="*/ 592 h 1107"/>
                  <a:gd name="T68" fmla="*/ 1062 w 1062"/>
                  <a:gd name="T69" fmla="*/ 520 h 1107"/>
                  <a:gd name="T70" fmla="*/ 955 w 1062"/>
                  <a:gd name="T71" fmla="*/ 435 h 11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1062" h="1107">
                    <a:moveTo>
                      <a:pt x="955" y="435"/>
                    </a:moveTo>
                    <a:cubicBezTo>
                      <a:pt x="955" y="435"/>
                      <a:pt x="933" y="420"/>
                      <a:pt x="907" y="400"/>
                    </a:cubicBezTo>
                    <a:cubicBezTo>
                      <a:pt x="871" y="372"/>
                      <a:pt x="826" y="333"/>
                      <a:pt x="821" y="307"/>
                    </a:cubicBezTo>
                    <a:cubicBezTo>
                      <a:pt x="803" y="273"/>
                      <a:pt x="732" y="206"/>
                      <a:pt x="732" y="206"/>
                    </a:cubicBezTo>
                    <a:cubicBezTo>
                      <a:pt x="733" y="104"/>
                      <a:pt x="733" y="104"/>
                      <a:pt x="733" y="104"/>
                    </a:cubicBezTo>
                    <a:cubicBezTo>
                      <a:pt x="733" y="104"/>
                      <a:pt x="651" y="54"/>
                      <a:pt x="582" y="0"/>
                    </a:cubicBezTo>
                    <a:cubicBezTo>
                      <a:pt x="537" y="53"/>
                      <a:pt x="456" y="98"/>
                      <a:pt x="456" y="98"/>
                    </a:cubicBezTo>
                    <a:cubicBezTo>
                      <a:pt x="456" y="98"/>
                      <a:pt x="413" y="100"/>
                      <a:pt x="413" y="127"/>
                    </a:cubicBezTo>
                    <a:cubicBezTo>
                      <a:pt x="413" y="154"/>
                      <a:pt x="390" y="164"/>
                      <a:pt x="372" y="166"/>
                    </a:cubicBezTo>
                    <a:cubicBezTo>
                      <a:pt x="353" y="168"/>
                      <a:pt x="357" y="195"/>
                      <a:pt x="332" y="247"/>
                    </a:cubicBezTo>
                    <a:cubicBezTo>
                      <a:pt x="307" y="299"/>
                      <a:pt x="262" y="280"/>
                      <a:pt x="237" y="278"/>
                    </a:cubicBezTo>
                    <a:cubicBezTo>
                      <a:pt x="212" y="276"/>
                      <a:pt x="206" y="268"/>
                      <a:pt x="181" y="274"/>
                    </a:cubicBezTo>
                    <a:cubicBezTo>
                      <a:pt x="157" y="280"/>
                      <a:pt x="128" y="276"/>
                      <a:pt x="115" y="263"/>
                    </a:cubicBezTo>
                    <a:cubicBezTo>
                      <a:pt x="103" y="251"/>
                      <a:pt x="86" y="230"/>
                      <a:pt x="68" y="224"/>
                    </a:cubicBezTo>
                    <a:cubicBezTo>
                      <a:pt x="60" y="222"/>
                      <a:pt x="52" y="221"/>
                      <a:pt x="45" y="221"/>
                    </a:cubicBezTo>
                    <a:cubicBezTo>
                      <a:pt x="46" y="245"/>
                      <a:pt x="44" y="274"/>
                      <a:pt x="30" y="285"/>
                    </a:cubicBezTo>
                    <a:cubicBezTo>
                      <a:pt x="11" y="300"/>
                      <a:pt x="0" y="328"/>
                      <a:pt x="24" y="354"/>
                    </a:cubicBezTo>
                    <a:cubicBezTo>
                      <a:pt x="48" y="380"/>
                      <a:pt x="50" y="425"/>
                      <a:pt x="50" y="468"/>
                    </a:cubicBezTo>
                    <a:cubicBezTo>
                      <a:pt x="50" y="512"/>
                      <a:pt x="37" y="642"/>
                      <a:pt x="100" y="702"/>
                    </a:cubicBezTo>
                    <a:cubicBezTo>
                      <a:pt x="162" y="763"/>
                      <a:pt x="167" y="793"/>
                      <a:pt x="167" y="823"/>
                    </a:cubicBezTo>
                    <a:cubicBezTo>
                      <a:pt x="167" y="854"/>
                      <a:pt x="180" y="923"/>
                      <a:pt x="229" y="929"/>
                    </a:cubicBezTo>
                    <a:cubicBezTo>
                      <a:pt x="279" y="936"/>
                      <a:pt x="327" y="936"/>
                      <a:pt x="359" y="825"/>
                    </a:cubicBezTo>
                    <a:cubicBezTo>
                      <a:pt x="372" y="810"/>
                      <a:pt x="398" y="776"/>
                      <a:pt x="418" y="836"/>
                    </a:cubicBezTo>
                    <a:cubicBezTo>
                      <a:pt x="425" y="858"/>
                      <a:pt x="433" y="896"/>
                      <a:pt x="446" y="936"/>
                    </a:cubicBezTo>
                    <a:cubicBezTo>
                      <a:pt x="469" y="1007"/>
                      <a:pt x="507" y="1087"/>
                      <a:pt x="580" y="1107"/>
                    </a:cubicBezTo>
                    <a:cubicBezTo>
                      <a:pt x="606" y="1107"/>
                      <a:pt x="646" y="1081"/>
                      <a:pt x="672" y="1098"/>
                    </a:cubicBezTo>
                    <a:cubicBezTo>
                      <a:pt x="676" y="1088"/>
                      <a:pt x="679" y="1076"/>
                      <a:pt x="680" y="1061"/>
                    </a:cubicBezTo>
                    <a:cubicBezTo>
                      <a:pt x="667" y="1030"/>
                      <a:pt x="667" y="1022"/>
                      <a:pt x="688" y="997"/>
                    </a:cubicBezTo>
                    <a:cubicBezTo>
                      <a:pt x="709" y="973"/>
                      <a:pt x="773" y="987"/>
                      <a:pt x="758" y="942"/>
                    </a:cubicBezTo>
                    <a:cubicBezTo>
                      <a:pt x="738" y="902"/>
                      <a:pt x="696" y="842"/>
                      <a:pt x="661" y="832"/>
                    </a:cubicBezTo>
                    <a:cubicBezTo>
                      <a:pt x="651" y="822"/>
                      <a:pt x="655" y="807"/>
                      <a:pt x="688" y="795"/>
                    </a:cubicBezTo>
                    <a:cubicBezTo>
                      <a:pt x="721" y="782"/>
                      <a:pt x="826" y="735"/>
                      <a:pt x="864" y="735"/>
                    </a:cubicBezTo>
                    <a:cubicBezTo>
                      <a:pt x="901" y="735"/>
                      <a:pt x="911" y="733"/>
                      <a:pt x="936" y="687"/>
                    </a:cubicBezTo>
                    <a:cubicBezTo>
                      <a:pt x="942" y="671"/>
                      <a:pt x="967" y="617"/>
                      <a:pt x="988" y="592"/>
                    </a:cubicBezTo>
                    <a:cubicBezTo>
                      <a:pt x="1002" y="574"/>
                      <a:pt x="1041" y="539"/>
                      <a:pt x="1062" y="520"/>
                    </a:cubicBezTo>
                    <a:cubicBezTo>
                      <a:pt x="1007" y="477"/>
                      <a:pt x="955" y="435"/>
                      <a:pt x="955" y="4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41" name="Freeform 1816">
                <a:extLst>
                  <a:ext uri="{FF2B5EF4-FFF2-40B4-BE49-F238E27FC236}">
                    <a16:creationId xmlns:a16="http://schemas.microsoft.com/office/drawing/2014/main" id="{330A547F-20AA-DAF6-9664-6ED3C630C97B}"/>
                  </a:ext>
                </a:extLst>
              </p:cNvPr>
              <p:cNvSpPr>
                <a:spLocks/>
              </p:cNvSpPr>
              <p:nvPr/>
            </p:nvSpPr>
            <p:spPr bwMode="auto">
              <a:xfrm>
                <a:off x="2182" y="2077"/>
                <a:ext cx="125" cy="90"/>
              </a:xfrm>
              <a:custGeom>
                <a:avLst/>
                <a:gdLst>
                  <a:gd name="T0" fmla="*/ 539 w 568"/>
                  <a:gd name="T1" fmla="*/ 261 h 406"/>
                  <a:gd name="T2" fmla="*/ 538 w 568"/>
                  <a:gd name="T3" fmla="*/ 257 h 406"/>
                  <a:gd name="T4" fmla="*/ 522 w 568"/>
                  <a:gd name="T5" fmla="*/ 217 h 406"/>
                  <a:gd name="T6" fmla="*/ 487 w 568"/>
                  <a:gd name="T7" fmla="*/ 198 h 406"/>
                  <a:gd name="T8" fmla="*/ 406 w 568"/>
                  <a:gd name="T9" fmla="*/ 187 h 406"/>
                  <a:gd name="T10" fmla="*/ 350 w 568"/>
                  <a:gd name="T11" fmla="*/ 130 h 406"/>
                  <a:gd name="T12" fmla="*/ 399 w 568"/>
                  <a:gd name="T13" fmla="*/ 66 h 406"/>
                  <a:gd name="T14" fmla="*/ 450 w 568"/>
                  <a:gd name="T15" fmla="*/ 14 h 406"/>
                  <a:gd name="T16" fmla="*/ 405 w 568"/>
                  <a:gd name="T17" fmla="*/ 0 h 406"/>
                  <a:gd name="T18" fmla="*/ 262 w 568"/>
                  <a:gd name="T19" fmla="*/ 45 h 406"/>
                  <a:gd name="T20" fmla="*/ 105 w 568"/>
                  <a:gd name="T21" fmla="*/ 36 h 406"/>
                  <a:gd name="T22" fmla="*/ 30 w 568"/>
                  <a:gd name="T23" fmla="*/ 45 h 406"/>
                  <a:gd name="T24" fmla="*/ 32 w 568"/>
                  <a:gd name="T25" fmla="*/ 140 h 406"/>
                  <a:gd name="T26" fmla="*/ 28 w 568"/>
                  <a:gd name="T27" fmla="*/ 149 h 406"/>
                  <a:gd name="T28" fmla="*/ 0 w 568"/>
                  <a:gd name="T29" fmla="*/ 200 h 406"/>
                  <a:gd name="T30" fmla="*/ 61 w 568"/>
                  <a:gd name="T31" fmla="*/ 225 h 406"/>
                  <a:gd name="T32" fmla="*/ 156 w 568"/>
                  <a:gd name="T33" fmla="*/ 241 h 406"/>
                  <a:gd name="T34" fmla="*/ 146 w 568"/>
                  <a:gd name="T35" fmla="*/ 305 h 406"/>
                  <a:gd name="T36" fmla="*/ 231 w 568"/>
                  <a:gd name="T37" fmla="*/ 384 h 406"/>
                  <a:gd name="T38" fmla="*/ 427 w 568"/>
                  <a:gd name="T39" fmla="*/ 305 h 406"/>
                  <a:gd name="T40" fmla="*/ 568 w 568"/>
                  <a:gd name="T41" fmla="*/ 311 h 406"/>
                  <a:gd name="T42" fmla="*/ 539 w 568"/>
                  <a:gd name="T43" fmla="*/ 261 h 4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568" h="406">
                    <a:moveTo>
                      <a:pt x="539" y="261"/>
                    </a:moveTo>
                    <a:cubicBezTo>
                      <a:pt x="539" y="260"/>
                      <a:pt x="539" y="259"/>
                      <a:pt x="538" y="257"/>
                    </a:cubicBezTo>
                    <a:cubicBezTo>
                      <a:pt x="536" y="247"/>
                      <a:pt x="525" y="226"/>
                      <a:pt x="522" y="217"/>
                    </a:cubicBezTo>
                    <a:cubicBezTo>
                      <a:pt x="519" y="206"/>
                      <a:pt x="515" y="190"/>
                      <a:pt x="487" y="198"/>
                    </a:cubicBezTo>
                    <a:cubicBezTo>
                      <a:pt x="459" y="207"/>
                      <a:pt x="406" y="198"/>
                      <a:pt x="406" y="187"/>
                    </a:cubicBezTo>
                    <a:cubicBezTo>
                      <a:pt x="406" y="177"/>
                      <a:pt x="350" y="130"/>
                      <a:pt x="350" y="130"/>
                    </a:cubicBezTo>
                    <a:cubicBezTo>
                      <a:pt x="399" y="66"/>
                      <a:pt x="399" y="66"/>
                      <a:pt x="399" y="66"/>
                    </a:cubicBezTo>
                    <a:cubicBezTo>
                      <a:pt x="450" y="14"/>
                      <a:pt x="450" y="14"/>
                      <a:pt x="450" y="14"/>
                    </a:cubicBezTo>
                    <a:cubicBezTo>
                      <a:pt x="450" y="14"/>
                      <a:pt x="432" y="7"/>
                      <a:pt x="405" y="0"/>
                    </a:cubicBezTo>
                    <a:cubicBezTo>
                      <a:pt x="324" y="43"/>
                      <a:pt x="262" y="45"/>
                      <a:pt x="262" y="45"/>
                    </a:cubicBezTo>
                    <a:cubicBezTo>
                      <a:pt x="237" y="45"/>
                      <a:pt x="152" y="36"/>
                      <a:pt x="105" y="36"/>
                    </a:cubicBezTo>
                    <a:cubicBezTo>
                      <a:pt x="57" y="36"/>
                      <a:pt x="57" y="43"/>
                      <a:pt x="30" y="45"/>
                    </a:cubicBezTo>
                    <a:cubicBezTo>
                      <a:pt x="3" y="47"/>
                      <a:pt x="26" y="98"/>
                      <a:pt x="32" y="140"/>
                    </a:cubicBezTo>
                    <a:cubicBezTo>
                      <a:pt x="31" y="143"/>
                      <a:pt x="29" y="146"/>
                      <a:pt x="28" y="149"/>
                    </a:cubicBezTo>
                    <a:cubicBezTo>
                      <a:pt x="17" y="174"/>
                      <a:pt x="8" y="190"/>
                      <a:pt x="0" y="200"/>
                    </a:cubicBezTo>
                    <a:cubicBezTo>
                      <a:pt x="22" y="213"/>
                      <a:pt x="46" y="225"/>
                      <a:pt x="61" y="225"/>
                    </a:cubicBezTo>
                    <a:cubicBezTo>
                      <a:pt x="96" y="222"/>
                      <a:pt x="146" y="214"/>
                      <a:pt x="156" y="241"/>
                    </a:cubicBezTo>
                    <a:cubicBezTo>
                      <a:pt x="167" y="268"/>
                      <a:pt x="158" y="289"/>
                      <a:pt x="146" y="305"/>
                    </a:cubicBezTo>
                    <a:cubicBezTo>
                      <a:pt x="150" y="326"/>
                      <a:pt x="152" y="406"/>
                      <a:pt x="231" y="384"/>
                    </a:cubicBezTo>
                    <a:cubicBezTo>
                      <a:pt x="309" y="361"/>
                      <a:pt x="400" y="305"/>
                      <a:pt x="427" y="305"/>
                    </a:cubicBezTo>
                    <a:cubicBezTo>
                      <a:pt x="449" y="305"/>
                      <a:pt x="527" y="315"/>
                      <a:pt x="568" y="311"/>
                    </a:cubicBezTo>
                    <a:cubicBezTo>
                      <a:pt x="550" y="287"/>
                      <a:pt x="539" y="268"/>
                      <a:pt x="539" y="261"/>
                    </a:cubicBezTo>
                    <a:close/>
                  </a:path>
                </a:pathLst>
              </a:custGeom>
              <a:gradFill>
                <a:gsLst>
                  <a:gs pos="53000">
                    <a:srgbClr val="160976"/>
                  </a:gs>
                  <a:gs pos="84000">
                    <a:srgbClr val="010673"/>
                  </a:gs>
                  <a:gs pos="0">
                    <a:srgbClr val="4F127F">
                      <a:alpha val="90000"/>
                    </a:srgbClr>
                  </a:gs>
                </a:gsLst>
                <a:lin ang="8400000" scaled="0"/>
              </a:gra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42" name="Freeform 1817">
                <a:extLst>
                  <a:ext uri="{FF2B5EF4-FFF2-40B4-BE49-F238E27FC236}">
                    <a16:creationId xmlns:a16="http://schemas.microsoft.com/office/drawing/2014/main" id="{48E14E8B-5FCB-0D8C-0133-A11B125E33FF}"/>
                  </a:ext>
                </a:extLst>
              </p:cNvPr>
              <p:cNvSpPr>
                <a:spLocks/>
              </p:cNvSpPr>
              <p:nvPr/>
            </p:nvSpPr>
            <p:spPr bwMode="auto">
              <a:xfrm>
                <a:off x="1975" y="1926"/>
                <a:ext cx="296" cy="216"/>
              </a:xfrm>
              <a:custGeom>
                <a:avLst/>
                <a:gdLst>
                  <a:gd name="T0" fmla="*/ 1251 w 1342"/>
                  <a:gd name="T1" fmla="*/ 674 h 978"/>
                  <a:gd name="T2" fmla="*/ 1170 w 1342"/>
                  <a:gd name="T3" fmla="*/ 676 h 978"/>
                  <a:gd name="T4" fmla="*/ 1161 w 1342"/>
                  <a:gd name="T5" fmla="*/ 664 h 978"/>
                  <a:gd name="T6" fmla="*/ 1203 w 1342"/>
                  <a:gd name="T7" fmla="*/ 634 h 978"/>
                  <a:gd name="T8" fmla="*/ 1183 w 1342"/>
                  <a:gd name="T9" fmla="*/ 537 h 978"/>
                  <a:gd name="T10" fmla="*/ 1150 w 1342"/>
                  <a:gd name="T11" fmla="*/ 576 h 978"/>
                  <a:gd name="T12" fmla="*/ 1093 w 1342"/>
                  <a:gd name="T13" fmla="*/ 540 h 978"/>
                  <a:gd name="T14" fmla="*/ 1039 w 1342"/>
                  <a:gd name="T15" fmla="*/ 538 h 978"/>
                  <a:gd name="T16" fmla="*/ 1040 w 1342"/>
                  <a:gd name="T17" fmla="*/ 588 h 978"/>
                  <a:gd name="T18" fmla="*/ 1006 w 1342"/>
                  <a:gd name="T19" fmla="*/ 613 h 978"/>
                  <a:gd name="T20" fmla="*/ 974 w 1342"/>
                  <a:gd name="T21" fmla="*/ 612 h 978"/>
                  <a:gd name="T22" fmla="*/ 931 w 1342"/>
                  <a:gd name="T23" fmla="*/ 586 h 978"/>
                  <a:gd name="T24" fmla="*/ 866 w 1342"/>
                  <a:gd name="T25" fmla="*/ 522 h 978"/>
                  <a:gd name="T26" fmla="*/ 841 w 1342"/>
                  <a:gd name="T27" fmla="*/ 477 h 978"/>
                  <a:gd name="T28" fmla="*/ 867 w 1342"/>
                  <a:gd name="T29" fmla="*/ 490 h 978"/>
                  <a:gd name="T30" fmla="*/ 921 w 1342"/>
                  <a:gd name="T31" fmla="*/ 508 h 978"/>
                  <a:gd name="T32" fmla="*/ 932 w 1342"/>
                  <a:gd name="T33" fmla="*/ 482 h 978"/>
                  <a:gd name="T34" fmla="*/ 879 w 1342"/>
                  <a:gd name="T35" fmla="*/ 428 h 978"/>
                  <a:gd name="T36" fmla="*/ 816 w 1342"/>
                  <a:gd name="T37" fmla="*/ 384 h 978"/>
                  <a:gd name="T38" fmla="*/ 752 w 1342"/>
                  <a:gd name="T39" fmla="*/ 319 h 978"/>
                  <a:gd name="T40" fmla="*/ 694 w 1342"/>
                  <a:gd name="T41" fmla="*/ 300 h 978"/>
                  <a:gd name="T42" fmla="*/ 708 w 1342"/>
                  <a:gd name="T43" fmla="*/ 266 h 978"/>
                  <a:gd name="T44" fmla="*/ 672 w 1342"/>
                  <a:gd name="T45" fmla="*/ 270 h 978"/>
                  <a:gd name="T46" fmla="*/ 606 w 1342"/>
                  <a:gd name="T47" fmla="*/ 228 h 978"/>
                  <a:gd name="T48" fmla="*/ 518 w 1342"/>
                  <a:gd name="T49" fmla="*/ 212 h 978"/>
                  <a:gd name="T50" fmla="*/ 464 w 1342"/>
                  <a:gd name="T51" fmla="*/ 132 h 978"/>
                  <a:gd name="T52" fmla="*/ 561 w 1342"/>
                  <a:gd name="T53" fmla="*/ 164 h 978"/>
                  <a:gd name="T54" fmla="*/ 657 w 1342"/>
                  <a:gd name="T55" fmla="*/ 221 h 978"/>
                  <a:gd name="T56" fmla="*/ 695 w 1342"/>
                  <a:gd name="T57" fmla="*/ 225 h 978"/>
                  <a:gd name="T58" fmla="*/ 511 w 1342"/>
                  <a:gd name="T59" fmla="*/ 76 h 978"/>
                  <a:gd name="T60" fmla="*/ 411 w 1342"/>
                  <a:gd name="T61" fmla="*/ 0 h 978"/>
                  <a:gd name="T62" fmla="*/ 337 w 1342"/>
                  <a:gd name="T63" fmla="*/ 72 h 978"/>
                  <a:gd name="T64" fmla="*/ 285 w 1342"/>
                  <a:gd name="T65" fmla="*/ 167 h 978"/>
                  <a:gd name="T66" fmla="*/ 213 w 1342"/>
                  <a:gd name="T67" fmla="*/ 215 h 978"/>
                  <a:gd name="T68" fmla="*/ 37 w 1342"/>
                  <a:gd name="T69" fmla="*/ 275 h 978"/>
                  <a:gd name="T70" fmla="*/ 10 w 1342"/>
                  <a:gd name="T71" fmla="*/ 312 h 978"/>
                  <a:gd name="T72" fmla="*/ 107 w 1342"/>
                  <a:gd name="T73" fmla="*/ 422 h 978"/>
                  <a:gd name="T74" fmla="*/ 37 w 1342"/>
                  <a:gd name="T75" fmla="*/ 477 h 978"/>
                  <a:gd name="T76" fmla="*/ 29 w 1342"/>
                  <a:gd name="T77" fmla="*/ 541 h 978"/>
                  <a:gd name="T78" fmla="*/ 21 w 1342"/>
                  <a:gd name="T79" fmla="*/ 578 h 978"/>
                  <a:gd name="T80" fmla="*/ 22 w 1342"/>
                  <a:gd name="T81" fmla="*/ 578 h 978"/>
                  <a:gd name="T82" fmla="*/ 100 w 1342"/>
                  <a:gd name="T83" fmla="*/ 693 h 978"/>
                  <a:gd name="T84" fmla="*/ 236 w 1342"/>
                  <a:gd name="T85" fmla="*/ 803 h 978"/>
                  <a:gd name="T86" fmla="*/ 353 w 1342"/>
                  <a:gd name="T87" fmla="*/ 877 h 978"/>
                  <a:gd name="T88" fmla="*/ 448 w 1342"/>
                  <a:gd name="T89" fmla="*/ 857 h 978"/>
                  <a:gd name="T90" fmla="*/ 455 w 1342"/>
                  <a:gd name="T91" fmla="*/ 888 h 978"/>
                  <a:gd name="T92" fmla="*/ 458 w 1342"/>
                  <a:gd name="T93" fmla="*/ 932 h 978"/>
                  <a:gd name="T94" fmla="*/ 556 w 1342"/>
                  <a:gd name="T95" fmla="*/ 932 h 978"/>
                  <a:gd name="T96" fmla="*/ 603 w 1342"/>
                  <a:gd name="T97" fmla="*/ 920 h 978"/>
                  <a:gd name="T98" fmla="*/ 663 w 1342"/>
                  <a:gd name="T99" fmla="*/ 909 h 978"/>
                  <a:gd name="T100" fmla="*/ 756 w 1342"/>
                  <a:gd name="T101" fmla="*/ 978 h 978"/>
                  <a:gd name="T102" fmla="*/ 825 w 1342"/>
                  <a:gd name="T103" fmla="*/ 943 h 978"/>
                  <a:gd name="T104" fmla="*/ 893 w 1342"/>
                  <a:gd name="T105" fmla="*/ 903 h 978"/>
                  <a:gd name="T106" fmla="*/ 937 w 1342"/>
                  <a:gd name="T107" fmla="*/ 887 h 978"/>
                  <a:gd name="T108" fmla="*/ 965 w 1342"/>
                  <a:gd name="T109" fmla="*/ 836 h 978"/>
                  <a:gd name="T110" fmla="*/ 969 w 1342"/>
                  <a:gd name="T111" fmla="*/ 827 h 978"/>
                  <a:gd name="T112" fmla="*/ 967 w 1342"/>
                  <a:gd name="T113" fmla="*/ 732 h 978"/>
                  <a:gd name="T114" fmla="*/ 1042 w 1342"/>
                  <a:gd name="T115" fmla="*/ 723 h 978"/>
                  <a:gd name="T116" fmla="*/ 1199 w 1342"/>
                  <a:gd name="T117" fmla="*/ 732 h 978"/>
                  <a:gd name="T118" fmla="*/ 1342 w 1342"/>
                  <a:gd name="T119" fmla="*/ 687 h 978"/>
                  <a:gd name="T120" fmla="*/ 1251 w 1342"/>
                  <a:gd name="T121" fmla="*/ 674 h 9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1342" h="978">
                    <a:moveTo>
                      <a:pt x="1251" y="674"/>
                    </a:moveTo>
                    <a:cubicBezTo>
                      <a:pt x="1249" y="671"/>
                      <a:pt x="1195" y="703"/>
                      <a:pt x="1170" y="676"/>
                    </a:cubicBezTo>
                    <a:cubicBezTo>
                      <a:pt x="1166" y="671"/>
                      <a:pt x="1163" y="667"/>
                      <a:pt x="1161" y="664"/>
                    </a:cubicBezTo>
                    <a:cubicBezTo>
                      <a:pt x="1145" y="634"/>
                      <a:pt x="1200" y="633"/>
                      <a:pt x="1203" y="634"/>
                    </a:cubicBezTo>
                    <a:cubicBezTo>
                      <a:pt x="1271" y="661"/>
                      <a:pt x="1209" y="539"/>
                      <a:pt x="1183" y="537"/>
                    </a:cubicBezTo>
                    <a:cubicBezTo>
                      <a:pt x="1152" y="535"/>
                      <a:pt x="1154" y="569"/>
                      <a:pt x="1150" y="576"/>
                    </a:cubicBezTo>
                    <a:cubicBezTo>
                      <a:pt x="1146" y="582"/>
                      <a:pt x="1093" y="552"/>
                      <a:pt x="1093" y="540"/>
                    </a:cubicBezTo>
                    <a:cubicBezTo>
                      <a:pt x="1093" y="528"/>
                      <a:pt x="1060" y="509"/>
                      <a:pt x="1039" y="538"/>
                    </a:cubicBezTo>
                    <a:cubicBezTo>
                      <a:pt x="1045" y="565"/>
                      <a:pt x="1053" y="583"/>
                      <a:pt x="1040" y="588"/>
                    </a:cubicBezTo>
                    <a:cubicBezTo>
                      <a:pt x="1027" y="592"/>
                      <a:pt x="1013" y="613"/>
                      <a:pt x="1006" y="613"/>
                    </a:cubicBezTo>
                    <a:cubicBezTo>
                      <a:pt x="1000" y="613"/>
                      <a:pt x="975" y="622"/>
                      <a:pt x="974" y="612"/>
                    </a:cubicBezTo>
                    <a:cubicBezTo>
                      <a:pt x="973" y="601"/>
                      <a:pt x="944" y="591"/>
                      <a:pt x="931" y="586"/>
                    </a:cubicBezTo>
                    <a:cubicBezTo>
                      <a:pt x="918" y="580"/>
                      <a:pt x="878" y="536"/>
                      <a:pt x="866" y="522"/>
                    </a:cubicBezTo>
                    <a:cubicBezTo>
                      <a:pt x="854" y="508"/>
                      <a:pt x="841" y="477"/>
                      <a:pt x="841" y="477"/>
                    </a:cubicBezTo>
                    <a:cubicBezTo>
                      <a:pt x="841" y="477"/>
                      <a:pt x="858" y="485"/>
                      <a:pt x="867" y="490"/>
                    </a:cubicBezTo>
                    <a:cubicBezTo>
                      <a:pt x="875" y="496"/>
                      <a:pt x="913" y="509"/>
                      <a:pt x="921" y="508"/>
                    </a:cubicBezTo>
                    <a:cubicBezTo>
                      <a:pt x="928" y="507"/>
                      <a:pt x="942" y="497"/>
                      <a:pt x="932" y="482"/>
                    </a:cubicBezTo>
                    <a:cubicBezTo>
                      <a:pt x="921" y="467"/>
                      <a:pt x="892" y="435"/>
                      <a:pt x="879" y="428"/>
                    </a:cubicBezTo>
                    <a:cubicBezTo>
                      <a:pt x="866" y="420"/>
                      <a:pt x="829" y="410"/>
                      <a:pt x="816" y="384"/>
                    </a:cubicBezTo>
                    <a:cubicBezTo>
                      <a:pt x="803" y="358"/>
                      <a:pt x="781" y="316"/>
                      <a:pt x="752" y="319"/>
                    </a:cubicBezTo>
                    <a:cubicBezTo>
                      <a:pt x="723" y="323"/>
                      <a:pt x="690" y="322"/>
                      <a:pt x="694" y="300"/>
                    </a:cubicBezTo>
                    <a:cubicBezTo>
                      <a:pt x="702" y="292"/>
                      <a:pt x="722" y="281"/>
                      <a:pt x="708" y="266"/>
                    </a:cubicBezTo>
                    <a:cubicBezTo>
                      <a:pt x="696" y="259"/>
                      <a:pt x="683" y="269"/>
                      <a:pt x="672" y="270"/>
                    </a:cubicBezTo>
                    <a:cubicBezTo>
                      <a:pt x="654" y="245"/>
                      <a:pt x="634" y="228"/>
                      <a:pt x="606" y="228"/>
                    </a:cubicBezTo>
                    <a:cubicBezTo>
                      <a:pt x="588" y="210"/>
                      <a:pt x="576" y="196"/>
                      <a:pt x="518" y="212"/>
                    </a:cubicBezTo>
                    <a:cubicBezTo>
                      <a:pt x="505" y="173"/>
                      <a:pt x="474" y="142"/>
                      <a:pt x="464" y="132"/>
                    </a:cubicBezTo>
                    <a:cubicBezTo>
                      <a:pt x="490" y="131"/>
                      <a:pt x="540" y="151"/>
                      <a:pt x="561" y="164"/>
                    </a:cubicBezTo>
                    <a:cubicBezTo>
                      <a:pt x="581" y="177"/>
                      <a:pt x="653" y="218"/>
                      <a:pt x="657" y="221"/>
                    </a:cubicBezTo>
                    <a:cubicBezTo>
                      <a:pt x="661" y="224"/>
                      <a:pt x="693" y="232"/>
                      <a:pt x="695" y="225"/>
                    </a:cubicBezTo>
                    <a:cubicBezTo>
                      <a:pt x="684" y="209"/>
                      <a:pt x="569" y="117"/>
                      <a:pt x="511" y="76"/>
                    </a:cubicBezTo>
                    <a:cubicBezTo>
                      <a:pt x="487" y="59"/>
                      <a:pt x="449" y="30"/>
                      <a:pt x="411" y="0"/>
                    </a:cubicBezTo>
                    <a:cubicBezTo>
                      <a:pt x="390" y="19"/>
                      <a:pt x="351" y="54"/>
                      <a:pt x="337" y="72"/>
                    </a:cubicBezTo>
                    <a:cubicBezTo>
                      <a:pt x="316" y="97"/>
                      <a:pt x="291" y="151"/>
                      <a:pt x="285" y="167"/>
                    </a:cubicBezTo>
                    <a:cubicBezTo>
                      <a:pt x="260" y="213"/>
                      <a:pt x="250" y="215"/>
                      <a:pt x="213" y="215"/>
                    </a:cubicBezTo>
                    <a:cubicBezTo>
                      <a:pt x="175" y="215"/>
                      <a:pt x="70" y="262"/>
                      <a:pt x="37" y="275"/>
                    </a:cubicBezTo>
                    <a:cubicBezTo>
                      <a:pt x="4" y="287"/>
                      <a:pt x="0" y="302"/>
                      <a:pt x="10" y="312"/>
                    </a:cubicBezTo>
                    <a:cubicBezTo>
                      <a:pt x="45" y="322"/>
                      <a:pt x="87" y="382"/>
                      <a:pt x="107" y="422"/>
                    </a:cubicBezTo>
                    <a:cubicBezTo>
                      <a:pt x="122" y="467"/>
                      <a:pt x="58" y="453"/>
                      <a:pt x="37" y="477"/>
                    </a:cubicBezTo>
                    <a:cubicBezTo>
                      <a:pt x="16" y="502"/>
                      <a:pt x="16" y="510"/>
                      <a:pt x="29" y="541"/>
                    </a:cubicBezTo>
                    <a:cubicBezTo>
                      <a:pt x="28" y="556"/>
                      <a:pt x="25" y="568"/>
                      <a:pt x="21" y="578"/>
                    </a:cubicBezTo>
                    <a:cubicBezTo>
                      <a:pt x="22" y="578"/>
                      <a:pt x="22" y="578"/>
                      <a:pt x="22" y="578"/>
                    </a:cubicBezTo>
                    <a:cubicBezTo>
                      <a:pt x="48" y="595"/>
                      <a:pt x="91" y="608"/>
                      <a:pt x="100" y="693"/>
                    </a:cubicBezTo>
                    <a:cubicBezTo>
                      <a:pt x="95" y="725"/>
                      <a:pt x="130" y="784"/>
                      <a:pt x="236" y="803"/>
                    </a:cubicBezTo>
                    <a:cubicBezTo>
                      <a:pt x="264" y="807"/>
                      <a:pt x="294" y="877"/>
                      <a:pt x="353" y="877"/>
                    </a:cubicBezTo>
                    <a:cubicBezTo>
                      <a:pt x="411" y="877"/>
                      <a:pt x="437" y="835"/>
                      <a:pt x="448" y="857"/>
                    </a:cubicBezTo>
                    <a:cubicBezTo>
                      <a:pt x="450" y="862"/>
                      <a:pt x="453" y="873"/>
                      <a:pt x="455" y="888"/>
                    </a:cubicBezTo>
                    <a:cubicBezTo>
                      <a:pt x="457" y="900"/>
                      <a:pt x="458" y="915"/>
                      <a:pt x="458" y="932"/>
                    </a:cubicBezTo>
                    <a:cubicBezTo>
                      <a:pt x="498" y="931"/>
                      <a:pt x="547" y="931"/>
                      <a:pt x="556" y="932"/>
                    </a:cubicBezTo>
                    <a:cubicBezTo>
                      <a:pt x="570" y="934"/>
                      <a:pt x="581" y="938"/>
                      <a:pt x="603" y="920"/>
                    </a:cubicBezTo>
                    <a:cubicBezTo>
                      <a:pt x="626" y="901"/>
                      <a:pt x="645" y="889"/>
                      <a:pt x="663" y="909"/>
                    </a:cubicBezTo>
                    <a:cubicBezTo>
                      <a:pt x="682" y="930"/>
                      <a:pt x="732" y="978"/>
                      <a:pt x="756" y="978"/>
                    </a:cubicBezTo>
                    <a:cubicBezTo>
                      <a:pt x="781" y="978"/>
                      <a:pt x="812" y="963"/>
                      <a:pt x="825" y="943"/>
                    </a:cubicBezTo>
                    <a:cubicBezTo>
                      <a:pt x="837" y="922"/>
                      <a:pt x="860" y="903"/>
                      <a:pt x="893" y="903"/>
                    </a:cubicBezTo>
                    <a:cubicBezTo>
                      <a:pt x="913" y="903"/>
                      <a:pt x="924" y="904"/>
                      <a:pt x="937" y="887"/>
                    </a:cubicBezTo>
                    <a:cubicBezTo>
                      <a:pt x="945" y="877"/>
                      <a:pt x="954" y="861"/>
                      <a:pt x="965" y="836"/>
                    </a:cubicBezTo>
                    <a:cubicBezTo>
                      <a:pt x="966" y="833"/>
                      <a:pt x="968" y="830"/>
                      <a:pt x="969" y="827"/>
                    </a:cubicBezTo>
                    <a:cubicBezTo>
                      <a:pt x="963" y="785"/>
                      <a:pt x="940" y="734"/>
                      <a:pt x="967" y="732"/>
                    </a:cubicBezTo>
                    <a:cubicBezTo>
                      <a:pt x="994" y="730"/>
                      <a:pt x="994" y="723"/>
                      <a:pt x="1042" y="723"/>
                    </a:cubicBezTo>
                    <a:cubicBezTo>
                      <a:pt x="1089" y="723"/>
                      <a:pt x="1174" y="732"/>
                      <a:pt x="1199" y="732"/>
                    </a:cubicBezTo>
                    <a:cubicBezTo>
                      <a:pt x="1199" y="732"/>
                      <a:pt x="1261" y="730"/>
                      <a:pt x="1342" y="687"/>
                    </a:cubicBezTo>
                    <a:cubicBezTo>
                      <a:pt x="1317" y="681"/>
                      <a:pt x="1284" y="674"/>
                      <a:pt x="1251" y="67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43" name="Freeform 1818">
                <a:extLst>
                  <a:ext uri="{FF2B5EF4-FFF2-40B4-BE49-F238E27FC236}">
                    <a16:creationId xmlns:a16="http://schemas.microsoft.com/office/drawing/2014/main" id="{B9546EDC-D1A2-C756-7501-F7DBED7EB2EF}"/>
                  </a:ext>
                </a:extLst>
              </p:cNvPr>
              <p:cNvSpPr>
                <a:spLocks/>
              </p:cNvSpPr>
              <p:nvPr/>
            </p:nvSpPr>
            <p:spPr bwMode="auto">
              <a:xfrm>
                <a:off x="2283" y="2297"/>
                <a:ext cx="237" cy="243"/>
              </a:xfrm>
              <a:custGeom>
                <a:avLst/>
                <a:gdLst>
                  <a:gd name="T0" fmla="*/ 240 w 1075"/>
                  <a:gd name="T1" fmla="*/ 761 h 1099"/>
                  <a:gd name="T2" fmla="*/ 315 w 1075"/>
                  <a:gd name="T3" fmla="*/ 802 h 1099"/>
                  <a:gd name="T4" fmla="*/ 378 w 1075"/>
                  <a:gd name="T5" fmla="*/ 1055 h 1099"/>
                  <a:gd name="T6" fmla="*/ 407 w 1075"/>
                  <a:gd name="T7" fmla="*/ 1053 h 1099"/>
                  <a:gd name="T8" fmla="*/ 462 w 1075"/>
                  <a:gd name="T9" fmla="*/ 1096 h 1099"/>
                  <a:gd name="T10" fmla="*/ 563 w 1075"/>
                  <a:gd name="T11" fmla="*/ 1038 h 1099"/>
                  <a:gd name="T12" fmla="*/ 632 w 1075"/>
                  <a:gd name="T13" fmla="*/ 1044 h 1099"/>
                  <a:gd name="T14" fmla="*/ 678 w 1075"/>
                  <a:gd name="T15" fmla="*/ 914 h 1099"/>
                  <a:gd name="T16" fmla="*/ 750 w 1075"/>
                  <a:gd name="T17" fmla="*/ 926 h 1099"/>
                  <a:gd name="T18" fmla="*/ 840 w 1075"/>
                  <a:gd name="T19" fmla="*/ 908 h 1099"/>
                  <a:gd name="T20" fmla="*/ 932 w 1075"/>
                  <a:gd name="T21" fmla="*/ 929 h 1099"/>
                  <a:gd name="T22" fmla="*/ 1039 w 1075"/>
                  <a:gd name="T23" fmla="*/ 1042 h 1099"/>
                  <a:gd name="T24" fmla="*/ 1039 w 1075"/>
                  <a:gd name="T25" fmla="*/ 1003 h 1099"/>
                  <a:gd name="T26" fmla="*/ 1063 w 1075"/>
                  <a:gd name="T27" fmla="*/ 965 h 1099"/>
                  <a:gd name="T28" fmla="*/ 1068 w 1075"/>
                  <a:gd name="T29" fmla="*/ 941 h 1099"/>
                  <a:gd name="T30" fmla="*/ 1034 w 1075"/>
                  <a:gd name="T31" fmla="*/ 894 h 1099"/>
                  <a:gd name="T32" fmla="*/ 986 w 1075"/>
                  <a:gd name="T33" fmla="*/ 797 h 1099"/>
                  <a:gd name="T34" fmla="*/ 909 w 1075"/>
                  <a:gd name="T35" fmla="*/ 709 h 1099"/>
                  <a:gd name="T36" fmla="*/ 914 w 1075"/>
                  <a:gd name="T37" fmla="*/ 649 h 1099"/>
                  <a:gd name="T38" fmla="*/ 863 w 1075"/>
                  <a:gd name="T39" fmla="*/ 529 h 1099"/>
                  <a:gd name="T40" fmla="*/ 840 w 1075"/>
                  <a:gd name="T41" fmla="*/ 381 h 1099"/>
                  <a:gd name="T42" fmla="*/ 814 w 1075"/>
                  <a:gd name="T43" fmla="*/ 405 h 1099"/>
                  <a:gd name="T44" fmla="*/ 793 w 1075"/>
                  <a:gd name="T45" fmla="*/ 336 h 1099"/>
                  <a:gd name="T46" fmla="*/ 830 w 1075"/>
                  <a:gd name="T47" fmla="*/ 334 h 1099"/>
                  <a:gd name="T48" fmla="*/ 842 w 1075"/>
                  <a:gd name="T49" fmla="*/ 270 h 1099"/>
                  <a:gd name="T50" fmla="*/ 799 w 1075"/>
                  <a:gd name="T51" fmla="*/ 283 h 1099"/>
                  <a:gd name="T52" fmla="*/ 819 w 1075"/>
                  <a:gd name="T53" fmla="*/ 248 h 1099"/>
                  <a:gd name="T54" fmla="*/ 869 w 1075"/>
                  <a:gd name="T55" fmla="*/ 238 h 1099"/>
                  <a:gd name="T56" fmla="*/ 875 w 1075"/>
                  <a:gd name="T57" fmla="*/ 209 h 1099"/>
                  <a:gd name="T58" fmla="*/ 796 w 1075"/>
                  <a:gd name="T59" fmla="*/ 152 h 1099"/>
                  <a:gd name="T60" fmla="*/ 760 w 1075"/>
                  <a:gd name="T61" fmla="*/ 76 h 1099"/>
                  <a:gd name="T62" fmla="*/ 743 w 1075"/>
                  <a:gd name="T63" fmla="*/ 28 h 1099"/>
                  <a:gd name="T64" fmla="*/ 698 w 1075"/>
                  <a:gd name="T65" fmla="*/ 0 h 1099"/>
                  <a:gd name="T66" fmla="*/ 702 w 1075"/>
                  <a:gd name="T67" fmla="*/ 39 h 1099"/>
                  <a:gd name="T68" fmla="*/ 677 w 1075"/>
                  <a:gd name="T69" fmla="*/ 66 h 1099"/>
                  <a:gd name="T70" fmla="*/ 714 w 1075"/>
                  <a:gd name="T71" fmla="*/ 93 h 1099"/>
                  <a:gd name="T72" fmla="*/ 688 w 1075"/>
                  <a:gd name="T73" fmla="*/ 104 h 1099"/>
                  <a:gd name="T74" fmla="*/ 661 w 1075"/>
                  <a:gd name="T75" fmla="*/ 116 h 1099"/>
                  <a:gd name="T76" fmla="*/ 648 w 1075"/>
                  <a:gd name="T77" fmla="*/ 155 h 1099"/>
                  <a:gd name="T78" fmla="*/ 632 w 1075"/>
                  <a:gd name="T79" fmla="*/ 99 h 1099"/>
                  <a:gd name="T80" fmla="*/ 661 w 1075"/>
                  <a:gd name="T81" fmla="*/ 54 h 1099"/>
                  <a:gd name="T82" fmla="*/ 625 w 1075"/>
                  <a:gd name="T83" fmla="*/ 6 h 1099"/>
                  <a:gd name="T84" fmla="*/ 553 w 1075"/>
                  <a:gd name="T85" fmla="*/ 54 h 1099"/>
                  <a:gd name="T86" fmla="*/ 349 w 1075"/>
                  <a:gd name="T87" fmla="*/ 136 h 1099"/>
                  <a:gd name="T88" fmla="*/ 154 w 1075"/>
                  <a:gd name="T89" fmla="*/ 144 h 1099"/>
                  <a:gd name="T90" fmla="*/ 90 w 1075"/>
                  <a:gd name="T91" fmla="*/ 171 h 1099"/>
                  <a:gd name="T92" fmla="*/ 51 w 1075"/>
                  <a:gd name="T93" fmla="*/ 246 h 1099"/>
                  <a:gd name="T94" fmla="*/ 61 w 1075"/>
                  <a:gd name="T95" fmla="*/ 293 h 1099"/>
                  <a:gd name="T96" fmla="*/ 84 w 1075"/>
                  <a:gd name="T97" fmla="*/ 328 h 1099"/>
                  <a:gd name="T98" fmla="*/ 30 w 1075"/>
                  <a:gd name="T99" fmla="*/ 407 h 1099"/>
                  <a:gd name="T100" fmla="*/ 0 w 1075"/>
                  <a:gd name="T101" fmla="*/ 425 h 1099"/>
                  <a:gd name="T102" fmla="*/ 122 w 1075"/>
                  <a:gd name="T103" fmla="*/ 623 h 1099"/>
                  <a:gd name="T104" fmla="*/ 240 w 1075"/>
                  <a:gd name="T105" fmla="*/ 761 h 10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075" h="1099">
                    <a:moveTo>
                      <a:pt x="240" y="761"/>
                    </a:moveTo>
                    <a:cubicBezTo>
                      <a:pt x="286" y="750"/>
                      <a:pt x="315" y="741"/>
                      <a:pt x="315" y="802"/>
                    </a:cubicBezTo>
                    <a:cubicBezTo>
                      <a:pt x="315" y="860"/>
                      <a:pt x="301" y="948"/>
                      <a:pt x="378" y="1055"/>
                    </a:cubicBezTo>
                    <a:cubicBezTo>
                      <a:pt x="390" y="1050"/>
                      <a:pt x="401" y="1048"/>
                      <a:pt x="407" y="1053"/>
                    </a:cubicBezTo>
                    <a:cubicBezTo>
                      <a:pt x="427" y="1067"/>
                      <a:pt x="436" y="1099"/>
                      <a:pt x="462" y="1096"/>
                    </a:cubicBezTo>
                    <a:cubicBezTo>
                      <a:pt x="488" y="1093"/>
                      <a:pt x="543" y="1038"/>
                      <a:pt x="563" y="1038"/>
                    </a:cubicBezTo>
                    <a:cubicBezTo>
                      <a:pt x="583" y="1038"/>
                      <a:pt x="615" y="1073"/>
                      <a:pt x="632" y="1044"/>
                    </a:cubicBezTo>
                    <a:cubicBezTo>
                      <a:pt x="649" y="1015"/>
                      <a:pt x="664" y="931"/>
                      <a:pt x="678" y="914"/>
                    </a:cubicBezTo>
                    <a:cubicBezTo>
                      <a:pt x="693" y="897"/>
                      <a:pt x="713" y="920"/>
                      <a:pt x="750" y="926"/>
                    </a:cubicBezTo>
                    <a:cubicBezTo>
                      <a:pt x="788" y="931"/>
                      <a:pt x="811" y="920"/>
                      <a:pt x="840" y="908"/>
                    </a:cubicBezTo>
                    <a:cubicBezTo>
                      <a:pt x="869" y="897"/>
                      <a:pt x="906" y="897"/>
                      <a:pt x="932" y="929"/>
                    </a:cubicBezTo>
                    <a:cubicBezTo>
                      <a:pt x="956" y="958"/>
                      <a:pt x="999" y="1020"/>
                      <a:pt x="1039" y="1042"/>
                    </a:cubicBezTo>
                    <a:cubicBezTo>
                      <a:pt x="1038" y="1031"/>
                      <a:pt x="1038" y="1018"/>
                      <a:pt x="1039" y="1003"/>
                    </a:cubicBezTo>
                    <a:cubicBezTo>
                      <a:pt x="1042" y="974"/>
                      <a:pt x="1052" y="963"/>
                      <a:pt x="1063" y="965"/>
                    </a:cubicBezTo>
                    <a:cubicBezTo>
                      <a:pt x="1074" y="967"/>
                      <a:pt x="1075" y="956"/>
                      <a:pt x="1068" y="941"/>
                    </a:cubicBezTo>
                    <a:cubicBezTo>
                      <a:pt x="1062" y="927"/>
                      <a:pt x="1044" y="921"/>
                      <a:pt x="1034" y="894"/>
                    </a:cubicBezTo>
                    <a:cubicBezTo>
                      <a:pt x="1024" y="867"/>
                      <a:pt x="1006" y="820"/>
                      <a:pt x="986" y="797"/>
                    </a:cubicBezTo>
                    <a:cubicBezTo>
                      <a:pt x="967" y="773"/>
                      <a:pt x="909" y="727"/>
                      <a:pt x="909" y="709"/>
                    </a:cubicBezTo>
                    <a:cubicBezTo>
                      <a:pt x="940" y="709"/>
                      <a:pt x="943" y="686"/>
                      <a:pt x="914" y="649"/>
                    </a:cubicBezTo>
                    <a:cubicBezTo>
                      <a:pt x="885" y="613"/>
                      <a:pt x="877" y="593"/>
                      <a:pt x="863" y="529"/>
                    </a:cubicBezTo>
                    <a:cubicBezTo>
                      <a:pt x="849" y="466"/>
                      <a:pt x="852" y="378"/>
                      <a:pt x="840" y="381"/>
                    </a:cubicBezTo>
                    <a:cubicBezTo>
                      <a:pt x="828" y="384"/>
                      <a:pt x="816" y="408"/>
                      <a:pt x="814" y="405"/>
                    </a:cubicBezTo>
                    <a:cubicBezTo>
                      <a:pt x="812" y="402"/>
                      <a:pt x="787" y="363"/>
                      <a:pt x="793" y="336"/>
                    </a:cubicBezTo>
                    <a:cubicBezTo>
                      <a:pt x="826" y="336"/>
                      <a:pt x="830" y="334"/>
                      <a:pt x="830" y="334"/>
                    </a:cubicBezTo>
                    <a:cubicBezTo>
                      <a:pt x="842" y="270"/>
                      <a:pt x="842" y="270"/>
                      <a:pt x="842" y="270"/>
                    </a:cubicBezTo>
                    <a:cubicBezTo>
                      <a:pt x="842" y="270"/>
                      <a:pt x="804" y="294"/>
                      <a:pt x="799" y="283"/>
                    </a:cubicBezTo>
                    <a:cubicBezTo>
                      <a:pt x="794" y="272"/>
                      <a:pt x="809" y="256"/>
                      <a:pt x="819" y="248"/>
                    </a:cubicBezTo>
                    <a:cubicBezTo>
                      <a:pt x="828" y="241"/>
                      <a:pt x="866" y="238"/>
                      <a:pt x="869" y="238"/>
                    </a:cubicBezTo>
                    <a:cubicBezTo>
                      <a:pt x="873" y="238"/>
                      <a:pt x="875" y="209"/>
                      <a:pt x="875" y="209"/>
                    </a:cubicBezTo>
                    <a:cubicBezTo>
                      <a:pt x="875" y="209"/>
                      <a:pt x="789" y="211"/>
                      <a:pt x="796" y="152"/>
                    </a:cubicBezTo>
                    <a:cubicBezTo>
                      <a:pt x="790" y="112"/>
                      <a:pt x="788" y="80"/>
                      <a:pt x="760" y="76"/>
                    </a:cubicBezTo>
                    <a:cubicBezTo>
                      <a:pt x="745" y="75"/>
                      <a:pt x="742" y="33"/>
                      <a:pt x="743" y="28"/>
                    </a:cubicBezTo>
                    <a:cubicBezTo>
                      <a:pt x="744" y="24"/>
                      <a:pt x="698" y="0"/>
                      <a:pt x="698" y="0"/>
                    </a:cubicBezTo>
                    <a:cubicBezTo>
                      <a:pt x="698" y="0"/>
                      <a:pt x="713" y="39"/>
                      <a:pt x="702" y="39"/>
                    </a:cubicBezTo>
                    <a:cubicBezTo>
                      <a:pt x="691" y="39"/>
                      <a:pt x="669" y="56"/>
                      <a:pt x="677" y="66"/>
                    </a:cubicBezTo>
                    <a:cubicBezTo>
                      <a:pt x="684" y="77"/>
                      <a:pt x="715" y="87"/>
                      <a:pt x="714" y="93"/>
                    </a:cubicBezTo>
                    <a:cubicBezTo>
                      <a:pt x="713" y="100"/>
                      <a:pt x="696" y="104"/>
                      <a:pt x="688" y="104"/>
                    </a:cubicBezTo>
                    <a:cubicBezTo>
                      <a:pt x="679" y="104"/>
                      <a:pt x="664" y="98"/>
                      <a:pt x="661" y="116"/>
                    </a:cubicBezTo>
                    <a:cubicBezTo>
                      <a:pt x="657" y="135"/>
                      <a:pt x="657" y="156"/>
                      <a:pt x="648" y="155"/>
                    </a:cubicBezTo>
                    <a:cubicBezTo>
                      <a:pt x="638" y="154"/>
                      <a:pt x="625" y="118"/>
                      <a:pt x="632" y="99"/>
                    </a:cubicBezTo>
                    <a:cubicBezTo>
                      <a:pt x="640" y="79"/>
                      <a:pt x="663" y="74"/>
                      <a:pt x="661" y="54"/>
                    </a:cubicBezTo>
                    <a:cubicBezTo>
                      <a:pt x="659" y="37"/>
                      <a:pt x="640" y="10"/>
                      <a:pt x="625" y="6"/>
                    </a:cubicBezTo>
                    <a:cubicBezTo>
                      <a:pt x="613" y="28"/>
                      <a:pt x="593" y="30"/>
                      <a:pt x="553" y="54"/>
                    </a:cubicBezTo>
                    <a:cubicBezTo>
                      <a:pt x="522" y="68"/>
                      <a:pt x="427" y="115"/>
                      <a:pt x="349" y="136"/>
                    </a:cubicBezTo>
                    <a:cubicBezTo>
                      <a:pt x="270" y="157"/>
                      <a:pt x="187" y="142"/>
                      <a:pt x="154" y="144"/>
                    </a:cubicBezTo>
                    <a:cubicBezTo>
                      <a:pt x="121" y="146"/>
                      <a:pt x="90" y="148"/>
                      <a:pt x="90" y="171"/>
                    </a:cubicBezTo>
                    <a:cubicBezTo>
                      <a:pt x="90" y="194"/>
                      <a:pt x="72" y="227"/>
                      <a:pt x="51" y="246"/>
                    </a:cubicBezTo>
                    <a:cubicBezTo>
                      <a:pt x="30" y="264"/>
                      <a:pt x="36" y="279"/>
                      <a:pt x="61" y="293"/>
                    </a:cubicBezTo>
                    <a:cubicBezTo>
                      <a:pt x="86" y="308"/>
                      <a:pt x="82" y="318"/>
                      <a:pt x="84" y="328"/>
                    </a:cubicBezTo>
                    <a:cubicBezTo>
                      <a:pt x="80" y="384"/>
                      <a:pt x="55" y="403"/>
                      <a:pt x="30" y="407"/>
                    </a:cubicBezTo>
                    <a:cubicBezTo>
                      <a:pt x="14" y="414"/>
                      <a:pt x="5" y="419"/>
                      <a:pt x="0" y="425"/>
                    </a:cubicBezTo>
                    <a:cubicBezTo>
                      <a:pt x="42" y="495"/>
                      <a:pt x="112" y="611"/>
                      <a:pt x="122" y="623"/>
                    </a:cubicBezTo>
                    <a:cubicBezTo>
                      <a:pt x="136" y="640"/>
                      <a:pt x="194" y="773"/>
                      <a:pt x="240" y="7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44" name="Freeform 1819">
                <a:extLst>
                  <a:ext uri="{FF2B5EF4-FFF2-40B4-BE49-F238E27FC236}">
                    <a16:creationId xmlns:a16="http://schemas.microsoft.com/office/drawing/2014/main" id="{D69687A4-DBF9-8D31-9144-AD6532E0AF45}"/>
                  </a:ext>
                </a:extLst>
              </p:cNvPr>
              <p:cNvSpPr>
                <a:spLocks/>
              </p:cNvSpPr>
              <p:nvPr/>
            </p:nvSpPr>
            <p:spPr bwMode="auto">
              <a:xfrm>
                <a:off x="2011" y="2121"/>
                <a:ext cx="410" cy="320"/>
              </a:xfrm>
              <a:custGeom>
                <a:avLst/>
                <a:gdLst>
                  <a:gd name="T0" fmla="*/ 1818 w 1856"/>
                  <a:gd name="T1" fmla="*/ 784 h 1447"/>
                  <a:gd name="T2" fmla="*/ 1802 w 1856"/>
                  <a:gd name="T3" fmla="*/ 713 h 1447"/>
                  <a:gd name="T4" fmla="*/ 1782 w 1856"/>
                  <a:gd name="T5" fmla="*/ 729 h 1447"/>
                  <a:gd name="T6" fmla="*/ 1711 w 1856"/>
                  <a:gd name="T7" fmla="*/ 757 h 1447"/>
                  <a:gd name="T8" fmla="*/ 1663 w 1856"/>
                  <a:gd name="T9" fmla="*/ 706 h 1447"/>
                  <a:gd name="T10" fmla="*/ 1687 w 1856"/>
                  <a:gd name="T11" fmla="*/ 657 h 1447"/>
                  <a:gd name="T12" fmla="*/ 1661 w 1856"/>
                  <a:gd name="T13" fmla="*/ 603 h 1447"/>
                  <a:gd name="T14" fmla="*/ 1495 w 1856"/>
                  <a:gd name="T15" fmla="*/ 339 h 1447"/>
                  <a:gd name="T16" fmla="*/ 1352 w 1856"/>
                  <a:gd name="T17" fmla="*/ 127 h 1447"/>
                  <a:gd name="T18" fmla="*/ 1199 w 1856"/>
                  <a:gd name="T19" fmla="*/ 105 h 1447"/>
                  <a:gd name="T20" fmla="*/ 918 w 1856"/>
                  <a:gd name="T21" fmla="*/ 105 h 1447"/>
                  <a:gd name="T22" fmla="*/ 833 w 1856"/>
                  <a:gd name="T23" fmla="*/ 25 h 1447"/>
                  <a:gd name="T24" fmla="*/ 728 w 1856"/>
                  <a:gd name="T25" fmla="*/ 16 h 1447"/>
                  <a:gd name="T26" fmla="*/ 591 w 1856"/>
                  <a:gd name="T27" fmla="*/ 91 h 1447"/>
                  <a:gd name="T28" fmla="*/ 438 w 1856"/>
                  <a:gd name="T29" fmla="*/ 33 h 1447"/>
                  <a:gd name="T30" fmla="*/ 293 w 1856"/>
                  <a:gd name="T31" fmla="*/ 45 h 1447"/>
                  <a:gd name="T32" fmla="*/ 84 w 1856"/>
                  <a:gd name="T33" fmla="*/ 251 h 1447"/>
                  <a:gd name="T34" fmla="*/ 54 w 1856"/>
                  <a:gd name="T35" fmla="*/ 409 h 1447"/>
                  <a:gd name="T36" fmla="*/ 164 w 1856"/>
                  <a:gd name="T37" fmla="*/ 623 h 1447"/>
                  <a:gd name="T38" fmla="*/ 378 w 1856"/>
                  <a:gd name="T39" fmla="*/ 771 h 1447"/>
                  <a:gd name="T40" fmla="*/ 470 w 1856"/>
                  <a:gd name="T41" fmla="*/ 823 h 1447"/>
                  <a:gd name="T42" fmla="*/ 523 w 1856"/>
                  <a:gd name="T43" fmla="*/ 831 h 1447"/>
                  <a:gd name="T44" fmla="*/ 649 w 1856"/>
                  <a:gd name="T45" fmla="*/ 996 h 1447"/>
                  <a:gd name="T46" fmla="*/ 852 w 1856"/>
                  <a:gd name="T47" fmla="*/ 1093 h 1447"/>
                  <a:gd name="T48" fmla="*/ 947 w 1856"/>
                  <a:gd name="T49" fmla="*/ 1197 h 1447"/>
                  <a:gd name="T50" fmla="*/ 949 w 1856"/>
                  <a:gd name="T51" fmla="*/ 1339 h 1447"/>
                  <a:gd name="T52" fmla="*/ 1123 w 1856"/>
                  <a:gd name="T53" fmla="*/ 1389 h 1447"/>
                  <a:gd name="T54" fmla="*/ 1166 w 1856"/>
                  <a:gd name="T55" fmla="*/ 1290 h 1447"/>
                  <a:gd name="T56" fmla="*/ 1246 w 1856"/>
                  <a:gd name="T57" fmla="*/ 1244 h 1447"/>
                  <a:gd name="T58" fmla="*/ 1261 w 1856"/>
                  <a:gd name="T59" fmla="*/ 1201 h 1447"/>
                  <a:gd name="T60" fmla="*/ 1292 w 1856"/>
                  <a:gd name="T61" fmla="*/ 1087 h 1447"/>
                  <a:gd name="T62" fmla="*/ 1321 w 1856"/>
                  <a:gd name="T63" fmla="*/ 965 h 1447"/>
                  <a:gd name="T64" fmla="*/ 1580 w 1856"/>
                  <a:gd name="T65" fmla="*/ 930 h 1447"/>
                  <a:gd name="T66" fmla="*/ 1856 w 1856"/>
                  <a:gd name="T67" fmla="*/ 800 h 14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1856" h="1447">
                    <a:moveTo>
                      <a:pt x="1853" y="800"/>
                    </a:moveTo>
                    <a:cubicBezTo>
                      <a:pt x="1842" y="800"/>
                      <a:pt x="1826" y="801"/>
                      <a:pt x="1818" y="784"/>
                    </a:cubicBezTo>
                    <a:cubicBezTo>
                      <a:pt x="1815" y="778"/>
                      <a:pt x="1813" y="769"/>
                      <a:pt x="1814" y="755"/>
                    </a:cubicBezTo>
                    <a:cubicBezTo>
                      <a:pt x="1814" y="730"/>
                      <a:pt x="1809" y="716"/>
                      <a:pt x="1802" y="713"/>
                    </a:cubicBezTo>
                    <a:cubicBezTo>
                      <a:pt x="1797" y="713"/>
                      <a:pt x="1797" y="713"/>
                      <a:pt x="1797" y="713"/>
                    </a:cubicBezTo>
                    <a:cubicBezTo>
                      <a:pt x="1792" y="714"/>
                      <a:pt x="1787" y="720"/>
                      <a:pt x="1782" y="729"/>
                    </a:cubicBezTo>
                    <a:cubicBezTo>
                      <a:pt x="1767" y="760"/>
                      <a:pt x="1769" y="792"/>
                      <a:pt x="1756" y="792"/>
                    </a:cubicBezTo>
                    <a:cubicBezTo>
                      <a:pt x="1743" y="792"/>
                      <a:pt x="1725" y="774"/>
                      <a:pt x="1711" y="757"/>
                    </a:cubicBezTo>
                    <a:cubicBezTo>
                      <a:pt x="1700" y="743"/>
                      <a:pt x="1678" y="720"/>
                      <a:pt x="1668" y="710"/>
                    </a:cubicBezTo>
                    <a:cubicBezTo>
                      <a:pt x="1665" y="708"/>
                      <a:pt x="1663" y="706"/>
                      <a:pt x="1663" y="706"/>
                    </a:cubicBezTo>
                    <a:cubicBezTo>
                      <a:pt x="1663" y="706"/>
                      <a:pt x="1628" y="679"/>
                      <a:pt x="1641" y="656"/>
                    </a:cubicBezTo>
                    <a:cubicBezTo>
                      <a:pt x="1654" y="633"/>
                      <a:pt x="1680" y="649"/>
                      <a:pt x="1687" y="657"/>
                    </a:cubicBezTo>
                    <a:cubicBezTo>
                      <a:pt x="1695" y="665"/>
                      <a:pt x="1716" y="675"/>
                      <a:pt x="1716" y="669"/>
                    </a:cubicBezTo>
                    <a:cubicBezTo>
                      <a:pt x="1716" y="662"/>
                      <a:pt x="1702" y="646"/>
                      <a:pt x="1661" y="603"/>
                    </a:cubicBezTo>
                    <a:cubicBezTo>
                      <a:pt x="1620" y="560"/>
                      <a:pt x="1570" y="482"/>
                      <a:pt x="1560" y="455"/>
                    </a:cubicBezTo>
                    <a:cubicBezTo>
                      <a:pt x="1549" y="428"/>
                      <a:pt x="1510" y="356"/>
                      <a:pt x="1495" y="339"/>
                    </a:cubicBezTo>
                    <a:cubicBezTo>
                      <a:pt x="1479" y="322"/>
                      <a:pt x="1451" y="257"/>
                      <a:pt x="1447" y="242"/>
                    </a:cubicBezTo>
                    <a:cubicBezTo>
                      <a:pt x="1443" y="226"/>
                      <a:pt x="1377" y="158"/>
                      <a:pt x="1352" y="127"/>
                    </a:cubicBezTo>
                    <a:cubicBezTo>
                      <a:pt x="1348" y="122"/>
                      <a:pt x="1344" y="116"/>
                      <a:pt x="1340" y="111"/>
                    </a:cubicBezTo>
                    <a:cubicBezTo>
                      <a:pt x="1299" y="115"/>
                      <a:pt x="1221" y="105"/>
                      <a:pt x="1199" y="105"/>
                    </a:cubicBezTo>
                    <a:cubicBezTo>
                      <a:pt x="1172" y="105"/>
                      <a:pt x="1081" y="161"/>
                      <a:pt x="1003" y="184"/>
                    </a:cubicBezTo>
                    <a:cubicBezTo>
                      <a:pt x="924" y="206"/>
                      <a:pt x="922" y="126"/>
                      <a:pt x="918" y="105"/>
                    </a:cubicBezTo>
                    <a:cubicBezTo>
                      <a:pt x="930" y="89"/>
                      <a:pt x="939" y="68"/>
                      <a:pt x="928" y="41"/>
                    </a:cubicBezTo>
                    <a:cubicBezTo>
                      <a:pt x="918" y="14"/>
                      <a:pt x="868" y="22"/>
                      <a:pt x="833" y="25"/>
                    </a:cubicBezTo>
                    <a:cubicBezTo>
                      <a:pt x="818" y="25"/>
                      <a:pt x="794" y="13"/>
                      <a:pt x="772" y="0"/>
                    </a:cubicBezTo>
                    <a:cubicBezTo>
                      <a:pt x="759" y="17"/>
                      <a:pt x="748" y="16"/>
                      <a:pt x="728" y="16"/>
                    </a:cubicBezTo>
                    <a:cubicBezTo>
                      <a:pt x="695" y="16"/>
                      <a:pt x="672" y="35"/>
                      <a:pt x="660" y="56"/>
                    </a:cubicBezTo>
                    <a:cubicBezTo>
                      <a:pt x="647" y="76"/>
                      <a:pt x="616" y="91"/>
                      <a:pt x="591" y="91"/>
                    </a:cubicBezTo>
                    <a:cubicBezTo>
                      <a:pt x="567" y="91"/>
                      <a:pt x="517" y="43"/>
                      <a:pt x="498" y="22"/>
                    </a:cubicBezTo>
                    <a:cubicBezTo>
                      <a:pt x="480" y="2"/>
                      <a:pt x="461" y="14"/>
                      <a:pt x="438" y="33"/>
                    </a:cubicBezTo>
                    <a:cubicBezTo>
                      <a:pt x="416" y="51"/>
                      <a:pt x="405" y="47"/>
                      <a:pt x="391" y="45"/>
                    </a:cubicBezTo>
                    <a:cubicBezTo>
                      <a:pt x="382" y="44"/>
                      <a:pt x="333" y="44"/>
                      <a:pt x="293" y="45"/>
                    </a:cubicBezTo>
                    <a:cubicBezTo>
                      <a:pt x="293" y="101"/>
                      <a:pt x="279" y="173"/>
                      <a:pt x="227" y="210"/>
                    </a:cubicBezTo>
                    <a:cubicBezTo>
                      <a:pt x="190" y="228"/>
                      <a:pt x="116" y="247"/>
                      <a:pt x="84" y="251"/>
                    </a:cubicBezTo>
                    <a:cubicBezTo>
                      <a:pt x="52" y="256"/>
                      <a:pt x="0" y="286"/>
                      <a:pt x="0" y="323"/>
                    </a:cubicBezTo>
                    <a:cubicBezTo>
                      <a:pt x="0" y="360"/>
                      <a:pt x="41" y="383"/>
                      <a:pt x="54" y="409"/>
                    </a:cubicBezTo>
                    <a:cubicBezTo>
                      <a:pt x="67" y="435"/>
                      <a:pt x="47" y="498"/>
                      <a:pt x="91" y="524"/>
                    </a:cubicBezTo>
                    <a:cubicBezTo>
                      <a:pt x="134" y="550"/>
                      <a:pt x="158" y="591"/>
                      <a:pt x="164" y="623"/>
                    </a:cubicBezTo>
                    <a:cubicBezTo>
                      <a:pt x="171" y="656"/>
                      <a:pt x="216" y="706"/>
                      <a:pt x="303" y="708"/>
                    </a:cubicBezTo>
                    <a:cubicBezTo>
                      <a:pt x="341" y="716"/>
                      <a:pt x="348" y="725"/>
                      <a:pt x="378" y="771"/>
                    </a:cubicBezTo>
                    <a:cubicBezTo>
                      <a:pt x="392" y="791"/>
                      <a:pt x="409" y="808"/>
                      <a:pt x="425" y="818"/>
                    </a:cubicBezTo>
                    <a:cubicBezTo>
                      <a:pt x="443" y="829"/>
                      <a:pt x="460" y="831"/>
                      <a:pt x="470" y="823"/>
                    </a:cubicBezTo>
                    <a:cubicBezTo>
                      <a:pt x="474" y="814"/>
                      <a:pt x="482" y="804"/>
                      <a:pt x="498" y="798"/>
                    </a:cubicBezTo>
                    <a:cubicBezTo>
                      <a:pt x="507" y="796"/>
                      <a:pt x="517" y="813"/>
                      <a:pt x="523" y="831"/>
                    </a:cubicBezTo>
                    <a:cubicBezTo>
                      <a:pt x="529" y="848"/>
                      <a:pt x="529" y="899"/>
                      <a:pt x="573" y="945"/>
                    </a:cubicBezTo>
                    <a:cubicBezTo>
                      <a:pt x="616" y="990"/>
                      <a:pt x="639" y="980"/>
                      <a:pt x="649" y="996"/>
                    </a:cubicBezTo>
                    <a:cubicBezTo>
                      <a:pt x="660" y="1013"/>
                      <a:pt x="629" y="1069"/>
                      <a:pt x="728" y="1069"/>
                    </a:cubicBezTo>
                    <a:cubicBezTo>
                      <a:pt x="819" y="1071"/>
                      <a:pt x="833" y="1085"/>
                      <a:pt x="852" y="1093"/>
                    </a:cubicBezTo>
                    <a:cubicBezTo>
                      <a:pt x="871" y="1102"/>
                      <a:pt x="914" y="1124"/>
                      <a:pt x="924" y="1129"/>
                    </a:cubicBezTo>
                    <a:cubicBezTo>
                      <a:pt x="935" y="1133"/>
                      <a:pt x="947" y="1160"/>
                      <a:pt x="947" y="1197"/>
                    </a:cubicBezTo>
                    <a:cubicBezTo>
                      <a:pt x="947" y="1234"/>
                      <a:pt x="912" y="1308"/>
                      <a:pt x="916" y="1321"/>
                    </a:cubicBezTo>
                    <a:cubicBezTo>
                      <a:pt x="920" y="1333"/>
                      <a:pt x="918" y="1342"/>
                      <a:pt x="949" y="1339"/>
                    </a:cubicBezTo>
                    <a:cubicBezTo>
                      <a:pt x="980" y="1337"/>
                      <a:pt x="1015" y="1346"/>
                      <a:pt x="1036" y="1370"/>
                    </a:cubicBezTo>
                    <a:cubicBezTo>
                      <a:pt x="1057" y="1395"/>
                      <a:pt x="1081" y="1447"/>
                      <a:pt x="1123" y="1389"/>
                    </a:cubicBezTo>
                    <a:cubicBezTo>
                      <a:pt x="1154" y="1360"/>
                      <a:pt x="1152" y="1362"/>
                      <a:pt x="1143" y="1311"/>
                    </a:cubicBezTo>
                    <a:cubicBezTo>
                      <a:pt x="1145" y="1288"/>
                      <a:pt x="1133" y="1282"/>
                      <a:pt x="1166" y="1290"/>
                    </a:cubicBezTo>
                    <a:cubicBezTo>
                      <a:pt x="1199" y="1298"/>
                      <a:pt x="1228" y="1306"/>
                      <a:pt x="1241" y="1275"/>
                    </a:cubicBezTo>
                    <a:cubicBezTo>
                      <a:pt x="1258" y="1272"/>
                      <a:pt x="1256" y="1259"/>
                      <a:pt x="1246" y="1244"/>
                    </a:cubicBezTo>
                    <a:cubicBezTo>
                      <a:pt x="1241" y="1236"/>
                      <a:pt x="1231" y="1219"/>
                      <a:pt x="1231" y="1219"/>
                    </a:cubicBezTo>
                    <a:cubicBezTo>
                      <a:pt x="1231" y="1219"/>
                      <a:pt x="1245" y="1208"/>
                      <a:pt x="1261" y="1201"/>
                    </a:cubicBezTo>
                    <a:cubicBezTo>
                      <a:pt x="1286" y="1197"/>
                      <a:pt x="1311" y="1178"/>
                      <a:pt x="1315" y="1122"/>
                    </a:cubicBezTo>
                    <a:cubicBezTo>
                      <a:pt x="1313" y="1112"/>
                      <a:pt x="1317" y="1102"/>
                      <a:pt x="1292" y="1087"/>
                    </a:cubicBezTo>
                    <a:cubicBezTo>
                      <a:pt x="1267" y="1073"/>
                      <a:pt x="1261" y="1058"/>
                      <a:pt x="1282" y="1040"/>
                    </a:cubicBezTo>
                    <a:cubicBezTo>
                      <a:pt x="1303" y="1021"/>
                      <a:pt x="1321" y="988"/>
                      <a:pt x="1321" y="965"/>
                    </a:cubicBezTo>
                    <a:cubicBezTo>
                      <a:pt x="1321" y="942"/>
                      <a:pt x="1352" y="940"/>
                      <a:pt x="1385" y="938"/>
                    </a:cubicBezTo>
                    <a:cubicBezTo>
                      <a:pt x="1418" y="936"/>
                      <a:pt x="1501" y="951"/>
                      <a:pt x="1580" y="930"/>
                    </a:cubicBezTo>
                    <a:cubicBezTo>
                      <a:pt x="1658" y="909"/>
                      <a:pt x="1753" y="862"/>
                      <a:pt x="1784" y="848"/>
                    </a:cubicBezTo>
                    <a:cubicBezTo>
                      <a:pt x="1824" y="824"/>
                      <a:pt x="1844" y="822"/>
                      <a:pt x="1856" y="800"/>
                    </a:cubicBezTo>
                    <a:cubicBezTo>
                      <a:pt x="1855" y="800"/>
                      <a:pt x="1854" y="800"/>
                      <a:pt x="1853" y="8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45" name="Freeform 1820">
                <a:extLst>
                  <a:ext uri="{FF2B5EF4-FFF2-40B4-BE49-F238E27FC236}">
                    <a16:creationId xmlns:a16="http://schemas.microsoft.com/office/drawing/2014/main" id="{5F2F7F86-E114-4F95-0501-54FFC52B4FE3}"/>
                  </a:ext>
                </a:extLst>
              </p:cNvPr>
              <p:cNvSpPr>
                <a:spLocks/>
              </p:cNvSpPr>
              <p:nvPr/>
            </p:nvSpPr>
            <p:spPr bwMode="auto">
              <a:xfrm>
                <a:off x="2038" y="2297"/>
                <a:ext cx="328" cy="417"/>
              </a:xfrm>
              <a:custGeom>
                <a:avLst/>
                <a:gdLst>
                  <a:gd name="T0" fmla="*/ 1425 w 1488"/>
                  <a:gd name="T1" fmla="*/ 800 h 1888"/>
                  <a:gd name="T2" fmla="*/ 1350 w 1488"/>
                  <a:gd name="T3" fmla="*/ 759 h 1888"/>
                  <a:gd name="T4" fmla="*/ 1232 w 1488"/>
                  <a:gd name="T5" fmla="*/ 621 h 1888"/>
                  <a:gd name="T6" fmla="*/ 1110 w 1488"/>
                  <a:gd name="T7" fmla="*/ 423 h 1888"/>
                  <a:gd name="T8" fmla="*/ 1125 w 1488"/>
                  <a:gd name="T9" fmla="*/ 448 h 1888"/>
                  <a:gd name="T10" fmla="*/ 1120 w 1488"/>
                  <a:gd name="T11" fmla="*/ 479 h 1888"/>
                  <a:gd name="T12" fmla="*/ 1045 w 1488"/>
                  <a:gd name="T13" fmla="*/ 494 h 1888"/>
                  <a:gd name="T14" fmla="*/ 1022 w 1488"/>
                  <a:gd name="T15" fmla="*/ 515 h 1888"/>
                  <a:gd name="T16" fmla="*/ 1002 w 1488"/>
                  <a:gd name="T17" fmla="*/ 593 h 1888"/>
                  <a:gd name="T18" fmla="*/ 915 w 1488"/>
                  <a:gd name="T19" fmla="*/ 574 h 1888"/>
                  <a:gd name="T20" fmla="*/ 828 w 1488"/>
                  <a:gd name="T21" fmla="*/ 543 h 1888"/>
                  <a:gd name="T22" fmla="*/ 795 w 1488"/>
                  <a:gd name="T23" fmla="*/ 525 h 1888"/>
                  <a:gd name="T24" fmla="*/ 826 w 1488"/>
                  <a:gd name="T25" fmla="*/ 401 h 1888"/>
                  <a:gd name="T26" fmla="*/ 803 w 1488"/>
                  <a:gd name="T27" fmla="*/ 333 h 1888"/>
                  <a:gd name="T28" fmla="*/ 731 w 1488"/>
                  <a:gd name="T29" fmla="*/ 297 h 1888"/>
                  <a:gd name="T30" fmla="*/ 607 w 1488"/>
                  <a:gd name="T31" fmla="*/ 273 h 1888"/>
                  <a:gd name="T32" fmla="*/ 528 w 1488"/>
                  <a:gd name="T33" fmla="*/ 200 h 1888"/>
                  <a:gd name="T34" fmla="*/ 452 w 1488"/>
                  <a:gd name="T35" fmla="*/ 149 h 1888"/>
                  <a:gd name="T36" fmla="*/ 402 w 1488"/>
                  <a:gd name="T37" fmla="*/ 35 h 1888"/>
                  <a:gd name="T38" fmla="*/ 377 w 1488"/>
                  <a:gd name="T39" fmla="*/ 2 h 1888"/>
                  <a:gd name="T40" fmla="*/ 349 w 1488"/>
                  <a:gd name="T41" fmla="*/ 27 h 1888"/>
                  <a:gd name="T42" fmla="*/ 352 w 1488"/>
                  <a:gd name="T43" fmla="*/ 24 h 1888"/>
                  <a:gd name="T44" fmla="*/ 370 w 1488"/>
                  <a:gd name="T45" fmla="*/ 251 h 1888"/>
                  <a:gd name="T46" fmla="*/ 352 w 1488"/>
                  <a:gd name="T47" fmla="*/ 314 h 1888"/>
                  <a:gd name="T48" fmla="*/ 331 w 1488"/>
                  <a:gd name="T49" fmla="*/ 489 h 1888"/>
                  <a:gd name="T50" fmla="*/ 188 w 1488"/>
                  <a:gd name="T51" fmla="*/ 557 h 1888"/>
                  <a:gd name="T52" fmla="*/ 242 w 1488"/>
                  <a:gd name="T53" fmla="*/ 628 h 1888"/>
                  <a:gd name="T54" fmla="*/ 314 w 1488"/>
                  <a:gd name="T55" fmla="*/ 708 h 1888"/>
                  <a:gd name="T56" fmla="*/ 249 w 1488"/>
                  <a:gd name="T57" fmla="*/ 849 h 1888"/>
                  <a:gd name="T58" fmla="*/ 290 w 1488"/>
                  <a:gd name="T59" fmla="*/ 859 h 1888"/>
                  <a:gd name="T60" fmla="*/ 236 w 1488"/>
                  <a:gd name="T61" fmla="*/ 1130 h 1888"/>
                  <a:gd name="T62" fmla="*/ 189 w 1488"/>
                  <a:gd name="T63" fmla="*/ 1232 h 1888"/>
                  <a:gd name="T64" fmla="*/ 114 w 1488"/>
                  <a:gd name="T65" fmla="*/ 1275 h 1888"/>
                  <a:gd name="T66" fmla="*/ 86 w 1488"/>
                  <a:gd name="T67" fmla="*/ 1378 h 1888"/>
                  <a:gd name="T68" fmla="*/ 97 w 1488"/>
                  <a:gd name="T69" fmla="*/ 1496 h 1888"/>
                  <a:gd name="T70" fmla="*/ 26 w 1488"/>
                  <a:gd name="T71" fmla="*/ 1625 h 1888"/>
                  <a:gd name="T72" fmla="*/ 18 w 1488"/>
                  <a:gd name="T73" fmla="*/ 1653 h 1888"/>
                  <a:gd name="T74" fmla="*/ 56 w 1488"/>
                  <a:gd name="T75" fmla="*/ 1691 h 1888"/>
                  <a:gd name="T76" fmla="*/ 76 w 1488"/>
                  <a:gd name="T77" fmla="*/ 1797 h 1888"/>
                  <a:gd name="T78" fmla="*/ 134 w 1488"/>
                  <a:gd name="T79" fmla="*/ 1820 h 1888"/>
                  <a:gd name="T80" fmla="*/ 142 w 1488"/>
                  <a:gd name="T81" fmla="*/ 1888 h 1888"/>
                  <a:gd name="T82" fmla="*/ 199 w 1488"/>
                  <a:gd name="T83" fmla="*/ 1821 h 1888"/>
                  <a:gd name="T84" fmla="*/ 291 w 1488"/>
                  <a:gd name="T85" fmla="*/ 1740 h 1888"/>
                  <a:gd name="T86" fmla="*/ 404 w 1488"/>
                  <a:gd name="T87" fmla="*/ 1665 h 1888"/>
                  <a:gd name="T88" fmla="*/ 522 w 1488"/>
                  <a:gd name="T89" fmla="*/ 1527 h 1888"/>
                  <a:gd name="T90" fmla="*/ 646 w 1488"/>
                  <a:gd name="T91" fmla="*/ 1483 h 1888"/>
                  <a:gd name="T92" fmla="*/ 709 w 1488"/>
                  <a:gd name="T93" fmla="*/ 1466 h 1888"/>
                  <a:gd name="T94" fmla="*/ 851 w 1488"/>
                  <a:gd name="T95" fmla="*/ 1489 h 1888"/>
                  <a:gd name="T96" fmla="*/ 909 w 1488"/>
                  <a:gd name="T97" fmla="*/ 1430 h 1888"/>
                  <a:gd name="T98" fmla="*/ 1001 w 1488"/>
                  <a:gd name="T99" fmla="*/ 1333 h 1888"/>
                  <a:gd name="T100" fmla="*/ 1139 w 1488"/>
                  <a:gd name="T101" fmla="*/ 1270 h 1888"/>
                  <a:gd name="T102" fmla="*/ 1203 w 1488"/>
                  <a:gd name="T103" fmla="*/ 1218 h 1888"/>
                  <a:gd name="T104" fmla="*/ 1246 w 1488"/>
                  <a:gd name="T105" fmla="*/ 1172 h 1888"/>
                  <a:gd name="T106" fmla="*/ 1275 w 1488"/>
                  <a:gd name="T107" fmla="*/ 1085 h 1888"/>
                  <a:gd name="T108" fmla="*/ 1327 w 1488"/>
                  <a:gd name="T109" fmla="*/ 1039 h 1888"/>
                  <a:gd name="T110" fmla="*/ 1410 w 1488"/>
                  <a:gd name="T111" fmla="*/ 1102 h 1888"/>
                  <a:gd name="T112" fmla="*/ 1488 w 1488"/>
                  <a:gd name="T113" fmla="*/ 1053 h 1888"/>
                  <a:gd name="T114" fmla="*/ 1425 w 1488"/>
                  <a:gd name="T115" fmla="*/ 800 h 188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1488" h="1888">
                    <a:moveTo>
                      <a:pt x="1425" y="800"/>
                    </a:moveTo>
                    <a:cubicBezTo>
                      <a:pt x="1425" y="739"/>
                      <a:pt x="1396" y="748"/>
                      <a:pt x="1350" y="759"/>
                    </a:cubicBezTo>
                    <a:cubicBezTo>
                      <a:pt x="1304" y="771"/>
                      <a:pt x="1246" y="638"/>
                      <a:pt x="1232" y="621"/>
                    </a:cubicBezTo>
                    <a:cubicBezTo>
                      <a:pt x="1222" y="609"/>
                      <a:pt x="1152" y="493"/>
                      <a:pt x="1110" y="423"/>
                    </a:cubicBezTo>
                    <a:cubicBezTo>
                      <a:pt x="1119" y="437"/>
                      <a:pt x="1120" y="442"/>
                      <a:pt x="1125" y="448"/>
                    </a:cubicBezTo>
                    <a:cubicBezTo>
                      <a:pt x="1138" y="465"/>
                      <a:pt x="1134" y="477"/>
                      <a:pt x="1120" y="479"/>
                    </a:cubicBezTo>
                    <a:cubicBezTo>
                      <a:pt x="1107" y="510"/>
                      <a:pt x="1078" y="502"/>
                      <a:pt x="1045" y="494"/>
                    </a:cubicBezTo>
                    <a:cubicBezTo>
                      <a:pt x="1012" y="486"/>
                      <a:pt x="1024" y="492"/>
                      <a:pt x="1022" y="515"/>
                    </a:cubicBezTo>
                    <a:cubicBezTo>
                      <a:pt x="1031" y="566"/>
                      <a:pt x="1033" y="564"/>
                      <a:pt x="1002" y="593"/>
                    </a:cubicBezTo>
                    <a:cubicBezTo>
                      <a:pt x="960" y="651"/>
                      <a:pt x="936" y="599"/>
                      <a:pt x="915" y="574"/>
                    </a:cubicBezTo>
                    <a:cubicBezTo>
                      <a:pt x="894" y="550"/>
                      <a:pt x="859" y="541"/>
                      <a:pt x="828" y="543"/>
                    </a:cubicBezTo>
                    <a:cubicBezTo>
                      <a:pt x="797" y="546"/>
                      <a:pt x="799" y="537"/>
                      <a:pt x="795" y="525"/>
                    </a:cubicBezTo>
                    <a:cubicBezTo>
                      <a:pt x="791" y="512"/>
                      <a:pt x="826" y="438"/>
                      <a:pt x="826" y="401"/>
                    </a:cubicBezTo>
                    <a:cubicBezTo>
                      <a:pt x="826" y="364"/>
                      <a:pt x="814" y="337"/>
                      <a:pt x="803" y="333"/>
                    </a:cubicBezTo>
                    <a:cubicBezTo>
                      <a:pt x="793" y="328"/>
                      <a:pt x="750" y="306"/>
                      <a:pt x="731" y="297"/>
                    </a:cubicBezTo>
                    <a:cubicBezTo>
                      <a:pt x="712" y="289"/>
                      <a:pt x="698" y="275"/>
                      <a:pt x="607" y="273"/>
                    </a:cubicBezTo>
                    <a:cubicBezTo>
                      <a:pt x="508" y="273"/>
                      <a:pt x="539" y="217"/>
                      <a:pt x="528" y="200"/>
                    </a:cubicBezTo>
                    <a:cubicBezTo>
                      <a:pt x="518" y="184"/>
                      <a:pt x="495" y="194"/>
                      <a:pt x="452" y="149"/>
                    </a:cubicBezTo>
                    <a:cubicBezTo>
                      <a:pt x="408" y="103"/>
                      <a:pt x="408" y="52"/>
                      <a:pt x="402" y="35"/>
                    </a:cubicBezTo>
                    <a:cubicBezTo>
                      <a:pt x="396" y="17"/>
                      <a:pt x="386" y="0"/>
                      <a:pt x="377" y="2"/>
                    </a:cubicBezTo>
                    <a:cubicBezTo>
                      <a:pt x="361" y="8"/>
                      <a:pt x="353" y="18"/>
                      <a:pt x="349" y="27"/>
                    </a:cubicBezTo>
                    <a:cubicBezTo>
                      <a:pt x="350" y="26"/>
                      <a:pt x="352" y="25"/>
                      <a:pt x="352" y="24"/>
                    </a:cubicBezTo>
                    <a:cubicBezTo>
                      <a:pt x="361" y="87"/>
                      <a:pt x="370" y="251"/>
                      <a:pt x="370" y="251"/>
                    </a:cubicBezTo>
                    <a:cubicBezTo>
                      <a:pt x="370" y="251"/>
                      <a:pt x="294" y="273"/>
                      <a:pt x="352" y="314"/>
                    </a:cubicBezTo>
                    <a:cubicBezTo>
                      <a:pt x="355" y="412"/>
                      <a:pt x="370" y="485"/>
                      <a:pt x="331" y="489"/>
                    </a:cubicBezTo>
                    <a:cubicBezTo>
                      <a:pt x="292" y="494"/>
                      <a:pt x="171" y="451"/>
                      <a:pt x="188" y="557"/>
                    </a:cubicBezTo>
                    <a:cubicBezTo>
                      <a:pt x="190" y="578"/>
                      <a:pt x="214" y="611"/>
                      <a:pt x="242" y="628"/>
                    </a:cubicBezTo>
                    <a:cubicBezTo>
                      <a:pt x="270" y="645"/>
                      <a:pt x="339" y="684"/>
                      <a:pt x="314" y="708"/>
                    </a:cubicBezTo>
                    <a:cubicBezTo>
                      <a:pt x="288" y="732"/>
                      <a:pt x="218" y="766"/>
                      <a:pt x="249" y="849"/>
                    </a:cubicBezTo>
                    <a:cubicBezTo>
                      <a:pt x="283" y="855"/>
                      <a:pt x="290" y="859"/>
                      <a:pt x="290" y="859"/>
                    </a:cubicBezTo>
                    <a:cubicBezTo>
                      <a:pt x="290" y="859"/>
                      <a:pt x="307" y="894"/>
                      <a:pt x="236" y="1130"/>
                    </a:cubicBezTo>
                    <a:cubicBezTo>
                      <a:pt x="225" y="1164"/>
                      <a:pt x="204" y="1216"/>
                      <a:pt x="189" y="1232"/>
                    </a:cubicBezTo>
                    <a:cubicBezTo>
                      <a:pt x="160" y="1263"/>
                      <a:pt x="134" y="1215"/>
                      <a:pt x="114" y="1275"/>
                    </a:cubicBezTo>
                    <a:cubicBezTo>
                      <a:pt x="114" y="1275"/>
                      <a:pt x="86" y="1325"/>
                      <a:pt x="86" y="1378"/>
                    </a:cubicBezTo>
                    <a:cubicBezTo>
                      <a:pt x="86" y="1431"/>
                      <a:pt x="108" y="1466"/>
                      <a:pt x="97" y="1496"/>
                    </a:cubicBezTo>
                    <a:cubicBezTo>
                      <a:pt x="89" y="1517"/>
                      <a:pt x="45" y="1585"/>
                      <a:pt x="26" y="1625"/>
                    </a:cubicBezTo>
                    <a:cubicBezTo>
                      <a:pt x="20" y="1639"/>
                      <a:pt x="16" y="1650"/>
                      <a:pt x="18" y="1653"/>
                    </a:cubicBezTo>
                    <a:cubicBezTo>
                      <a:pt x="27" y="1668"/>
                      <a:pt x="63" y="1674"/>
                      <a:pt x="56" y="1691"/>
                    </a:cubicBezTo>
                    <a:cubicBezTo>
                      <a:pt x="50" y="1709"/>
                      <a:pt x="0" y="1779"/>
                      <a:pt x="76" y="1797"/>
                    </a:cubicBezTo>
                    <a:cubicBezTo>
                      <a:pt x="86" y="1799"/>
                      <a:pt x="129" y="1799"/>
                      <a:pt x="134" y="1820"/>
                    </a:cubicBezTo>
                    <a:cubicBezTo>
                      <a:pt x="137" y="1830"/>
                      <a:pt x="140" y="1858"/>
                      <a:pt x="142" y="1888"/>
                    </a:cubicBezTo>
                    <a:cubicBezTo>
                      <a:pt x="158" y="1869"/>
                      <a:pt x="190" y="1831"/>
                      <a:pt x="199" y="1821"/>
                    </a:cubicBezTo>
                    <a:cubicBezTo>
                      <a:pt x="210" y="1806"/>
                      <a:pt x="262" y="1743"/>
                      <a:pt x="291" y="1740"/>
                    </a:cubicBezTo>
                    <a:cubicBezTo>
                      <a:pt x="320" y="1737"/>
                      <a:pt x="392" y="1740"/>
                      <a:pt x="404" y="1665"/>
                    </a:cubicBezTo>
                    <a:cubicBezTo>
                      <a:pt x="415" y="1590"/>
                      <a:pt x="412" y="1529"/>
                      <a:pt x="522" y="1527"/>
                    </a:cubicBezTo>
                    <a:cubicBezTo>
                      <a:pt x="594" y="1524"/>
                      <a:pt x="620" y="1524"/>
                      <a:pt x="646" y="1483"/>
                    </a:cubicBezTo>
                    <a:cubicBezTo>
                      <a:pt x="672" y="1446"/>
                      <a:pt x="663" y="1460"/>
                      <a:pt x="709" y="1466"/>
                    </a:cubicBezTo>
                    <a:cubicBezTo>
                      <a:pt x="756" y="1472"/>
                      <a:pt x="810" y="1535"/>
                      <a:pt x="851" y="1489"/>
                    </a:cubicBezTo>
                    <a:cubicBezTo>
                      <a:pt x="867" y="1471"/>
                      <a:pt x="887" y="1451"/>
                      <a:pt x="909" y="1430"/>
                    </a:cubicBezTo>
                    <a:cubicBezTo>
                      <a:pt x="941" y="1398"/>
                      <a:pt x="976" y="1365"/>
                      <a:pt x="1001" y="1333"/>
                    </a:cubicBezTo>
                    <a:cubicBezTo>
                      <a:pt x="1033" y="1307"/>
                      <a:pt x="1090" y="1278"/>
                      <a:pt x="1139" y="1270"/>
                    </a:cubicBezTo>
                    <a:cubicBezTo>
                      <a:pt x="1177" y="1264"/>
                      <a:pt x="1200" y="1229"/>
                      <a:pt x="1203" y="1218"/>
                    </a:cubicBezTo>
                    <a:cubicBezTo>
                      <a:pt x="1206" y="1206"/>
                      <a:pt x="1234" y="1180"/>
                      <a:pt x="1246" y="1172"/>
                    </a:cubicBezTo>
                    <a:cubicBezTo>
                      <a:pt x="1258" y="1163"/>
                      <a:pt x="1275" y="1137"/>
                      <a:pt x="1275" y="1085"/>
                    </a:cubicBezTo>
                    <a:cubicBezTo>
                      <a:pt x="1275" y="1033"/>
                      <a:pt x="1289" y="1010"/>
                      <a:pt x="1327" y="1039"/>
                    </a:cubicBezTo>
                    <a:cubicBezTo>
                      <a:pt x="1364" y="1068"/>
                      <a:pt x="1387" y="1117"/>
                      <a:pt x="1410" y="1102"/>
                    </a:cubicBezTo>
                    <a:cubicBezTo>
                      <a:pt x="1426" y="1093"/>
                      <a:pt x="1461" y="1065"/>
                      <a:pt x="1488" y="1053"/>
                    </a:cubicBezTo>
                    <a:cubicBezTo>
                      <a:pt x="1411" y="946"/>
                      <a:pt x="1425" y="858"/>
                      <a:pt x="1425" y="8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46" name="Freeform 1821">
                <a:extLst>
                  <a:ext uri="{FF2B5EF4-FFF2-40B4-BE49-F238E27FC236}">
                    <a16:creationId xmlns:a16="http://schemas.microsoft.com/office/drawing/2014/main" id="{09B033F6-9E48-6BEC-E8A1-531CBB0DEC8A}"/>
                  </a:ext>
                </a:extLst>
              </p:cNvPr>
              <p:cNvSpPr>
                <a:spLocks/>
              </p:cNvSpPr>
              <p:nvPr/>
            </p:nvSpPr>
            <p:spPr bwMode="auto">
              <a:xfrm>
                <a:off x="2366" y="2495"/>
                <a:ext cx="216" cy="330"/>
              </a:xfrm>
              <a:custGeom>
                <a:avLst/>
                <a:gdLst>
                  <a:gd name="T0" fmla="*/ 948 w 975"/>
                  <a:gd name="T1" fmla="*/ 1097 h 1494"/>
                  <a:gd name="T2" fmla="*/ 949 w 975"/>
                  <a:gd name="T3" fmla="*/ 1062 h 1494"/>
                  <a:gd name="T4" fmla="*/ 931 w 975"/>
                  <a:gd name="T5" fmla="*/ 1032 h 1494"/>
                  <a:gd name="T6" fmla="*/ 931 w 975"/>
                  <a:gd name="T7" fmla="*/ 988 h 1494"/>
                  <a:gd name="T8" fmla="*/ 858 w 975"/>
                  <a:gd name="T9" fmla="*/ 920 h 1494"/>
                  <a:gd name="T10" fmla="*/ 884 w 975"/>
                  <a:gd name="T11" fmla="*/ 922 h 1494"/>
                  <a:gd name="T12" fmla="*/ 885 w 975"/>
                  <a:gd name="T13" fmla="*/ 819 h 1494"/>
                  <a:gd name="T14" fmla="*/ 822 w 975"/>
                  <a:gd name="T15" fmla="*/ 734 h 1494"/>
                  <a:gd name="T16" fmla="*/ 749 w 975"/>
                  <a:gd name="T17" fmla="*/ 681 h 1494"/>
                  <a:gd name="T18" fmla="*/ 786 w 975"/>
                  <a:gd name="T19" fmla="*/ 652 h 1494"/>
                  <a:gd name="T20" fmla="*/ 825 w 975"/>
                  <a:gd name="T21" fmla="*/ 701 h 1494"/>
                  <a:gd name="T22" fmla="*/ 853 w 975"/>
                  <a:gd name="T23" fmla="*/ 697 h 1494"/>
                  <a:gd name="T24" fmla="*/ 814 w 975"/>
                  <a:gd name="T25" fmla="*/ 618 h 1494"/>
                  <a:gd name="T26" fmla="*/ 831 w 975"/>
                  <a:gd name="T27" fmla="*/ 583 h 1494"/>
                  <a:gd name="T28" fmla="*/ 795 w 975"/>
                  <a:gd name="T29" fmla="*/ 515 h 1494"/>
                  <a:gd name="T30" fmla="*/ 760 w 975"/>
                  <a:gd name="T31" fmla="*/ 430 h 1494"/>
                  <a:gd name="T32" fmla="*/ 714 w 975"/>
                  <a:gd name="T33" fmla="*/ 292 h 1494"/>
                  <a:gd name="T34" fmla="*/ 661 w 975"/>
                  <a:gd name="T35" fmla="*/ 223 h 1494"/>
                  <a:gd name="T36" fmla="*/ 679 w 975"/>
                  <a:gd name="T37" fmla="*/ 205 h 1494"/>
                  <a:gd name="T38" fmla="*/ 661 w 975"/>
                  <a:gd name="T39" fmla="*/ 145 h 1494"/>
                  <a:gd name="T40" fmla="*/ 554 w 975"/>
                  <a:gd name="T41" fmla="*/ 32 h 1494"/>
                  <a:gd name="T42" fmla="*/ 462 w 975"/>
                  <a:gd name="T43" fmla="*/ 11 h 1494"/>
                  <a:gd name="T44" fmla="*/ 372 w 975"/>
                  <a:gd name="T45" fmla="*/ 29 h 1494"/>
                  <a:gd name="T46" fmla="*/ 300 w 975"/>
                  <a:gd name="T47" fmla="*/ 17 h 1494"/>
                  <a:gd name="T48" fmla="*/ 254 w 975"/>
                  <a:gd name="T49" fmla="*/ 147 h 1494"/>
                  <a:gd name="T50" fmla="*/ 185 w 975"/>
                  <a:gd name="T51" fmla="*/ 141 h 1494"/>
                  <a:gd name="T52" fmla="*/ 84 w 975"/>
                  <a:gd name="T53" fmla="*/ 199 h 1494"/>
                  <a:gd name="T54" fmla="*/ 29 w 975"/>
                  <a:gd name="T55" fmla="*/ 156 h 1494"/>
                  <a:gd name="T56" fmla="*/ 0 w 975"/>
                  <a:gd name="T57" fmla="*/ 158 h 1494"/>
                  <a:gd name="T58" fmla="*/ 9 w 975"/>
                  <a:gd name="T59" fmla="*/ 170 h 1494"/>
                  <a:gd name="T60" fmla="*/ 75 w 975"/>
                  <a:gd name="T61" fmla="*/ 314 h 1494"/>
                  <a:gd name="T62" fmla="*/ 142 w 975"/>
                  <a:gd name="T63" fmla="*/ 616 h 1494"/>
                  <a:gd name="T64" fmla="*/ 142 w 975"/>
                  <a:gd name="T65" fmla="*/ 617 h 1494"/>
                  <a:gd name="T66" fmla="*/ 266 w 975"/>
                  <a:gd name="T67" fmla="*/ 868 h 1494"/>
                  <a:gd name="T68" fmla="*/ 274 w 975"/>
                  <a:gd name="T69" fmla="*/ 914 h 1494"/>
                  <a:gd name="T70" fmla="*/ 266 w 975"/>
                  <a:gd name="T71" fmla="*/ 1024 h 1494"/>
                  <a:gd name="T72" fmla="*/ 349 w 975"/>
                  <a:gd name="T73" fmla="*/ 1206 h 1494"/>
                  <a:gd name="T74" fmla="*/ 384 w 975"/>
                  <a:gd name="T75" fmla="*/ 1422 h 1494"/>
                  <a:gd name="T76" fmla="*/ 401 w 975"/>
                  <a:gd name="T77" fmla="*/ 1442 h 1494"/>
                  <a:gd name="T78" fmla="*/ 632 w 975"/>
                  <a:gd name="T79" fmla="*/ 1431 h 1494"/>
                  <a:gd name="T80" fmla="*/ 721 w 975"/>
                  <a:gd name="T81" fmla="*/ 1341 h 1494"/>
                  <a:gd name="T82" fmla="*/ 722 w 975"/>
                  <a:gd name="T83" fmla="*/ 1335 h 1494"/>
                  <a:gd name="T84" fmla="*/ 791 w 975"/>
                  <a:gd name="T85" fmla="*/ 1237 h 1494"/>
                  <a:gd name="T86" fmla="*/ 860 w 975"/>
                  <a:gd name="T87" fmla="*/ 1223 h 1494"/>
                  <a:gd name="T88" fmla="*/ 850 w 975"/>
                  <a:gd name="T89" fmla="*/ 1196 h 1494"/>
                  <a:gd name="T90" fmla="*/ 816 w 975"/>
                  <a:gd name="T91" fmla="*/ 1046 h 1494"/>
                  <a:gd name="T92" fmla="*/ 800 w 975"/>
                  <a:gd name="T93" fmla="*/ 940 h 1494"/>
                  <a:gd name="T94" fmla="*/ 849 w 975"/>
                  <a:gd name="T95" fmla="*/ 970 h 1494"/>
                  <a:gd name="T96" fmla="*/ 871 w 975"/>
                  <a:gd name="T97" fmla="*/ 1061 h 1494"/>
                  <a:gd name="T98" fmla="*/ 895 w 975"/>
                  <a:gd name="T99" fmla="*/ 1092 h 1494"/>
                  <a:gd name="T100" fmla="*/ 910 w 975"/>
                  <a:gd name="T101" fmla="*/ 1164 h 1494"/>
                  <a:gd name="T102" fmla="*/ 948 w 975"/>
                  <a:gd name="T103" fmla="*/ 1097 h 14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975" h="1494">
                    <a:moveTo>
                      <a:pt x="948" y="1097"/>
                    </a:moveTo>
                    <a:cubicBezTo>
                      <a:pt x="937" y="1079"/>
                      <a:pt x="951" y="1076"/>
                      <a:pt x="949" y="1062"/>
                    </a:cubicBezTo>
                    <a:cubicBezTo>
                      <a:pt x="947" y="1048"/>
                      <a:pt x="931" y="1036"/>
                      <a:pt x="931" y="1032"/>
                    </a:cubicBezTo>
                    <a:cubicBezTo>
                      <a:pt x="931" y="1028"/>
                      <a:pt x="931" y="988"/>
                      <a:pt x="931" y="988"/>
                    </a:cubicBezTo>
                    <a:cubicBezTo>
                      <a:pt x="931" y="988"/>
                      <a:pt x="876" y="970"/>
                      <a:pt x="858" y="920"/>
                    </a:cubicBezTo>
                    <a:cubicBezTo>
                      <a:pt x="884" y="922"/>
                      <a:pt x="884" y="922"/>
                      <a:pt x="884" y="922"/>
                    </a:cubicBezTo>
                    <a:cubicBezTo>
                      <a:pt x="885" y="819"/>
                      <a:pt x="885" y="819"/>
                      <a:pt x="885" y="819"/>
                    </a:cubicBezTo>
                    <a:cubicBezTo>
                      <a:pt x="885" y="819"/>
                      <a:pt x="823" y="776"/>
                      <a:pt x="822" y="734"/>
                    </a:cubicBezTo>
                    <a:cubicBezTo>
                      <a:pt x="786" y="730"/>
                      <a:pt x="748" y="698"/>
                      <a:pt x="749" y="681"/>
                    </a:cubicBezTo>
                    <a:cubicBezTo>
                      <a:pt x="753" y="663"/>
                      <a:pt x="772" y="646"/>
                      <a:pt x="786" y="652"/>
                    </a:cubicBezTo>
                    <a:cubicBezTo>
                      <a:pt x="800" y="659"/>
                      <a:pt x="819" y="695"/>
                      <a:pt x="825" y="701"/>
                    </a:cubicBezTo>
                    <a:cubicBezTo>
                      <a:pt x="830" y="708"/>
                      <a:pt x="857" y="727"/>
                      <a:pt x="853" y="697"/>
                    </a:cubicBezTo>
                    <a:cubicBezTo>
                      <a:pt x="848" y="666"/>
                      <a:pt x="814" y="644"/>
                      <a:pt x="814" y="618"/>
                    </a:cubicBezTo>
                    <a:cubicBezTo>
                      <a:pt x="814" y="592"/>
                      <a:pt x="831" y="583"/>
                      <a:pt x="831" y="583"/>
                    </a:cubicBezTo>
                    <a:cubicBezTo>
                      <a:pt x="831" y="583"/>
                      <a:pt x="819" y="540"/>
                      <a:pt x="795" y="515"/>
                    </a:cubicBezTo>
                    <a:cubicBezTo>
                      <a:pt x="772" y="490"/>
                      <a:pt x="765" y="473"/>
                      <a:pt x="760" y="430"/>
                    </a:cubicBezTo>
                    <a:cubicBezTo>
                      <a:pt x="754" y="386"/>
                      <a:pt x="721" y="335"/>
                      <a:pt x="714" y="292"/>
                    </a:cubicBezTo>
                    <a:cubicBezTo>
                      <a:pt x="688" y="282"/>
                      <a:pt x="660" y="266"/>
                      <a:pt x="661" y="223"/>
                    </a:cubicBezTo>
                    <a:cubicBezTo>
                      <a:pt x="662" y="215"/>
                      <a:pt x="689" y="223"/>
                      <a:pt x="679" y="205"/>
                    </a:cubicBezTo>
                    <a:cubicBezTo>
                      <a:pt x="671" y="191"/>
                      <a:pt x="663" y="176"/>
                      <a:pt x="661" y="145"/>
                    </a:cubicBezTo>
                    <a:cubicBezTo>
                      <a:pt x="621" y="123"/>
                      <a:pt x="578" y="61"/>
                      <a:pt x="554" y="32"/>
                    </a:cubicBezTo>
                    <a:cubicBezTo>
                      <a:pt x="528" y="0"/>
                      <a:pt x="491" y="0"/>
                      <a:pt x="462" y="11"/>
                    </a:cubicBezTo>
                    <a:cubicBezTo>
                      <a:pt x="433" y="23"/>
                      <a:pt x="410" y="34"/>
                      <a:pt x="372" y="29"/>
                    </a:cubicBezTo>
                    <a:cubicBezTo>
                      <a:pt x="335" y="23"/>
                      <a:pt x="315" y="0"/>
                      <a:pt x="300" y="17"/>
                    </a:cubicBezTo>
                    <a:cubicBezTo>
                      <a:pt x="286" y="34"/>
                      <a:pt x="271" y="118"/>
                      <a:pt x="254" y="147"/>
                    </a:cubicBezTo>
                    <a:cubicBezTo>
                      <a:pt x="237" y="176"/>
                      <a:pt x="205" y="141"/>
                      <a:pt x="185" y="141"/>
                    </a:cubicBezTo>
                    <a:cubicBezTo>
                      <a:pt x="165" y="141"/>
                      <a:pt x="110" y="196"/>
                      <a:pt x="84" y="199"/>
                    </a:cubicBezTo>
                    <a:cubicBezTo>
                      <a:pt x="58" y="202"/>
                      <a:pt x="49" y="170"/>
                      <a:pt x="29" y="156"/>
                    </a:cubicBezTo>
                    <a:cubicBezTo>
                      <a:pt x="23" y="151"/>
                      <a:pt x="12" y="153"/>
                      <a:pt x="0" y="158"/>
                    </a:cubicBezTo>
                    <a:cubicBezTo>
                      <a:pt x="3" y="162"/>
                      <a:pt x="6" y="166"/>
                      <a:pt x="9" y="170"/>
                    </a:cubicBezTo>
                    <a:cubicBezTo>
                      <a:pt x="64" y="239"/>
                      <a:pt x="64" y="277"/>
                      <a:pt x="75" y="314"/>
                    </a:cubicBezTo>
                    <a:cubicBezTo>
                      <a:pt x="87" y="352"/>
                      <a:pt x="138" y="566"/>
                      <a:pt x="142" y="616"/>
                    </a:cubicBezTo>
                    <a:cubicBezTo>
                      <a:pt x="142" y="617"/>
                      <a:pt x="142" y="617"/>
                      <a:pt x="142" y="617"/>
                    </a:cubicBezTo>
                    <a:cubicBezTo>
                      <a:pt x="145" y="666"/>
                      <a:pt x="179" y="836"/>
                      <a:pt x="266" y="868"/>
                    </a:cubicBezTo>
                    <a:cubicBezTo>
                      <a:pt x="274" y="880"/>
                      <a:pt x="286" y="900"/>
                      <a:pt x="274" y="914"/>
                    </a:cubicBezTo>
                    <a:cubicBezTo>
                      <a:pt x="263" y="929"/>
                      <a:pt x="214" y="952"/>
                      <a:pt x="266" y="1024"/>
                    </a:cubicBezTo>
                    <a:cubicBezTo>
                      <a:pt x="318" y="1096"/>
                      <a:pt x="349" y="1171"/>
                      <a:pt x="349" y="1206"/>
                    </a:cubicBezTo>
                    <a:cubicBezTo>
                      <a:pt x="349" y="1236"/>
                      <a:pt x="349" y="1364"/>
                      <a:pt x="384" y="1422"/>
                    </a:cubicBezTo>
                    <a:cubicBezTo>
                      <a:pt x="389" y="1430"/>
                      <a:pt x="395" y="1437"/>
                      <a:pt x="401" y="1442"/>
                    </a:cubicBezTo>
                    <a:cubicBezTo>
                      <a:pt x="453" y="1482"/>
                      <a:pt x="557" y="1494"/>
                      <a:pt x="632" y="1431"/>
                    </a:cubicBezTo>
                    <a:cubicBezTo>
                      <a:pt x="693" y="1396"/>
                      <a:pt x="716" y="1390"/>
                      <a:pt x="721" y="1341"/>
                    </a:cubicBezTo>
                    <a:cubicBezTo>
                      <a:pt x="722" y="1339"/>
                      <a:pt x="722" y="1337"/>
                      <a:pt x="722" y="1335"/>
                    </a:cubicBezTo>
                    <a:cubicBezTo>
                      <a:pt x="727" y="1288"/>
                      <a:pt x="730" y="1248"/>
                      <a:pt x="791" y="1237"/>
                    </a:cubicBezTo>
                    <a:cubicBezTo>
                      <a:pt x="820" y="1232"/>
                      <a:pt x="843" y="1227"/>
                      <a:pt x="860" y="1223"/>
                    </a:cubicBezTo>
                    <a:cubicBezTo>
                      <a:pt x="859" y="1219"/>
                      <a:pt x="855" y="1209"/>
                      <a:pt x="850" y="1196"/>
                    </a:cubicBezTo>
                    <a:cubicBezTo>
                      <a:pt x="834" y="1157"/>
                      <a:pt x="810" y="1085"/>
                      <a:pt x="816" y="1046"/>
                    </a:cubicBezTo>
                    <a:cubicBezTo>
                      <a:pt x="825" y="1014"/>
                      <a:pt x="835" y="985"/>
                      <a:pt x="800" y="940"/>
                    </a:cubicBezTo>
                    <a:cubicBezTo>
                      <a:pt x="814" y="938"/>
                      <a:pt x="836" y="944"/>
                      <a:pt x="849" y="970"/>
                    </a:cubicBezTo>
                    <a:cubicBezTo>
                      <a:pt x="862" y="996"/>
                      <a:pt x="871" y="1047"/>
                      <a:pt x="871" y="1061"/>
                    </a:cubicBezTo>
                    <a:cubicBezTo>
                      <a:pt x="871" y="1075"/>
                      <a:pt x="875" y="1096"/>
                      <a:pt x="895" y="1092"/>
                    </a:cubicBezTo>
                    <a:cubicBezTo>
                      <a:pt x="888" y="1109"/>
                      <a:pt x="880" y="1161"/>
                      <a:pt x="910" y="1164"/>
                    </a:cubicBezTo>
                    <a:cubicBezTo>
                      <a:pt x="940" y="1167"/>
                      <a:pt x="975" y="1149"/>
                      <a:pt x="948" y="109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47" name="Freeform 1822">
                <a:extLst>
                  <a:ext uri="{FF2B5EF4-FFF2-40B4-BE49-F238E27FC236}">
                    <a16:creationId xmlns:a16="http://schemas.microsoft.com/office/drawing/2014/main" id="{FAEC76F4-89CA-31AD-B6C3-29FA27468D4A}"/>
                  </a:ext>
                </a:extLst>
              </p:cNvPr>
              <p:cNvSpPr>
                <a:spLocks/>
              </p:cNvSpPr>
              <p:nvPr/>
            </p:nvSpPr>
            <p:spPr bwMode="auto">
              <a:xfrm>
                <a:off x="2396" y="2959"/>
                <a:ext cx="224" cy="319"/>
              </a:xfrm>
              <a:custGeom>
                <a:avLst/>
                <a:gdLst>
                  <a:gd name="T0" fmla="*/ 968 w 1014"/>
                  <a:gd name="T1" fmla="*/ 305 h 1444"/>
                  <a:gd name="T2" fmla="*/ 937 w 1014"/>
                  <a:gd name="T3" fmla="*/ 248 h 1444"/>
                  <a:gd name="T4" fmla="*/ 916 w 1014"/>
                  <a:gd name="T5" fmla="*/ 191 h 1444"/>
                  <a:gd name="T6" fmla="*/ 969 w 1014"/>
                  <a:gd name="T7" fmla="*/ 81 h 1444"/>
                  <a:gd name="T8" fmla="*/ 1014 w 1014"/>
                  <a:gd name="T9" fmla="*/ 62 h 1444"/>
                  <a:gd name="T10" fmla="*/ 946 w 1014"/>
                  <a:gd name="T11" fmla="*/ 1 h 1444"/>
                  <a:gd name="T12" fmla="*/ 717 w 1014"/>
                  <a:gd name="T13" fmla="*/ 130 h 1444"/>
                  <a:gd name="T14" fmla="*/ 614 w 1014"/>
                  <a:gd name="T15" fmla="*/ 157 h 1444"/>
                  <a:gd name="T16" fmla="*/ 499 w 1014"/>
                  <a:gd name="T17" fmla="*/ 227 h 1444"/>
                  <a:gd name="T18" fmla="*/ 430 w 1014"/>
                  <a:gd name="T19" fmla="*/ 287 h 1444"/>
                  <a:gd name="T20" fmla="*/ 329 w 1014"/>
                  <a:gd name="T21" fmla="*/ 335 h 1444"/>
                  <a:gd name="T22" fmla="*/ 262 w 1014"/>
                  <a:gd name="T23" fmla="*/ 553 h 1444"/>
                  <a:gd name="T24" fmla="*/ 127 w 1014"/>
                  <a:gd name="T25" fmla="*/ 570 h 1444"/>
                  <a:gd name="T26" fmla="*/ 43 w 1014"/>
                  <a:gd name="T27" fmla="*/ 781 h 1444"/>
                  <a:gd name="T28" fmla="*/ 87 w 1014"/>
                  <a:gd name="T29" fmla="*/ 967 h 1444"/>
                  <a:gd name="T30" fmla="*/ 193 w 1014"/>
                  <a:gd name="T31" fmla="*/ 1031 h 1444"/>
                  <a:gd name="T32" fmla="*/ 389 w 1014"/>
                  <a:gd name="T33" fmla="*/ 1268 h 1444"/>
                  <a:gd name="T34" fmla="*/ 637 w 1014"/>
                  <a:gd name="T35" fmla="*/ 1421 h 1444"/>
                  <a:gd name="T36" fmla="*/ 681 w 1014"/>
                  <a:gd name="T37" fmla="*/ 1376 h 1444"/>
                  <a:gd name="T38" fmla="*/ 728 w 1014"/>
                  <a:gd name="T39" fmla="*/ 1349 h 1444"/>
                  <a:gd name="T40" fmla="*/ 766 w 1014"/>
                  <a:gd name="T41" fmla="*/ 1362 h 1444"/>
                  <a:gd name="T42" fmla="*/ 780 w 1014"/>
                  <a:gd name="T43" fmla="*/ 1303 h 1444"/>
                  <a:gd name="T44" fmla="*/ 770 w 1014"/>
                  <a:gd name="T45" fmla="*/ 1212 h 1444"/>
                  <a:gd name="T46" fmla="*/ 686 w 1014"/>
                  <a:gd name="T47" fmla="*/ 1105 h 1444"/>
                  <a:gd name="T48" fmla="*/ 714 w 1014"/>
                  <a:gd name="T49" fmla="*/ 1033 h 1444"/>
                  <a:gd name="T50" fmla="*/ 698 w 1014"/>
                  <a:gd name="T51" fmla="*/ 974 h 1444"/>
                  <a:gd name="T52" fmla="*/ 662 w 1014"/>
                  <a:gd name="T53" fmla="*/ 867 h 1444"/>
                  <a:gd name="T54" fmla="*/ 684 w 1014"/>
                  <a:gd name="T55" fmla="*/ 744 h 1444"/>
                  <a:gd name="T56" fmla="*/ 630 w 1014"/>
                  <a:gd name="T57" fmla="*/ 625 h 1444"/>
                  <a:gd name="T58" fmla="*/ 672 w 1014"/>
                  <a:gd name="T59" fmla="*/ 625 h 1444"/>
                  <a:gd name="T60" fmla="*/ 777 w 1014"/>
                  <a:gd name="T61" fmla="*/ 747 h 1444"/>
                  <a:gd name="T62" fmla="*/ 821 w 1014"/>
                  <a:gd name="T63" fmla="*/ 720 h 1444"/>
                  <a:gd name="T64" fmla="*/ 849 w 1014"/>
                  <a:gd name="T65" fmla="*/ 646 h 1444"/>
                  <a:gd name="T66" fmla="*/ 800 w 1014"/>
                  <a:gd name="T67" fmla="*/ 605 h 1444"/>
                  <a:gd name="T68" fmla="*/ 722 w 1014"/>
                  <a:gd name="T69" fmla="*/ 499 h 1444"/>
                  <a:gd name="T70" fmla="*/ 744 w 1014"/>
                  <a:gd name="T71" fmla="*/ 433 h 1444"/>
                  <a:gd name="T72" fmla="*/ 689 w 1014"/>
                  <a:gd name="T73" fmla="*/ 424 h 1444"/>
                  <a:gd name="T74" fmla="*/ 668 w 1014"/>
                  <a:gd name="T75" fmla="*/ 462 h 1444"/>
                  <a:gd name="T76" fmla="*/ 727 w 1014"/>
                  <a:gd name="T77" fmla="*/ 300 h 1444"/>
                  <a:gd name="T78" fmla="*/ 792 w 1014"/>
                  <a:gd name="T79" fmla="*/ 243 h 1444"/>
                  <a:gd name="T80" fmla="*/ 852 w 1014"/>
                  <a:gd name="T81" fmla="*/ 194 h 1444"/>
                  <a:gd name="T82" fmla="*/ 880 w 1014"/>
                  <a:gd name="T83" fmla="*/ 239 h 1444"/>
                  <a:gd name="T84" fmla="*/ 862 w 1014"/>
                  <a:gd name="T85" fmla="*/ 264 h 1444"/>
                  <a:gd name="T86" fmla="*/ 842 w 1014"/>
                  <a:gd name="T87" fmla="*/ 355 h 1444"/>
                  <a:gd name="T88" fmla="*/ 913 w 1014"/>
                  <a:gd name="T89" fmla="*/ 329 h 1444"/>
                  <a:gd name="T90" fmla="*/ 904 w 1014"/>
                  <a:gd name="T91" fmla="*/ 404 h 1444"/>
                  <a:gd name="T92" fmla="*/ 952 w 1014"/>
                  <a:gd name="T93" fmla="*/ 483 h 1444"/>
                  <a:gd name="T94" fmla="*/ 984 w 1014"/>
                  <a:gd name="T95" fmla="*/ 377 h 1444"/>
                  <a:gd name="T96" fmla="*/ 1009 w 1014"/>
                  <a:gd name="T97" fmla="*/ 359 h 1444"/>
                  <a:gd name="T98" fmla="*/ 975 w 1014"/>
                  <a:gd name="T99" fmla="*/ 328 h 14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14" h="1444">
                    <a:moveTo>
                      <a:pt x="975" y="328"/>
                    </a:moveTo>
                    <a:cubicBezTo>
                      <a:pt x="975" y="328"/>
                      <a:pt x="962" y="315"/>
                      <a:pt x="968" y="305"/>
                    </a:cubicBezTo>
                    <a:cubicBezTo>
                      <a:pt x="973" y="294"/>
                      <a:pt x="966" y="260"/>
                      <a:pt x="966" y="260"/>
                    </a:cubicBezTo>
                    <a:cubicBezTo>
                      <a:pt x="966" y="260"/>
                      <a:pt x="952" y="261"/>
                      <a:pt x="937" y="248"/>
                    </a:cubicBezTo>
                    <a:cubicBezTo>
                      <a:pt x="931" y="242"/>
                      <a:pt x="925" y="234"/>
                      <a:pt x="921" y="225"/>
                    </a:cubicBezTo>
                    <a:cubicBezTo>
                      <a:pt x="917" y="215"/>
                      <a:pt x="915" y="203"/>
                      <a:pt x="916" y="191"/>
                    </a:cubicBezTo>
                    <a:cubicBezTo>
                      <a:pt x="917" y="168"/>
                      <a:pt x="921" y="127"/>
                      <a:pt x="933" y="106"/>
                    </a:cubicBezTo>
                    <a:cubicBezTo>
                      <a:pt x="945" y="84"/>
                      <a:pt x="969" y="67"/>
                      <a:pt x="969" y="81"/>
                    </a:cubicBezTo>
                    <a:cubicBezTo>
                      <a:pt x="969" y="95"/>
                      <a:pt x="962" y="123"/>
                      <a:pt x="976" y="118"/>
                    </a:cubicBezTo>
                    <a:cubicBezTo>
                      <a:pt x="991" y="114"/>
                      <a:pt x="1014" y="77"/>
                      <a:pt x="1014" y="62"/>
                    </a:cubicBezTo>
                    <a:cubicBezTo>
                      <a:pt x="1014" y="48"/>
                      <a:pt x="985" y="2"/>
                      <a:pt x="969" y="0"/>
                    </a:cubicBezTo>
                    <a:cubicBezTo>
                      <a:pt x="959" y="5"/>
                      <a:pt x="950" y="7"/>
                      <a:pt x="946" y="1"/>
                    </a:cubicBezTo>
                    <a:cubicBezTo>
                      <a:pt x="894" y="58"/>
                      <a:pt x="854" y="102"/>
                      <a:pt x="825" y="108"/>
                    </a:cubicBezTo>
                    <a:cubicBezTo>
                      <a:pt x="794" y="116"/>
                      <a:pt x="753" y="123"/>
                      <a:pt x="717" y="130"/>
                    </a:cubicBezTo>
                    <a:cubicBezTo>
                      <a:pt x="709" y="131"/>
                      <a:pt x="702" y="133"/>
                      <a:pt x="695" y="134"/>
                    </a:cubicBezTo>
                    <a:cubicBezTo>
                      <a:pt x="617" y="134"/>
                      <a:pt x="640" y="146"/>
                      <a:pt x="614" y="157"/>
                    </a:cubicBezTo>
                    <a:cubicBezTo>
                      <a:pt x="588" y="169"/>
                      <a:pt x="583" y="160"/>
                      <a:pt x="571" y="181"/>
                    </a:cubicBezTo>
                    <a:cubicBezTo>
                      <a:pt x="559" y="201"/>
                      <a:pt x="531" y="227"/>
                      <a:pt x="499" y="227"/>
                    </a:cubicBezTo>
                    <a:cubicBezTo>
                      <a:pt x="475" y="227"/>
                      <a:pt x="457" y="252"/>
                      <a:pt x="443" y="271"/>
                    </a:cubicBezTo>
                    <a:cubicBezTo>
                      <a:pt x="438" y="278"/>
                      <a:pt x="433" y="284"/>
                      <a:pt x="430" y="287"/>
                    </a:cubicBezTo>
                    <a:cubicBezTo>
                      <a:pt x="415" y="302"/>
                      <a:pt x="334" y="331"/>
                      <a:pt x="334" y="331"/>
                    </a:cubicBezTo>
                    <a:cubicBezTo>
                      <a:pt x="329" y="335"/>
                      <a:pt x="329" y="335"/>
                      <a:pt x="329" y="335"/>
                    </a:cubicBezTo>
                    <a:cubicBezTo>
                      <a:pt x="259" y="391"/>
                      <a:pt x="259" y="391"/>
                      <a:pt x="259" y="391"/>
                    </a:cubicBezTo>
                    <a:cubicBezTo>
                      <a:pt x="259" y="391"/>
                      <a:pt x="265" y="504"/>
                      <a:pt x="262" y="553"/>
                    </a:cubicBezTo>
                    <a:cubicBezTo>
                      <a:pt x="259" y="602"/>
                      <a:pt x="245" y="590"/>
                      <a:pt x="231" y="590"/>
                    </a:cubicBezTo>
                    <a:cubicBezTo>
                      <a:pt x="216" y="590"/>
                      <a:pt x="176" y="576"/>
                      <a:pt x="127" y="570"/>
                    </a:cubicBezTo>
                    <a:cubicBezTo>
                      <a:pt x="34" y="599"/>
                      <a:pt x="29" y="605"/>
                      <a:pt x="14" y="662"/>
                    </a:cubicBezTo>
                    <a:cubicBezTo>
                      <a:pt x="0" y="720"/>
                      <a:pt x="43" y="781"/>
                      <a:pt x="43" y="781"/>
                    </a:cubicBezTo>
                    <a:cubicBezTo>
                      <a:pt x="55" y="867"/>
                      <a:pt x="55" y="867"/>
                      <a:pt x="55" y="867"/>
                    </a:cubicBezTo>
                    <a:cubicBezTo>
                      <a:pt x="87" y="967"/>
                      <a:pt x="87" y="967"/>
                      <a:pt x="87" y="967"/>
                    </a:cubicBezTo>
                    <a:cubicBezTo>
                      <a:pt x="97" y="964"/>
                      <a:pt x="105" y="969"/>
                      <a:pt x="121" y="974"/>
                    </a:cubicBezTo>
                    <a:cubicBezTo>
                      <a:pt x="147" y="982"/>
                      <a:pt x="173" y="988"/>
                      <a:pt x="193" y="1031"/>
                    </a:cubicBezTo>
                    <a:cubicBezTo>
                      <a:pt x="213" y="1075"/>
                      <a:pt x="228" y="1205"/>
                      <a:pt x="248" y="1219"/>
                    </a:cubicBezTo>
                    <a:cubicBezTo>
                      <a:pt x="268" y="1233"/>
                      <a:pt x="334" y="1265"/>
                      <a:pt x="389" y="1268"/>
                    </a:cubicBezTo>
                    <a:cubicBezTo>
                      <a:pt x="444" y="1271"/>
                      <a:pt x="502" y="1282"/>
                      <a:pt x="505" y="1308"/>
                    </a:cubicBezTo>
                    <a:cubicBezTo>
                      <a:pt x="508" y="1334"/>
                      <a:pt x="536" y="1444"/>
                      <a:pt x="637" y="1421"/>
                    </a:cubicBezTo>
                    <a:cubicBezTo>
                      <a:pt x="654" y="1419"/>
                      <a:pt x="671" y="1419"/>
                      <a:pt x="690" y="1421"/>
                    </a:cubicBezTo>
                    <a:cubicBezTo>
                      <a:pt x="685" y="1400"/>
                      <a:pt x="681" y="1376"/>
                      <a:pt x="681" y="1376"/>
                    </a:cubicBezTo>
                    <a:cubicBezTo>
                      <a:pt x="668" y="1349"/>
                      <a:pt x="668" y="1349"/>
                      <a:pt x="668" y="1349"/>
                    </a:cubicBezTo>
                    <a:cubicBezTo>
                      <a:pt x="728" y="1349"/>
                      <a:pt x="728" y="1349"/>
                      <a:pt x="728" y="1349"/>
                    </a:cubicBezTo>
                    <a:cubicBezTo>
                      <a:pt x="748" y="1378"/>
                      <a:pt x="748" y="1378"/>
                      <a:pt x="748" y="1378"/>
                    </a:cubicBezTo>
                    <a:cubicBezTo>
                      <a:pt x="766" y="1362"/>
                      <a:pt x="766" y="1362"/>
                      <a:pt x="766" y="1362"/>
                    </a:cubicBezTo>
                    <a:cubicBezTo>
                      <a:pt x="795" y="1356"/>
                      <a:pt x="795" y="1356"/>
                      <a:pt x="795" y="1356"/>
                    </a:cubicBezTo>
                    <a:cubicBezTo>
                      <a:pt x="795" y="1356"/>
                      <a:pt x="797" y="1333"/>
                      <a:pt x="780" y="1303"/>
                    </a:cubicBezTo>
                    <a:cubicBezTo>
                      <a:pt x="763" y="1272"/>
                      <a:pt x="792" y="1259"/>
                      <a:pt x="792" y="1259"/>
                    </a:cubicBezTo>
                    <a:cubicBezTo>
                      <a:pt x="792" y="1259"/>
                      <a:pt x="809" y="1238"/>
                      <a:pt x="770" y="1212"/>
                    </a:cubicBezTo>
                    <a:cubicBezTo>
                      <a:pt x="731" y="1186"/>
                      <a:pt x="725" y="1167"/>
                      <a:pt x="721" y="1154"/>
                    </a:cubicBezTo>
                    <a:cubicBezTo>
                      <a:pt x="717" y="1141"/>
                      <a:pt x="686" y="1105"/>
                      <a:pt x="686" y="1105"/>
                    </a:cubicBezTo>
                    <a:cubicBezTo>
                      <a:pt x="686" y="1105"/>
                      <a:pt x="676" y="1056"/>
                      <a:pt x="676" y="1052"/>
                    </a:cubicBezTo>
                    <a:cubicBezTo>
                      <a:pt x="676" y="1047"/>
                      <a:pt x="714" y="1033"/>
                      <a:pt x="714" y="1033"/>
                    </a:cubicBezTo>
                    <a:cubicBezTo>
                      <a:pt x="715" y="984"/>
                      <a:pt x="715" y="984"/>
                      <a:pt x="715" y="984"/>
                    </a:cubicBezTo>
                    <a:cubicBezTo>
                      <a:pt x="698" y="974"/>
                      <a:pt x="698" y="974"/>
                      <a:pt x="698" y="974"/>
                    </a:cubicBezTo>
                    <a:cubicBezTo>
                      <a:pt x="692" y="923"/>
                      <a:pt x="692" y="923"/>
                      <a:pt x="692" y="923"/>
                    </a:cubicBezTo>
                    <a:cubicBezTo>
                      <a:pt x="692" y="923"/>
                      <a:pt x="672" y="871"/>
                      <a:pt x="662" y="867"/>
                    </a:cubicBezTo>
                    <a:cubicBezTo>
                      <a:pt x="668" y="819"/>
                      <a:pt x="684" y="812"/>
                      <a:pt x="702" y="801"/>
                    </a:cubicBezTo>
                    <a:cubicBezTo>
                      <a:pt x="721" y="789"/>
                      <a:pt x="684" y="744"/>
                      <a:pt x="684" y="744"/>
                    </a:cubicBezTo>
                    <a:cubicBezTo>
                      <a:pt x="684" y="693"/>
                      <a:pt x="684" y="693"/>
                      <a:pt x="684" y="693"/>
                    </a:cubicBezTo>
                    <a:cubicBezTo>
                      <a:pt x="684" y="693"/>
                      <a:pt x="650" y="632"/>
                      <a:pt x="630" y="625"/>
                    </a:cubicBezTo>
                    <a:cubicBezTo>
                      <a:pt x="610" y="618"/>
                      <a:pt x="616" y="603"/>
                      <a:pt x="616" y="583"/>
                    </a:cubicBezTo>
                    <a:cubicBezTo>
                      <a:pt x="633" y="587"/>
                      <a:pt x="653" y="607"/>
                      <a:pt x="672" y="625"/>
                    </a:cubicBezTo>
                    <a:cubicBezTo>
                      <a:pt x="691" y="642"/>
                      <a:pt x="730" y="658"/>
                      <a:pt x="730" y="677"/>
                    </a:cubicBezTo>
                    <a:cubicBezTo>
                      <a:pt x="730" y="695"/>
                      <a:pt x="751" y="746"/>
                      <a:pt x="777" y="747"/>
                    </a:cubicBezTo>
                    <a:cubicBezTo>
                      <a:pt x="793" y="719"/>
                      <a:pt x="795" y="700"/>
                      <a:pt x="802" y="703"/>
                    </a:cubicBezTo>
                    <a:cubicBezTo>
                      <a:pt x="809" y="706"/>
                      <a:pt x="816" y="717"/>
                      <a:pt x="821" y="720"/>
                    </a:cubicBezTo>
                    <a:cubicBezTo>
                      <a:pt x="825" y="723"/>
                      <a:pt x="839" y="711"/>
                      <a:pt x="841" y="678"/>
                    </a:cubicBezTo>
                    <a:cubicBezTo>
                      <a:pt x="854" y="672"/>
                      <a:pt x="849" y="646"/>
                      <a:pt x="849" y="646"/>
                    </a:cubicBezTo>
                    <a:cubicBezTo>
                      <a:pt x="849" y="646"/>
                      <a:pt x="831" y="639"/>
                      <a:pt x="819" y="636"/>
                    </a:cubicBezTo>
                    <a:cubicBezTo>
                      <a:pt x="808" y="633"/>
                      <a:pt x="800" y="631"/>
                      <a:pt x="800" y="605"/>
                    </a:cubicBezTo>
                    <a:cubicBezTo>
                      <a:pt x="800" y="579"/>
                      <a:pt x="809" y="566"/>
                      <a:pt x="764" y="548"/>
                    </a:cubicBezTo>
                    <a:cubicBezTo>
                      <a:pt x="743" y="530"/>
                      <a:pt x="729" y="514"/>
                      <a:pt x="722" y="499"/>
                    </a:cubicBezTo>
                    <a:cubicBezTo>
                      <a:pt x="717" y="489"/>
                      <a:pt x="716" y="481"/>
                      <a:pt x="717" y="473"/>
                    </a:cubicBezTo>
                    <a:cubicBezTo>
                      <a:pt x="720" y="453"/>
                      <a:pt x="744" y="433"/>
                      <a:pt x="744" y="433"/>
                    </a:cubicBezTo>
                    <a:cubicBezTo>
                      <a:pt x="744" y="433"/>
                      <a:pt x="730" y="423"/>
                      <a:pt x="712" y="424"/>
                    </a:cubicBezTo>
                    <a:cubicBezTo>
                      <a:pt x="695" y="426"/>
                      <a:pt x="689" y="424"/>
                      <a:pt x="689" y="424"/>
                    </a:cubicBezTo>
                    <a:cubicBezTo>
                      <a:pt x="688" y="466"/>
                      <a:pt x="688" y="466"/>
                      <a:pt x="688" y="466"/>
                    </a:cubicBezTo>
                    <a:cubicBezTo>
                      <a:pt x="688" y="466"/>
                      <a:pt x="671" y="472"/>
                      <a:pt x="668" y="462"/>
                    </a:cubicBezTo>
                    <a:cubicBezTo>
                      <a:pt x="665" y="452"/>
                      <a:pt x="665" y="416"/>
                      <a:pt x="675" y="393"/>
                    </a:cubicBezTo>
                    <a:cubicBezTo>
                      <a:pt x="675" y="393"/>
                      <a:pt x="688" y="333"/>
                      <a:pt x="727" y="300"/>
                    </a:cubicBezTo>
                    <a:cubicBezTo>
                      <a:pt x="727" y="300"/>
                      <a:pt x="735" y="293"/>
                      <a:pt x="745" y="283"/>
                    </a:cubicBezTo>
                    <a:cubicBezTo>
                      <a:pt x="761" y="268"/>
                      <a:pt x="783" y="248"/>
                      <a:pt x="792" y="243"/>
                    </a:cubicBezTo>
                    <a:cubicBezTo>
                      <a:pt x="799" y="238"/>
                      <a:pt x="809" y="233"/>
                      <a:pt x="821" y="226"/>
                    </a:cubicBezTo>
                    <a:cubicBezTo>
                      <a:pt x="833" y="218"/>
                      <a:pt x="845" y="208"/>
                      <a:pt x="852" y="194"/>
                    </a:cubicBezTo>
                    <a:cubicBezTo>
                      <a:pt x="883" y="195"/>
                      <a:pt x="883" y="195"/>
                      <a:pt x="883" y="195"/>
                    </a:cubicBezTo>
                    <a:cubicBezTo>
                      <a:pt x="880" y="239"/>
                      <a:pt x="880" y="239"/>
                      <a:pt x="880" y="239"/>
                    </a:cubicBezTo>
                    <a:cubicBezTo>
                      <a:pt x="880" y="244"/>
                      <a:pt x="880" y="244"/>
                      <a:pt x="880" y="244"/>
                    </a:cubicBezTo>
                    <a:cubicBezTo>
                      <a:pt x="880" y="244"/>
                      <a:pt x="872" y="253"/>
                      <a:pt x="862" y="264"/>
                    </a:cubicBezTo>
                    <a:cubicBezTo>
                      <a:pt x="852" y="275"/>
                      <a:pt x="840" y="289"/>
                      <a:pt x="834" y="299"/>
                    </a:cubicBezTo>
                    <a:cubicBezTo>
                      <a:pt x="821" y="318"/>
                      <a:pt x="818" y="355"/>
                      <a:pt x="842" y="355"/>
                    </a:cubicBezTo>
                    <a:cubicBezTo>
                      <a:pt x="867" y="355"/>
                      <a:pt x="885" y="344"/>
                      <a:pt x="890" y="333"/>
                    </a:cubicBezTo>
                    <a:cubicBezTo>
                      <a:pt x="894" y="323"/>
                      <a:pt x="904" y="323"/>
                      <a:pt x="913" y="329"/>
                    </a:cubicBezTo>
                    <a:cubicBezTo>
                      <a:pt x="921" y="335"/>
                      <a:pt x="924" y="354"/>
                      <a:pt x="917" y="359"/>
                    </a:cubicBezTo>
                    <a:cubicBezTo>
                      <a:pt x="910" y="365"/>
                      <a:pt x="885" y="391"/>
                      <a:pt x="904" y="404"/>
                    </a:cubicBezTo>
                    <a:cubicBezTo>
                      <a:pt x="923" y="417"/>
                      <a:pt x="942" y="426"/>
                      <a:pt x="942" y="437"/>
                    </a:cubicBezTo>
                    <a:cubicBezTo>
                      <a:pt x="942" y="449"/>
                      <a:pt x="943" y="481"/>
                      <a:pt x="952" y="483"/>
                    </a:cubicBezTo>
                    <a:cubicBezTo>
                      <a:pt x="960" y="486"/>
                      <a:pt x="984" y="495"/>
                      <a:pt x="984" y="452"/>
                    </a:cubicBezTo>
                    <a:cubicBezTo>
                      <a:pt x="984" y="377"/>
                      <a:pt x="984" y="377"/>
                      <a:pt x="984" y="377"/>
                    </a:cubicBezTo>
                    <a:cubicBezTo>
                      <a:pt x="984" y="376"/>
                      <a:pt x="984" y="375"/>
                      <a:pt x="984" y="375"/>
                    </a:cubicBezTo>
                    <a:cubicBezTo>
                      <a:pt x="1009" y="359"/>
                      <a:pt x="1009" y="359"/>
                      <a:pt x="1009" y="359"/>
                    </a:cubicBezTo>
                    <a:cubicBezTo>
                      <a:pt x="1008" y="332"/>
                      <a:pt x="1008" y="332"/>
                      <a:pt x="1008" y="332"/>
                    </a:cubicBezTo>
                    <a:lnTo>
                      <a:pt x="975" y="328"/>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48" name="Freeform 1823">
                <a:extLst>
                  <a:ext uri="{FF2B5EF4-FFF2-40B4-BE49-F238E27FC236}">
                    <a16:creationId xmlns:a16="http://schemas.microsoft.com/office/drawing/2014/main" id="{D03D5829-08D2-6A2A-01C4-FC5E75D20A06}"/>
                  </a:ext>
                </a:extLst>
              </p:cNvPr>
              <p:cNvSpPr>
                <a:spLocks/>
              </p:cNvSpPr>
              <p:nvPr/>
            </p:nvSpPr>
            <p:spPr bwMode="auto">
              <a:xfrm>
                <a:off x="2067" y="2520"/>
                <a:ext cx="387" cy="433"/>
              </a:xfrm>
              <a:custGeom>
                <a:avLst/>
                <a:gdLst>
                  <a:gd name="T0" fmla="*/ 1710 w 1750"/>
                  <a:gd name="T1" fmla="*/ 1564 h 1960"/>
                  <a:gd name="T2" fmla="*/ 1700 w 1750"/>
                  <a:gd name="T3" fmla="*/ 1554 h 1960"/>
                  <a:gd name="T4" fmla="*/ 1664 w 1750"/>
                  <a:gd name="T5" fmla="*/ 1451 h 1960"/>
                  <a:gd name="T6" fmla="*/ 1641 w 1750"/>
                  <a:gd name="T7" fmla="*/ 1425 h 1960"/>
                  <a:gd name="T8" fmla="*/ 1563 w 1750"/>
                  <a:gd name="T9" fmla="*/ 1425 h 1960"/>
                  <a:gd name="T10" fmla="*/ 1589 w 1750"/>
                  <a:gd name="T11" fmla="*/ 1333 h 1960"/>
                  <a:gd name="T12" fmla="*/ 1635 w 1750"/>
                  <a:gd name="T13" fmla="*/ 1333 h 1960"/>
                  <a:gd name="T14" fmla="*/ 1681 w 1750"/>
                  <a:gd name="T15" fmla="*/ 1307 h 1960"/>
                  <a:gd name="T16" fmla="*/ 1739 w 1750"/>
                  <a:gd name="T17" fmla="*/ 1307 h 1960"/>
                  <a:gd name="T18" fmla="*/ 1704 w 1750"/>
                  <a:gd name="T19" fmla="*/ 1091 h 1960"/>
                  <a:gd name="T20" fmla="*/ 1621 w 1750"/>
                  <a:gd name="T21" fmla="*/ 909 h 1960"/>
                  <a:gd name="T22" fmla="*/ 1629 w 1750"/>
                  <a:gd name="T23" fmla="*/ 799 h 1960"/>
                  <a:gd name="T24" fmla="*/ 1621 w 1750"/>
                  <a:gd name="T25" fmla="*/ 753 h 1960"/>
                  <a:gd name="T26" fmla="*/ 1497 w 1750"/>
                  <a:gd name="T27" fmla="*/ 502 h 1960"/>
                  <a:gd name="T28" fmla="*/ 1497 w 1750"/>
                  <a:gd name="T29" fmla="*/ 501 h 1960"/>
                  <a:gd name="T30" fmla="*/ 1430 w 1750"/>
                  <a:gd name="T31" fmla="*/ 199 h 1960"/>
                  <a:gd name="T32" fmla="*/ 1364 w 1750"/>
                  <a:gd name="T33" fmla="*/ 55 h 1960"/>
                  <a:gd name="T34" fmla="*/ 1355 w 1750"/>
                  <a:gd name="T35" fmla="*/ 43 h 1960"/>
                  <a:gd name="T36" fmla="*/ 1277 w 1750"/>
                  <a:gd name="T37" fmla="*/ 92 h 1960"/>
                  <a:gd name="T38" fmla="*/ 1194 w 1750"/>
                  <a:gd name="T39" fmla="*/ 29 h 1960"/>
                  <a:gd name="T40" fmla="*/ 1142 w 1750"/>
                  <a:gd name="T41" fmla="*/ 75 h 1960"/>
                  <a:gd name="T42" fmla="*/ 1113 w 1750"/>
                  <a:gd name="T43" fmla="*/ 162 h 1960"/>
                  <a:gd name="T44" fmla="*/ 1070 w 1750"/>
                  <a:gd name="T45" fmla="*/ 208 h 1960"/>
                  <a:gd name="T46" fmla="*/ 1006 w 1750"/>
                  <a:gd name="T47" fmla="*/ 260 h 1960"/>
                  <a:gd name="T48" fmla="*/ 868 w 1750"/>
                  <a:gd name="T49" fmla="*/ 323 h 1960"/>
                  <a:gd name="T50" fmla="*/ 776 w 1750"/>
                  <a:gd name="T51" fmla="*/ 420 h 1960"/>
                  <a:gd name="T52" fmla="*/ 718 w 1750"/>
                  <a:gd name="T53" fmla="*/ 479 h 1960"/>
                  <a:gd name="T54" fmla="*/ 576 w 1750"/>
                  <a:gd name="T55" fmla="*/ 456 h 1960"/>
                  <a:gd name="T56" fmla="*/ 513 w 1750"/>
                  <a:gd name="T57" fmla="*/ 473 h 1960"/>
                  <a:gd name="T58" fmla="*/ 389 w 1750"/>
                  <a:gd name="T59" fmla="*/ 517 h 1960"/>
                  <a:gd name="T60" fmla="*/ 271 w 1750"/>
                  <a:gd name="T61" fmla="*/ 655 h 1960"/>
                  <a:gd name="T62" fmla="*/ 158 w 1750"/>
                  <a:gd name="T63" fmla="*/ 730 h 1960"/>
                  <a:gd name="T64" fmla="*/ 66 w 1750"/>
                  <a:gd name="T65" fmla="*/ 811 h 1960"/>
                  <a:gd name="T66" fmla="*/ 9 w 1750"/>
                  <a:gd name="T67" fmla="*/ 878 h 1960"/>
                  <a:gd name="T68" fmla="*/ 9 w 1750"/>
                  <a:gd name="T69" fmla="*/ 959 h 1960"/>
                  <a:gd name="T70" fmla="*/ 38 w 1750"/>
                  <a:gd name="T71" fmla="*/ 1045 h 1960"/>
                  <a:gd name="T72" fmla="*/ 138 w 1750"/>
                  <a:gd name="T73" fmla="*/ 1158 h 1960"/>
                  <a:gd name="T74" fmla="*/ 231 w 1750"/>
                  <a:gd name="T75" fmla="*/ 1449 h 1960"/>
                  <a:gd name="T76" fmla="*/ 218 w 1750"/>
                  <a:gd name="T77" fmla="*/ 1544 h 1960"/>
                  <a:gd name="T78" fmla="*/ 198 w 1750"/>
                  <a:gd name="T79" fmla="*/ 1616 h 1960"/>
                  <a:gd name="T80" fmla="*/ 274 w 1750"/>
                  <a:gd name="T81" fmla="*/ 1569 h 1960"/>
                  <a:gd name="T82" fmla="*/ 346 w 1750"/>
                  <a:gd name="T83" fmla="*/ 1546 h 1960"/>
                  <a:gd name="T84" fmla="*/ 435 w 1750"/>
                  <a:gd name="T85" fmla="*/ 1515 h 1960"/>
                  <a:gd name="T86" fmla="*/ 513 w 1750"/>
                  <a:gd name="T87" fmla="*/ 1520 h 1960"/>
                  <a:gd name="T88" fmla="*/ 623 w 1750"/>
                  <a:gd name="T89" fmla="*/ 1529 h 1960"/>
                  <a:gd name="T90" fmla="*/ 773 w 1750"/>
                  <a:gd name="T91" fmla="*/ 1494 h 1960"/>
                  <a:gd name="T92" fmla="*/ 908 w 1750"/>
                  <a:gd name="T93" fmla="*/ 1520 h 1960"/>
                  <a:gd name="T94" fmla="*/ 1012 w 1750"/>
                  <a:gd name="T95" fmla="*/ 1558 h 1960"/>
                  <a:gd name="T96" fmla="*/ 1113 w 1750"/>
                  <a:gd name="T97" fmla="*/ 1595 h 1960"/>
                  <a:gd name="T98" fmla="*/ 1148 w 1750"/>
                  <a:gd name="T99" fmla="*/ 1691 h 1960"/>
                  <a:gd name="T100" fmla="*/ 1246 w 1750"/>
                  <a:gd name="T101" fmla="*/ 1803 h 1960"/>
                  <a:gd name="T102" fmla="*/ 1315 w 1750"/>
                  <a:gd name="T103" fmla="*/ 1924 h 1960"/>
                  <a:gd name="T104" fmla="*/ 1511 w 1750"/>
                  <a:gd name="T105" fmla="*/ 1950 h 1960"/>
                  <a:gd name="T106" fmla="*/ 1521 w 1750"/>
                  <a:gd name="T107" fmla="*/ 1960 h 1960"/>
                  <a:gd name="T108" fmla="*/ 1609 w 1750"/>
                  <a:gd name="T109" fmla="*/ 1913 h 1960"/>
                  <a:gd name="T110" fmla="*/ 1609 w 1750"/>
                  <a:gd name="T111" fmla="*/ 1912 h 1960"/>
                  <a:gd name="T112" fmla="*/ 1664 w 1750"/>
                  <a:gd name="T113" fmla="*/ 1806 h 1960"/>
                  <a:gd name="T114" fmla="*/ 1750 w 1750"/>
                  <a:gd name="T115" fmla="*/ 1662 h 1960"/>
                  <a:gd name="T116" fmla="*/ 1710 w 1750"/>
                  <a:gd name="T117" fmla="*/ 1564 h 19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1750" h="1960">
                    <a:moveTo>
                      <a:pt x="1710" y="1564"/>
                    </a:moveTo>
                    <a:cubicBezTo>
                      <a:pt x="1707" y="1560"/>
                      <a:pt x="1703" y="1557"/>
                      <a:pt x="1700" y="1554"/>
                    </a:cubicBezTo>
                    <a:cubicBezTo>
                      <a:pt x="1669" y="1517"/>
                      <a:pt x="1664" y="1472"/>
                      <a:pt x="1664" y="1451"/>
                    </a:cubicBezTo>
                    <a:cubicBezTo>
                      <a:pt x="1664" y="1428"/>
                      <a:pt x="1661" y="1411"/>
                      <a:pt x="1641" y="1425"/>
                    </a:cubicBezTo>
                    <a:cubicBezTo>
                      <a:pt x="1621" y="1440"/>
                      <a:pt x="1592" y="1440"/>
                      <a:pt x="1563" y="1425"/>
                    </a:cubicBezTo>
                    <a:cubicBezTo>
                      <a:pt x="1534" y="1411"/>
                      <a:pt x="1580" y="1344"/>
                      <a:pt x="1589" y="1333"/>
                    </a:cubicBezTo>
                    <a:cubicBezTo>
                      <a:pt x="1598" y="1321"/>
                      <a:pt x="1635" y="1333"/>
                      <a:pt x="1635" y="1333"/>
                    </a:cubicBezTo>
                    <a:cubicBezTo>
                      <a:pt x="1681" y="1307"/>
                      <a:pt x="1681" y="1307"/>
                      <a:pt x="1681" y="1307"/>
                    </a:cubicBezTo>
                    <a:cubicBezTo>
                      <a:pt x="1739" y="1307"/>
                      <a:pt x="1739" y="1307"/>
                      <a:pt x="1739" y="1307"/>
                    </a:cubicBezTo>
                    <a:cubicBezTo>
                      <a:pt x="1704" y="1249"/>
                      <a:pt x="1704" y="1121"/>
                      <a:pt x="1704" y="1091"/>
                    </a:cubicBezTo>
                    <a:cubicBezTo>
                      <a:pt x="1704" y="1056"/>
                      <a:pt x="1673" y="981"/>
                      <a:pt x="1621" y="909"/>
                    </a:cubicBezTo>
                    <a:cubicBezTo>
                      <a:pt x="1569" y="837"/>
                      <a:pt x="1618" y="814"/>
                      <a:pt x="1629" y="799"/>
                    </a:cubicBezTo>
                    <a:cubicBezTo>
                      <a:pt x="1641" y="785"/>
                      <a:pt x="1629" y="765"/>
                      <a:pt x="1621" y="753"/>
                    </a:cubicBezTo>
                    <a:cubicBezTo>
                      <a:pt x="1534" y="721"/>
                      <a:pt x="1500" y="551"/>
                      <a:pt x="1497" y="502"/>
                    </a:cubicBezTo>
                    <a:cubicBezTo>
                      <a:pt x="1497" y="502"/>
                      <a:pt x="1497" y="502"/>
                      <a:pt x="1497" y="501"/>
                    </a:cubicBezTo>
                    <a:cubicBezTo>
                      <a:pt x="1493" y="451"/>
                      <a:pt x="1442" y="237"/>
                      <a:pt x="1430" y="199"/>
                    </a:cubicBezTo>
                    <a:cubicBezTo>
                      <a:pt x="1419" y="162"/>
                      <a:pt x="1419" y="124"/>
                      <a:pt x="1364" y="55"/>
                    </a:cubicBezTo>
                    <a:cubicBezTo>
                      <a:pt x="1361" y="51"/>
                      <a:pt x="1358" y="47"/>
                      <a:pt x="1355" y="43"/>
                    </a:cubicBezTo>
                    <a:cubicBezTo>
                      <a:pt x="1328" y="55"/>
                      <a:pt x="1293" y="83"/>
                      <a:pt x="1277" y="92"/>
                    </a:cubicBezTo>
                    <a:cubicBezTo>
                      <a:pt x="1254" y="107"/>
                      <a:pt x="1231" y="58"/>
                      <a:pt x="1194" y="29"/>
                    </a:cubicBezTo>
                    <a:cubicBezTo>
                      <a:pt x="1156" y="0"/>
                      <a:pt x="1142" y="23"/>
                      <a:pt x="1142" y="75"/>
                    </a:cubicBezTo>
                    <a:cubicBezTo>
                      <a:pt x="1142" y="127"/>
                      <a:pt x="1125" y="153"/>
                      <a:pt x="1113" y="162"/>
                    </a:cubicBezTo>
                    <a:cubicBezTo>
                      <a:pt x="1101" y="170"/>
                      <a:pt x="1073" y="196"/>
                      <a:pt x="1070" y="208"/>
                    </a:cubicBezTo>
                    <a:cubicBezTo>
                      <a:pt x="1067" y="219"/>
                      <a:pt x="1044" y="254"/>
                      <a:pt x="1006" y="260"/>
                    </a:cubicBezTo>
                    <a:cubicBezTo>
                      <a:pt x="957" y="268"/>
                      <a:pt x="900" y="297"/>
                      <a:pt x="868" y="323"/>
                    </a:cubicBezTo>
                    <a:cubicBezTo>
                      <a:pt x="843" y="355"/>
                      <a:pt x="808" y="388"/>
                      <a:pt x="776" y="420"/>
                    </a:cubicBezTo>
                    <a:cubicBezTo>
                      <a:pt x="754" y="441"/>
                      <a:pt x="734" y="461"/>
                      <a:pt x="718" y="479"/>
                    </a:cubicBezTo>
                    <a:cubicBezTo>
                      <a:pt x="677" y="525"/>
                      <a:pt x="623" y="462"/>
                      <a:pt x="576" y="456"/>
                    </a:cubicBezTo>
                    <a:cubicBezTo>
                      <a:pt x="530" y="450"/>
                      <a:pt x="539" y="436"/>
                      <a:pt x="513" y="473"/>
                    </a:cubicBezTo>
                    <a:cubicBezTo>
                      <a:pt x="487" y="514"/>
                      <a:pt x="461" y="514"/>
                      <a:pt x="389" y="517"/>
                    </a:cubicBezTo>
                    <a:cubicBezTo>
                      <a:pt x="279" y="519"/>
                      <a:pt x="282" y="580"/>
                      <a:pt x="271" y="655"/>
                    </a:cubicBezTo>
                    <a:cubicBezTo>
                      <a:pt x="259" y="730"/>
                      <a:pt x="187" y="727"/>
                      <a:pt x="158" y="730"/>
                    </a:cubicBezTo>
                    <a:cubicBezTo>
                      <a:pt x="129" y="733"/>
                      <a:pt x="77" y="796"/>
                      <a:pt x="66" y="811"/>
                    </a:cubicBezTo>
                    <a:cubicBezTo>
                      <a:pt x="57" y="821"/>
                      <a:pt x="25" y="859"/>
                      <a:pt x="9" y="878"/>
                    </a:cubicBezTo>
                    <a:cubicBezTo>
                      <a:pt x="11" y="908"/>
                      <a:pt x="11" y="940"/>
                      <a:pt x="9" y="959"/>
                    </a:cubicBezTo>
                    <a:cubicBezTo>
                      <a:pt x="3" y="998"/>
                      <a:pt x="0" y="1026"/>
                      <a:pt x="38" y="1045"/>
                    </a:cubicBezTo>
                    <a:cubicBezTo>
                      <a:pt x="76" y="1063"/>
                      <a:pt x="108" y="1107"/>
                      <a:pt x="138" y="1158"/>
                    </a:cubicBezTo>
                    <a:cubicBezTo>
                      <a:pt x="169" y="1209"/>
                      <a:pt x="234" y="1354"/>
                      <a:pt x="231" y="1449"/>
                    </a:cubicBezTo>
                    <a:cubicBezTo>
                      <a:pt x="231" y="1480"/>
                      <a:pt x="226" y="1513"/>
                      <a:pt x="218" y="1544"/>
                    </a:cubicBezTo>
                    <a:cubicBezTo>
                      <a:pt x="213" y="1570"/>
                      <a:pt x="205" y="1594"/>
                      <a:pt x="198" y="1616"/>
                    </a:cubicBezTo>
                    <a:cubicBezTo>
                      <a:pt x="224" y="1598"/>
                      <a:pt x="255" y="1577"/>
                      <a:pt x="274" y="1569"/>
                    </a:cubicBezTo>
                    <a:cubicBezTo>
                      <a:pt x="308" y="1555"/>
                      <a:pt x="305" y="1546"/>
                      <a:pt x="346" y="1546"/>
                    </a:cubicBezTo>
                    <a:cubicBezTo>
                      <a:pt x="386" y="1546"/>
                      <a:pt x="421" y="1529"/>
                      <a:pt x="435" y="1515"/>
                    </a:cubicBezTo>
                    <a:cubicBezTo>
                      <a:pt x="450" y="1500"/>
                      <a:pt x="484" y="1515"/>
                      <a:pt x="513" y="1520"/>
                    </a:cubicBezTo>
                    <a:cubicBezTo>
                      <a:pt x="542" y="1526"/>
                      <a:pt x="585" y="1538"/>
                      <a:pt x="623" y="1529"/>
                    </a:cubicBezTo>
                    <a:cubicBezTo>
                      <a:pt x="660" y="1520"/>
                      <a:pt x="718" y="1494"/>
                      <a:pt x="773" y="1494"/>
                    </a:cubicBezTo>
                    <a:cubicBezTo>
                      <a:pt x="827" y="1494"/>
                      <a:pt x="862" y="1500"/>
                      <a:pt x="908" y="1520"/>
                    </a:cubicBezTo>
                    <a:cubicBezTo>
                      <a:pt x="954" y="1541"/>
                      <a:pt x="975" y="1558"/>
                      <a:pt x="1012" y="1558"/>
                    </a:cubicBezTo>
                    <a:cubicBezTo>
                      <a:pt x="1050" y="1558"/>
                      <a:pt x="1087" y="1575"/>
                      <a:pt x="1113" y="1595"/>
                    </a:cubicBezTo>
                    <a:cubicBezTo>
                      <a:pt x="1139" y="1616"/>
                      <a:pt x="1136" y="1659"/>
                      <a:pt x="1148" y="1691"/>
                    </a:cubicBezTo>
                    <a:cubicBezTo>
                      <a:pt x="1170" y="1711"/>
                      <a:pt x="1210" y="1756"/>
                      <a:pt x="1246" y="1803"/>
                    </a:cubicBezTo>
                    <a:cubicBezTo>
                      <a:pt x="1281" y="1849"/>
                      <a:pt x="1311" y="1896"/>
                      <a:pt x="1315" y="1924"/>
                    </a:cubicBezTo>
                    <a:cubicBezTo>
                      <a:pt x="1367" y="1930"/>
                      <a:pt x="1491" y="1930"/>
                      <a:pt x="1511" y="1950"/>
                    </a:cubicBezTo>
                    <a:cubicBezTo>
                      <a:pt x="1514" y="1953"/>
                      <a:pt x="1517" y="1956"/>
                      <a:pt x="1521" y="1960"/>
                    </a:cubicBezTo>
                    <a:cubicBezTo>
                      <a:pt x="1559" y="1952"/>
                      <a:pt x="1590" y="1934"/>
                      <a:pt x="1609" y="1913"/>
                    </a:cubicBezTo>
                    <a:cubicBezTo>
                      <a:pt x="1609" y="1912"/>
                      <a:pt x="1609" y="1912"/>
                      <a:pt x="1609" y="1912"/>
                    </a:cubicBezTo>
                    <a:cubicBezTo>
                      <a:pt x="1609" y="1855"/>
                      <a:pt x="1612" y="1820"/>
                      <a:pt x="1664" y="1806"/>
                    </a:cubicBezTo>
                    <a:cubicBezTo>
                      <a:pt x="1716" y="1792"/>
                      <a:pt x="1750" y="1708"/>
                      <a:pt x="1750" y="1662"/>
                    </a:cubicBezTo>
                    <a:cubicBezTo>
                      <a:pt x="1750" y="1616"/>
                      <a:pt x="1750" y="1601"/>
                      <a:pt x="1710" y="156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49" name="Freeform 1824">
                <a:extLst>
                  <a:ext uri="{FF2B5EF4-FFF2-40B4-BE49-F238E27FC236}">
                    <a16:creationId xmlns:a16="http://schemas.microsoft.com/office/drawing/2014/main" id="{EAECFCAA-560F-3BD7-AAE9-E2B008C9023D}"/>
                  </a:ext>
                </a:extLst>
              </p:cNvPr>
              <p:cNvSpPr>
                <a:spLocks/>
              </p:cNvSpPr>
              <p:nvPr/>
            </p:nvSpPr>
            <p:spPr bwMode="auto">
              <a:xfrm>
                <a:off x="2403" y="2765"/>
                <a:ext cx="202" cy="254"/>
              </a:xfrm>
              <a:custGeom>
                <a:avLst/>
                <a:gdLst>
                  <a:gd name="T0" fmla="*/ 844 w 916"/>
                  <a:gd name="T1" fmla="*/ 754 h 1149"/>
                  <a:gd name="T2" fmla="*/ 806 w 916"/>
                  <a:gd name="T3" fmla="*/ 678 h 1149"/>
                  <a:gd name="T4" fmla="*/ 791 w 916"/>
                  <a:gd name="T5" fmla="*/ 551 h 1149"/>
                  <a:gd name="T6" fmla="*/ 755 w 916"/>
                  <a:gd name="T7" fmla="*/ 521 h 1149"/>
                  <a:gd name="T8" fmla="*/ 745 w 916"/>
                  <a:gd name="T9" fmla="*/ 468 h 1149"/>
                  <a:gd name="T10" fmla="*/ 770 w 916"/>
                  <a:gd name="T11" fmla="*/ 413 h 1149"/>
                  <a:gd name="T12" fmla="*/ 704 w 916"/>
                  <a:gd name="T13" fmla="*/ 369 h 1149"/>
                  <a:gd name="T14" fmla="*/ 683 w 916"/>
                  <a:gd name="T15" fmla="*/ 329 h 1149"/>
                  <a:gd name="T16" fmla="*/ 736 w 916"/>
                  <a:gd name="T17" fmla="*/ 284 h 1149"/>
                  <a:gd name="T18" fmla="*/ 722 w 916"/>
                  <a:gd name="T19" fmla="*/ 346 h 1149"/>
                  <a:gd name="T20" fmla="*/ 789 w 916"/>
                  <a:gd name="T21" fmla="*/ 285 h 1149"/>
                  <a:gd name="T22" fmla="*/ 753 w 916"/>
                  <a:gd name="T23" fmla="*/ 227 h 1149"/>
                  <a:gd name="T24" fmla="*/ 708 w 916"/>
                  <a:gd name="T25" fmla="*/ 191 h 1149"/>
                  <a:gd name="T26" fmla="*/ 654 w 916"/>
                  <a:gd name="T27" fmla="*/ 100 h 1149"/>
                  <a:gd name="T28" fmla="*/ 674 w 916"/>
                  <a:gd name="T29" fmla="*/ 97 h 1149"/>
                  <a:gd name="T30" fmla="*/ 728 w 916"/>
                  <a:gd name="T31" fmla="*/ 182 h 1149"/>
                  <a:gd name="T32" fmla="*/ 762 w 916"/>
                  <a:gd name="T33" fmla="*/ 143 h 1149"/>
                  <a:gd name="T34" fmla="*/ 700 w 916"/>
                  <a:gd name="T35" fmla="*/ 94 h 1149"/>
                  <a:gd name="T36" fmla="*/ 695 w 916"/>
                  <a:gd name="T37" fmla="*/ 2 h 1149"/>
                  <a:gd name="T38" fmla="*/ 625 w 916"/>
                  <a:gd name="T39" fmla="*/ 14 h 1149"/>
                  <a:gd name="T40" fmla="*/ 555 w 916"/>
                  <a:gd name="T41" fmla="*/ 118 h 1149"/>
                  <a:gd name="T42" fmla="*/ 235 w 916"/>
                  <a:gd name="T43" fmla="*/ 219 h 1149"/>
                  <a:gd name="T44" fmla="*/ 160 w 916"/>
                  <a:gd name="T45" fmla="*/ 199 h 1149"/>
                  <a:gd name="T46" fmla="*/ 68 w 916"/>
                  <a:gd name="T47" fmla="*/ 225 h 1149"/>
                  <a:gd name="T48" fmla="*/ 120 w 916"/>
                  <a:gd name="T49" fmla="*/ 317 h 1149"/>
                  <a:gd name="T50" fmla="*/ 179 w 916"/>
                  <a:gd name="T51" fmla="*/ 446 h 1149"/>
                  <a:gd name="T52" fmla="*/ 229 w 916"/>
                  <a:gd name="T53" fmla="*/ 554 h 1149"/>
                  <a:gd name="T54" fmla="*/ 88 w 916"/>
                  <a:gd name="T55" fmla="*/ 804 h 1149"/>
                  <a:gd name="T56" fmla="*/ 0 w 916"/>
                  <a:gd name="T57" fmla="*/ 852 h 1149"/>
                  <a:gd name="T58" fmla="*/ 157 w 916"/>
                  <a:gd name="T59" fmla="*/ 992 h 1149"/>
                  <a:gd name="T60" fmla="*/ 313 w 916"/>
                  <a:gd name="T61" fmla="*/ 1047 h 1149"/>
                  <a:gd name="T62" fmla="*/ 413 w 916"/>
                  <a:gd name="T63" fmla="*/ 1149 h 1149"/>
                  <a:gd name="T64" fmla="*/ 541 w 916"/>
                  <a:gd name="T65" fmla="*/ 1059 h 1149"/>
                  <a:gd name="T66" fmla="*/ 665 w 916"/>
                  <a:gd name="T67" fmla="*/ 1012 h 1149"/>
                  <a:gd name="T68" fmla="*/ 795 w 916"/>
                  <a:gd name="T69" fmla="*/ 986 h 1149"/>
                  <a:gd name="T70" fmla="*/ 912 w 916"/>
                  <a:gd name="T71" fmla="*/ 861 h 114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916" h="1149">
                    <a:moveTo>
                      <a:pt x="912" y="861"/>
                    </a:moveTo>
                    <a:cubicBezTo>
                      <a:pt x="912" y="835"/>
                      <a:pt x="864" y="769"/>
                      <a:pt x="844" y="754"/>
                    </a:cubicBezTo>
                    <a:cubicBezTo>
                      <a:pt x="824" y="740"/>
                      <a:pt x="816" y="739"/>
                      <a:pt x="816" y="739"/>
                    </a:cubicBezTo>
                    <a:cubicBezTo>
                      <a:pt x="816" y="739"/>
                      <a:pt x="811" y="697"/>
                      <a:pt x="806" y="678"/>
                    </a:cubicBezTo>
                    <a:cubicBezTo>
                      <a:pt x="800" y="658"/>
                      <a:pt x="788" y="634"/>
                      <a:pt x="791" y="613"/>
                    </a:cubicBezTo>
                    <a:cubicBezTo>
                      <a:pt x="792" y="603"/>
                      <a:pt x="792" y="577"/>
                      <a:pt x="791" y="551"/>
                    </a:cubicBezTo>
                    <a:cubicBezTo>
                      <a:pt x="789" y="521"/>
                      <a:pt x="785" y="491"/>
                      <a:pt x="776" y="488"/>
                    </a:cubicBezTo>
                    <a:cubicBezTo>
                      <a:pt x="765" y="491"/>
                      <a:pt x="761" y="507"/>
                      <a:pt x="755" y="521"/>
                    </a:cubicBezTo>
                    <a:cubicBezTo>
                      <a:pt x="748" y="535"/>
                      <a:pt x="727" y="515"/>
                      <a:pt x="721" y="475"/>
                    </a:cubicBezTo>
                    <a:cubicBezTo>
                      <a:pt x="739" y="470"/>
                      <a:pt x="745" y="468"/>
                      <a:pt x="745" y="468"/>
                    </a:cubicBezTo>
                    <a:cubicBezTo>
                      <a:pt x="758" y="432"/>
                      <a:pt x="758" y="432"/>
                      <a:pt x="758" y="432"/>
                    </a:cubicBezTo>
                    <a:cubicBezTo>
                      <a:pt x="770" y="413"/>
                      <a:pt x="770" y="413"/>
                      <a:pt x="770" y="413"/>
                    </a:cubicBezTo>
                    <a:cubicBezTo>
                      <a:pt x="770" y="413"/>
                      <a:pt x="770" y="386"/>
                      <a:pt x="740" y="394"/>
                    </a:cubicBezTo>
                    <a:cubicBezTo>
                      <a:pt x="709" y="403"/>
                      <a:pt x="704" y="395"/>
                      <a:pt x="704" y="369"/>
                    </a:cubicBezTo>
                    <a:cubicBezTo>
                      <a:pt x="674" y="366"/>
                      <a:pt x="669" y="361"/>
                      <a:pt x="669" y="361"/>
                    </a:cubicBezTo>
                    <a:cubicBezTo>
                      <a:pt x="669" y="361"/>
                      <a:pt x="682" y="341"/>
                      <a:pt x="683" y="329"/>
                    </a:cubicBezTo>
                    <a:cubicBezTo>
                      <a:pt x="685" y="318"/>
                      <a:pt x="670" y="285"/>
                      <a:pt x="687" y="272"/>
                    </a:cubicBezTo>
                    <a:cubicBezTo>
                      <a:pt x="703" y="259"/>
                      <a:pt x="721" y="241"/>
                      <a:pt x="736" y="284"/>
                    </a:cubicBezTo>
                    <a:cubicBezTo>
                      <a:pt x="734" y="300"/>
                      <a:pt x="729" y="302"/>
                      <a:pt x="723" y="302"/>
                    </a:cubicBezTo>
                    <a:cubicBezTo>
                      <a:pt x="718" y="302"/>
                      <a:pt x="708" y="335"/>
                      <a:pt x="722" y="346"/>
                    </a:cubicBezTo>
                    <a:cubicBezTo>
                      <a:pt x="736" y="356"/>
                      <a:pt x="769" y="366"/>
                      <a:pt x="786" y="340"/>
                    </a:cubicBezTo>
                    <a:cubicBezTo>
                      <a:pt x="804" y="314"/>
                      <a:pt x="793" y="300"/>
                      <a:pt x="789" y="285"/>
                    </a:cubicBezTo>
                    <a:cubicBezTo>
                      <a:pt x="786" y="270"/>
                      <a:pt x="763" y="270"/>
                      <a:pt x="761" y="261"/>
                    </a:cubicBezTo>
                    <a:cubicBezTo>
                      <a:pt x="759" y="253"/>
                      <a:pt x="753" y="227"/>
                      <a:pt x="753" y="227"/>
                    </a:cubicBezTo>
                    <a:cubicBezTo>
                      <a:pt x="720" y="221"/>
                      <a:pt x="720" y="221"/>
                      <a:pt x="720" y="221"/>
                    </a:cubicBezTo>
                    <a:cubicBezTo>
                      <a:pt x="708" y="191"/>
                      <a:pt x="708" y="191"/>
                      <a:pt x="708" y="191"/>
                    </a:cubicBezTo>
                    <a:cubicBezTo>
                      <a:pt x="656" y="121"/>
                      <a:pt x="656" y="121"/>
                      <a:pt x="656" y="121"/>
                    </a:cubicBezTo>
                    <a:cubicBezTo>
                      <a:pt x="654" y="100"/>
                      <a:pt x="654" y="100"/>
                      <a:pt x="654" y="100"/>
                    </a:cubicBezTo>
                    <a:cubicBezTo>
                      <a:pt x="652" y="84"/>
                      <a:pt x="652" y="84"/>
                      <a:pt x="652" y="84"/>
                    </a:cubicBezTo>
                    <a:cubicBezTo>
                      <a:pt x="652" y="84"/>
                      <a:pt x="664" y="85"/>
                      <a:pt x="674" y="97"/>
                    </a:cubicBezTo>
                    <a:cubicBezTo>
                      <a:pt x="674" y="98"/>
                      <a:pt x="675" y="99"/>
                      <a:pt x="676" y="100"/>
                    </a:cubicBezTo>
                    <a:cubicBezTo>
                      <a:pt x="686" y="115"/>
                      <a:pt x="728" y="182"/>
                      <a:pt x="728" y="182"/>
                    </a:cubicBezTo>
                    <a:cubicBezTo>
                      <a:pt x="728" y="182"/>
                      <a:pt x="745" y="201"/>
                      <a:pt x="751" y="190"/>
                    </a:cubicBezTo>
                    <a:cubicBezTo>
                      <a:pt x="756" y="179"/>
                      <a:pt x="762" y="143"/>
                      <a:pt x="762" y="143"/>
                    </a:cubicBezTo>
                    <a:cubicBezTo>
                      <a:pt x="723" y="130"/>
                      <a:pt x="723" y="130"/>
                      <a:pt x="723" y="130"/>
                    </a:cubicBezTo>
                    <a:cubicBezTo>
                      <a:pt x="700" y="94"/>
                      <a:pt x="700" y="94"/>
                      <a:pt x="700" y="94"/>
                    </a:cubicBezTo>
                    <a:cubicBezTo>
                      <a:pt x="694" y="85"/>
                      <a:pt x="694" y="85"/>
                      <a:pt x="694" y="85"/>
                    </a:cubicBezTo>
                    <a:cubicBezTo>
                      <a:pt x="695" y="2"/>
                      <a:pt x="695" y="2"/>
                      <a:pt x="695" y="2"/>
                    </a:cubicBezTo>
                    <a:cubicBezTo>
                      <a:pt x="695" y="2"/>
                      <a:pt x="695" y="1"/>
                      <a:pt x="694" y="0"/>
                    </a:cubicBezTo>
                    <a:cubicBezTo>
                      <a:pt x="677" y="4"/>
                      <a:pt x="654" y="9"/>
                      <a:pt x="625" y="14"/>
                    </a:cubicBezTo>
                    <a:cubicBezTo>
                      <a:pt x="564" y="25"/>
                      <a:pt x="561" y="65"/>
                      <a:pt x="556" y="112"/>
                    </a:cubicBezTo>
                    <a:cubicBezTo>
                      <a:pt x="556" y="114"/>
                      <a:pt x="556" y="116"/>
                      <a:pt x="555" y="118"/>
                    </a:cubicBezTo>
                    <a:cubicBezTo>
                      <a:pt x="550" y="167"/>
                      <a:pt x="527" y="173"/>
                      <a:pt x="466" y="208"/>
                    </a:cubicBezTo>
                    <a:cubicBezTo>
                      <a:pt x="391" y="271"/>
                      <a:pt x="287" y="259"/>
                      <a:pt x="235" y="219"/>
                    </a:cubicBezTo>
                    <a:cubicBezTo>
                      <a:pt x="229" y="214"/>
                      <a:pt x="223" y="207"/>
                      <a:pt x="218" y="199"/>
                    </a:cubicBezTo>
                    <a:cubicBezTo>
                      <a:pt x="160" y="199"/>
                      <a:pt x="160" y="199"/>
                      <a:pt x="160" y="199"/>
                    </a:cubicBezTo>
                    <a:cubicBezTo>
                      <a:pt x="114" y="225"/>
                      <a:pt x="114" y="225"/>
                      <a:pt x="114" y="225"/>
                    </a:cubicBezTo>
                    <a:cubicBezTo>
                      <a:pt x="114" y="225"/>
                      <a:pt x="77" y="213"/>
                      <a:pt x="68" y="225"/>
                    </a:cubicBezTo>
                    <a:cubicBezTo>
                      <a:pt x="59" y="236"/>
                      <a:pt x="13" y="303"/>
                      <a:pt x="42" y="317"/>
                    </a:cubicBezTo>
                    <a:cubicBezTo>
                      <a:pt x="71" y="332"/>
                      <a:pt x="100" y="332"/>
                      <a:pt x="120" y="317"/>
                    </a:cubicBezTo>
                    <a:cubicBezTo>
                      <a:pt x="140" y="303"/>
                      <a:pt x="143" y="320"/>
                      <a:pt x="143" y="343"/>
                    </a:cubicBezTo>
                    <a:cubicBezTo>
                      <a:pt x="143" y="364"/>
                      <a:pt x="148" y="409"/>
                      <a:pt x="179" y="446"/>
                    </a:cubicBezTo>
                    <a:cubicBezTo>
                      <a:pt x="182" y="449"/>
                      <a:pt x="186" y="452"/>
                      <a:pt x="189" y="456"/>
                    </a:cubicBezTo>
                    <a:cubicBezTo>
                      <a:pt x="229" y="493"/>
                      <a:pt x="229" y="508"/>
                      <a:pt x="229" y="554"/>
                    </a:cubicBezTo>
                    <a:cubicBezTo>
                      <a:pt x="229" y="600"/>
                      <a:pt x="195" y="684"/>
                      <a:pt x="143" y="698"/>
                    </a:cubicBezTo>
                    <a:cubicBezTo>
                      <a:pt x="91" y="712"/>
                      <a:pt x="88" y="747"/>
                      <a:pt x="88" y="804"/>
                    </a:cubicBezTo>
                    <a:cubicBezTo>
                      <a:pt x="88" y="805"/>
                      <a:pt x="88" y="805"/>
                      <a:pt x="88" y="805"/>
                    </a:cubicBezTo>
                    <a:cubicBezTo>
                      <a:pt x="69" y="826"/>
                      <a:pt x="38" y="844"/>
                      <a:pt x="0" y="852"/>
                    </a:cubicBezTo>
                    <a:cubicBezTo>
                      <a:pt x="25" y="878"/>
                      <a:pt x="73" y="928"/>
                      <a:pt x="91" y="946"/>
                    </a:cubicBezTo>
                    <a:cubicBezTo>
                      <a:pt x="111" y="966"/>
                      <a:pt x="134" y="984"/>
                      <a:pt x="157" y="992"/>
                    </a:cubicBezTo>
                    <a:cubicBezTo>
                      <a:pt x="180" y="1001"/>
                      <a:pt x="192" y="1035"/>
                      <a:pt x="218" y="1044"/>
                    </a:cubicBezTo>
                    <a:cubicBezTo>
                      <a:pt x="244" y="1053"/>
                      <a:pt x="290" y="1050"/>
                      <a:pt x="313" y="1047"/>
                    </a:cubicBezTo>
                    <a:cubicBezTo>
                      <a:pt x="336" y="1044"/>
                      <a:pt x="368" y="1041"/>
                      <a:pt x="374" y="1087"/>
                    </a:cubicBezTo>
                    <a:cubicBezTo>
                      <a:pt x="376" y="1104"/>
                      <a:pt x="392" y="1126"/>
                      <a:pt x="413" y="1149"/>
                    </a:cubicBezTo>
                    <a:cubicBezTo>
                      <a:pt x="427" y="1130"/>
                      <a:pt x="445" y="1105"/>
                      <a:pt x="469" y="1105"/>
                    </a:cubicBezTo>
                    <a:cubicBezTo>
                      <a:pt x="501" y="1105"/>
                      <a:pt x="529" y="1079"/>
                      <a:pt x="541" y="1059"/>
                    </a:cubicBezTo>
                    <a:cubicBezTo>
                      <a:pt x="553" y="1038"/>
                      <a:pt x="558" y="1047"/>
                      <a:pt x="584" y="1035"/>
                    </a:cubicBezTo>
                    <a:cubicBezTo>
                      <a:pt x="610" y="1024"/>
                      <a:pt x="587" y="1012"/>
                      <a:pt x="665" y="1012"/>
                    </a:cubicBezTo>
                    <a:cubicBezTo>
                      <a:pt x="672" y="1011"/>
                      <a:pt x="679" y="1009"/>
                      <a:pt x="687" y="1008"/>
                    </a:cubicBezTo>
                    <a:cubicBezTo>
                      <a:pt x="723" y="1001"/>
                      <a:pt x="764" y="994"/>
                      <a:pt x="795" y="986"/>
                    </a:cubicBezTo>
                    <a:cubicBezTo>
                      <a:pt x="824" y="980"/>
                      <a:pt x="864" y="936"/>
                      <a:pt x="916" y="879"/>
                    </a:cubicBezTo>
                    <a:cubicBezTo>
                      <a:pt x="913" y="876"/>
                      <a:pt x="912" y="870"/>
                      <a:pt x="912" y="86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50" name="Freeform 1825">
                <a:extLst>
                  <a:ext uri="{FF2B5EF4-FFF2-40B4-BE49-F238E27FC236}">
                    <a16:creationId xmlns:a16="http://schemas.microsoft.com/office/drawing/2014/main" id="{2F25E6A1-68D6-0CBD-6EA7-DB606872015E}"/>
                  </a:ext>
                </a:extLst>
              </p:cNvPr>
              <p:cNvSpPr>
                <a:spLocks/>
              </p:cNvSpPr>
              <p:nvPr/>
            </p:nvSpPr>
            <p:spPr bwMode="auto">
              <a:xfrm>
                <a:off x="2370" y="3172"/>
                <a:ext cx="189" cy="241"/>
              </a:xfrm>
              <a:custGeom>
                <a:avLst/>
                <a:gdLst>
                  <a:gd name="T0" fmla="*/ 810 w 853"/>
                  <a:gd name="T1" fmla="*/ 467 h 1090"/>
                  <a:gd name="T2" fmla="*/ 808 w 853"/>
                  <a:gd name="T3" fmla="*/ 457 h 1090"/>
                  <a:gd name="T4" fmla="*/ 755 w 853"/>
                  <a:gd name="T5" fmla="*/ 457 h 1090"/>
                  <a:gd name="T6" fmla="*/ 623 w 853"/>
                  <a:gd name="T7" fmla="*/ 344 h 1090"/>
                  <a:gd name="T8" fmla="*/ 507 w 853"/>
                  <a:gd name="T9" fmla="*/ 304 h 1090"/>
                  <a:gd name="T10" fmla="*/ 366 w 853"/>
                  <a:gd name="T11" fmla="*/ 255 h 1090"/>
                  <a:gd name="T12" fmla="*/ 311 w 853"/>
                  <a:gd name="T13" fmla="*/ 67 h 1090"/>
                  <a:gd name="T14" fmla="*/ 239 w 853"/>
                  <a:gd name="T15" fmla="*/ 10 h 1090"/>
                  <a:gd name="T16" fmla="*/ 205 w 853"/>
                  <a:gd name="T17" fmla="*/ 3 h 1090"/>
                  <a:gd name="T18" fmla="*/ 181 w 853"/>
                  <a:gd name="T19" fmla="*/ 18 h 1090"/>
                  <a:gd name="T20" fmla="*/ 168 w 853"/>
                  <a:gd name="T21" fmla="*/ 55 h 1090"/>
                  <a:gd name="T22" fmla="*/ 178 w 853"/>
                  <a:gd name="T23" fmla="*/ 119 h 1090"/>
                  <a:gd name="T24" fmla="*/ 164 w 853"/>
                  <a:gd name="T25" fmla="*/ 209 h 1090"/>
                  <a:gd name="T26" fmla="*/ 109 w 853"/>
                  <a:gd name="T27" fmla="*/ 367 h 1090"/>
                  <a:gd name="T28" fmla="*/ 167 w 853"/>
                  <a:gd name="T29" fmla="*/ 523 h 1090"/>
                  <a:gd name="T30" fmla="*/ 155 w 853"/>
                  <a:gd name="T31" fmla="*/ 604 h 1090"/>
                  <a:gd name="T32" fmla="*/ 57 w 853"/>
                  <a:gd name="T33" fmla="*/ 659 h 1090"/>
                  <a:gd name="T34" fmla="*/ 2 w 853"/>
                  <a:gd name="T35" fmla="*/ 711 h 1090"/>
                  <a:gd name="T36" fmla="*/ 21 w 853"/>
                  <a:gd name="T37" fmla="*/ 786 h 1090"/>
                  <a:gd name="T38" fmla="*/ 95 w 853"/>
                  <a:gd name="T39" fmla="*/ 786 h 1090"/>
                  <a:gd name="T40" fmla="*/ 138 w 853"/>
                  <a:gd name="T41" fmla="*/ 820 h 1090"/>
                  <a:gd name="T42" fmla="*/ 181 w 853"/>
                  <a:gd name="T43" fmla="*/ 881 h 1090"/>
                  <a:gd name="T44" fmla="*/ 227 w 853"/>
                  <a:gd name="T45" fmla="*/ 878 h 1090"/>
                  <a:gd name="T46" fmla="*/ 236 w 853"/>
                  <a:gd name="T47" fmla="*/ 953 h 1090"/>
                  <a:gd name="T48" fmla="*/ 288 w 853"/>
                  <a:gd name="T49" fmla="*/ 996 h 1090"/>
                  <a:gd name="T50" fmla="*/ 392 w 853"/>
                  <a:gd name="T51" fmla="*/ 1042 h 1090"/>
                  <a:gd name="T52" fmla="*/ 424 w 853"/>
                  <a:gd name="T53" fmla="*/ 1080 h 1090"/>
                  <a:gd name="T54" fmla="*/ 467 w 853"/>
                  <a:gd name="T55" fmla="*/ 1089 h 1090"/>
                  <a:gd name="T56" fmla="*/ 548 w 853"/>
                  <a:gd name="T57" fmla="*/ 1058 h 1090"/>
                  <a:gd name="T58" fmla="*/ 587 w 853"/>
                  <a:gd name="T59" fmla="*/ 1047 h 1090"/>
                  <a:gd name="T60" fmla="*/ 594 w 853"/>
                  <a:gd name="T61" fmla="*/ 1012 h 1090"/>
                  <a:gd name="T62" fmla="*/ 582 w 853"/>
                  <a:gd name="T63" fmla="*/ 986 h 1090"/>
                  <a:gd name="T64" fmla="*/ 601 w 853"/>
                  <a:gd name="T65" fmla="*/ 918 h 1090"/>
                  <a:gd name="T66" fmla="*/ 598 w 853"/>
                  <a:gd name="T67" fmla="*/ 861 h 1090"/>
                  <a:gd name="T68" fmla="*/ 587 w 853"/>
                  <a:gd name="T69" fmla="*/ 817 h 1090"/>
                  <a:gd name="T70" fmla="*/ 607 w 853"/>
                  <a:gd name="T71" fmla="*/ 812 h 1090"/>
                  <a:gd name="T72" fmla="*/ 610 w 853"/>
                  <a:gd name="T73" fmla="*/ 792 h 1090"/>
                  <a:gd name="T74" fmla="*/ 597 w 853"/>
                  <a:gd name="T75" fmla="*/ 781 h 1090"/>
                  <a:gd name="T76" fmla="*/ 595 w 853"/>
                  <a:gd name="T77" fmla="*/ 738 h 1090"/>
                  <a:gd name="T78" fmla="*/ 564 w 853"/>
                  <a:gd name="T79" fmla="*/ 706 h 1090"/>
                  <a:gd name="T80" fmla="*/ 568 w 853"/>
                  <a:gd name="T81" fmla="*/ 682 h 1090"/>
                  <a:gd name="T82" fmla="*/ 607 w 853"/>
                  <a:gd name="T83" fmla="*/ 678 h 1090"/>
                  <a:gd name="T84" fmla="*/ 621 w 853"/>
                  <a:gd name="T85" fmla="*/ 693 h 1090"/>
                  <a:gd name="T86" fmla="*/ 621 w 853"/>
                  <a:gd name="T87" fmla="*/ 742 h 1090"/>
                  <a:gd name="T88" fmla="*/ 686 w 853"/>
                  <a:gd name="T89" fmla="*/ 757 h 1090"/>
                  <a:gd name="T90" fmla="*/ 698 w 853"/>
                  <a:gd name="T91" fmla="*/ 783 h 1090"/>
                  <a:gd name="T92" fmla="*/ 729 w 853"/>
                  <a:gd name="T93" fmla="*/ 784 h 1090"/>
                  <a:gd name="T94" fmla="*/ 760 w 853"/>
                  <a:gd name="T95" fmla="*/ 744 h 1090"/>
                  <a:gd name="T96" fmla="*/ 810 w 853"/>
                  <a:gd name="T97" fmla="*/ 646 h 1090"/>
                  <a:gd name="T98" fmla="*/ 833 w 853"/>
                  <a:gd name="T99" fmla="*/ 578 h 1090"/>
                  <a:gd name="T100" fmla="*/ 848 w 853"/>
                  <a:gd name="T101" fmla="*/ 575 h 1090"/>
                  <a:gd name="T102" fmla="*/ 853 w 853"/>
                  <a:gd name="T103" fmla="*/ 533 h 1090"/>
                  <a:gd name="T104" fmla="*/ 810 w 853"/>
                  <a:gd name="T105" fmla="*/ 467 h 10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853" h="1090">
                    <a:moveTo>
                      <a:pt x="810" y="467"/>
                    </a:moveTo>
                    <a:cubicBezTo>
                      <a:pt x="809" y="464"/>
                      <a:pt x="808" y="460"/>
                      <a:pt x="808" y="457"/>
                    </a:cubicBezTo>
                    <a:cubicBezTo>
                      <a:pt x="789" y="455"/>
                      <a:pt x="772" y="455"/>
                      <a:pt x="755" y="457"/>
                    </a:cubicBezTo>
                    <a:cubicBezTo>
                      <a:pt x="654" y="480"/>
                      <a:pt x="626" y="370"/>
                      <a:pt x="623" y="344"/>
                    </a:cubicBezTo>
                    <a:cubicBezTo>
                      <a:pt x="620" y="318"/>
                      <a:pt x="562" y="307"/>
                      <a:pt x="507" y="304"/>
                    </a:cubicBezTo>
                    <a:cubicBezTo>
                      <a:pt x="452" y="301"/>
                      <a:pt x="386" y="269"/>
                      <a:pt x="366" y="255"/>
                    </a:cubicBezTo>
                    <a:cubicBezTo>
                      <a:pt x="346" y="241"/>
                      <a:pt x="331" y="111"/>
                      <a:pt x="311" y="67"/>
                    </a:cubicBezTo>
                    <a:cubicBezTo>
                      <a:pt x="291" y="24"/>
                      <a:pt x="265" y="18"/>
                      <a:pt x="239" y="10"/>
                    </a:cubicBezTo>
                    <a:cubicBezTo>
                      <a:pt x="223" y="5"/>
                      <a:pt x="215" y="0"/>
                      <a:pt x="205" y="3"/>
                    </a:cubicBezTo>
                    <a:cubicBezTo>
                      <a:pt x="199" y="5"/>
                      <a:pt x="192" y="9"/>
                      <a:pt x="181" y="18"/>
                    </a:cubicBezTo>
                    <a:cubicBezTo>
                      <a:pt x="169" y="29"/>
                      <a:pt x="167" y="41"/>
                      <a:pt x="168" y="55"/>
                    </a:cubicBezTo>
                    <a:cubicBezTo>
                      <a:pt x="169" y="72"/>
                      <a:pt x="175" y="92"/>
                      <a:pt x="178" y="119"/>
                    </a:cubicBezTo>
                    <a:cubicBezTo>
                      <a:pt x="184" y="171"/>
                      <a:pt x="164" y="209"/>
                      <a:pt x="164" y="209"/>
                    </a:cubicBezTo>
                    <a:cubicBezTo>
                      <a:pt x="164" y="209"/>
                      <a:pt x="150" y="272"/>
                      <a:pt x="109" y="367"/>
                    </a:cubicBezTo>
                    <a:cubicBezTo>
                      <a:pt x="69" y="463"/>
                      <a:pt x="106" y="474"/>
                      <a:pt x="167" y="523"/>
                    </a:cubicBezTo>
                    <a:cubicBezTo>
                      <a:pt x="227" y="572"/>
                      <a:pt x="155" y="604"/>
                      <a:pt x="155" y="604"/>
                    </a:cubicBezTo>
                    <a:cubicBezTo>
                      <a:pt x="57" y="659"/>
                      <a:pt x="57" y="659"/>
                      <a:pt x="57" y="659"/>
                    </a:cubicBezTo>
                    <a:cubicBezTo>
                      <a:pt x="57" y="659"/>
                      <a:pt x="8" y="682"/>
                      <a:pt x="2" y="711"/>
                    </a:cubicBezTo>
                    <a:cubicBezTo>
                      <a:pt x="0" y="759"/>
                      <a:pt x="26" y="767"/>
                      <a:pt x="21" y="786"/>
                    </a:cubicBezTo>
                    <a:cubicBezTo>
                      <a:pt x="95" y="786"/>
                      <a:pt x="95" y="786"/>
                      <a:pt x="95" y="786"/>
                    </a:cubicBezTo>
                    <a:cubicBezTo>
                      <a:pt x="95" y="786"/>
                      <a:pt x="112" y="794"/>
                      <a:pt x="138" y="820"/>
                    </a:cubicBezTo>
                    <a:cubicBezTo>
                      <a:pt x="164" y="846"/>
                      <a:pt x="181" y="881"/>
                      <a:pt x="181" y="881"/>
                    </a:cubicBezTo>
                    <a:cubicBezTo>
                      <a:pt x="181" y="881"/>
                      <a:pt x="222" y="869"/>
                      <a:pt x="227" y="878"/>
                    </a:cubicBezTo>
                    <a:cubicBezTo>
                      <a:pt x="233" y="887"/>
                      <a:pt x="236" y="924"/>
                      <a:pt x="236" y="953"/>
                    </a:cubicBezTo>
                    <a:cubicBezTo>
                      <a:pt x="236" y="982"/>
                      <a:pt x="251" y="991"/>
                      <a:pt x="288" y="996"/>
                    </a:cubicBezTo>
                    <a:cubicBezTo>
                      <a:pt x="326" y="1002"/>
                      <a:pt x="389" y="1028"/>
                      <a:pt x="392" y="1042"/>
                    </a:cubicBezTo>
                    <a:cubicBezTo>
                      <a:pt x="393" y="1048"/>
                      <a:pt x="407" y="1063"/>
                      <a:pt x="424" y="1080"/>
                    </a:cubicBezTo>
                    <a:cubicBezTo>
                      <a:pt x="436" y="1084"/>
                      <a:pt x="454" y="1090"/>
                      <a:pt x="467" y="1089"/>
                    </a:cubicBezTo>
                    <a:cubicBezTo>
                      <a:pt x="486" y="1087"/>
                      <a:pt x="532" y="1074"/>
                      <a:pt x="548" y="1058"/>
                    </a:cubicBezTo>
                    <a:cubicBezTo>
                      <a:pt x="564" y="1042"/>
                      <a:pt x="587" y="1047"/>
                      <a:pt x="587" y="1047"/>
                    </a:cubicBezTo>
                    <a:cubicBezTo>
                      <a:pt x="594" y="1012"/>
                      <a:pt x="594" y="1012"/>
                      <a:pt x="594" y="1012"/>
                    </a:cubicBezTo>
                    <a:cubicBezTo>
                      <a:pt x="594" y="1012"/>
                      <a:pt x="569" y="999"/>
                      <a:pt x="582" y="986"/>
                    </a:cubicBezTo>
                    <a:cubicBezTo>
                      <a:pt x="595" y="973"/>
                      <a:pt x="601" y="956"/>
                      <a:pt x="601" y="918"/>
                    </a:cubicBezTo>
                    <a:cubicBezTo>
                      <a:pt x="601" y="881"/>
                      <a:pt x="598" y="861"/>
                      <a:pt x="598" y="861"/>
                    </a:cubicBezTo>
                    <a:cubicBezTo>
                      <a:pt x="587" y="817"/>
                      <a:pt x="587" y="817"/>
                      <a:pt x="587" y="817"/>
                    </a:cubicBezTo>
                    <a:cubicBezTo>
                      <a:pt x="607" y="812"/>
                      <a:pt x="607" y="812"/>
                      <a:pt x="607" y="812"/>
                    </a:cubicBezTo>
                    <a:cubicBezTo>
                      <a:pt x="610" y="792"/>
                      <a:pt x="610" y="792"/>
                      <a:pt x="610" y="792"/>
                    </a:cubicBezTo>
                    <a:cubicBezTo>
                      <a:pt x="597" y="781"/>
                      <a:pt x="597" y="781"/>
                      <a:pt x="597" y="781"/>
                    </a:cubicBezTo>
                    <a:cubicBezTo>
                      <a:pt x="595" y="738"/>
                      <a:pt x="595" y="738"/>
                      <a:pt x="595" y="738"/>
                    </a:cubicBezTo>
                    <a:cubicBezTo>
                      <a:pt x="564" y="706"/>
                      <a:pt x="564" y="706"/>
                      <a:pt x="564" y="706"/>
                    </a:cubicBezTo>
                    <a:cubicBezTo>
                      <a:pt x="568" y="682"/>
                      <a:pt x="568" y="682"/>
                      <a:pt x="568" y="682"/>
                    </a:cubicBezTo>
                    <a:cubicBezTo>
                      <a:pt x="607" y="678"/>
                      <a:pt x="607" y="678"/>
                      <a:pt x="607" y="678"/>
                    </a:cubicBezTo>
                    <a:cubicBezTo>
                      <a:pt x="621" y="693"/>
                      <a:pt x="621" y="693"/>
                      <a:pt x="621" y="693"/>
                    </a:cubicBezTo>
                    <a:cubicBezTo>
                      <a:pt x="621" y="742"/>
                      <a:pt x="621" y="742"/>
                      <a:pt x="621" y="742"/>
                    </a:cubicBezTo>
                    <a:cubicBezTo>
                      <a:pt x="686" y="757"/>
                      <a:pt x="686" y="757"/>
                      <a:pt x="686" y="757"/>
                    </a:cubicBezTo>
                    <a:cubicBezTo>
                      <a:pt x="698" y="783"/>
                      <a:pt x="698" y="783"/>
                      <a:pt x="698" y="783"/>
                    </a:cubicBezTo>
                    <a:cubicBezTo>
                      <a:pt x="729" y="784"/>
                      <a:pt x="729" y="784"/>
                      <a:pt x="729" y="784"/>
                    </a:cubicBezTo>
                    <a:cubicBezTo>
                      <a:pt x="729" y="784"/>
                      <a:pt x="748" y="764"/>
                      <a:pt x="760" y="744"/>
                    </a:cubicBezTo>
                    <a:cubicBezTo>
                      <a:pt x="771" y="724"/>
                      <a:pt x="807" y="670"/>
                      <a:pt x="810" y="646"/>
                    </a:cubicBezTo>
                    <a:cubicBezTo>
                      <a:pt x="813" y="621"/>
                      <a:pt x="833" y="578"/>
                      <a:pt x="833" y="578"/>
                    </a:cubicBezTo>
                    <a:cubicBezTo>
                      <a:pt x="848" y="575"/>
                      <a:pt x="848" y="575"/>
                      <a:pt x="848" y="575"/>
                    </a:cubicBezTo>
                    <a:cubicBezTo>
                      <a:pt x="853" y="533"/>
                      <a:pt x="853" y="533"/>
                      <a:pt x="853" y="533"/>
                    </a:cubicBezTo>
                    <a:cubicBezTo>
                      <a:pt x="853" y="533"/>
                      <a:pt x="809" y="503"/>
                      <a:pt x="810" y="46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51" name="Freeform 1826">
                <a:extLst>
                  <a:ext uri="{FF2B5EF4-FFF2-40B4-BE49-F238E27FC236}">
                    <a16:creationId xmlns:a16="http://schemas.microsoft.com/office/drawing/2014/main" id="{F9E9434B-DF0B-240F-E35B-E156EB156140}"/>
                  </a:ext>
                </a:extLst>
              </p:cNvPr>
              <p:cNvSpPr>
                <a:spLocks/>
              </p:cNvSpPr>
              <p:nvPr/>
            </p:nvSpPr>
            <p:spPr bwMode="auto">
              <a:xfrm>
                <a:off x="2075" y="2850"/>
                <a:ext cx="419" cy="332"/>
              </a:xfrm>
              <a:custGeom>
                <a:avLst/>
                <a:gdLst>
                  <a:gd name="T0" fmla="*/ 1859 w 1898"/>
                  <a:gd name="T1" fmla="*/ 701 h 1500"/>
                  <a:gd name="T2" fmla="*/ 1798 w 1898"/>
                  <a:gd name="T3" fmla="*/ 661 h 1500"/>
                  <a:gd name="T4" fmla="*/ 1703 w 1898"/>
                  <a:gd name="T5" fmla="*/ 658 h 1500"/>
                  <a:gd name="T6" fmla="*/ 1642 w 1898"/>
                  <a:gd name="T7" fmla="*/ 606 h 1500"/>
                  <a:gd name="T8" fmla="*/ 1576 w 1898"/>
                  <a:gd name="T9" fmla="*/ 560 h 1500"/>
                  <a:gd name="T10" fmla="*/ 1485 w 1898"/>
                  <a:gd name="T11" fmla="*/ 466 h 1500"/>
                  <a:gd name="T12" fmla="*/ 1475 w 1898"/>
                  <a:gd name="T13" fmla="*/ 456 h 1500"/>
                  <a:gd name="T14" fmla="*/ 1279 w 1898"/>
                  <a:gd name="T15" fmla="*/ 430 h 1500"/>
                  <a:gd name="T16" fmla="*/ 1210 w 1898"/>
                  <a:gd name="T17" fmla="*/ 309 h 1500"/>
                  <a:gd name="T18" fmla="*/ 1112 w 1898"/>
                  <a:gd name="T19" fmla="*/ 197 h 1500"/>
                  <a:gd name="T20" fmla="*/ 1077 w 1898"/>
                  <a:gd name="T21" fmla="*/ 101 h 1500"/>
                  <a:gd name="T22" fmla="*/ 976 w 1898"/>
                  <a:gd name="T23" fmla="*/ 64 h 1500"/>
                  <a:gd name="T24" fmla="*/ 872 w 1898"/>
                  <a:gd name="T25" fmla="*/ 26 h 1500"/>
                  <a:gd name="T26" fmla="*/ 737 w 1898"/>
                  <a:gd name="T27" fmla="*/ 0 h 1500"/>
                  <a:gd name="T28" fmla="*/ 587 w 1898"/>
                  <a:gd name="T29" fmla="*/ 35 h 1500"/>
                  <a:gd name="T30" fmla="*/ 477 w 1898"/>
                  <a:gd name="T31" fmla="*/ 26 h 1500"/>
                  <a:gd name="T32" fmla="*/ 399 w 1898"/>
                  <a:gd name="T33" fmla="*/ 21 h 1500"/>
                  <a:gd name="T34" fmla="*/ 310 w 1898"/>
                  <a:gd name="T35" fmla="*/ 52 h 1500"/>
                  <a:gd name="T36" fmla="*/ 238 w 1898"/>
                  <a:gd name="T37" fmla="*/ 75 h 1500"/>
                  <a:gd name="T38" fmla="*/ 162 w 1898"/>
                  <a:gd name="T39" fmla="*/ 122 h 1500"/>
                  <a:gd name="T40" fmla="*/ 132 w 1898"/>
                  <a:gd name="T41" fmla="*/ 201 h 1500"/>
                  <a:gd name="T42" fmla="*/ 38 w 1898"/>
                  <a:gd name="T43" fmla="*/ 383 h 1500"/>
                  <a:gd name="T44" fmla="*/ 28 w 1898"/>
                  <a:gd name="T45" fmla="*/ 410 h 1500"/>
                  <a:gd name="T46" fmla="*/ 33 w 1898"/>
                  <a:gd name="T47" fmla="*/ 629 h 1500"/>
                  <a:gd name="T48" fmla="*/ 40 w 1898"/>
                  <a:gd name="T49" fmla="*/ 647 h 1500"/>
                  <a:gd name="T50" fmla="*/ 186 w 1898"/>
                  <a:gd name="T51" fmla="*/ 698 h 1500"/>
                  <a:gd name="T52" fmla="*/ 341 w 1898"/>
                  <a:gd name="T53" fmla="*/ 684 h 1500"/>
                  <a:gd name="T54" fmla="*/ 457 w 1898"/>
                  <a:gd name="T55" fmla="*/ 713 h 1500"/>
                  <a:gd name="T56" fmla="*/ 529 w 1898"/>
                  <a:gd name="T57" fmla="*/ 811 h 1500"/>
                  <a:gd name="T58" fmla="*/ 555 w 1898"/>
                  <a:gd name="T59" fmla="*/ 883 h 1500"/>
                  <a:gd name="T60" fmla="*/ 575 w 1898"/>
                  <a:gd name="T61" fmla="*/ 932 h 1500"/>
                  <a:gd name="T62" fmla="*/ 543 w 1898"/>
                  <a:gd name="T63" fmla="*/ 998 h 1500"/>
                  <a:gd name="T64" fmla="*/ 558 w 1898"/>
                  <a:gd name="T65" fmla="*/ 1027 h 1500"/>
                  <a:gd name="T66" fmla="*/ 644 w 1898"/>
                  <a:gd name="T67" fmla="*/ 1094 h 1500"/>
                  <a:gd name="T68" fmla="*/ 618 w 1898"/>
                  <a:gd name="T69" fmla="*/ 1143 h 1500"/>
                  <a:gd name="T70" fmla="*/ 566 w 1898"/>
                  <a:gd name="T71" fmla="*/ 1221 h 1500"/>
                  <a:gd name="T72" fmla="*/ 641 w 1898"/>
                  <a:gd name="T73" fmla="*/ 1324 h 1500"/>
                  <a:gd name="T74" fmla="*/ 754 w 1898"/>
                  <a:gd name="T75" fmla="*/ 1397 h 1500"/>
                  <a:gd name="T76" fmla="*/ 786 w 1898"/>
                  <a:gd name="T77" fmla="*/ 1453 h 1500"/>
                  <a:gd name="T78" fmla="*/ 869 w 1898"/>
                  <a:gd name="T79" fmla="*/ 1469 h 1500"/>
                  <a:gd name="T80" fmla="*/ 939 w 1898"/>
                  <a:gd name="T81" fmla="*/ 1474 h 1500"/>
                  <a:gd name="T82" fmla="*/ 1060 w 1898"/>
                  <a:gd name="T83" fmla="*/ 1391 h 1500"/>
                  <a:gd name="T84" fmla="*/ 1184 w 1898"/>
                  <a:gd name="T85" fmla="*/ 1353 h 1500"/>
                  <a:gd name="T86" fmla="*/ 1273 w 1898"/>
                  <a:gd name="T87" fmla="*/ 1330 h 1500"/>
                  <a:gd name="T88" fmla="*/ 1406 w 1898"/>
                  <a:gd name="T89" fmla="*/ 1344 h 1500"/>
                  <a:gd name="T90" fmla="*/ 1455 w 1898"/>
                  <a:gd name="T91" fmla="*/ 1319 h 1500"/>
                  <a:gd name="T92" fmla="*/ 1498 w 1898"/>
                  <a:gd name="T93" fmla="*/ 1273 h 1500"/>
                  <a:gd name="T94" fmla="*/ 1469 w 1898"/>
                  <a:gd name="T95" fmla="*/ 1154 h 1500"/>
                  <a:gd name="T96" fmla="*/ 1582 w 1898"/>
                  <a:gd name="T97" fmla="*/ 1062 h 1500"/>
                  <a:gd name="T98" fmla="*/ 1686 w 1898"/>
                  <a:gd name="T99" fmla="*/ 1082 h 1500"/>
                  <a:gd name="T100" fmla="*/ 1717 w 1898"/>
                  <a:gd name="T101" fmla="*/ 1045 h 1500"/>
                  <a:gd name="T102" fmla="*/ 1714 w 1898"/>
                  <a:gd name="T103" fmla="*/ 883 h 1500"/>
                  <a:gd name="T104" fmla="*/ 1784 w 1898"/>
                  <a:gd name="T105" fmla="*/ 827 h 1500"/>
                  <a:gd name="T106" fmla="*/ 1789 w 1898"/>
                  <a:gd name="T107" fmla="*/ 823 h 1500"/>
                  <a:gd name="T108" fmla="*/ 1885 w 1898"/>
                  <a:gd name="T109" fmla="*/ 779 h 1500"/>
                  <a:gd name="T110" fmla="*/ 1898 w 1898"/>
                  <a:gd name="T111" fmla="*/ 763 h 1500"/>
                  <a:gd name="T112" fmla="*/ 1859 w 1898"/>
                  <a:gd name="T113" fmla="*/ 701 h 15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1898" h="1500">
                    <a:moveTo>
                      <a:pt x="1859" y="701"/>
                    </a:moveTo>
                    <a:cubicBezTo>
                      <a:pt x="1853" y="655"/>
                      <a:pt x="1821" y="658"/>
                      <a:pt x="1798" y="661"/>
                    </a:cubicBezTo>
                    <a:cubicBezTo>
                      <a:pt x="1775" y="664"/>
                      <a:pt x="1729" y="667"/>
                      <a:pt x="1703" y="658"/>
                    </a:cubicBezTo>
                    <a:cubicBezTo>
                      <a:pt x="1677" y="649"/>
                      <a:pt x="1665" y="615"/>
                      <a:pt x="1642" y="606"/>
                    </a:cubicBezTo>
                    <a:cubicBezTo>
                      <a:pt x="1619" y="598"/>
                      <a:pt x="1596" y="580"/>
                      <a:pt x="1576" y="560"/>
                    </a:cubicBezTo>
                    <a:cubicBezTo>
                      <a:pt x="1558" y="542"/>
                      <a:pt x="1510" y="492"/>
                      <a:pt x="1485" y="466"/>
                    </a:cubicBezTo>
                    <a:cubicBezTo>
                      <a:pt x="1481" y="462"/>
                      <a:pt x="1478" y="459"/>
                      <a:pt x="1475" y="456"/>
                    </a:cubicBezTo>
                    <a:cubicBezTo>
                      <a:pt x="1455" y="436"/>
                      <a:pt x="1331" y="436"/>
                      <a:pt x="1279" y="430"/>
                    </a:cubicBezTo>
                    <a:cubicBezTo>
                      <a:pt x="1275" y="402"/>
                      <a:pt x="1245" y="355"/>
                      <a:pt x="1210" y="309"/>
                    </a:cubicBezTo>
                    <a:cubicBezTo>
                      <a:pt x="1174" y="262"/>
                      <a:pt x="1134" y="217"/>
                      <a:pt x="1112" y="197"/>
                    </a:cubicBezTo>
                    <a:cubicBezTo>
                      <a:pt x="1100" y="165"/>
                      <a:pt x="1103" y="122"/>
                      <a:pt x="1077" y="101"/>
                    </a:cubicBezTo>
                    <a:cubicBezTo>
                      <a:pt x="1051" y="81"/>
                      <a:pt x="1014" y="64"/>
                      <a:pt x="976" y="64"/>
                    </a:cubicBezTo>
                    <a:cubicBezTo>
                      <a:pt x="939" y="64"/>
                      <a:pt x="918" y="47"/>
                      <a:pt x="872" y="26"/>
                    </a:cubicBezTo>
                    <a:cubicBezTo>
                      <a:pt x="826" y="6"/>
                      <a:pt x="791" y="0"/>
                      <a:pt x="737" y="0"/>
                    </a:cubicBezTo>
                    <a:cubicBezTo>
                      <a:pt x="682" y="0"/>
                      <a:pt x="624" y="26"/>
                      <a:pt x="587" y="35"/>
                    </a:cubicBezTo>
                    <a:cubicBezTo>
                      <a:pt x="549" y="44"/>
                      <a:pt x="506" y="32"/>
                      <a:pt x="477" y="26"/>
                    </a:cubicBezTo>
                    <a:cubicBezTo>
                      <a:pt x="448" y="21"/>
                      <a:pt x="414" y="6"/>
                      <a:pt x="399" y="21"/>
                    </a:cubicBezTo>
                    <a:cubicBezTo>
                      <a:pt x="385" y="35"/>
                      <a:pt x="350" y="52"/>
                      <a:pt x="310" y="52"/>
                    </a:cubicBezTo>
                    <a:cubicBezTo>
                      <a:pt x="269" y="52"/>
                      <a:pt x="272" y="61"/>
                      <a:pt x="238" y="75"/>
                    </a:cubicBezTo>
                    <a:cubicBezTo>
                      <a:pt x="219" y="83"/>
                      <a:pt x="188" y="104"/>
                      <a:pt x="162" y="122"/>
                    </a:cubicBezTo>
                    <a:cubicBezTo>
                      <a:pt x="151" y="156"/>
                      <a:pt x="139" y="184"/>
                      <a:pt x="132" y="201"/>
                    </a:cubicBezTo>
                    <a:cubicBezTo>
                      <a:pt x="117" y="234"/>
                      <a:pt x="61" y="331"/>
                      <a:pt x="38" y="383"/>
                    </a:cubicBezTo>
                    <a:cubicBezTo>
                      <a:pt x="33" y="395"/>
                      <a:pt x="29" y="404"/>
                      <a:pt x="28" y="410"/>
                    </a:cubicBezTo>
                    <a:cubicBezTo>
                      <a:pt x="21" y="441"/>
                      <a:pt x="0" y="542"/>
                      <a:pt x="33" y="629"/>
                    </a:cubicBezTo>
                    <a:cubicBezTo>
                      <a:pt x="35" y="635"/>
                      <a:pt x="38" y="641"/>
                      <a:pt x="40" y="647"/>
                    </a:cubicBezTo>
                    <a:cubicBezTo>
                      <a:pt x="86" y="668"/>
                      <a:pt x="156" y="698"/>
                      <a:pt x="186" y="698"/>
                    </a:cubicBezTo>
                    <a:cubicBezTo>
                      <a:pt x="232" y="698"/>
                      <a:pt x="310" y="684"/>
                      <a:pt x="341" y="684"/>
                    </a:cubicBezTo>
                    <a:cubicBezTo>
                      <a:pt x="373" y="684"/>
                      <a:pt x="431" y="693"/>
                      <a:pt x="457" y="713"/>
                    </a:cubicBezTo>
                    <a:cubicBezTo>
                      <a:pt x="483" y="733"/>
                      <a:pt x="526" y="785"/>
                      <a:pt x="529" y="811"/>
                    </a:cubicBezTo>
                    <a:cubicBezTo>
                      <a:pt x="532" y="837"/>
                      <a:pt x="535" y="863"/>
                      <a:pt x="555" y="883"/>
                    </a:cubicBezTo>
                    <a:cubicBezTo>
                      <a:pt x="575" y="903"/>
                      <a:pt x="575" y="909"/>
                      <a:pt x="575" y="932"/>
                    </a:cubicBezTo>
                    <a:cubicBezTo>
                      <a:pt x="575" y="955"/>
                      <a:pt x="543" y="998"/>
                      <a:pt x="543" y="998"/>
                    </a:cubicBezTo>
                    <a:cubicBezTo>
                      <a:pt x="543" y="998"/>
                      <a:pt x="517" y="1010"/>
                      <a:pt x="558" y="1027"/>
                    </a:cubicBezTo>
                    <a:cubicBezTo>
                      <a:pt x="598" y="1045"/>
                      <a:pt x="644" y="1068"/>
                      <a:pt x="644" y="1094"/>
                    </a:cubicBezTo>
                    <a:cubicBezTo>
                      <a:pt x="644" y="1120"/>
                      <a:pt x="638" y="1143"/>
                      <a:pt x="618" y="1143"/>
                    </a:cubicBezTo>
                    <a:cubicBezTo>
                      <a:pt x="598" y="1143"/>
                      <a:pt x="555" y="1143"/>
                      <a:pt x="566" y="1221"/>
                    </a:cubicBezTo>
                    <a:cubicBezTo>
                      <a:pt x="578" y="1298"/>
                      <a:pt x="610" y="1313"/>
                      <a:pt x="641" y="1324"/>
                    </a:cubicBezTo>
                    <a:cubicBezTo>
                      <a:pt x="673" y="1336"/>
                      <a:pt x="714" y="1336"/>
                      <a:pt x="754" y="1397"/>
                    </a:cubicBezTo>
                    <a:cubicBezTo>
                      <a:pt x="769" y="1419"/>
                      <a:pt x="779" y="1438"/>
                      <a:pt x="786" y="1453"/>
                    </a:cubicBezTo>
                    <a:cubicBezTo>
                      <a:pt x="815" y="1455"/>
                      <a:pt x="852" y="1459"/>
                      <a:pt x="869" y="1469"/>
                    </a:cubicBezTo>
                    <a:cubicBezTo>
                      <a:pt x="901" y="1486"/>
                      <a:pt x="910" y="1500"/>
                      <a:pt x="939" y="1474"/>
                    </a:cubicBezTo>
                    <a:cubicBezTo>
                      <a:pt x="967" y="1448"/>
                      <a:pt x="1022" y="1394"/>
                      <a:pt x="1060" y="1391"/>
                    </a:cubicBezTo>
                    <a:cubicBezTo>
                      <a:pt x="1097" y="1388"/>
                      <a:pt x="1158" y="1376"/>
                      <a:pt x="1184" y="1353"/>
                    </a:cubicBezTo>
                    <a:cubicBezTo>
                      <a:pt x="1210" y="1330"/>
                      <a:pt x="1201" y="1319"/>
                      <a:pt x="1273" y="1330"/>
                    </a:cubicBezTo>
                    <a:cubicBezTo>
                      <a:pt x="1322" y="1338"/>
                      <a:pt x="1368" y="1351"/>
                      <a:pt x="1406" y="1344"/>
                    </a:cubicBezTo>
                    <a:cubicBezTo>
                      <a:pt x="1424" y="1341"/>
                      <a:pt x="1441" y="1334"/>
                      <a:pt x="1455" y="1319"/>
                    </a:cubicBezTo>
                    <a:cubicBezTo>
                      <a:pt x="1498" y="1273"/>
                      <a:pt x="1498" y="1273"/>
                      <a:pt x="1498" y="1273"/>
                    </a:cubicBezTo>
                    <a:cubicBezTo>
                      <a:pt x="1498" y="1273"/>
                      <a:pt x="1455" y="1212"/>
                      <a:pt x="1469" y="1154"/>
                    </a:cubicBezTo>
                    <a:cubicBezTo>
                      <a:pt x="1484" y="1097"/>
                      <a:pt x="1489" y="1091"/>
                      <a:pt x="1582" y="1062"/>
                    </a:cubicBezTo>
                    <a:cubicBezTo>
                      <a:pt x="1631" y="1068"/>
                      <a:pt x="1671" y="1082"/>
                      <a:pt x="1686" y="1082"/>
                    </a:cubicBezTo>
                    <a:cubicBezTo>
                      <a:pt x="1700" y="1082"/>
                      <a:pt x="1714" y="1094"/>
                      <a:pt x="1717" y="1045"/>
                    </a:cubicBezTo>
                    <a:cubicBezTo>
                      <a:pt x="1720" y="996"/>
                      <a:pt x="1714" y="883"/>
                      <a:pt x="1714" y="883"/>
                    </a:cubicBezTo>
                    <a:cubicBezTo>
                      <a:pt x="1784" y="827"/>
                      <a:pt x="1784" y="827"/>
                      <a:pt x="1784" y="827"/>
                    </a:cubicBezTo>
                    <a:cubicBezTo>
                      <a:pt x="1789" y="823"/>
                      <a:pt x="1789" y="823"/>
                      <a:pt x="1789" y="823"/>
                    </a:cubicBezTo>
                    <a:cubicBezTo>
                      <a:pt x="1789" y="823"/>
                      <a:pt x="1870" y="794"/>
                      <a:pt x="1885" y="779"/>
                    </a:cubicBezTo>
                    <a:cubicBezTo>
                      <a:pt x="1888" y="776"/>
                      <a:pt x="1893" y="770"/>
                      <a:pt x="1898" y="763"/>
                    </a:cubicBezTo>
                    <a:cubicBezTo>
                      <a:pt x="1877" y="740"/>
                      <a:pt x="1861" y="718"/>
                      <a:pt x="1859" y="70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52" name="Freeform 1827">
                <a:extLst>
                  <a:ext uri="{FF2B5EF4-FFF2-40B4-BE49-F238E27FC236}">
                    <a16:creationId xmlns:a16="http://schemas.microsoft.com/office/drawing/2014/main" id="{AD90DD82-6364-4A56-0822-F09957350BE7}"/>
                  </a:ext>
                </a:extLst>
              </p:cNvPr>
              <p:cNvSpPr>
                <a:spLocks/>
              </p:cNvSpPr>
              <p:nvPr/>
            </p:nvSpPr>
            <p:spPr bwMode="auto">
              <a:xfrm>
                <a:off x="2020" y="3132"/>
                <a:ext cx="401" cy="299"/>
              </a:xfrm>
              <a:custGeom>
                <a:avLst/>
                <a:gdLst>
                  <a:gd name="T0" fmla="*/ 1754 w 1814"/>
                  <a:gd name="T1" fmla="*/ 706 h 1355"/>
                  <a:gd name="T2" fmla="*/ 1696 w 1814"/>
                  <a:gd name="T3" fmla="*/ 550 h 1355"/>
                  <a:gd name="T4" fmla="*/ 1751 w 1814"/>
                  <a:gd name="T5" fmla="*/ 392 h 1355"/>
                  <a:gd name="T6" fmla="*/ 1765 w 1814"/>
                  <a:gd name="T7" fmla="*/ 302 h 1355"/>
                  <a:gd name="T8" fmla="*/ 1755 w 1814"/>
                  <a:gd name="T9" fmla="*/ 238 h 1355"/>
                  <a:gd name="T10" fmla="*/ 1768 w 1814"/>
                  <a:gd name="T11" fmla="*/ 201 h 1355"/>
                  <a:gd name="T12" fmla="*/ 1792 w 1814"/>
                  <a:gd name="T13" fmla="*/ 186 h 1355"/>
                  <a:gd name="T14" fmla="*/ 1760 w 1814"/>
                  <a:gd name="T15" fmla="*/ 86 h 1355"/>
                  <a:gd name="T16" fmla="*/ 1748 w 1814"/>
                  <a:gd name="T17" fmla="*/ 0 h 1355"/>
                  <a:gd name="T18" fmla="*/ 1705 w 1814"/>
                  <a:gd name="T19" fmla="*/ 46 h 1355"/>
                  <a:gd name="T20" fmla="*/ 1656 w 1814"/>
                  <a:gd name="T21" fmla="*/ 71 h 1355"/>
                  <a:gd name="T22" fmla="*/ 1523 w 1814"/>
                  <a:gd name="T23" fmla="*/ 57 h 1355"/>
                  <a:gd name="T24" fmla="*/ 1434 w 1814"/>
                  <a:gd name="T25" fmla="*/ 80 h 1355"/>
                  <a:gd name="T26" fmla="*/ 1310 w 1814"/>
                  <a:gd name="T27" fmla="*/ 118 h 1355"/>
                  <a:gd name="T28" fmla="*/ 1189 w 1814"/>
                  <a:gd name="T29" fmla="*/ 201 h 1355"/>
                  <a:gd name="T30" fmla="*/ 1119 w 1814"/>
                  <a:gd name="T31" fmla="*/ 196 h 1355"/>
                  <a:gd name="T32" fmla="*/ 1036 w 1814"/>
                  <a:gd name="T33" fmla="*/ 180 h 1355"/>
                  <a:gd name="T34" fmla="*/ 1050 w 1814"/>
                  <a:gd name="T35" fmla="*/ 219 h 1355"/>
                  <a:gd name="T36" fmla="*/ 946 w 1814"/>
                  <a:gd name="T37" fmla="*/ 233 h 1355"/>
                  <a:gd name="T38" fmla="*/ 877 w 1814"/>
                  <a:gd name="T39" fmla="*/ 331 h 1355"/>
                  <a:gd name="T40" fmla="*/ 987 w 1814"/>
                  <a:gd name="T41" fmla="*/ 490 h 1355"/>
                  <a:gd name="T42" fmla="*/ 1027 w 1814"/>
                  <a:gd name="T43" fmla="*/ 582 h 1355"/>
                  <a:gd name="T44" fmla="*/ 874 w 1814"/>
                  <a:gd name="T45" fmla="*/ 698 h 1355"/>
                  <a:gd name="T46" fmla="*/ 790 w 1814"/>
                  <a:gd name="T47" fmla="*/ 646 h 1355"/>
                  <a:gd name="T48" fmla="*/ 727 w 1814"/>
                  <a:gd name="T49" fmla="*/ 591 h 1355"/>
                  <a:gd name="T50" fmla="*/ 580 w 1814"/>
                  <a:gd name="T51" fmla="*/ 585 h 1355"/>
                  <a:gd name="T52" fmla="*/ 560 w 1814"/>
                  <a:gd name="T53" fmla="*/ 553 h 1355"/>
                  <a:gd name="T54" fmla="*/ 522 w 1814"/>
                  <a:gd name="T55" fmla="*/ 527 h 1355"/>
                  <a:gd name="T56" fmla="*/ 364 w 1814"/>
                  <a:gd name="T57" fmla="*/ 657 h 1355"/>
                  <a:gd name="T58" fmla="*/ 239 w 1814"/>
                  <a:gd name="T59" fmla="*/ 724 h 1355"/>
                  <a:gd name="T60" fmla="*/ 218 w 1814"/>
                  <a:gd name="T61" fmla="*/ 726 h 1355"/>
                  <a:gd name="T62" fmla="*/ 144 w 1814"/>
                  <a:gd name="T63" fmla="*/ 714 h 1355"/>
                  <a:gd name="T64" fmla="*/ 69 w 1814"/>
                  <a:gd name="T65" fmla="*/ 732 h 1355"/>
                  <a:gd name="T66" fmla="*/ 0 w 1814"/>
                  <a:gd name="T67" fmla="*/ 853 h 1355"/>
                  <a:gd name="T68" fmla="*/ 14 w 1814"/>
                  <a:gd name="T69" fmla="*/ 908 h 1355"/>
                  <a:gd name="T70" fmla="*/ 25 w 1814"/>
                  <a:gd name="T71" fmla="*/ 974 h 1355"/>
                  <a:gd name="T72" fmla="*/ 32 w 1814"/>
                  <a:gd name="T73" fmla="*/ 977 h 1355"/>
                  <a:gd name="T74" fmla="*/ 95 w 1814"/>
                  <a:gd name="T75" fmla="*/ 957 h 1355"/>
                  <a:gd name="T76" fmla="*/ 118 w 1814"/>
                  <a:gd name="T77" fmla="*/ 992 h 1355"/>
                  <a:gd name="T78" fmla="*/ 182 w 1814"/>
                  <a:gd name="T79" fmla="*/ 1035 h 1355"/>
                  <a:gd name="T80" fmla="*/ 219 w 1814"/>
                  <a:gd name="T81" fmla="*/ 1090 h 1355"/>
                  <a:gd name="T82" fmla="*/ 231 w 1814"/>
                  <a:gd name="T83" fmla="*/ 1142 h 1355"/>
                  <a:gd name="T84" fmla="*/ 384 w 1814"/>
                  <a:gd name="T85" fmla="*/ 1202 h 1355"/>
                  <a:gd name="T86" fmla="*/ 525 w 1814"/>
                  <a:gd name="T87" fmla="*/ 1269 h 1355"/>
                  <a:gd name="T88" fmla="*/ 597 w 1814"/>
                  <a:gd name="T89" fmla="*/ 1240 h 1355"/>
                  <a:gd name="T90" fmla="*/ 770 w 1814"/>
                  <a:gd name="T91" fmla="*/ 1243 h 1355"/>
                  <a:gd name="T92" fmla="*/ 883 w 1814"/>
                  <a:gd name="T93" fmla="*/ 1217 h 1355"/>
                  <a:gd name="T94" fmla="*/ 969 w 1814"/>
                  <a:gd name="T95" fmla="*/ 1298 h 1355"/>
                  <a:gd name="T96" fmla="*/ 1033 w 1814"/>
                  <a:gd name="T97" fmla="*/ 1326 h 1355"/>
                  <a:gd name="T98" fmla="*/ 1243 w 1814"/>
                  <a:gd name="T99" fmla="*/ 1191 h 1355"/>
                  <a:gd name="T100" fmla="*/ 1272 w 1814"/>
                  <a:gd name="T101" fmla="*/ 1122 h 1355"/>
                  <a:gd name="T102" fmla="*/ 1235 w 1814"/>
                  <a:gd name="T103" fmla="*/ 1012 h 1355"/>
                  <a:gd name="T104" fmla="*/ 1295 w 1814"/>
                  <a:gd name="T105" fmla="*/ 1000 h 1355"/>
                  <a:gd name="T106" fmla="*/ 1336 w 1814"/>
                  <a:gd name="T107" fmla="*/ 1029 h 1355"/>
                  <a:gd name="T108" fmla="*/ 1376 w 1814"/>
                  <a:gd name="T109" fmla="*/ 998 h 1355"/>
                  <a:gd name="T110" fmla="*/ 1468 w 1814"/>
                  <a:gd name="T111" fmla="*/ 1009 h 1355"/>
                  <a:gd name="T112" fmla="*/ 1567 w 1814"/>
                  <a:gd name="T113" fmla="*/ 1001 h 1355"/>
                  <a:gd name="T114" fmla="*/ 1604 w 1814"/>
                  <a:gd name="T115" fmla="*/ 977 h 1355"/>
                  <a:gd name="T116" fmla="*/ 1608 w 1814"/>
                  <a:gd name="T117" fmla="*/ 969 h 1355"/>
                  <a:gd name="T118" fmla="*/ 1589 w 1814"/>
                  <a:gd name="T119" fmla="*/ 894 h 1355"/>
                  <a:gd name="T120" fmla="*/ 1644 w 1814"/>
                  <a:gd name="T121" fmla="*/ 842 h 1355"/>
                  <a:gd name="T122" fmla="*/ 1742 w 1814"/>
                  <a:gd name="T123" fmla="*/ 787 h 1355"/>
                  <a:gd name="T124" fmla="*/ 1754 w 1814"/>
                  <a:gd name="T125" fmla="*/ 706 h 13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814" h="1355">
                    <a:moveTo>
                      <a:pt x="1754" y="706"/>
                    </a:moveTo>
                    <a:cubicBezTo>
                      <a:pt x="1693" y="657"/>
                      <a:pt x="1656" y="646"/>
                      <a:pt x="1696" y="550"/>
                    </a:cubicBezTo>
                    <a:cubicBezTo>
                      <a:pt x="1737" y="455"/>
                      <a:pt x="1751" y="392"/>
                      <a:pt x="1751" y="392"/>
                    </a:cubicBezTo>
                    <a:cubicBezTo>
                      <a:pt x="1751" y="392"/>
                      <a:pt x="1771" y="354"/>
                      <a:pt x="1765" y="302"/>
                    </a:cubicBezTo>
                    <a:cubicBezTo>
                      <a:pt x="1762" y="275"/>
                      <a:pt x="1756" y="255"/>
                      <a:pt x="1755" y="238"/>
                    </a:cubicBezTo>
                    <a:cubicBezTo>
                      <a:pt x="1754" y="224"/>
                      <a:pt x="1756" y="212"/>
                      <a:pt x="1768" y="201"/>
                    </a:cubicBezTo>
                    <a:cubicBezTo>
                      <a:pt x="1779" y="192"/>
                      <a:pt x="1786" y="188"/>
                      <a:pt x="1792" y="186"/>
                    </a:cubicBezTo>
                    <a:cubicBezTo>
                      <a:pt x="1760" y="86"/>
                      <a:pt x="1760" y="86"/>
                      <a:pt x="1760" y="86"/>
                    </a:cubicBezTo>
                    <a:cubicBezTo>
                      <a:pt x="1748" y="0"/>
                      <a:pt x="1748" y="0"/>
                      <a:pt x="1748" y="0"/>
                    </a:cubicBezTo>
                    <a:cubicBezTo>
                      <a:pt x="1748" y="0"/>
                      <a:pt x="1748" y="0"/>
                      <a:pt x="1705" y="46"/>
                    </a:cubicBezTo>
                    <a:cubicBezTo>
                      <a:pt x="1691" y="61"/>
                      <a:pt x="1674" y="68"/>
                      <a:pt x="1656" y="71"/>
                    </a:cubicBezTo>
                    <a:cubicBezTo>
                      <a:pt x="1618" y="78"/>
                      <a:pt x="1572" y="65"/>
                      <a:pt x="1523" y="57"/>
                    </a:cubicBezTo>
                    <a:cubicBezTo>
                      <a:pt x="1451" y="46"/>
                      <a:pt x="1460" y="57"/>
                      <a:pt x="1434" y="80"/>
                    </a:cubicBezTo>
                    <a:cubicBezTo>
                      <a:pt x="1408" y="103"/>
                      <a:pt x="1347" y="115"/>
                      <a:pt x="1310" y="118"/>
                    </a:cubicBezTo>
                    <a:cubicBezTo>
                      <a:pt x="1272" y="121"/>
                      <a:pt x="1217" y="175"/>
                      <a:pt x="1189" y="201"/>
                    </a:cubicBezTo>
                    <a:cubicBezTo>
                      <a:pt x="1160" y="227"/>
                      <a:pt x="1151" y="213"/>
                      <a:pt x="1119" y="196"/>
                    </a:cubicBezTo>
                    <a:cubicBezTo>
                      <a:pt x="1102" y="186"/>
                      <a:pt x="1065" y="182"/>
                      <a:pt x="1036" y="180"/>
                    </a:cubicBezTo>
                    <a:cubicBezTo>
                      <a:pt x="1048" y="205"/>
                      <a:pt x="1050" y="219"/>
                      <a:pt x="1050" y="219"/>
                    </a:cubicBezTo>
                    <a:cubicBezTo>
                      <a:pt x="1050" y="219"/>
                      <a:pt x="964" y="216"/>
                      <a:pt x="946" y="233"/>
                    </a:cubicBezTo>
                    <a:cubicBezTo>
                      <a:pt x="929" y="250"/>
                      <a:pt x="854" y="294"/>
                      <a:pt x="877" y="331"/>
                    </a:cubicBezTo>
                    <a:cubicBezTo>
                      <a:pt x="900" y="369"/>
                      <a:pt x="958" y="458"/>
                      <a:pt x="987" y="490"/>
                    </a:cubicBezTo>
                    <a:cubicBezTo>
                      <a:pt x="1015" y="522"/>
                      <a:pt x="1047" y="551"/>
                      <a:pt x="1027" y="582"/>
                    </a:cubicBezTo>
                    <a:cubicBezTo>
                      <a:pt x="1007" y="614"/>
                      <a:pt x="955" y="683"/>
                      <a:pt x="874" y="698"/>
                    </a:cubicBezTo>
                    <a:cubicBezTo>
                      <a:pt x="857" y="666"/>
                      <a:pt x="837" y="660"/>
                      <a:pt x="790" y="646"/>
                    </a:cubicBezTo>
                    <a:cubicBezTo>
                      <a:pt x="785" y="620"/>
                      <a:pt x="793" y="591"/>
                      <a:pt x="727" y="591"/>
                    </a:cubicBezTo>
                    <a:cubicBezTo>
                      <a:pt x="661" y="591"/>
                      <a:pt x="580" y="585"/>
                      <a:pt x="580" y="585"/>
                    </a:cubicBezTo>
                    <a:cubicBezTo>
                      <a:pt x="580" y="585"/>
                      <a:pt x="560" y="574"/>
                      <a:pt x="560" y="553"/>
                    </a:cubicBezTo>
                    <a:cubicBezTo>
                      <a:pt x="560" y="533"/>
                      <a:pt x="568" y="522"/>
                      <a:pt x="522" y="527"/>
                    </a:cubicBezTo>
                    <a:cubicBezTo>
                      <a:pt x="476" y="533"/>
                      <a:pt x="508" y="548"/>
                      <a:pt x="364" y="657"/>
                    </a:cubicBezTo>
                    <a:cubicBezTo>
                      <a:pt x="329" y="677"/>
                      <a:pt x="239" y="724"/>
                      <a:pt x="239" y="724"/>
                    </a:cubicBezTo>
                    <a:cubicBezTo>
                      <a:pt x="239" y="724"/>
                      <a:pt x="231" y="725"/>
                      <a:pt x="218" y="726"/>
                    </a:cubicBezTo>
                    <a:cubicBezTo>
                      <a:pt x="200" y="727"/>
                      <a:pt x="173" y="725"/>
                      <a:pt x="144" y="714"/>
                    </a:cubicBezTo>
                    <a:cubicBezTo>
                      <a:pt x="69" y="732"/>
                      <a:pt x="69" y="732"/>
                      <a:pt x="69" y="732"/>
                    </a:cubicBezTo>
                    <a:cubicBezTo>
                      <a:pt x="69" y="732"/>
                      <a:pt x="0" y="833"/>
                      <a:pt x="0" y="853"/>
                    </a:cubicBezTo>
                    <a:cubicBezTo>
                      <a:pt x="0" y="874"/>
                      <a:pt x="12" y="879"/>
                      <a:pt x="14" y="908"/>
                    </a:cubicBezTo>
                    <a:cubicBezTo>
                      <a:pt x="17" y="933"/>
                      <a:pt x="13" y="964"/>
                      <a:pt x="25" y="974"/>
                    </a:cubicBezTo>
                    <a:cubicBezTo>
                      <a:pt x="26" y="976"/>
                      <a:pt x="29" y="977"/>
                      <a:pt x="32" y="977"/>
                    </a:cubicBezTo>
                    <a:cubicBezTo>
                      <a:pt x="52" y="980"/>
                      <a:pt x="72" y="960"/>
                      <a:pt x="95" y="957"/>
                    </a:cubicBezTo>
                    <a:cubicBezTo>
                      <a:pt x="118" y="954"/>
                      <a:pt x="115" y="966"/>
                      <a:pt x="118" y="992"/>
                    </a:cubicBezTo>
                    <a:cubicBezTo>
                      <a:pt x="121" y="1018"/>
                      <a:pt x="141" y="1029"/>
                      <a:pt x="182" y="1035"/>
                    </a:cubicBezTo>
                    <a:cubicBezTo>
                      <a:pt x="222" y="1041"/>
                      <a:pt x="225" y="1064"/>
                      <a:pt x="219" y="1090"/>
                    </a:cubicBezTo>
                    <a:cubicBezTo>
                      <a:pt x="213" y="1116"/>
                      <a:pt x="193" y="1139"/>
                      <a:pt x="231" y="1142"/>
                    </a:cubicBezTo>
                    <a:cubicBezTo>
                      <a:pt x="268" y="1145"/>
                      <a:pt x="317" y="1156"/>
                      <a:pt x="384" y="1202"/>
                    </a:cubicBezTo>
                    <a:cubicBezTo>
                      <a:pt x="450" y="1249"/>
                      <a:pt x="485" y="1269"/>
                      <a:pt x="525" y="1269"/>
                    </a:cubicBezTo>
                    <a:cubicBezTo>
                      <a:pt x="565" y="1269"/>
                      <a:pt x="557" y="1243"/>
                      <a:pt x="597" y="1240"/>
                    </a:cubicBezTo>
                    <a:cubicBezTo>
                      <a:pt x="638" y="1237"/>
                      <a:pt x="724" y="1243"/>
                      <a:pt x="770" y="1243"/>
                    </a:cubicBezTo>
                    <a:cubicBezTo>
                      <a:pt x="816" y="1243"/>
                      <a:pt x="857" y="1208"/>
                      <a:pt x="883" y="1217"/>
                    </a:cubicBezTo>
                    <a:cubicBezTo>
                      <a:pt x="909" y="1225"/>
                      <a:pt x="964" y="1254"/>
                      <a:pt x="969" y="1298"/>
                    </a:cubicBezTo>
                    <a:cubicBezTo>
                      <a:pt x="975" y="1341"/>
                      <a:pt x="975" y="1355"/>
                      <a:pt x="1033" y="1326"/>
                    </a:cubicBezTo>
                    <a:cubicBezTo>
                      <a:pt x="1090" y="1298"/>
                      <a:pt x="1111" y="1300"/>
                      <a:pt x="1243" y="1191"/>
                    </a:cubicBezTo>
                    <a:cubicBezTo>
                      <a:pt x="1269" y="1179"/>
                      <a:pt x="1287" y="1153"/>
                      <a:pt x="1272" y="1122"/>
                    </a:cubicBezTo>
                    <a:cubicBezTo>
                      <a:pt x="1258" y="1090"/>
                      <a:pt x="1214" y="1067"/>
                      <a:pt x="1235" y="1012"/>
                    </a:cubicBezTo>
                    <a:cubicBezTo>
                      <a:pt x="1255" y="995"/>
                      <a:pt x="1272" y="989"/>
                      <a:pt x="1295" y="1000"/>
                    </a:cubicBezTo>
                    <a:cubicBezTo>
                      <a:pt x="1318" y="1012"/>
                      <a:pt x="1336" y="1029"/>
                      <a:pt x="1336" y="1029"/>
                    </a:cubicBezTo>
                    <a:cubicBezTo>
                      <a:pt x="1336" y="1029"/>
                      <a:pt x="1350" y="1006"/>
                      <a:pt x="1376" y="998"/>
                    </a:cubicBezTo>
                    <a:cubicBezTo>
                      <a:pt x="1402" y="989"/>
                      <a:pt x="1416" y="1000"/>
                      <a:pt x="1468" y="1009"/>
                    </a:cubicBezTo>
                    <a:cubicBezTo>
                      <a:pt x="1501" y="1015"/>
                      <a:pt x="1539" y="1011"/>
                      <a:pt x="1567" y="1001"/>
                    </a:cubicBezTo>
                    <a:cubicBezTo>
                      <a:pt x="1584" y="995"/>
                      <a:pt x="1597" y="987"/>
                      <a:pt x="1604" y="977"/>
                    </a:cubicBezTo>
                    <a:cubicBezTo>
                      <a:pt x="1606" y="974"/>
                      <a:pt x="1607" y="971"/>
                      <a:pt x="1608" y="969"/>
                    </a:cubicBezTo>
                    <a:cubicBezTo>
                      <a:pt x="1613" y="950"/>
                      <a:pt x="1587" y="942"/>
                      <a:pt x="1589" y="894"/>
                    </a:cubicBezTo>
                    <a:cubicBezTo>
                      <a:pt x="1595" y="865"/>
                      <a:pt x="1644" y="842"/>
                      <a:pt x="1644" y="842"/>
                    </a:cubicBezTo>
                    <a:cubicBezTo>
                      <a:pt x="1742" y="787"/>
                      <a:pt x="1742" y="787"/>
                      <a:pt x="1742" y="787"/>
                    </a:cubicBezTo>
                    <a:cubicBezTo>
                      <a:pt x="1742" y="787"/>
                      <a:pt x="1814" y="755"/>
                      <a:pt x="1754" y="70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53" name="Freeform 1828">
                <a:extLst>
                  <a:ext uri="{FF2B5EF4-FFF2-40B4-BE49-F238E27FC236}">
                    <a16:creationId xmlns:a16="http://schemas.microsoft.com/office/drawing/2014/main" id="{D16E1310-883D-D377-5A9B-6A4D3013E8AA}"/>
                  </a:ext>
                </a:extLst>
              </p:cNvPr>
              <p:cNvSpPr>
                <a:spLocks/>
              </p:cNvSpPr>
              <p:nvPr/>
            </p:nvSpPr>
            <p:spPr bwMode="auto">
              <a:xfrm>
                <a:off x="2008" y="2993"/>
                <a:ext cx="244" cy="299"/>
              </a:xfrm>
              <a:custGeom>
                <a:avLst/>
                <a:gdLst>
                  <a:gd name="T0" fmla="*/ 1002 w 1106"/>
                  <a:gd name="T1" fmla="*/ 859 h 1353"/>
                  <a:gd name="T2" fmla="*/ 1106 w 1106"/>
                  <a:gd name="T3" fmla="*/ 845 h 1353"/>
                  <a:gd name="T4" fmla="*/ 1092 w 1106"/>
                  <a:gd name="T5" fmla="*/ 806 h 1353"/>
                  <a:gd name="T6" fmla="*/ 1060 w 1106"/>
                  <a:gd name="T7" fmla="*/ 750 h 1353"/>
                  <a:gd name="T8" fmla="*/ 947 w 1106"/>
                  <a:gd name="T9" fmla="*/ 677 h 1353"/>
                  <a:gd name="T10" fmla="*/ 872 w 1106"/>
                  <a:gd name="T11" fmla="*/ 574 h 1353"/>
                  <a:gd name="T12" fmla="*/ 924 w 1106"/>
                  <a:gd name="T13" fmla="*/ 496 h 1353"/>
                  <a:gd name="T14" fmla="*/ 950 w 1106"/>
                  <a:gd name="T15" fmla="*/ 447 h 1353"/>
                  <a:gd name="T16" fmla="*/ 864 w 1106"/>
                  <a:gd name="T17" fmla="*/ 380 h 1353"/>
                  <a:gd name="T18" fmla="*/ 849 w 1106"/>
                  <a:gd name="T19" fmla="*/ 351 h 1353"/>
                  <a:gd name="T20" fmla="*/ 881 w 1106"/>
                  <a:gd name="T21" fmla="*/ 285 h 1353"/>
                  <a:gd name="T22" fmla="*/ 861 w 1106"/>
                  <a:gd name="T23" fmla="*/ 236 h 1353"/>
                  <a:gd name="T24" fmla="*/ 835 w 1106"/>
                  <a:gd name="T25" fmla="*/ 164 h 1353"/>
                  <a:gd name="T26" fmla="*/ 763 w 1106"/>
                  <a:gd name="T27" fmla="*/ 66 h 1353"/>
                  <a:gd name="T28" fmla="*/ 647 w 1106"/>
                  <a:gd name="T29" fmla="*/ 37 h 1353"/>
                  <a:gd name="T30" fmla="*/ 492 w 1106"/>
                  <a:gd name="T31" fmla="*/ 51 h 1353"/>
                  <a:gd name="T32" fmla="*/ 346 w 1106"/>
                  <a:gd name="T33" fmla="*/ 0 h 1353"/>
                  <a:gd name="T34" fmla="*/ 425 w 1106"/>
                  <a:gd name="T35" fmla="*/ 255 h 1353"/>
                  <a:gd name="T36" fmla="*/ 390 w 1106"/>
                  <a:gd name="T37" fmla="*/ 530 h 1353"/>
                  <a:gd name="T38" fmla="*/ 380 w 1106"/>
                  <a:gd name="T39" fmla="*/ 565 h 1353"/>
                  <a:gd name="T40" fmla="*/ 223 w 1106"/>
                  <a:gd name="T41" fmla="*/ 716 h 1353"/>
                  <a:gd name="T42" fmla="*/ 0 w 1106"/>
                  <a:gd name="T43" fmla="*/ 683 h 1353"/>
                  <a:gd name="T44" fmla="*/ 4 w 1106"/>
                  <a:gd name="T45" fmla="*/ 737 h 1353"/>
                  <a:gd name="T46" fmla="*/ 7 w 1106"/>
                  <a:gd name="T47" fmla="*/ 804 h 1353"/>
                  <a:gd name="T48" fmla="*/ 24 w 1106"/>
                  <a:gd name="T49" fmla="*/ 914 h 1353"/>
                  <a:gd name="T50" fmla="*/ 44 w 1106"/>
                  <a:gd name="T51" fmla="*/ 1021 h 1353"/>
                  <a:gd name="T52" fmla="*/ 157 w 1106"/>
                  <a:gd name="T53" fmla="*/ 1081 h 1353"/>
                  <a:gd name="T54" fmla="*/ 206 w 1106"/>
                  <a:gd name="T55" fmla="*/ 1145 h 1353"/>
                  <a:gd name="T56" fmla="*/ 255 w 1106"/>
                  <a:gd name="T57" fmla="*/ 1257 h 1353"/>
                  <a:gd name="T58" fmla="*/ 209 w 1106"/>
                  <a:gd name="T59" fmla="*/ 1338 h 1353"/>
                  <a:gd name="T60" fmla="*/ 200 w 1106"/>
                  <a:gd name="T61" fmla="*/ 1340 h 1353"/>
                  <a:gd name="T62" fmla="*/ 274 w 1106"/>
                  <a:gd name="T63" fmla="*/ 1352 h 1353"/>
                  <a:gd name="T64" fmla="*/ 295 w 1106"/>
                  <a:gd name="T65" fmla="*/ 1350 h 1353"/>
                  <a:gd name="T66" fmla="*/ 420 w 1106"/>
                  <a:gd name="T67" fmla="*/ 1283 h 1353"/>
                  <a:gd name="T68" fmla="*/ 578 w 1106"/>
                  <a:gd name="T69" fmla="*/ 1153 h 1353"/>
                  <a:gd name="T70" fmla="*/ 616 w 1106"/>
                  <a:gd name="T71" fmla="*/ 1179 h 1353"/>
                  <a:gd name="T72" fmla="*/ 636 w 1106"/>
                  <a:gd name="T73" fmla="*/ 1211 h 1353"/>
                  <a:gd name="T74" fmla="*/ 783 w 1106"/>
                  <a:gd name="T75" fmla="*/ 1217 h 1353"/>
                  <a:gd name="T76" fmla="*/ 846 w 1106"/>
                  <a:gd name="T77" fmla="*/ 1272 h 1353"/>
                  <a:gd name="T78" fmla="*/ 930 w 1106"/>
                  <a:gd name="T79" fmla="*/ 1324 h 1353"/>
                  <a:gd name="T80" fmla="*/ 1083 w 1106"/>
                  <a:gd name="T81" fmla="*/ 1208 h 1353"/>
                  <a:gd name="T82" fmla="*/ 1043 w 1106"/>
                  <a:gd name="T83" fmla="*/ 1116 h 1353"/>
                  <a:gd name="T84" fmla="*/ 933 w 1106"/>
                  <a:gd name="T85" fmla="*/ 957 h 1353"/>
                  <a:gd name="T86" fmla="*/ 1002 w 1106"/>
                  <a:gd name="T87" fmla="*/ 859 h 13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106" h="1353">
                    <a:moveTo>
                      <a:pt x="1002" y="859"/>
                    </a:moveTo>
                    <a:cubicBezTo>
                      <a:pt x="1020" y="842"/>
                      <a:pt x="1106" y="845"/>
                      <a:pt x="1106" y="845"/>
                    </a:cubicBezTo>
                    <a:cubicBezTo>
                      <a:pt x="1106" y="845"/>
                      <a:pt x="1104" y="831"/>
                      <a:pt x="1092" y="806"/>
                    </a:cubicBezTo>
                    <a:cubicBezTo>
                      <a:pt x="1085" y="791"/>
                      <a:pt x="1075" y="772"/>
                      <a:pt x="1060" y="750"/>
                    </a:cubicBezTo>
                    <a:cubicBezTo>
                      <a:pt x="1020" y="689"/>
                      <a:pt x="979" y="689"/>
                      <a:pt x="947" y="677"/>
                    </a:cubicBezTo>
                    <a:cubicBezTo>
                      <a:pt x="916" y="666"/>
                      <a:pt x="884" y="651"/>
                      <a:pt x="872" y="574"/>
                    </a:cubicBezTo>
                    <a:cubicBezTo>
                      <a:pt x="861" y="496"/>
                      <a:pt x="904" y="496"/>
                      <a:pt x="924" y="496"/>
                    </a:cubicBezTo>
                    <a:cubicBezTo>
                      <a:pt x="944" y="496"/>
                      <a:pt x="950" y="473"/>
                      <a:pt x="950" y="447"/>
                    </a:cubicBezTo>
                    <a:cubicBezTo>
                      <a:pt x="950" y="421"/>
                      <a:pt x="904" y="398"/>
                      <a:pt x="864" y="380"/>
                    </a:cubicBezTo>
                    <a:cubicBezTo>
                      <a:pt x="823" y="363"/>
                      <a:pt x="849" y="351"/>
                      <a:pt x="849" y="351"/>
                    </a:cubicBezTo>
                    <a:cubicBezTo>
                      <a:pt x="849" y="351"/>
                      <a:pt x="881" y="308"/>
                      <a:pt x="881" y="285"/>
                    </a:cubicBezTo>
                    <a:cubicBezTo>
                      <a:pt x="881" y="262"/>
                      <a:pt x="881" y="256"/>
                      <a:pt x="861" y="236"/>
                    </a:cubicBezTo>
                    <a:cubicBezTo>
                      <a:pt x="841" y="216"/>
                      <a:pt x="838" y="190"/>
                      <a:pt x="835" y="164"/>
                    </a:cubicBezTo>
                    <a:cubicBezTo>
                      <a:pt x="832" y="138"/>
                      <a:pt x="789" y="86"/>
                      <a:pt x="763" y="66"/>
                    </a:cubicBezTo>
                    <a:cubicBezTo>
                      <a:pt x="737" y="46"/>
                      <a:pt x="679" y="37"/>
                      <a:pt x="647" y="37"/>
                    </a:cubicBezTo>
                    <a:cubicBezTo>
                      <a:pt x="616" y="37"/>
                      <a:pt x="538" y="51"/>
                      <a:pt x="492" y="51"/>
                    </a:cubicBezTo>
                    <a:cubicBezTo>
                      <a:pt x="462" y="51"/>
                      <a:pt x="392" y="21"/>
                      <a:pt x="346" y="0"/>
                    </a:cubicBezTo>
                    <a:cubicBezTo>
                      <a:pt x="380" y="80"/>
                      <a:pt x="426" y="154"/>
                      <a:pt x="425" y="255"/>
                    </a:cubicBezTo>
                    <a:cubicBezTo>
                      <a:pt x="424" y="340"/>
                      <a:pt x="404" y="467"/>
                      <a:pt x="390" y="530"/>
                    </a:cubicBezTo>
                    <a:cubicBezTo>
                      <a:pt x="386" y="548"/>
                      <a:pt x="383" y="560"/>
                      <a:pt x="380" y="565"/>
                    </a:cubicBezTo>
                    <a:cubicBezTo>
                      <a:pt x="368" y="589"/>
                      <a:pt x="251" y="705"/>
                      <a:pt x="223" y="716"/>
                    </a:cubicBezTo>
                    <a:cubicBezTo>
                      <a:pt x="181" y="672"/>
                      <a:pt x="88" y="622"/>
                      <a:pt x="0" y="683"/>
                    </a:cubicBezTo>
                    <a:cubicBezTo>
                      <a:pt x="1" y="698"/>
                      <a:pt x="3" y="718"/>
                      <a:pt x="4" y="737"/>
                    </a:cubicBezTo>
                    <a:cubicBezTo>
                      <a:pt x="5" y="767"/>
                      <a:pt x="7" y="796"/>
                      <a:pt x="7" y="804"/>
                    </a:cubicBezTo>
                    <a:cubicBezTo>
                      <a:pt x="7" y="825"/>
                      <a:pt x="21" y="868"/>
                      <a:pt x="24" y="914"/>
                    </a:cubicBezTo>
                    <a:cubicBezTo>
                      <a:pt x="27" y="960"/>
                      <a:pt x="1" y="1015"/>
                      <a:pt x="44" y="1021"/>
                    </a:cubicBezTo>
                    <a:cubicBezTo>
                      <a:pt x="88" y="1026"/>
                      <a:pt x="137" y="1026"/>
                      <a:pt x="157" y="1081"/>
                    </a:cubicBezTo>
                    <a:cubicBezTo>
                      <a:pt x="166" y="1110"/>
                      <a:pt x="189" y="1125"/>
                      <a:pt x="206" y="1145"/>
                    </a:cubicBezTo>
                    <a:cubicBezTo>
                      <a:pt x="223" y="1165"/>
                      <a:pt x="264" y="1234"/>
                      <a:pt x="255" y="1257"/>
                    </a:cubicBezTo>
                    <a:cubicBezTo>
                      <a:pt x="246" y="1280"/>
                      <a:pt x="209" y="1338"/>
                      <a:pt x="209" y="1338"/>
                    </a:cubicBezTo>
                    <a:cubicBezTo>
                      <a:pt x="200" y="1340"/>
                      <a:pt x="200" y="1340"/>
                      <a:pt x="200" y="1340"/>
                    </a:cubicBezTo>
                    <a:cubicBezTo>
                      <a:pt x="229" y="1351"/>
                      <a:pt x="256" y="1353"/>
                      <a:pt x="274" y="1352"/>
                    </a:cubicBezTo>
                    <a:cubicBezTo>
                      <a:pt x="287" y="1351"/>
                      <a:pt x="295" y="1350"/>
                      <a:pt x="295" y="1350"/>
                    </a:cubicBezTo>
                    <a:cubicBezTo>
                      <a:pt x="295" y="1350"/>
                      <a:pt x="385" y="1303"/>
                      <a:pt x="420" y="1283"/>
                    </a:cubicBezTo>
                    <a:cubicBezTo>
                      <a:pt x="564" y="1174"/>
                      <a:pt x="532" y="1159"/>
                      <a:pt x="578" y="1153"/>
                    </a:cubicBezTo>
                    <a:cubicBezTo>
                      <a:pt x="624" y="1148"/>
                      <a:pt x="616" y="1159"/>
                      <a:pt x="616" y="1179"/>
                    </a:cubicBezTo>
                    <a:cubicBezTo>
                      <a:pt x="616" y="1200"/>
                      <a:pt x="636" y="1211"/>
                      <a:pt x="636" y="1211"/>
                    </a:cubicBezTo>
                    <a:cubicBezTo>
                      <a:pt x="636" y="1211"/>
                      <a:pt x="717" y="1217"/>
                      <a:pt x="783" y="1217"/>
                    </a:cubicBezTo>
                    <a:cubicBezTo>
                      <a:pt x="849" y="1217"/>
                      <a:pt x="841" y="1246"/>
                      <a:pt x="846" y="1272"/>
                    </a:cubicBezTo>
                    <a:cubicBezTo>
                      <a:pt x="893" y="1286"/>
                      <a:pt x="913" y="1292"/>
                      <a:pt x="930" y="1324"/>
                    </a:cubicBezTo>
                    <a:cubicBezTo>
                      <a:pt x="1011" y="1309"/>
                      <a:pt x="1063" y="1240"/>
                      <a:pt x="1083" y="1208"/>
                    </a:cubicBezTo>
                    <a:cubicBezTo>
                      <a:pt x="1103" y="1177"/>
                      <a:pt x="1071" y="1148"/>
                      <a:pt x="1043" y="1116"/>
                    </a:cubicBezTo>
                    <a:cubicBezTo>
                      <a:pt x="1014" y="1084"/>
                      <a:pt x="956" y="995"/>
                      <a:pt x="933" y="957"/>
                    </a:cubicBezTo>
                    <a:cubicBezTo>
                      <a:pt x="910" y="920"/>
                      <a:pt x="985" y="876"/>
                      <a:pt x="1002" y="85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54" name="Freeform 1829">
                <a:extLst>
                  <a:ext uri="{FF2B5EF4-FFF2-40B4-BE49-F238E27FC236}">
                    <a16:creationId xmlns:a16="http://schemas.microsoft.com/office/drawing/2014/main" id="{EA4CA9C9-72E2-46D9-AE3F-D58E383C2AEC}"/>
                  </a:ext>
                </a:extLst>
              </p:cNvPr>
              <p:cNvSpPr>
                <a:spLocks/>
              </p:cNvSpPr>
              <p:nvPr/>
            </p:nvSpPr>
            <p:spPr bwMode="auto">
              <a:xfrm>
                <a:off x="1784" y="3144"/>
                <a:ext cx="282" cy="272"/>
              </a:xfrm>
              <a:custGeom>
                <a:avLst/>
                <a:gdLst>
                  <a:gd name="T0" fmla="*/ 1220 w 1278"/>
                  <a:gd name="T1" fmla="*/ 462 h 1229"/>
                  <a:gd name="T2" fmla="*/ 1171 w 1278"/>
                  <a:gd name="T3" fmla="*/ 398 h 1229"/>
                  <a:gd name="T4" fmla="*/ 1058 w 1278"/>
                  <a:gd name="T5" fmla="*/ 338 h 1229"/>
                  <a:gd name="T6" fmla="*/ 1038 w 1278"/>
                  <a:gd name="T7" fmla="*/ 231 h 1229"/>
                  <a:gd name="T8" fmla="*/ 1021 w 1278"/>
                  <a:gd name="T9" fmla="*/ 121 h 1229"/>
                  <a:gd name="T10" fmla="*/ 1018 w 1278"/>
                  <a:gd name="T11" fmla="*/ 54 h 1229"/>
                  <a:gd name="T12" fmla="*/ 1014 w 1278"/>
                  <a:gd name="T13" fmla="*/ 0 h 1229"/>
                  <a:gd name="T14" fmla="*/ 982 w 1278"/>
                  <a:gd name="T15" fmla="*/ 27 h 1229"/>
                  <a:gd name="T16" fmla="*/ 960 w 1278"/>
                  <a:gd name="T17" fmla="*/ 50 h 1229"/>
                  <a:gd name="T18" fmla="*/ 905 w 1278"/>
                  <a:gd name="T19" fmla="*/ 108 h 1229"/>
                  <a:gd name="T20" fmla="*/ 748 w 1278"/>
                  <a:gd name="T21" fmla="*/ 254 h 1229"/>
                  <a:gd name="T22" fmla="*/ 594 w 1278"/>
                  <a:gd name="T23" fmla="*/ 243 h 1229"/>
                  <a:gd name="T24" fmla="*/ 440 w 1278"/>
                  <a:gd name="T25" fmla="*/ 305 h 1229"/>
                  <a:gd name="T26" fmla="*/ 340 w 1278"/>
                  <a:gd name="T27" fmla="*/ 375 h 1229"/>
                  <a:gd name="T28" fmla="*/ 238 w 1278"/>
                  <a:gd name="T29" fmla="*/ 392 h 1229"/>
                  <a:gd name="T30" fmla="*/ 41 w 1278"/>
                  <a:gd name="T31" fmla="*/ 363 h 1229"/>
                  <a:gd name="T32" fmla="*/ 61 w 1278"/>
                  <a:gd name="T33" fmla="*/ 477 h 1229"/>
                  <a:gd name="T34" fmla="*/ 24 w 1278"/>
                  <a:gd name="T35" fmla="*/ 597 h 1229"/>
                  <a:gd name="T36" fmla="*/ 21 w 1278"/>
                  <a:gd name="T37" fmla="*/ 701 h 1229"/>
                  <a:gd name="T38" fmla="*/ 29 w 1278"/>
                  <a:gd name="T39" fmla="*/ 745 h 1229"/>
                  <a:gd name="T40" fmla="*/ 83 w 1278"/>
                  <a:gd name="T41" fmla="*/ 805 h 1229"/>
                  <a:gd name="T42" fmla="*/ 107 w 1278"/>
                  <a:gd name="T43" fmla="*/ 874 h 1229"/>
                  <a:gd name="T44" fmla="*/ 68 w 1278"/>
                  <a:gd name="T45" fmla="*/ 936 h 1229"/>
                  <a:gd name="T46" fmla="*/ 55 w 1278"/>
                  <a:gd name="T47" fmla="*/ 969 h 1229"/>
                  <a:gd name="T48" fmla="*/ 112 w 1278"/>
                  <a:gd name="T49" fmla="*/ 1021 h 1229"/>
                  <a:gd name="T50" fmla="*/ 170 w 1278"/>
                  <a:gd name="T51" fmla="*/ 1068 h 1229"/>
                  <a:gd name="T52" fmla="*/ 208 w 1278"/>
                  <a:gd name="T53" fmla="*/ 1151 h 1229"/>
                  <a:gd name="T54" fmla="*/ 283 w 1278"/>
                  <a:gd name="T55" fmla="*/ 1166 h 1229"/>
                  <a:gd name="T56" fmla="*/ 355 w 1278"/>
                  <a:gd name="T57" fmla="*/ 1117 h 1229"/>
                  <a:gd name="T58" fmla="*/ 381 w 1278"/>
                  <a:gd name="T59" fmla="*/ 1105 h 1229"/>
                  <a:gd name="T60" fmla="*/ 407 w 1278"/>
                  <a:gd name="T61" fmla="*/ 1059 h 1229"/>
                  <a:gd name="T62" fmla="*/ 438 w 1278"/>
                  <a:gd name="T63" fmla="*/ 1016 h 1229"/>
                  <a:gd name="T64" fmla="*/ 490 w 1278"/>
                  <a:gd name="T65" fmla="*/ 1013 h 1229"/>
                  <a:gd name="T66" fmla="*/ 502 w 1278"/>
                  <a:gd name="T67" fmla="*/ 1047 h 1229"/>
                  <a:gd name="T68" fmla="*/ 464 w 1278"/>
                  <a:gd name="T69" fmla="*/ 1111 h 1229"/>
                  <a:gd name="T70" fmla="*/ 525 w 1278"/>
                  <a:gd name="T71" fmla="*/ 1131 h 1229"/>
                  <a:gd name="T72" fmla="*/ 559 w 1278"/>
                  <a:gd name="T73" fmla="*/ 1206 h 1229"/>
                  <a:gd name="T74" fmla="*/ 600 w 1278"/>
                  <a:gd name="T75" fmla="*/ 1194 h 1229"/>
                  <a:gd name="T76" fmla="*/ 649 w 1278"/>
                  <a:gd name="T77" fmla="*/ 1177 h 1229"/>
                  <a:gd name="T78" fmla="*/ 681 w 1278"/>
                  <a:gd name="T79" fmla="*/ 1226 h 1229"/>
                  <a:gd name="T80" fmla="*/ 692 w 1278"/>
                  <a:gd name="T81" fmla="*/ 1222 h 1229"/>
                  <a:gd name="T82" fmla="*/ 773 w 1278"/>
                  <a:gd name="T83" fmla="*/ 1177 h 1229"/>
                  <a:gd name="T84" fmla="*/ 834 w 1278"/>
                  <a:gd name="T85" fmla="*/ 1062 h 1229"/>
                  <a:gd name="T86" fmla="*/ 883 w 1278"/>
                  <a:gd name="T87" fmla="*/ 1013 h 1229"/>
                  <a:gd name="T88" fmla="*/ 1095 w 1278"/>
                  <a:gd name="T89" fmla="*/ 917 h 1229"/>
                  <a:gd name="T90" fmla="*/ 1084 w 1278"/>
                  <a:gd name="T91" fmla="*/ 851 h 1229"/>
                  <a:gd name="T92" fmla="*/ 1070 w 1278"/>
                  <a:gd name="T93" fmla="*/ 796 h 1229"/>
                  <a:gd name="T94" fmla="*/ 1139 w 1278"/>
                  <a:gd name="T95" fmla="*/ 675 h 1229"/>
                  <a:gd name="T96" fmla="*/ 1214 w 1278"/>
                  <a:gd name="T97" fmla="*/ 657 h 1229"/>
                  <a:gd name="T98" fmla="*/ 1223 w 1278"/>
                  <a:gd name="T99" fmla="*/ 655 h 1229"/>
                  <a:gd name="T100" fmla="*/ 1269 w 1278"/>
                  <a:gd name="T101" fmla="*/ 574 h 1229"/>
                  <a:gd name="T102" fmla="*/ 1220 w 1278"/>
                  <a:gd name="T103" fmla="*/ 462 h 12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278" h="1229">
                    <a:moveTo>
                      <a:pt x="1220" y="462"/>
                    </a:moveTo>
                    <a:cubicBezTo>
                      <a:pt x="1203" y="442"/>
                      <a:pt x="1180" y="427"/>
                      <a:pt x="1171" y="398"/>
                    </a:cubicBezTo>
                    <a:cubicBezTo>
                      <a:pt x="1151" y="343"/>
                      <a:pt x="1102" y="343"/>
                      <a:pt x="1058" y="338"/>
                    </a:cubicBezTo>
                    <a:cubicBezTo>
                      <a:pt x="1015" y="332"/>
                      <a:pt x="1041" y="277"/>
                      <a:pt x="1038" y="231"/>
                    </a:cubicBezTo>
                    <a:cubicBezTo>
                      <a:pt x="1035" y="185"/>
                      <a:pt x="1021" y="142"/>
                      <a:pt x="1021" y="121"/>
                    </a:cubicBezTo>
                    <a:cubicBezTo>
                      <a:pt x="1021" y="113"/>
                      <a:pt x="1019" y="84"/>
                      <a:pt x="1018" y="54"/>
                    </a:cubicBezTo>
                    <a:cubicBezTo>
                      <a:pt x="1017" y="35"/>
                      <a:pt x="1015" y="15"/>
                      <a:pt x="1014" y="0"/>
                    </a:cubicBezTo>
                    <a:cubicBezTo>
                      <a:pt x="1004" y="7"/>
                      <a:pt x="993" y="16"/>
                      <a:pt x="982" y="27"/>
                    </a:cubicBezTo>
                    <a:cubicBezTo>
                      <a:pt x="975" y="35"/>
                      <a:pt x="967" y="43"/>
                      <a:pt x="960" y="50"/>
                    </a:cubicBezTo>
                    <a:cubicBezTo>
                      <a:pt x="942" y="69"/>
                      <a:pt x="923" y="89"/>
                      <a:pt x="905" y="108"/>
                    </a:cubicBezTo>
                    <a:cubicBezTo>
                      <a:pt x="832" y="182"/>
                      <a:pt x="766" y="248"/>
                      <a:pt x="748" y="254"/>
                    </a:cubicBezTo>
                    <a:cubicBezTo>
                      <a:pt x="725" y="263"/>
                      <a:pt x="594" y="243"/>
                      <a:pt x="594" y="243"/>
                    </a:cubicBezTo>
                    <a:cubicBezTo>
                      <a:pt x="594" y="243"/>
                      <a:pt x="460" y="213"/>
                      <a:pt x="440" y="305"/>
                    </a:cubicBezTo>
                    <a:cubicBezTo>
                      <a:pt x="429" y="331"/>
                      <a:pt x="362" y="391"/>
                      <a:pt x="340" y="375"/>
                    </a:cubicBezTo>
                    <a:cubicBezTo>
                      <a:pt x="313" y="356"/>
                      <a:pt x="238" y="392"/>
                      <a:pt x="238" y="392"/>
                    </a:cubicBezTo>
                    <a:cubicBezTo>
                      <a:pt x="41" y="363"/>
                      <a:pt x="41" y="363"/>
                      <a:pt x="41" y="363"/>
                    </a:cubicBezTo>
                    <a:cubicBezTo>
                      <a:pt x="41" y="363"/>
                      <a:pt x="68" y="442"/>
                      <a:pt x="61" y="477"/>
                    </a:cubicBezTo>
                    <a:cubicBezTo>
                      <a:pt x="55" y="513"/>
                      <a:pt x="24" y="597"/>
                      <a:pt x="24" y="597"/>
                    </a:cubicBezTo>
                    <a:cubicBezTo>
                      <a:pt x="24" y="597"/>
                      <a:pt x="0" y="657"/>
                      <a:pt x="21" y="701"/>
                    </a:cubicBezTo>
                    <a:cubicBezTo>
                      <a:pt x="29" y="715"/>
                      <a:pt x="29" y="735"/>
                      <a:pt x="29" y="745"/>
                    </a:cubicBezTo>
                    <a:cubicBezTo>
                      <a:pt x="54" y="770"/>
                      <a:pt x="79" y="797"/>
                      <a:pt x="83" y="805"/>
                    </a:cubicBezTo>
                    <a:cubicBezTo>
                      <a:pt x="92" y="822"/>
                      <a:pt x="109" y="857"/>
                      <a:pt x="107" y="874"/>
                    </a:cubicBezTo>
                    <a:cubicBezTo>
                      <a:pt x="105" y="886"/>
                      <a:pt x="83" y="912"/>
                      <a:pt x="68" y="936"/>
                    </a:cubicBezTo>
                    <a:cubicBezTo>
                      <a:pt x="60" y="949"/>
                      <a:pt x="55" y="961"/>
                      <a:pt x="55" y="969"/>
                    </a:cubicBezTo>
                    <a:cubicBezTo>
                      <a:pt x="55" y="995"/>
                      <a:pt x="58" y="1019"/>
                      <a:pt x="112" y="1021"/>
                    </a:cubicBezTo>
                    <a:cubicBezTo>
                      <a:pt x="167" y="1024"/>
                      <a:pt x="202" y="1004"/>
                      <a:pt x="170" y="1068"/>
                    </a:cubicBezTo>
                    <a:cubicBezTo>
                      <a:pt x="138" y="1131"/>
                      <a:pt x="161" y="1157"/>
                      <a:pt x="208" y="1151"/>
                    </a:cubicBezTo>
                    <a:cubicBezTo>
                      <a:pt x="254" y="1145"/>
                      <a:pt x="259" y="1154"/>
                      <a:pt x="283" y="1166"/>
                    </a:cubicBezTo>
                    <a:cubicBezTo>
                      <a:pt x="306" y="1177"/>
                      <a:pt x="355" y="1166"/>
                      <a:pt x="355" y="1117"/>
                    </a:cubicBezTo>
                    <a:cubicBezTo>
                      <a:pt x="358" y="1099"/>
                      <a:pt x="369" y="1108"/>
                      <a:pt x="381" y="1105"/>
                    </a:cubicBezTo>
                    <a:cubicBezTo>
                      <a:pt x="392" y="1102"/>
                      <a:pt x="407" y="1093"/>
                      <a:pt x="407" y="1059"/>
                    </a:cubicBezTo>
                    <a:cubicBezTo>
                      <a:pt x="412" y="1047"/>
                      <a:pt x="421" y="1030"/>
                      <a:pt x="438" y="1016"/>
                    </a:cubicBezTo>
                    <a:cubicBezTo>
                      <a:pt x="456" y="1001"/>
                      <a:pt x="458" y="1004"/>
                      <a:pt x="490" y="1013"/>
                    </a:cubicBezTo>
                    <a:cubicBezTo>
                      <a:pt x="522" y="1021"/>
                      <a:pt x="519" y="1027"/>
                      <a:pt x="502" y="1047"/>
                    </a:cubicBezTo>
                    <a:cubicBezTo>
                      <a:pt x="484" y="1068"/>
                      <a:pt x="453" y="1099"/>
                      <a:pt x="464" y="1111"/>
                    </a:cubicBezTo>
                    <a:cubicBezTo>
                      <a:pt x="476" y="1122"/>
                      <a:pt x="502" y="1114"/>
                      <a:pt x="525" y="1131"/>
                    </a:cubicBezTo>
                    <a:cubicBezTo>
                      <a:pt x="548" y="1148"/>
                      <a:pt x="559" y="1183"/>
                      <a:pt x="559" y="1206"/>
                    </a:cubicBezTo>
                    <a:cubicBezTo>
                      <a:pt x="559" y="1229"/>
                      <a:pt x="571" y="1220"/>
                      <a:pt x="600" y="1194"/>
                    </a:cubicBezTo>
                    <a:cubicBezTo>
                      <a:pt x="629" y="1168"/>
                      <a:pt x="640" y="1160"/>
                      <a:pt x="649" y="1177"/>
                    </a:cubicBezTo>
                    <a:cubicBezTo>
                      <a:pt x="658" y="1194"/>
                      <a:pt x="672" y="1229"/>
                      <a:pt x="681" y="1226"/>
                    </a:cubicBezTo>
                    <a:cubicBezTo>
                      <a:pt x="683" y="1225"/>
                      <a:pt x="687" y="1224"/>
                      <a:pt x="692" y="1222"/>
                    </a:cubicBezTo>
                    <a:cubicBezTo>
                      <a:pt x="710" y="1216"/>
                      <a:pt x="742" y="1203"/>
                      <a:pt x="773" y="1177"/>
                    </a:cubicBezTo>
                    <a:cubicBezTo>
                      <a:pt x="813" y="1143"/>
                      <a:pt x="831" y="1111"/>
                      <a:pt x="834" y="1062"/>
                    </a:cubicBezTo>
                    <a:cubicBezTo>
                      <a:pt x="836" y="1039"/>
                      <a:pt x="857" y="1033"/>
                      <a:pt x="883" y="1013"/>
                    </a:cubicBezTo>
                    <a:cubicBezTo>
                      <a:pt x="906" y="995"/>
                      <a:pt x="1004" y="961"/>
                      <a:pt x="1095" y="917"/>
                    </a:cubicBezTo>
                    <a:cubicBezTo>
                      <a:pt x="1083" y="907"/>
                      <a:pt x="1087" y="876"/>
                      <a:pt x="1084" y="851"/>
                    </a:cubicBezTo>
                    <a:cubicBezTo>
                      <a:pt x="1082" y="822"/>
                      <a:pt x="1070" y="817"/>
                      <a:pt x="1070" y="796"/>
                    </a:cubicBezTo>
                    <a:cubicBezTo>
                      <a:pt x="1070" y="776"/>
                      <a:pt x="1139" y="675"/>
                      <a:pt x="1139" y="675"/>
                    </a:cubicBezTo>
                    <a:cubicBezTo>
                      <a:pt x="1214" y="657"/>
                      <a:pt x="1214" y="657"/>
                      <a:pt x="1214" y="657"/>
                    </a:cubicBezTo>
                    <a:cubicBezTo>
                      <a:pt x="1223" y="655"/>
                      <a:pt x="1223" y="655"/>
                      <a:pt x="1223" y="655"/>
                    </a:cubicBezTo>
                    <a:cubicBezTo>
                      <a:pt x="1223" y="655"/>
                      <a:pt x="1260" y="597"/>
                      <a:pt x="1269" y="574"/>
                    </a:cubicBezTo>
                    <a:cubicBezTo>
                      <a:pt x="1278" y="551"/>
                      <a:pt x="1237" y="482"/>
                      <a:pt x="1220" y="4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55" name="Freeform 1830">
                <a:extLst>
                  <a:ext uri="{FF2B5EF4-FFF2-40B4-BE49-F238E27FC236}">
                    <a16:creationId xmlns:a16="http://schemas.microsoft.com/office/drawing/2014/main" id="{DA2A2B9E-5B80-7742-1725-E2C9A765D3CE}"/>
                  </a:ext>
                </a:extLst>
              </p:cNvPr>
              <p:cNvSpPr>
                <a:spLocks/>
              </p:cNvSpPr>
              <p:nvPr/>
            </p:nvSpPr>
            <p:spPr bwMode="auto">
              <a:xfrm>
                <a:off x="2056" y="3346"/>
                <a:ext cx="408" cy="286"/>
              </a:xfrm>
              <a:custGeom>
                <a:avLst/>
                <a:gdLst>
                  <a:gd name="T0" fmla="*/ 418 w 1848"/>
                  <a:gd name="T1" fmla="*/ 1165 h 1298"/>
                  <a:gd name="T2" fmla="*/ 542 w 1848"/>
                  <a:gd name="T3" fmla="*/ 1093 h 1298"/>
                  <a:gd name="T4" fmla="*/ 601 w 1848"/>
                  <a:gd name="T5" fmla="*/ 1070 h 1298"/>
                  <a:gd name="T6" fmla="*/ 738 w 1848"/>
                  <a:gd name="T7" fmla="*/ 1084 h 1298"/>
                  <a:gd name="T8" fmla="*/ 793 w 1848"/>
                  <a:gd name="T9" fmla="*/ 994 h 1298"/>
                  <a:gd name="T10" fmla="*/ 865 w 1848"/>
                  <a:gd name="T11" fmla="*/ 822 h 1298"/>
                  <a:gd name="T12" fmla="*/ 1005 w 1848"/>
                  <a:gd name="T13" fmla="*/ 797 h 1298"/>
                  <a:gd name="T14" fmla="*/ 1089 w 1848"/>
                  <a:gd name="T15" fmla="*/ 831 h 1298"/>
                  <a:gd name="T16" fmla="*/ 1089 w 1848"/>
                  <a:gd name="T17" fmla="*/ 852 h 1298"/>
                  <a:gd name="T18" fmla="*/ 1126 w 1848"/>
                  <a:gd name="T19" fmla="*/ 852 h 1298"/>
                  <a:gd name="T20" fmla="*/ 1138 w 1848"/>
                  <a:gd name="T21" fmla="*/ 790 h 1298"/>
                  <a:gd name="T22" fmla="*/ 1183 w 1848"/>
                  <a:gd name="T23" fmla="*/ 767 h 1298"/>
                  <a:gd name="T24" fmla="*/ 1206 w 1848"/>
                  <a:gd name="T25" fmla="*/ 682 h 1298"/>
                  <a:gd name="T26" fmla="*/ 1262 w 1848"/>
                  <a:gd name="T27" fmla="*/ 676 h 1298"/>
                  <a:gd name="T28" fmla="*/ 1276 w 1848"/>
                  <a:gd name="T29" fmla="*/ 662 h 1298"/>
                  <a:gd name="T30" fmla="*/ 1315 w 1848"/>
                  <a:gd name="T31" fmla="*/ 653 h 1298"/>
                  <a:gd name="T32" fmla="*/ 1356 w 1848"/>
                  <a:gd name="T33" fmla="*/ 562 h 1298"/>
                  <a:gd name="T34" fmla="*/ 1427 w 1848"/>
                  <a:gd name="T35" fmla="*/ 516 h 1298"/>
                  <a:gd name="T36" fmla="*/ 1470 w 1848"/>
                  <a:gd name="T37" fmla="*/ 509 h 1298"/>
                  <a:gd name="T38" fmla="*/ 1558 w 1848"/>
                  <a:gd name="T39" fmla="*/ 477 h 1298"/>
                  <a:gd name="T40" fmla="*/ 1604 w 1848"/>
                  <a:gd name="T41" fmla="*/ 512 h 1298"/>
                  <a:gd name="T42" fmla="*/ 1662 w 1848"/>
                  <a:gd name="T43" fmla="*/ 409 h 1298"/>
                  <a:gd name="T44" fmla="*/ 1718 w 1848"/>
                  <a:gd name="T45" fmla="*/ 347 h 1298"/>
                  <a:gd name="T46" fmla="*/ 1839 w 1848"/>
                  <a:gd name="T47" fmla="*/ 291 h 1298"/>
                  <a:gd name="T48" fmla="*/ 1848 w 1848"/>
                  <a:gd name="T49" fmla="*/ 294 h 1298"/>
                  <a:gd name="T50" fmla="*/ 1816 w 1848"/>
                  <a:gd name="T51" fmla="*/ 256 h 1298"/>
                  <a:gd name="T52" fmla="*/ 1712 w 1848"/>
                  <a:gd name="T53" fmla="*/ 210 h 1298"/>
                  <a:gd name="T54" fmla="*/ 1660 w 1848"/>
                  <a:gd name="T55" fmla="*/ 167 h 1298"/>
                  <a:gd name="T56" fmla="*/ 1651 w 1848"/>
                  <a:gd name="T57" fmla="*/ 92 h 1298"/>
                  <a:gd name="T58" fmla="*/ 1605 w 1848"/>
                  <a:gd name="T59" fmla="*/ 95 h 1298"/>
                  <a:gd name="T60" fmla="*/ 1562 w 1848"/>
                  <a:gd name="T61" fmla="*/ 34 h 1298"/>
                  <a:gd name="T62" fmla="*/ 1519 w 1848"/>
                  <a:gd name="T63" fmla="*/ 0 h 1298"/>
                  <a:gd name="T64" fmla="*/ 1445 w 1848"/>
                  <a:gd name="T65" fmla="*/ 0 h 1298"/>
                  <a:gd name="T66" fmla="*/ 1441 w 1848"/>
                  <a:gd name="T67" fmla="*/ 8 h 1298"/>
                  <a:gd name="T68" fmla="*/ 1404 w 1848"/>
                  <a:gd name="T69" fmla="*/ 32 h 1298"/>
                  <a:gd name="T70" fmla="*/ 1305 w 1848"/>
                  <a:gd name="T71" fmla="*/ 40 h 1298"/>
                  <a:gd name="T72" fmla="*/ 1213 w 1848"/>
                  <a:gd name="T73" fmla="*/ 29 h 1298"/>
                  <a:gd name="T74" fmla="*/ 1173 w 1848"/>
                  <a:gd name="T75" fmla="*/ 60 h 1298"/>
                  <a:gd name="T76" fmla="*/ 1132 w 1848"/>
                  <a:gd name="T77" fmla="*/ 31 h 1298"/>
                  <a:gd name="T78" fmla="*/ 1072 w 1848"/>
                  <a:gd name="T79" fmla="*/ 43 h 1298"/>
                  <a:gd name="T80" fmla="*/ 1109 w 1848"/>
                  <a:gd name="T81" fmla="*/ 153 h 1298"/>
                  <a:gd name="T82" fmla="*/ 1080 w 1848"/>
                  <a:gd name="T83" fmla="*/ 222 h 1298"/>
                  <a:gd name="T84" fmla="*/ 870 w 1848"/>
                  <a:gd name="T85" fmla="*/ 357 h 1298"/>
                  <a:gd name="T86" fmla="*/ 806 w 1848"/>
                  <a:gd name="T87" fmla="*/ 329 h 1298"/>
                  <a:gd name="T88" fmla="*/ 720 w 1848"/>
                  <a:gd name="T89" fmla="*/ 248 h 1298"/>
                  <a:gd name="T90" fmla="*/ 607 w 1848"/>
                  <a:gd name="T91" fmla="*/ 274 h 1298"/>
                  <a:gd name="T92" fmla="*/ 434 w 1848"/>
                  <a:gd name="T93" fmla="*/ 271 h 1298"/>
                  <a:gd name="T94" fmla="*/ 362 w 1848"/>
                  <a:gd name="T95" fmla="*/ 300 h 1298"/>
                  <a:gd name="T96" fmla="*/ 221 w 1848"/>
                  <a:gd name="T97" fmla="*/ 233 h 1298"/>
                  <a:gd name="T98" fmla="*/ 178 w 1848"/>
                  <a:gd name="T99" fmla="*/ 207 h 1298"/>
                  <a:gd name="T100" fmla="*/ 151 w 1848"/>
                  <a:gd name="T101" fmla="*/ 287 h 1298"/>
                  <a:gd name="T102" fmla="*/ 91 w 1848"/>
                  <a:gd name="T103" fmla="*/ 417 h 1298"/>
                  <a:gd name="T104" fmla="*/ 39 w 1848"/>
                  <a:gd name="T105" fmla="*/ 538 h 1298"/>
                  <a:gd name="T106" fmla="*/ 35 w 1848"/>
                  <a:gd name="T107" fmla="*/ 642 h 1298"/>
                  <a:gd name="T108" fmla="*/ 169 w 1848"/>
                  <a:gd name="T109" fmla="*/ 706 h 1298"/>
                  <a:gd name="T110" fmla="*/ 182 w 1848"/>
                  <a:gd name="T111" fmla="*/ 914 h 1298"/>
                  <a:gd name="T112" fmla="*/ 108 w 1848"/>
                  <a:gd name="T113" fmla="*/ 983 h 1298"/>
                  <a:gd name="T114" fmla="*/ 164 w 1848"/>
                  <a:gd name="T115" fmla="*/ 1079 h 1298"/>
                  <a:gd name="T116" fmla="*/ 208 w 1848"/>
                  <a:gd name="T117" fmla="*/ 1213 h 1298"/>
                  <a:gd name="T118" fmla="*/ 184 w 1848"/>
                  <a:gd name="T119" fmla="*/ 1298 h 1298"/>
                  <a:gd name="T120" fmla="*/ 198 w 1848"/>
                  <a:gd name="T121" fmla="*/ 1285 h 1298"/>
                  <a:gd name="T122" fmla="*/ 418 w 1848"/>
                  <a:gd name="T123" fmla="*/ 1165 h 12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1848" h="1298">
                    <a:moveTo>
                      <a:pt x="418" y="1165"/>
                    </a:moveTo>
                    <a:cubicBezTo>
                      <a:pt x="457" y="1152"/>
                      <a:pt x="515" y="1113"/>
                      <a:pt x="542" y="1093"/>
                    </a:cubicBezTo>
                    <a:cubicBezTo>
                      <a:pt x="542" y="1093"/>
                      <a:pt x="567" y="1069"/>
                      <a:pt x="601" y="1070"/>
                    </a:cubicBezTo>
                    <a:cubicBezTo>
                      <a:pt x="636" y="1071"/>
                      <a:pt x="726" y="1087"/>
                      <a:pt x="738" y="1084"/>
                    </a:cubicBezTo>
                    <a:cubicBezTo>
                      <a:pt x="751" y="1081"/>
                      <a:pt x="779" y="1063"/>
                      <a:pt x="793" y="994"/>
                    </a:cubicBezTo>
                    <a:cubicBezTo>
                      <a:pt x="808" y="924"/>
                      <a:pt x="855" y="822"/>
                      <a:pt x="865" y="822"/>
                    </a:cubicBezTo>
                    <a:cubicBezTo>
                      <a:pt x="876" y="822"/>
                      <a:pt x="971" y="803"/>
                      <a:pt x="1005" y="797"/>
                    </a:cubicBezTo>
                    <a:cubicBezTo>
                      <a:pt x="1040" y="792"/>
                      <a:pt x="1089" y="784"/>
                      <a:pt x="1089" y="831"/>
                    </a:cubicBezTo>
                    <a:cubicBezTo>
                      <a:pt x="1089" y="848"/>
                      <a:pt x="1089" y="852"/>
                      <a:pt x="1089" y="852"/>
                    </a:cubicBezTo>
                    <a:cubicBezTo>
                      <a:pt x="1126" y="852"/>
                      <a:pt x="1126" y="852"/>
                      <a:pt x="1126" y="852"/>
                    </a:cubicBezTo>
                    <a:cubicBezTo>
                      <a:pt x="1126" y="852"/>
                      <a:pt x="1119" y="807"/>
                      <a:pt x="1138" y="790"/>
                    </a:cubicBezTo>
                    <a:cubicBezTo>
                      <a:pt x="1157" y="773"/>
                      <a:pt x="1183" y="767"/>
                      <a:pt x="1183" y="767"/>
                    </a:cubicBezTo>
                    <a:cubicBezTo>
                      <a:pt x="1183" y="767"/>
                      <a:pt x="1170" y="694"/>
                      <a:pt x="1206" y="682"/>
                    </a:cubicBezTo>
                    <a:cubicBezTo>
                      <a:pt x="1242" y="670"/>
                      <a:pt x="1256" y="675"/>
                      <a:pt x="1262" y="676"/>
                    </a:cubicBezTo>
                    <a:cubicBezTo>
                      <a:pt x="1268" y="678"/>
                      <a:pt x="1276" y="662"/>
                      <a:pt x="1276" y="662"/>
                    </a:cubicBezTo>
                    <a:cubicBezTo>
                      <a:pt x="1315" y="653"/>
                      <a:pt x="1315" y="653"/>
                      <a:pt x="1315" y="653"/>
                    </a:cubicBezTo>
                    <a:cubicBezTo>
                      <a:pt x="1315" y="653"/>
                      <a:pt x="1318" y="593"/>
                      <a:pt x="1356" y="562"/>
                    </a:cubicBezTo>
                    <a:cubicBezTo>
                      <a:pt x="1383" y="541"/>
                      <a:pt x="1398" y="525"/>
                      <a:pt x="1427" y="516"/>
                    </a:cubicBezTo>
                    <a:cubicBezTo>
                      <a:pt x="1439" y="513"/>
                      <a:pt x="1452" y="510"/>
                      <a:pt x="1470" y="509"/>
                    </a:cubicBezTo>
                    <a:cubicBezTo>
                      <a:pt x="1510" y="487"/>
                      <a:pt x="1533" y="474"/>
                      <a:pt x="1558" y="477"/>
                    </a:cubicBezTo>
                    <a:cubicBezTo>
                      <a:pt x="1582" y="480"/>
                      <a:pt x="1601" y="480"/>
                      <a:pt x="1604" y="512"/>
                    </a:cubicBezTo>
                    <a:cubicBezTo>
                      <a:pt x="1641" y="474"/>
                      <a:pt x="1660" y="467"/>
                      <a:pt x="1662" y="409"/>
                    </a:cubicBezTo>
                    <a:cubicBezTo>
                      <a:pt x="1664" y="373"/>
                      <a:pt x="1679" y="366"/>
                      <a:pt x="1718" y="347"/>
                    </a:cubicBezTo>
                    <a:cubicBezTo>
                      <a:pt x="1757" y="329"/>
                      <a:pt x="1839" y="291"/>
                      <a:pt x="1839" y="291"/>
                    </a:cubicBezTo>
                    <a:cubicBezTo>
                      <a:pt x="1839" y="291"/>
                      <a:pt x="1843" y="293"/>
                      <a:pt x="1848" y="294"/>
                    </a:cubicBezTo>
                    <a:cubicBezTo>
                      <a:pt x="1831" y="277"/>
                      <a:pt x="1817" y="262"/>
                      <a:pt x="1816" y="256"/>
                    </a:cubicBezTo>
                    <a:cubicBezTo>
                      <a:pt x="1813" y="242"/>
                      <a:pt x="1750" y="216"/>
                      <a:pt x="1712" y="210"/>
                    </a:cubicBezTo>
                    <a:cubicBezTo>
                      <a:pt x="1675" y="205"/>
                      <a:pt x="1660" y="196"/>
                      <a:pt x="1660" y="167"/>
                    </a:cubicBezTo>
                    <a:cubicBezTo>
                      <a:pt x="1660" y="138"/>
                      <a:pt x="1657" y="101"/>
                      <a:pt x="1651" y="92"/>
                    </a:cubicBezTo>
                    <a:cubicBezTo>
                      <a:pt x="1646" y="83"/>
                      <a:pt x="1605" y="95"/>
                      <a:pt x="1605" y="95"/>
                    </a:cubicBezTo>
                    <a:cubicBezTo>
                      <a:pt x="1605" y="95"/>
                      <a:pt x="1588" y="60"/>
                      <a:pt x="1562" y="34"/>
                    </a:cubicBezTo>
                    <a:cubicBezTo>
                      <a:pt x="1536" y="8"/>
                      <a:pt x="1519" y="0"/>
                      <a:pt x="1519" y="0"/>
                    </a:cubicBezTo>
                    <a:cubicBezTo>
                      <a:pt x="1445" y="0"/>
                      <a:pt x="1445" y="0"/>
                      <a:pt x="1445" y="0"/>
                    </a:cubicBezTo>
                    <a:cubicBezTo>
                      <a:pt x="1444" y="2"/>
                      <a:pt x="1443" y="5"/>
                      <a:pt x="1441" y="8"/>
                    </a:cubicBezTo>
                    <a:cubicBezTo>
                      <a:pt x="1434" y="18"/>
                      <a:pt x="1421" y="26"/>
                      <a:pt x="1404" y="32"/>
                    </a:cubicBezTo>
                    <a:cubicBezTo>
                      <a:pt x="1376" y="42"/>
                      <a:pt x="1338" y="46"/>
                      <a:pt x="1305" y="40"/>
                    </a:cubicBezTo>
                    <a:cubicBezTo>
                      <a:pt x="1253" y="31"/>
                      <a:pt x="1239" y="20"/>
                      <a:pt x="1213" y="29"/>
                    </a:cubicBezTo>
                    <a:cubicBezTo>
                      <a:pt x="1187" y="37"/>
                      <a:pt x="1173" y="60"/>
                      <a:pt x="1173" y="60"/>
                    </a:cubicBezTo>
                    <a:cubicBezTo>
                      <a:pt x="1173" y="60"/>
                      <a:pt x="1155" y="43"/>
                      <a:pt x="1132" y="31"/>
                    </a:cubicBezTo>
                    <a:cubicBezTo>
                      <a:pt x="1109" y="20"/>
                      <a:pt x="1092" y="26"/>
                      <a:pt x="1072" y="43"/>
                    </a:cubicBezTo>
                    <a:cubicBezTo>
                      <a:pt x="1051" y="98"/>
                      <a:pt x="1095" y="121"/>
                      <a:pt x="1109" y="153"/>
                    </a:cubicBezTo>
                    <a:cubicBezTo>
                      <a:pt x="1124" y="184"/>
                      <a:pt x="1106" y="210"/>
                      <a:pt x="1080" y="222"/>
                    </a:cubicBezTo>
                    <a:cubicBezTo>
                      <a:pt x="948" y="331"/>
                      <a:pt x="927" y="329"/>
                      <a:pt x="870" y="357"/>
                    </a:cubicBezTo>
                    <a:cubicBezTo>
                      <a:pt x="812" y="386"/>
                      <a:pt x="812" y="372"/>
                      <a:pt x="806" y="329"/>
                    </a:cubicBezTo>
                    <a:cubicBezTo>
                      <a:pt x="801" y="285"/>
                      <a:pt x="746" y="256"/>
                      <a:pt x="720" y="248"/>
                    </a:cubicBezTo>
                    <a:cubicBezTo>
                      <a:pt x="694" y="239"/>
                      <a:pt x="653" y="274"/>
                      <a:pt x="607" y="274"/>
                    </a:cubicBezTo>
                    <a:cubicBezTo>
                      <a:pt x="561" y="274"/>
                      <a:pt x="475" y="268"/>
                      <a:pt x="434" y="271"/>
                    </a:cubicBezTo>
                    <a:cubicBezTo>
                      <a:pt x="394" y="274"/>
                      <a:pt x="402" y="300"/>
                      <a:pt x="362" y="300"/>
                    </a:cubicBezTo>
                    <a:cubicBezTo>
                      <a:pt x="322" y="300"/>
                      <a:pt x="287" y="280"/>
                      <a:pt x="221" y="233"/>
                    </a:cubicBezTo>
                    <a:cubicBezTo>
                      <a:pt x="206" y="223"/>
                      <a:pt x="191" y="214"/>
                      <a:pt x="178" y="207"/>
                    </a:cubicBezTo>
                    <a:cubicBezTo>
                      <a:pt x="151" y="287"/>
                      <a:pt x="151" y="287"/>
                      <a:pt x="151" y="287"/>
                    </a:cubicBezTo>
                    <a:cubicBezTo>
                      <a:pt x="151" y="287"/>
                      <a:pt x="121" y="369"/>
                      <a:pt x="91" y="417"/>
                    </a:cubicBezTo>
                    <a:cubicBezTo>
                      <a:pt x="61" y="464"/>
                      <a:pt x="87" y="490"/>
                      <a:pt x="39" y="538"/>
                    </a:cubicBezTo>
                    <a:cubicBezTo>
                      <a:pt x="35" y="594"/>
                      <a:pt x="0" y="633"/>
                      <a:pt x="35" y="642"/>
                    </a:cubicBezTo>
                    <a:cubicBezTo>
                      <a:pt x="69" y="650"/>
                      <a:pt x="151" y="668"/>
                      <a:pt x="169" y="706"/>
                    </a:cubicBezTo>
                    <a:cubicBezTo>
                      <a:pt x="186" y="745"/>
                      <a:pt x="212" y="867"/>
                      <a:pt x="182" y="914"/>
                    </a:cubicBezTo>
                    <a:cubicBezTo>
                      <a:pt x="151" y="962"/>
                      <a:pt x="108" y="983"/>
                      <a:pt x="108" y="983"/>
                    </a:cubicBezTo>
                    <a:cubicBezTo>
                      <a:pt x="108" y="983"/>
                      <a:pt x="160" y="1066"/>
                      <a:pt x="164" y="1079"/>
                    </a:cubicBezTo>
                    <a:cubicBezTo>
                      <a:pt x="169" y="1092"/>
                      <a:pt x="208" y="1213"/>
                      <a:pt x="208" y="1213"/>
                    </a:cubicBezTo>
                    <a:cubicBezTo>
                      <a:pt x="208" y="1213"/>
                      <a:pt x="179" y="1274"/>
                      <a:pt x="184" y="1298"/>
                    </a:cubicBezTo>
                    <a:cubicBezTo>
                      <a:pt x="189" y="1294"/>
                      <a:pt x="193" y="1289"/>
                      <a:pt x="198" y="1285"/>
                    </a:cubicBezTo>
                    <a:cubicBezTo>
                      <a:pt x="254" y="1237"/>
                      <a:pt x="286" y="1206"/>
                      <a:pt x="418" y="116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56" name="Freeform 1831">
                <a:extLst>
                  <a:ext uri="{FF2B5EF4-FFF2-40B4-BE49-F238E27FC236}">
                    <a16:creationId xmlns:a16="http://schemas.microsoft.com/office/drawing/2014/main" id="{D809F882-B17C-8DE4-51E0-B0B0EABFF208}"/>
                  </a:ext>
                </a:extLst>
              </p:cNvPr>
              <p:cNvSpPr>
                <a:spLocks/>
              </p:cNvSpPr>
              <p:nvPr/>
            </p:nvSpPr>
            <p:spPr bwMode="auto">
              <a:xfrm>
                <a:off x="1628" y="3281"/>
                <a:ext cx="180" cy="228"/>
              </a:xfrm>
              <a:custGeom>
                <a:avLst/>
                <a:gdLst>
                  <a:gd name="T0" fmla="*/ 788 w 814"/>
                  <a:gd name="T1" fmla="*/ 187 h 1035"/>
                  <a:gd name="T2" fmla="*/ 734 w 814"/>
                  <a:gd name="T3" fmla="*/ 127 h 1035"/>
                  <a:gd name="T4" fmla="*/ 734 w 814"/>
                  <a:gd name="T5" fmla="*/ 132 h 1035"/>
                  <a:gd name="T6" fmla="*/ 600 w 814"/>
                  <a:gd name="T7" fmla="*/ 123 h 1035"/>
                  <a:gd name="T8" fmla="*/ 368 w 814"/>
                  <a:gd name="T9" fmla="*/ 49 h 1035"/>
                  <a:gd name="T10" fmla="*/ 218 w 814"/>
                  <a:gd name="T11" fmla="*/ 68 h 1035"/>
                  <a:gd name="T12" fmla="*/ 179 w 814"/>
                  <a:gd name="T13" fmla="*/ 165 h 1035"/>
                  <a:gd name="T14" fmla="*/ 129 w 814"/>
                  <a:gd name="T15" fmla="*/ 162 h 1035"/>
                  <a:gd name="T16" fmla="*/ 27 w 814"/>
                  <a:gd name="T17" fmla="*/ 169 h 1035"/>
                  <a:gd name="T18" fmla="*/ 8 w 814"/>
                  <a:gd name="T19" fmla="*/ 258 h 1035"/>
                  <a:gd name="T20" fmla="*/ 82 w 814"/>
                  <a:gd name="T21" fmla="*/ 302 h 1035"/>
                  <a:gd name="T22" fmla="*/ 81 w 814"/>
                  <a:gd name="T23" fmla="*/ 367 h 1035"/>
                  <a:gd name="T24" fmla="*/ 82 w 814"/>
                  <a:gd name="T25" fmla="*/ 432 h 1035"/>
                  <a:gd name="T26" fmla="*/ 44 w 814"/>
                  <a:gd name="T27" fmla="*/ 508 h 1035"/>
                  <a:gd name="T28" fmla="*/ 40 w 814"/>
                  <a:gd name="T29" fmla="*/ 622 h 1035"/>
                  <a:gd name="T30" fmla="*/ 107 w 814"/>
                  <a:gd name="T31" fmla="*/ 678 h 1035"/>
                  <a:gd name="T32" fmla="*/ 253 w 814"/>
                  <a:gd name="T33" fmla="*/ 814 h 1035"/>
                  <a:gd name="T34" fmla="*/ 386 w 814"/>
                  <a:gd name="T35" fmla="*/ 880 h 1035"/>
                  <a:gd name="T36" fmla="*/ 390 w 814"/>
                  <a:gd name="T37" fmla="*/ 881 h 1035"/>
                  <a:gd name="T38" fmla="*/ 457 w 814"/>
                  <a:gd name="T39" fmla="*/ 960 h 1035"/>
                  <a:gd name="T40" fmla="*/ 453 w 814"/>
                  <a:gd name="T41" fmla="*/ 1015 h 1035"/>
                  <a:gd name="T42" fmla="*/ 486 w 814"/>
                  <a:gd name="T43" fmla="*/ 1035 h 1035"/>
                  <a:gd name="T44" fmla="*/ 546 w 814"/>
                  <a:gd name="T45" fmla="*/ 972 h 1035"/>
                  <a:gd name="T46" fmla="*/ 598 w 814"/>
                  <a:gd name="T47" fmla="*/ 969 h 1035"/>
                  <a:gd name="T48" fmla="*/ 643 w 814"/>
                  <a:gd name="T49" fmla="*/ 1014 h 1035"/>
                  <a:gd name="T50" fmla="*/ 709 w 814"/>
                  <a:gd name="T51" fmla="*/ 975 h 1035"/>
                  <a:gd name="T52" fmla="*/ 748 w 814"/>
                  <a:gd name="T53" fmla="*/ 910 h 1035"/>
                  <a:gd name="T54" fmla="*/ 747 w 814"/>
                  <a:gd name="T55" fmla="*/ 837 h 1035"/>
                  <a:gd name="T56" fmla="*/ 719 w 814"/>
                  <a:gd name="T57" fmla="*/ 793 h 1035"/>
                  <a:gd name="T58" fmla="*/ 693 w 814"/>
                  <a:gd name="T59" fmla="*/ 750 h 1035"/>
                  <a:gd name="T60" fmla="*/ 638 w 814"/>
                  <a:gd name="T61" fmla="*/ 680 h 1035"/>
                  <a:gd name="T62" fmla="*/ 621 w 814"/>
                  <a:gd name="T63" fmla="*/ 654 h 1035"/>
                  <a:gd name="T64" fmla="*/ 636 w 814"/>
                  <a:gd name="T65" fmla="*/ 588 h 1035"/>
                  <a:gd name="T66" fmla="*/ 656 w 814"/>
                  <a:gd name="T67" fmla="*/ 487 h 1035"/>
                  <a:gd name="T68" fmla="*/ 696 w 814"/>
                  <a:gd name="T69" fmla="*/ 415 h 1035"/>
                  <a:gd name="T70" fmla="*/ 731 w 814"/>
                  <a:gd name="T71" fmla="*/ 354 h 1035"/>
                  <a:gd name="T72" fmla="*/ 773 w 814"/>
                  <a:gd name="T73" fmla="*/ 318 h 1035"/>
                  <a:gd name="T74" fmla="*/ 812 w 814"/>
                  <a:gd name="T75" fmla="*/ 256 h 1035"/>
                  <a:gd name="T76" fmla="*/ 788 w 814"/>
                  <a:gd name="T77" fmla="*/ 187 h 10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814" h="1035">
                    <a:moveTo>
                      <a:pt x="788" y="187"/>
                    </a:moveTo>
                    <a:cubicBezTo>
                      <a:pt x="784" y="179"/>
                      <a:pt x="759" y="152"/>
                      <a:pt x="734" y="127"/>
                    </a:cubicBezTo>
                    <a:cubicBezTo>
                      <a:pt x="734" y="130"/>
                      <a:pt x="734" y="132"/>
                      <a:pt x="734" y="132"/>
                    </a:cubicBezTo>
                    <a:cubicBezTo>
                      <a:pt x="734" y="132"/>
                      <a:pt x="646" y="136"/>
                      <a:pt x="600" y="123"/>
                    </a:cubicBezTo>
                    <a:cubicBezTo>
                      <a:pt x="558" y="102"/>
                      <a:pt x="509" y="69"/>
                      <a:pt x="368" y="49"/>
                    </a:cubicBezTo>
                    <a:cubicBezTo>
                      <a:pt x="296" y="26"/>
                      <a:pt x="256" y="0"/>
                      <a:pt x="218" y="68"/>
                    </a:cubicBezTo>
                    <a:cubicBezTo>
                      <a:pt x="206" y="94"/>
                      <a:pt x="199" y="146"/>
                      <a:pt x="179" y="165"/>
                    </a:cubicBezTo>
                    <a:cubicBezTo>
                      <a:pt x="167" y="177"/>
                      <a:pt x="142" y="167"/>
                      <a:pt x="129" y="162"/>
                    </a:cubicBezTo>
                    <a:cubicBezTo>
                      <a:pt x="90" y="137"/>
                      <a:pt x="61" y="125"/>
                      <a:pt x="27" y="169"/>
                    </a:cubicBezTo>
                    <a:cubicBezTo>
                      <a:pt x="0" y="201"/>
                      <a:pt x="8" y="258"/>
                      <a:pt x="8" y="258"/>
                    </a:cubicBezTo>
                    <a:cubicBezTo>
                      <a:pt x="8" y="258"/>
                      <a:pt x="77" y="258"/>
                      <a:pt x="82" y="302"/>
                    </a:cubicBezTo>
                    <a:cubicBezTo>
                      <a:pt x="86" y="345"/>
                      <a:pt x="81" y="367"/>
                      <a:pt x="81" y="367"/>
                    </a:cubicBezTo>
                    <a:cubicBezTo>
                      <a:pt x="81" y="367"/>
                      <a:pt x="85" y="422"/>
                      <a:pt x="82" y="432"/>
                    </a:cubicBezTo>
                    <a:cubicBezTo>
                      <a:pt x="79" y="441"/>
                      <a:pt x="49" y="494"/>
                      <a:pt x="44" y="508"/>
                    </a:cubicBezTo>
                    <a:cubicBezTo>
                      <a:pt x="38" y="522"/>
                      <a:pt x="26" y="561"/>
                      <a:pt x="40" y="622"/>
                    </a:cubicBezTo>
                    <a:cubicBezTo>
                      <a:pt x="68" y="622"/>
                      <a:pt x="96" y="625"/>
                      <a:pt x="107" y="678"/>
                    </a:cubicBezTo>
                    <a:cubicBezTo>
                      <a:pt x="146" y="717"/>
                      <a:pt x="253" y="814"/>
                      <a:pt x="253" y="814"/>
                    </a:cubicBezTo>
                    <a:cubicBezTo>
                      <a:pt x="253" y="814"/>
                      <a:pt x="310" y="859"/>
                      <a:pt x="386" y="880"/>
                    </a:cubicBezTo>
                    <a:cubicBezTo>
                      <a:pt x="387" y="881"/>
                      <a:pt x="389" y="881"/>
                      <a:pt x="390" y="881"/>
                    </a:cubicBezTo>
                    <a:cubicBezTo>
                      <a:pt x="390" y="881"/>
                      <a:pt x="457" y="917"/>
                      <a:pt x="457" y="960"/>
                    </a:cubicBezTo>
                    <a:cubicBezTo>
                      <a:pt x="457" y="983"/>
                      <a:pt x="457" y="1003"/>
                      <a:pt x="453" y="1015"/>
                    </a:cubicBezTo>
                    <a:cubicBezTo>
                      <a:pt x="469" y="1023"/>
                      <a:pt x="484" y="1031"/>
                      <a:pt x="486" y="1035"/>
                    </a:cubicBezTo>
                    <a:cubicBezTo>
                      <a:pt x="523" y="1006"/>
                      <a:pt x="535" y="986"/>
                      <a:pt x="546" y="972"/>
                    </a:cubicBezTo>
                    <a:cubicBezTo>
                      <a:pt x="558" y="957"/>
                      <a:pt x="587" y="951"/>
                      <a:pt x="598" y="969"/>
                    </a:cubicBezTo>
                    <a:cubicBezTo>
                      <a:pt x="609" y="985"/>
                      <a:pt x="612" y="996"/>
                      <a:pt x="643" y="1014"/>
                    </a:cubicBezTo>
                    <a:cubicBezTo>
                      <a:pt x="709" y="975"/>
                      <a:pt x="709" y="975"/>
                      <a:pt x="709" y="975"/>
                    </a:cubicBezTo>
                    <a:cubicBezTo>
                      <a:pt x="709" y="975"/>
                      <a:pt x="748" y="962"/>
                      <a:pt x="748" y="910"/>
                    </a:cubicBezTo>
                    <a:cubicBezTo>
                      <a:pt x="748" y="883"/>
                      <a:pt x="746" y="865"/>
                      <a:pt x="747" y="837"/>
                    </a:cubicBezTo>
                    <a:cubicBezTo>
                      <a:pt x="738" y="844"/>
                      <a:pt x="717" y="810"/>
                      <a:pt x="719" y="793"/>
                    </a:cubicBezTo>
                    <a:cubicBezTo>
                      <a:pt x="722" y="773"/>
                      <a:pt x="708" y="752"/>
                      <a:pt x="693" y="750"/>
                    </a:cubicBezTo>
                    <a:cubicBezTo>
                      <a:pt x="682" y="747"/>
                      <a:pt x="658" y="710"/>
                      <a:pt x="638" y="680"/>
                    </a:cubicBezTo>
                    <a:cubicBezTo>
                      <a:pt x="632" y="670"/>
                      <a:pt x="626" y="661"/>
                      <a:pt x="621" y="654"/>
                    </a:cubicBezTo>
                    <a:cubicBezTo>
                      <a:pt x="601" y="625"/>
                      <a:pt x="615" y="608"/>
                      <a:pt x="636" y="588"/>
                    </a:cubicBezTo>
                    <a:cubicBezTo>
                      <a:pt x="656" y="568"/>
                      <a:pt x="653" y="516"/>
                      <a:pt x="656" y="487"/>
                    </a:cubicBezTo>
                    <a:cubicBezTo>
                      <a:pt x="659" y="458"/>
                      <a:pt x="664" y="432"/>
                      <a:pt x="696" y="415"/>
                    </a:cubicBezTo>
                    <a:cubicBezTo>
                      <a:pt x="728" y="398"/>
                      <a:pt x="725" y="389"/>
                      <a:pt x="731" y="354"/>
                    </a:cubicBezTo>
                    <a:cubicBezTo>
                      <a:pt x="731" y="329"/>
                      <a:pt x="754" y="321"/>
                      <a:pt x="773" y="318"/>
                    </a:cubicBezTo>
                    <a:cubicBezTo>
                      <a:pt x="788" y="294"/>
                      <a:pt x="810" y="268"/>
                      <a:pt x="812" y="256"/>
                    </a:cubicBezTo>
                    <a:cubicBezTo>
                      <a:pt x="814" y="239"/>
                      <a:pt x="797" y="204"/>
                      <a:pt x="788" y="18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57" name="Freeform 1832">
                <a:extLst>
                  <a:ext uri="{FF2B5EF4-FFF2-40B4-BE49-F238E27FC236}">
                    <a16:creationId xmlns:a16="http://schemas.microsoft.com/office/drawing/2014/main" id="{B2AFFB03-7259-5CFC-33AD-39D7D072C290}"/>
                  </a:ext>
                </a:extLst>
              </p:cNvPr>
              <p:cNvSpPr>
                <a:spLocks/>
              </p:cNvSpPr>
              <p:nvPr/>
            </p:nvSpPr>
            <p:spPr bwMode="auto">
              <a:xfrm>
                <a:off x="1876" y="3342"/>
                <a:ext cx="227" cy="284"/>
              </a:xfrm>
              <a:custGeom>
                <a:avLst/>
                <a:gdLst>
                  <a:gd name="T0" fmla="*/ 119 w 1028"/>
                  <a:gd name="T1" fmla="*/ 843 h 1284"/>
                  <a:gd name="T2" fmla="*/ 152 w 1028"/>
                  <a:gd name="T3" fmla="*/ 918 h 1284"/>
                  <a:gd name="T4" fmla="*/ 156 w 1028"/>
                  <a:gd name="T5" fmla="*/ 1003 h 1284"/>
                  <a:gd name="T6" fmla="*/ 119 w 1028"/>
                  <a:gd name="T7" fmla="*/ 1014 h 1284"/>
                  <a:gd name="T8" fmla="*/ 78 w 1028"/>
                  <a:gd name="T9" fmla="*/ 1014 h 1284"/>
                  <a:gd name="T10" fmla="*/ 33 w 1028"/>
                  <a:gd name="T11" fmla="*/ 1040 h 1284"/>
                  <a:gd name="T12" fmla="*/ 44 w 1028"/>
                  <a:gd name="T13" fmla="*/ 1141 h 1284"/>
                  <a:gd name="T14" fmla="*/ 143 w 1028"/>
                  <a:gd name="T15" fmla="*/ 1178 h 1284"/>
                  <a:gd name="T16" fmla="*/ 199 w 1028"/>
                  <a:gd name="T17" fmla="*/ 1202 h 1284"/>
                  <a:gd name="T18" fmla="*/ 316 w 1028"/>
                  <a:gd name="T19" fmla="*/ 1232 h 1284"/>
                  <a:gd name="T20" fmla="*/ 334 w 1028"/>
                  <a:gd name="T21" fmla="*/ 1221 h 1284"/>
                  <a:gd name="T22" fmla="*/ 344 w 1028"/>
                  <a:gd name="T23" fmla="*/ 1193 h 1284"/>
                  <a:gd name="T24" fmla="*/ 362 w 1028"/>
                  <a:gd name="T25" fmla="*/ 1174 h 1284"/>
                  <a:gd name="T26" fmla="*/ 440 w 1028"/>
                  <a:gd name="T27" fmla="*/ 1176 h 1284"/>
                  <a:gd name="T28" fmla="*/ 476 w 1028"/>
                  <a:gd name="T29" fmla="*/ 1130 h 1284"/>
                  <a:gd name="T30" fmla="*/ 476 w 1028"/>
                  <a:gd name="T31" fmla="*/ 1070 h 1284"/>
                  <a:gd name="T32" fmla="*/ 517 w 1028"/>
                  <a:gd name="T33" fmla="*/ 1020 h 1284"/>
                  <a:gd name="T34" fmla="*/ 636 w 1028"/>
                  <a:gd name="T35" fmla="*/ 1009 h 1284"/>
                  <a:gd name="T36" fmla="*/ 673 w 1028"/>
                  <a:gd name="T37" fmla="*/ 1070 h 1284"/>
                  <a:gd name="T38" fmla="*/ 762 w 1028"/>
                  <a:gd name="T39" fmla="*/ 1096 h 1284"/>
                  <a:gd name="T40" fmla="*/ 848 w 1028"/>
                  <a:gd name="T41" fmla="*/ 981 h 1284"/>
                  <a:gd name="T42" fmla="*/ 909 w 1028"/>
                  <a:gd name="T43" fmla="*/ 975 h 1284"/>
                  <a:gd name="T44" fmla="*/ 929 w 1028"/>
                  <a:gd name="T45" fmla="*/ 996 h 1284"/>
                  <a:gd name="T46" fmla="*/ 998 w 1028"/>
                  <a:gd name="T47" fmla="*/ 929 h 1284"/>
                  <a:gd name="T48" fmla="*/ 985 w 1028"/>
                  <a:gd name="T49" fmla="*/ 721 h 1284"/>
                  <a:gd name="T50" fmla="*/ 851 w 1028"/>
                  <a:gd name="T51" fmla="*/ 657 h 1284"/>
                  <a:gd name="T52" fmla="*/ 855 w 1028"/>
                  <a:gd name="T53" fmla="*/ 553 h 1284"/>
                  <a:gd name="T54" fmla="*/ 907 w 1028"/>
                  <a:gd name="T55" fmla="*/ 432 h 1284"/>
                  <a:gd name="T56" fmla="*/ 967 w 1028"/>
                  <a:gd name="T57" fmla="*/ 302 h 1284"/>
                  <a:gd name="T58" fmla="*/ 994 w 1028"/>
                  <a:gd name="T59" fmla="*/ 222 h 1284"/>
                  <a:gd name="T60" fmla="*/ 884 w 1028"/>
                  <a:gd name="T61" fmla="*/ 188 h 1284"/>
                  <a:gd name="T62" fmla="*/ 872 w 1028"/>
                  <a:gd name="T63" fmla="*/ 136 h 1284"/>
                  <a:gd name="T64" fmla="*/ 835 w 1028"/>
                  <a:gd name="T65" fmla="*/ 81 h 1284"/>
                  <a:gd name="T66" fmla="*/ 771 w 1028"/>
                  <a:gd name="T67" fmla="*/ 38 h 1284"/>
                  <a:gd name="T68" fmla="*/ 748 w 1028"/>
                  <a:gd name="T69" fmla="*/ 3 h 1284"/>
                  <a:gd name="T70" fmla="*/ 685 w 1028"/>
                  <a:gd name="T71" fmla="*/ 23 h 1284"/>
                  <a:gd name="T72" fmla="*/ 678 w 1028"/>
                  <a:gd name="T73" fmla="*/ 20 h 1284"/>
                  <a:gd name="T74" fmla="*/ 466 w 1028"/>
                  <a:gd name="T75" fmla="*/ 116 h 1284"/>
                  <a:gd name="T76" fmla="*/ 417 w 1028"/>
                  <a:gd name="T77" fmla="*/ 165 h 1284"/>
                  <a:gd name="T78" fmla="*/ 356 w 1028"/>
                  <a:gd name="T79" fmla="*/ 280 h 1284"/>
                  <a:gd name="T80" fmla="*/ 275 w 1028"/>
                  <a:gd name="T81" fmla="*/ 325 h 1284"/>
                  <a:gd name="T82" fmla="*/ 197 w 1028"/>
                  <a:gd name="T83" fmla="*/ 439 h 1284"/>
                  <a:gd name="T84" fmla="*/ 267 w 1028"/>
                  <a:gd name="T85" fmla="*/ 546 h 1284"/>
                  <a:gd name="T86" fmla="*/ 246 w 1028"/>
                  <a:gd name="T87" fmla="*/ 626 h 1284"/>
                  <a:gd name="T88" fmla="*/ 140 w 1028"/>
                  <a:gd name="T89" fmla="*/ 672 h 1284"/>
                  <a:gd name="T90" fmla="*/ 93 w 1028"/>
                  <a:gd name="T91" fmla="*/ 701 h 1284"/>
                  <a:gd name="T92" fmla="*/ 44 w 1028"/>
                  <a:gd name="T93" fmla="*/ 756 h 1284"/>
                  <a:gd name="T94" fmla="*/ 93 w 1028"/>
                  <a:gd name="T95" fmla="*/ 802 h 1284"/>
                  <a:gd name="T96" fmla="*/ 97 w 1028"/>
                  <a:gd name="T97" fmla="*/ 814 h 1284"/>
                  <a:gd name="T98" fmla="*/ 119 w 1028"/>
                  <a:gd name="T99" fmla="*/ 843 h 12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028" h="1284">
                    <a:moveTo>
                      <a:pt x="119" y="843"/>
                    </a:moveTo>
                    <a:cubicBezTo>
                      <a:pt x="122" y="866"/>
                      <a:pt x="141" y="905"/>
                      <a:pt x="152" y="918"/>
                    </a:cubicBezTo>
                    <a:cubicBezTo>
                      <a:pt x="163" y="931"/>
                      <a:pt x="158" y="994"/>
                      <a:pt x="156" y="1003"/>
                    </a:cubicBezTo>
                    <a:cubicBezTo>
                      <a:pt x="154" y="1011"/>
                      <a:pt x="143" y="1027"/>
                      <a:pt x="119" y="1014"/>
                    </a:cubicBezTo>
                    <a:cubicBezTo>
                      <a:pt x="96" y="1001"/>
                      <a:pt x="98" y="985"/>
                      <a:pt x="78" y="1014"/>
                    </a:cubicBezTo>
                    <a:cubicBezTo>
                      <a:pt x="59" y="1042"/>
                      <a:pt x="33" y="1040"/>
                      <a:pt x="33" y="1040"/>
                    </a:cubicBezTo>
                    <a:cubicBezTo>
                      <a:pt x="33" y="1040"/>
                      <a:pt x="0" y="1098"/>
                      <a:pt x="44" y="1141"/>
                    </a:cubicBezTo>
                    <a:cubicBezTo>
                      <a:pt x="87" y="1184"/>
                      <a:pt x="126" y="1193"/>
                      <a:pt x="143" y="1178"/>
                    </a:cubicBezTo>
                    <a:cubicBezTo>
                      <a:pt x="160" y="1163"/>
                      <a:pt x="180" y="1184"/>
                      <a:pt x="199" y="1202"/>
                    </a:cubicBezTo>
                    <a:cubicBezTo>
                      <a:pt x="219" y="1219"/>
                      <a:pt x="264" y="1284"/>
                      <a:pt x="316" y="1232"/>
                    </a:cubicBezTo>
                    <a:cubicBezTo>
                      <a:pt x="324" y="1227"/>
                      <a:pt x="330" y="1222"/>
                      <a:pt x="334" y="1221"/>
                    </a:cubicBezTo>
                    <a:cubicBezTo>
                      <a:pt x="340" y="1209"/>
                      <a:pt x="344" y="1198"/>
                      <a:pt x="344" y="1193"/>
                    </a:cubicBezTo>
                    <a:cubicBezTo>
                      <a:pt x="344" y="1182"/>
                      <a:pt x="362" y="1174"/>
                      <a:pt x="362" y="1174"/>
                    </a:cubicBezTo>
                    <a:cubicBezTo>
                      <a:pt x="440" y="1176"/>
                      <a:pt x="440" y="1176"/>
                      <a:pt x="440" y="1176"/>
                    </a:cubicBezTo>
                    <a:cubicBezTo>
                      <a:pt x="440" y="1176"/>
                      <a:pt x="442" y="1165"/>
                      <a:pt x="476" y="1130"/>
                    </a:cubicBezTo>
                    <a:cubicBezTo>
                      <a:pt x="511" y="1096"/>
                      <a:pt x="489" y="1089"/>
                      <a:pt x="476" y="1070"/>
                    </a:cubicBezTo>
                    <a:cubicBezTo>
                      <a:pt x="463" y="1050"/>
                      <a:pt x="517" y="1020"/>
                      <a:pt x="517" y="1020"/>
                    </a:cubicBezTo>
                    <a:cubicBezTo>
                      <a:pt x="517" y="1020"/>
                      <a:pt x="572" y="1014"/>
                      <a:pt x="636" y="1009"/>
                    </a:cubicBezTo>
                    <a:cubicBezTo>
                      <a:pt x="701" y="1005"/>
                      <a:pt x="678" y="1018"/>
                      <a:pt x="673" y="1070"/>
                    </a:cubicBezTo>
                    <a:cubicBezTo>
                      <a:pt x="693" y="1161"/>
                      <a:pt x="749" y="1128"/>
                      <a:pt x="762" y="1096"/>
                    </a:cubicBezTo>
                    <a:cubicBezTo>
                      <a:pt x="788" y="1022"/>
                      <a:pt x="820" y="1007"/>
                      <a:pt x="848" y="981"/>
                    </a:cubicBezTo>
                    <a:cubicBezTo>
                      <a:pt x="877" y="955"/>
                      <a:pt x="909" y="975"/>
                      <a:pt x="909" y="975"/>
                    </a:cubicBezTo>
                    <a:cubicBezTo>
                      <a:pt x="929" y="996"/>
                      <a:pt x="929" y="996"/>
                      <a:pt x="929" y="996"/>
                    </a:cubicBezTo>
                    <a:cubicBezTo>
                      <a:pt x="941" y="988"/>
                      <a:pt x="974" y="967"/>
                      <a:pt x="998" y="929"/>
                    </a:cubicBezTo>
                    <a:cubicBezTo>
                      <a:pt x="1028" y="882"/>
                      <a:pt x="1002" y="760"/>
                      <a:pt x="985" y="721"/>
                    </a:cubicBezTo>
                    <a:cubicBezTo>
                      <a:pt x="967" y="683"/>
                      <a:pt x="885" y="665"/>
                      <a:pt x="851" y="657"/>
                    </a:cubicBezTo>
                    <a:cubicBezTo>
                      <a:pt x="816" y="648"/>
                      <a:pt x="851" y="609"/>
                      <a:pt x="855" y="553"/>
                    </a:cubicBezTo>
                    <a:cubicBezTo>
                      <a:pt x="903" y="505"/>
                      <a:pt x="877" y="479"/>
                      <a:pt x="907" y="432"/>
                    </a:cubicBezTo>
                    <a:cubicBezTo>
                      <a:pt x="937" y="384"/>
                      <a:pt x="967" y="302"/>
                      <a:pt x="967" y="302"/>
                    </a:cubicBezTo>
                    <a:cubicBezTo>
                      <a:pt x="994" y="222"/>
                      <a:pt x="994" y="222"/>
                      <a:pt x="994" y="222"/>
                    </a:cubicBezTo>
                    <a:cubicBezTo>
                      <a:pt x="949" y="198"/>
                      <a:pt x="913" y="190"/>
                      <a:pt x="884" y="188"/>
                    </a:cubicBezTo>
                    <a:cubicBezTo>
                      <a:pt x="846" y="185"/>
                      <a:pt x="866" y="162"/>
                      <a:pt x="872" y="136"/>
                    </a:cubicBezTo>
                    <a:cubicBezTo>
                      <a:pt x="878" y="110"/>
                      <a:pt x="875" y="87"/>
                      <a:pt x="835" y="81"/>
                    </a:cubicBezTo>
                    <a:cubicBezTo>
                      <a:pt x="794" y="75"/>
                      <a:pt x="774" y="64"/>
                      <a:pt x="771" y="38"/>
                    </a:cubicBezTo>
                    <a:cubicBezTo>
                      <a:pt x="768" y="12"/>
                      <a:pt x="771" y="0"/>
                      <a:pt x="748" y="3"/>
                    </a:cubicBezTo>
                    <a:cubicBezTo>
                      <a:pt x="725" y="6"/>
                      <a:pt x="705" y="26"/>
                      <a:pt x="685" y="23"/>
                    </a:cubicBezTo>
                    <a:cubicBezTo>
                      <a:pt x="682" y="23"/>
                      <a:pt x="679" y="22"/>
                      <a:pt x="678" y="20"/>
                    </a:cubicBezTo>
                    <a:cubicBezTo>
                      <a:pt x="587" y="64"/>
                      <a:pt x="489" y="98"/>
                      <a:pt x="466" y="116"/>
                    </a:cubicBezTo>
                    <a:cubicBezTo>
                      <a:pt x="440" y="136"/>
                      <a:pt x="419" y="142"/>
                      <a:pt x="417" y="165"/>
                    </a:cubicBezTo>
                    <a:cubicBezTo>
                      <a:pt x="414" y="214"/>
                      <a:pt x="396" y="246"/>
                      <a:pt x="356" y="280"/>
                    </a:cubicBezTo>
                    <a:cubicBezTo>
                      <a:pt x="325" y="306"/>
                      <a:pt x="293" y="319"/>
                      <a:pt x="275" y="325"/>
                    </a:cubicBezTo>
                    <a:cubicBezTo>
                      <a:pt x="253" y="369"/>
                      <a:pt x="218" y="410"/>
                      <a:pt x="197" y="439"/>
                    </a:cubicBezTo>
                    <a:cubicBezTo>
                      <a:pt x="166" y="482"/>
                      <a:pt x="255" y="520"/>
                      <a:pt x="267" y="546"/>
                    </a:cubicBezTo>
                    <a:cubicBezTo>
                      <a:pt x="278" y="571"/>
                      <a:pt x="261" y="589"/>
                      <a:pt x="246" y="626"/>
                    </a:cubicBezTo>
                    <a:cubicBezTo>
                      <a:pt x="194" y="698"/>
                      <a:pt x="174" y="696"/>
                      <a:pt x="140" y="672"/>
                    </a:cubicBezTo>
                    <a:cubicBezTo>
                      <a:pt x="105" y="649"/>
                      <a:pt x="76" y="672"/>
                      <a:pt x="93" y="701"/>
                    </a:cubicBezTo>
                    <a:cubicBezTo>
                      <a:pt x="93" y="747"/>
                      <a:pt x="67" y="745"/>
                      <a:pt x="44" y="756"/>
                    </a:cubicBezTo>
                    <a:cubicBezTo>
                      <a:pt x="47" y="771"/>
                      <a:pt x="79" y="788"/>
                      <a:pt x="93" y="802"/>
                    </a:cubicBezTo>
                    <a:cubicBezTo>
                      <a:pt x="98" y="807"/>
                      <a:pt x="99" y="811"/>
                      <a:pt x="97" y="814"/>
                    </a:cubicBezTo>
                    <a:cubicBezTo>
                      <a:pt x="108" y="821"/>
                      <a:pt x="118" y="831"/>
                      <a:pt x="119" y="8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58" name="Freeform 1833">
                <a:extLst>
                  <a:ext uri="{FF2B5EF4-FFF2-40B4-BE49-F238E27FC236}">
                    <a16:creationId xmlns:a16="http://schemas.microsoft.com/office/drawing/2014/main" id="{0CFFAE7B-39D5-2438-7F39-490264434442}"/>
                  </a:ext>
                </a:extLst>
              </p:cNvPr>
              <p:cNvSpPr>
                <a:spLocks/>
              </p:cNvSpPr>
              <p:nvPr/>
            </p:nvSpPr>
            <p:spPr bwMode="auto">
              <a:xfrm>
                <a:off x="1761" y="3351"/>
                <a:ext cx="176" cy="186"/>
              </a:xfrm>
              <a:custGeom>
                <a:avLst/>
                <a:gdLst>
                  <a:gd name="T0" fmla="*/ 796 w 799"/>
                  <a:gd name="T1" fmla="*/ 286 h 841"/>
                  <a:gd name="T2" fmla="*/ 753 w 799"/>
                  <a:gd name="T3" fmla="*/ 241 h 841"/>
                  <a:gd name="T4" fmla="*/ 663 w 799"/>
                  <a:gd name="T5" fmla="*/ 270 h 841"/>
                  <a:gd name="T6" fmla="*/ 568 w 799"/>
                  <a:gd name="T7" fmla="*/ 175 h 841"/>
                  <a:gd name="T8" fmla="*/ 594 w 799"/>
                  <a:gd name="T9" fmla="*/ 77 h 841"/>
                  <a:gd name="T10" fmla="*/ 511 w 799"/>
                  <a:gd name="T11" fmla="*/ 123 h 841"/>
                  <a:gd name="T12" fmla="*/ 459 w 799"/>
                  <a:gd name="T13" fmla="*/ 181 h 841"/>
                  <a:gd name="T14" fmla="*/ 312 w 799"/>
                  <a:gd name="T15" fmla="*/ 215 h 841"/>
                  <a:gd name="T16" fmla="*/ 216 w 799"/>
                  <a:gd name="T17" fmla="*/ 85 h 841"/>
                  <a:gd name="T18" fmla="*/ 172 w 799"/>
                  <a:gd name="T19" fmla="*/ 0 h 841"/>
                  <a:gd name="T20" fmla="*/ 95 w 799"/>
                  <a:gd name="T21" fmla="*/ 97 h 841"/>
                  <a:gd name="T22" fmla="*/ 35 w 799"/>
                  <a:gd name="T23" fmla="*/ 270 h 841"/>
                  <a:gd name="T24" fmla="*/ 92 w 799"/>
                  <a:gd name="T25" fmla="*/ 432 h 841"/>
                  <a:gd name="T26" fmla="*/ 150 w 799"/>
                  <a:gd name="T27" fmla="*/ 512 h 841"/>
                  <a:gd name="T28" fmla="*/ 257 w 799"/>
                  <a:gd name="T29" fmla="*/ 535 h 841"/>
                  <a:gd name="T30" fmla="*/ 349 w 799"/>
                  <a:gd name="T31" fmla="*/ 607 h 841"/>
                  <a:gd name="T32" fmla="*/ 456 w 799"/>
                  <a:gd name="T33" fmla="*/ 809 h 841"/>
                  <a:gd name="T34" fmla="*/ 513 w 799"/>
                  <a:gd name="T35" fmla="*/ 824 h 841"/>
                  <a:gd name="T36" fmla="*/ 586 w 799"/>
                  <a:gd name="T37" fmla="*/ 774 h 841"/>
                  <a:gd name="T38" fmla="*/ 591 w 799"/>
                  <a:gd name="T39" fmla="*/ 778 h 841"/>
                  <a:gd name="T40" fmla="*/ 596 w 799"/>
                  <a:gd name="T41" fmla="*/ 780 h 841"/>
                  <a:gd name="T42" fmla="*/ 600 w 799"/>
                  <a:gd name="T43" fmla="*/ 782 h 841"/>
                  <a:gd name="T44" fmla="*/ 604 w 799"/>
                  <a:gd name="T45" fmla="*/ 782 h 841"/>
                  <a:gd name="T46" fmla="*/ 608 w 799"/>
                  <a:gd name="T47" fmla="*/ 782 h 841"/>
                  <a:gd name="T48" fmla="*/ 611 w 799"/>
                  <a:gd name="T49" fmla="*/ 781 h 841"/>
                  <a:gd name="T50" fmla="*/ 615 w 799"/>
                  <a:gd name="T51" fmla="*/ 780 h 841"/>
                  <a:gd name="T52" fmla="*/ 617 w 799"/>
                  <a:gd name="T53" fmla="*/ 778 h 841"/>
                  <a:gd name="T54" fmla="*/ 618 w 799"/>
                  <a:gd name="T55" fmla="*/ 775 h 841"/>
                  <a:gd name="T56" fmla="*/ 614 w 799"/>
                  <a:gd name="T57" fmla="*/ 763 h 841"/>
                  <a:gd name="T58" fmla="*/ 614 w 799"/>
                  <a:gd name="T59" fmla="*/ 662 h 841"/>
                  <a:gd name="T60" fmla="*/ 767 w 799"/>
                  <a:gd name="T61" fmla="*/ 587 h 841"/>
                  <a:gd name="T62" fmla="*/ 718 w 799"/>
                  <a:gd name="T63" fmla="*/ 400 h 8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799" h="841">
                    <a:moveTo>
                      <a:pt x="718" y="400"/>
                    </a:moveTo>
                    <a:cubicBezTo>
                      <a:pt x="739" y="371"/>
                      <a:pt x="774" y="330"/>
                      <a:pt x="796" y="286"/>
                    </a:cubicBezTo>
                    <a:cubicBezTo>
                      <a:pt x="791" y="288"/>
                      <a:pt x="787" y="289"/>
                      <a:pt x="785" y="290"/>
                    </a:cubicBezTo>
                    <a:cubicBezTo>
                      <a:pt x="776" y="293"/>
                      <a:pt x="762" y="258"/>
                      <a:pt x="753" y="241"/>
                    </a:cubicBezTo>
                    <a:cubicBezTo>
                      <a:pt x="744" y="224"/>
                      <a:pt x="733" y="232"/>
                      <a:pt x="704" y="258"/>
                    </a:cubicBezTo>
                    <a:cubicBezTo>
                      <a:pt x="675" y="284"/>
                      <a:pt x="663" y="293"/>
                      <a:pt x="663" y="270"/>
                    </a:cubicBezTo>
                    <a:cubicBezTo>
                      <a:pt x="663" y="247"/>
                      <a:pt x="652" y="212"/>
                      <a:pt x="629" y="195"/>
                    </a:cubicBezTo>
                    <a:cubicBezTo>
                      <a:pt x="606" y="178"/>
                      <a:pt x="580" y="186"/>
                      <a:pt x="568" y="175"/>
                    </a:cubicBezTo>
                    <a:cubicBezTo>
                      <a:pt x="557" y="163"/>
                      <a:pt x="588" y="132"/>
                      <a:pt x="606" y="111"/>
                    </a:cubicBezTo>
                    <a:cubicBezTo>
                      <a:pt x="623" y="91"/>
                      <a:pt x="626" y="85"/>
                      <a:pt x="594" y="77"/>
                    </a:cubicBezTo>
                    <a:cubicBezTo>
                      <a:pt x="562" y="68"/>
                      <a:pt x="560" y="65"/>
                      <a:pt x="542" y="80"/>
                    </a:cubicBezTo>
                    <a:cubicBezTo>
                      <a:pt x="525" y="94"/>
                      <a:pt x="516" y="111"/>
                      <a:pt x="511" y="123"/>
                    </a:cubicBezTo>
                    <a:cubicBezTo>
                      <a:pt x="511" y="157"/>
                      <a:pt x="496" y="166"/>
                      <a:pt x="485" y="169"/>
                    </a:cubicBezTo>
                    <a:cubicBezTo>
                      <a:pt x="473" y="172"/>
                      <a:pt x="462" y="163"/>
                      <a:pt x="459" y="181"/>
                    </a:cubicBezTo>
                    <a:cubicBezTo>
                      <a:pt x="459" y="230"/>
                      <a:pt x="410" y="241"/>
                      <a:pt x="387" y="230"/>
                    </a:cubicBezTo>
                    <a:cubicBezTo>
                      <a:pt x="363" y="218"/>
                      <a:pt x="358" y="209"/>
                      <a:pt x="312" y="215"/>
                    </a:cubicBezTo>
                    <a:cubicBezTo>
                      <a:pt x="265" y="221"/>
                      <a:pt x="242" y="195"/>
                      <a:pt x="274" y="132"/>
                    </a:cubicBezTo>
                    <a:cubicBezTo>
                      <a:pt x="306" y="68"/>
                      <a:pt x="271" y="88"/>
                      <a:pt x="216" y="85"/>
                    </a:cubicBezTo>
                    <a:cubicBezTo>
                      <a:pt x="162" y="83"/>
                      <a:pt x="159" y="59"/>
                      <a:pt x="159" y="33"/>
                    </a:cubicBezTo>
                    <a:cubicBezTo>
                      <a:pt x="159" y="25"/>
                      <a:pt x="164" y="13"/>
                      <a:pt x="172" y="0"/>
                    </a:cubicBezTo>
                    <a:cubicBezTo>
                      <a:pt x="153" y="3"/>
                      <a:pt x="130" y="11"/>
                      <a:pt x="130" y="36"/>
                    </a:cubicBezTo>
                    <a:cubicBezTo>
                      <a:pt x="124" y="71"/>
                      <a:pt x="127" y="80"/>
                      <a:pt x="95" y="97"/>
                    </a:cubicBezTo>
                    <a:cubicBezTo>
                      <a:pt x="63" y="114"/>
                      <a:pt x="58" y="140"/>
                      <a:pt x="55" y="169"/>
                    </a:cubicBezTo>
                    <a:cubicBezTo>
                      <a:pt x="52" y="198"/>
                      <a:pt x="55" y="250"/>
                      <a:pt x="35" y="270"/>
                    </a:cubicBezTo>
                    <a:cubicBezTo>
                      <a:pt x="14" y="290"/>
                      <a:pt x="0" y="307"/>
                      <a:pt x="20" y="336"/>
                    </a:cubicBezTo>
                    <a:cubicBezTo>
                      <a:pt x="40" y="365"/>
                      <a:pt x="78" y="429"/>
                      <a:pt x="92" y="432"/>
                    </a:cubicBezTo>
                    <a:cubicBezTo>
                      <a:pt x="107" y="434"/>
                      <a:pt x="121" y="455"/>
                      <a:pt x="118" y="475"/>
                    </a:cubicBezTo>
                    <a:cubicBezTo>
                      <a:pt x="115" y="495"/>
                      <a:pt x="144" y="538"/>
                      <a:pt x="150" y="512"/>
                    </a:cubicBezTo>
                    <a:cubicBezTo>
                      <a:pt x="156" y="486"/>
                      <a:pt x="185" y="452"/>
                      <a:pt x="202" y="472"/>
                    </a:cubicBezTo>
                    <a:cubicBezTo>
                      <a:pt x="219" y="492"/>
                      <a:pt x="257" y="515"/>
                      <a:pt x="257" y="535"/>
                    </a:cubicBezTo>
                    <a:cubicBezTo>
                      <a:pt x="257" y="556"/>
                      <a:pt x="262" y="616"/>
                      <a:pt x="300" y="622"/>
                    </a:cubicBezTo>
                    <a:cubicBezTo>
                      <a:pt x="320" y="607"/>
                      <a:pt x="349" y="590"/>
                      <a:pt x="349" y="607"/>
                    </a:cubicBezTo>
                    <a:cubicBezTo>
                      <a:pt x="349" y="625"/>
                      <a:pt x="332" y="639"/>
                      <a:pt x="358" y="659"/>
                    </a:cubicBezTo>
                    <a:cubicBezTo>
                      <a:pt x="384" y="680"/>
                      <a:pt x="456" y="763"/>
                      <a:pt x="456" y="809"/>
                    </a:cubicBezTo>
                    <a:cubicBezTo>
                      <a:pt x="456" y="838"/>
                      <a:pt x="462" y="841"/>
                      <a:pt x="482" y="812"/>
                    </a:cubicBezTo>
                    <a:cubicBezTo>
                      <a:pt x="493" y="801"/>
                      <a:pt x="505" y="815"/>
                      <a:pt x="513" y="824"/>
                    </a:cubicBezTo>
                    <a:cubicBezTo>
                      <a:pt x="522" y="832"/>
                      <a:pt x="539" y="827"/>
                      <a:pt x="551" y="801"/>
                    </a:cubicBezTo>
                    <a:cubicBezTo>
                      <a:pt x="561" y="778"/>
                      <a:pt x="573" y="769"/>
                      <a:pt x="586" y="774"/>
                    </a:cubicBezTo>
                    <a:cubicBezTo>
                      <a:pt x="586" y="774"/>
                      <a:pt x="586" y="775"/>
                      <a:pt x="587" y="775"/>
                    </a:cubicBezTo>
                    <a:cubicBezTo>
                      <a:pt x="588" y="776"/>
                      <a:pt x="590" y="776"/>
                      <a:pt x="591" y="778"/>
                    </a:cubicBezTo>
                    <a:cubicBezTo>
                      <a:pt x="592" y="779"/>
                      <a:pt x="594" y="779"/>
                      <a:pt x="595" y="780"/>
                    </a:cubicBezTo>
                    <a:cubicBezTo>
                      <a:pt x="595" y="780"/>
                      <a:pt x="596" y="780"/>
                      <a:pt x="596" y="780"/>
                    </a:cubicBezTo>
                    <a:cubicBezTo>
                      <a:pt x="597" y="781"/>
                      <a:pt x="598" y="781"/>
                      <a:pt x="599" y="781"/>
                    </a:cubicBezTo>
                    <a:cubicBezTo>
                      <a:pt x="599" y="782"/>
                      <a:pt x="599" y="782"/>
                      <a:pt x="600" y="782"/>
                    </a:cubicBezTo>
                    <a:cubicBezTo>
                      <a:pt x="601" y="782"/>
                      <a:pt x="602" y="782"/>
                      <a:pt x="603" y="782"/>
                    </a:cubicBezTo>
                    <a:cubicBezTo>
                      <a:pt x="604" y="782"/>
                      <a:pt x="604" y="782"/>
                      <a:pt x="604" y="782"/>
                    </a:cubicBezTo>
                    <a:cubicBezTo>
                      <a:pt x="605" y="782"/>
                      <a:pt x="606" y="782"/>
                      <a:pt x="607" y="782"/>
                    </a:cubicBezTo>
                    <a:cubicBezTo>
                      <a:pt x="607" y="782"/>
                      <a:pt x="608" y="782"/>
                      <a:pt x="608" y="782"/>
                    </a:cubicBezTo>
                    <a:cubicBezTo>
                      <a:pt x="609" y="782"/>
                      <a:pt x="610" y="782"/>
                      <a:pt x="611" y="781"/>
                    </a:cubicBezTo>
                    <a:cubicBezTo>
                      <a:pt x="611" y="781"/>
                      <a:pt x="611" y="781"/>
                      <a:pt x="611" y="781"/>
                    </a:cubicBezTo>
                    <a:cubicBezTo>
                      <a:pt x="612" y="781"/>
                      <a:pt x="613" y="780"/>
                      <a:pt x="614" y="780"/>
                    </a:cubicBezTo>
                    <a:cubicBezTo>
                      <a:pt x="614" y="780"/>
                      <a:pt x="614" y="780"/>
                      <a:pt x="615" y="780"/>
                    </a:cubicBezTo>
                    <a:cubicBezTo>
                      <a:pt x="615" y="779"/>
                      <a:pt x="616" y="779"/>
                      <a:pt x="616" y="778"/>
                    </a:cubicBezTo>
                    <a:cubicBezTo>
                      <a:pt x="617" y="778"/>
                      <a:pt x="617" y="778"/>
                      <a:pt x="617" y="778"/>
                    </a:cubicBezTo>
                    <a:cubicBezTo>
                      <a:pt x="618" y="777"/>
                      <a:pt x="618" y="776"/>
                      <a:pt x="618" y="775"/>
                    </a:cubicBezTo>
                    <a:cubicBezTo>
                      <a:pt x="618" y="775"/>
                      <a:pt x="618" y="775"/>
                      <a:pt x="618" y="775"/>
                    </a:cubicBezTo>
                    <a:cubicBezTo>
                      <a:pt x="618" y="775"/>
                      <a:pt x="618" y="775"/>
                      <a:pt x="618" y="775"/>
                    </a:cubicBezTo>
                    <a:cubicBezTo>
                      <a:pt x="620" y="772"/>
                      <a:pt x="619" y="768"/>
                      <a:pt x="614" y="763"/>
                    </a:cubicBezTo>
                    <a:cubicBezTo>
                      <a:pt x="600" y="749"/>
                      <a:pt x="568" y="732"/>
                      <a:pt x="565" y="717"/>
                    </a:cubicBezTo>
                    <a:cubicBezTo>
                      <a:pt x="588" y="706"/>
                      <a:pt x="614" y="708"/>
                      <a:pt x="614" y="662"/>
                    </a:cubicBezTo>
                    <a:cubicBezTo>
                      <a:pt x="597" y="633"/>
                      <a:pt x="626" y="610"/>
                      <a:pt x="661" y="633"/>
                    </a:cubicBezTo>
                    <a:cubicBezTo>
                      <a:pt x="695" y="657"/>
                      <a:pt x="715" y="659"/>
                      <a:pt x="767" y="587"/>
                    </a:cubicBezTo>
                    <a:cubicBezTo>
                      <a:pt x="782" y="550"/>
                      <a:pt x="799" y="532"/>
                      <a:pt x="788" y="507"/>
                    </a:cubicBezTo>
                    <a:cubicBezTo>
                      <a:pt x="776" y="481"/>
                      <a:pt x="687" y="443"/>
                      <a:pt x="718" y="40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59" name="Freeform 1834">
                <a:extLst>
                  <a:ext uri="{FF2B5EF4-FFF2-40B4-BE49-F238E27FC236}">
                    <a16:creationId xmlns:a16="http://schemas.microsoft.com/office/drawing/2014/main" id="{DFEC7F72-71AC-9687-392E-FC5BA3B22AD6}"/>
                  </a:ext>
                </a:extLst>
              </p:cNvPr>
              <p:cNvSpPr>
                <a:spLocks/>
              </p:cNvSpPr>
              <p:nvPr/>
            </p:nvSpPr>
            <p:spPr bwMode="auto">
              <a:xfrm>
                <a:off x="1770" y="3451"/>
                <a:ext cx="183" cy="226"/>
              </a:xfrm>
              <a:custGeom>
                <a:avLst/>
                <a:gdLst>
                  <a:gd name="T0" fmla="*/ 813 w 827"/>
                  <a:gd name="T1" fmla="*/ 730 h 1024"/>
                  <a:gd name="T2" fmla="*/ 678 w 827"/>
                  <a:gd name="T3" fmla="*/ 711 h 1024"/>
                  <a:gd name="T4" fmla="*/ 523 w 827"/>
                  <a:gd name="T5" fmla="*/ 650 h 1024"/>
                  <a:gd name="T6" fmla="*/ 557 w 827"/>
                  <a:gd name="T7" fmla="*/ 523 h 1024"/>
                  <a:gd name="T8" fmla="*/ 635 w 827"/>
                  <a:gd name="T9" fmla="*/ 512 h 1024"/>
                  <a:gd name="T10" fmla="*/ 598 w 827"/>
                  <a:gd name="T11" fmla="*/ 352 h 1024"/>
                  <a:gd name="T12" fmla="*/ 549 w 827"/>
                  <a:gd name="T13" fmla="*/ 326 h 1024"/>
                  <a:gd name="T14" fmla="*/ 509 w 827"/>
                  <a:gd name="T15" fmla="*/ 349 h 1024"/>
                  <a:gd name="T16" fmla="*/ 440 w 827"/>
                  <a:gd name="T17" fmla="*/ 360 h 1024"/>
                  <a:gd name="T18" fmla="*/ 316 w 827"/>
                  <a:gd name="T19" fmla="*/ 207 h 1024"/>
                  <a:gd name="T20" fmla="*/ 258 w 827"/>
                  <a:gd name="T21" fmla="*/ 170 h 1024"/>
                  <a:gd name="T22" fmla="*/ 160 w 827"/>
                  <a:gd name="T23" fmla="*/ 20 h 1024"/>
                  <a:gd name="T24" fmla="*/ 104 w 827"/>
                  <a:gd name="T25" fmla="*/ 67 h 1024"/>
                  <a:gd name="T26" fmla="*/ 66 w 827"/>
                  <a:gd name="T27" fmla="*/ 205 h 1024"/>
                  <a:gd name="T28" fmla="*/ 0 w 827"/>
                  <a:gd name="T29" fmla="*/ 244 h 1024"/>
                  <a:gd name="T30" fmla="*/ 137 w 827"/>
                  <a:gd name="T31" fmla="*/ 311 h 1024"/>
                  <a:gd name="T32" fmla="*/ 177 w 827"/>
                  <a:gd name="T33" fmla="*/ 470 h 1024"/>
                  <a:gd name="T34" fmla="*/ 229 w 827"/>
                  <a:gd name="T35" fmla="*/ 649 h 1024"/>
                  <a:gd name="T36" fmla="*/ 359 w 827"/>
                  <a:gd name="T37" fmla="*/ 689 h 1024"/>
                  <a:gd name="T38" fmla="*/ 460 w 827"/>
                  <a:gd name="T39" fmla="*/ 753 h 1024"/>
                  <a:gd name="T40" fmla="*/ 470 w 827"/>
                  <a:gd name="T41" fmla="*/ 600 h 1024"/>
                  <a:gd name="T42" fmla="*/ 435 w 827"/>
                  <a:gd name="T43" fmla="*/ 496 h 1024"/>
                  <a:gd name="T44" fmla="*/ 495 w 827"/>
                  <a:gd name="T45" fmla="*/ 608 h 1024"/>
                  <a:gd name="T46" fmla="*/ 534 w 827"/>
                  <a:gd name="T47" fmla="*/ 737 h 1024"/>
                  <a:gd name="T48" fmla="*/ 515 w 827"/>
                  <a:gd name="T49" fmla="*/ 882 h 1024"/>
                  <a:gd name="T50" fmla="*/ 604 w 827"/>
                  <a:gd name="T51" fmla="*/ 997 h 1024"/>
                  <a:gd name="T52" fmla="*/ 656 w 827"/>
                  <a:gd name="T53" fmla="*/ 898 h 1024"/>
                  <a:gd name="T54" fmla="*/ 714 w 827"/>
                  <a:gd name="T55" fmla="*/ 999 h 1024"/>
                  <a:gd name="T56" fmla="*/ 738 w 827"/>
                  <a:gd name="T57" fmla="*/ 955 h 1024"/>
                  <a:gd name="T58" fmla="*/ 701 w 827"/>
                  <a:gd name="T59" fmla="*/ 835 h 1024"/>
                  <a:gd name="T60" fmla="*/ 745 w 827"/>
                  <a:gd name="T61" fmla="*/ 895 h 1024"/>
                  <a:gd name="T62" fmla="*/ 796 w 827"/>
                  <a:gd name="T63" fmla="*/ 854 h 1024"/>
                  <a:gd name="T64" fmla="*/ 827 w 827"/>
                  <a:gd name="T65" fmla="*/ 884 h 10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827" h="1024">
                    <a:moveTo>
                      <a:pt x="821" y="771"/>
                    </a:moveTo>
                    <a:cubicBezTo>
                      <a:pt x="821" y="736"/>
                      <a:pt x="820" y="727"/>
                      <a:pt x="813" y="730"/>
                    </a:cubicBezTo>
                    <a:cubicBezTo>
                      <a:pt x="809" y="731"/>
                      <a:pt x="803" y="736"/>
                      <a:pt x="795" y="741"/>
                    </a:cubicBezTo>
                    <a:cubicBezTo>
                      <a:pt x="743" y="793"/>
                      <a:pt x="698" y="728"/>
                      <a:pt x="678" y="711"/>
                    </a:cubicBezTo>
                    <a:cubicBezTo>
                      <a:pt x="659" y="693"/>
                      <a:pt x="639" y="672"/>
                      <a:pt x="622" y="687"/>
                    </a:cubicBezTo>
                    <a:cubicBezTo>
                      <a:pt x="605" y="702"/>
                      <a:pt x="566" y="693"/>
                      <a:pt x="523" y="650"/>
                    </a:cubicBezTo>
                    <a:cubicBezTo>
                      <a:pt x="479" y="607"/>
                      <a:pt x="512" y="549"/>
                      <a:pt x="512" y="549"/>
                    </a:cubicBezTo>
                    <a:cubicBezTo>
                      <a:pt x="512" y="549"/>
                      <a:pt x="538" y="551"/>
                      <a:pt x="557" y="523"/>
                    </a:cubicBezTo>
                    <a:cubicBezTo>
                      <a:pt x="577" y="494"/>
                      <a:pt x="575" y="510"/>
                      <a:pt x="598" y="523"/>
                    </a:cubicBezTo>
                    <a:cubicBezTo>
                      <a:pt x="622" y="536"/>
                      <a:pt x="633" y="520"/>
                      <a:pt x="635" y="512"/>
                    </a:cubicBezTo>
                    <a:cubicBezTo>
                      <a:pt x="637" y="503"/>
                      <a:pt x="642" y="440"/>
                      <a:pt x="631" y="427"/>
                    </a:cubicBezTo>
                    <a:cubicBezTo>
                      <a:pt x="620" y="414"/>
                      <a:pt x="601" y="375"/>
                      <a:pt x="598" y="352"/>
                    </a:cubicBezTo>
                    <a:cubicBezTo>
                      <a:pt x="597" y="340"/>
                      <a:pt x="587" y="330"/>
                      <a:pt x="576" y="323"/>
                    </a:cubicBezTo>
                    <a:cubicBezTo>
                      <a:pt x="573" y="331"/>
                      <a:pt x="559" y="334"/>
                      <a:pt x="549" y="326"/>
                    </a:cubicBezTo>
                    <a:cubicBezTo>
                      <a:pt x="547" y="324"/>
                      <a:pt x="545" y="323"/>
                      <a:pt x="544" y="322"/>
                    </a:cubicBezTo>
                    <a:cubicBezTo>
                      <a:pt x="531" y="317"/>
                      <a:pt x="519" y="326"/>
                      <a:pt x="509" y="349"/>
                    </a:cubicBezTo>
                    <a:cubicBezTo>
                      <a:pt x="497" y="375"/>
                      <a:pt x="480" y="380"/>
                      <a:pt x="471" y="372"/>
                    </a:cubicBezTo>
                    <a:cubicBezTo>
                      <a:pt x="463" y="363"/>
                      <a:pt x="451" y="349"/>
                      <a:pt x="440" y="360"/>
                    </a:cubicBezTo>
                    <a:cubicBezTo>
                      <a:pt x="420" y="389"/>
                      <a:pt x="414" y="386"/>
                      <a:pt x="414" y="357"/>
                    </a:cubicBezTo>
                    <a:cubicBezTo>
                      <a:pt x="414" y="311"/>
                      <a:pt x="342" y="228"/>
                      <a:pt x="316" y="207"/>
                    </a:cubicBezTo>
                    <a:cubicBezTo>
                      <a:pt x="290" y="187"/>
                      <a:pt x="307" y="173"/>
                      <a:pt x="307" y="155"/>
                    </a:cubicBezTo>
                    <a:cubicBezTo>
                      <a:pt x="307" y="138"/>
                      <a:pt x="278" y="155"/>
                      <a:pt x="258" y="170"/>
                    </a:cubicBezTo>
                    <a:cubicBezTo>
                      <a:pt x="220" y="164"/>
                      <a:pt x="215" y="104"/>
                      <a:pt x="215" y="83"/>
                    </a:cubicBezTo>
                    <a:cubicBezTo>
                      <a:pt x="215" y="63"/>
                      <a:pt x="177" y="40"/>
                      <a:pt x="160" y="20"/>
                    </a:cubicBezTo>
                    <a:cubicBezTo>
                      <a:pt x="143" y="0"/>
                      <a:pt x="114" y="34"/>
                      <a:pt x="108" y="60"/>
                    </a:cubicBezTo>
                    <a:cubicBezTo>
                      <a:pt x="107" y="64"/>
                      <a:pt x="106" y="66"/>
                      <a:pt x="104" y="67"/>
                    </a:cubicBezTo>
                    <a:cubicBezTo>
                      <a:pt x="103" y="95"/>
                      <a:pt x="105" y="113"/>
                      <a:pt x="105" y="140"/>
                    </a:cubicBezTo>
                    <a:cubicBezTo>
                      <a:pt x="105" y="192"/>
                      <a:pt x="66" y="205"/>
                      <a:pt x="66" y="205"/>
                    </a:cubicBezTo>
                    <a:cubicBezTo>
                      <a:pt x="0" y="244"/>
                      <a:pt x="0" y="244"/>
                      <a:pt x="0" y="244"/>
                    </a:cubicBezTo>
                    <a:cubicBezTo>
                      <a:pt x="0" y="244"/>
                      <a:pt x="0" y="244"/>
                      <a:pt x="0" y="244"/>
                    </a:cubicBezTo>
                    <a:cubicBezTo>
                      <a:pt x="2" y="245"/>
                      <a:pt x="5" y="247"/>
                      <a:pt x="7" y="248"/>
                    </a:cubicBezTo>
                    <a:cubicBezTo>
                      <a:pt x="45" y="268"/>
                      <a:pt x="122" y="308"/>
                      <a:pt x="137" y="311"/>
                    </a:cubicBezTo>
                    <a:cubicBezTo>
                      <a:pt x="151" y="314"/>
                      <a:pt x="218" y="360"/>
                      <a:pt x="220" y="380"/>
                    </a:cubicBezTo>
                    <a:cubicBezTo>
                      <a:pt x="223" y="401"/>
                      <a:pt x="197" y="447"/>
                      <a:pt x="177" y="470"/>
                    </a:cubicBezTo>
                    <a:cubicBezTo>
                      <a:pt x="157" y="493"/>
                      <a:pt x="143" y="539"/>
                      <a:pt x="163" y="562"/>
                    </a:cubicBezTo>
                    <a:cubicBezTo>
                      <a:pt x="183" y="585"/>
                      <a:pt x="223" y="617"/>
                      <a:pt x="229" y="649"/>
                    </a:cubicBezTo>
                    <a:cubicBezTo>
                      <a:pt x="235" y="681"/>
                      <a:pt x="264" y="672"/>
                      <a:pt x="293" y="672"/>
                    </a:cubicBezTo>
                    <a:cubicBezTo>
                      <a:pt x="321" y="672"/>
                      <a:pt x="359" y="689"/>
                      <a:pt x="359" y="689"/>
                    </a:cubicBezTo>
                    <a:cubicBezTo>
                      <a:pt x="431" y="686"/>
                      <a:pt x="431" y="686"/>
                      <a:pt x="431" y="686"/>
                    </a:cubicBezTo>
                    <a:cubicBezTo>
                      <a:pt x="431" y="686"/>
                      <a:pt x="451" y="729"/>
                      <a:pt x="460" y="753"/>
                    </a:cubicBezTo>
                    <a:cubicBezTo>
                      <a:pt x="508" y="768"/>
                      <a:pt x="532" y="757"/>
                      <a:pt x="474" y="672"/>
                    </a:cubicBezTo>
                    <a:cubicBezTo>
                      <a:pt x="483" y="666"/>
                      <a:pt x="475" y="633"/>
                      <a:pt x="470" y="600"/>
                    </a:cubicBezTo>
                    <a:cubicBezTo>
                      <a:pt x="484" y="588"/>
                      <a:pt x="485" y="548"/>
                      <a:pt x="481" y="530"/>
                    </a:cubicBezTo>
                    <a:cubicBezTo>
                      <a:pt x="459" y="496"/>
                      <a:pt x="426" y="504"/>
                      <a:pt x="435" y="496"/>
                    </a:cubicBezTo>
                    <a:cubicBezTo>
                      <a:pt x="463" y="474"/>
                      <a:pt x="502" y="522"/>
                      <a:pt x="502" y="522"/>
                    </a:cubicBezTo>
                    <a:cubicBezTo>
                      <a:pt x="495" y="608"/>
                      <a:pt x="495" y="608"/>
                      <a:pt x="495" y="608"/>
                    </a:cubicBezTo>
                    <a:cubicBezTo>
                      <a:pt x="503" y="686"/>
                      <a:pt x="503" y="686"/>
                      <a:pt x="503" y="686"/>
                    </a:cubicBezTo>
                    <a:cubicBezTo>
                      <a:pt x="503" y="686"/>
                      <a:pt x="528" y="717"/>
                      <a:pt x="534" y="737"/>
                    </a:cubicBezTo>
                    <a:cubicBezTo>
                      <a:pt x="540" y="757"/>
                      <a:pt x="503" y="787"/>
                      <a:pt x="503" y="787"/>
                    </a:cubicBezTo>
                    <a:cubicBezTo>
                      <a:pt x="515" y="882"/>
                      <a:pt x="515" y="882"/>
                      <a:pt x="515" y="882"/>
                    </a:cubicBezTo>
                    <a:cubicBezTo>
                      <a:pt x="515" y="882"/>
                      <a:pt x="512" y="911"/>
                      <a:pt x="541" y="941"/>
                    </a:cubicBezTo>
                    <a:cubicBezTo>
                      <a:pt x="559" y="958"/>
                      <a:pt x="588" y="1010"/>
                      <a:pt x="604" y="997"/>
                    </a:cubicBezTo>
                    <a:cubicBezTo>
                      <a:pt x="652" y="956"/>
                      <a:pt x="616" y="862"/>
                      <a:pt x="616" y="862"/>
                    </a:cubicBezTo>
                    <a:cubicBezTo>
                      <a:pt x="616" y="862"/>
                      <a:pt x="650" y="865"/>
                      <a:pt x="656" y="898"/>
                    </a:cubicBezTo>
                    <a:cubicBezTo>
                      <a:pt x="658" y="907"/>
                      <a:pt x="644" y="1022"/>
                      <a:pt x="670" y="1023"/>
                    </a:cubicBezTo>
                    <a:cubicBezTo>
                      <a:pt x="696" y="1024"/>
                      <a:pt x="696" y="1001"/>
                      <a:pt x="714" y="999"/>
                    </a:cubicBezTo>
                    <a:cubicBezTo>
                      <a:pt x="731" y="998"/>
                      <a:pt x="751" y="1009"/>
                      <a:pt x="763" y="991"/>
                    </a:cubicBezTo>
                    <a:cubicBezTo>
                      <a:pt x="775" y="974"/>
                      <a:pt x="738" y="955"/>
                      <a:pt x="738" y="955"/>
                    </a:cubicBezTo>
                    <a:cubicBezTo>
                      <a:pt x="738" y="955"/>
                      <a:pt x="707" y="946"/>
                      <a:pt x="717" y="905"/>
                    </a:cubicBezTo>
                    <a:cubicBezTo>
                      <a:pt x="739" y="864"/>
                      <a:pt x="701" y="835"/>
                      <a:pt x="701" y="835"/>
                    </a:cubicBezTo>
                    <a:cubicBezTo>
                      <a:pt x="748" y="835"/>
                      <a:pt x="748" y="835"/>
                      <a:pt x="748" y="835"/>
                    </a:cubicBezTo>
                    <a:cubicBezTo>
                      <a:pt x="748" y="835"/>
                      <a:pt x="745" y="877"/>
                      <a:pt x="745" y="895"/>
                    </a:cubicBezTo>
                    <a:cubicBezTo>
                      <a:pt x="745" y="912"/>
                      <a:pt x="757" y="933"/>
                      <a:pt x="771" y="903"/>
                    </a:cubicBezTo>
                    <a:cubicBezTo>
                      <a:pt x="786" y="872"/>
                      <a:pt x="796" y="854"/>
                      <a:pt x="796" y="854"/>
                    </a:cubicBezTo>
                    <a:cubicBezTo>
                      <a:pt x="820" y="865"/>
                      <a:pt x="820" y="865"/>
                      <a:pt x="820" y="865"/>
                    </a:cubicBezTo>
                    <a:cubicBezTo>
                      <a:pt x="820" y="865"/>
                      <a:pt x="824" y="874"/>
                      <a:pt x="827" y="884"/>
                    </a:cubicBezTo>
                    <a:cubicBezTo>
                      <a:pt x="823" y="844"/>
                      <a:pt x="821" y="802"/>
                      <a:pt x="821" y="77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60" name="Freeform 1835">
                <a:extLst>
                  <a:ext uri="{FF2B5EF4-FFF2-40B4-BE49-F238E27FC236}">
                    <a16:creationId xmlns:a16="http://schemas.microsoft.com/office/drawing/2014/main" id="{A6614707-FB86-AC34-0C2F-15EF83606A43}"/>
                  </a:ext>
                </a:extLst>
              </p:cNvPr>
              <p:cNvSpPr>
                <a:spLocks/>
              </p:cNvSpPr>
              <p:nvPr/>
            </p:nvSpPr>
            <p:spPr bwMode="auto">
              <a:xfrm>
                <a:off x="1949" y="3553"/>
                <a:ext cx="153" cy="132"/>
              </a:xfrm>
              <a:custGeom>
                <a:avLst/>
                <a:gdLst>
                  <a:gd name="T0" fmla="*/ 61 w 690"/>
                  <a:gd name="T1" fmla="*/ 476 h 596"/>
                  <a:gd name="T2" fmla="*/ 95 w 690"/>
                  <a:gd name="T3" fmla="*/ 502 h 596"/>
                  <a:gd name="T4" fmla="*/ 146 w 690"/>
                  <a:gd name="T5" fmla="*/ 518 h 596"/>
                  <a:gd name="T6" fmla="*/ 147 w 690"/>
                  <a:gd name="T7" fmla="*/ 581 h 596"/>
                  <a:gd name="T8" fmla="*/ 220 w 690"/>
                  <a:gd name="T9" fmla="*/ 531 h 596"/>
                  <a:gd name="T10" fmla="*/ 282 w 690"/>
                  <a:gd name="T11" fmla="*/ 583 h 596"/>
                  <a:gd name="T12" fmla="*/ 367 w 690"/>
                  <a:gd name="T13" fmla="*/ 531 h 596"/>
                  <a:gd name="T14" fmla="*/ 486 w 690"/>
                  <a:gd name="T15" fmla="*/ 443 h 596"/>
                  <a:gd name="T16" fmla="*/ 666 w 690"/>
                  <a:gd name="T17" fmla="*/ 358 h 596"/>
                  <a:gd name="T18" fmla="*/ 690 w 690"/>
                  <a:gd name="T19" fmla="*/ 273 h 596"/>
                  <a:gd name="T20" fmla="*/ 646 w 690"/>
                  <a:gd name="T21" fmla="*/ 139 h 596"/>
                  <a:gd name="T22" fmla="*/ 590 w 690"/>
                  <a:gd name="T23" fmla="*/ 43 h 596"/>
                  <a:gd name="T24" fmla="*/ 595 w 690"/>
                  <a:gd name="T25" fmla="*/ 41 h 596"/>
                  <a:gd name="T26" fmla="*/ 575 w 690"/>
                  <a:gd name="T27" fmla="*/ 20 h 596"/>
                  <a:gd name="T28" fmla="*/ 514 w 690"/>
                  <a:gd name="T29" fmla="*/ 26 h 596"/>
                  <a:gd name="T30" fmla="*/ 428 w 690"/>
                  <a:gd name="T31" fmla="*/ 141 h 596"/>
                  <a:gd name="T32" fmla="*/ 339 w 690"/>
                  <a:gd name="T33" fmla="*/ 115 h 596"/>
                  <a:gd name="T34" fmla="*/ 302 w 690"/>
                  <a:gd name="T35" fmla="*/ 54 h 596"/>
                  <a:gd name="T36" fmla="*/ 183 w 690"/>
                  <a:gd name="T37" fmla="*/ 65 h 596"/>
                  <a:gd name="T38" fmla="*/ 142 w 690"/>
                  <a:gd name="T39" fmla="*/ 115 h 596"/>
                  <a:gd name="T40" fmla="*/ 142 w 690"/>
                  <a:gd name="T41" fmla="*/ 175 h 596"/>
                  <a:gd name="T42" fmla="*/ 106 w 690"/>
                  <a:gd name="T43" fmla="*/ 221 h 596"/>
                  <a:gd name="T44" fmla="*/ 28 w 690"/>
                  <a:gd name="T45" fmla="*/ 219 h 596"/>
                  <a:gd name="T46" fmla="*/ 10 w 690"/>
                  <a:gd name="T47" fmla="*/ 238 h 596"/>
                  <a:gd name="T48" fmla="*/ 0 w 690"/>
                  <a:gd name="T49" fmla="*/ 266 h 596"/>
                  <a:gd name="T50" fmla="*/ 8 w 690"/>
                  <a:gd name="T51" fmla="*/ 307 h 596"/>
                  <a:gd name="T52" fmla="*/ 14 w 690"/>
                  <a:gd name="T53" fmla="*/ 420 h 596"/>
                  <a:gd name="T54" fmla="*/ 25 w 690"/>
                  <a:gd name="T55" fmla="*/ 453 h 596"/>
                  <a:gd name="T56" fmla="*/ 61 w 690"/>
                  <a:gd name="T57" fmla="*/ 476 h 5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690" h="596">
                    <a:moveTo>
                      <a:pt x="61" y="476"/>
                    </a:moveTo>
                    <a:cubicBezTo>
                      <a:pt x="65" y="486"/>
                      <a:pt x="72" y="502"/>
                      <a:pt x="95" y="502"/>
                    </a:cubicBezTo>
                    <a:cubicBezTo>
                      <a:pt x="119" y="502"/>
                      <a:pt x="159" y="499"/>
                      <a:pt x="146" y="518"/>
                    </a:cubicBezTo>
                    <a:cubicBezTo>
                      <a:pt x="133" y="537"/>
                      <a:pt x="123" y="596"/>
                      <a:pt x="147" y="581"/>
                    </a:cubicBezTo>
                    <a:cubicBezTo>
                      <a:pt x="172" y="567"/>
                      <a:pt x="191" y="527"/>
                      <a:pt x="220" y="531"/>
                    </a:cubicBezTo>
                    <a:cubicBezTo>
                      <a:pt x="248" y="535"/>
                      <a:pt x="277" y="574"/>
                      <a:pt x="282" y="583"/>
                    </a:cubicBezTo>
                    <a:cubicBezTo>
                      <a:pt x="286" y="591"/>
                      <a:pt x="336" y="558"/>
                      <a:pt x="367" y="531"/>
                    </a:cubicBezTo>
                    <a:cubicBezTo>
                      <a:pt x="397" y="504"/>
                      <a:pt x="439" y="453"/>
                      <a:pt x="486" y="443"/>
                    </a:cubicBezTo>
                    <a:cubicBezTo>
                      <a:pt x="531" y="434"/>
                      <a:pt x="606" y="411"/>
                      <a:pt x="666" y="358"/>
                    </a:cubicBezTo>
                    <a:cubicBezTo>
                      <a:pt x="661" y="334"/>
                      <a:pt x="690" y="273"/>
                      <a:pt x="690" y="273"/>
                    </a:cubicBezTo>
                    <a:cubicBezTo>
                      <a:pt x="690" y="273"/>
                      <a:pt x="651" y="152"/>
                      <a:pt x="646" y="139"/>
                    </a:cubicBezTo>
                    <a:cubicBezTo>
                      <a:pt x="642" y="126"/>
                      <a:pt x="590" y="43"/>
                      <a:pt x="590" y="43"/>
                    </a:cubicBezTo>
                    <a:cubicBezTo>
                      <a:pt x="590" y="43"/>
                      <a:pt x="592" y="42"/>
                      <a:pt x="595" y="41"/>
                    </a:cubicBezTo>
                    <a:cubicBezTo>
                      <a:pt x="575" y="20"/>
                      <a:pt x="575" y="20"/>
                      <a:pt x="575" y="20"/>
                    </a:cubicBezTo>
                    <a:cubicBezTo>
                      <a:pt x="575" y="20"/>
                      <a:pt x="543" y="0"/>
                      <a:pt x="514" y="26"/>
                    </a:cubicBezTo>
                    <a:cubicBezTo>
                      <a:pt x="486" y="52"/>
                      <a:pt x="454" y="67"/>
                      <a:pt x="428" y="141"/>
                    </a:cubicBezTo>
                    <a:cubicBezTo>
                      <a:pt x="415" y="173"/>
                      <a:pt x="359" y="206"/>
                      <a:pt x="339" y="115"/>
                    </a:cubicBezTo>
                    <a:cubicBezTo>
                      <a:pt x="344" y="63"/>
                      <a:pt x="367" y="50"/>
                      <a:pt x="302" y="54"/>
                    </a:cubicBezTo>
                    <a:cubicBezTo>
                      <a:pt x="238" y="59"/>
                      <a:pt x="183" y="65"/>
                      <a:pt x="183" y="65"/>
                    </a:cubicBezTo>
                    <a:cubicBezTo>
                      <a:pt x="183" y="65"/>
                      <a:pt x="129" y="95"/>
                      <a:pt x="142" y="115"/>
                    </a:cubicBezTo>
                    <a:cubicBezTo>
                      <a:pt x="155" y="134"/>
                      <a:pt x="177" y="141"/>
                      <a:pt x="142" y="175"/>
                    </a:cubicBezTo>
                    <a:cubicBezTo>
                      <a:pt x="108" y="210"/>
                      <a:pt x="106" y="221"/>
                      <a:pt x="106" y="221"/>
                    </a:cubicBezTo>
                    <a:cubicBezTo>
                      <a:pt x="28" y="219"/>
                      <a:pt x="28" y="219"/>
                      <a:pt x="28" y="219"/>
                    </a:cubicBezTo>
                    <a:cubicBezTo>
                      <a:pt x="28" y="219"/>
                      <a:pt x="10" y="227"/>
                      <a:pt x="10" y="238"/>
                    </a:cubicBezTo>
                    <a:cubicBezTo>
                      <a:pt x="10" y="243"/>
                      <a:pt x="6" y="254"/>
                      <a:pt x="0" y="266"/>
                    </a:cubicBezTo>
                    <a:cubicBezTo>
                      <a:pt x="7" y="263"/>
                      <a:pt x="8" y="272"/>
                      <a:pt x="8" y="307"/>
                    </a:cubicBezTo>
                    <a:cubicBezTo>
                      <a:pt x="8" y="338"/>
                      <a:pt x="10" y="380"/>
                      <a:pt x="14" y="420"/>
                    </a:cubicBezTo>
                    <a:cubicBezTo>
                      <a:pt x="19" y="433"/>
                      <a:pt x="25" y="449"/>
                      <a:pt x="25" y="453"/>
                    </a:cubicBezTo>
                    <a:cubicBezTo>
                      <a:pt x="25" y="460"/>
                      <a:pt x="57" y="466"/>
                      <a:pt x="61" y="47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61" name="Freeform 1836">
                <a:extLst>
                  <a:ext uri="{FF2B5EF4-FFF2-40B4-BE49-F238E27FC236}">
                    <a16:creationId xmlns:a16="http://schemas.microsoft.com/office/drawing/2014/main" id="{7ADD1BF5-A117-9BDC-E5BB-F50502D5CCD2}"/>
                  </a:ext>
                </a:extLst>
              </p:cNvPr>
              <p:cNvSpPr>
                <a:spLocks/>
              </p:cNvSpPr>
              <p:nvPr/>
            </p:nvSpPr>
            <p:spPr bwMode="auto">
              <a:xfrm>
                <a:off x="1619" y="3613"/>
                <a:ext cx="274" cy="92"/>
              </a:xfrm>
              <a:custGeom>
                <a:avLst/>
                <a:gdLst>
                  <a:gd name="T0" fmla="*/ 1087 w 1243"/>
                  <a:gd name="T1" fmla="*/ 242 h 414"/>
                  <a:gd name="T2" fmla="*/ 1062 w 1243"/>
                  <a:gd name="T3" fmla="*/ 221 h 414"/>
                  <a:gd name="T4" fmla="*/ 1055 w 1243"/>
                  <a:gd name="T5" fmla="*/ 159 h 414"/>
                  <a:gd name="T6" fmla="*/ 1027 w 1243"/>
                  <a:gd name="T7" fmla="*/ 196 h 414"/>
                  <a:gd name="T8" fmla="*/ 980 w 1243"/>
                  <a:gd name="T9" fmla="*/ 251 h 414"/>
                  <a:gd name="T10" fmla="*/ 937 w 1243"/>
                  <a:gd name="T11" fmla="*/ 225 h 414"/>
                  <a:gd name="T12" fmla="*/ 877 w 1243"/>
                  <a:gd name="T13" fmla="*/ 237 h 414"/>
                  <a:gd name="T14" fmla="*/ 773 w 1243"/>
                  <a:gd name="T15" fmla="*/ 228 h 414"/>
                  <a:gd name="T16" fmla="*/ 773 w 1243"/>
                  <a:gd name="T17" fmla="*/ 162 h 414"/>
                  <a:gd name="T18" fmla="*/ 686 w 1243"/>
                  <a:gd name="T19" fmla="*/ 84 h 414"/>
                  <a:gd name="T20" fmla="*/ 640 w 1243"/>
                  <a:gd name="T21" fmla="*/ 67 h 414"/>
                  <a:gd name="T22" fmla="*/ 597 w 1243"/>
                  <a:gd name="T23" fmla="*/ 9 h 414"/>
                  <a:gd name="T24" fmla="*/ 565 w 1243"/>
                  <a:gd name="T25" fmla="*/ 9 h 414"/>
                  <a:gd name="T26" fmla="*/ 421 w 1243"/>
                  <a:gd name="T27" fmla="*/ 23 h 414"/>
                  <a:gd name="T28" fmla="*/ 392 w 1243"/>
                  <a:gd name="T29" fmla="*/ 78 h 414"/>
                  <a:gd name="T30" fmla="*/ 288 w 1243"/>
                  <a:gd name="T31" fmla="*/ 95 h 414"/>
                  <a:gd name="T32" fmla="*/ 205 w 1243"/>
                  <a:gd name="T33" fmla="*/ 87 h 414"/>
                  <a:gd name="T34" fmla="*/ 168 w 1243"/>
                  <a:gd name="T35" fmla="*/ 162 h 414"/>
                  <a:gd name="T36" fmla="*/ 93 w 1243"/>
                  <a:gd name="T37" fmla="*/ 240 h 414"/>
                  <a:gd name="T38" fmla="*/ 73 w 1243"/>
                  <a:gd name="T39" fmla="*/ 260 h 414"/>
                  <a:gd name="T40" fmla="*/ 12 w 1243"/>
                  <a:gd name="T41" fmla="*/ 323 h 414"/>
                  <a:gd name="T42" fmla="*/ 0 w 1243"/>
                  <a:gd name="T43" fmla="*/ 323 h 414"/>
                  <a:gd name="T44" fmla="*/ 69 w 1243"/>
                  <a:gd name="T45" fmla="*/ 363 h 414"/>
                  <a:gd name="T46" fmla="*/ 170 w 1243"/>
                  <a:gd name="T47" fmla="*/ 357 h 414"/>
                  <a:gd name="T48" fmla="*/ 231 w 1243"/>
                  <a:gd name="T49" fmla="*/ 321 h 414"/>
                  <a:gd name="T50" fmla="*/ 258 w 1243"/>
                  <a:gd name="T51" fmla="*/ 318 h 414"/>
                  <a:gd name="T52" fmla="*/ 392 w 1243"/>
                  <a:gd name="T53" fmla="*/ 385 h 414"/>
                  <a:gd name="T54" fmla="*/ 494 w 1243"/>
                  <a:gd name="T55" fmla="*/ 361 h 414"/>
                  <a:gd name="T56" fmla="*/ 668 w 1243"/>
                  <a:gd name="T57" fmla="*/ 309 h 414"/>
                  <a:gd name="T58" fmla="*/ 781 w 1243"/>
                  <a:gd name="T59" fmla="*/ 329 h 414"/>
                  <a:gd name="T60" fmla="*/ 874 w 1243"/>
                  <a:gd name="T61" fmla="*/ 352 h 414"/>
                  <a:gd name="T62" fmla="*/ 1015 w 1243"/>
                  <a:gd name="T63" fmla="*/ 378 h 414"/>
                  <a:gd name="T64" fmla="*/ 1096 w 1243"/>
                  <a:gd name="T65" fmla="*/ 378 h 414"/>
                  <a:gd name="T66" fmla="*/ 1182 w 1243"/>
                  <a:gd name="T67" fmla="*/ 390 h 414"/>
                  <a:gd name="T68" fmla="*/ 1239 w 1243"/>
                  <a:gd name="T69" fmla="*/ 372 h 414"/>
                  <a:gd name="T70" fmla="*/ 1225 w 1243"/>
                  <a:gd name="T71" fmla="*/ 269 h 414"/>
                  <a:gd name="T72" fmla="*/ 1166 w 1243"/>
                  <a:gd name="T73" fmla="*/ 178 h 414"/>
                  <a:gd name="T74" fmla="*/ 1117 w 1243"/>
                  <a:gd name="T75" fmla="*/ 218 h 414"/>
                  <a:gd name="T76" fmla="*/ 1087 w 1243"/>
                  <a:gd name="T77" fmla="*/ 242 h 4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243" h="414">
                    <a:moveTo>
                      <a:pt x="1087" y="242"/>
                    </a:moveTo>
                    <a:cubicBezTo>
                      <a:pt x="1062" y="221"/>
                      <a:pt x="1062" y="221"/>
                      <a:pt x="1062" y="221"/>
                    </a:cubicBezTo>
                    <a:cubicBezTo>
                      <a:pt x="1055" y="159"/>
                      <a:pt x="1055" y="159"/>
                      <a:pt x="1055" y="159"/>
                    </a:cubicBezTo>
                    <a:cubicBezTo>
                      <a:pt x="1027" y="196"/>
                      <a:pt x="1027" y="196"/>
                      <a:pt x="1027" y="196"/>
                    </a:cubicBezTo>
                    <a:cubicBezTo>
                      <a:pt x="980" y="251"/>
                      <a:pt x="980" y="251"/>
                      <a:pt x="980" y="251"/>
                    </a:cubicBezTo>
                    <a:cubicBezTo>
                      <a:pt x="980" y="251"/>
                      <a:pt x="975" y="269"/>
                      <a:pt x="937" y="225"/>
                    </a:cubicBezTo>
                    <a:cubicBezTo>
                      <a:pt x="914" y="211"/>
                      <a:pt x="914" y="211"/>
                      <a:pt x="877" y="237"/>
                    </a:cubicBezTo>
                    <a:cubicBezTo>
                      <a:pt x="845" y="260"/>
                      <a:pt x="796" y="277"/>
                      <a:pt x="773" y="228"/>
                    </a:cubicBezTo>
                    <a:cubicBezTo>
                      <a:pt x="784" y="199"/>
                      <a:pt x="807" y="168"/>
                      <a:pt x="773" y="162"/>
                    </a:cubicBezTo>
                    <a:cubicBezTo>
                      <a:pt x="738" y="156"/>
                      <a:pt x="686" y="150"/>
                      <a:pt x="686" y="84"/>
                    </a:cubicBezTo>
                    <a:cubicBezTo>
                      <a:pt x="678" y="72"/>
                      <a:pt x="672" y="67"/>
                      <a:pt x="640" y="67"/>
                    </a:cubicBezTo>
                    <a:cubicBezTo>
                      <a:pt x="620" y="61"/>
                      <a:pt x="597" y="38"/>
                      <a:pt x="597" y="9"/>
                    </a:cubicBezTo>
                    <a:cubicBezTo>
                      <a:pt x="591" y="6"/>
                      <a:pt x="591" y="0"/>
                      <a:pt x="565" y="9"/>
                    </a:cubicBezTo>
                    <a:cubicBezTo>
                      <a:pt x="539" y="18"/>
                      <a:pt x="421" y="23"/>
                      <a:pt x="421" y="23"/>
                    </a:cubicBezTo>
                    <a:cubicBezTo>
                      <a:pt x="421" y="23"/>
                      <a:pt x="392" y="26"/>
                      <a:pt x="392" y="78"/>
                    </a:cubicBezTo>
                    <a:cubicBezTo>
                      <a:pt x="360" y="95"/>
                      <a:pt x="311" y="95"/>
                      <a:pt x="288" y="95"/>
                    </a:cubicBezTo>
                    <a:cubicBezTo>
                      <a:pt x="273" y="95"/>
                      <a:pt x="231" y="90"/>
                      <a:pt x="205" y="87"/>
                    </a:cubicBezTo>
                    <a:cubicBezTo>
                      <a:pt x="197" y="113"/>
                      <a:pt x="184" y="146"/>
                      <a:pt x="168" y="162"/>
                    </a:cubicBezTo>
                    <a:cubicBezTo>
                      <a:pt x="139" y="191"/>
                      <a:pt x="93" y="240"/>
                      <a:pt x="93" y="240"/>
                    </a:cubicBezTo>
                    <a:cubicBezTo>
                      <a:pt x="73" y="260"/>
                      <a:pt x="73" y="260"/>
                      <a:pt x="73" y="260"/>
                    </a:cubicBezTo>
                    <a:cubicBezTo>
                      <a:pt x="12" y="323"/>
                      <a:pt x="12" y="323"/>
                      <a:pt x="12" y="323"/>
                    </a:cubicBezTo>
                    <a:cubicBezTo>
                      <a:pt x="12" y="323"/>
                      <a:pt x="8" y="325"/>
                      <a:pt x="0" y="323"/>
                    </a:cubicBezTo>
                    <a:cubicBezTo>
                      <a:pt x="13" y="339"/>
                      <a:pt x="35" y="359"/>
                      <a:pt x="69" y="363"/>
                    </a:cubicBezTo>
                    <a:cubicBezTo>
                      <a:pt x="127" y="370"/>
                      <a:pt x="170" y="357"/>
                      <a:pt x="170" y="357"/>
                    </a:cubicBezTo>
                    <a:cubicBezTo>
                      <a:pt x="170" y="357"/>
                      <a:pt x="216" y="326"/>
                      <a:pt x="231" y="321"/>
                    </a:cubicBezTo>
                    <a:cubicBezTo>
                      <a:pt x="239" y="318"/>
                      <a:pt x="248" y="317"/>
                      <a:pt x="258" y="318"/>
                    </a:cubicBezTo>
                    <a:cubicBezTo>
                      <a:pt x="298" y="322"/>
                      <a:pt x="359" y="384"/>
                      <a:pt x="392" y="385"/>
                    </a:cubicBezTo>
                    <a:cubicBezTo>
                      <a:pt x="425" y="387"/>
                      <a:pt x="455" y="378"/>
                      <a:pt x="494" y="361"/>
                    </a:cubicBezTo>
                    <a:cubicBezTo>
                      <a:pt x="533" y="344"/>
                      <a:pt x="603" y="305"/>
                      <a:pt x="668" y="309"/>
                    </a:cubicBezTo>
                    <a:cubicBezTo>
                      <a:pt x="732" y="313"/>
                      <a:pt x="757" y="313"/>
                      <a:pt x="781" y="329"/>
                    </a:cubicBezTo>
                    <a:cubicBezTo>
                      <a:pt x="806" y="345"/>
                      <a:pt x="839" y="351"/>
                      <a:pt x="874" y="352"/>
                    </a:cubicBezTo>
                    <a:cubicBezTo>
                      <a:pt x="908" y="354"/>
                      <a:pt x="978" y="359"/>
                      <a:pt x="1015" y="378"/>
                    </a:cubicBezTo>
                    <a:cubicBezTo>
                      <a:pt x="1053" y="397"/>
                      <a:pt x="1080" y="383"/>
                      <a:pt x="1096" y="378"/>
                    </a:cubicBezTo>
                    <a:cubicBezTo>
                      <a:pt x="1112" y="374"/>
                      <a:pt x="1175" y="380"/>
                      <a:pt x="1182" y="390"/>
                    </a:cubicBezTo>
                    <a:cubicBezTo>
                      <a:pt x="1199" y="414"/>
                      <a:pt x="1243" y="406"/>
                      <a:pt x="1239" y="372"/>
                    </a:cubicBezTo>
                    <a:cubicBezTo>
                      <a:pt x="1234" y="339"/>
                      <a:pt x="1227" y="307"/>
                      <a:pt x="1225" y="269"/>
                    </a:cubicBezTo>
                    <a:cubicBezTo>
                      <a:pt x="1224" y="258"/>
                      <a:pt x="1188" y="218"/>
                      <a:pt x="1166" y="178"/>
                    </a:cubicBezTo>
                    <a:cubicBezTo>
                      <a:pt x="1117" y="218"/>
                      <a:pt x="1117" y="218"/>
                      <a:pt x="1117" y="218"/>
                    </a:cubicBezTo>
                    <a:lnTo>
                      <a:pt x="1087" y="2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62" name="Freeform 1837">
                <a:extLst>
                  <a:ext uri="{FF2B5EF4-FFF2-40B4-BE49-F238E27FC236}">
                    <a16:creationId xmlns:a16="http://schemas.microsoft.com/office/drawing/2014/main" id="{78C0A0AA-F175-3255-43F0-14F4BFBDB896}"/>
                  </a:ext>
                </a:extLst>
              </p:cNvPr>
              <p:cNvSpPr>
                <a:spLocks/>
              </p:cNvSpPr>
              <p:nvPr/>
            </p:nvSpPr>
            <p:spPr bwMode="auto">
              <a:xfrm>
                <a:off x="1534" y="3488"/>
                <a:ext cx="341" cy="186"/>
              </a:xfrm>
              <a:custGeom>
                <a:avLst/>
                <a:gdLst>
                  <a:gd name="T0" fmla="*/ 1529 w 1546"/>
                  <a:gd name="T1" fmla="*/ 586 h 845"/>
                  <a:gd name="T2" fmla="*/ 1428 w 1546"/>
                  <a:gd name="T3" fmla="*/ 522 h 845"/>
                  <a:gd name="T4" fmla="*/ 1298 w 1546"/>
                  <a:gd name="T5" fmla="*/ 482 h 845"/>
                  <a:gd name="T6" fmla="*/ 1246 w 1546"/>
                  <a:gd name="T7" fmla="*/ 303 h 845"/>
                  <a:gd name="T8" fmla="*/ 1206 w 1546"/>
                  <a:gd name="T9" fmla="*/ 144 h 845"/>
                  <a:gd name="T10" fmla="*/ 1069 w 1546"/>
                  <a:gd name="T11" fmla="*/ 77 h 845"/>
                  <a:gd name="T12" fmla="*/ 1069 w 1546"/>
                  <a:gd name="T13" fmla="*/ 77 h 845"/>
                  <a:gd name="T14" fmla="*/ 972 w 1546"/>
                  <a:gd name="T15" fmla="*/ 35 h 845"/>
                  <a:gd name="T16" fmla="*/ 879 w 1546"/>
                  <a:gd name="T17" fmla="*/ 78 h 845"/>
                  <a:gd name="T18" fmla="*/ 877 w 1546"/>
                  <a:gd name="T19" fmla="*/ 81 h 845"/>
                  <a:gd name="T20" fmla="*/ 875 w 1546"/>
                  <a:gd name="T21" fmla="*/ 84 h 845"/>
                  <a:gd name="T22" fmla="*/ 872 w 1546"/>
                  <a:gd name="T23" fmla="*/ 87 h 845"/>
                  <a:gd name="T24" fmla="*/ 869 w 1546"/>
                  <a:gd name="T25" fmla="*/ 89 h 845"/>
                  <a:gd name="T26" fmla="*/ 866 w 1546"/>
                  <a:gd name="T27" fmla="*/ 91 h 845"/>
                  <a:gd name="T28" fmla="*/ 861 w 1546"/>
                  <a:gd name="T29" fmla="*/ 91 h 845"/>
                  <a:gd name="T30" fmla="*/ 854 w 1546"/>
                  <a:gd name="T31" fmla="*/ 91 h 845"/>
                  <a:gd name="T32" fmla="*/ 874 w 1546"/>
                  <a:gd name="T33" fmla="*/ 294 h 845"/>
                  <a:gd name="T34" fmla="*/ 708 w 1546"/>
                  <a:gd name="T35" fmla="*/ 293 h 845"/>
                  <a:gd name="T36" fmla="*/ 509 w 1546"/>
                  <a:gd name="T37" fmla="*/ 250 h 845"/>
                  <a:gd name="T38" fmla="*/ 358 w 1546"/>
                  <a:gd name="T39" fmla="*/ 0 h 845"/>
                  <a:gd name="T40" fmla="*/ 188 w 1546"/>
                  <a:gd name="T41" fmla="*/ 70 h 845"/>
                  <a:gd name="T42" fmla="*/ 65 w 1546"/>
                  <a:gd name="T43" fmla="*/ 97 h 845"/>
                  <a:gd name="T44" fmla="*/ 0 w 1546"/>
                  <a:gd name="T45" fmla="*/ 102 h 845"/>
                  <a:gd name="T46" fmla="*/ 127 w 1546"/>
                  <a:gd name="T47" fmla="*/ 251 h 845"/>
                  <a:gd name="T48" fmla="*/ 309 w 1546"/>
                  <a:gd name="T49" fmla="*/ 450 h 845"/>
                  <a:gd name="T50" fmla="*/ 516 w 1546"/>
                  <a:gd name="T51" fmla="*/ 617 h 845"/>
                  <a:gd name="T52" fmla="*/ 589 w 1546"/>
                  <a:gd name="T53" fmla="*/ 655 h 845"/>
                  <a:gd name="T54" fmla="*/ 776 w 1546"/>
                  <a:gd name="T55" fmla="*/ 646 h 845"/>
                  <a:gd name="T56" fmla="*/ 949 w 1546"/>
                  <a:gd name="T57" fmla="*/ 577 h 845"/>
                  <a:gd name="T58" fmla="*/ 1024 w 1546"/>
                  <a:gd name="T59" fmla="*/ 635 h 845"/>
                  <a:gd name="T60" fmla="*/ 1157 w 1546"/>
                  <a:gd name="T61" fmla="*/ 730 h 845"/>
                  <a:gd name="T62" fmla="*/ 1261 w 1546"/>
                  <a:gd name="T63" fmla="*/ 805 h 845"/>
                  <a:gd name="T64" fmla="*/ 1364 w 1546"/>
                  <a:gd name="T65" fmla="*/ 819 h 845"/>
                  <a:gd name="T66" fmla="*/ 1445 w 1546"/>
                  <a:gd name="T67" fmla="*/ 718 h 845"/>
                  <a:gd name="T68" fmla="*/ 1468 w 1546"/>
                  <a:gd name="T69" fmla="*/ 773 h 845"/>
                  <a:gd name="T70" fmla="*/ 1525 w 1546"/>
                  <a:gd name="T71" fmla="*/ 733 h 845"/>
                  <a:gd name="T72" fmla="*/ 1546 w 1546"/>
                  <a:gd name="T73" fmla="*/ 713 h 8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546" h="845">
                    <a:moveTo>
                      <a:pt x="1532" y="594"/>
                    </a:moveTo>
                    <a:cubicBezTo>
                      <a:pt x="1531" y="592"/>
                      <a:pt x="1530" y="589"/>
                      <a:pt x="1529" y="586"/>
                    </a:cubicBezTo>
                    <a:cubicBezTo>
                      <a:pt x="1520" y="562"/>
                      <a:pt x="1500" y="519"/>
                      <a:pt x="1500" y="519"/>
                    </a:cubicBezTo>
                    <a:cubicBezTo>
                      <a:pt x="1428" y="522"/>
                      <a:pt x="1428" y="522"/>
                      <a:pt x="1428" y="522"/>
                    </a:cubicBezTo>
                    <a:cubicBezTo>
                      <a:pt x="1428" y="522"/>
                      <a:pt x="1390" y="505"/>
                      <a:pt x="1362" y="505"/>
                    </a:cubicBezTo>
                    <a:cubicBezTo>
                      <a:pt x="1333" y="505"/>
                      <a:pt x="1304" y="514"/>
                      <a:pt x="1298" y="482"/>
                    </a:cubicBezTo>
                    <a:cubicBezTo>
                      <a:pt x="1292" y="450"/>
                      <a:pt x="1252" y="418"/>
                      <a:pt x="1232" y="395"/>
                    </a:cubicBezTo>
                    <a:cubicBezTo>
                      <a:pt x="1212" y="372"/>
                      <a:pt x="1226" y="326"/>
                      <a:pt x="1246" y="303"/>
                    </a:cubicBezTo>
                    <a:cubicBezTo>
                      <a:pt x="1266" y="280"/>
                      <a:pt x="1292" y="234"/>
                      <a:pt x="1289" y="213"/>
                    </a:cubicBezTo>
                    <a:cubicBezTo>
                      <a:pt x="1287" y="193"/>
                      <a:pt x="1220" y="147"/>
                      <a:pt x="1206" y="144"/>
                    </a:cubicBezTo>
                    <a:cubicBezTo>
                      <a:pt x="1191" y="141"/>
                      <a:pt x="1114" y="101"/>
                      <a:pt x="1076" y="81"/>
                    </a:cubicBezTo>
                    <a:cubicBezTo>
                      <a:pt x="1074" y="80"/>
                      <a:pt x="1071" y="78"/>
                      <a:pt x="1069" y="77"/>
                    </a:cubicBezTo>
                    <a:cubicBezTo>
                      <a:pt x="1069" y="77"/>
                      <a:pt x="1069" y="77"/>
                      <a:pt x="1069" y="77"/>
                    </a:cubicBezTo>
                    <a:cubicBezTo>
                      <a:pt x="1069" y="77"/>
                      <a:pt x="1069" y="77"/>
                      <a:pt x="1069" y="77"/>
                    </a:cubicBezTo>
                    <a:cubicBezTo>
                      <a:pt x="1038" y="59"/>
                      <a:pt x="1035" y="48"/>
                      <a:pt x="1024" y="32"/>
                    </a:cubicBezTo>
                    <a:cubicBezTo>
                      <a:pt x="1013" y="14"/>
                      <a:pt x="984" y="20"/>
                      <a:pt x="972" y="35"/>
                    </a:cubicBezTo>
                    <a:cubicBezTo>
                      <a:pt x="961" y="49"/>
                      <a:pt x="949" y="69"/>
                      <a:pt x="912" y="98"/>
                    </a:cubicBezTo>
                    <a:cubicBezTo>
                      <a:pt x="910" y="94"/>
                      <a:pt x="895" y="86"/>
                      <a:pt x="879" y="78"/>
                    </a:cubicBezTo>
                    <a:cubicBezTo>
                      <a:pt x="878" y="79"/>
                      <a:pt x="878" y="80"/>
                      <a:pt x="877" y="81"/>
                    </a:cubicBezTo>
                    <a:cubicBezTo>
                      <a:pt x="877" y="81"/>
                      <a:pt x="877" y="81"/>
                      <a:pt x="877" y="81"/>
                    </a:cubicBezTo>
                    <a:cubicBezTo>
                      <a:pt x="877" y="82"/>
                      <a:pt x="876" y="83"/>
                      <a:pt x="875" y="84"/>
                    </a:cubicBezTo>
                    <a:cubicBezTo>
                      <a:pt x="875" y="84"/>
                      <a:pt x="875" y="84"/>
                      <a:pt x="875" y="84"/>
                    </a:cubicBezTo>
                    <a:cubicBezTo>
                      <a:pt x="874" y="85"/>
                      <a:pt x="874" y="86"/>
                      <a:pt x="873" y="87"/>
                    </a:cubicBezTo>
                    <a:cubicBezTo>
                      <a:pt x="873" y="87"/>
                      <a:pt x="873" y="87"/>
                      <a:pt x="872" y="87"/>
                    </a:cubicBezTo>
                    <a:cubicBezTo>
                      <a:pt x="872" y="88"/>
                      <a:pt x="871" y="88"/>
                      <a:pt x="870" y="89"/>
                    </a:cubicBezTo>
                    <a:cubicBezTo>
                      <a:pt x="870" y="89"/>
                      <a:pt x="870" y="89"/>
                      <a:pt x="869" y="89"/>
                    </a:cubicBezTo>
                    <a:cubicBezTo>
                      <a:pt x="869" y="90"/>
                      <a:pt x="868" y="90"/>
                      <a:pt x="867" y="90"/>
                    </a:cubicBezTo>
                    <a:cubicBezTo>
                      <a:pt x="867" y="90"/>
                      <a:pt x="866" y="90"/>
                      <a:pt x="866" y="91"/>
                    </a:cubicBezTo>
                    <a:cubicBezTo>
                      <a:pt x="865" y="91"/>
                      <a:pt x="864" y="91"/>
                      <a:pt x="863" y="91"/>
                    </a:cubicBezTo>
                    <a:cubicBezTo>
                      <a:pt x="863" y="91"/>
                      <a:pt x="862" y="91"/>
                      <a:pt x="861" y="91"/>
                    </a:cubicBezTo>
                    <a:cubicBezTo>
                      <a:pt x="860" y="91"/>
                      <a:pt x="860" y="91"/>
                      <a:pt x="859" y="91"/>
                    </a:cubicBezTo>
                    <a:cubicBezTo>
                      <a:pt x="857" y="91"/>
                      <a:pt x="856" y="91"/>
                      <a:pt x="854" y="91"/>
                    </a:cubicBezTo>
                    <a:cubicBezTo>
                      <a:pt x="824" y="87"/>
                      <a:pt x="806" y="98"/>
                      <a:pt x="824" y="143"/>
                    </a:cubicBezTo>
                    <a:cubicBezTo>
                      <a:pt x="841" y="188"/>
                      <a:pt x="881" y="274"/>
                      <a:pt x="874" y="294"/>
                    </a:cubicBezTo>
                    <a:cubicBezTo>
                      <a:pt x="867" y="314"/>
                      <a:pt x="834" y="323"/>
                      <a:pt x="801" y="313"/>
                    </a:cubicBezTo>
                    <a:cubicBezTo>
                      <a:pt x="767" y="303"/>
                      <a:pt x="708" y="293"/>
                      <a:pt x="708" y="293"/>
                    </a:cubicBezTo>
                    <a:cubicBezTo>
                      <a:pt x="708" y="293"/>
                      <a:pt x="629" y="190"/>
                      <a:pt x="576" y="190"/>
                    </a:cubicBezTo>
                    <a:cubicBezTo>
                      <a:pt x="561" y="254"/>
                      <a:pt x="550" y="293"/>
                      <a:pt x="509" y="250"/>
                    </a:cubicBezTo>
                    <a:cubicBezTo>
                      <a:pt x="509" y="250"/>
                      <a:pt x="459" y="176"/>
                      <a:pt x="450" y="150"/>
                    </a:cubicBezTo>
                    <a:cubicBezTo>
                      <a:pt x="441" y="124"/>
                      <a:pt x="381" y="0"/>
                      <a:pt x="358" y="0"/>
                    </a:cubicBezTo>
                    <a:cubicBezTo>
                      <a:pt x="335" y="0"/>
                      <a:pt x="261" y="40"/>
                      <a:pt x="235" y="53"/>
                    </a:cubicBezTo>
                    <a:cubicBezTo>
                      <a:pt x="226" y="58"/>
                      <a:pt x="208" y="64"/>
                      <a:pt x="188" y="70"/>
                    </a:cubicBezTo>
                    <a:cubicBezTo>
                      <a:pt x="181" y="72"/>
                      <a:pt x="114" y="90"/>
                      <a:pt x="113" y="90"/>
                    </a:cubicBezTo>
                    <a:cubicBezTo>
                      <a:pt x="110" y="91"/>
                      <a:pt x="65" y="97"/>
                      <a:pt x="65" y="97"/>
                    </a:cubicBezTo>
                    <a:cubicBezTo>
                      <a:pt x="53" y="98"/>
                      <a:pt x="8" y="102"/>
                      <a:pt x="0" y="102"/>
                    </a:cubicBezTo>
                    <a:cubicBezTo>
                      <a:pt x="0" y="102"/>
                      <a:pt x="0" y="102"/>
                      <a:pt x="0" y="102"/>
                    </a:cubicBezTo>
                    <a:cubicBezTo>
                      <a:pt x="23" y="145"/>
                      <a:pt x="65" y="163"/>
                      <a:pt x="89" y="176"/>
                    </a:cubicBezTo>
                    <a:cubicBezTo>
                      <a:pt x="127" y="196"/>
                      <a:pt x="133" y="213"/>
                      <a:pt x="127" y="251"/>
                    </a:cubicBezTo>
                    <a:cubicBezTo>
                      <a:pt x="121" y="289"/>
                      <a:pt x="147" y="300"/>
                      <a:pt x="147" y="300"/>
                    </a:cubicBezTo>
                    <a:cubicBezTo>
                      <a:pt x="147" y="300"/>
                      <a:pt x="268" y="413"/>
                      <a:pt x="309" y="450"/>
                    </a:cubicBezTo>
                    <a:cubicBezTo>
                      <a:pt x="349" y="488"/>
                      <a:pt x="364" y="502"/>
                      <a:pt x="381" y="508"/>
                    </a:cubicBezTo>
                    <a:cubicBezTo>
                      <a:pt x="464" y="508"/>
                      <a:pt x="499" y="580"/>
                      <a:pt x="516" y="617"/>
                    </a:cubicBezTo>
                    <a:cubicBezTo>
                      <a:pt x="534" y="655"/>
                      <a:pt x="568" y="652"/>
                      <a:pt x="568" y="652"/>
                    </a:cubicBezTo>
                    <a:cubicBezTo>
                      <a:pt x="568" y="652"/>
                      <a:pt x="577" y="653"/>
                      <a:pt x="589" y="655"/>
                    </a:cubicBezTo>
                    <a:cubicBezTo>
                      <a:pt x="615" y="658"/>
                      <a:pt x="657" y="663"/>
                      <a:pt x="672" y="663"/>
                    </a:cubicBezTo>
                    <a:cubicBezTo>
                      <a:pt x="695" y="663"/>
                      <a:pt x="744" y="663"/>
                      <a:pt x="776" y="646"/>
                    </a:cubicBezTo>
                    <a:cubicBezTo>
                      <a:pt x="776" y="594"/>
                      <a:pt x="805" y="591"/>
                      <a:pt x="805" y="591"/>
                    </a:cubicBezTo>
                    <a:cubicBezTo>
                      <a:pt x="805" y="591"/>
                      <a:pt x="923" y="586"/>
                      <a:pt x="949" y="577"/>
                    </a:cubicBezTo>
                    <a:cubicBezTo>
                      <a:pt x="975" y="568"/>
                      <a:pt x="975" y="574"/>
                      <a:pt x="981" y="577"/>
                    </a:cubicBezTo>
                    <a:cubicBezTo>
                      <a:pt x="981" y="606"/>
                      <a:pt x="1004" y="629"/>
                      <a:pt x="1024" y="635"/>
                    </a:cubicBezTo>
                    <a:cubicBezTo>
                      <a:pt x="1056" y="635"/>
                      <a:pt x="1062" y="640"/>
                      <a:pt x="1070" y="652"/>
                    </a:cubicBezTo>
                    <a:cubicBezTo>
                      <a:pt x="1070" y="718"/>
                      <a:pt x="1122" y="724"/>
                      <a:pt x="1157" y="730"/>
                    </a:cubicBezTo>
                    <a:cubicBezTo>
                      <a:pt x="1191" y="736"/>
                      <a:pt x="1168" y="767"/>
                      <a:pt x="1157" y="796"/>
                    </a:cubicBezTo>
                    <a:cubicBezTo>
                      <a:pt x="1180" y="845"/>
                      <a:pt x="1229" y="828"/>
                      <a:pt x="1261" y="805"/>
                    </a:cubicBezTo>
                    <a:cubicBezTo>
                      <a:pt x="1298" y="779"/>
                      <a:pt x="1298" y="779"/>
                      <a:pt x="1321" y="793"/>
                    </a:cubicBezTo>
                    <a:cubicBezTo>
                      <a:pt x="1359" y="837"/>
                      <a:pt x="1364" y="819"/>
                      <a:pt x="1364" y="819"/>
                    </a:cubicBezTo>
                    <a:cubicBezTo>
                      <a:pt x="1411" y="764"/>
                      <a:pt x="1411" y="764"/>
                      <a:pt x="1411" y="764"/>
                    </a:cubicBezTo>
                    <a:cubicBezTo>
                      <a:pt x="1445" y="718"/>
                      <a:pt x="1445" y="718"/>
                      <a:pt x="1445" y="718"/>
                    </a:cubicBezTo>
                    <a:cubicBezTo>
                      <a:pt x="1468" y="741"/>
                      <a:pt x="1468" y="741"/>
                      <a:pt x="1468" y="741"/>
                    </a:cubicBezTo>
                    <a:cubicBezTo>
                      <a:pt x="1468" y="773"/>
                      <a:pt x="1468" y="773"/>
                      <a:pt x="1468" y="773"/>
                    </a:cubicBezTo>
                    <a:cubicBezTo>
                      <a:pt x="1506" y="753"/>
                      <a:pt x="1506" y="753"/>
                      <a:pt x="1506" y="753"/>
                    </a:cubicBezTo>
                    <a:cubicBezTo>
                      <a:pt x="1525" y="733"/>
                      <a:pt x="1525" y="733"/>
                      <a:pt x="1525" y="733"/>
                    </a:cubicBezTo>
                    <a:cubicBezTo>
                      <a:pt x="1537" y="722"/>
                      <a:pt x="1537" y="722"/>
                      <a:pt x="1537" y="722"/>
                    </a:cubicBezTo>
                    <a:cubicBezTo>
                      <a:pt x="1546" y="713"/>
                      <a:pt x="1546" y="713"/>
                      <a:pt x="1546" y="713"/>
                    </a:cubicBezTo>
                    <a:cubicBezTo>
                      <a:pt x="1546" y="713"/>
                      <a:pt x="1538" y="614"/>
                      <a:pt x="1532" y="59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63" name="Freeform 1838">
                <a:extLst>
                  <a:ext uri="{FF2B5EF4-FFF2-40B4-BE49-F238E27FC236}">
                    <a16:creationId xmlns:a16="http://schemas.microsoft.com/office/drawing/2014/main" id="{A5256375-C982-5DD1-197F-E79CCCDFC603}"/>
                  </a:ext>
                </a:extLst>
              </p:cNvPr>
              <p:cNvSpPr>
                <a:spLocks/>
              </p:cNvSpPr>
              <p:nvPr/>
            </p:nvSpPr>
            <p:spPr bwMode="auto">
              <a:xfrm>
                <a:off x="1457" y="3508"/>
                <a:ext cx="207" cy="177"/>
              </a:xfrm>
              <a:custGeom>
                <a:avLst/>
                <a:gdLst>
                  <a:gd name="T0" fmla="*/ 915 w 936"/>
                  <a:gd name="T1" fmla="*/ 560 h 801"/>
                  <a:gd name="T2" fmla="*/ 863 w 936"/>
                  <a:gd name="T3" fmla="*/ 525 h 801"/>
                  <a:gd name="T4" fmla="*/ 728 w 936"/>
                  <a:gd name="T5" fmla="*/ 416 h 801"/>
                  <a:gd name="T6" fmla="*/ 656 w 936"/>
                  <a:gd name="T7" fmla="*/ 358 h 801"/>
                  <a:gd name="T8" fmla="*/ 494 w 936"/>
                  <a:gd name="T9" fmla="*/ 208 h 801"/>
                  <a:gd name="T10" fmla="*/ 474 w 936"/>
                  <a:gd name="T11" fmla="*/ 159 h 801"/>
                  <a:gd name="T12" fmla="*/ 436 w 936"/>
                  <a:gd name="T13" fmla="*/ 84 h 801"/>
                  <a:gd name="T14" fmla="*/ 347 w 936"/>
                  <a:gd name="T15" fmla="*/ 10 h 801"/>
                  <a:gd name="T16" fmla="*/ 307 w 936"/>
                  <a:gd name="T17" fmla="*/ 8 h 801"/>
                  <a:gd name="T18" fmla="*/ 210 w 936"/>
                  <a:gd name="T19" fmla="*/ 48 h 801"/>
                  <a:gd name="T20" fmla="*/ 145 w 936"/>
                  <a:gd name="T21" fmla="*/ 123 h 801"/>
                  <a:gd name="T22" fmla="*/ 1 w 936"/>
                  <a:gd name="T23" fmla="*/ 76 h 801"/>
                  <a:gd name="T24" fmla="*/ 3 w 936"/>
                  <a:gd name="T25" fmla="*/ 137 h 801"/>
                  <a:gd name="T26" fmla="*/ 110 w 936"/>
                  <a:gd name="T27" fmla="*/ 168 h 801"/>
                  <a:gd name="T28" fmla="*/ 162 w 936"/>
                  <a:gd name="T29" fmla="*/ 220 h 801"/>
                  <a:gd name="T30" fmla="*/ 251 w 936"/>
                  <a:gd name="T31" fmla="*/ 428 h 801"/>
                  <a:gd name="T32" fmla="*/ 346 w 936"/>
                  <a:gd name="T33" fmla="*/ 517 h 801"/>
                  <a:gd name="T34" fmla="*/ 453 w 936"/>
                  <a:gd name="T35" fmla="*/ 583 h 801"/>
                  <a:gd name="T36" fmla="*/ 571 w 936"/>
                  <a:gd name="T37" fmla="*/ 687 h 801"/>
                  <a:gd name="T38" fmla="*/ 683 w 936"/>
                  <a:gd name="T39" fmla="*/ 753 h 801"/>
                  <a:gd name="T40" fmla="*/ 731 w 936"/>
                  <a:gd name="T41" fmla="*/ 799 h 801"/>
                  <a:gd name="T42" fmla="*/ 743 w 936"/>
                  <a:gd name="T43" fmla="*/ 799 h 801"/>
                  <a:gd name="T44" fmla="*/ 804 w 936"/>
                  <a:gd name="T45" fmla="*/ 736 h 801"/>
                  <a:gd name="T46" fmla="*/ 824 w 936"/>
                  <a:gd name="T47" fmla="*/ 716 h 801"/>
                  <a:gd name="T48" fmla="*/ 899 w 936"/>
                  <a:gd name="T49" fmla="*/ 638 h 801"/>
                  <a:gd name="T50" fmla="*/ 936 w 936"/>
                  <a:gd name="T51" fmla="*/ 563 h 801"/>
                  <a:gd name="T52" fmla="*/ 915 w 936"/>
                  <a:gd name="T53" fmla="*/ 560 h 8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936" h="801">
                    <a:moveTo>
                      <a:pt x="915" y="560"/>
                    </a:moveTo>
                    <a:cubicBezTo>
                      <a:pt x="915" y="560"/>
                      <a:pt x="881" y="563"/>
                      <a:pt x="863" y="525"/>
                    </a:cubicBezTo>
                    <a:cubicBezTo>
                      <a:pt x="846" y="488"/>
                      <a:pt x="811" y="416"/>
                      <a:pt x="728" y="416"/>
                    </a:cubicBezTo>
                    <a:cubicBezTo>
                      <a:pt x="711" y="410"/>
                      <a:pt x="696" y="396"/>
                      <a:pt x="656" y="358"/>
                    </a:cubicBezTo>
                    <a:cubicBezTo>
                      <a:pt x="615" y="321"/>
                      <a:pt x="494" y="208"/>
                      <a:pt x="494" y="208"/>
                    </a:cubicBezTo>
                    <a:cubicBezTo>
                      <a:pt x="494" y="208"/>
                      <a:pt x="468" y="197"/>
                      <a:pt x="474" y="159"/>
                    </a:cubicBezTo>
                    <a:cubicBezTo>
                      <a:pt x="480" y="121"/>
                      <a:pt x="474" y="104"/>
                      <a:pt x="436" y="84"/>
                    </a:cubicBezTo>
                    <a:cubicBezTo>
                      <a:pt x="412" y="71"/>
                      <a:pt x="370" y="53"/>
                      <a:pt x="347" y="10"/>
                    </a:cubicBezTo>
                    <a:cubicBezTo>
                      <a:pt x="334" y="10"/>
                      <a:pt x="320" y="10"/>
                      <a:pt x="307" y="8"/>
                    </a:cubicBezTo>
                    <a:cubicBezTo>
                      <a:pt x="263" y="0"/>
                      <a:pt x="236" y="21"/>
                      <a:pt x="210" y="48"/>
                    </a:cubicBezTo>
                    <a:cubicBezTo>
                      <a:pt x="184" y="75"/>
                      <a:pt x="145" y="123"/>
                      <a:pt x="145" y="123"/>
                    </a:cubicBezTo>
                    <a:cubicBezTo>
                      <a:pt x="145" y="123"/>
                      <a:pt x="70" y="91"/>
                      <a:pt x="1" y="76"/>
                    </a:cubicBezTo>
                    <a:cubicBezTo>
                      <a:pt x="0" y="96"/>
                      <a:pt x="0" y="118"/>
                      <a:pt x="3" y="137"/>
                    </a:cubicBezTo>
                    <a:cubicBezTo>
                      <a:pt x="15" y="189"/>
                      <a:pt x="73" y="191"/>
                      <a:pt x="110" y="168"/>
                    </a:cubicBezTo>
                    <a:cubicBezTo>
                      <a:pt x="147" y="166"/>
                      <a:pt x="162" y="220"/>
                      <a:pt x="162" y="220"/>
                    </a:cubicBezTo>
                    <a:cubicBezTo>
                      <a:pt x="162" y="220"/>
                      <a:pt x="225" y="350"/>
                      <a:pt x="251" y="428"/>
                    </a:cubicBezTo>
                    <a:cubicBezTo>
                      <a:pt x="277" y="505"/>
                      <a:pt x="288" y="511"/>
                      <a:pt x="346" y="517"/>
                    </a:cubicBezTo>
                    <a:cubicBezTo>
                      <a:pt x="404" y="523"/>
                      <a:pt x="412" y="525"/>
                      <a:pt x="453" y="583"/>
                    </a:cubicBezTo>
                    <a:cubicBezTo>
                      <a:pt x="493" y="641"/>
                      <a:pt x="522" y="687"/>
                      <a:pt x="571" y="687"/>
                    </a:cubicBezTo>
                    <a:cubicBezTo>
                      <a:pt x="620" y="687"/>
                      <a:pt x="643" y="695"/>
                      <a:pt x="683" y="753"/>
                    </a:cubicBezTo>
                    <a:cubicBezTo>
                      <a:pt x="705" y="784"/>
                      <a:pt x="721" y="795"/>
                      <a:pt x="731" y="799"/>
                    </a:cubicBezTo>
                    <a:cubicBezTo>
                      <a:pt x="739" y="801"/>
                      <a:pt x="743" y="799"/>
                      <a:pt x="743" y="799"/>
                    </a:cubicBezTo>
                    <a:cubicBezTo>
                      <a:pt x="804" y="736"/>
                      <a:pt x="804" y="736"/>
                      <a:pt x="804" y="736"/>
                    </a:cubicBezTo>
                    <a:cubicBezTo>
                      <a:pt x="824" y="716"/>
                      <a:pt x="824" y="716"/>
                      <a:pt x="824" y="716"/>
                    </a:cubicBezTo>
                    <a:cubicBezTo>
                      <a:pt x="824" y="716"/>
                      <a:pt x="870" y="667"/>
                      <a:pt x="899" y="638"/>
                    </a:cubicBezTo>
                    <a:cubicBezTo>
                      <a:pt x="915" y="622"/>
                      <a:pt x="928" y="589"/>
                      <a:pt x="936" y="563"/>
                    </a:cubicBezTo>
                    <a:cubicBezTo>
                      <a:pt x="924" y="561"/>
                      <a:pt x="915" y="560"/>
                      <a:pt x="915" y="56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64" name="Freeform 1839">
                <a:extLst>
                  <a:ext uri="{FF2B5EF4-FFF2-40B4-BE49-F238E27FC236}">
                    <a16:creationId xmlns:a16="http://schemas.microsoft.com/office/drawing/2014/main" id="{35E08735-5A1B-C3DB-E9BB-8F754CA8C38C}"/>
                  </a:ext>
                </a:extLst>
              </p:cNvPr>
              <p:cNvSpPr>
                <a:spLocks/>
              </p:cNvSpPr>
              <p:nvPr/>
            </p:nvSpPr>
            <p:spPr bwMode="auto">
              <a:xfrm>
                <a:off x="1423" y="3509"/>
                <a:ext cx="76" cy="106"/>
              </a:xfrm>
              <a:custGeom>
                <a:avLst/>
                <a:gdLst>
                  <a:gd name="T0" fmla="*/ 17 w 343"/>
                  <a:gd name="T1" fmla="*/ 107 h 480"/>
                  <a:gd name="T2" fmla="*/ 20 w 343"/>
                  <a:gd name="T3" fmla="*/ 167 h 480"/>
                  <a:gd name="T4" fmla="*/ 53 w 343"/>
                  <a:gd name="T5" fmla="*/ 244 h 480"/>
                  <a:gd name="T6" fmla="*/ 121 w 343"/>
                  <a:gd name="T7" fmla="*/ 322 h 480"/>
                  <a:gd name="T8" fmla="*/ 167 w 343"/>
                  <a:gd name="T9" fmla="*/ 385 h 480"/>
                  <a:gd name="T10" fmla="*/ 225 w 343"/>
                  <a:gd name="T11" fmla="*/ 466 h 480"/>
                  <a:gd name="T12" fmla="*/ 324 w 343"/>
                  <a:gd name="T13" fmla="*/ 467 h 480"/>
                  <a:gd name="T14" fmla="*/ 311 w 343"/>
                  <a:gd name="T15" fmla="*/ 400 h 480"/>
                  <a:gd name="T16" fmla="*/ 300 w 343"/>
                  <a:gd name="T17" fmla="*/ 335 h 480"/>
                  <a:gd name="T18" fmla="*/ 256 w 343"/>
                  <a:gd name="T19" fmla="*/ 298 h 480"/>
                  <a:gd name="T20" fmla="*/ 216 w 343"/>
                  <a:gd name="T21" fmla="*/ 218 h 480"/>
                  <a:gd name="T22" fmla="*/ 147 w 343"/>
                  <a:gd name="T23" fmla="*/ 174 h 480"/>
                  <a:gd name="T24" fmla="*/ 138 w 343"/>
                  <a:gd name="T25" fmla="*/ 140 h 480"/>
                  <a:gd name="T26" fmla="*/ 112 w 343"/>
                  <a:gd name="T27" fmla="*/ 60 h 480"/>
                  <a:gd name="T28" fmla="*/ 44 w 343"/>
                  <a:gd name="T29" fmla="*/ 22 h 480"/>
                  <a:gd name="T30" fmla="*/ 31 w 343"/>
                  <a:gd name="T31" fmla="*/ 0 h 480"/>
                  <a:gd name="T32" fmla="*/ 17 w 343"/>
                  <a:gd name="T33" fmla="*/ 107 h 48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3" h="480">
                    <a:moveTo>
                      <a:pt x="17" y="107"/>
                    </a:moveTo>
                    <a:cubicBezTo>
                      <a:pt x="28" y="136"/>
                      <a:pt x="28" y="136"/>
                      <a:pt x="20" y="167"/>
                    </a:cubicBezTo>
                    <a:cubicBezTo>
                      <a:pt x="11" y="199"/>
                      <a:pt x="46" y="218"/>
                      <a:pt x="53" y="244"/>
                    </a:cubicBezTo>
                    <a:cubicBezTo>
                      <a:pt x="59" y="280"/>
                      <a:pt x="90" y="304"/>
                      <a:pt x="121" y="322"/>
                    </a:cubicBezTo>
                    <a:cubicBezTo>
                      <a:pt x="151" y="339"/>
                      <a:pt x="157" y="348"/>
                      <a:pt x="167" y="385"/>
                    </a:cubicBezTo>
                    <a:cubicBezTo>
                      <a:pt x="170" y="428"/>
                      <a:pt x="199" y="453"/>
                      <a:pt x="225" y="466"/>
                    </a:cubicBezTo>
                    <a:cubicBezTo>
                      <a:pt x="251" y="479"/>
                      <a:pt x="305" y="480"/>
                      <a:pt x="324" y="467"/>
                    </a:cubicBezTo>
                    <a:cubicBezTo>
                      <a:pt x="343" y="454"/>
                      <a:pt x="333" y="424"/>
                      <a:pt x="311" y="400"/>
                    </a:cubicBezTo>
                    <a:cubicBezTo>
                      <a:pt x="289" y="375"/>
                      <a:pt x="306" y="364"/>
                      <a:pt x="300" y="335"/>
                    </a:cubicBezTo>
                    <a:cubicBezTo>
                      <a:pt x="295" y="307"/>
                      <a:pt x="256" y="298"/>
                      <a:pt x="256" y="298"/>
                    </a:cubicBezTo>
                    <a:cubicBezTo>
                      <a:pt x="256" y="298"/>
                      <a:pt x="230" y="241"/>
                      <a:pt x="216" y="218"/>
                    </a:cubicBezTo>
                    <a:cubicBezTo>
                      <a:pt x="202" y="194"/>
                      <a:pt x="164" y="186"/>
                      <a:pt x="147" y="174"/>
                    </a:cubicBezTo>
                    <a:cubicBezTo>
                      <a:pt x="129" y="162"/>
                      <a:pt x="138" y="181"/>
                      <a:pt x="138" y="140"/>
                    </a:cubicBezTo>
                    <a:cubicBezTo>
                      <a:pt x="138" y="112"/>
                      <a:pt x="122" y="78"/>
                      <a:pt x="112" y="60"/>
                    </a:cubicBezTo>
                    <a:cubicBezTo>
                      <a:pt x="67" y="47"/>
                      <a:pt x="58" y="42"/>
                      <a:pt x="44" y="22"/>
                    </a:cubicBezTo>
                    <a:cubicBezTo>
                      <a:pt x="39" y="14"/>
                      <a:pt x="35" y="7"/>
                      <a:pt x="31" y="0"/>
                    </a:cubicBezTo>
                    <a:cubicBezTo>
                      <a:pt x="0" y="40"/>
                      <a:pt x="7" y="82"/>
                      <a:pt x="17" y="10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65" name="Freeform 1840">
                <a:extLst>
                  <a:ext uri="{FF2B5EF4-FFF2-40B4-BE49-F238E27FC236}">
                    <a16:creationId xmlns:a16="http://schemas.microsoft.com/office/drawing/2014/main" id="{0B30E2F5-77A5-0DB8-D864-52D97953CA23}"/>
                  </a:ext>
                </a:extLst>
              </p:cNvPr>
              <p:cNvSpPr>
                <a:spLocks/>
              </p:cNvSpPr>
              <p:nvPr/>
            </p:nvSpPr>
            <p:spPr bwMode="auto">
              <a:xfrm>
                <a:off x="1589" y="3682"/>
                <a:ext cx="148" cy="118"/>
              </a:xfrm>
              <a:custGeom>
                <a:avLst/>
                <a:gdLst>
                  <a:gd name="T0" fmla="*/ 670 w 673"/>
                  <a:gd name="T1" fmla="*/ 362 h 537"/>
                  <a:gd name="T2" fmla="*/ 666 w 673"/>
                  <a:gd name="T3" fmla="*/ 333 h 537"/>
                  <a:gd name="T4" fmla="*/ 606 w 673"/>
                  <a:gd name="T5" fmla="*/ 267 h 537"/>
                  <a:gd name="T6" fmla="*/ 465 w 673"/>
                  <a:gd name="T7" fmla="*/ 140 h 537"/>
                  <a:gd name="T8" fmla="*/ 393 w 673"/>
                  <a:gd name="T9" fmla="*/ 116 h 537"/>
                  <a:gd name="T10" fmla="*/ 377 w 673"/>
                  <a:gd name="T11" fmla="*/ 85 h 537"/>
                  <a:gd name="T12" fmla="*/ 415 w 673"/>
                  <a:gd name="T13" fmla="*/ 77 h 537"/>
                  <a:gd name="T14" fmla="*/ 417 w 673"/>
                  <a:gd name="T15" fmla="*/ 62 h 537"/>
                  <a:gd name="T16" fmla="*/ 327 w 673"/>
                  <a:gd name="T17" fmla="*/ 83 h 537"/>
                  <a:gd name="T18" fmla="*/ 273 w 673"/>
                  <a:gd name="T19" fmla="*/ 94 h 537"/>
                  <a:gd name="T20" fmla="*/ 240 w 673"/>
                  <a:gd name="T21" fmla="*/ 89 h 537"/>
                  <a:gd name="T22" fmla="*/ 240 w 673"/>
                  <a:gd name="T23" fmla="*/ 114 h 537"/>
                  <a:gd name="T24" fmla="*/ 266 w 673"/>
                  <a:gd name="T25" fmla="*/ 143 h 537"/>
                  <a:gd name="T26" fmla="*/ 263 w 673"/>
                  <a:gd name="T27" fmla="*/ 185 h 537"/>
                  <a:gd name="T28" fmla="*/ 234 w 673"/>
                  <a:gd name="T29" fmla="*/ 210 h 537"/>
                  <a:gd name="T30" fmla="*/ 168 w 673"/>
                  <a:gd name="T31" fmla="*/ 256 h 537"/>
                  <a:gd name="T32" fmla="*/ 145 w 673"/>
                  <a:gd name="T33" fmla="*/ 224 h 537"/>
                  <a:gd name="T34" fmla="*/ 76 w 673"/>
                  <a:gd name="T35" fmla="*/ 208 h 537"/>
                  <a:gd name="T36" fmla="*/ 67 w 673"/>
                  <a:gd name="T37" fmla="*/ 181 h 537"/>
                  <a:gd name="T38" fmla="*/ 18 w 673"/>
                  <a:gd name="T39" fmla="*/ 201 h 537"/>
                  <a:gd name="T40" fmla="*/ 0 w 673"/>
                  <a:gd name="T41" fmla="*/ 226 h 537"/>
                  <a:gd name="T42" fmla="*/ 81 w 673"/>
                  <a:gd name="T43" fmla="*/ 300 h 537"/>
                  <a:gd name="T44" fmla="*/ 132 w 673"/>
                  <a:gd name="T45" fmla="*/ 351 h 537"/>
                  <a:gd name="T46" fmla="*/ 136 w 673"/>
                  <a:gd name="T47" fmla="*/ 359 h 537"/>
                  <a:gd name="T48" fmla="*/ 190 w 673"/>
                  <a:gd name="T49" fmla="*/ 424 h 537"/>
                  <a:gd name="T50" fmla="*/ 250 w 673"/>
                  <a:gd name="T51" fmla="*/ 465 h 537"/>
                  <a:gd name="T52" fmla="*/ 316 w 673"/>
                  <a:gd name="T53" fmla="*/ 537 h 537"/>
                  <a:gd name="T54" fmla="*/ 374 w 673"/>
                  <a:gd name="T55" fmla="*/ 534 h 537"/>
                  <a:gd name="T56" fmla="*/ 448 w 673"/>
                  <a:gd name="T57" fmla="*/ 510 h 537"/>
                  <a:gd name="T58" fmla="*/ 531 w 673"/>
                  <a:gd name="T59" fmla="*/ 489 h 537"/>
                  <a:gd name="T60" fmla="*/ 562 w 673"/>
                  <a:gd name="T61" fmla="*/ 419 h 537"/>
                  <a:gd name="T62" fmla="*/ 629 w 673"/>
                  <a:gd name="T63" fmla="*/ 410 h 537"/>
                  <a:gd name="T64" fmla="*/ 670 w 673"/>
                  <a:gd name="T65" fmla="*/ 362 h 5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73" h="537">
                    <a:moveTo>
                      <a:pt x="670" y="362"/>
                    </a:moveTo>
                    <a:cubicBezTo>
                      <a:pt x="669" y="355"/>
                      <a:pt x="667" y="344"/>
                      <a:pt x="666" y="333"/>
                    </a:cubicBezTo>
                    <a:cubicBezTo>
                      <a:pt x="644" y="315"/>
                      <a:pt x="612" y="287"/>
                      <a:pt x="606" y="267"/>
                    </a:cubicBezTo>
                    <a:cubicBezTo>
                      <a:pt x="598" y="237"/>
                      <a:pt x="533" y="148"/>
                      <a:pt x="465" y="140"/>
                    </a:cubicBezTo>
                    <a:cubicBezTo>
                      <a:pt x="442" y="135"/>
                      <a:pt x="402" y="116"/>
                      <a:pt x="393" y="116"/>
                    </a:cubicBezTo>
                    <a:cubicBezTo>
                      <a:pt x="380" y="96"/>
                      <a:pt x="377" y="85"/>
                      <a:pt x="377" y="85"/>
                    </a:cubicBezTo>
                    <a:cubicBezTo>
                      <a:pt x="377" y="85"/>
                      <a:pt x="393" y="84"/>
                      <a:pt x="415" y="77"/>
                    </a:cubicBezTo>
                    <a:cubicBezTo>
                      <a:pt x="417" y="62"/>
                      <a:pt x="417" y="62"/>
                      <a:pt x="417" y="62"/>
                    </a:cubicBezTo>
                    <a:cubicBezTo>
                      <a:pt x="417" y="62"/>
                      <a:pt x="391" y="0"/>
                      <a:pt x="327" y="83"/>
                    </a:cubicBezTo>
                    <a:cubicBezTo>
                      <a:pt x="312" y="113"/>
                      <a:pt x="290" y="101"/>
                      <a:pt x="273" y="94"/>
                    </a:cubicBezTo>
                    <a:cubicBezTo>
                      <a:pt x="267" y="92"/>
                      <a:pt x="254" y="90"/>
                      <a:pt x="240" y="89"/>
                    </a:cubicBezTo>
                    <a:cubicBezTo>
                      <a:pt x="240" y="96"/>
                      <a:pt x="240" y="104"/>
                      <a:pt x="240" y="114"/>
                    </a:cubicBezTo>
                    <a:cubicBezTo>
                      <a:pt x="240" y="140"/>
                      <a:pt x="266" y="143"/>
                      <a:pt x="266" y="143"/>
                    </a:cubicBezTo>
                    <a:cubicBezTo>
                      <a:pt x="266" y="143"/>
                      <a:pt x="272" y="178"/>
                      <a:pt x="263" y="185"/>
                    </a:cubicBezTo>
                    <a:cubicBezTo>
                      <a:pt x="254" y="192"/>
                      <a:pt x="249" y="189"/>
                      <a:pt x="234" y="210"/>
                    </a:cubicBezTo>
                    <a:cubicBezTo>
                      <a:pt x="220" y="230"/>
                      <a:pt x="168" y="256"/>
                      <a:pt x="168" y="256"/>
                    </a:cubicBezTo>
                    <a:cubicBezTo>
                      <a:pt x="168" y="256"/>
                      <a:pt x="151" y="238"/>
                      <a:pt x="145" y="224"/>
                    </a:cubicBezTo>
                    <a:cubicBezTo>
                      <a:pt x="139" y="210"/>
                      <a:pt x="100" y="212"/>
                      <a:pt x="76" y="208"/>
                    </a:cubicBezTo>
                    <a:cubicBezTo>
                      <a:pt x="51" y="204"/>
                      <a:pt x="76" y="188"/>
                      <a:pt x="67" y="181"/>
                    </a:cubicBezTo>
                    <a:cubicBezTo>
                      <a:pt x="58" y="174"/>
                      <a:pt x="28" y="188"/>
                      <a:pt x="18" y="201"/>
                    </a:cubicBezTo>
                    <a:cubicBezTo>
                      <a:pt x="13" y="207"/>
                      <a:pt x="6" y="217"/>
                      <a:pt x="0" y="226"/>
                    </a:cubicBezTo>
                    <a:cubicBezTo>
                      <a:pt x="81" y="300"/>
                      <a:pt x="81" y="300"/>
                      <a:pt x="81" y="300"/>
                    </a:cubicBezTo>
                    <a:cubicBezTo>
                      <a:pt x="132" y="351"/>
                      <a:pt x="132" y="351"/>
                      <a:pt x="132" y="351"/>
                    </a:cubicBezTo>
                    <a:cubicBezTo>
                      <a:pt x="136" y="359"/>
                      <a:pt x="136" y="359"/>
                      <a:pt x="136" y="359"/>
                    </a:cubicBezTo>
                    <a:cubicBezTo>
                      <a:pt x="141" y="367"/>
                      <a:pt x="179" y="415"/>
                      <a:pt x="190" y="424"/>
                    </a:cubicBezTo>
                    <a:cubicBezTo>
                      <a:pt x="201" y="435"/>
                      <a:pt x="241" y="456"/>
                      <a:pt x="250" y="465"/>
                    </a:cubicBezTo>
                    <a:cubicBezTo>
                      <a:pt x="253" y="468"/>
                      <a:pt x="282" y="499"/>
                      <a:pt x="316" y="537"/>
                    </a:cubicBezTo>
                    <a:cubicBezTo>
                      <a:pt x="374" y="534"/>
                      <a:pt x="374" y="534"/>
                      <a:pt x="374" y="534"/>
                    </a:cubicBezTo>
                    <a:cubicBezTo>
                      <a:pt x="374" y="534"/>
                      <a:pt x="426" y="511"/>
                      <a:pt x="448" y="510"/>
                    </a:cubicBezTo>
                    <a:cubicBezTo>
                      <a:pt x="469" y="508"/>
                      <a:pt x="528" y="504"/>
                      <a:pt x="531" y="489"/>
                    </a:cubicBezTo>
                    <a:cubicBezTo>
                      <a:pt x="534" y="475"/>
                      <a:pt x="540" y="424"/>
                      <a:pt x="562" y="419"/>
                    </a:cubicBezTo>
                    <a:cubicBezTo>
                      <a:pt x="583" y="413"/>
                      <a:pt x="605" y="414"/>
                      <a:pt x="629" y="410"/>
                    </a:cubicBezTo>
                    <a:cubicBezTo>
                      <a:pt x="654" y="406"/>
                      <a:pt x="673" y="386"/>
                      <a:pt x="670" y="3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66" name="Freeform 1841">
                <a:extLst>
                  <a:ext uri="{FF2B5EF4-FFF2-40B4-BE49-F238E27FC236}">
                    <a16:creationId xmlns:a16="http://schemas.microsoft.com/office/drawing/2014/main" id="{36FC8EF8-9D3D-9BD7-2BDD-731BA3B50514}"/>
                  </a:ext>
                </a:extLst>
              </p:cNvPr>
              <p:cNvSpPr>
                <a:spLocks/>
              </p:cNvSpPr>
              <p:nvPr/>
            </p:nvSpPr>
            <p:spPr bwMode="auto">
              <a:xfrm>
                <a:off x="1487" y="3617"/>
                <a:ext cx="62" cy="64"/>
              </a:xfrm>
              <a:custGeom>
                <a:avLst/>
                <a:gdLst>
                  <a:gd name="T0" fmla="*/ 281 w 281"/>
                  <a:gd name="T1" fmla="*/ 204 h 290"/>
                  <a:gd name="T2" fmla="*/ 251 w 281"/>
                  <a:gd name="T3" fmla="*/ 169 h 290"/>
                  <a:gd name="T4" fmla="*/ 118 w 281"/>
                  <a:gd name="T5" fmla="*/ 52 h 290"/>
                  <a:gd name="T6" fmla="*/ 79 w 281"/>
                  <a:gd name="T7" fmla="*/ 23 h 290"/>
                  <a:gd name="T8" fmla="*/ 26 w 281"/>
                  <a:gd name="T9" fmla="*/ 20 h 290"/>
                  <a:gd name="T10" fmla="*/ 23 w 281"/>
                  <a:gd name="T11" fmla="*/ 78 h 290"/>
                  <a:gd name="T12" fmla="*/ 93 w 281"/>
                  <a:gd name="T13" fmla="*/ 155 h 290"/>
                  <a:gd name="T14" fmla="*/ 144 w 281"/>
                  <a:gd name="T15" fmla="*/ 180 h 290"/>
                  <a:gd name="T16" fmla="*/ 152 w 281"/>
                  <a:gd name="T17" fmla="*/ 224 h 290"/>
                  <a:gd name="T18" fmla="*/ 184 w 281"/>
                  <a:gd name="T19" fmla="*/ 263 h 290"/>
                  <a:gd name="T20" fmla="*/ 214 w 281"/>
                  <a:gd name="T21" fmla="*/ 290 h 290"/>
                  <a:gd name="T22" fmla="*/ 281 w 281"/>
                  <a:gd name="T23" fmla="*/ 204 h 2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90">
                    <a:moveTo>
                      <a:pt x="281" y="204"/>
                    </a:moveTo>
                    <a:cubicBezTo>
                      <a:pt x="270" y="196"/>
                      <a:pt x="260" y="185"/>
                      <a:pt x="251" y="169"/>
                    </a:cubicBezTo>
                    <a:cubicBezTo>
                      <a:pt x="223" y="124"/>
                      <a:pt x="199" y="42"/>
                      <a:pt x="118" y="52"/>
                    </a:cubicBezTo>
                    <a:cubicBezTo>
                      <a:pt x="96" y="55"/>
                      <a:pt x="79" y="46"/>
                      <a:pt x="79" y="23"/>
                    </a:cubicBezTo>
                    <a:cubicBezTo>
                      <a:pt x="73" y="22"/>
                      <a:pt x="41" y="0"/>
                      <a:pt x="26" y="20"/>
                    </a:cubicBezTo>
                    <a:cubicBezTo>
                      <a:pt x="26" y="20"/>
                      <a:pt x="0" y="38"/>
                      <a:pt x="23" y="78"/>
                    </a:cubicBezTo>
                    <a:cubicBezTo>
                      <a:pt x="46" y="118"/>
                      <a:pt x="62" y="150"/>
                      <a:pt x="93" y="155"/>
                    </a:cubicBezTo>
                    <a:cubicBezTo>
                      <a:pt x="125" y="159"/>
                      <a:pt x="135" y="159"/>
                      <a:pt x="144" y="180"/>
                    </a:cubicBezTo>
                    <a:cubicBezTo>
                      <a:pt x="152" y="202"/>
                      <a:pt x="151" y="214"/>
                      <a:pt x="152" y="224"/>
                    </a:cubicBezTo>
                    <a:cubicBezTo>
                      <a:pt x="154" y="234"/>
                      <a:pt x="163" y="244"/>
                      <a:pt x="184" y="263"/>
                    </a:cubicBezTo>
                    <a:cubicBezTo>
                      <a:pt x="189" y="267"/>
                      <a:pt x="200" y="277"/>
                      <a:pt x="214" y="290"/>
                    </a:cubicBezTo>
                    <a:cubicBezTo>
                      <a:pt x="224" y="272"/>
                      <a:pt x="249" y="228"/>
                      <a:pt x="281" y="20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67" name="Freeform 1842">
                <a:extLst>
                  <a:ext uri="{FF2B5EF4-FFF2-40B4-BE49-F238E27FC236}">
                    <a16:creationId xmlns:a16="http://schemas.microsoft.com/office/drawing/2014/main" id="{4D4E924E-574A-3F89-28A4-6F0E15A62BB0}"/>
                  </a:ext>
                </a:extLst>
              </p:cNvPr>
              <p:cNvSpPr>
                <a:spLocks/>
              </p:cNvSpPr>
              <p:nvPr/>
            </p:nvSpPr>
            <p:spPr bwMode="auto">
              <a:xfrm>
                <a:off x="1534" y="3662"/>
                <a:ext cx="115" cy="76"/>
              </a:xfrm>
              <a:custGeom>
                <a:avLst/>
                <a:gdLst>
                  <a:gd name="T0" fmla="*/ 514 w 520"/>
                  <a:gd name="T1" fmla="*/ 233 h 346"/>
                  <a:gd name="T2" fmla="*/ 488 w 520"/>
                  <a:gd name="T3" fmla="*/ 204 h 346"/>
                  <a:gd name="T4" fmla="*/ 488 w 520"/>
                  <a:gd name="T5" fmla="*/ 179 h 346"/>
                  <a:gd name="T6" fmla="*/ 419 w 520"/>
                  <a:gd name="T7" fmla="*/ 175 h 346"/>
                  <a:gd name="T8" fmla="*/ 347 w 520"/>
                  <a:gd name="T9" fmla="*/ 122 h 346"/>
                  <a:gd name="T10" fmla="*/ 250 w 520"/>
                  <a:gd name="T11" fmla="*/ 28 h 346"/>
                  <a:gd name="T12" fmla="*/ 136 w 520"/>
                  <a:gd name="T13" fmla="*/ 18 h 346"/>
                  <a:gd name="T14" fmla="*/ 67 w 520"/>
                  <a:gd name="T15" fmla="*/ 0 h 346"/>
                  <a:gd name="T16" fmla="*/ 0 w 520"/>
                  <a:gd name="T17" fmla="*/ 86 h 346"/>
                  <a:gd name="T18" fmla="*/ 161 w 520"/>
                  <a:gd name="T19" fmla="*/ 235 h 346"/>
                  <a:gd name="T20" fmla="*/ 248 w 520"/>
                  <a:gd name="T21" fmla="*/ 316 h 346"/>
                  <a:gd name="T22" fmla="*/ 266 w 520"/>
                  <a:gd name="T23" fmla="*/ 291 h 346"/>
                  <a:gd name="T24" fmla="*/ 315 w 520"/>
                  <a:gd name="T25" fmla="*/ 271 h 346"/>
                  <a:gd name="T26" fmla="*/ 324 w 520"/>
                  <a:gd name="T27" fmla="*/ 298 h 346"/>
                  <a:gd name="T28" fmla="*/ 393 w 520"/>
                  <a:gd name="T29" fmla="*/ 314 h 346"/>
                  <a:gd name="T30" fmla="*/ 416 w 520"/>
                  <a:gd name="T31" fmla="*/ 346 h 346"/>
                  <a:gd name="T32" fmla="*/ 482 w 520"/>
                  <a:gd name="T33" fmla="*/ 300 h 346"/>
                  <a:gd name="T34" fmla="*/ 511 w 520"/>
                  <a:gd name="T35" fmla="*/ 275 h 346"/>
                  <a:gd name="T36" fmla="*/ 514 w 520"/>
                  <a:gd name="T37" fmla="*/ 233 h 3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0" h="346">
                    <a:moveTo>
                      <a:pt x="514" y="233"/>
                    </a:moveTo>
                    <a:cubicBezTo>
                      <a:pt x="514" y="233"/>
                      <a:pt x="488" y="230"/>
                      <a:pt x="488" y="204"/>
                    </a:cubicBezTo>
                    <a:cubicBezTo>
                      <a:pt x="488" y="194"/>
                      <a:pt x="488" y="186"/>
                      <a:pt x="488" y="179"/>
                    </a:cubicBezTo>
                    <a:cubicBezTo>
                      <a:pt x="461" y="177"/>
                      <a:pt x="428" y="176"/>
                      <a:pt x="419" y="175"/>
                    </a:cubicBezTo>
                    <a:cubicBezTo>
                      <a:pt x="404" y="174"/>
                      <a:pt x="370" y="160"/>
                      <a:pt x="347" y="122"/>
                    </a:cubicBezTo>
                    <a:cubicBezTo>
                      <a:pt x="324" y="85"/>
                      <a:pt x="299" y="47"/>
                      <a:pt x="250" y="28"/>
                    </a:cubicBezTo>
                    <a:cubicBezTo>
                      <a:pt x="250" y="28"/>
                      <a:pt x="178" y="18"/>
                      <a:pt x="136" y="18"/>
                    </a:cubicBezTo>
                    <a:cubicBezTo>
                      <a:pt x="109" y="18"/>
                      <a:pt x="87" y="15"/>
                      <a:pt x="67" y="0"/>
                    </a:cubicBezTo>
                    <a:cubicBezTo>
                      <a:pt x="35" y="24"/>
                      <a:pt x="10" y="68"/>
                      <a:pt x="0" y="86"/>
                    </a:cubicBezTo>
                    <a:cubicBezTo>
                      <a:pt x="55" y="136"/>
                      <a:pt x="161" y="235"/>
                      <a:pt x="161" y="235"/>
                    </a:cubicBezTo>
                    <a:cubicBezTo>
                      <a:pt x="248" y="316"/>
                      <a:pt x="248" y="316"/>
                      <a:pt x="248" y="316"/>
                    </a:cubicBezTo>
                    <a:cubicBezTo>
                      <a:pt x="254" y="307"/>
                      <a:pt x="261" y="297"/>
                      <a:pt x="266" y="291"/>
                    </a:cubicBezTo>
                    <a:cubicBezTo>
                      <a:pt x="276" y="278"/>
                      <a:pt x="306" y="264"/>
                      <a:pt x="315" y="271"/>
                    </a:cubicBezTo>
                    <a:cubicBezTo>
                      <a:pt x="324" y="278"/>
                      <a:pt x="299" y="294"/>
                      <a:pt x="324" y="298"/>
                    </a:cubicBezTo>
                    <a:cubicBezTo>
                      <a:pt x="348" y="302"/>
                      <a:pt x="387" y="300"/>
                      <a:pt x="393" y="314"/>
                    </a:cubicBezTo>
                    <a:cubicBezTo>
                      <a:pt x="399" y="328"/>
                      <a:pt x="416" y="346"/>
                      <a:pt x="416" y="346"/>
                    </a:cubicBezTo>
                    <a:cubicBezTo>
                      <a:pt x="416" y="346"/>
                      <a:pt x="468" y="320"/>
                      <a:pt x="482" y="300"/>
                    </a:cubicBezTo>
                    <a:cubicBezTo>
                      <a:pt x="497" y="279"/>
                      <a:pt x="502" y="282"/>
                      <a:pt x="511" y="275"/>
                    </a:cubicBezTo>
                    <a:cubicBezTo>
                      <a:pt x="520" y="268"/>
                      <a:pt x="514" y="233"/>
                      <a:pt x="514" y="2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68" name="Freeform 1843">
                <a:extLst>
                  <a:ext uri="{FF2B5EF4-FFF2-40B4-BE49-F238E27FC236}">
                    <a16:creationId xmlns:a16="http://schemas.microsoft.com/office/drawing/2014/main" id="{6B3D31F9-021D-9626-B0B1-3FC0B70F7A44}"/>
                  </a:ext>
                </a:extLst>
              </p:cNvPr>
              <p:cNvSpPr>
                <a:spLocks/>
              </p:cNvSpPr>
              <p:nvPr/>
            </p:nvSpPr>
            <p:spPr bwMode="auto">
              <a:xfrm>
                <a:off x="1451" y="3879"/>
                <a:ext cx="184" cy="176"/>
              </a:xfrm>
              <a:custGeom>
                <a:avLst/>
                <a:gdLst>
                  <a:gd name="T0" fmla="*/ 792 w 831"/>
                  <a:gd name="T1" fmla="*/ 388 h 797"/>
                  <a:gd name="T2" fmla="*/ 831 w 831"/>
                  <a:gd name="T3" fmla="*/ 316 h 797"/>
                  <a:gd name="T4" fmla="*/ 786 w 831"/>
                  <a:gd name="T5" fmla="*/ 303 h 797"/>
                  <a:gd name="T6" fmla="*/ 742 w 831"/>
                  <a:gd name="T7" fmla="*/ 288 h 797"/>
                  <a:gd name="T8" fmla="*/ 688 w 831"/>
                  <a:gd name="T9" fmla="*/ 286 h 797"/>
                  <a:gd name="T10" fmla="*/ 625 w 831"/>
                  <a:gd name="T11" fmla="*/ 297 h 797"/>
                  <a:gd name="T12" fmla="*/ 574 w 831"/>
                  <a:gd name="T13" fmla="*/ 271 h 797"/>
                  <a:gd name="T14" fmla="*/ 457 w 831"/>
                  <a:gd name="T15" fmla="*/ 273 h 797"/>
                  <a:gd name="T16" fmla="*/ 416 w 831"/>
                  <a:gd name="T17" fmla="*/ 215 h 797"/>
                  <a:gd name="T18" fmla="*/ 416 w 831"/>
                  <a:gd name="T19" fmla="*/ 111 h 797"/>
                  <a:gd name="T20" fmla="*/ 394 w 831"/>
                  <a:gd name="T21" fmla="*/ 52 h 797"/>
                  <a:gd name="T22" fmla="*/ 394 w 831"/>
                  <a:gd name="T23" fmla="*/ 52 h 797"/>
                  <a:gd name="T24" fmla="*/ 208 w 831"/>
                  <a:gd name="T25" fmla="*/ 42 h 797"/>
                  <a:gd name="T26" fmla="*/ 202 w 831"/>
                  <a:gd name="T27" fmla="*/ 37 h 797"/>
                  <a:gd name="T28" fmla="*/ 167 w 831"/>
                  <a:gd name="T29" fmla="*/ 26 h 797"/>
                  <a:gd name="T30" fmla="*/ 141 w 831"/>
                  <a:gd name="T31" fmla="*/ 29 h 797"/>
                  <a:gd name="T32" fmla="*/ 104 w 831"/>
                  <a:gd name="T33" fmla="*/ 0 h 797"/>
                  <a:gd name="T34" fmla="*/ 121 w 831"/>
                  <a:gd name="T35" fmla="*/ 70 h 797"/>
                  <a:gd name="T36" fmla="*/ 130 w 831"/>
                  <a:gd name="T37" fmla="*/ 145 h 797"/>
                  <a:gd name="T38" fmla="*/ 93 w 831"/>
                  <a:gd name="T39" fmla="*/ 210 h 797"/>
                  <a:gd name="T40" fmla="*/ 68 w 831"/>
                  <a:gd name="T41" fmla="*/ 270 h 797"/>
                  <a:gd name="T42" fmla="*/ 82 w 831"/>
                  <a:gd name="T43" fmla="*/ 297 h 797"/>
                  <a:gd name="T44" fmla="*/ 72 w 831"/>
                  <a:gd name="T45" fmla="*/ 331 h 797"/>
                  <a:gd name="T46" fmla="*/ 48 w 831"/>
                  <a:gd name="T47" fmla="*/ 399 h 797"/>
                  <a:gd name="T48" fmla="*/ 91 w 831"/>
                  <a:gd name="T49" fmla="*/ 453 h 797"/>
                  <a:gd name="T50" fmla="*/ 22 w 831"/>
                  <a:gd name="T51" fmla="*/ 500 h 797"/>
                  <a:gd name="T52" fmla="*/ 89 w 831"/>
                  <a:gd name="T53" fmla="*/ 541 h 797"/>
                  <a:gd name="T54" fmla="*/ 76 w 831"/>
                  <a:gd name="T55" fmla="*/ 608 h 797"/>
                  <a:gd name="T56" fmla="*/ 65 w 831"/>
                  <a:gd name="T57" fmla="*/ 686 h 797"/>
                  <a:gd name="T58" fmla="*/ 137 w 831"/>
                  <a:gd name="T59" fmla="*/ 727 h 797"/>
                  <a:gd name="T60" fmla="*/ 206 w 831"/>
                  <a:gd name="T61" fmla="*/ 723 h 797"/>
                  <a:gd name="T62" fmla="*/ 255 w 831"/>
                  <a:gd name="T63" fmla="*/ 797 h 797"/>
                  <a:gd name="T64" fmla="*/ 347 w 831"/>
                  <a:gd name="T65" fmla="*/ 696 h 797"/>
                  <a:gd name="T66" fmla="*/ 719 w 831"/>
                  <a:gd name="T67" fmla="*/ 532 h 797"/>
                  <a:gd name="T68" fmla="*/ 790 w 831"/>
                  <a:gd name="T69" fmla="*/ 507 h 797"/>
                  <a:gd name="T70" fmla="*/ 786 w 831"/>
                  <a:gd name="T71" fmla="*/ 433 h 797"/>
                  <a:gd name="T72" fmla="*/ 792 w 831"/>
                  <a:gd name="T73" fmla="*/ 388 h 7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831" h="797">
                    <a:moveTo>
                      <a:pt x="792" y="388"/>
                    </a:moveTo>
                    <a:cubicBezTo>
                      <a:pt x="803" y="383"/>
                      <a:pt x="831" y="331"/>
                      <a:pt x="831" y="316"/>
                    </a:cubicBezTo>
                    <a:cubicBezTo>
                      <a:pt x="831" y="301"/>
                      <a:pt x="805" y="280"/>
                      <a:pt x="786" y="303"/>
                    </a:cubicBezTo>
                    <a:cubicBezTo>
                      <a:pt x="766" y="327"/>
                      <a:pt x="749" y="314"/>
                      <a:pt x="742" y="288"/>
                    </a:cubicBezTo>
                    <a:cubicBezTo>
                      <a:pt x="736" y="262"/>
                      <a:pt x="712" y="273"/>
                      <a:pt x="688" y="286"/>
                    </a:cubicBezTo>
                    <a:cubicBezTo>
                      <a:pt x="664" y="299"/>
                      <a:pt x="649" y="299"/>
                      <a:pt x="625" y="297"/>
                    </a:cubicBezTo>
                    <a:cubicBezTo>
                      <a:pt x="602" y="295"/>
                      <a:pt x="591" y="271"/>
                      <a:pt x="574" y="271"/>
                    </a:cubicBezTo>
                    <a:cubicBezTo>
                      <a:pt x="556" y="271"/>
                      <a:pt x="483" y="273"/>
                      <a:pt x="457" y="273"/>
                    </a:cubicBezTo>
                    <a:cubicBezTo>
                      <a:pt x="431" y="273"/>
                      <a:pt x="416" y="230"/>
                      <a:pt x="416" y="215"/>
                    </a:cubicBezTo>
                    <a:cubicBezTo>
                      <a:pt x="416" y="200"/>
                      <a:pt x="416" y="145"/>
                      <a:pt x="416" y="111"/>
                    </a:cubicBezTo>
                    <a:cubicBezTo>
                      <a:pt x="416" y="92"/>
                      <a:pt x="404" y="69"/>
                      <a:pt x="394" y="52"/>
                    </a:cubicBezTo>
                    <a:cubicBezTo>
                      <a:pt x="394" y="52"/>
                      <a:pt x="394" y="52"/>
                      <a:pt x="394" y="52"/>
                    </a:cubicBezTo>
                    <a:cubicBezTo>
                      <a:pt x="394" y="52"/>
                      <a:pt x="258" y="24"/>
                      <a:pt x="208" y="42"/>
                    </a:cubicBezTo>
                    <a:cubicBezTo>
                      <a:pt x="206" y="41"/>
                      <a:pt x="204" y="39"/>
                      <a:pt x="202" y="37"/>
                    </a:cubicBezTo>
                    <a:cubicBezTo>
                      <a:pt x="195" y="46"/>
                      <a:pt x="174" y="36"/>
                      <a:pt x="167" y="26"/>
                    </a:cubicBezTo>
                    <a:cubicBezTo>
                      <a:pt x="158" y="16"/>
                      <a:pt x="152" y="26"/>
                      <a:pt x="141" y="29"/>
                    </a:cubicBezTo>
                    <a:cubicBezTo>
                      <a:pt x="130" y="31"/>
                      <a:pt x="104" y="0"/>
                      <a:pt x="104" y="0"/>
                    </a:cubicBezTo>
                    <a:cubicBezTo>
                      <a:pt x="104" y="29"/>
                      <a:pt x="106" y="50"/>
                      <a:pt x="121" y="70"/>
                    </a:cubicBezTo>
                    <a:cubicBezTo>
                      <a:pt x="137" y="89"/>
                      <a:pt x="154" y="124"/>
                      <a:pt x="130" y="145"/>
                    </a:cubicBezTo>
                    <a:cubicBezTo>
                      <a:pt x="106" y="167"/>
                      <a:pt x="95" y="180"/>
                      <a:pt x="93" y="210"/>
                    </a:cubicBezTo>
                    <a:cubicBezTo>
                      <a:pt x="92" y="232"/>
                      <a:pt x="76" y="258"/>
                      <a:pt x="68" y="270"/>
                    </a:cubicBezTo>
                    <a:cubicBezTo>
                      <a:pt x="82" y="297"/>
                      <a:pt x="82" y="297"/>
                      <a:pt x="82" y="297"/>
                    </a:cubicBezTo>
                    <a:cubicBezTo>
                      <a:pt x="82" y="297"/>
                      <a:pt x="80" y="321"/>
                      <a:pt x="72" y="331"/>
                    </a:cubicBezTo>
                    <a:cubicBezTo>
                      <a:pt x="63" y="342"/>
                      <a:pt x="26" y="392"/>
                      <a:pt x="48" y="399"/>
                    </a:cubicBezTo>
                    <a:cubicBezTo>
                      <a:pt x="69" y="405"/>
                      <a:pt x="113" y="442"/>
                      <a:pt x="91" y="453"/>
                    </a:cubicBezTo>
                    <a:cubicBezTo>
                      <a:pt x="69" y="463"/>
                      <a:pt x="0" y="476"/>
                      <a:pt x="22" y="500"/>
                    </a:cubicBezTo>
                    <a:cubicBezTo>
                      <a:pt x="43" y="524"/>
                      <a:pt x="85" y="522"/>
                      <a:pt x="89" y="541"/>
                    </a:cubicBezTo>
                    <a:cubicBezTo>
                      <a:pt x="93" y="561"/>
                      <a:pt x="98" y="591"/>
                      <a:pt x="76" y="608"/>
                    </a:cubicBezTo>
                    <a:cubicBezTo>
                      <a:pt x="54" y="626"/>
                      <a:pt x="59" y="660"/>
                      <a:pt x="65" y="686"/>
                    </a:cubicBezTo>
                    <a:cubicBezTo>
                      <a:pt x="100" y="699"/>
                      <a:pt x="130" y="723"/>
                      <a:pt x="137" y="727"/>
                    </a:cubicBezTo>
                    <a:cubicBezTo>
                      <a:pt x="143" y="732"/>
                      <a:pt x="191" y="723"/>
                      <a:pt x="206" y="723"/>
                    </a:cubicBezTo>
                    <a:cubicBezTo>
                      <a:pt x="216" y="723"/>
                      <a:pt x="240" y="763"/>
                      <a:pt x="255" y="797"/>
                    </a:cubicBezTo>
                    <a:cubicBezTo>
                      <a:pt x="283" y="755"/>
                      <a:pt x="314" y="717"/>
                      <a:pt x="347" y="696"/>
                    </a:cubicBezTo>
                    <a:cubicBezTo>
                      <a:pt x="426" y="647"/>
                      <a:pt x="612" y="571"/>
                      <a:pt x="719" y="532"/>
                    </a:cubicBezTo>
                    <a:cubicBezTo>
                      <a:pt x="739" y="525"/>
                      <a:pt x="763" y="516"/>
                      <a:pt x="790" y="507"/>
                    </a:cubicBezTo>
                    <a:cubicBezTo>
                      <a:pt x="789" y="492"/>
                      <a:pt x="786" y="446"/>
                      <a:pt x="786" y="433"/>
                    </a:cubicBezTo>
                    <a:cubicBezTo>
                      <a:pt x="786" y="418"/>
                      <a:pt x="781" y="392"/>
                      <a:pt x="792" y="3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69" name="Freeform 1844">
                <a:extLst>
                  <a:ext uri="{FF2B5EF4-FFF2-40B4-BE49-F238E27FC236}">
                    <a16:creationId xmlns:a16="http://schemas.microsoft.com/office/drawing/2014/main" id="{C8F8B2EC-AB08-A736-7033-759993DDAB16}"/>
                  </a:ext>
                </a:extLst>
              </p:cNvPr>
              <p:cNvSpPr>
                <a:spLocks/>
              </p:cNvSpPr>
              <p:nvPr/>
            </p:nvSpPr>
            <p:spPr bwMode="auto">
              <a:xfrm>
                <a:off x="1455" y="3686"/>
                <a:ext cx="166" cy="108"/>
              </a:xfrm>
              <a:custGeom>
                <a:avLst/>
                <a:gdLst>
                  <a:gd name="T0" fmla="*/ 321 w 749"/>
                  <a:gd name="T1" fmla="*/ 25 h 487"/>
                  <a:gd name="T2" fmla="*/ 273 w 749"/>
                  <a:gd name="T3" fmla="*/ 59 h 487"/>
                  <a:gd name="T4" fmla="*/ 243 w 749"/>
                  <a:gd name="T5" fmla="*/ 96 h 487"/>
                  <a:gd name="T6" fmla="*/ 161 w 749"/>
                  <a:gd name="T7" fmla="*/ 109 h 487"/>
                  <a:gd name="T8" fmla="*/ 111 w 749"/>
                  <a:gd name="T9" fmla="*/ 55 h 487"/>
                  <a:gd name="T10" fmla="*/ 68 w 749"/>
                  <a:gd name="T11" fmla="*/ 70 h 487"/>
                  <a:gd name="T12" fmla="*/ 0 w 749"/>
                  <a:gd name="T13" fmla="*/ 143 h 487"/>
                  <a:gd name="T14" fmla="*/ 74 w 749"/>
                  <a:gd name="T15" fmla="*/ 189 h 487"/>
                  <a:gd name="T16" fmla="*/ 269 w 749"/>
                  <a:gd name="T17" fmla="*/ 384 h 487"/>
                  <a:gd name="T18" fmla="*/ 336 w 749"/>
                  <a:gd name="T19" fmla="*/ 442 h 487"/>
                  <a:gd name="T20" fmla="*/ 359 w 749"/>
                  <a:gd name="T21" fmla="*/ 487 h 487"/>
                  <a:gd name="T22" fmla="*/ 392 w 749"/>
                  <a:gd name="T23" fmla="*/ 468 h 487"/>
                  <a:gd name="T24" fmla="*/ 457 w 749"/>
                  <a:gd name="T25" fmla="*/ 414 h 487"/>
                  <a:gd name="T26" fmla="*/ 511 w 749"/>
                  <a:gd name="T27" fmla="*/ 451 h 487"/>
                  <a:gd name="T28" fmla="*/ 583 w 749"/>
                  <a:gd name="T29" fmla="*/ 453 h 487"/>
                  <a:gd name="T30" fmla="*/ 658 w 749"/>
                  <a:gd name="T31" fmla="*/ 436 h 487"/>
                  <a:gd name="T32" fmla="*/ 706 w 749"/>
                  <a:gd name="T33" fmla="*/ 418 h 487"/>
                  <a:gd name="T34" fmla="*/ 749 w 749"/>
                  <a:gd name="T35" fmla="*/ 399 h 487"/>
                  <a:gd name="T36" fmla="*/ 658 w 749"/>
                  <a:gd name="T37" fmla="*/ 299 h 487"/>
                  <a:gd name="T38" fmla="*/ 574 w 749"/>
                  <a:gd name="T39" fmla="*/ 234 h 487"/>
                  <a:gd name="T40" fmla="*/ 507 w 749"/>
                  <a:gd name="T41" fmla="*/ 176 h 487"/>
                  <a:gd name="T42" fmla="*/ 459 w 749"/>
                  <a:gd name="T43" fmla="*/ 94 h 487"/>
                  <a:gd name="T44" fmla="*/ 381 w 749"/>
                  <a:gd name="T45" fmla="*/ 42 h 487"/>
                  <a:gd name="T46" fmla="*/ 333 w 749"/>
                  <a:gd name="T47" fmla="*/ 0 h 487"/>
                  <a:gd name="T48" fmla="*/ 321 w 749"/>
                  <a:gd name="T49" fmla="*/ 25 h 4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749" h="487">
                    <a:moveTo>
                      <a:pt x="321" y="25"/>
                    </a:moveTo>
                    <a:cubicBezTo>
                      <a:pt x="301" y="27"/>
                      <a:pt x="273" y="40"/>
                      <a:pt x="273" y="59"/>
                    </a:cubicBezTo>
                    <a:cubicBezTo>
                      <a:pt x="273" y="79"/>
                      <a:pt x="264" y="96"/>
                      <a:pt x="243" y="96"/>
                    </a:cubicBezTo>
                    <a:cubicBezTo>
                      <a:pt x="221" y="96"/>
                      <a:pt x="161" y="109"/>
                      <a:pt x="161" y="109"/>
                    </a:cubicBezTo>
                    <a:cubicBezTo>
                      <a:pt x="161" y="109"/>
                      <a:pt x="126" y="81"/>
                      <a:pt x="111" y="55"/>
                    </a:cubicBezTo>
                    <a:cubicBezTo>
                      <a:pt x="96" y="29"/>
                      <a:pt x="74" y="61"/>
                      <a:pt x="68" y="70"/>
                    </a:cubicBezTo>
                    <a:cubicBezTo>
                      <a:pt x="63" y="76"/>
                      <a:pt x="25" y="117"/>
                      <a:pt x="0" y="143"/>
                    </a:cubicBezTo>
                    <a:cubicBezTo>
                      <a:pt x="34" y="162"/>
                      <a:pt x="64" y="181"/>
                      <a:pt x="74" y="189"/>
                    </a:cubicBezTo>
                    <a:cubicBezTo>
                      <a:pt x="100" y="211"/>
                      <a:pt x="269" y="384"/>
                      <a:pt x="269" y="384"/>
                    </a:cubicBezTo>
                    <a:cubicBezTo>
                      <a:pt x="336" y="442"/>
                      <a:pt x="336" y="442"/>
                      <a:pt x="336" y="442"/>
                    </a:cubicBezTo>
                    <a:cubicBezTo>
                      <a:pt x="336" y="442"/>
                      <a:pt x="344" y="465"/>
                      <a:pt x="359" y="487"/>
                    </a:cubicBezTo>
                    <a:cubicBezTo>
                      <a:pt x="374" y="481"/>
                      <a:pt x="387" y="474"/>
                      <a:pt x="392" y="468"/>
                    </a:cubicBezTo>
                    <a:cubicBezTo>
                      <a:pt x="407" y="449"/>
                      <a:pt x="457" y="414"/>
                      <a:pt x="457" y="414"/>
                    </a:cubicBezTo>
                    <a:cubicBezTo>
                      <a:pt x="511" y="451"/>
                      <a:pt x="511" y="451"/>
                      <a:pt x="511" y="451"/>
                    </a:cubicBezTo>
                    <a:cubicBezTo>
                      <a:pt x="511" y="451"/>
                      <a:pt x="559" y="453"/>
                      <a:pt x="583" y="453"/>
                    </a:cubicBezTo>
                    <a:cubicBezTo>
                      <a:pt x="606" y="453"/>
                      <a:pt x="647" y="438"/>
                      <a:pt x="658" y="436"/>
                    </a:cubicBezTo>
                    <a:cubicBezTo>
                      <a:pt x="669" y="433"/>
                      <a:pt x="706" y="418"/>
                      <a:pt x="706" y="418"/>
                    </a:cubicBezTo>
                    <a:cubicBezTo>
                      <a:pt x="749" y="399"/>
                      <a:pt x="749" y="399"/>
                      <a:pt x="749" y="399"/>
                    </a:cubicBezTo>
                    <a:cubicBezTo>
                      <a:pt x="728" y="361"/>
                      <a:pt x="664" y="309"/>
                      <a:pt x="658" y="299"/>
                    </a:cubicBezTo>
                    <a:cubicBezTo>
                      <a:pt x="652" y="289"/>
                      <a:pt x="602" y="239"/>
                      <a:pt x="574" y="234"/>
                    </a:cubicBezTo>
                    <a:cubicBezTo>
                      <a:pt x="546" y="230"/>
                      <a:pt x="520" y="202"/>
                      <a:pt x="507" y="176"/>
                    </a:cubicBezTo>
                    <a:cubicBezTo>
                      <a:pt x="494" y="150"/>
                      <a:pt x="464" y="102"/>
                      <a:pt x="459" y="94"/>
                    </a:cubicBezTo>
                    <a:cubicBezTo>
                      <a:pt x="455" y="85"/>
                      <a:pt x="388" y="44"/>
                      <a:pt x="381" y="42"/>
                    </a:cubicBezTo>
                    <a:cubicBezTo>
                      <a:pt x="377" y="40"/>
                      <a:pt x="350" y="16"/>
                      <a:pt x="333" y="0"/>
                    </a:cubicBezTo>
                    <a:cubicBezTo>
                      <a:pt x="334" y="10"/>
                      <a:pt x="333" y="23"/>
                      <a:pt x="321"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70" name="Freeform 1845">
                <a:extLst>
                  <a:ext uri="{FF2B5EF4-FFF2-40B4-BE49-F238E27FC236}">
                    <a16:creationId xmlns:a16="http://schemas.microsoft.com/office/drawing/2014/main" id="{60225548-FC1C-E709-E231-C179BA296FF0}"/>
                  </a:ext>
                </a:extLst>
              </p:cNvPr>
              <p:cNvSpPr>
                <a:spLocks/>
              </p:cNvSpPr>
              <p:nvPr/>
            </p:nvSpPr>
            <p:spPr bwMode="auto">
              <a:xfrm>
                <a:off x="1333" y="3503"/>
                <a:ext cx="196" cy="215"/>
              </a:xfrm>
              <a:custGeom>
                <a:avLst/>
                <a:gdLst>
                  <a:gd name="T0" fmla="*/ 888 w 889"/>
                  <a:gd name="T1" fmla="*/ 828 h 971"/>
                  <a:gd name="T2" fmla="*/ 887 w 889"/>
                  <a:gd name="T3" fmla="*/ 816 h 971"/>
                  <a:gd name="T4" fmla="*/ 809 w 889"/>
                  <a:gd name="T5" fmla="*/ 740 h 971"/>
                  <a:gd name="T6" fmla="*/ 718 w 889"/>
                  <a:gd name="T7" fmla="*/ 656 h 971"/>
                  <a:gd name="T8" fmla="*/ 688 w 889"/>
                  <a:gd name="T9" fmla="*/ 560 h 971"/>
                  <a:gd name="T10" fmla="*/ 577 w 889"/>
                  <a:gd name="T11" fmla="*/ 487 h 971"/>
                  <a:gd name="T12" fmla="*/ 553 w 889"/>
                  <a:gd name="T13" fmla="*/ 422 h 971"/>
                  <a:gd name="T14" fmla="*/ 504 w 889"/>
                  <a:gd name="T15" fmla="*/ 355 h 971"/>
                  <a:gd name="T16" fmla="*/ 456 w 889"/>
                  <a:gd name="T17" fmla="*/ 299 h 971"/>
                  <a:gd name="T18" fmla="*/ 439 w 889"/>
                  <a:gd name="T19" fmla="*/ 258 h 971"/>
                  <a:gd name="T20" fmla="*/ 406 w 889"/>
                  <a:gd name="T21" fmla="*/ 199 h 971"/>
                  <a:gd name="T22" fmla="*/ 411 w 889"/>
                  <a:gd name="T23" fmla="*/ 145 h 971"/>
                  <a:gd name="T24" fmla="*/ 391 w 889"/>
                  <a:gd name="T25" fmla="*/ 80 h 971"/>
                  <a:gd name="T26" fmla="*/ 424 w 889"/>
                  <a:gd name="T27" fmla="*/ 4 h 971"/>
                  <a:gd name="T28" fmla="*/ 406 w 889"/>
                  <a:gd name="T29" fmla="*/ 0 h 971"/>
                  <a:gd name="T30" fmla="*/ 334 w 889"/>
                  <a:gd name="T31" fmla="*/ 100 h 971"/>
                  <a:gd name="T32" fmla="*/ 353 w 889"/>
                  <a:gd name="T33" fmla="*/ 170 h 971"/>
                  <a:gd name="T34" fmla="*/ 395 w 889"/>
                  <a:gd name="T35" fmla="*/ 287 h 971"/>
                  <a:gd name="T36" fmla="*/ 354 w 889"/>
                  <a:gd name="T37" fmla="*/ 343 h 971"/>
                  <a:gd name="T38" fmla="*/ 167 w 889"/>
                  <a:gd name="T39" fmla="*/ 505 h 971"/>
                  <a:gd name="T40" fmla="*/ 25 w 889"/>
                  <a:gd name="T41" fmla="*/ 564 h 971"/>
                  <a:gd name="T42" fmla="*/ 0 w 889"/>
                  <a:gd name="T43" fmla="*/ 559 h 971"/>
                  <a:gd name="T44" fmla="*/ 45 w 889"/>
                  <a:gd name="T45" fmla="*/ 664 h 971"/>
                  <a:gd name="T46" fmla="*/ 123 w 889"/>
                  <a:gd name="T47" fmla="*/ 766 h 971"/>
                  <a:gd name="T48" fmla="*/ 439 w 889"/>
                  <a:gd name="T49" fmla="*/ 907 h 971"/>
                  <a:gd name="T50" fmla="*/ 443 w 889"/>
                  <a:gd name="T51" fmla="*/ 909 h 971"/>
                  <a:gd name="T52" fmla="*/ 555 w 889"/>
                  <a:gd name="T53" fmla="*/ 971 h 971"/>
                  <a:gd name="T54" fmla="*/ 623 w 889"/>
                  <a:gd name="T55" fmla="*/ 898 h 971"/>
                  <a:gd name="T56" fmla="*/ 666 w 889"/>
                  <a:gd name="T57" fmla="*/ 883 h 971"/>
                  <a:gd name="T58" fmla="*/ 716 w 889"/>
                  <a:gd name="T59" fmla="*/ 937 h 971"/>
                  <a:gd name="T60" fmla="*/ 798 w 889"/>
                  <a:gd name="T61" fmla="*/ 924 h 971"/>
                  <a:gd name="T62" fmla="*/ 828 w 889"/>
                  <a:gd name="T63" fmla="*/ 887 h 971"/>
                  <a:gd name="T64" fmla="*/ 876 w 889"/>
                  <a:gd name="T65" fmla="*/ 853 h 971"/>
                  <a:gd name="T66" fmla="*/ 888 w 889"/>
                  <a:gd name="T67" fmla="*/ 828 h 9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889" h="971">
                    <a:moveTo>
                      <a:pt x="888" y="828"/>
                    </a:moveTo>
                    <a:cubicBezTo>
                      <a:pt x="888" y="821"/>
                      <a:pt x="887" y="816"/>
                      <a:pt x="887" y="816"/>
                    </a:cubicBezTo>
                    <a:cubicBezTo>
                      <a:pt x="887" y="816"/>
                      <a:pt x="817" y="751"/>
                      <a:pt x="809" y="740"/>
                    </a:cubicBezTo>
                    <a:cubicBezTo>
                      <a:pt x="800" y="729"/>
                      <a:pt x="718" y="669"/>
                      <a:pt x="718" y="656"/>
                    </a:cubicBezTo>
                    <a:cubicBezTo>
                      <a:pt x="718" y="643"/>
                      <a:pt x="692" y="586"/>
                      <a:pt x="688" y="560"/>
                    </a:cubicBezTo>
                    <a:cubicBezTo>
                      <a:pt x="683" y="535"/>
                      <a:pt x="605" y="506"/>
                      <a:pt x="577" y="487"/>
                    </a:cubicBezTo>
                    <a:cubicBezTo>
                      <a:pt x="549" y="467"/>
                      <a:pt x="553" y="437"/>
                      <a:pt x="553" y="422"/>
                    </a:cubicBezTo>
                    <a:cubicBezTo>
                      <a:pt x="553" y="407"/>
                      <a:pt x="517" y="366"/>
                      <a:pt x="504" y="355"/>
                    </a:cubicBezTo>
                    <a:cubicBezTo>
                      <a:pt x="491" y="344"/>
                      <a:pt x="463" y="314"/>
                      <a:pt x="456" y="299"/>
                    </a:cubicBezTo>
                    <a:cubicBezTo>
                      <a:pt x="450" y="284"/>
                      <a:pt x="452" y="275"/>
                      <a:pt x="439" y="258"/>
                    </a:cubicBezTo>
                    <a:cubicBezTo>
                      <a:pt x="426" y="240"/>
                      <a:pt x="408" y="223"/>
                      <a:pt x="406" y="199"/>
                    </a:cubicBezTo>
                    <a:cubicBezTo>
                      <a:pt x="404" y="175"/>
                      <a:pt x="415" y="158"/>
                      <a:pt x="411" y="145"/>
                    </a:cubicBezTo>
                    <a:cubicBezTo>
                      <a:pt x="406" y="132"/>
                      <a:pt x="395" y="115"/>
                      <a:pt x="391" y="80"/>
                    </a:cubicBezTo>
                    <a:cubicBezTo>
                      <a:pt x="388" y="57"/>
                      <a:pt x="410" y="23"/>
                      <a:pt x="424" y="4"/>
                    </a:cubicBezTo>
                    <a:cubicBezTo>
                      <a:pt x="420" y="2"/>
                      <a:pt x="414" y="0"/>
                      <a:pt x="406" y="0"/>
                    </a:cubicBezTo>
                    <a:cubicBezTo>
                      <a:pt x="390" y="0"/>
                      <a:pt x="334" y="88"/>
                      <a:pt x="334" y="100"/>
                    </a:cubicBezTo>
                    <a:cubicBezTo>
                      <a:pt x="334" y="111"/>
                      <a:pt x="338" y="131"/>
                      <a:pt x="353" y="170"/>
                    </a:cubicBezTo>
                    <a:cubicBezTo>
                      <a:pt x="367" y="209"/>
                      <a:pt x="366" y="258"/>
                      <a:pt x="395" y="287"/>
                    </a:cubicBezTo>
                    <a:cubicBezTo>
                      <a:pt x="402" y="317"/>
                      <a:pt x="388" y="326"/>
                      <a:pt x="354" y="343"/>
                    </a:cubicBezTo>
                    <a:cubicBezTo>
                      <a:pt x="354" y="343"/>
                      <a:pt x="233" y="379"/>
                      <a:pt x="167" y="505"/>
                    </a:cubicBezTo>
                    <a:cubicBezTo>
                      <a:pt x="141" y="535"/>
                      <a:pt x="122" y="568"/>
                      <a:pt x="25" y="564"/>
                    </a:cubicBezTo>
                    <a:cubicBezTo>
                      <a:pt x="19" y="563"/>
                      <a:pt x="10" y="562"/>
                      <a:pt x="0" y="559"/>
                    </a:cubicBezTo>
                    <a:cubicBezTo>
                      <a:pt x="15" y="598"/>
                      <a:pt x="38" y="653"/>
                      <a:pt x="45" y="664"/>
                    </a:cubicBezTo>
                    <a:cubicBezTo>
                      <a:pt x="56" y="682"/>
                      <a:pt x="71" y="747"/>
                      <a:pt x="123" y="766"/>
                    </a:cubicBezTo>
                    <a:cubicBezTo>
                      <a:pt x="175" y="785"/>
                      <a:pt x="439" y="907"/>
                      <a:pt x="439" y="907"/>
                    </a:cubicBezTo>
                    <a:cubicBezTo>
                      <a:pt x="439" y="907"/>
                      <a:pt x="440" y="907"/>
                      <a:pt x="443" y="909"/>
                    </a:cubicBezTo>
                    <a:cubicBezTo>
                      <a:pt x="458" y="917"/>
                      <a:pt x="509" y="945"/>
                      <a:pt x="555" y="971"/>
                    </a:cubicBezTo>
                    <a:cubicBezTo>
                      <a:pt x="580" y="945"/>
                      <a:pt x="618" y="904"/>
                      <a:pt x="623" y="898"/>
                    </a:cubicBezTo>
                    <a:cubicBezTo>
                      <a:pt x="629" y="889"/>
                      <a:pt x="651" y="857"/>
                      <a:pt x="666" y="883"/>
                    </a:cubicBezTo>
                    <a:cubicBezTo>
                      <a:pt x="681" y="909"/>
                      <a:pt x="716" y="937"/>
                      <a:pt x="716" y="937"/>
                    </a:cubicBezTo>
                    <a:cubicBezTo>
                      <a:pt x="716" y="937"/>
                      <a:pt x="776" y="924"/>
                      <a:pt x="798" y="924"/>
                    </a:cubicBezTo>
                    <a:cubicBezTo>
                      <a:pt x="819" y="924"/>
                      <a:pt x="828" y="907"/>
                      <a:pt x="828" y="887"/>
                    </a:cubicBezTo>
                    <a:cubicBezTo>
                      <a:pt x="828" y="868"/>
                      <a:pt x="856" y="855"/>
                      <a:pt x="876" y="853"/>
                    </a:cubicBezTo>
                    <a:cubicBezTo>
                      <a:pt x="888" y="851"/>
                      <a:pt x="889" y="838"/>
                      <a:pt x="888" y="82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71" name="Freeform 1846">
                <a:extLst>
                  <a:ext uri="{FF2B5EF4-FFF2-40B4-BE49-F238E27FC236}">
                    <a16:creationId xmlns:a16="http://schemas.microsoft.com/office/drawing/2014/main" id="{A5C8725B-D247-EEC8-3033-C41B6AB46D50}"/>
                  </a:ext>
                </a:extLst>
              </p:cNvPr>
              <p:cNvSpPr>
                <a:spLocks/>
              </p:cNvSpPr>
              <p:nvPr/>
            </p:nvSpPr>
            <p:spPr bwMode="auto">
              <a:xfrm>
                <a:off x="1538" y="3800"/>
                <a:ext cx="193" cy="191"/>
              </a:xfrm>
              <a:custGeom>
                <a:avLst/>
                <a:gdLst>
                  <a:gd name="T0" fmla="*/ 837 w 872"/>
                  <a:gd name="T1" fmla="*/ 690 h 864"/>
                  <a:gd name="T2" fmla="*/ 840 w 872"/>
                  <a:gd name="T3" fmla="*/ 661 h 864"/>
                  <a:gd name="T4" fmla="*/ 777 w 872"/>
                  <a:gd name="T5" fmla="*/ 668 h 864"/>
                  <a:gd name="T6" fmla="*/ 870 w 872"/>
                  <a:gd name="T7" fmla="*/ 564 h 864"/>
                  <a:gd name="T8" fmla="*/ 795 w 872"/>
                  <a:gd name="T9" fmla="*/ 425 h 864"/>
                  <a:gd name="T10" fmla="*/ 729 w 872"/>
                  <a:gd name="T11" fmla="*/ 319 h 864"/>
                  <a:gd name="T12" fmla="*/ 573 w 872"/>
                  <a:gd name="T13" fmla="*/ 94 h 864"/>
                  <a:gd name="T14" fmla="*/ 462 w 872"/>
                  <a:gd name="T15" fmla="*/ 0 h 864"/>
                  <a:gd name="T16" fmla="*/ 443 w 872"/>
                  <a:gd name="T17" fmla="*/ 91 h 864"/>
                  <a:gd name="T18" fmla="*/ 443 w 872"/>
                  <a:gd name="T19" fmla="*/ 191 h 864"/>
                  <a:gd name="T20" fmla="*/ 415 w 872"/>
                  <a:gd name="T21" fmla="*/ 213 h 864"/>
                  <a:gd name="T22" fmla="*/ 350 w 872"/>
                  <a:gd name="T23" fmla="*/ 245 h 864"/>
                  <a:gd name="T24" fmla="*/ 264 w 872"/>
                  <a:gd name="T25" fmla="*/ 290 h 864"/>
                  <a:gd name="T26" fmla="*/ 203 w 872"/>
                  <a:gd name="T27" fmla="*/ 329 h 864"/>
                  <a:gd name="T28" fmla="*/ 71 w 872"/>
                  <a:gd name="T29" fmla="*/ 362 h 864"/>
                  <a:gd name="T30" fmla="*/ 0 w 872"/>
                  <a:gd name="T31" fmla="*/ 409 h 864"/>
                  <a:gd name="T32" fmla="*/ 22 w 872"/>
                  <a:gd name="T33" fmla="*/ 468 h 864"/>
                  <a:gd name="T34" fmla="*/ 22 w 872"/>
                  <a:gd name="T35" fmla="*/ 572 h 864"/>
                  <a:gd name="T36" fmla="*/ 63 w 872"/>
                  <a:gd name="T37" fmla="*/ 630 h 864"/>
                  <a:gd name="T38" fmla="*/ 180 w 872"/>
                  <a:gd name="T39" fmla="*/ 628 h 864"/>
                  <a:gd name="T40" fmla="*/ 231 w 872"/>
                  <a:gd name="T41" fmla="*/ 654 h 864"/>
                  <a:gd name="T42" fmla="*/ 294 w 872"/>
                  <a:gd name="T43" fmla="*/ 643 h 864"/>
                  <a:gd name="T44" fmla="*/ 348 w 872"/>
                  <a:gd name="T45" fmla="*/ 645 h 864"/>
                  <a:gd name="T46" fmla="*/ 392 w 872"/>
                  <a:gd name="T47" fmla="*/ 660 h 864"/>
                  <a:gd name="T48" fmla="*/ 437 w 872"/>
                  <a:gd name="T49" fmla="*/ 673 h 864"/>
                  <a:gd name="T50" fmla="*/ 398 w 872"/>
                  <a:gd name="T51" fmla="*/ 745 h 864"/>
                  <a:gd name="T52" fmla="*/ 392 w 872"/>
                  <a:gd name="T53" fmla="*/ 790 h 864"/>
                  <a:gd name="T54" fmla="*/ 396 w 872"/>
                  <a:gd name="T55" fmla="*/ 864 h 864"/>
                  <a:gd name="T56" fmla="*/ 715 w 872"/>
                  <a:gd name="T57" fmla="*/ 762 h 864"/>
                  <a:gd name="T58" fmla="*/ 837 w 872"/>
                  <a:gd name="T59" fmla="*/ 690 h 8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872" h="864">
                    <a:moveTo>
                      <a:pt x="837" y="690"/>
                    </a:moveTo>
                    <a:cubicBezTo>
                      <a:pt x="839" y="667"/>
                      <a:pt x="840" y="661"/>
                      <a:pt x="840" y="661"/>
                    </a:cubicBezTo>
                    <a:cubicBezTo>
                      <a:pt x="777" y="668"/>
                      <a:pt x="777" y="668"/>
                      <a:pt x="777" y="668"/>
                    </a:cubicBezTo>
                    <a:cubicBezTo>
                      <a:pt x="777" y="668"/>
                      <a:pt x="869" y="611"/>
                      <a:pt x="870" y="564"/>
                    </a:cubicBezTo>
                    <a:cubicBezTo>
                      <a:pt x="872" y="518"/>
                      <a:pt x="872" y="510"/>
                      <a:pt x="795" y="425"/>
                    </a:cubicBezTo>
                    <a:cubicBezTo>
                      <a:pt x="781" y="410"/>
                      <a:pt x="755" y="377"/>
                      <a:pt x="729" y="319"/>
                    </a:cubicBezTo>
                    <a:cubicBezTo>
                      <a:pt x="706" y="270"/>
                      <a:pt x="673" y="176"/>
                      <a:pt x="573" y="94"/>
                    </a:cubicBezTo>
                    <a:cubicBezTo>
                      <a:pt x="530" y="59"/>
                      <a:pt x="493" y="29"/>
                      <a:pt x="462" y="0"/>
                    </a:cubicBezTo>
                    <a:cubicBezTo>
                      <a:pt x="455" y="23"/>
                      <a:pt x="443" y="65"/>
                      <a:pt x="443" y="91"/>
                    </a:cubicBezTo>
                    <a:cubicBezTo>
                      <a:pt x="443" y="130"/>
                      <a:pt x="443" y="191"/>
                      <a:pt x="443" y="191"/>
                    </a:cubicBezTo>
                    <a:cubicBezTo>
                      <a:pt x="443" y="191"/>
                      <a:pt x="441" y="213"/>
                      <a:pt x="415" y="213"/>
                    </a:cubicBezTo>
                    <a:cubicBezTo>
                      <a:pt x="389" y="213"/>
                      <a:pt x="385" y="226"/>
                      <a:pt x="350" y="245"/>
                    </a:cubicBezTo>
                    <a:cubicBezTo>
                      <a:pt x="316" y="264"/>
                      <a:pt x="283" y="288"/>
                      <a:pt x="264" y="290"/>
                    </a:cubicBezTo>
                    <a:cubicBezTo>
                      <a:pt x="244" y="293"/>
                      <a:pt x="231" y="323"/>
                      <a:pt x="203" y="329"/>
                    </a:cubicBezTo>
                    <a:cubicBezTo>
                      <a:pt x="175" y="336"/>
                      <a:pt x="125" y="362"/>
                      <a:pt x="71" y="362"/>
                    </a:cubicBezTo>
                    <a:cubicBezTo>
                      <a:pt x="25" y="384"/>
                      <a:pt x="4" y="406"/>
                      <a:pt x="0" y="409"/>
                    </a:cubicBezTo>
                    <a:cubicBezTo>
                      <a:pt x="10" y="426"/>
                      <a:pt x="22" y="449"/>
                      <a:pt x="22" y="468"/>
                    </a:cubicBezTo>
                    <a:cubicBezTo>
                      <a:pt x="22" y="502"/>
                      <a:pt x="22" y="557"/>
                      <a:pt x="22" y="572"/>
                    </a:cubicBezTo>
                    <a:cubicBezTo>
                      <a:pt x="22" y="587"/>
                      <a:pt x="37" y="630"/>
                      <a:pt x="63" y="630"/>
                    </a:cubicBezTo>
                    <a:cubicBezTo>
                      <a:pt x="89" y="630"/>
                      <a:pt x="162" y="628"/>
                      <a:pt x="180" y="628"/>
                    </a:cubicBezTo>
                    <a:cubicBezTo>
                      <a:pt x="197" y="628"/>
                      <a:pt x="208" y="652"/>
                      <a:pt x="231" y="654"/>
                    </a:cubicBezTo>
                    <a:cubicBezTo>
                      <a:pt x="255" y="656"/>
                      <a:pt x="270" y="656"/>
                      <a:pt x="294" y="643"/>
                    </a:cubicBezTo>
                    <a:cubicBezTo>
                      <a:pt x="318" y="630"/>
                      <a:pt x="342" y="619"/>
                      <a:pt x="348" y="645"/>
                    </a:cubicBezTo>
                    <a:cubicBezTo>
                      <a:pt x="355" y="671"/>
                      <a:pt x="372" y="684"/>
                      <a:pt x="392" y="660"/>
                    </a:cubicBezTo>
                    <a:cubicBezTo>
                      <a:pt x="411" y="637"/>
                      <a:pt x="437" y="658"/>
                      <a:pt x="437" y="673"/>
                    </a:cubicBezTo>
                    <a:cubicBezTo>
                      <a:pt x="437" y="688"/>
                      <a:pt x="409" y="740"/>
                      <a:pt x="398" y="745"/>
                    </a:cubicBezTo>
                    <a:cubicBezTo>
                      <a:pt x="387" y="749"/>
                      <a:pt x="392" y="775"/>
                      <a:pt x="392" y="790"/>
                    </a:cubicBezTo>
                    <a:cubicBezTo>
                      <a:pt x="392" y="803"/>
                      <a:pt x="395" y="849"/>
                      <a:pt x="396" y="864"/>
                    </a:cubicBezTo>
                    <a:cubicBezTo>
                      <a:pt x="514" y="822"/>
                      <a:pt x="679" y="766"/>
                      <a:pt x="715" y="762"/>
                    </a:cubicBezTo>
                    <a:cubicBezTo>
                      <a:pt x="758" y="758"/>
                      <a:pt x="829" y="714"/>
                      <a:pt x="837" y="69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72" name="Freeform 1847">
                <a:extLst>
                  <a:ext uri="{FF2B5EF4-FFF2-40B4-BE49-F238E27FC236}">
                    <a16:creationId xmlns:a16="http://schemas.microsoft.com/office/drawing/2014/main" id="{C75A82FA-7086-D5CE-AE9D-4351D775432C}"/>
                  </a:ext>
                </a:extLst>
              </p:cNvPr>
              <p:cNvSpPr>
                <a:spLocks/>
              </p:cNvSpPr>
              <p:nvPr/>
            </p:nvSpPr>
            <p:spPr bwMode="auto">
              <a:xfrm>
                <a:off x="1487" y="3774"/>
                <a:ext cx="153" cy="116"/>
              </a:xfrm>
              <a:custGeom>
                <a:avLst/>
                <a:gdLst>
                  <a:gd name="T0" fmla="*/ 674 w 696"/>
                  <a:gd name="T1" fmla="*/ 94 h 525"/>
                  <a:gd name="T2" fmla="*/ 610 w 696"/>
                  <a:gd name="T3" fmla="*/ 0 h 525"/>
                  <a:gd name="T4" fmla="*/ 606 w 696"/>
                  <a:gd name="T5" fmla="*/ 2 h 525"/>
                  <a:gd name="T6" fmla="*/ 563 w 696"/>
                  <a:gd name="T7" fmla="*/ 21 h 525"/>
                  <a:gd name="T8" fmla="*/ 515 w 696"/>
                  <a:gd name="T9" fmla="*/ 39 h 525"/>
                  <a:gd name="T10" fmla="*/ 440 w 696"/>
                  <a:gd name="T11" fmla="*/ 56 h 525"/>
                  <a:gd name="T12" fmla="*/ 368 w 696"/>
                  <a:gd name="T13" fmla="*/ 54 h 525"/>
                  <a:gd name="T14" fmla="*/ 314 w 696"/>
                  <a:gd name="T15" fmla="*/ 17 h 525"/>
                  <a:gd name="T16" fmla="*/ 249 w 696"/>
                  <a:gd name="T17" fmla="*/ 71 h 525"/>
                  <a:gd name="T18" fmla="*/ 216 w 696"/>
                  <a:gd name="T19" fmla="*/ 90 h 525"/>
                  <a:gd name="T20" fmla="*/ 232 w 696"/>
                  <a:gd name="T21" fmla="*/ 110 h 525"/>
                  <a:gd name="T22" fmla="*/ 235 w 696"/>
                  <a:gd name="T23" fmla="*/ 149 h 525"/>
                  <a:gd name="T24" fmla="*/ 208 w 696"/>
                  <a:gd name="T25" fmla="*/ 181 h 525"/>
                  <a:gd name="T26" fmla="*/ 137 w 696"/>
                  <a:gd name="T27" fmla="*/ 227 h 525"/>
                  <a:gd name="T28" fmla="*/ 65 w 696"/>
                  <a:gd name="T29" fmla="*/ 322 h 525"/>
                  <a:gd name="T30" fmla="*/ 33 w 696"/>
                  <a:gd name="T31" fmla="*/ 354 h 525"/>
                  <a:gd name="T32" fmla="*/ 2 w 696"/>
                  <a:gd name="T33" fmla="*/ 396 h 525"/>
                  <a:gd name="T34" fmla="*/ 44 w 696"/>
                  <a:gd name="T35" fmla="*/ 430 h 525"/>
                  <a:gd name="T36" fmla="*/ 59 w 696"/>
                  <a:gd name="T37" fmla="*/ 458 h 525"/>
                  <a:gd name="T38" fmla="*/ 44 w 696"/>
                  <a:gd name="T39" fmla="*/ 504 h 525"/>
                  <a:gd name="T40" fmla="*/ 42 w 696"/>
                  <a:gd name="T41" fmla="*/ 510 h 525"/>
                  <a:gd name="T42" fmla="*/ 48 w 696"/>
                  <a:gd name="T43" fmla="*/ 515 h 525"/>
                  <a:gd name="T44" fmla="*/ 234 w 696"/>
                  <a:gd name="T45" fmla="*/ 525 h 525"/>
                  <a:gd name="T46" fmla="*/ 234 w 696"/>
                  <a:gd name="T47" fmla="*/ 525 h 525"/>
                  <a:gd name="T48" fmla="*/ 305 w 696"/>
                  <a:gd name="T49" fmla="*/ 478 h 525"/>
                  <a:gd name="T50" fmla="*/ 437 w 696"/>
                  <a:gd name="T51" fmla="*/ 445 h 525"/>
                  <a:gd name="T52" fmla="*/ 498 w 696"/>
                  <a:gd name="T53" fmla="*/ 406 h 525"/>
                  <a:gd name="T54" fmla="*/ 584 w 696"/>
                  <a:gd name="T55" fmla="*/ 361 h 525"/>
                  <a:gd name="T56" fmla="*/ 649 w 696"/>
                  <a:gd name="T57" fmla="*/ 329 h 525"/>
                  <a:gd name="T58" fmla="*/ 677 w 696"/>
                  <a:gd name="T59" fmla="*/ 307 h 525"/>
                  <a:gd name="T60" fmla="*/ 677 w 696"/>
                  <a:gd name="T61" fmla="*/ 207 h 525"/>
                  <a:gd name="T62" fmla="*/ 696 w 696"/>
                  <a:gd name="T63" fmla="*/ 116 h 525"/>
                  <a:gd name="T64" fmla="*/ 674 w 696"/>
                  <a:gd name="T65" fmla="*/ 94 h 5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696" h="525">
                    <a:moveTo>
                      <a:pt x="674" y="94"/>
                    </a:moveTo>
                    <a:cubicBezTo>
                      <a:pt x="646" y="65"/>
                      <a:pt x="625" y="35"/>
                      <a:pt x="610" y="0"/>
                    </a:cubicBezTo>
                    <a:cubicBezTo>
                      <a:pt x="606" y="2"/>
                      <a:pt x="606" y="2"/>
                      <a:pt x="606" y="2"/>
                    </a:cubicBezTo>
                    <a:cubicBezTo>
                      <a:pt x="563" y="21"/>
                      <a:pt x="563" y="21"/>
                      <a:pt x="563" y="21"/>
                    </a:cubicBezTo>
                    <a:cubicBezTo>
                      <a:pt x="563" y="21"/>
                      <a:pt x="526" y="36"/>
                      <a:pt x="515" y="39"/>
                    </a:cubicBezTo>
                    <a:cubicBezTo>
                      <a:pt x="504" y="41"/>
                      <a:pt x="463" y="56"/>
                      <a:pt x="440" y="56"/>
                    </a:cubicBezTo>
                    <a:cubicBezTo>
                      <a:pt x="416" y="56"/>
                      <a:pt x="368" y="54"/>
                      <a:pt x="368" y="54"/>
                    </a:cubicBezTo>
                    <a:cubicBezTo>
                      <a:pt x="314" y="17"/>
                      <a:pt x="314" y="17"/>
                      <a:pt x="314" y="17"/>
                    </a:cubicBezTo>
                    <a:cubicBezTo>
                      <a:pt x="314" y="17"/>
                      <a:pt x="264" y="52"/>
                      <a:pt x="249" y="71"/>
                    </a:cubicBezTo>
                    <a:cubicBezTo>
                      <a:pt x="244" y="77"/>
                      <a:pt x="231" y="84"/>
                      <a:pt x="216" y="90"/>
                    </a:cubicBezTo>
                    <a:cubicBezTo>
                      <a:pt x="221" y="97"/>
                      <a:pt x="226" y="104"/>
                      <a:pt x="232" y="110"/>
                    </a:cubicBezTo>
                    <a:cubicBezTo>
                      <a:pt x="243" y="121"/>
                      <a:pt x="241" y="136"/>
                      <a:pt x="235" y="149"/>
                    </a:cubicBezTo>
                    <a:cubicBezTo>
                      <a:pt x="228" y="164"/>
                      <a:pt x="215" y="177"/>
                      <a:pt x="208" y="181"/>
                    </a:cubicBezTo>
                    <a:cubicBezTo>
                      <a:pt x="195" y="190"/>
                      <a:pt x="158" y="218"/>
                      <a:pt x="137" y="227"/>
                    </a:cubicBezTo>
                    <a:cubicBezTo>
                      <a:pt x="115" y="235"/>
                      <a:pt x="65" y="294"/>
                      <a:pt x="65" y="322"/>
                    </a:cubicBezTo>
                    <a:cubicBezTo>
                      <a:pt x="44" y="354"/>
                      <a:pt x="51" y="367"/>
                      <a:pt x="33" y="354"/>
                    </a:cubicBezTo>
                    <a:cubicBezTo>
                      <a:pt x="26" y="350"/>
                      <a:pt x="5" y="367"/>
                      <a:pt x="2" y="396"/>
                    </a:cubicBezTo>
                    <a:cubicBezTo>
                      <a:pt x="0" y="424"/>
                      <a:pt x="18" y="430"/>
                      <a:pt x="44" y="430"/>
                    </a:cubicBezTo>
                    <a:cubicBezTo>
                      <a:pt x="70" y="430"/>
                      <a:pt x="59" y="458"/>
                      <a:pt x="59" y="458"/>
                    </a:cubicBezTo>
                    <a:cubicBezTo>
                      <a:pt x="59" y="458"/>
                      <a:pt x="44" y="484"/>
                      <a:pt x="44" y="504"/>
                    </a:cubicBezTo>
                    <a:cubicBezTo>
                      <a:pt x="44" y="507"/>
                      <a:pt x="43" y="509"/>
                      <a:pt x="42" y="510"/>
                    </a:cubicBezTo>
                    <a:cubicBezTo>
                      <a:pt x="44" y="512"/>
                      <a:pt x="46" y="514"/>
                      <a:pt x="48" y="515"/>
                    </a:cubicBezTo>
                    <a:cubicBezTo>
                      <a:pt x="98" y="497"/>
                      <a:pt x="234" y="525"/>
                      <a:pt x="234" y="525"/>
                    </a:cubicBezTo>
                    <a:cubicBezTo>
                      <a:pt x="234" y="525"/>
                      <a:pt x="234" y="525"/>
                      <a:pt x="234" y="525"/>
                    </a:cubicBezTo>
                    <a:cubicBezTo>
                      <a:pt x="238" y="522"/>
                      <a:pt x="259" y="500"/>
                      <a:pt x="305" y="478"/>
                    </a:cubicBezTo>
                    <a:cubicBezTo>
                      <a:pt x="359" y="478"/>
                      <a:pt x="409" y="452"/>
                      <a:pt x="437" y="445"/>
                    </a:cubicBezTo>
                    <a:cubicBezTo>
                      <a:pt x="465" y="439"/>
                      <a:pt x="478" y="409"/>
                      <a:pt x="498" y="406"/>
                    </a:cubicBezTo>
                    <a:cubicBezTo>
                      <a:pt x="517" y="404"/>
                      <a:pt x="550" y="380"/>
                      <a:pt x="584" y="361"/>
                    </a:cubicBezTo>
                    <a:cubicBezTo>
                      <a:pt x="619" y="342"/>
                      <a:pt x="623" y="329"/>
                      <a:pt x="649" y="329"/>
                    </a:cubicBezTo>
                    <a:cubicBezTo>
                      <a:pt x="675" y="329"/>
                      <a:pt x="677" y="307"/>
                      <a:pt x="677" y="307"/>
                    </a:cubicBezTo>
                    <a:cubicBezTo>
                      <a:pt x="677" y="307"/>
                      <a:pt x="677" y="246"/>
                      <a:pt x="677" y="207"/>
                    </a:cubicBezTo>
                    <a:cubicBezTo>
                      <a:pt x="677" y="181"/>
                      <a:pt x="689" y="139"/>
                      <a:pt x="696" y="116"/>
                    </a:cubicBezTo>
                    <a:cubicBezTo>
                      <a:pt x="688" y="108"/>
                      <a:pt x="681" y="101"/>
                      <a:pt x="674" y="9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73" name="Freeform 1848">
                <a:extLst>
                  <a:ext uri="{FF2B5EF4-FFF2-40B4-BE49-F238E27FC236}">
                    <a16:creationId xmlns:a16="http://schemas.microsoft.com/office/drawing/2014/main" id="{989FABC7-D185-30EA-6728-2E0E04CC833A}"/>
                  </a:ext>
                </a:extLst>
              </p:cNvPr>
              <p:cNvSpPr>
                <a:spLocks/>
              </p:cNvSpPr>
              <p:nvPr/>
            </p:nvSpPr>
            <p:spPr bwMode="auto">
              <a:xfrm>
                <a:off x="1303" y="3896"/>
                <a:ext cx="205" cy="280"/>
              </a:xfrm>
              <a:custGeom>
                <a:avLst/>
                <a:gdLst>
                  <a:gd name="T0" fmla="*/ 876 w 925"/>
                  <a:gd name="T1" fmla="*/ 645 h 1267"/>
                  <a:gd name="T2" fmla="*/ 807 w 925"/>
                  <a:gd name="T3" fmla="*/ 649 h 1267"/>
                  <a:gd name="T4" fmla="*/ 735 w 925"/>
                  <a:gd name="T5" fmla="*/ 608 h 1267"/>
                  <a:gd name="T6" fmla="*/ 746 w 925"/>
                  <a:gd name="T7" fmla="*/ 530 h 1267"/>
                  <a:gd name="T8" fmla="*/ 759 w 925"/>
                  <a:gd name="T9" fmla="*/ 463 h 1267"/>
                  <a:gd name="T10" fmla="*/ 692 w 925"/>
                  <a:gd name="T11" fmla="*/ 422 h 1267"/>
                  <a:gd name="T12" fmla="*/ 761 w 925"/>
                  <a:gd name="T13" fmla="*/ 375 h 1267"/>
                  <a:gd name="T14" fmla="*/ 718 w 925"/>
                  <a:gd name="T15" fmla="*/ 321 h 1267"/>
                  <a:gd name="T16" fmla="*/ 742 w 925"/>
                  <a:gd name="T17" fmla="*/ 253 h 1267"/>
                  <a:gd name="T18" fmla="*/ 752 w 925"/>
                  <a:gd name="T19" fmla="*/ 219 h 1267"/>
                  <a:gd name="T20" fmla="*/ 738 w 925"/>
                  <a:gd name="T21" fmla="*/ 192 h 1267"/>
                  <a:gd name="T22" fmla="*/ 733 w 925"/>
                  <a:gd name="T23" fmla="*/ 199 h 1267"/>
                  <a:gd name="T24" fmla="*/ 592 w 925"/>
                  <a:gd name="T25" fmla="*/ 106 h 1267"/>
                  <a:gd name="T26" fmla="*/ 426 w 925"/>
                  <a:gd name="T27" fmla="*/ 9 h 1267"/>
                  <a:gd name="T28" fmla="*/ 398 w 925"/>
                  <a:gd name="T29" fmla="*/ 18 h 1267"/>
                  <a:gd name="T30" fmla="*/ 367 w 925"/>
                  <a:gd name="T31" fmla="*/ 18 h 1267"/>
                  <a:gd name="T32" fmla="*/ 320 w 925"/>
                  <a:gd name="T33" fmla="*/ 24 h 1267"/>
                  <a:gd name="T34" fmla="*/ 285 w 925"/>
                  <a:gd name="T35" fmla="*/ 13 h 1267"/>
                  <a:gd name="T36" fmla="*/ 255 w 925"/>
                  <a:gd name="T37" fmla="*/ 46 h 1267"/>
                  <a:gd name="T38" fmla="*/ 210 w 925"/>
                  <a:gd name="T39" fmla="*/ 13 h 1267"/>
                  <a:gd name="T40" fmla="*/ 204 w 925"/>
                  <a:gd name="T41" fmla="*/ 78 h 1267"/>
                  <a:gd name="T42" fmla="*/ 186 w 925"/>
                  <a:gd name="T43" fmla="*/ 408 h 1267"/>
                  <a:gd name="T44" fmla="*/ 160 w 925"/>
                  <a:gd name="T45" fmla="*/ 555 h 1267"/>
                  <a:gd name="T46" fmla="*/ 179 w 925"/>
                  <a:gd name="T47" fmla="*/ 667 h 1267"/>
                  <a:gd name="T48" fmla="*/ 156 w 925"/>
                  <a:gd name="T49" fmla="*/ 751 h 1267"/>
                  <a:gd name="T50" fmla="*/ 160 w 925"/>
                  <a:gd name="T51" fmla="*/ 853 h 1267"/>
                  <a:gd name="T52" fmla="*/ 134 w 925"/>
                  <a:gd name="T53" fmla="*/ 982 h 1267"/>
                  <a:gd name="T54" fmla="*/ 274 w 925"/>
                  <a:gd name="T55" fmla="*/ 954 h 1267"/>
                  <a:gd name="T56" fmla="*/ 270 w 925"/>
                  <a:gd name="T57" fmla="*/ 1015 h 1267"/>
                  <a:gd name="T58" fmla="*/ 217 w 925"/>
                  <a:gd name="T59" fmla="*/ 1042 h 1267"/>
                  <a:gd name="T60" fmla="*/ 211 w 925"/>
                  <a:gd name="T61" fmla="*/ 1074 h 1267"/>
                  <a:gd name="T62" fmla="*/ 273 w 925"/>
                  <a:gd name="T63" fmla="*/ 1102 h 1267"/>
                  <a:gd name="T64" fmla="*/ 237 w 925"/>
                  <a:gd name="T65" fmla="*/ 1122 h 1267"/>
                  <a:gd name="T66" fmla="*/ 181 w 925"/>
                  <a:gd name="T67" fmla="*/ 1087 h 1267"/>
                  <a:gd name="T68" fmla="*/ 140 w 925"/>
                  <a:gd name="T69" fmla="*/ 1089 h 1267"/>
                  <a:gd name="T70" fmla="*/ 173 w 925"/>
                  <a:gd name="T71" fmla="*/ 1164 h 1267"/>
                  <a:gd name="T72" fmla="*/ 57 w 925"/>
                  <a:gd name="T73" fmla="*/ 1161 h 1267"/>
                  <a:gd name="T74" fmla="*/ 49 w 925"/>
                  <a:gd name="T75" fmla="*/ 1214 h 1267"/>
                  <a:gd name="T76" fmla="*/ 302 w 925"/>
                  <a:gd name="T77" fmla="*/ 1249 h 1267"/>
                  <a:gd name="T78" fmla="*/ 544 w 925"/>
                  <a:gd name="T79" fmla="*/ 1172 h 1267"/>
                  <a:gd name="T80" fmla="*/ 574 w 925"/>
                  <a:gd name="T81" fmla="*/ 1130 h 1267"/>
                  <a:gd name="T82" fmla="*/ 704 w 925"/>
                  <a:gd name="T83" fmla="*/ 1016 h 1267"/>
                  <a:gd name="T84" fmla="*/ 840 w 925"/>
                  <a:gd name="T85" fmla="*/ 879 h 1267"/>
                  <a:gd name="T86" fmla="*/ 925 w 925"/>
                  <a:gd name="T87" fmla="*/ 719 h 1267"/>
                  <a:gd name="T88" fmla="*/ 876 w 925"/>
                  <a:gd name="T89" fmla="*/ 645 h 12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925" h="1267">
                    <a:moveTo>
                      <a:pt x="876" y="645"/>
                    </a:moveTo>
                    <a:cubicBezTo>
                      <a:pt x="861" y="645"/>
                      <a:pt x="813" y="654"/>
                      <a:pt x="807" y="649"/>
                    </a:cubicBezTo>
                    <a:cubicBezTo>
                      <a:pt x="800" y="645"/>
                      <a:pt x="770" y="621"/>
                      <a:pt x="735" y="608"/>
                    </a:cubicBezTo>
                    <a:cubicBezTo>
                      <a:pt x="729" y="582"/>
                      <a:pt x="724" y="548"/>
                      <a:pt x="746" y="530"/>
                    </a:cubicBezTo>
                    <a:cubicBezTo>
                      <a:pt x="768" y="513"/>
                      <a:pt x="763" y="483"/>
                      <a:pt x="759" y="463"/>
                    </a:cubicBezTo>
                    <a:cubicBezTo>
                      <a:pt x="755" y="444"/>
                      <a:pt x="713" y="446"/>
                      <a:pt x="692" y="422"/>
                    </a:cubicBezTo>
                    <a:cubicBezTo>
                      <a:pt x="670" y="398"/>
                      <a:pt x="739" y="385"/>
                      <a:pt x="761" y="375"/>
                    </a:cubicBezTo>
                    <a:cubicBezTo>
                      <a:pt x="783" y="364"/>
                      <a:pt x="739" y="327"/>
                      <a:pt x="718" y="321"/>
                    </a:cubicBezTo>
                    <a:cubicBezTo>
                      <a:pt x="696" y="314"/>
                      <a:pt x="733" y="264"/>
                      <a:pt x="742" y="253"/>
                    </a:cubicBezTo>
                    <a:cubicBezTo>
                      <a:pt x="750" y="243"/>
                      <a:pt x="752" y="219"/>
                      <a:pt x="752" y="219"/>
                    </a:cubicBezTo>
                    <a:cubicBezTo>
                      <a:pt x="738" y="192"/>
                      <a:pt x="738" y="192"/>
                      <a:pt x="738" y="192"/>
                    </a:cubicBezTo>
                    <a:cubicBezTo>
                      <a:pt x="735" y="197"/>
                      <a:pt x="733" y="199"/>
                      <a:pt x="733" y="199"/>
                    </a:cubicBezTo>
                    <a:cubicBezTo>
                      <a:pt x="592" y="106"/>
                      <a:pt x="592" y="106"/>
                      <a:pt x="592" y="106"/>
                    </a:cubicBezTo>
                    <a:cubicBezTo>
                      <a:pt x="426" y="9"/>
                      <a:pt x="426" y="9"/>
                      <a:pt x="426" y="9"/>
                    </a:cubicBezTo>
                    <a:cubicBezTo>
                      <a:pt x="426" y="9"/>
                      <a:pt x="415" y="0"/>
                      <a:pt x="398" y="18"/>
                    </a:cubicBezTo>
                    <a:cubicBezTo>
                      <a:pt x="380" y="35"/>
                      <a:pt x="400" y="24"/>
                      <a:pt x="367" y="18"/>
                    </a:cubicBezTo>
                    <a:cubicBezTo>
                      <a:pt x="335" y="11"/>
                      <a:pt x="326" y="26"/>
                      <a:pt x="320" y="24"/>
                    </a:cubicBezTo>
                    <a:cubicBezTo>
                      <a:pt x="298" y="18"/>
                      <a:pt x="285" y="13"/>
                      <a:pt x="285" y="13"/>
                    </a:cubicBezTo>
                    <a:cubicBezTo>
                      <a:pt x="255" y="46"/>
                      <a:pt x="255" y="46"/>
                      <a:pt x="255" y="46"/>
                    </a:cubicBezTo>
                    <a:cubicBezTo>
                      <a:pt x="210" y="13"/>
                      <a:pt x="210" y="13"/>
                      <a:pt x="210" y="13"/>
                    </a:cubicBezTo>
                    <a:cubicBezTo>
                      <a:pt x="206" y="51"/>
                      <a:pt x="204" y="78"/>
                      <a:pt x="204" y="78"/>
                    </a:cubicBezTo>
                    <a:cubicBezTo>
                      <a:pt x="186" y="408"/>
                      <a:pt x="186" y="408"/>
                      <a:pt x="186" y="408"/>
                    </a:cubicBezTo>
                    <a:cubicBezTo>
                      <a:pt x="186" y="408"/>
                      <a:pt x="160" y="509"/>
                      <a:pt x="160" y="555"/>
                    </a:cubicBezTo>
                    <a:cubicBezTo>
                      <a:pt x="160" y="601"/>
                      <a:pt x="168" y="653"/>
                      <a:pt x="179" y="667"/>
                    </a:cubicBezTo>
                    <a:cubicBezTo>
                      <a:pt x="162" y="695"/>
                      <a:pt x="146" y="708"/>
                      <a:pt x="156" y="751"/>
                    </a:cubicBezTo>
                    <a:cubicBezTo>
                      <a:pt x="163" y="800"/>
                      <a:pt x="166" y="833"/>
                      <a:pt x="160" y="853"/>
                    </a:cubicBezTo>
                    <a:cubicBezTo>
                      <a:pt x="155" y="874"/>
                      <a:pt x="127" y="933"/>
                      <a:pt x="134" y="982"/>
                    </a:cubicBezTo>
                    <a:cubicBezTo>
                      <a:pt x="146" y="993"/>
                      <a:pt x="204" y="1003"/>
                      <a:pt x="274" y="954"/>
                    </a:cubicBezTo>
                    <a:cubicBezTo>
                      <a:pt x="270" y="1015"/>
                      <a:pt x="270" y="1015"/>
                      <a:pt x="270" y="1015"/>
                    </a:cubicBezTo>
                    <a:cubicBezTo>
                      <a:pt x="270" y="1015"/>
                      <a:pt x="267" y="1057"/>
                      <a:pt x="217" y="1042"/>
                    </a:cubicBezTo>
                    <a:cubicBezTo>
                      <a:pt x="207" y="1038"/>
                      <a:pt x="178" y="1055"/>
                      <a:pt x="211" y="1074"/>
                    </a:cubicBezTo>
                    <a:cubicBezTo>
                      <a:pt x="244" y="1093"/>
                      <a:pt x="279" y="1093"/>
                      <a:pt x="273" y="1102"/>
                    </a:cubicBezTo>
                    <a:cubicBezTo>
                      <a:pt x="267" y="1110"/>
                      <a:pt x="261" y="1123"/>
                      <a:pt x="237" y="1122"/>
                    </a:cubicBezTo>
                    <a:cubicBezTo>
                      <a:pt x="215" y="1117"/>
                      <a:pt x="196" y="1116"/>
                      <a:pt x="181" y="1087"/>
                    </a:cubicBezTo>
                    <a:cubicBezTo>
                      <a:pt x="173" y="1074"/>
                      <a:pt x="152" y="1068"/>
                      <a:pt x="140" y="1089"/>
                    </a:cubicBezTo>
                    <a:cubicBezTo>
                      <a:pt x="129" y="1109"/>
                      <a:pt x="153" y="1142"/>
                      <a:pt x="173" y="1164"/>
                    </a:cubicBezTo>
                    <a:cubicBezTo>
                      <a:pt x="57" y="1161"/>
                      <a:pt x="57" y="1161"/>
                      <a:pt x="57" y="1161"/>
                    </a:cubicBezTo>
                    <a:cubicBezTo>
                      <a:pt x="57" y="1161"/>
                      <a:pt x="0" y="1177"/>
                      <a:pt x="49" y="1214"/>
                    </a:cubicBezTo>
                    <a:cubicBezTo>
                      <a:pt x="98" y="1252"/>
                      <a:pt x="204" y="1267"/>
                      <a:pt x="302" y="1249"/>
                    </a:cubicBezTo>
                    <a:cubicBezTo>
                      <a:pt x="400" y="1230"/>
                      <a:pt x="527" y="1179"/>
                      <a:pt x="544" y="1172"/>
                    </a:cubicBezTo>
                    <a:cubicBezTo>
                      <a:pt x="561" y="1165"/>
                      <a:pt x="571" y="1156"/>
                      <a:pt x="574" y="1130"/>
                    </a:cubicBezTo>
                    <a:cubicBezTo>
                      <a:pt x="587" y="1106"/>
                      <a:pt x="655" y="1044"/>
                      <a:pt x="704" y="1016"/>
                    </a:cubicBezTo>
                    <a:cubicBezTo>
                      <a:pt x="753" y="989"/>
                      <a:pt x="807" y="975"/>
                      <a:pt x="840" y="879"/>
                    </a:cubicBezTo>
                    <a:cubicBezTo>
                      <a:pt x="856" y="844"/>
                      <a:pt x="887" y="778"/>
                      <a:pt x="925" y="719"/>
                    </a:cubicBezTo>
                    <a:cubicBezTo>
                      <a:pt x="910" y="685"/>
                      <a:pt x="886" y="645"/>
                      <a:pt x="876" y="64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74" name="Freeform 1849">
                <a:extLst>
                  <a:ext uri="{FF2B5EF4-FFF2-40B4-BE49-F238E27FC236}">
                    <a16:creationId xmlns:a16="http://schemas.microsoft.com/office/drawing/2014/main" id="{E1D619C2-12E1-74A7-9CA8-A2487B1E2D70}"/>
                  </a:ext>
                </a:extLst>
              </p:cNvPr>
              <p:cNvSpPr>
                <a:spLocks/>
              </p:cNvSpPr>
              <p:nvPr/>
            </p:nvSpPr>
            <p:spPr bwMode="auto">
              <a:xfrm>
                <a:off x="1532" y="3622"/>
                <a:ext cx="25" cy="34"/>
              </a:xfrm>
              <a:custGeom>
                <a:avLst/>
                <a:gdLst>
                  <a:gd name="T0" fmla="*/ 0 w 110"/>
                  <a:gd name="T1" fmla="*/ 29 h 152"/>
                  <a:gd name="T2" fmla="*/ 42 w 110"/>
                  <a:gd name="T3" fmla="*/ 94 h 152"/>
                  <a:gd name="T4" fmla="*/ 71 w 110"/>
                  <a:gd name="T5" fmla="*/ 142 h 152"/>
                  <a:gd name="T6" fmla="*/ 97 w 110"/>
                  <a:gd name="T7" fmla="*/ 110 h 152"/>
                  <a:gd name="T8" fmla="*/ 0 w 110"/>
                  <a:gd name="T9" fmla="*/ 29 h 152"/>
                </a:gdLst>
                <a:ahLst/>
                <a:cxnLst>
                  <a:cxn ang="0">
                    <a:pos x="T0" y="T1"/>
                  </a:cxn>
                  <a:cxn ang="0">
                    <a:pos x="T2" y="T3"/>
                  </a:cxn>
                  <a:cxn ang="0">
                    <a:pos x="T4" y="T5"/>
                  </a:cxn>
                  <a:cxn ang="0">
                    <a:pos x="T6" y="T7"/>
                  </a:cxn>
                  <a:cxn ang="0">
                    <a:pos x="T8" y="T9"/>
                  </a:cxn>
                </a:cxnLst>
                <a:rect l="0" t="0" r="r" b="b"/>
                <a:pathLst>
                  <a:path w="110" h="152">
                    <a:moveTo>
                      <a:pt x="0" y="29"/>
                    </a:moveTo>
                    <a:cubicBezTo>
                      <a:pt x="0" y="29"/>
                      <a:pt x="38" y="79"/>
                      <a:pt x="42" y="94"/>
                    </a:cubicBezTo>
                    <a:cubicBezTo>
                      <a:pt x="45" y="110"/>
                      <a:pt x="55" y="139"/>
                      <a:pt x="71" y="142"/>
                    </a:cubicBezTo>
                    <a:cubicBezTo>
                      <a:pt x="87" y="146"/>
                      <a:pt x="110" y="152"/>
                      <a:pt x="97" y="110"/>
                    </a:cubicBezTo>
                    <a:cubicBezTo>
                      <a:pt x="84" y="67"/>
                      <a:pt x="52" y="0"/>
                      <a:pt x="0"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75" name="Freeform 1850">
                <a:extLst>
                  <a:ext uri="{FF2B5EF4-FFF2-40B4-BE49-F238E27FC236}">
                    <a16:creationId xmlns:a16="http://schemas.microsoft.com/office/drawing/2014/main" id="{332EA112-8E51-92AB-587C-9ACE664EAEDA}"/>
                  </a:ext>
                </a:extLst>
              </p:cNvPr>
              <p:cNvSpPr>
                <a:spLocks/>
              </p:cNvSpPr>
              <p:nvPr/>
            </p:nvSpPr>
            <p:spPr bwMode="auto">
              <a:xfrm>
                <a:off x="1243" y="3622"/>
                <a:ext cx="297" cy="318"/>
              </a:xfrm>
              <a:custGeom>
                <a:avLst/>
                <a:gdLst>
                  <a:gd name="T0" fmla="*/ 1337 w 1348"/>
                  <a:gd name="T1" fmla="*/ 799 h 1439"/>
                  <a:gd name="T2" fmla="*/ 1321 w 1348"/>
                  <a:gd name="T3" fmla="*/ 779 h 1439"/>
                  <a:gd name="T4" fmla="*/ 1298 w 1348"/>
                  <a:gd name="T5" fmla="*/ 734 h 1439"/>
                  <a:gd name="T6" fmla="*/ 1231 w 1348"/>
                  <a:gd name="T7" fmla="*/ 676 h 1439"/>
                  <a:gd name="T8" fmla="*/ 1036 w 1348"/>
                  <a:gd name="T9" fmla="*/ 481 h 1439"/>
                  <a:gd name="T10" fmla="*/ 962 w 1348"/>
                  <a:gd name="T11" fmla="*/ 435 h 1439"/>
                  <a:gd name="T12" fmla="*/ 850 w 1348"/>
                  <a:gd name="T13" fmla="*/ 373 h 1439"/>
                  <a:gd name="T14" fmla="*/ 846 w 1348"/>
                  <a:gd name="T15" fmla="*/ 371 h 1439"/>
                  <a:gd name="T16" fmla="*/ 530 w 1348"/>
                  <a:gd name="T17" fmla="*/ 230 h 1439"/>
                  <a:gd name="T18" fmla="*/ 452 w 1348"/>
                  <a:gd name="T19" fmla="*/ 128 h 1439"/>
                  <a:gd name="T20" fmla="*/ 407 w 1348"/>
                  <a:gd name="T21" fmla="*/ 23 h 1439"/>
                  <a:gd name="T22" fmla="*/ 277 w 1348"/>
                  <a:gd name="T23" fmla="*/ 2 h 1439"/>
                  <a:gd name="T24" fmla="*/ 171 w 1348"/>
                  <a:gd name="T25" fmla="*/ 30 h 1439"/>
                  <a:gd name="T26" fmla="*/ 63 w 1348"/>
                  <a:gd name="T27" fmla="*/ 141 h 1439"/>
                  <a:gd name="T28" fmla="*/ 0 w 1348"/>
                  <a:gd name="T29" fmla="*/ 139 h 1439"/>
                  <a:gd name="T30" fmla="*/ 23 w 1348"/>
                  <a:gd name="T31" fmla="*/ 184 h 1439"/>
                  <a:gd name="T32" fmla="*/ 95 w 1348"/>
                  <a:gd name="T33" fmla="*/ 278 h 1439"/>
                  <a:gd name="T34" fmla="*/ 109 w 1348"/>
                  <a:gd name="T35" fmla="*/ 340 h 1439"/>
                  <a:gd name="T36" fmla="*/ 163 w 1348"/>
                  <a:gd name="T37" fmla="*/ 343 h 1439"/>
                  <a:gd name="T38" fmla="*/ 179 w 1348"/>
                  <a:gd name="T39" fmla="*/ 429 h 1439"/>
                  <a:gd name="T40" fmla="*/ 199 w 1348"/>
                  <a:gd name="T41" fmla="*/ 464 h 1439"/>
                  <a:gd name="T42" fmla="*/ 186 w 1348"/>
                  <a:gd name="T43" fmla="*/ 517 h 1439"/>
                  <a:gd name="T44" fmla="*/ 228 w 1348"/>
                  <a:gd name="T45" fmla="*/ 523 h 1439"/>
                  <a:gd name="T46" fmla="*/ 265 w 1348"/>
                  <a:gd name="T47" fmla="*/ 542 h 1439"/>
                  <a:gd name="T48" fmla="*/ 274 w 1348"/>
                  <a:gd name="T49" fmla="*/ 527 h 1439"/>
                  <a:gd name="T50" fmla="*/ 314 w 1348"/>
                  <a:gd name="T51" fmla="*/ 445 h 1439"/>
                  <a:gd name="T52" fmla="*/ 407 w 1348"/>
                  <a:gd name="T53" fmla="*/ 436 h 1439"/>
                  <a:gd name="T54" fmla="*/ 506 w 1348"/>
                  <a:gd name="T55" fmla="*/ 543 h 1439"/>
                  <a:gd name="T56" fmla="*/ 590 w 1348"/>
                  <a:gd name="T57" fmla="*/ 618 h 1439"/>
                  <a:gd name="T58" fmla="*/ 722 w 1348"/>
                  <a:gd name="T59" fmla="*/ 627 h 1439"/>
                  <a:gd name="T60" fmla="*/ 806 w 1348"/>
                  <a:gd name="T61" fmla="*/ 759 h 1439"/>
                  <a:gd name="T62" fmla="*/ 721 w 1348"/>
                  <a:gd name="T63" fmla="*/ 784 h 1439"/>
                  <a:gd name="T64" fmla="*/ 657 w 1348"/>
                  <a:gd name="T65" fmla="*/ 865 h 1439"/>
                  <a:gd name="T66" fmla="*/ 580 w 1348"/>
                  <a:gd name="T67" fmla="*/ 870 h 1439"/>
                  <a:gd name="T68" fmla="*/ 512 w 1348"/>
                  <a:gd name="T69" fmla="*/ 961 h 1439"/>
                  <a:gd name="T70" fmla="*/ 496 w 1348"/>
                  <a:gd name="T71" fmla="*/ 1129 h 1439"/>
                  <a:gd name="T72" fmla="*/ 485 w 1348"/>
                  <a:gd name="T73" fmla="*/ 1253 h 1439"/>
                  <a:gd name="T74" fmla="*/ 530 w 1348"/>
                  <a:gd name="T75" fmla="*/ 1286 h 1439"/>
                  <a:gd name="T76" fmla="*/ 560 w 1348"/>
                  <a:gd name="T77" fmla="*/ 1253 h 1439"/>
                  <a:gd name="T78" fmla="*/ 595 w 1348"/>
                  <a:gd name="T79" fmla="*/ 1264 h 1439"/>
                  <a:gd name="T80" fmla="*/ 642 w 1348"/>
                  <a:gd name="T81" fmla="*/ 1258 h 1439"/>
                  <a:gd name="T82" fmla="*/ 673 w 1348"/>
                  <a:gd name="T83" fmla="*/ 1258 h 1439"/>
                  <a:gd name="T84" fmla="*/ 701 w 1348"/>
                  <a:gd name="T85" fmla="*/ 1249 h 1439"/>
                  <a:gd name="T86" fmla="*/ 867 w 1348"/>
                  <a:gd name="T87" fmla="*/ 1346 h 1439"/>
                  <a:gd name="T88" fmla="*/ 1008 w 1348"/>
                  <a:gd name="T89" fmla="*/ 1439 h 1439"/>
                  <a:gd name="T90" fmla="*/ 1013 w 1348"/>
                  <a:gd name="T91" fmla="*/ 1432 h 1439"/>
                  <a:gd name="T92" fmla="*/ 1038 w 1348"/>
                  <a:gd name="T93" fmla="*/ 1372 h 1439"/>
                  <a:gd name="T94" fmla="*/ 1075 w 1348"/>
                  <a:gd name="T95" fmla="*/ 1307 h 1439"/>
                  <a:gd name="T96" fmla="*/ 1066 w 1348"/>
                  <a:gd name="T97" fmla="*/ 1232 h 1439"/>
                  <a:gd name="T98" fmla="*/ 1049 w 1348"/>
                  <a:gd name="T99" fmla="*/ 1162 h 1439"/>
                  <a:gd name="T100" fmla="*/ 1086 w 1348"/>
                  <a:gd name="T101" fmla="*/ 1191 h 1439"/>
                  <a:gd name="T102" fmla="*/ 1112 w 1348"/>
                  <a:gd name="T103" fmla="*/ 1188 h 1439"/>
                  <a:gd name="T104" fmla="*/ 1147 w 1348"/>
                  <a:gd name="T105" fmla="*/ 1199 h 1439"/>
                  <a:gd name="T106" fmla="*/ 1149 w 1348"/>
                  <a:gd name="T107" fmla="*/ 1193 h 1439"/>
                  <a:gd name="T108" fmla="*/ 1164 w 1348"/>
                  <a:gd name="T109" fmla="*/ 1147 h 1439"/>
                  <a:gd name="T110" fmla="*/ 1149 w 1348"/>
                  <a:gd name="T111" fmla="*/ 1119 h 1439"/>
                  <a:gd name="T112" fmla="*/ 1107 w 1348"/>
                  <a:gd name="T113" fmla="*/ 1085 h 1439"/>
                  <a:gd name="T114" fmla="*/ 1138 w 1348"/>
                  <a:gd name="T115" fmla="*/ 1043 h 1439"/>
                  <a:gd name="T116" fmla="*/ 1170 w 1348"/>
                  <a:gd name="T117" fmla="*/ 1011 h 1439"/>
                  <a:gd name="T118" fmla="*/ 1242 w 1348"/>
                  <a:gd name="T119" fmla="*/ 916 h 1439"/>
                  <a:gd name="T120" fmla="*/ 1313 w 1348"/>
                  <a:gd name="T121" fmla="*/ 870 h 1439"/>
                  <a:gd name="T122" fmla="*/ 1340 w 1348"/>
                  <a:gd name="T123" fmla="*/ 838 h 1439"/>
                  <a:gd name="T124" fmla="*/ 1337 w 1348"/>
                  <a:gd name="T125" fmla="*/ 799 h 14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1348" h="1439">
                    <a:moveTo>
                      <a:pt x="1337" y="799"/>
                    </a:moveTo>
                    <a:cubicBezTo>
                      <a:pt x="1331" y="793"/>
                      <a:pt x="1326" y="786"/>
                      <a:pt x="1321" y="779"/>
                    </a:cubicBezTo>
                    <a:cubicBezTo>
                      <a:pt x="1306" y="757"/>
                      <a:pt x="1298" y="734"/>
                      <a:pt x="1298" y="734"/>
                    </a:cubicBezTo>
                    <a:cubicBezTo>
                      <a:pt x="1231" y="676"/>
                      <a:pt x="1231" y="676"/>
                      <a:pt x="1231" y="676"/>
                    </a:cubicBezTo>
                    <a:cubicBezTo>
                      <a:pt x="1231" y="676"/>
                      <a:pt x="1062" y="503"/>
                      <a:pt x="1036" y="481"/>
                    </a:cubicBezTo>
                    <a:cubicBezTo>
                      <a:pt x="1026" y="473"/>
                      <a:pt x="996" y="454"/>
                      <a:pt x="962" y="435"/>
                    </a:cubicBezTo>
                    <a:cubicBezTo>
                      <a:pt x="916" y="409"/>
                      <a:pt x="865" y="381"/>
                      <a:pt x="850" y="373"/>
                    </a:cubicBezTo>
                    <a:cubicBezTo>
                      <a:pt x="847" y="371"/>
                      <a:pt x="846" y="371"/>
                      <a:pt x="846" y="371"/>
                    </a:cubicBezTo>
                    <a:cubicBezTo>
                      <a:pt x="846" y="371"/>
                      <a:pt x="582" y="249"/>
                      <a:pt x="530" y="230"/>
                    </a:cubicBezTo>
                    <a:cubicBezTo>
                      <a:pt x="478" y="211"/>
                      <a:pt x="463" y="146"/>
                      <a:pt x="452" y="128"/>
                    </a:cubicBezTo>
                    <a:cubicBezTo>
                      <a:pt x="445" y="117"/>
                      <a:pt x="422" y="62"/>
                      <a:pt x="407" y="23"/>
                    </a:cubicBezTo>
                    <a:cubicBezTo>
                      <a:pt x="374" y="16"/>
                      <a:pt x="324" y="4"/>
                      <a:pt x="277" y="2"/>
                    </a:cubicBezTo>
                    <a:cubicBezTo>
                      <a:pt x="236" y="0"/>
                      <a:pt x="196" y="6"/>
                      <a:pt x="171" y="30"/>
                    </a:cubicBezTo>
                    <a:cubicBezTo>
                      <a:pt x="117" y="81"/>
                      <a:pt x="63" y="141"/>
                      <a:pt x="63" y="141"/>
                    </a:cubicBezTo>
                    <a:cubicBezTo>
                      <a:pt x="63" y="141"/>
                      <a:pt x="27" y="110"/>
                      <a:pt x="0" y="139"/>
                    </a:cubicBezTo>
                    <a:cubicBezTo>
                      <a:pt x="19" y="171"/>
                      <a:pt x="23" y="184"/>
                      <a:pt x="23" y="184"/>
                    </a:cubicBezTo>
                    <a:cubicBezTo>
                      <a:pt x="23" y="184"/>
                      <a:pt x="86" y="257"/>
                      <a:pt x="95" y="278"/>
                    </a:cubicBezTo>
                    <a:cubicBezTo>
                      <a:pt x="104" y="298"/>
                      <a:pt x="109" y="340"/>
                      <a:pt x="109" y="340"/>
                    </a:cubicBezTo>
                    <a:cubicBezTo>
                      <a:pt x="109" y="340"/>
                      <a:pt x="160" y="330"/>
                      <a:pt x="163" y="343"/>
                    </a:cubicBezTo>
                    <a:cubicBezTo>
                      <a:pt x="166" y="355"/>
                      <a:pt x="179" y="429"/>
                      <a:pt x="179" y="429"/>
                    </a:cubicBezTo>
                    <a:cubicBezTo>
                      <a:pt x="179" y="429"/>
                      <a:pt x="199" y="452"/>
                      <a:pt x="199" y="464"/>
                    </a:cubicBezTo>
                    <a:cubicBezTo>
                      <a:pt x="199" y="475"/>
                      <a:pt x="186" y="517"/>
                      <a:pt x="186" y="517"/>
                    </a:cubicBezTo>
                    <a:cubicBezTo>
                      <a:pt x="186" y="517"/>
                      <a:pt x="212" y="513"/>
                      <a:pt x="228" y="523"/>
                    </a:cubicBezTo>
                    <a:cubicBezTo>
                      <a:pt x="244" y="533"/>
                      <a:pt x="265" y="542"/>
                      <a:pt x="265" y="542"/>
                    </a:cubicBezTo>
                    <a:cubicBezTo>
                      <a:pt x="274" y="527"/>
                      <a:pt x="274" y="527"/>
                      <a:pt x="274" y="527"/>
                    </a:cubicBezTo>
                    <a:cubicBezTo>
                      <a:pt x="274" y="527"/>
                      <a:pt x="268" y="467"/>
                      <a:pt x="314" y="445"/>
                    </a:cubicBezTo>
                    <a:cubicBezTo>
                      <a:pt x="360" y="423"/>
                      <a:pt x="373" y="419"/>
                      <a:pt x="407" y="436"/>
                    </a:cubicBezTo>
                    <a:cubicBezTo>
                      <a:pt x="440" y="454"/>
                      <a:pt x="494" y="490"/>
                      <a:pt x="506" y="543"/>
                    </a:cubicBezTo>
                    <a:cubicBezTo>
                      <a:pt x="518" y="596"/>
                      <a:pt x="551" y="638"/>
                      <a:pt x="590" y="618"/>
                    </a:cubicBezTo>
                    <a:cubicBezTo>
                      <a:pt x="629" y="598"/>
                      <a:pt x="701" y="596"/>
                      <a:pt x="722" y="627"/>
                    </a:cubicBezTo>
                    <a:cubicBezTo>
                      <a:pt x="744" y="657"/>
                      <a:pt x="806" y="759"/>
                      <a:pt x="806" y="759"/>
                    </a:cubicBezTo>
                    <a:cubicBezTo>
                      <a:pt x="806" y="759"/>
                      <a:pt x="747" y="762"/>
                      <a:pt x="721" y="784"/>
                    </a:cubicBezTo>
                    <a:cubicBezTo>
                      <a:pt x="695" y="806"/>
                      <a:pt x="657" y="865"/>
                      <a:pt x="657" y="865"/>
                    </a:cubicBezTo>
                    <a:cubicBezTo>
                      <a:pt x="580" y="870"/>
                      <a:pt x="580" y="870"/>
                      <a:pt x="580" y="870"/>
                    </a:cubicBezTo>
                    <a:cubicBezTo>
                      <a:pt x="580" y="870"/>
                      <a:pt x="519" y="888"/>
                      <a:pt x="512" y="961"/>
                    </a:cubicBezTo>
                    <a:cubicBezTo>
                      <a:pt x="509" y="992"/>
                      <a:pt x="502" y="1061"/>
                      <a:pt x="496" y="1129"/>
                    </a:cubicBezTo>
                    <a:cubicBezTo>
                      <a:pt x="492" y="1174"/>
                      <a:pt x="488" y="1218"/>
                      <a:pt x="485" y="1253"/>
                    </a:cubicBezTo>
                    <a:cubicBezTo>
                      <a:pt x="530" y="1286"/>
                      <a:pt x="530" y="1286"/>
                      <a:pt x="530" y="1286"/>
                    </a:cubicBezTo>
                    <a:cubicBezTo>
                      <a:pt x="560" y="1253"/>
                      <a:pt x="560" y="1253"/>
                      <a:pt x="560" y="1253"/>
                    </a:cubicBezTo>
                    <a:cubicBezTo>
                      <a:pt x="560" y="1253"/>
                      <a:pt x="573" y="1258"/>
                      <a:pt x="595" y="1264"/>
                    </a:cubicBezTo>
                    <a:cubicBezTo>
                      <a:pt x="601" y="1266"/>
                      <a:pt x="610" y="1251"/>
                      <a:pt x="642" y="1258"/>
                    </a:cubicBezTo>
                    <a:cubicBezTo>
                      <a:pt x="675" y="1264"/>
                      <a:pt x="655" y="1275"/>
                      <a:pt x="673" y="1258"/>
                    </a:cubicBezTo>
                    <a:cubicBezTo>
                      <a:pt x="690" y="1240"/>
                      <a:pt x="701" y="1249"/>
                      <a:pt x="701" y="1249"/>
                    </a:cubicBezTo>
                    <a:cubicBezTo>
                      <a:pt x="867" y="1346"/>
                      <a:pt x="867" y="1346"/>
                      <a:pt x="867" y="1346"/>
                    </a:cubicBezTo>
                    <a:cubicBezTo>
                      <a:pt x="1008" y="1439"/>
                      <a:pt x="1008" y="1439"/>
                      <a:pt x="1008" y="1439"/>
                    </a:cubicBezTo>
                    <a:cubicBezTo>
                      <a:pt x="1008" y="1439"/>
                      <a:pt x="1010" y="1437"/>
                      <a:pt x="1013" y="1432"/>
                    </a:cubicBezTo>
                    <a:cubicBezTo>
                      <a:pt x="1021" y="1420"/>
                      <a:pt x="1037" y="1394"/>
                      <a:pt x="1038" y="1372"/>
                    </a:cubicBezTo>
                    <a:cubicBezTo>
                      <a:pt x="1040" y="1342"/>
                      <a:pt x="1051" y="1329"/>
                      <a:pt x="1075" y="1307"/>
                    </a:cubicBezTo>
                    <a:cubicBezTo>
                      <a:pt x="1099" y="1286"/>
                      <a:pt x="1082" y="1251"/>
                      <a:pt x="1066" y="1232"/>
                    </a:cubicBezTo>
                    <a:cubicBezTo>
                      <a:pt x="1051" y="1212"/>
                      <a:pt x="1049" y="1191"/>
                      <a:pt x="1049" y="1162"/>
                    </a:cubicBezTo>
                    <a:cubicBezTo>
                      <a:pt x="1049" y="1162"/>
                      <a:pt x="1075" y="1193"/>
                      <a:pt x="1086" y="1191"/>
                    </a:cubicBezTo>
                    <a:cubicBezTo>
                      <a:pt x="1097" y="1188"/>
                      <a:pt x="1103" y="1178"/>
                      <a:pt x="1112" y="1188"/>
                    </a:cubicBezTo>
                    <a:cubicBezTo>
                      <a:pt x="1119" y="1198"/>
                      <a:pt x="1140" y="1208"/>
                      <a:pt x="1147" y="1199"/>
                    </a:cubicBezTo>
                    <a:cubicBezTo>
                      <a:pt x="1148" y="1198"/>
                      <a:pt x="1149" y="1196"/>
                      <a:pt x="1149" y="1193"/>
                    </a:cubicBezTo>
                    <a:cubicBezTo>
                      <a:pt x="1149" y="1173"/>
                      <a:pt x="1164" y="1147"/>
                      <a:pt x="1164" y="1147"/>
                    </a:cubicBezTo>
                    <a:cubicBezTo>
                      <a:pt x="1164" y="1147"/>
                      <a:pt x="1175" y="1119"/>
                      <a:pt x="1149" y="1119"/>
                    </a:cubicBezTo>
                    <a:cubicBezTo>
                      <a:pt x="1123" y="1119"/>
                      <a:pt x="1105" y="1113"/>
                      <a:pt x="1107" y="1085"/>
                    </a:cubicBezTo>
                    <a:cubicBezTo>
                      <a:pt x="1110" y="1056"/>
                      <a:pt x="1131" y="1039"/>
                      <a:pt x="1138" y="1043"/>
                    </a:cubicBezTo>
                    <a:cubicBezTo>
                      <a:pt x="1156" y="1056"/>
                      <a:pt x="1149" y="1043"/>
                      <a:pt x="1170" y="1011"/>
                    </a:cubicBezTo>
                    <a:cubicBezTo>
                      <a:pt x="1170" y="983"/>
                      <a:pt x="1220" y="924"/>
                      <a:pt x="1242" y="916"/>
                    </a:cubicBezTo>
                    <a:cubicBezTo>
                      <a:pt x="1263" y="907"/>
                      <a:pt x="1300" y="879"/>
                      <a:pt x="1313" y="870"/>
                    </a:cubicBezTo>
                    <a:cubicBezTo>
                      <a:pt x="1320" y="866"/>
                      <a:pt x="1333" y="853"/>
                      <a:pt x="1340" y="838"/>
                    </a:cubicBezTo>
                    <a:cubicBezTo>
                      <a:pt x="1346" y="825"/>
                      <a:pt x="1348" y="810"/>
                      <a:pt x="1337" y="79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76" name="Freeform 1851">
                <a:extLst>
                  <a:ext uri="{FF2B5EF4-FFF2-40B4-BE49-F238E27FC236}">
                    <a16:creationId xmlns:a16="http://schemas.microsoft.com/office/drawing/2014/main" id="{4093107B-F6EE-C2E7-7810-388C265AD517}"/>
                  </a:ext>
                </a:extLst>
              </p:cNvPr>
              <p:cNvSpPr>
                <a:spLocks/>
              </p:cNvSpPr>
              <p:nvPr/>
            </p:nvSpPr>
            <p:spPr bwMode="auto">
              <a:xfrm>
                <a:off x="3136" y="1816"/>
                <a:ext cx="28" cy="15"/>
              </a:xfrm>
              <a:custGeom>
                <a:avLst/>
                <a:gdLst>
                  <a:gd name="T0" fmla="*/ 75 w 124"/>
                  <a:gd name="T1" fmla="*/ 26 h 69"/>
                  <a:gd name="T2" fmla="*/ 53 w 124"/>
                  <a:gd name="T3" fmla="*/ 13 h 69"/>
                  <a:gd name="T4" fmla="*/ 36 w 124"/>
                  <a:gd name="T5" fmla="*/ 40 h 69"/>
                  <a:gd name="T6" fmla="*/ 21 w 124"/>
                  <a:gd name="T7" fmla="*/ 32 h 69"/>
                  <a:gd name="T8" fmla="*/ 0 w 124"/>
                  <a:gd name="T9" fmla="*/ 63 h 69"/>
                  <a:gd name="T10" fmla="*/ 8 w 124"/>
                  <a:gd name="T11" fmla="*/ 66 h 69"/>
                  <a:gd name="T12" fmla="*/ 9 w 124"/>
                  <a:gd name="T13" fmla="*/ 65 h 69"/>
                  <a:gd name="T14" fmla="*/ 22 w 124"/>
                  <a:gd name="T15" fmla="*/ 40 h 69"/>
                  <a:gd name="T16" fmla="*/ 35 w 124"/>
                  <a:gd name="T17" fmla="*/ 54 h 69"/>
                  <a:gd name="T18" fmla="*/ 44 w 124"/>
                  <a:gd name="T19" fmla="*/ 69 h 69"/>
                  <a:gd name="T20" fmla="*/ 43 w 124"/>
                  <a:gd name="T21" fmla="*/ 52 h 69"/>
                  <a:gd name="T22" fmla="*/ 56 w 124"/>
                  <a:gd name="T23" fmla="*/ 21 h 69"/>
                  <a:gd name="T24" fmla="*/ 71 w 124"/>
                  <a:gd name="T25" fmla="*/ 36 h 69"/>
                  <a:gd name="T26" fmla="*/ 75 w 124"/>
                  <a:gd name="T27" fmla="*/ 44 h 69"/>
                  <a:gd name="T28" fmla="*/ 79 w 124"/>
                  <a:gd name="T29" fmla="*/ 36 h 69"/>
                  <a:gd name="T30" fmla="*/ 103 w 124"/>
                  <a:gd name="T31" fmla="*/ 10 h 69"/>
                  <a:gd name="T32" fmla="*/ 116 w 124"/>
                  <a:gd name="T33" fmla="*/ 34 h 69"/>
                  <a:gd name="T34" fmla="*/ 124 w 124"/>
                  <a:gd name="T35" fmla="*/ 32 h 69"/>
                  <a:gd name="T36" fmla="*/ 104 w 124"/>
                  <a:gd name="T37" fmla="*/ 1 h 69"/>
                  <a:gd name="T38" fmla="*/ 75 w 124"/>
                  <a:gd name="T39" fmla="*/ 26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124" h="69">
                    <a:moveTo>
                      <a:pt x="75" y="26"/>
                    </a:moveTo>
                    <a:cubicBezTo>
                      <a:pt x="66" y="13"/>
                      <a:pt x="58" y="12"/>
                      <a:pt x="53" y="13"/>
                    </a:cubicBezTo>
                    <a:cubicBezTo>
                      <a:pt x="45" y="15"/>
                      <a:pt x="38" y="26"/>
                      <a:pt x="36" y="40"/>
                    </a:cubicBezTo>
                    <a:cubicBezTo>
                      <a:pt x="31" y="34"/>
                      <a:pt x="26" y="31"/>
                      <a:pt x="21" y="32"/>
                    </a:cubicBezTo>
                    <a:cubicBezTo>
                      <a:pt x="12" y="33"/>
                      <a:pt x="5" y="43"/>
                      <a:pt x="0" y="63"/>
                    </a:cubicBezTo>
                    <a:cubicBezTo>
                      <a:pt x="8" y="66"/>
                      <a:pt x="8" y="66"/>
                      <a:pt x="8" y="66"/>
                    </a:cubicBezTo>
                    <a:cubicBezTo>
                      <a:pt x="9" y="65"/>
                      <a:pt x="9" y="65"/>
                      <a:pt x="9" y="65"/>
                    </a:cubicBezTo>
                    <a:cubicBezTo>
                      <a:pt x="14" y="43"/>
                      <a:pt x="20" y="41"/>
                      <a:pt x="22" y="40"/>
                    </a:cubicBezTo>
                    <a:cubicBezTo>
                      <a:pt x="23" y="40"/>
                      <a:pt x="28" y="41"/>
                      <a:pt x="35" y="54"/>
                    </a:cubicBezTo>
                    <a:cubicBezTo>
                      <a:pt x="44" y="69"/>
                      <a:pt x="44" y="69"/>
                      <a:pt x="44" y="69"/>
                    </a:cubicBezTo>
                    <a:cubicBezTo>
                      <a:pt x="43" y="52"/>
                      <a:pt x="43" y="52"/>
                      <a:pt x="43" y="52"/>
                    </a:cubicBezTo>
                    <a:cubicBezTo>
                      <a:pt x="43" y="35"/>
                      <a:pt x="49" y="23"/>
                      <a:pt x="56" y="21"/>
                    </a:cubicBezTo>
                    <a:cubicBezTo>
                      <a:pt x="60" y="20"/>
                      <a:pt x="66" y="26"/>
                      <a:pt x="71" y="36"/>
                    </a:cubicBezTo>
                    <a:cubicBezTo>
                      <a:pt x="75" y="44"/>
                      <a:pt x="75" y="44"/>
                      <a:pt x="75" y="44"/>
                    </a:cubicBezTo>
                    <a:cubicBezTo>
                      <a:pt x="79" y="36"/>
                      <a:pt x="79" y="36"/>
                      <a:pt x="79" y="36"/>
                    </a:cubicBezTo>
                    <a:cubicBezTo>
                      <a:pt x="89" y="16"/>
                      <a:pt x="98" y="9"/>
                      <a:pt x="103" y="10"/>
                    </a:cubicBezTo>
                    <a:cubicBezTo>
                      <a:pt x="108" y="11"/>
                      <a:pt x="113" y="19"/>
                      <a:pt x="116" y="34"/>
                    </a:cubicBezTo>
                    <a:cubicBezTo>
                      <a:pt x="124" y="32"/>
                      <a:pt x="124" y="32"/>
                      <a:pt x="124" y="32"/>
                    </a:cubicBezTo>
                    <a:cubicBezTo>
                      <a:pt x="120" y="13"/>
                      <a:pt x="113" y="3"/>
                      <a:pt x="104" y="1"/>
                    </a:cubicBezTo>
                    <a:cubicBezTo>
                      <a:pt x="94" y="0"/>
                      <a:pt x="84" y="9"/>
                      <a:pt x="75"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77" name="Freeform 1852">
                <a:extLst>
                  <a:ext uri="{FF2B5EF4-FFF2-40B4-BE49-F238E27FC236}">
                    <a16:creationId xmlns:a16="http://schemas.microsoft.com/office/drawing/2014/main" id="{AED254DB-E95B-7BCC-D341-D10D5717410A}"/>
                  </a:ext>
                </a:extLst>
              </p:cNvPr>
              <p:cNvSpPr>
                <a:spLocks/>
              </p:cNvSpPr>
              <p:nvPr/>
            </p:nvSpPr>
            <p:spPr bwMode="auto">
              <a:xfrm>
                <a:off x="3189" y="1958"/>
                <a:ext cx="20" cy="10"/>
              </a:xfrm>
              <a:custGeom>
                <a:avLst/>
                <a:gdLst>
                  <a:gd name="T0" fmla="*/ 68 w 94"/>
                  <a:gd name="T1" fmla="*/ 0 h 47"/>
                  <a:gd name="T2" fmla="*/ 46 w 94"/>
                  <a:gd name="T3" fmla="*/ 21 h 47"/>
                  <a:gd name="T4" fmla="*/ 31 w 94"/>
                  <a:gd name="T5" fmla="*/ 9 h 47"/>
                  <a:gd name="T6" fmla="*/ 0 w 94"/>
                  <a:gd name="T7" fmla="*/ 40 h 47"/>
                  <a:gd name="T8" fmla="*/ 8 w 94"/>
                  <a:gd name="T9" fmla="*/ 44 h 47"/>
                  <a:gd name="T10" fmla="*/ 30 w 94"/>
                  <a:gd name="T11" fmla="*/ 17 h 47"/>
                  <a:gd name="T12" fmla="*/ 42 w 94"/>
                  <a:gd name="T13" fmla="*/ 34 h 47"/>
                  <a:gd name="T14" fmla="*/ 46 w 94"/>
                  <a:gd name="T15" fmla="*/ 47 h 47"/>
                  <a:gd name="T16" fmla="*/ 50 w 94"/>
                  <a:gd name="T17" fmla="*/ 34 h 47"/>
                  <a:gd name="T18" fmla="*/ 68 w 94"/>
                  <a:gd name="T19" fmla="*/ 9 h 47"/>
                  <a:gd name="T20" fmla="*/ 86 w 94"/>
                  <a:gd name="T21" fmla="*/ 30 h 47"/>
                  <a:gd name="T22" fmla="*/ 94 w 94"/>
                  <a:gd name="T23" fmla="*/ 27 h 47"/>
                  <a:gd name="T24" fmla="*/ 68 w 94"/>
                  <a:gd name="T25" fmla="*/ 0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94" h="47">
                    <a:moveTo>
                      <a:pt x="68" y="0"/>
                    </a:moveTo>
                    <a:cubicBezTo>
                      <a:pt x="57" y="0"/>
                      <a:pt x="50" y="12"/>
                      <a:pt x="46" y="21"/>
                    </a:cubicBezTo>
                    <a:cubicBezTo>
                      <a:pt x="41" y="13"/>
                      <a:pt x="36" y="9"/>
                      <a:pt x="31" y="9"/>
                    </a:cubicBezTo>
                    <a:cubicBezTo>
                      <a:pt x="15" y="8"/>
                      <a:pt x="3" y="35"/>
                      <a:pt x="0" y="40"/>
                    </a:cubicBezTo>
                    <a:cubicBezTo>
                      <a:pt x="8" y="44"/>
                      <a:pt x="8" y="44"/>
                      <a:pt x="8" y="44"/>
                    </a:cubicBezTo>
                    <a:cubicBezTo>
                      <a:pt x="13" y="33"/>
                      <a:pt x="23" y="17"/>
                      <a:pt x="30" y="17"/>
                    </a:cubicBezTo>
                    <a:cubicBezTo>
                      <a:pt x="34" y="18"/>
                      <a:pt x="38" y="24"/>
                      <a:pt x="42" y="34"/>
                    </a:cubicBezTo>
                    <a:cubicBezTo>
                      <a:pt x="46" y="47"/>
                      <a:pt x="46" y="47"/>
                      <a:pt x="46" y="47"/>
                    </a:cubicBezTo>
                    <a:cubicBezTo>
                      <a:pt x="50" y="34"/>
                      <a:pt x="50" y="34"/>
                      <a:pt x="50" y="34"/>
                    </a:cubicBezTo>
                    <a:cubicBezTo>
                      <a:pt x="54" y="19"/>
                      <a:pt x="62" y="9"/>
                      <a:pt x="68" y="9"/>
                    </a:cubicBezTo>
                    <a:cubicBezTo>
                      <a:pt x="74" y="8"/>
                      <a:pt x="80" y="16"/>
                      <a:pt x="86" y="30"/>
                    </a:cubicBezTo>
                    <a:cubicBezTo>
                      <a:pt x="94" y="27"/>
                      <a:pt x="94" y="27"/>
                      <a:pt x="94" y="27"/>
                    </a:cubicBezTo>
                    <a:cubicBezTo>
                      <a:pt x="86" y="9"/>
                      <a:pt x="78" y="0"/>
                      <a:pt x="6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78" name="Freeform 1853">
                <a:extLst>
                  <a:ext uri="{FF2B5EF4-FFF2-40B4-BE49-F238E27FC236}">
                    <a16:creationId xmlns:a16="http://schemas.microsoft.com/office/drawing/2014/main" id="{1D50A7CE-6E43-22D1-70A9-D8AA392E44BF}"/>
                  </a:ext>
                </a:extLst>
              </p:cNvPr>
              <p:cNvSpPr>
                <a:spLocks/>
              </p:cNvSpPr>
              <p:nvPr/>
            </p:nvSpPr>
            <p:spPr bwMode="auto">
              <a:xfrm>
                <a:off x="3210" y="1966"/>
                <a:ext cx="22" cy="26"/>
              </a:xfrm>
              <a:custGeom>
                <a:avLst/>
                <a:gdLst>
                  <a:gd name="T0" fmla="*/ 0 w 102"/>
                  <a:gd name="T1" fmla="*/ 15 h 116"/>
                  <a:gd name="T2" fmla="*/ 5 w 102"/>
                  <a:gd name="T3" fmla="*/ 22 h 116"/>
                  <a:gd name="T4" fmla="*/ 32 w 102"/>
                  <a:gd name="T5" fmla="*/ 15 h 116"/>
                  <a:gd name="T6" fmla="*/ 39 w 102"/>
                  <a:gd name="T7" fmla="*/ 42 h 116"/>
                  <a:gd name="T8" fmla="*/ 39 w 102"/>
                  <a:gd name="T9" fmla="*/ 46 h 116"/>
                  <a:gd name="T10" fmla="*/ 43 w 102"/>
                  <a:gd name="T11" fmla="*/ 47 h 116"/>
                  <a:gd name="T12" fmla="*/ 65 w 102"/>
                  <a:gd name="T13" fmla="*/ 57 h 116"/>
                  <a:gd name="T14" fmla="*/ 62 w 102"/>
                  <a:gd name="T15" fmla="*/ 78 h 116"/>
                  <a:gd name="T16" fmla="*/ 60 w 102"/>
                  <a:gd name="T17" fmla="*/ 84 h 116"/>
                  <a:gd name="T18" fmla="*/ 66 w 102"/>
                  <a:gd name="T19" fmla="*/ 84 h 116"/>
                  <a:gd name="T20" fmla="*/ 93 w 102"/>
                  <a:gd name="T21" fmla="*/ 92 h 116"/>
                  <a:gd name="T22" fmla="*/ 85 w 102"/>
                  <a:gd name="T23" fmla="*/ 111 h 116"/>
                  <a:gd name="T24" fmla="*/ 92 w 102"/>
                  <a:gd name="T25" fmla="*/ 116 h 116"/>
                  <a:gd name="T26" fmla="*/ 102 w 102"/>
                  <a:gd name="T27" fmla="*/ 94 h 116"/>
                  <a:gd name="T28" fmla="*/ 100 w 102"/>
                  <a:gd name="T29" fmla="*/ 88 h 116"/>
                  <a:gd name="T30" fmla="*/ 72 w 102"/>
                  <a:gd name="T31" fmla="*/ 76 h 116"/>
                  <a:gd name="T32" fmla="*/ 75 w 102"/>
                  <a:gd name="T33" fmla="*/ 62 h 116"/>
                  <a:gd name="T34" fmla="*/ 72 w 102"/>
                  <a:gd name="T35" fmla="*/ 53 h 116"/>
                  <a:gd name="T36" fmla="*/ 48 w 102"/>
                  <a:gd name="T37" fmla="*/ 39 h 116"/>
                  <a:gd name="T38" fmla="*/ 48 w 102"/>
                  <a:gd name="T39" fmla="*/ 36 h 116"/>
                  <a:gd name="T40" fmla="*/ 36 w 102"/>
                  <a:gd name="T41" fmla="*/ 7 h 116"/>
                  <a:gd name="T42" fmla="*/ 0 w 102"/>
                  <a:gd name="T43" fmla="*/ 15 h 1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102" h="116">
                    <a:moveTo>
                      <a:pt x="0" y="15"/>
                    </a:moveTo>
                    <a:cubicBezTo>
                      <a:pt x="5" y="22"/>
                      <a:pt x="5" y="22"/>
                      <a:pt x="5" y="22"/>
                    </a:cubicBezTo>
                    <a:cubicBezTo>
                      <a:pt x="10" y="19"/>
                      <a:pt x="24" y="11"/>
                      <a:pt x="32" y="15"/>
                    </a:cubicBezTo>
                    <a:cubicBezTo>
                      <a:pt x="38" y="18"/>
                      <a:pt x="40" y="27"/>
                      <a:pt x="39" y="42"/>
                    </a:cubicBezTo>
                    <a:cubicBezTo>
                      <a:pt x="39" y="46"/>
                      <a:pt x="39" y="46"/>
                      <a:pt x="39" y="46"/>
                    </a:cubicBezTo>
                    <a:cubicBezTo>
                      <a:pt x="43" y="47"/>
                      <a:pt x="43" y="47"/>
                      <a:pt x="43" y="47"/>
                    </a:cubicBezTo>
                    <a:cubicBezTo>
                      <a:pt x="55" y="49"/>
                      <a:pt x="62" y="52"/>
                      <a:pt x="65" y="57"/>
                    </a:cubicBezTo>
                    <a:cubicBezTo>
                      <a:pt x="67" y="61"/>
                      <a:pt x="66" y="68"/>
                      <a:pt x="62" y="78"/>
                    </a:cubicBezTo>
                    <a:cubicBezTo>
                      <a:pt x="60" y="84"/>
                      <a:pt x="60" y="84"/>
                      <a:pt x="60" y="84"/>
                    </a:cubicBezTo>
                    <a:cubicBezTo>
                      <a:pt x="66" y="84"/>
                      <a:pt x="66" y="84"/>
                      <a:pt x="66" y="84"/>
                    </a:cubicBezTo>
                    <a:cubicBezTo>
                      <a:pt x="85" y="85"/>
                      <a:pt x="91" y="89"/>
                      <a:pt x="93" y="92"/>
                    </a:cubicBezTo>
                    <a:cubicBezTo>
                      <a:pt x="94" y="96"/>
                      <a:pt x="92" y="102"/>
                      <a:pt x="85" y="111"/>
                    </a:cubicBezTo>
                    <a:cubicBezTo>
                      <a:pt x="92" y="116"/>
                      <a:pt x="92" y="116"/>
                      <a:pt x="92" y="116"/>
                    </a:cubicBezTo>
                    <a:cubicBezTo>
                      <a:pt x="99" y="108"/>
                      <a:pt x="102" y="100"/>
                      <a:pt x="102" y="94"/>
                    </a:cubicBezTo>
                    <a:cubicBezTo>
                      <a:pt x="102" y="92"/>
                      <a:pt x="101" y="90"/>
                      <a:pt x="100" y="88"/>
                    </a:cubicBezTo>
                    <a:cubicBezTo>
                      <a:pt x="97" y="81"/>
                      <a:pt x="88" y="77"/>
                      <a:pt x="72" y="76"/>
                    </a:cubicBezTo>
                    <a:cubicBezTo>
                      <a:pt x="73" y="71"/>
                      <a:pt x="75" y="66"/>
                      <a:pt x="75" y="62"/>
                    </a:cubicBezTo>
                    <a:cubicBezTo>
                      <a:pt x="75" y="59"/>
                      <a:pt x="74" y="55"/>
                      <a:pt x="72" y="53"/>
                    </a:cubicBezTo>
                    <a:cubicBezTo>
                      <a:pt x="68" y="45"/>
                      <a:pt x="59" y="42"/>
                      <a:pt x="48" y="39"/>
                    </a:cubicBezTo>
                    <a:cubicBezTo>
                      <a:pt x="48" y="38"/>
                      <a:pt x="48" y="37"/>
                      <a:pt x="48" y="36"/>
                    </a:cubicBezTo>
                    <a:cubicBezTo>
                      <a:pt x="48" y="21"/>
                      <a:pt x="44" y="12"/>
                      <a:pt x="36" y="7"/>
                    </a:cubicBezTo>
                    <a:cubicBezTo>
                      <a:pt x="22" y="0"/>
                      <a:pt x="2" y="14"/>
                      <a:pt x="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79" name="Freeform 1854">
                <a:extLst>
                  <a:ext uri="{FF2B5EF4-FFF2-40B4-BE49-F238E27FC236}">
                    <a16:creationId xmlns:a16="http://schemas.microsoft.com/office/drawing/2014/main" id="{50FD5603-343D-4727-58B8-C562D0B92B6F}"/>
                  </a:ext>
                </a:extLst>
              </p:cNvPr>
              <p:cNvSpPr>
                <a:spLocks/>
              </p:cNvSpPr>
              <p:nvPr/>
            </p:nvSpPr>
            <p:spPr bwMode="auto">
              <a:xfrm>
                <a:off x="3220" y="1997"/>
                <a:ext cx="13" cy="11"/>
              </a:xfrm>
              <a:custGeom>
                <a:avLst/>
                <a:gdLst>
                  <a:gd name="T0" fmla="*/ 50 w 62"/>
                  <a:gd name="T1" fmla="*/ 2 h 53"/>
                  <a:gd name="T2" fmla="*/ 48 w 62"/>
                  <a:gd name="T3" fmla="*/ 22 h 53"/>
                  <a:gd name="T4" fmla="*/ 35 w 62"/>
                  <a:gd name="T5" fmla="*/ 19 h 53"/>
                  <a:gd name="T6" fmla="*/ 28 w 62"/>
                  <a:gd name="T7" fmla="*/ 15 h 53"/>
                  <a:gd name="T8" fmla="*/ 28 w 62"/>
                  <a:gd name="T9" fmla="*/ 24 h 53"/>
                  <a:gd name="T10" fmla="*/ 24 w 62"/>
                  <a:gd name="T11" fmla="*/ 42 h 53"/>
                  <a:gd name="T12" fmla="*/ 3 w 62"/>
                  <a:gd name="T13" fmla="*/ 38 h 53"/>
                  <a:gd name="T14" fmla="*/ 0 w 62"/>
                  <a:gd name="T15" fmla="*/ 45 h 53"/>
                  <a:gd name="T16" fmla="*/ 28 w 62"/>
                  <a:gd name="T17" fmla="*/ 50 h 53"/>
                  <a:gd name="T18" fmla="*/ 36 w 62"/>
                  <a:gd name="T19" fmla="*/ 29 h 53"/>
                  <a:gd name="T20" fmla="*/ 53 w 62"/>
                  <a:gd name="T21" fmla="*/ 29 h 53"/>
                  <a:gd name="T22" fmla="*/ 58 w 62"/>
                  <a:gd name="T23" fmla="*/ 0 h 53"/>
                  <a:gd name="T24" fmla="*/ 50 w 62"/>
                  <a:gd name="T25" fmla="*/ 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2" h="53">
                    <a:moveTo>
                      <a:pt x="50" y="2"/>
                    </a:moveTo>
                    <a:cubicBezTo>
                      <a:pt x="51" y="9"/>
                      <a:pt x="51" y="20"/>
                      <a:pt x="48" y="22"/>
                    </a:cubicBezTo>
                    <a:cubicBezTo>
                      <a:pt x="46" y="24"/>
                      <a:pt x="41" y="23"/>
                      <a:pt x="35" y="19"/>
                    </a:cubicBezTo>
                    <a:cubicBezTo>
                      <a:pt x="28" y="15"/>
                      <a:pt x="28" y="15"/>
                      <a:pt x="28" y="15"/>
                    </a:cubicBezTo>
                    <a:cubicBezTo>
                      <a:pt x="28" y="24"/>
                      <a:pt x="28" y="24"/>
                      <a:pt x="28" y="24"/>
                    </a:cubicBezTo>
                    <a:cubicBezTo>
                      <a:pt x="28" y="32"/>
                      <a:pt x="27" y="40"/>
                      <a:pt x="24" y="42"/>
                    </a:cubicBezTo>
                    <a:cubicBezTo>
                      <a:pt x="22" y="44"/>
                      <a:pt x="17" y="44"/>
                      <a:pt x="3" y="38"/>
                    </a:cubicBezTo>
                    <a:cubicBezTo>
                      <a:pt x="0" y="45"/>
                      <a:pt x="0" y="45"/>
                      <a:pt x="0" y="45"/>
                    </a:cubicBezTo>
                    <a:cubicBezTo>
                      <a:pt x="14" y="52"/>
                      <a:pt x="22" y="53"/>
                      <a:pt x="28" y="50"/>
                    </a:cubicBezTo>
                    <a:cubicBezTo>
                      <a:pt x="34" y="46"/>
                      <a:pt x="36" y="38"/>
                      <a:pt x="36" y="29"/>
                    </a:cubicBezTo>
                    <a:cubicBezTo>
                      <a:pt x="43" y="32"/>
                      <a:pt x="49" y="32"/>
                      <a:pt x="53" y="29"/>
                    </a:cubicBezTo>
                    <a:cubicBezTo>
                      <a:pt x="62" y="23"/>
                      <a:pt x="59" y="4"/>
                      <a:pt x="58" y="0"/>
                    </a:cubicBezTo>
                    <a:lnTo>
                      <a:pt x="50"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80" name="Freeform 1855">
                <a:extLst>
                  <a:ext uri="{FF2B5EF4-FFF2-40B4-BE49-F238E27FC236}">
                    <a16:creationId xmlns:a16="http://schemas.microsoft.com/office/drawing/2014/main" id="{13D3B438-363B-6E64-A964-DD178193C1A9}"/>
                  </a:ext>
                </a:extLst>
              </p:cNvPr>
              <p:cNvSpPr>
                <a:spLocks/>
              </p:cNvSpPr>
              <p:nvPr/>
            </p:nvSpPr>
            <p:spPr bwMode="auto">
              <a:xfrm>
                <a:off x="3166" y="1984"/>
                <a:ext cx="10" cy="11"/>
              </a:xfrm>
              <a:custGeom>
                <a:avLst/>
                <a:gdLst>
                  <a:gd name="T0" fmla="*/ 28 w 46"/>
                  <a:gd name="T1" fmla="*/ 4 h 48"/>
                  <a:gd name="T2" fmla="*/ 21 w 46"/>
                  <a:gd name="T3" fmla="*/ 24 h 48"/>
                  <a:gd name="T4" fmla="*/ 9 w 46"/>
                  <a:gd name="T5" fmla="*/ 24 h 48"/>
                  <a:gd name="T6" fmla="*/ 3 w 46"/>
                  <a:gd name="T7" fmla="*/ 48 h 48"/>
                  <a:gd name="T8" fmla="*/ 11 w 46"/>
                  <a:gd name="T9" fmla="*/ 47 h 48"/>
                  <a:gd name="T10" fmla="*/ 13 w 46"/>
                  <a:gd name="T11" fmla="*/ 32 h 48"/>
                  <a:gd name="T12" fmla="*/ 22 w 46"/>
                  <a:gd name="T13" fmla="*/ 35 h 48"/>
                  <a:gd name="T14" fmla="*/ 29 w 46"/>
                  <a:gd name="T15" fmla="*/ 40 h 48"/>
                  <a:gd name="T16" fmla="*/ 29 w 46"/>
                  <a:gd name="T17" fmla="*/ 32 h 48"/>
                  <a:gd name="T18" fmla="*/ 32 w 46"/>
                  <a:gd name="T19" fmla="*/ 11 h 48"/>
                  <a:gd name="T20" fmla="*/ 41 w 46"/>
                  <a:gd name="T21" fmla="*/ 14 h 48"/>
                  <a:gd name="T22" fmla="*/ 46 w 46"/>
                  <a:gd name="T23" fmla="*/ 6 h 48"/>
                  <a:gd name="T24" fmla="*/ 28 w 46"/>
                  <a:gd name="T25" fmla="*/ 4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 h="48">
                    <a:moveTo>
                      <a:pt x="28" y="4"/>
                    </a:moveTo>
                    <a:cubicBezTo>
                      <a:pt x="22" y="7"/>
                      <a:pt x="21" y="15"/>
                      <a:pt x="21" y="24"/>
                    </a:cubicBezTo>
                    <a:cubicBezTo>
                      <a:pt x="16" y="23"/>
                      <a:pt x="12" y="22"/>
                      <a:pt x="9" y="24"/>
                    </a:cubicBezTo>
                    <a:cubicBezTo>
                      <a:pt x="0" y="30"/>
                      <a:pt x="2" y="45"/>
                      <a:pt x="3" y="48"/>
                    </a:cubicBezTo>
                    <a:cubicBezTo>
                      <a:pt x="11" y="47"/>
                      <a:pt x="11" y="47"/>
                      <a:pt x="11" y="47"/>
                    </a:cubicBezTo>
                    <a:cubicBezTo>
                      <a:pt x="10" y="41"/>
                      <a:pt x="11" y="33"/>
                      <a:pt x="13" y="32"/>
                    </a:cubicBezTo>
                    <a:cubicBezTo>
                      <a:pt x="14" y="31"/>
                      <a:pt x="17" y="32"/>
                      <a:pt x="22" y="35"/>
                    </a:cubicBezTo>
                    <a:cubicBezTo>
                      <a:pt x="29" y="40"/>
                      <a:pt x="29" y="40"/>
                      <a:pt x="29" y="40"/>
                    </a:cubicBezTo>
                    <a:cubicBezTo>
                      <a:pt x="29" y="32"/>
                      <a:pt x="29" y="32"/>
                      <a:pt x="29" y="32"/>
                    </a:cubicBezTo>
                    <a:cubicBezTo>
                      <a:pt x="29" y="27"/>
                      <a:pt x="29" y="13"/>
                      <a:pt x="32" y="11"/>
                    </a:cubicBezTo>
                    <a:cubicBezTo>
                      <a:pt x="32" y="11"/>
                      <a:pt x="34" y="10"/>
                      <a:pt x="41" y="14"/>
                    </a:cubicBezTo>
                    <a:cubicBezTo>
                      <a:pt x="46" y="6"/>
                      <a:pt x="46" y="6"/>
                      <a:pt x="46" y="6"/>
                    </a:cubicBezTo>
                    <a:cubicBezTo>
                      <a:pt x="40" y="3"/>
                      <a:pt x="33" y="0"/>
                      <a:pt x="28"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81" name="Freeform 1856">
                <a:extLst>
                  <a:ext uri="{FF2B5EF4-FFF2-40B4-BE49-F238E27FC236}">
                    <a16:creationId xmlns:a16="http://schemas.microsoft.com/office/drawing/2014/main" id="{A4E151F5-8835-2F50-261A-181F1AA7054D}"/>
                  </a:ext>
                </a:extLst>
              </p:cNvPr>
              <p:cNvSpPr>
                <a:spLocks/>
              </p:cNvSpPr>
              <p:nvPr/>
            </p:nvSpPr>
            <p:spPr bwMode="auto">
              <a:xfrm>
                <a:off x="3173" y="1988"/>
                <a:ext cx="14" cy="19"/>
              </a:xfrm>
              <a:custGeom>
                <a:avLst/>
                <a:gdLst>
                  <a:gd name="T0" fmla="*/ 32 w 63"/>
                  <a:gd name="T1" fmla="*/ 1 h 84"/>
                  <a:gd name="T2" fmla="*/ 33 w 63"/>
                  <a:gd name="T3" fmla="*/ 10 h 84"/>
                  <a:gd name="T4" fmla="*/ 43 w 63"/>
                  <a:gd name="T5" fmla="*/ 13 h 84"/>
                  <a:gd name="T6" fmla="*/ 43 w 63"/>
                  <a:gd name="T7" fmla="*/ 28 h 84"/>
                  <a:gd name="T8" fmla="*/ 41 w 63"/>
                  <a:gd name="T9" fmla="*/ 34 h 84"/>
                  <a:gd name="T10" fmla="*/ 47 w 63"/>
                  <a:gd name="T11" fmla="*/ 34 h 84"/>
                  <a:gd name="T12" fmla="*/ 52 w 63"/>
                  <a:gd name="T13" fmla="*/ 37 h 84"/>
                  <a:gd name="T14" fmla="*/ 55 w 63"/>
                  <a:gd name="T15" fmla="*/ 45 h 84"/>
                  <a:gd name="T16" fmla="*/ 47 w 63"/>
                  <a:gd name="T17" fmla="*/ 53 h 84"/>
                  <a:gd name="T18" fmla="*/ 44 w 63"/>
                  <a:gd name="T19" fmla="*/ 53 h 84"/>
                  <a:gd name="T20" fmla="*/ 42 w 63"/>
                  <a:gd name="T21" fmla="*/ 60 h 84"/>
                  <a:gd name="T22" fmla="*/ 34 w 63"/>
                  <a:gd name="T23" fmla="*/ 74 h 84"/>
                  <a:gd name="T24" fmla="*/ 17 w 63"/>
                  <a:gd name="T25" fmla="*/ 70 h 84"/>
                  <a:gd name="T26" fmla="*/ 6 w 63"/>
                  <a:gd name="T27" fmla="*/ 59 h 84"/>
                  <a:gd name="T28" fmla="*/ 0 w 63"/>
                  <a:gd name="T29" fmla="*/ 65 h 84"/>
                  <a:gd name="T30" fmla="*/ 12 w 63"/>
                  <a:gd name="T31" fmla="*/ 78 h 84"/>
                  <a:gd name="T32" fmla="*/ 13 w 63"/>
                  <a:gd name="T33" fmla="*/ 78 h 84"/>
                  <a:gd name="T34" fmla="*/ 38 w 63"/>
                  <a:gd name="T35" fmla="*/ 82 h 84"/>
                  <a:gd name="T36" fmla="*/ 50 w 63"/>
                  <a:gd name="T37" fmla="*/ 63 h 84"/>
                  <a:gd name="T38" fmla="*/ 51 w 63"/>
                  <a:gd name="T39" fmla="*/ 61 h 84"/>
                  <a:gd name="T40" fmla="*/ 63 w 63"/>
                  <a:gd name="T41" fmla="*/ 45 h 84"/>
                  <a:gd name="T42" fmla="*/ 52 w 63"/>
                  <a:gd name="T43" fmla="*/ 27 h 84"/>
                  <a:gd name="T44" fmla="*/ 53 w 63"/>
                  <a:gd name="T45" fmla="*/ 20 h 84"/>
                  <a:gd name="T46" fmla="*/ 50 w 63"/>
                  <a:gd name="T47" fmla="*/ 8 h 84"/>
                  <a:gd name="T48" fmla="*/ 32 w 63"/>
                  <a:gd name="T49" fmla="*/ 1 h 8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63" h="84">
                    <a:moveTo>
                      <a:pt x="32" y="1"/>
                    </a:moveTo>
                    <a:cubicBezTo>
                      <a:pt x="33" y="10"/>
                      <a:pt x="33" y="10"/>
                      <a:pt x="33" y="10"/>
                    </a:cubicBezTo>
                    <a:cubicBezTo>
                      <a:pt x="33" y="10"/>
                      <a:pt x="40" y="9"/>
                      <a:pt x="43" y="13"/>
                    </a:cubicBezTo>
                    <a:cubicBezTo>
                      <a:pt x="46" y="17"/>
                      <a:pt x="45" y="24"/>
                      <a:pt x="43" y="28"/>
                    </a:cubicBezTo>
                    <a:cubicBezTo>
                      <a:pt x="41" y="34"/>
                      <a:pt x="41" y="34"/>
                      <a:pt x="41" y="34"/>
                    </a:cubicBezTo>
                    <a:cubicBezTo>
                      <a:pt x="47" y="34"/>
                      <a:pt x="47" y="34"/>
                      <a:pt x="47" y="34"/>
                    </a:cubicBezTo>
                    <a:cubicBezTo>
                      <a:pt x="50" y="34"/>
                      <a:pt x="51" y="36"/>
                      <a:pt x="52" y="37"/>
                    </a:cubicBezTo>
                    <a:cubicBezTo>
                      <a:pt x="54" y="39"/>
                      <a:pt x="55" y="42"/>
                      <a:pt x="55" y="45"/>
                    </a:cubicBezTo>
                    <a:cubicBezTo>
                      <a:pt x="55" y="48"/>
                      <a:pt x="53" y="53"/>
                      <a:pt x="47" y="53"/>
                    </a:cubicBezTo>
                    <a:cubicBezTo>
                      <a:pt x="44" y="53"/>
                      <a:pt x="44" y="53"/>
                      <a:pt x="44" y="53"/>
                    </a:cubicBezTo>
                    <a:cubicBezTo>
                      <a:pt x="42" y="60"/>
                      <a:pt x="42" y="60"/>
                      <a:pt x="42" y="60"/>
                    </a:cubicBezTo>
                    <a:cubicBezTo>
                      <a:pt x="40" y="67"/>
                      <a:pt x="38" y="72"/>
                      <a:pt x="34" y="74"/>
                    </a:cubicBezTo>
                    <a:cubicBezTo>
                      <a:pt x="31" y="75"/>
                      <a:pt x="25" y="74"/>
                      <a:pt x="17" y="70"/>
                    </a:cubicBezTo>
                    <a:cubicBezTo>
                      <a:pt x="16" y="69"/>
                      <a:pt x="6" y="59"/>
                      <a:pt x="6" y="59"/>
                    </a:cubicBezTo>
                    <a:cubicBezTo>
                      <a:pt x="0" y="65"/>
                      <a:pt x="0" y="65"/>
                      <a:pt x="0" y="65"/>
                    </a:cubicBezTo>
                    <a:cubicBezTo>
                      <a:pt x="12" y="78"/>
                      <a:pt x="12" y="78"/>
                      <a:pt x="12" y="78"/>
                    </a:cubicBezTo>
                    <a:cubicBezTo>
                      <a:pt x="13" y="78"/>
                      <a:pt x="13" y="78"/>
                      <a:pt x="13" y="78"/>
                    </a:cubicBezTo>
                    <a:cubicBezTo>
                      <a:pt x="24" y="83"/>
                      <a:pt x="32" y="84"/>
                      <a:pt x="38" y="82"/>
                    </a:cubicBezTo>
                    <a:cubicBezTo>
                      <a:pt x="45" y="79"/>
                      <a:pt x="47" y="71"/>
                      <a:pt x="50" y="63"/>
                    </a:cubicBezTo>
                    <a:cubicBezTo>
                      <a:pt x="50" y="63"/>
                      <a:pt x="50" y="62"/>
                      <a:pt x="51" y="61"/>
                    </a:cubicBezTo>
                    <a:cubicBezTo>
                      <a:pt x="58" y="59"/>
                      <a:pt x="63" y="53"/>
                      <a:pt x="63" y="45"/>
                    </a:cubicBezTo>
                    <a:cubicBezTo>
                      <a:pt x="63" y="37"/>
                      <a:pt x="59" y="29"/>
                      <a:pt x="52" y="27"/>
                    </a:cubicBezTo>
                    <a:cubicBezTo>
                      <a:pt x="53" y="24"/>
                      <a:pt x="53" y="22"/>
                      <a:pt x="53" y="20"/>
                    </a:cubicBezTo>
                    <a:cubicBezTo>
                      <a:pt x="53" y="15"/>
                      <a:pt x="52" y="11"/>
                      <a:pt x="50" y="8"/>
                    </a:cubicBezTo>
                    <a:cubicBezTo>
                      <a:pt x="44" y="0"/>
                      <a:pt x="32" y="1"/>
                      <a:pt x="3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82" name="Freeform 1857">
                <a:extLst>
                  <a:ext uri="{FF2B5EF4-FFF2-40B4-BE49-F238E27FC236}">
                    <a16:creationId xmlns:a16="http://schemas.microsoft.com/office/drawing/2014/main" id="{BD56AE03-8396-0BAC-A89C-D8F9E6AF4E67}"/>
                  </a:ext>
                </a:extLst>
              </p:cNvPr>
              <p:cNvSpPr>
                <a:spLocks/>
              </p:cNvSpPr>
              <p:nvPr/>
            </p:nvSpPr>
            <p:spPr bwMode="auto">
              <a:xfrm>
                <a:off x="3146" y="1995"/>
                <a:ext cx="18" cy="11"/>
              </a:xfrm>
              <a:custGeom>
                <a:avLst/>
                <a:gdLst>
                  <a:gd name="T0" fmla="*/ 64 w 84"/>
                  <a:gd name="T1" fmla="*/ 2 h 48"/>
                  <a:gd name="T2" fmla="*/ 51 w 84"/>
                  <a:gd name="T3" fmla="*/ 17 h 48"/>
                  <a:gd name="T4" fmla="*/ 37 w 84"/>
                  <a:gd name="T5" fmla="*/ 5 h 48"/>
                  <a:gd name="T6" fmla="*/ 21 w 84"/>
                  <a:gd name="T7" fmla="*/ 15 h 48"/>
                  <a:gd name="T8" fmla="*/ 21 w 84"/>
                  <a:gd name="T9" fmla="*/ 15 h 48"/>
                  <a:gd name="T10" fmla="*/ 10 w 84"/>
                  <a:gd name="T11" fmla="*/ 16 h 48"/>
                  <a:gd name="T12" fmla="*/ 3 w 84"/>
                  <a:gd name="T13" fmla="*/ 48 h 48"/>
                  <a:gd name="T14" fmla="*/ 11 w 84"/>
                  <a:gd name="T15" fmla="*/ 47 h 48"/>
                  <a:gd name="T16" fmla="*/ 15 w 84"/>
                  <a:gd name="T17" fmla="*/ 23 h 48"/>
                  <a:gd name="T18" fmla="*/ 21 w 84"/>
                  <a:gd name="T19" fmla="*/ 24 h 48"/>
                  <a:gd name="T20" fmla="*/ 24 w 84"/>
                  <a:gd name="T21" fmla="*/ 26 h 48"/>
                  <a:gd name="T22" fmla="*/ 28 w 84"/>
                  <a:gd name="T23" fmla="*/ 21 h 48"/>
                  <a:gd name="T24" fmla="*/ 36 w 84"/>
                  <a:gd name="T25" fmla="*/ 14 h 48"/>
                  <a:gd name="T26" fmla="*/ 49 w 84"/>
                  <a:gd name="T27" fmla="*/ 30 h 48"/>
                  <a:gd name="T28" fmla="*/ 55 w 84"/>
                  <a:gd name="T29" fmla="*/ 41 h 48"/>
                  <a:gd name="T30" fmla="*/ 57 w 84"/>
                  <a:gd name="T31" fmla="*/ 28 h 48"/>
                  <a:gd name="T32" fmla="*/ 67 w 84"/>
                  <a:gd name="T33" fmla="*/ 10 h 48"/>
                  <a:gd name="T34" fmla="*/ 78 w 84"/>
                  <a:gd name="T35" fmla="*/ 15 h 48"/>
                  <a:gd name="T36" fmla="*/ 84 w 84"/>
                  <a:gd name="T37" fmla="*/ 9 h 48"/>
                  <a:gd name="T38" fmla="*/ 64 w 84"/>
                  <a:gd name="T39" fmla="*/ 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4" h="48">
                    <a:moveTo>
                      <a:pt x="64" y="2"/>
                    </a:moveTo>
                    <a:cubicBezTo>
                      <a:pt x="57" y="4"/>
                      <a:pt x="54" y="11"/>
                      <a:pt x="51" y="17"/>
                    </a:cubicBezTo>
                    <a:cubicBezTo>
                      <a:pt x="46" y="9"/>
                      <a:pt x="41" y="5"/>
                      <a:pt x="37" y="5"/>
                    </a:cubicBezTo>
                    <a:cubicBezTo>
                      <a:pt x="30" y="4"/>
                      <a:pt x="26" y="10"/>
                      <a:pt x="21" y="15"/>
                    </a:cubicBezTo>
                    <a:cubicBezTo>
                      <a:pt x="21" y="15"/>
                      <a:pt x="21" y="15"/>
                      <a:pt x="21" y="15"/>
                    </a:cubicBezTo>
                    <a:cubicBezTo>
                      <a:pt x="16" y="14"/>
                      <a:pt x="12" y="15"/>
                      <a:pt x="10" y="16"/>
                    </a:cubicBezTo>
                    <a:cubicBezTo>
                      <a:pt x="0" y="23"/>
                      <a:pt x="2" y="44"/>
                      <a:pt x="3" y="48"/>
                    </a:cubicBezTo>
                    <a:cubicBezTo>
                      <a:pt x="11" y="47"/>
                      <a:pt x="11" y="47"/>
                      <a:pt x="11" y="47"/>
                    </a:cubicBezTo>
                    <a:cubicBezTo>
                      <a:pt x="10" y="39"/>
                      <a:pt x="11" y="26"/>
                      <a:pt x="15" y="23"/>
                    </a:cubicBezTo>
                    <a:cubicBezTo>
                      <a:pt x="16" y="22"/>
                      <a:pt x="18" y="23"/>
                      <a:pt x="21" y="24"/>
                    </a:cubicBezTo>
                    <a:cubicBezTo>
                      <a:pt x="24" y="26"/>
                      <a:pt x="24" y="26"/>
                      <a:pt x="24" y="26"/>
                    </a:cubicBezTo>
                    <a:cubicBezTo>
                      <a:pt x="28" y="21"/>
                      <a:pt x="28" y="21"/>
                      <a:pt x="28" y="21"/>
                    </a:cubicBezTo>
                    <a:cubicBezTo>
                      <a:pt x="31" y="17"/>
                      <a:pt x="34" y="13"/>
                      <a:pt x="36" y="14"/>
                    </a:cubicBezTo>
                    <a:cubicBezTo>
                      <a:pt x="37" y="14"/>
                      <a:pt x="41" y="15"/>
                      <a:pt x="49" y="30"/>
                    </a:cubicBezTo>
                    <a:cubicBezTo>
                      <a:pt x="55" y="41"/>
                      <a:pt x="55" y="41"/>
                      <a:pt x="55" y="41"/>
                    </a:cubicBezTo>
                    <a:cubicBezTo>
                      <a:pt x="57" y="28"/>
                      <a:pt x="57" y="28"/>
                      <a:pt x="57" y="28"/>
                    </a:cubicBezTo>
                    <a:cubicBezTo>
                      <a:pt x="58" y="24"/>
                      <a:pt x="61" y="12"/>
                      <a:pt x="67" y="10"/>
                    </a:cubicBezTo>
                    <a:cubicBezTo>
                      <a:pt x="70" y="9"/>
                      <a:pt x="75" y="12"/>
                      <a:pt x="78" y="15"/>
                    </a:cubicBezTo>
                    <a:cubicBezTo>
                      <a:pt x="84" y="9"/>
                      <a:pt x="84" y="9"/>
                      <a:pt x="84" y="9"/>
                    </a:cubicBezTo>
                    <a:cubicBezTo>
                      <a:pt x="77" y="2"/>
                      <a:pt x="70" y="0"/>
                      <a:pt x="6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83" name="Freeform 1858">
                <a:extLst>
                  <a:ext uri="{FF2B5EF4-FFF2-40B4-BE49-F238E27FC236}">
                    <a16:creationId xmlns:a16="http://schemas.microsoft.com/office/drawing/2014/main" id="{12524169-E848-7728-1205-612242498B7E}"/>
                  </a:ext>
                </a:extLst>
              </p:cNvPr>
              <p:cNvSpPr>
                <a:spLocks/>
              </p:cNvSpPr>
              <p:nvPr/>
            </p:nvSpPr>
            <p:spPr bwMode="auto">
              <a:xfrm>
                <a:off x="3166" y="2000"/>
                <a:ext cx="5" cy="8"/>
              </a:xfrm>
              <a:custGeom>
                <a:avLst/>
                <a:gdLst>
                  <a:gd name="T0" fmla="*/ 0 w 23"/>
                  <a:gd name="T1" fmla="*/ 9 h 34"/>
                  <a:gd name="T2" fmla="*/ 12 w 23"/>
                  <a:gd name="T3" fmla="*/ 16 h 34"/>
                  <a:gd name="T4" fmla="*/ 10 w 23"/>
                  <a:gd name="T5" fmla="*/ 30 h 34"/>
                  <a:gd name="T6" fmla="*/ 17 w 23"/>
                  <a:gd name="T7" fmla="*/ 34 h 34"/>
                  <a:gd name="T8" fmla="*/ 20 w 23"/>
                  <a:gd name="T9" fmla="*/ 12 h 34"/>
                  <a:gd name="T10" fmla="*/ 1 w 23"/>
                  <a:gd name="T11" fmla="*/ 0 h 34"/>
                  <a:gd name="T12" fmla="*/ 0 w 23"/>
                  <a:gd name="T13" fmla="*/ 9 h 34"/>
                </a:gdLst>
                <a:ahLst/>
                <a:cxnLst>
                  <a:cxn ang="0">
                    <a:pos x="T0" y="T1"/>
                  </a:cxn>
                  <a:cxn ang="0">
                    <a:pos x="T2" y="T3"/>
                  </a:cxn>
                  <a:cxn ang="0">
                    <a:pos x="T4" y="T5"/>
                  </a:cxn>
                  <a:cxn ang="0">
                    <a:pos x="T6" y="T7"/>
                  </a:cxn>
                  <a:cxn ang="0">
                    <a:pos x="T8" y="T9"/>
                  </a:cxn>
                  <a:cxn ang="0">
                    <a:pos x="T10" y="T11"/>
                  </a:cxn>
                  <a:cxn ang="0">
                    <a:pos x="T12" y="T13"/>
                  </a:cxn>
                </a:cxnLst>
                <a:rect l="0" t="0" r="r" b="b"/>
                <a:pathLst>
                  <a:path w="23" h="34">
                    <a:moveTo>
                      <a:pt x="0" y="9"/>
                    </a:moveTo>
                    <a:cubicBezTo>
                      <a:pt x="2" y="9"/>
                      <a:pt x="9" y="12"/>
                      <a:pt x="12" y="16"/>
                    </a:cubicBezTo>
                    <a:cubicBezTo>
                      <a:pt x="13" y="20"/>
                      <a:pt x="13" y="24"/>
                      <a:pt x="10" y="30"/>
                    </a:cubicBezTo>
                    <a:cubicBezTo>
                      <a:pt x="17" y="34"/>
                      <a:pt x="17" y="34"/>
                      <a:pt x="17" y="34"/>
                    </a:cubicBezTo>
                    <a:cubicBezTo>
                      <a:pt x="22" y="26"/>
                      <a:pt x="23" y="19"/>
                      <a:pt x="20" y="12"/>
                    </a:cubicBezTo>
                    <a:cubicBezTo>
                      <a:pt x="15" y="3"/>
                      <a:pt x="1" y="1"/>
                      <a:pt x="1" y="0"/>
                    </a:cubicBezTo>
                    <a:lnTo>
                      <a:pt x="0"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84" name="Freeform 1859">
                <a:extLst>
                  <a:ext uri="{FF2B5EF4-FFF2-40B4-BE49-F238E27FC236}">
                    <a16:creationId xmlns:a16="http://schemas.microsoft.com/office/drawing/2014/main" id="{B1EE531A-4BEE-CAB6-A4FE-565EEA8246E1}"/>
                  </a:ext>
                </a:extLst>
              </p:cNvPr>
              <p:cNvSpPr>
                <a:spLocks noEditPoints="1"/>
              </p:cNvSpPr>
              <p:nvPr/>
            </p:nvSpPr>
            <p:spPr bwMode="auto">
              <a:xfrm>
                <a:off x="3153" y="2005"/>
                <a:ext cx="10" cy="6"/>
              </a:xfrm>
              <a:custGeom>
                <a:avLst/>
                <a:gdLst>
                  <a:gd name="T0" fmla="*/ 8 w 46"/>
                  <a:gd name="T1" fmla="*/ 3 h 28"/>
                  <a:gd name="T2" fmla="*/ 0 w 46"/>
                  <a:gd name="T3" fmla="*/ 14 h 28"/>
                  <a:gd name="T4" fmla="*/ 23 w 46"/>
                  <a:gd name="T5" fmla="*/ 28 h 28"/>
                  <a:gd name="T6" fmla="*/ 46 w 46"/>
                  <a:gd name="T7" fmla="*/ 14 h 28"/>
                  <a:gd name="T8" fmla="*/ 38 w 46"/>
                  <a:gd name="T9" fmla="*/ 3 h 28"/>
                  <a:gd name="T10" fmla="*/ 23 w 46"/>
                  <a:gd name="T11" fmla="*/ 0 h 28"/>
                  <a:gd name="T12" fmla="*/ 8 w 46"/>
                  <a:gd name="T13" fmla="*/ 3 h 28"/>
                  <a:gd name="T14" fmla="*/ 9 w 46"/>
                  <a:gd name="T15" fmla="*/ 14 h 28"/>
                  <a:gd name="T16" fmla="*/ 12 w 46"/>
                  <a:gd name="T17" fmla="*/ 11 h 28"/>
                  <a:gd name="T18" fmla="*/ 23 w 46"/>
                  <a:gd name="T19" fmla="*/ 9 h 28"/>
                  <a:gd name="T20" fmla="*/ 34 w 46"/>
                  <a:gd name="T21" fmla="*/ 11 h 28"/>
                  <a:gd name="T22" fmla="*/ 37 w 46"/>
                  <a:gd name="T23" fmla="*/ 14 h 28"/>
                  <a:gd name="T24" fmla="*/ 23 w 46"/>
                  <a:gd name="T25" fmla="*/ 19 h 28"/>
                  <a:gd name="T26" fmla="*/ 9 w 46"/>
                  <a:gd name="T27"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6" h="28">
                    <a:moveTo>
                      <a:pt x="8" y="3"/>
                    </a:moveTo>
                    <a:cubicBezTo>
                      <a:pt x="3" y="6"/>
                      <a:pt x="0" y="10"/>
                      <a:pt x="0" y="14"/>
                    </a:cubicBezTo>
                    <a:cubicBezTo>
                      <a:pt x="0" y="22"/>
                      <a:pt x="10" y="28"/>
                      <a:pt x="23" y="28"/>
                    </a:cubicBezTo>
                    <a:cubicBezTo>
                      <a:pt x="36" y="28"/>
                      <a:pt x="46" y="22"/>
                      <a:pt x="46" y="14"/>
                    </a:cubicBezTo>
                    <a:cubicBezTo>
                      <a:pt x="46" y="10"/>
                      <a:pt x="43" y="6"/>
                      <a:pt x="38" y="3"/>
                    </a:cubicBezTo>
                    <a:cubicBezTo>
                      <a:pt x="34" y="1"/>
                      <a:pt x="29" y="0"/>
                      <a:pt x="23" y="0"/>
                    </a:cubicBezTo>
                    <a:cubicBezTo>
                      <a:pt x="18" y="0"/>
                      <a:pt x="12" y="1"/>
                      <a:pt x="8" y="3"/>
                    </a:cubicBezTo>
                    <a:close/>
                    <a:moveTo>
                      <a:pt x="9" y="14"/>
                    </a:moveTo>
                    <a:cubicBezTo>
                      <a:pt x="9" y="13"/>
                      <a:pt x="10" y="12"/>
                      <a:pt x="12" y="11"/>
                    </a:cubicBezTo>
                    <a:cubicBezTo>
                      <a:pt x="15" y="10"/>
                      <a:pt x="19" y="9"/>
                      <a:pt x="23" y="9"/>
                    </a:cubicBezTo>
                    <a:cubicBezTo>
                      <a:pt x="27" y="9"/>
                      <a:pt x="31" y="10"/>
                      <a:pt x="34" y="11"/>
                    </a:cubicBezTo>
                    <a:cubicBezTo>
                      <a:pt x="36" y="12"/>
                      <a:pt x="37" y="13"/>
                      <a:pt x="37" y="14"/>
                    </a:cubicBezTo>
                    <a:cubicBezTo>
                      <a:pt x="37" y="15"/>
                      <a:pt x="32" y="19"/>
                      <a:pt x="23" y="19"/>
                    </a:cubicBezTo>
                    <a:cubicBezTo>
                      <a:pt x="14" y="19"/>
                      <a:pt x="9" y="15"/>
                      <a:pt x="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85" name="Freeform 1860">
                <a:extLst>
                  <a:ext uri="{FF2B5EF4-FFF2-40B4-BE49-F238E27FC236}">
                    <a16:creationId xmlns:a16="http://schemas.microsoft.com/office/drawing/2014/main" id="{7898829E-AB3F-7F3C-E4E3-5F2CBFA6B843}"/>
                  </a:ext>
                </a:extLst>
              </p:cNvPr>
              <p:cNvSpPr>
                <a:spLocks/>
              </p:cNvSpPr>
              <p:nvPr/>
            </p:nvSpPr>
            <p:spPr bwMode="auto">
              <a:xfrm>
                <a:off x="3306" y="1995"/>
                <a:ext cx="17" cy="15"/>
              </a:xfrm>
              <a:custGeom>
                <a:avLst/>
                <a:gdLst>
                  <a:gd name="T0" fmla="*/ 6 w 76"/>
                  <a:gd name="T1" fmla="*/ 20 h 66"/>
                  <a:gd name="T2" fmla="*/ 26 w 76"/>
                  <a:gd name="T3" fmla="*/ 24 h 66"/>
                  <a:gd name="T4" fmla="*/ 22 w 76"/>
                  <a:gd name="T5" fmla="*/ 43 h 66"/>
                  <a:gd name="T6" fmla="*/ 38 w 76"/>
                  <a:gd name="T7" fmla="*/ 51 h 66"/>
                  <a:gd name="T8" fmla="*/ 39 w 76"/>
                  <a:gd name="T9" fmla="*/ 51 h 66"/>
                  <a:gd name="T10" fmla="*/ 45 w 76"/>
                  <a:gd name="T11" fmla="*/ 61 h 66"/>
                  <a:gd name="T12" fmla="*/ 76 w 76"/>
                  <a:gd name="T13" fmla="*/ 52 h 66"/>
                  <a:gd name="T14" fmla="*/ 71 w 76"/>
                  <a:gd name="T15" fmla="*/ 45 h 66"/>
                  <a:gd name="T16" fmla="*/ 49 w 76"/>
                  <a:gd name="T17" fmla="*/ 53 h 66"/>
                  <a:gd name="T18" fmla="*/ 47 w 76"/>
                  <a:gd name="T19" fmla="*/ 47 h 66"/>
                  <a:gd name="T20" fmla="*/ 46 w 76"/>
                  <a:gd name="T21" fmla="*/ 44 h 66"/>
                  <a:gd name="T22" fmla="*/ 40 w 76"/>
                  <a:gd name="T23" fmla="*/ 43 h 66"/>
                  <a:gd name="T24" fmla="*/ 30 w 76"/>
                  <a:gd name="T25" fmla="*/ 39 h 66"/>
                  <a:gd name="T26" fmla="*/ 38 w 76"/>
                  <a:gd name="T27" fmla="*/ 20 h 66"/>
                  <a:gd name="T28" fmla="*/ 44 w 76"/>
                  <a:gd name="T29" fmla="*/ 9 h 66"/>
                  <a:gd name="T30" fmla="*/ 33 w 76"/>
                  <a:gd name="T31" fmla="*/ 14 h 66"/>
                  <a:gd name="T32" fmla="*/ 12 w 76"/>
                  <a:gd name="T33" fmla="*/ 14 h 66"/>
                  <a:gd name="T34" fmla="*/ 11 w 76"/>
                  <a:gd name="T35" fmla="*/ 2 h 66"/>
                  <a:gd name="T36" fmla="*/ 2 w 76"/>
                  <a:gd name="T37" fmla="*/ 0 h 66"/>
                  <a:gd name="T38" fmla="*/ 6 w 76"/>
                  <a:gd name="T39" fmla="*/ 20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6" h="66">
                    <a:moveTo>
                      <a:pt x="6" y="20"/>
                    </a:moveTo>
                    <a:cubicBezTo>
                      <a:pt x="12" y="25"/>
                      <a:pt x="19" y="25"/>
                      <a:pt x="26" y="24"/>
                    </a:cubicBezTo>
                    <a:cubicBezTo>
                      <a:pt x="21" y="33"/>
                      <a:pt x="20" y="39"/>
                      <a:pt x="22" y="43"/>
                    </a:cubicBezTo>
                    <a:cubicBezTo>
                      <a:pt x="25" y="49"/>
                      <a:pt x="31" y="50"/>
                      <a:pt x="38" y="51"/>
                    </a:cubicBezTo>
                    <a:cubicBezTo>
                      <a:pt x="38" y="51"/>
                      <a:pt x="39" y="51"/>
                      <a:pt x="39" y="51"/>
                    </a:cubicBezTo>
                    <a:cubicBezTo>
                      <a:pt x="40" y="57"/>
                      <a:pt x="43" y="60"/>
                      <a:pt x="45" y="61"/>
                    </a:cubicBezTo>
                    <a:cubicBezTo>
                      <a:pt x="56" y="66"/>
                      <a:pt x="73" y="54"/>
                      <a:pt x="76" y="52"/>
                    </a:cubicBezTo>
                    <a:cubicBezTo>
                      <a:pt x="71" y="45"/>
                      <a:pt x="71" y="45"/>
                      <a:pt x="71" y="45"/>
                    </a:cubicBezTo>
                    <a:cubicBezTo>
                      <a:pt x="65" y="50"/>
                      <a:pt x="53" y="55"/>
                      <a:pt x="49" y="53"/>
                    </a:cubicBezTo>
                    <a:cubicBezTo>
                      <a:pt x="47" y="53"/>
                      <a:pt x="47" y="51"/>
                      <a:pt x="47" y="47"/>
                    </a:cubicBezTo>
                    <a:cubicBezTo>
                      <a:pt x="46" y="44"/>
                      <a:pt x="46" y="44"/>
                      <a:pt x="46" y="44"/>
                    </a:cubicBezTo>
                    <a:cubicBezTo>
                      <a:pt x="40" y="43"/>
                      <a:pt x="40" y="43"/>
                      <a:pt x="40" y="43"/>
                    </a:cubicBezTo>
                    <a:cubicBezTo>
                      <a:pt x="36" y="42"/>
                      <a:pt x="31" y="41"/>
                      <a:pt x="30" y="39"/>
                    </a:cubicBezTo>
                    <a:cubicBezTo>
                      <a:pt x="30" y="38"/>
                      <a:pt x="29" y="34"/>
                      <a:pt x="38" y="20"/>
                    </a:cubicBezTo>
                    <a:cubicBezTo>
                      <a:pt x="44" y="9"/>
                      <a:pt x="44" y="9"/>
                      <a:pt x="44" y="9"/>
                    </a:cubicBezTo>
                    <a:cubicBezTo>
                      <a:pt x="33" y="14"/>
                      <a:pt x="33" y="14"/>
                      <a:pt x="33" y="14"/>
                    </a:cubicBezTo>
                    <a:cubicBezTo>
                      <a:pt x="29" y="15"/>
                      <a:pt x="17" y="18"/>
                      <a:pt x="12" y="14"/>
                    </a:cubicBezTo>
                    <a:cubicBezTo>
                      <a:pt x="9" y="11"/>
                      <a:pt x="10" y="6"/>
                      <a:pt x="11" y="2"/>
                    </a:cubicBezTo>
                    <a:cubicBezTo>
                      <a:pt x="2" y="0"/>
                      <a:pt x="2" y="0"/>
                      <a:pt x="2" y="0"/>
                    </a:cubicBezTo>
                    <a:cubicBezTo>
                      <a:pt x="0" y="9"/>
                      <a:pt x="1" y="16"/>
                      <a:pt x="6"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86" name="Freeform 1861">
                <a:extLst>
                  <a:ext uri="{FF2B5EF4-FFF2-40B4-BE49-F238E27FC236}">
                    <a16:creationId xmlns:a16="http://schemas.microsoft.com/office/drawing/2014/main" id="{CCCCBFA5-1514-117D-A122-EB9C00624E50}"/>
                  </a:ext>
                </a:extLst>
              </p:cNvPr>
              <p:cNvSpPr>
                <a:spLocks noEditPoints="1"/>
              </p:cNvSpPr>
              <p:nvPr/>
            </p:nvSpPr>
            <p:spPr bwMode="auto">
              <a:xfrm>
                <a:off x="3315" y="1990"/>
                <a:ext cx="8" cy="10"/>
              </a:xfrm>
              <a:custGeom>
                <a:avLst/>
                <a:gdLst>
                  <a:gd name="T0" fmla="*/ 15 w 35"/>
                  <a:gd name="T1" fmla="*/ 42 h 46"/>
                  <a:gd name="T2" fmla="*/ 28 w 35"/>
                  <a:gd name="T3" fmla="*/ 44 h 46"/>
                  <a:gd name="T4" fmla="*/ 29 w 35"/>
                  <a:gd name="T5" fmla="*/ 17 h 46"/>
                  <a:gd name="T6" fmla="*/ 6 w 35"/>
                  <a:gd name="T7" fmla="*/ 4 h 46"/>
                  <a:gd name="T8" fmla="*/ 0 w 35"/>
                  <a:gd name="T9" fmla="*/ 16 h 46"/>
                  <a:gd name="T10" fmla="*/ 5 w 35"/>
                  <a:gd name="T11" fmla="*/ 31 h 46"/>
                  <a:gd name="T12" fmla="*/ 15 w 35"/>
                  <a:gd name="T13" fmla="*/ 42 h 46"/>
                  <a:gd name="T14" fmla="*/ 23 w 35"/>
                  <a:gd name="T15" fmla="*/ 36 h 46"/>
                  <a:gd name="T16" fmla="*/ 20 w 35"/>
                  <a:gd name="T17" fmla="*/ 35 h 46"/>
                  <a:gd name="T18" fmla="*/ 12 w 35"/>
                  <a:gd name="T19" fmla="*/ 26 h 46"/>
                  <a:gd name="T20" fmla="*/ 9 w 35"/>
                  <a:gd name="T21" fmla="*/ 16 h 46"/>
                  <a:gd name="T22" fmla="*/ 10 w 35"/>
                  <a:gd name="T23" fmla="*/ 12 h 46"/>
                  <a:gd name="T24" fmla="*/ 21 w 35"/>
                  <a:gd name="T25" fmla="*/ 21 h 46"/>
                  <a:gd name="T26" fmla="*/ 23 w 35"/>
                  <a:gd name="T27" fmla="*/ 36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 h="46">
                    <a:moveTo>
                      <a:pt x="15" y="42"/>
                    </a:moveTo>
                    <a:cubicBezTo>
                      <a:pt x="19" y="45"/>
                      <a:pt x="24" y="46"/>
                      <a:pt x="28" y="44"/>
                    </a:cubicBezTo>
                    <a:cubicBezTo>
                      <a:pt x="34" y="40"/>
                      <a:pt x="35" y="29"/>
                      <a:pt x="29" y="17"/>
                    </a:cubicBezTo>
                    <a:cubicBezTo>
                      <a:pt x="22" y="6"/>
                      <a:pt x="13" y="0"/>
                      <a:pt x="6" y="4"/>
                    </a:cubicBezTo>
                    <a:cubicBezTo>
                      <a:pt x="2" y="6"/>
                      <a:pt x="0" y="10"/>
                      <a:pt x="0" y="16"/>
                    </a:cubicBezTo>
                    <a:cubicBezTo>
                      <a:pt x="0" y="20"/>
                      <a:pt x="2" y="26"/>
                      <a:pt x="5" y="31"/>
                    </a:cubicBezTo>
                    <a:cubicBezTo>
                      <a:pt x="7" y="35"/>
                      <a:pt x="11" y="39"/>
                      <a:pt x="15" y="42"/>
                    </a:cubicBezTo>
                    <a:close/>
                    <a:moveTo>
                      <a:pt x="23" y="36"/>
                    </a:moveTo>
                    <a:cubicBezTo>
                      <a:pt x="23" y="36"/>
                      <a:pt x="22" y="36"/>
                      <a:pt x="20" y="35"/>
                    </a:cubicBezTo>
                    <a:cubicBezTo>
                      <a:pt x="17" y="33"/>
                      <a:pt x="14" y="30"/>
                      <a:pt x="12" y="26"/>
                    </a:cubicBezTo>
                    <a:cubicBezTo>
                      <a:pt x="10" y="23"/>
                      <a:pt x="9" y="19"/>
                      <a:pt x="9" y="16"/>
                    </a:cubicBezTo>
                    <a:cubicBezTo>
                      <a:pt x="9" y="13"/>
                      <a:pt x="10" y="12"/>
                      <a:pt x="10" y="12"/>
                    </a:cubicBezTo>
                    <a:cubicBezTo>
                      <a:pt x="11" y="11"/>
                      <a:pt x="17" y="13"/>
                      <a:pt x="21" y="21"/>
                    </a:cubicBezTo>
                    <a:cubicBezTo>
                      <a:pt x="26" y="29"/>
                      <a:pt x="25" y="35"/>
                      <a:pt x="23"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87" name="Freeform 1862">
                <a:extLst>
                  <a:ext uri="{FF2B5EF4-FFF2-40B4-BE49-F238E27FC236}">
                    <a16:creationId xmlns:a16="http://schemas.microsoft.com/office/drawing/2014/main" id="{312F4C60-3AC0-789A-05E0-89615C53F7B1}"/>
                  </a:ext>
                </a:extLst>
              </p:cNvPr>
              <p:cNvSpPr>
                <a:spLocks/>
              </p:cNvSpPr>
              <p:nvPr/>
            </p:nvSpPr>
            <p:spPr bwMode="auto">
              <a:xfrm>
                <a:off x="3284" y="1991"/>
                <a:ext cx="14" cy="17"/>
              </a:xfrm>
              <a:custGeom>
                <a:avLst/>
                <a:gdLst>
                  <a:gd name="T0" fmla="*/ 43 w 64"/>
                  <a:gd name="T1" fmla="*/ 6 h 77"/>
                  <a:gd name="T2" fmla="*/ 40 w 64"/>
                  <a:gd name="T3" fmla="*/ 26 h 77"/>
                  <a:gd name="T4" fmla="*/ 21 w 64"/>
                  <a:gd name="T5" fmla="*/ 23 h 77"/>
                  <a:gd name="T6" fmla="*/ 14 w 64"/>
                  <a:gd name="T7" fmla="*/ 39 h 77"/>
                  <a:gd name="T8" fmla="*/ 14 w 64"/>
                  <a:gd name="T9" fmla="*/ 40 h 77"/>
                  <a:gd name="T10" fmla="*/ 4 w 64"/>
                  <a:gd name="T11" fmla="*/ 46 h 77"/>
                  <a:gd name="T12" fmla="*/ 15 w 64"/>
                  <a:gd name="T13" fmla="*/ 77 h 77"/>
                  <a:gd name="T14" fmla="*/ 21 w 64"/>
                  <a:gd name="T15" fmla="*/ 72 h 77"/>
                  <a:gd name="T16" fmla="*/ 12 w 64"/>
                  <a:gd name="T17" fmla="*/ 50 h 77"/>
                  <a:gd name="T18" fmla="*/ 18 w 64"/>
                  <a:gd name="T19" fmla="*/ 47 h 77"/>
                  <a:gd name="T20" fmla="*/ 21 w 64"/>
                  <a:gd name="T21" fmla="*/ 47 h 77"/>
                  <a:gd name="T22" fmla="*/ 22 w 64"/>
                  <a:gd name="T23" fmla="*/ 41 h 77"/>
                  <a:gd name="T24" fmla="*/ 25 w 64"/>
                  <a:gd name="T25" fmla="*/ 31 h 77"/>
                  <a:gd name="T26" fmla="*/ 45 w 64"/>
                  <a:gd name="T27" fmla="*/ 38 h 77"/>
                  <a:gd name="T28" fmla="*/ 56 w 64"/>
                  <a:gd name="T29" fmla="*/ 44 h 77"/>
                  <a:gd name="T30" fmla="*/ 51 w 64"/>
                  <a:gd name="T31" fmla="*/ 32 h 77"/>
                  <a:gd name="T32" fmla="*/ 50 w 64"/>
                  <a:gd name="T33" fmla="*/ 12 h 77"/>
                  <a:gd name="T34" fmla="*/ 62 w 64"/>
                  <a:gd name="T35" fmla="*/ 10 h 77"/>
                  <a:gd name="T36" fmla="*/ 64 w 64"/>
                  <a:gd name="T37" fmla="*/ 1 h 77"/>
                  <a:gd name="T38" fmla="*/ 43 w 64"/>
                  <a:gd name="T39" fmla="*/ 6 h 7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64" h="77">
                    <a:moveTo>
                      <a:pt x="43" y="6"/>
                    </a:moveTo>
                    <a:cubicBezTo>
                      <a:pt x="39" y="12"/>
                      <a:pt x="39" y="19"/>
                      <a:pt x="40" y="26"/>
                    </a:cubicBezTo>
                    <a:cubicBezTo>
                      <a:pt x="32" y="22"/>
                      <a:pt x="26" y="21"/>
                      <a:pt x="21" y="23"/>
                    </a:cubicBezTo>
                    <a:cubicBezTo>
                      <a:pt x="16" y="26"/>
                      <a:pt x="15" y="32"/>
                      <a:pt x="14" y="39"/>
                    </a:cubicBezTo>
                    <a:cubicBezTo>
                      <a:pt x="14" y="39"/>
                      <a:pt x="14" y="40"/>
                      <a:pt x="14" y="40"/>
                    </a:cubicBezTo>
                    <a:cubicBezTo>
                      <a:pt x="8" y="41"/>
                      <a:pt x="5" y="44"/>
                      <a:pt x="4" y="46"/>
                    </a:cubicBezTo>
                    <a:cubicBezTo>
                      <a:pt x="0" y="57"/>
                      <a:pt x="12" y="74"/>
                      <a:pt x="15" y="77"/>
                    </a:cubicBezTo>
                    <a:cubicBezTo>
                      <a:pt x="21" y="72"/>
                      <a:pt x="21" y="72"/>
                      <a:pt x="21" y="72"/>
                    </a:cubicBezTo>
                    <a:cubicBezTo>
                      <a:pt x="17" y="66"/>
                      <a:pt x="10" y="54"/>
                      <a:pt x="12" y="50"/>
                    </a:cubicBezTo>
                    <a:cubicBezTo>
                      <a:pt x="13" y="48"/>
                      <a:pt x="15" y="48"/>
                      <a:pt x="18" y="47"/>
                    </a:cubicBezTo>
                    <a:cubicBezTo>
                      <a:pt x="21" y="47"/>
                      <a:pt x="21" y="47"/>
                      <a:pt x="21" y="47"/>
                    </a:cubicBezTo>
                    <a:cubicBezTo>
                      <a:pt x="22" y="41"/>
                      <a:pt x="22" y="41"/>
                      <a:pt x="22" y="41"/>
                    </a:cubicBezTo>
                    <a:cubicBezTo>
                      <a:pt x="23" y="36"/>
                      <a:pt x="24" y="31"/>
                      <a:pt x="25" y="31"/>
                    </a:cubicBezTo>
                    <a:cubicBezTo>
                      <a:pt x="26" y="30"/>
                      <a:pt x="31" y="30"/>
                      <a:pt x="45" y="38"/>
                    </a:cubicBezTo>
                    <a:cubicBezTo>
                      <a:pt x="56" y="44"/>
                      <a:pt x="56" y="44"/>
                      <a:pt x="56" y="44"/>
                    </a:cubicBezTo>
                    <a:cubicBezTo>
                      <a:pt x="51" y="32"/>
                      <a:pt x="51" y="32"/>
                      <a:pt x="51" y="32"/>
                    </a:cubicBezTo>
                    <a:cubicBezTo>
                      <a:pt x="50" y="28"/>
                      <a:pt x="46" y="16"/>
                      <a:pt x="50" y="12"/>
                    </a:cubicBezTo>
                    <a:cubicBezTo>
                      <a:pt x="52" y="9"/>
                      <a:pt x="58" y="9"/>
                      <a:pt x="62" y="10"/>
                    </a:cubicBezTo>
                    <a:cubicBezTo>
                      <a:pt x="64" y="1"/>
                      <a:pt x="64" y="1"/>
                      <a:pt x="64" y="1"/>
                    </a:cubicBezTo>
                    <a:cubicBezTo>
                      <a:pt x="54" y="0"/>
                      <a:pt x="47" y="1"/>
                      <a:pt x="43"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88" name="Freeform 1863">
                <a:extLst>
                  <a:ext uri="{FF2B5EF4-FFF2-40B4-BE49-F238E27FC236}">
                    <a16:creationId xmlns:a16="http://schemas.microsoft.com/office/drawing/2014/main" id="{4A75FEEA-73A7-A47F-2C5F-1674C22C4B6A}"/>
                  </a:ext>
                </a:extLst>
              </p:cNvPr>
              <p:cNvSpPr>
                <a:spLocks noEditPoints="1"/>
              </p:cNvSpPr>
              <p:nvPr/>
            </p:nvSpPr>
            <p:spPr bwMode="auto">
              <a:xfrm>
                <a:off x="3294" y="2000"/>
                <a:ext cx="10" cy="8"/>
              </a:xfrm>
              <a:custGeom>
                <a:avLst/>
                <a:gdLst>
                  <a:gd name="T0" fmla="*/ 4 w 45"/>
                  <a:gd name="T1" fmla="*/ 15 h 35"/>
                  <a:gd name="T2" fmla="*/ 2 w 45"/>
                  <a:gd name="T3" fmla="*/ 28 h 35"/>
                  <a:gd name="T4" fmla="*/ 29 w 45"/>
                  <a:gd name="T5" fmla="*/ 28 h 35"/>
                  <a:gd name="T6" fmla="*/ 41 w 45"/>
                  <a:gd name="T7" fmla="*/ 5 h 35"/>
                  <a:gd name="T8" fmla="*/ 29 w 45"/>
                  <a:gd name="T9" fmla="*/ 0 h 35"/>
                  <a:gd name="T10" fmla="*/ 15 w 45"/>
                  <a:gd name="T11" fmla="*/ 5 h 35"/>
                  <a:gd name="T12" fmla="*/ 4 w 45"/>
                  <a:gd name="T13" fmla="*/ 15 h 35"/>
                  <a:gd name="T14" fmla="*/ 10 w 45"/>
                  <a:gd name="T15" fmla="*/ 24 h 35"/>
                  <a:gd name="T16" fmla="*/ 11 w 45"/>
                  <a:gd name="T17" fmla="*/ 20 h 35"/>
                  <a:gd name="T18" fmla="*/ 19 w 45"/>
                  <a:gd name="T19" fmla="*/ 12 h 35"/>
                  <a:gd name="T20" fmla="*/ 30 w 45"/>
                  <a:gd name="T21" fmla="*/ 9 h 35"/>
                  <a:gd name="T22" fmla="*/ 34 w 45"/>
                  <a:gd name="T23" fmla="*/ 9 h 35"/>
                  <a:gd name="T24" fmla="*/ 24 w 45"/>
                  <a:gd name="T25" fmla="*/ 21 h 35"/>
                  <a:gd name="T26" fmla="*/ 10 w 45"/>
                  <a:gd name="T27" fmla="*/ 24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 h="35">
                    <a:moveTo>
                      <a:pt x="4" y="15"/>
                    </a:moveTo>
                    <a:cubicBezTo>
                      <a:pt x="1" y="20"/>
                      <a:pt x="0" y="25"/>
                      <a:pt x="2" y="28"/>
                    </a:cubicBezTo>
                    <a:cubicBezTo>
                      <a:pt x="7" y="35"/>
                      <a:pt x="18" y="35"/>
                      <a:pt x="29" y="28"/>
                    </a:cubicBezTo>
                    <a:cubicBezTo>
                      <a:pt x="40" y="22"/>
                      <a:pt x="45" y="12"/>
                      <a:pt x="41" y="5"/>
                    </a:cubicBezTo>
                    <a:cubicBezTo>
                      <a:pt x="39" y="1"/>
                      <a:pt x="35" y="0"/>
                      <a:pt x="29" y="0"/>
                    </a:cubicBezTo>
                    <a:cubicBezTo>
                      <a:pt x="25" y="0"/>
                      <a:pt x="20" y="2"/>
                      <a:pt x="15" y="5"/>
                    </a:cubicBezTo>
                    <a:cubicBezTo>
                      <a:pt x="10" y="8"/>
                      <a:pt x="6" y="12"/>
                      <a:pt x="4" y="15"/>
                    </a:cubicBezTo>
                    <a:close/>
                    <a:moveTo>
                      <a:pt x="10" y="24"/>
                    </a:moveTo>
                    <a:cubicBezTo>
                      <a:pt x="10" y="23"/>
                      <a:pt x="10" y="22"/>
                      <a:pt x="11" y="20"/>
                    </a:cubicBezTo>
                    <a:cubicBezTo>
                      <a:pt x="13" y="17"/>
                      <a:pt x="16" y="14"/>
                      <a:pt x="19" y="12"/>
                    </a:cubicBezTo>
                    <a:cubicBezTo>
                      <a:pt x="23" y="10"/>
                      <a:pt x="27" y="9"/>
                      <a:pt x="30" y="9"/>
                    </a:cubicBezTo>
                    <a:cubicBezTo>
                      <a:pt x="32" y="8"/>
                      <a:pt x="34" y="9"/>
                      <a:pt x="34" y="9"/>
                    </a:cubicBezTo>
                    <a:cubicBezTo>
                      <a:pt x="35" y="11"/>
                      <a:pt x="32" y="16"/>
                      <a:pt x="24" y="21"/>
                    </a:cubicBezTo>
                    <a:cubicBezTo>
                      <a:pt x="17" y="26"/>
                      <a:pt x="11" y="25"/>
                      <a:pt x="10"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89" name="Freeform 1864">
                <a:extLst>
                  <a:ext uri="{FF2B5EF4-FFF2-40B4-BE49-F238E27FC236}">
                    <a16:creationId xmlns:a16="http://schemas.microsoft.com/office/drawing/2014/main" id="{41BE1A2B-5F6F-CE6B-C4F9-095A9344C27A}"/>
                  </a:ext>
                </a:extLst>
              </p:cNvPr>
              <p:cNvSpPr>
                <a:spLocks noEditPoints="1"/>
              </p:cNvSpPr>
              <p:nvPr/>
            </p:nvSpPr>
            <p:spPr bwMode="auto">
              <a:xfrm>
                <a:off x="3173" y="1993"/>
                <a:ext cx="7" cy="5"/>
              </a:xfrm>
              <a:custGeom>
                <a:avLst/>
                <a:gdLst>
                  <a:gd name="T0" fmla="*/ 0 w 34"/>
                  <a:gd name="T1" fmla="*/ 13 h 25"/>
                  <a:gd name="T2" fmla="*/ 17 w 34"/>
                  <a:gd name="T3" fmla="*/ 25 h 25"/>
                  <a:gd name="T4" fmla="*/ 34 w 34"/>
                  <a:gd name="T5" fmla="*/ 13 h 25"/>
                  <a:gd name="T6" fmla="*/ 17 w 34"/>
                  <a:gd name="T7" fmla="*/ 0 h 25"/>
                  <a:gd name="T8" fmla="*/ 0 w 34"/>
                  <a:gd name="T9" fmla="*/ 13 h 25"/>
                  <a:gd name="T10" fmla="*/ 8 w 34"/>
                  <a:gd name="T11" fmla="*/ 13 h 25"/>
                  <a:gd name="T12" fmla="*/ 17 w 34"/>
                  <a:gd name="T13" fmla="*/ 8 h 25"/>
                  <a:gd name="T14" fmla="*/ 25 w 34"/>
                  <a:gd name="T15" fmla="*/ 13 h 25"/>
                  <a:gd name="T16" fmla="*/ 17 w 34"/>
                  <a:gd name="T17" fmla="*/ 17 h 25"/>
                  <a:gd name="T18" fmla="*/ 8 w 34"/>
                  <a:gd name="T19" fmla="*/ 13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4" h="25">
                    <a:moveTo>
                      <a:pt x="0" y="13"/>
                    </a:moveTo>
                    <a:cubicBezTo>
                      <a:pt x="0" y="20"/>
                      <a:pt x="7" y="25"/>
                      <a:pt x="17" y="25"/>
                    </a:cubicBezTo>
                    <a:cubicBezTo>
                      <a:pt x="26" y="25"/>
                      <a:pt x="34" y="20"/>
                      <a:pt x="34" y="13"/>
                    </a:cubicBezTo>
                    <a:cubicBezTo>
                      <a:pt x="34" y="5"/>
                      <a:pt x="26" y="0"/>
                      <a:pt x="17" y="0"/>
                    </a:cubicBezTo>
                    <a:cubicBezTo>
                      <a:pt x="7" y="0"/>
                      <a:pt x="0" y="5"/>
                      <a:pt x="0" y="13"/>
                    </a:cubicBezTo>
                    <a:close/>
                    <a:moveTo>
                      <a:pt x="8" y="13"/>
                    </a:moveTo>
                    <a:cubicBezTo>
                      <a:pt x="8" y="11"/>
                      <a:pt x="12" y="8"/>
                      <a:pt x="17" y="8"/>
                    </a:cubicBezTo>
                    <a:cubicBezTo>
                      <a:pt x="22" y="8"/>
                      <a:pt x="25" y="11"/>
                      <a:pt x="25" y="13"/>
                    </a:cubicBezTo>
                    <a:cubicBezTo>
                      <a:pt x="25" y="14"/>
                      <a:pt x="22" y="17"/>
                      <a:pt x="17" y="17"/>
                    </a:cubicBezTo>
                    <a:cubicBezTo>
                      <a:pt x="12" y="17"/>
                      <a:pt x="8" y="14"/>
                      <a:pt x="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90" name="Freeform 1865">
                <a:extLst>
                  <a:ext uri="{FF2B5EF4-FFF2-40B4-BE49-F238E27FC236}">
                    <a16:creationId xmlns:a16="http://schemas.microsoft.com/office/drawing/2014/main" id="{C4A8C932-3341-5E51-6982-B3A995C83DF4}"/>
                  </a:ext>
                </a:extLst>
              </p:cNvPr>
              <p:cNvSpPr>
                <a:spLocks noEditPoints="1"/>
              </p:cNvSpPr>
              <p:nvPr/>
            </p:nvSpPr>
            <p:spPr bwMode="auto">
              <a:xfrm>
                <a:off x="3180" y="1978"/>
                <a:ext cx="7" cy="11"/>
              </a:xfrm>
              <a:custGeom>
                <a:avLst/>
                <a:gdLst>
                  <a:gd name="T0" fmla="*/ 0 w 30"/>
                  <a:gd name="T1" fmla="*/ 24 h 47"/>
                  <a:gd name="T2" fmla="*/ 15 w 30"/>
                  <a:gd name="T3" fmla="*/ 47 h 47"/>
                  <a:gd name="T4" fmla="*/ 30 w 30"/>
                  <a:gd name="T5" fmla="*/ 24 h 47"/>
                  <a:gd name="T6" fmla="*/ 15 w 30"/>
                  <a:gd name="T7" fmla="*/ 0 h 47"/>
                  <a:gd name="T8" fmla="*/ 0 w 30"/>
                  <a:gd name="T9" fmla="*/ 24 h 47"/>
                  <a:gd name="T10" fmla="*/ 9 w 30"/>
                  <a:gd name="T11" fmla="*/ 24 h 47"/>
                  <a:gd name="T12" fmla="*/ 15 w 30"/>
                  <a:gd name="T13" fmla="*/ 9 h 47"/>
                  <a:gd name="T14" fmla="*/ 21 w 30"/>
                  <a:gd name="T15" fmla="*/ 24 h 47"/>
                  <a:gd name="T16" fmla="*/ 15 w 30"/>
                  <a:gd name="T17" fmla="*/ 39 h 47"/>
                  <a:gd name="T18" fmla="*/ 9 w 30"/>
                  <a:gd name="T19" fmla="*/ 24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47">
                    <a:moveTo>
                      <a:pt x="0" y="24"/>
                    </a:moveTo>
                    <a:cubicBezTo>
                      <a:pt x="0" y="37"/>
                      <a:pt x="7" y="47"/>
                      <a:pt x="15" y="47"/>
                    </a:cubicBezTo>
                    <a:cubicBezTo>
                      <a:pt x="23" y="47"/>
                      <a:pt x="30" y="37"/>
                      <a:pt x="30" y="24"/>
                    </a:cubicBezTo>
                    <a:cubicBezTo>
                      <a:pt x="30" y="10"/>
                      <a:pt x="23" y="0"/>
                      <a:pt x="15" y="0"/>
                    </a:cubicBezTo>
                    <a:cubicBezTo>
                      <a:pt x="7" y="0"/>
                      <a:pt x="0" y="10"/>
                      <a:pt x="0" y="24"/>
                    </a:cubicBezTo>
                    <a:close/>
                    <a:moveTo>
                      <a:pt x="9" y="24"/>
                    </a:moveTo>
                    <a:cubicBezTo>
                      <a:pt x="9" y="14"/>
                      <a:pt x="13" y="9"/>
                      <a:pt x="15" y="9"/>
                    </a:cubicBezTo>
                    <a:cubicBezTo>
                      <a:pt x="17" y="9"/>
                      <a:pt x="21" y="14"/>
                      <a:pt x="21" y="24"/>
                    </a:cubicBezTo>
                    <a:cubicBezTo>
                      <a:pt x="21" y="33"/>
                      <a:pt x="17" y="39"/>
                      <a:pt x="15" y="39"/>
                    </a:cubicBezTo>
                    <a:cubicBezTo>
                      <a:pt x="13" y="39"/>
                      <a:pt x="9" y="33"/>
                      <a:pt x="9"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91" name="Freeform 1866">
                <a:extLst>
                  <a:ext uri="{FF2B5EF4-FFF2-40B4-BE49-F238E27FC236}">
                    <a16:creationId xmlns:a16="http://schemas.microsoft.com/office/drawing/2014/main" id="{2B193B2E-E301-4170-9B98-4170A20C8CB3}"/>
                  </a:ext>
                </a:extLst>
              </p:cNvPr>
              <p:cNvSpPr>
                <a:spLocks noEditPoints="1"/>
              </p:cNvSpPr>
              <p:nvPr/>
            </p:nvSpPr>
            <p:spPr bwMode="auto">
              <a:xfrm>
                <a:off x="3193" y="1967"/>
                <a:ext cx="9" cy="6"/>
              </a:xfrm>
              <a:custGeom>
                <a:avLst/>
                <a:gdLst>
                  <a:gd name="T0" fmla="*/ 0 w 41"/>
                  <a:gd name="T1" fmla="*/ 13 h 26"/>
                  <a:gd name="T2" fmla="*/ 21 w 41"/>
                  <a:gd name="T3" fmla="*/ 26 h 26"/>
                  <a:gd name="T4" fmla="*/ 41 w 41"/>
                  <a:gd name="T5" fmla="*/ 13 h 26"/>
                  <a:gd name="T6" fmla="*/ 21 w 41"/>
                  <a:gd name="T7" fmla="*/ 0 h 26"/>
                  <a:gd name="T8" fmla="*/ 0 w 41"/>
                  <a:gd name="T9" fmla="*/ 13 h 26"/>
                  <a:gd name="T10" fmla="*/ 8 w 41"/>
                  <a:gd name="T11" fmla="*/ 13 h 26"/>
                  <a:gd name="T12" fmla="*/ 21 w 41"/>
                  <a:gd name="T13" fmla="*/ 9 h 26"/>
                  <a:gd name="T14" fmla="*/ 33 w 41"/>
                  <a:gd name="T15" fmla="*/ 13 h 26"/>
                  <a:gd name="T16" fmla="*/ 21 w 41"/>
                  <a:gd name="T17" fmla="*/ 17 h 26"/>
                  <a:gd name="T18" fmla="*/ 8 w 41"/>
                  <a:gd name="T19"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1" h="26">
                    <a:moveTo>
                      <a:pt x="0" y="13"/>
                    </a:moveTo>
                    <a:cubicBezTo>
                      <a:pt x="0" y="20"/>
                      <a:pt x="9" y="26"/>
                      <a:pt x="21" y="26"/>
                    </a:cubicBezTo>
                    <a:cubicBezTo>
                      <a:pt x="32" y="26"/>
                      <a:pt x="41" y="20"/>
                      <a:pt x="41" y="13"/>
                    </a:cubicBezTo>
                    <a:cubicBezTo>
                      <a:pt x="41" y="6"/>
                      <a:pt x="32" y="0"/>
                      <a:pt x="21" y="0"/>
                    </a:cubicBezTo>
                    <a:cubicBezTo>
                      <a:pt x="9" y="0"/>
                      <a:pt x="0" y="6"/>
                      <a:pt x="0" y="13"/>
                    </a:cubicBezTo>
                    <a:close/>
                    <a:moveTo>
                      <a:pt x="8" y="13"/>
                    </a:moveTo>
                    <a:cubicBezTo>
                      <a:pt x="8" y="12"/>
                      <a:pt x="13" y="9"/>
                      <a:pt x="21" y="9"/>
                    </a:cubicBezTo>
                    <a:cubicBezTo>
                      <a:pt x="28" y="9"/>
                      <a:pt x="33" y="12"/>
                      <a:pt x="33" y="13"/>
                    </a:cubicBezTo>
                    <a:cubicBezTo>
                      <a:pt x="33" y="14"/>
                      <a:pt x="28" y="17"/>
                      <a:pt x="21" y="17"/>
                    </a:cubicBezTo>
                    <a:cubicBezTo>
                      <a:pt x="13" y="17"/>
                      <a:pt x="8" y="14"/>
                      <a:pt x="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92" name="Freeform 1867">
                <a:extLst>
                  <a:ext uri="{FF2B5EF4-FFF2-40B4-BE49-F238E27FC236}">
                    <a16:creationId xmlns:a16="http://schemas.microsoft.com/office/drawing/2014/main" id="{DD816B6B-1C40-2B2D-845F-E14C9C44322D}"/>
                  </a:ext>
                </a:extLst>
              </p:cNvPr>
              <p:cNvSpPr>
                <a:spLocks/>
              </p:cNvSpPr>
              <p:nvPr/>
            </p:nvSpPr>
            <p:spPr bwMode="auto">
              <a:xfrm>
                <a:off x="3241" y="2017"/>
                <a:ext cx="23" cy="9"/>
              </a:xfrm>
              <a:custGeom>
                <a:avLst/>
                <a:gdLst>
                  <a:gd name="T0" fmla="*/ 42 w 107"/>
                  <a:gd name="T1" fmla="*/ 15 h 39"/>
                  <a:gd name="T2" fmla="*/ 29 w 107"/>
                  <a:gd name="T3" fmla="*/ 3 h 39"/>
                  <a:gd name="T4" fmla="*/ 0 w 107"/>
                  <a:gd name="T5" fmla="*/ 21 h 39"/>
                  <a:gd name="T6" fmla="*/ 7 w 107"/>
                  <a:gd name="T7" fmla="*/ 26 h 39"/>
                  <a:gd name="T8" fmla="*/ 27 w 107"/>
                  <a:gd name="T9" fmla="*/ 11 h 39"/>
                  <a:gd name="T10" fmla="*/ 37 w 107"/>
                  <a:gd name="T11" fmla="*/ 27 h 39"/>
                  <a:gd name="T12" fmla="*/ 40 w 107"/>
                  <a:gd name="T13" fmla="*/ 39 h 39"/>
                  <a:gd name="T14" fmla="*/ 45 w 107"/>
                  <a:gd name="T15" fmla="*/ 28 h 39"/>
                  <a:gd name="T16" fmla="*/ 57 w 107"/>
                  <a:gd name="T17" fmla="*/ 11 h 39"/>
                  <a:gd name="T18" fmla="*/ 67 w 107"/>
                  <a:gd name="T19" fmla="*/ 24 h 39"/>
                  <a:gd name="T20" fmla="*/ 70 w 107"/>
                  <a:gd name="T21" fmla="*/ 31 h 39"/>
                  <a:gd name="T22" fmla="*/ 75 w 107"/>
                  <a:gd name="T23" fmla="*/ 24 h 39"/>
                  <a:gd name="T24" fmla="*/ 90 w 107"/>
                  <a:gd name="T25" fmla="*/ 12 h 39"/>
                  <a:gd name="T26" fmla="*/ 99 w 107"/>
                  <a:gd name="T27" fmla="*/ 23 h 39"/>
                  <a:gd name="T28" fmla="*/ 107 w 107"/>
                  <a:gd name="T29" fmla="*/ 20 h 39"/>
                  <a:gd name="T30" fmla="*/ 91 w 107"/>
                  <a:gd name="T31" fmla="*/ 3 h 39"/>
                  <a:gd name="T32" fmla="*/ 72 w 107"/>
                  <a:gd name="T33" fmla="*/ 14 h 39"/>
                  <a:gd name="T34" fmla="*/ 57 w 107"/>
                  <a:gd name="T35" fmla="*/ 3 h 39"/>
                  <a:gd name="T36" fmla="*/ 42 w 107"/>
                  <a:gd name="T37" fmla="*/ 15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07" h="39">
                    <a:moveTo>
                      <a:pt x="42" y="15"/>
                    </a:moveTo>
                    <a:cubicBezTo>
                      <a:pt x="38" y="8"/>
                      <a:pt x="34" y="4"/>
                      <a:pt x="29" y="3"/>
                    </a:cubicBezTo>
                    <a:cubicBezTo>
                      <a:pt x="15" y="0"/>
                      <a:pt x="1" y="19"/>
                      <a:pt x="0" y="21"/>
                    </a:cubicBezTo>
                    <a:cubicBezTo>
                      <a:pt x="7" y="26"/>
                      <a:pt x="7" y="26"/>
                      <a:pt x="7" y="26"/>
                    </a:cubicBezTo>
                    <a:cubicBezTo>
                      <a:pt x="11" y="21"/>
                      <a:pt x="21" y="10"/>
                      <a:pt x="27" y="11"/>
                    </a:cubicBezTo>
                    <a:cubicBezTo>
                      <a:pt x="31" y="12"/>
                      <a:pt x="34" y="18"/>
                      <a:pt x="37" y="27"/>
                    </a:cubicBezTo>
                    <a:cubicBezTo>
                      <a:pt x="40" y="39"/>
                      <a:pt x="40" y="39"/>
                      <a:pt x="40" y="39"/>
                    </a:cubicBezTo>
                    <a:cubicBezTo>
                      <a:pt x="45" y="28"/>
                      <a:pt x="45" y="28"/>
                      <a:pt x="45" y="28"/>
                    </a:cubicBezTo>
                    <a:cubicBezTo>
                      <a:pt x="52" y="13"/>
                      <a:pt x="55" y="11"/>
                      <a:pt x="57" y="11"/>
                    </a:cubicBezTo>
                    <a:cubicBezTo>
                      <a:pt x="59" y="11"/>
                      <a:pt x="63" y="14"/>
                      <a:pt x="67" y="24"/>
                    </a:cubicBezTo>
                    <a:cubicBezTo>
                      <a:pt x="70" y="31"/>
                      <a:pt x="70" y="31"/>
                      <a:pt x="70" y="31"/>
                    </a:cubicBezTo>
                    <a:cubicBezTo>
                      <a:pt x="75" y="24"/>
                      <a:pt x="75" y="24"/>
                      <a:pt x="75" y="24"/>
                    </a:cubicBezTo>
                    <a:cubicBezTo>
                      <a:pt x="80" y="16"/>
                      <a:pt x="86" y="11"/>
                      <a:pt x="90" y="12"/>
                    </a:cubicBezTo>
                    <a:cubicBezTo>
                      <a:pt x="93" y="12"/>
                      <a:pt x="96" y="16"/>
                      <a:pt x="99" y="23"/>
                    </a:cubicBezTo>
                    <a:cubicBezTo>
                      <a:pt x="107" y="20"/>
                      <a:pt x="107" y="20"/>
                      <a:pt x="107" y="20"/>
                    </a:cubicBezTo>
                    <a:cubicBezTo>
                      <a:pt x="103" y="10"/>
                      <a:pt x="98" y="4"/>
                      <a:pt x="91" y="3"/>
                    </a:cubicBezTo>
                    <a:cubicBezTo>
                      <a:pt x="83" y="2"/>
                      <a:pt x="77" y="8"/>
                      <a:pt x="72" y="14"/>
                    </a:cubicBezTo>
                    <a:cubicBezTo>
                      <a:pt x="68" y="8"/>
                      <a:pt x="63" y="3"/>
                      <a:pt x="57" y="3"/>
                    </a:cubicBezTo>
                    <a:cubicBezTo>
                      <a:pt x="51" y="2"/>
                      <a:pt x="46" y="8"/>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93" name="Freeform 1868">
                <a:extLst>
                  <a:ext uri="{FF2B5EF4-FFF2-40B4-BE49-F238E27FC236}">
                    <a16:creationId xmlns:a16="http://schemas.microsoft.com/office/drawing/2014/main" id="{740F8A0D-0588-9651-2DE0-BFAC114A9A3D}"/>
                  </a:ext>
                </a:extLst>
              </p:cNvPr>
              <p:cNvSpPr>
                <a:spLocks/>
              </p:cNvSpPr>
              <p:nvPr/>
            </p:nvSpPr>
            <p:spPr bwMode="auto">
              <a:xfrm>
                <a:off x="3238" y="2028"/>
                <a:ext cx="27" cy="8"/>
              </a:xfrm>
              <a:custGeom>
                <a:avLst/>
                <a:gdLst>
                  <a:gd name="T0" fmla="*/ 37 w 124"/>
                  <a:gd name="T1" fmla="*/ 9 h 36"/>
                  <a:gd name="T2" fmla="*/ 25 w 124"/>
                  <a:gd name="T3" fmla="*/ 25 h 36"/>
                  <a:gd name="T4" fmla="*/ 7 w 124"/>
                  <a:gd name="T5" fmla="*/ 15 h 36"/>
                  <a:gd name="T6" fmla="*/ 0 w 124"/>
                  <a:gd name="T7" fmla="*/ 20 h 36"/>
                  <a:gd name="T8" fmla="*/ 27 w 124"/>
                  <a:gd name="T9" fmla="*/ 34 h 36"/>
                  <a:gd name="T10" fmla="*/ 42 w 124"/>
                  <a:gd name="T11" fmla="*/ 20 h 36"/>
                  <a:gd name="T12" fmla="*/ 59 w 124"/>
                  <a:gd name="T13" fmla="*/ 29 h 36"/>
                  <a:gd name="T14" fmla="*/ 75 w 124"/>
                  <a:gd name="T15" fmla="*/ 20 h 36"/>
                  <a:gd name="T16" fmla="*/ 104 w 124"/>
                  <a:gd name="T17" fmla="*/ 33 h 36"/>
                  <a:gd name="T18" fmla="*/ 124 w 124"/>
                  <a:gd name="T19" fmla="*/ 16 h 36"/>
                  <a:gd name="T20" fmla="*/ 116 w 124"/>
                  <a:gd name="T21" fmla="*/ 13 h 36"/>
                  <a:gd name="T22" fmla="*/ 103 w 124"/>
                  <a:gd name="T23" fmla="*/ 24 h 36"/>
                  <a:gd name="T24" fmla="*/ 78 w 124"/>
                  <a:gd name="T25" fmla="*/ 11 h 36"/>
                  <a:gd name="T26" fmla="*/ 74 w 124"/>
                  <a:gd name="T27" fmla="*/ 6 h 36"/>
                  <a:gd name="T28" fmla="*/ 71 w 124"/>
                  <a:gd name="T29" fmla="*/ 12 h 36"/>
                  <a:gd name="T30" fmla="*/ 59 w 124"/>
                  <a:gd name="T31" fmla="*/ 20 h 36"/>
                  <a:gd name="T32" fmla="*/ 45 w 124"/>
                  <a:gd name="T33" fmla="*/ 9 h 36"/>
                  <a:gd name="T34" fmla="*/ 40 w 124"/>
                  <a:gd name="T35" fmla="*/ 0 h 36"/>
                  <a:gd name="T36" fmla="*/ 37 w 124"/>
                  <a:gd name="T37" fmla="*/ 9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24" h="36">
                    <a:moveTo>
                      <a:pt x="37" y="9"/>
                    </a:moveTo>
                    <a:cubicBezTo>
                      <a:pt x="35" y="16"/>
                      <a:pt x="31" y="24"/>
                      <a:pt x="25" y="25"/>
                    </a:cubicBezTo>
                    <a:cubicBezTo>
                      <a:pt x="18" y="27"/>
                      <a:pt x="9" y="18"/>
                      <a:pt x="7" y="15"/>
                    </a:cubicBezTo>
                    <a:cubicBezTo>
                      <a:pt x="0" y="20"/>
                      <a:pt x="0" y="20"/>
                      <a:pt x="0" y="20"/>
                    </a:cubicBezTo>
                    <a:cubicBezTo>
                      <a:pt x="1" y="22"/>
                      <a:pt x="13" y="36"/>
                      <a:pt x="27" y="34"/>
                    </a:cubicBezTo>
                    <a:cubicBezTo>
                      <a:pt x="33" y="33"/>
                      <a:pt x="38" y="28"/>
                      <a:pt x="42" y="20"/>
                    </a:cubicBezTo>
                    <a:cubicBezTo>
                      <a:pt x="49" y="28"/>
                      <a:pt x="55" y="29"/>
                      <a:pt x="59" y="29"/>
                    </a:cubicBezTo>
                    <a:cubicBezTo>
                      <a:pt x="65" y="29"/>
                      <a:pt x="71" y="25"/>
                      <a:pt x="75" y="20"/>
                    </a:cubicBezTo>
                    <a:cubicBezTo>
                      <a:pt x="84" y="29"/>
                      <a:pt x="95" y="34"/>
                      <a:pt x="104" y="33"/>
                    </a:cubicBezTo>
                    <a:cubicBezTo>
                      <a:pt x="110" y="32"/>
                      <a:pt x="118" y="28"/>
                      <a:pt x="124" y="16"/>
                    </a:cubicBezTo>
                    <a:cubicBezTo>
                      <a:pt x="116" y="13"/>
                      <a:pt x="116" y="13"/>
                      <a:pt x="116" y="13"/>
                    </a:cubicBezTo>
                    <a:cubicBezTo>
                      <a:pt x="113" y="19"/>
                      <a:pt x="108" y="23"/>
                      <a:pt x="103" y="24"/>
                    </a:cubicBezTo>
                    <a:cubicBezTo>
                      <a:pt x="95" y="25"/>
                      <a:pt x="86" y="20"/>
                      <a:pt x="78" y="11"/>
                    </a:cubicBezTo>
                    <a:cubicBezTo>
                      <a:pt x="74" y="6"/>
                      <a:pt x="74" y="6"/>
                      <a:pt x="74" y="6"/>
                    </a:cubicBezTo>
                    <a:cubicBezTo>
                      <a:pt x="71" y="12"/>
                      <a:pt x="71" y="12"/>
                      <a:pt x="71" y="12"/>
                    </a:cubicBezTo>
                    <a:cubicBezTo>
                      <a:pt x="68" y="17"/>
                      <a:pt x="64" y="20"/>
                      <a:pt x="59" y="20"/>
                    </a:cubicBezTo>
                    <a:cubicBezTo>
                      <a:pt x="54" y="21"/>
                      <a:pt x="49" y="16"/>
                      <a:pt x="45" y="9"/>
                    </a:cubicBezTo>
                    <a:cubicBezTo>
                      <a:pt x="40" y="0"/>
                      <a:pt x="40" y="0"/>
                      <a:pt x="40" y="0"/>
                    </a:cubicBezTo>
                    <a:lnTo>
                      <a:pt x="37"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94" name="Freeform 1869">
                <a:extLst>
                  <a:ext uri="{FF2B5EF4-FFF2-40B4-BE49-F238E27FC236}">
                    <a16:creationId xmlns:a16="http://schemas.microsoft.com/office/drawing/2014/main" id="{6E5F2EE7-5373-3813-8577-DE6E5A86B559}"/>
                  </a:ext>
                </a:extLst>
              </p:cNvPr>
              <p:cNvSpPr>
                <a:spLocks/>
              </p:cNvSpPr>
              <p:nvPr/>
            </p:nvSpPr>
            <p:spPr bwMode="auto">
              <a:xfrm>
                <a:off x="3349" y="2017"/>
                <a:ext cx="18" cy="17"/>
              </a:xfrm>
              <a:custGeom>
                <a:avLst/>
                <a:gdLst>
                  <a:gd name="T0" fmla="*/ 48 w 82"/>
                  <a:gd name="T1" fmla="*/ 49 h 79"/>
                  <a:gd name="T2" fmla="*/ 48 w 82"/>
                  <a:gd name="T3" fmla="*/ 67 h 79"/>
                  <a:gd name="T4" fmla="*/ 82 w 82"/>
                  <a:gd name="T5" fmla="*/ 74 h 79"/>
                  <a:gd name="T6" fmla="*/ 80 w 82"/>
                  <a:gd name="T7" fmla="*/ 66 h 79"/>
                  <a:gd name="T8" fmla="*/ 56 w 82"/>
                  <a:gd name="T9" fmla="*/ 62 h 79"/>
                  <a:gd name="T10" fmla="*/ 60 w 82"/>
                  <a:gd name="T11" fmla="*/ 44 h 79"/>
                  <a:gd name="T12" fmla="*/ 66 w 82"/>
                  <a:gd name="T13" fmla="*/ 34 h 79"/>
                  <a:gd name="T14" fmla="*/ 55 w 82"/>
                  <a:gd name="T15" fmla="*/ 38 h 79"/>
                  <a:gd name="T16" fmla="*/ 34 w 82"/>
                  <a:gd name="T17" fmla="*/ 41 h 79"/>
                  <a:gd name="T18" fmla="*/ 36 w 82"/>
                  <a:gd name="T19" fmla="*/ 25 h 79"/>
                  <a:gd name="T20" fmla="*/ 39 w 82"/>
                  <a:gd name="T21" fmla="*/ 18 h 79"/>
                  <a:gd name="T22" fmla="*/ 31 w 82"/>
                  <a:gd name="T23" fmla="*/ 19 h 79"/>
                  <a:gd name="T24" fmla="*/ 11 w 82"/>
                  <a:gd name="T25" fmla="*/ 17 h 79"/>
                  <a:gd name="T26" fmla="*/ 13 w 82"/>
                  <a:gd name="T27" fmla="*/ 3 h 79"/>
                  <a:gd name="T28" fmla="*/ 5 w 82"/>
                  <a:gd name="T29" fmla="*/ 0 h 79"/>
                  <a:gd name="T30" fmla="*/ 5 w 82"/>
                  <a:gd name="T31" fmla="*/ 23 h 79"/>
                  <a:gd name="T32" fmla="*/ 26 w 82"/>
                  <a:gd name="T33" fmla="*/ 29 h 79"/>
                  <a:gd name="T34" fmla="*/ 28 w 82"/>
                  <a:gd name="T35" fmla="*/ 47 h 79"/>
                  <a:gd name="T36" fmla="*/ 48 w 82"/>
                  <a:gd name="T37" fmla="*/ 49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2" h="79">
                    <a:moveTo>
                      <a:pt x="48" y="49"/>
                    </a:moveTo>
                    <a:cubicBezTo>
                      <a:pt x="45" y="56"/>
                      <a:pt x="45" y="63"/>
                      <a:pt x="48" y="67"/>
                    </a:cubicBezTo>
                    <a:cubicBezTo>
                      <a:pt x="56" y="79"/>
                      <a:pt x="79" y="75"/>
                      <a:pt x="82" y="74"/>
                    </a:cubicBezTo>
                    <a:cubicBezTo>
                      <a:pt x="80" y="66"/>
                      <a:pt x="80" y="66"/>
                      <a:pt x="80" y="66"/>
                    </a:cubicBezTo>
                    <a:cubicBezTo>
                      <a:pt x="74" y="67"/>
                      <a:pt x="59" y="68"/>
                      <a:pt x="56" y="62"/>
                    </a:cubicBezTo>
                    <a:cubicBezTo>
                      <a:pt x="53" y="59"/>
                      <a:pt x="55" y="53"/>
                      <a:pt x="60" y="44"/>
                    </a:cubicBezTo>
                    <a:cubicBezTo>
                      <a:pt x="66" y="34"/>
                      <a:pt x="66" y="34"/>
                      <a:pt x="66" y="34"/>
                    </a:cubicBezTo>
                    <a:cubicBezTo>
                      <a:pt x="55" y="38"/>
                      <a:pt x="55" y="38"/>
                      <a:pt x="55" y="38"/>
                    </a:cubicBezTo>
                    <a:cubicBezTo>
                      <a:pt x="40" y="43"/>
                      <a:pt x="35" y="42"/>
                      <a:pt x="34" y="41"/>
                    </a:cubicBezTo>
                    <a:cubicBezTo>
                      <a:pt x="33" y="40"/>
                      <a:pt x="33" y="35"/>
                      <a:pt x="36" y="25"/>
                    </a:cubicBezTo>
                    <a:cubicBezTo>
                      <a:pt x="39" y="18"/>
                      <a:pt x="39" y="18"/>
                      <a:pt x="39" y="18"/>
                    </a:cubicBezTo>
                    <a:cubicBezTo>
                      <a:pt x="31" y="19"/>
                      <a:pt x="31" y="19"/>
                      <a:pt x="31" y="19"/>
                    </a:cubicBezTo>
                    <a:cubicBezTo>
                      <a:pt x="22" y="21"/>
                      <a:pt x="14" y="20"/>
                      <a:pt x="11" y="17"/>
                    </a:cubicBezTo>
                    <a:cubicBezTo>
                      <a:pt x="9" y="15"/>
                      <a:pt x="10" y="10"/>
                      <a:pt x="13" y="3"/>
                    </a:cubicBezTo>
                    <a:cubicBezTo>
                      <a:pt x="5" y="0"/>
                      <a:pt x="5" y="0"/>
                      <a:pt x="5" y="0"/>
                    </a:cubicBezTo>
                    <a:cubicBezTo>
                      <a:pt x="1" y="10"/>
                      <a:pt x="0" y="17"/>
                      <a:pt x="5" y="23"/>
                    </a:cubicBezTo>
                    <a:cubicBezTo>
                      <a:pt x="9" y="29"/>
                      <a:pt x="18" y="29"/>
                      <a:pt x="26" y="29"/>
                    </a:cubicBezTo>
                    <a:cubicBezTo>
                      <a:pt x="24" y="35"/>
                      <a:pt x="24" y="43"/>
                      <a:pt x="28" y="47"/>
                    </a:cubicBezTo>
                    <a:cubicBezTo>
                      <a:pt x="33" y="52"/>
                      <a:pt x="40" y="51"/>
                      <a:pt x="48" y="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95" name="Freeform 1870">
                <a:extLst>
                  <a:ext uri="{FF2B5EF4-FFF2-40B4-BE49-F238E27FC236}">
                    <a16:creationId xmlns:a16="http://schemas.microsoft.com/office/drawing/2014/main" id="{3B0F9CBE-5A1D-73C5-5EDB-082CCE68269C}"/>
                  </a:ext>
                </a:extLst>
              </p:cNvPr>
              <p:cNvSpPr>
                <a:spLocks/>
              </p:cNvSpPr>
              <p:nvPr/>
            </p:nvSpPr>
            <p:spPr bwMode="auto">
              <a:xfrm>
                <a:off x="3356" y="2009"/>
                <a:ext cx="20" cy="19"/>
              </a:xfrm>
              <a:custGeom>
                <a:avLst/>
                <a:gdLst>
                  <a:gd name="T0" fmla="*/ 57 w 92"/>
                  <a:gd name="T1" fmla="*/ 71 h 89"/>
                  <a:gd name="T2" fmla="*/ 76 w 92"/>
                  <a:gd name="T3" fmla="*/ 68 h 89"/>
                  <a:gd name="T4" fmla="*/ 82 w 92"/>
                  <a:gd name="T5" fmla="*/ 88 h 89"/>
                  <a:gd name="T6" fmla="*/ 90 w 92"/>
                  <a:gd name="T7" fmla="*/ 89 h 89"/>
                  <a:gd name="T8" fmla="*/ 81 w 92"/>
                  <a:gd name="T9" fmla="*/ 61 h 89"/>
                  <a:gd name="T10" fmla="*/ 60 w 92"/>
                  <a:gd name="T11" fmla="*/ 60 h 89"/>
                  <a:gd name="T12" fmla="*/ 55 w 92"/>
                  <a:gd name="T13" fmla="*/ 41 h 89"/>
                  <a:gd name="T14" fmla="*/ 37 w 92"/>
                  <a:gd name="T15" fmla="*/ 36 h 89"/>
                  <a:gd name="T16" fmla="*/ 26 w 92"/>
                  <a:gd name="T17" fmla="*/ 7 h 89"/>
                  <a:gd name="T18" fmla="*/ 0 w 92"/>
                  <a:gd name="T19" fmla="*/ 4 h 89"/>
                  <a:gd name="T20" fmla="*/ 3 w 92"/>
                  <a:gd name="T21" fmla="*/ 13 h 89"/>
                  <a:gd name="T22" fmla="*/ 20 w 92"/>
                  <a:gd name="T23" fmla="*/ 14 h 89"/>
                  <a:gd name="T24" fmla="*/ 29 w 92"/>
                  <a:gd name="T25" fmla="*/ 41 h 89"/>
                  <a:gd name="T26" fmla="*/ 28 w 92"/>
                  <a:gd name="T27" fmla="*/ 47 h 89"/>
                  <a:gd name="T28" fmla="*/ 34 w 92"/>
                  <a:gd name="T29" fmla="*/ 45 h 89"/>
                  <a:gd name="T30" fmla="*/ 49 w 92"/>
                  <a:gd name="T31" fmla="*/ 47 h 89"/>
                  <a:gd name="T32" fmla="*/ 51 w 92"/>
                  <a:gd name="T33" fmla="*/ 66 h 89"/>
                  <a:gd name="T34" fmla="*/ 48 w 92"/>
                  <a:gd name="T35" fmla="*/ 75 h 89"/>
                  <a:gd name="T36" fmla="*/ 57 w 92"/>
                  <a:gd name="T37" fmla="*/ 71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92" h="89">
                    <a:moveTo>
                      <a:pt x="57" y="71"/>
                    </a:moveTo>
                    <a:cubicBezTo>
                      <a:pt x="63" y="68"/>
                      <a:pt x="71" y="64"/>
                      <a:pt x="76" y="68"/>
                    </a:cubicBezTo>
                    <a:cubicBezTo>
                      <a:pt x="82" y="72"/>
                      <a:pt x="82" y="84"/>
                      <a:pt x="82" y="88"/>
                    </a:cubicBezTo>
                    <a:cubicBezTo>
                      <a:pt x="90" y="89"/>
                      <a:pt x="90" y="89"/>
                      <a:pt x="90" y="89"/>
                    </a:cubicBezTo>
                    <a:cubicBezTo>
                      <a:pt x="91" y="87"/>
                      <a:pt x="92" y="68"/>
                      <a:pt x="81" y="61"/>
                    </a:cubicBezTo>
                    <a:cubicBezTo>
                      <a:pt x="76" y="57"/>
                      <a:pt x="69" y="57"/>
                      <a:pt x="60" y="60"/>
                    </a:cubicBezTo>
                    <a:cubicBezTo>
                      <a:pt x="61" y="50"/>
                      <a:pt x="58" y="44"/>
                      <a:pt x="55" y="41"/>
                    </a:cubicBezTo>
                    <a:cubicBezTo>
                      <a:pt x="50" y="37"/>
                      <a:pt x="44" y="36"/>
                      <a:pt x="37" y="36"/>
                    </a:cubicBezTo>
                    <a:cubicBezTo>
                      <a:pt x="37" y="23"/>
                      <a:pt x="33" y="13"/>
                      <a:pt x="26" y="7"/>
                    </a:cubicBezTo>
                    <a:cubicBezTo>
                      <a:pt x="21" y="3"/>
                      <a:pt x="13" y="0"/>
                      <a:pt x="0" y="4"/>
                    </a:cubicBezTo>
                    <a:cubicBezTo>
                      <a:pt x="3" y="13"/>
                      <a:pt x="3" y="13"/>
                      <a:pt x="3" y="13"/>
                    </a:cubicBezTo>
                    <a:cubicBezTo>
                      <a:pt x="10" y="10"/>
                      <a:pt x="16" y="10"/>
                      <a:pt x="20" y="14"/>
                    </a:cubicBezTo>
                    <a:cubicBezTo>
                      <a:pt x="27" y="18"/>
                      <a:pt x="30" y="28"/>
                      <a:pt x="29" y="41"/>
                    </a:cubicBezTo>
                    <a:cubicBezTo>
                      <a:pt x="28" y="47"/>
                      <a:pt x="28" y="47"/>
                      <a:pt x="28" y="47"/>
                    </a:cubicBezTo>
                    <a:cubicBezTo>
                      <a:pt x="34" y="45"/>
                      <a:pt x="34" y="45"/>
                      <a:pt x="34" y="45"/>
                    </a:cubicBezTo>
                    <a:cubicBezTo>
                      <a:pt x="40" y="43"/>
                      <a:pt x="46" y="44"/>
                      <a:pt x="49" y="47"/>
                    </a:cubicBezTo>
                    <a:cubicBezTo>
                      <a:pt x="53" y="51"/>
                      <a:pt x="53" y="57"/>
                      <a:pt x="51" y="66"/>
                    </a:cubicBezTo>
                    <a:cubicBezTo>
                      <a:pt x="48" y="75"/>
                      <a:pt x="48" y="75"/>
                      <a:pt x="48" y="75"/>
                    </a:cubicBezTo>
                    <a:lnTo>
                      <a:pt x="57" y="7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96" name="Freeform 1871">
                <a:extLst>
                  <a:ext uri="{FF2B5EF4-FFF2-40B4-BE49-F238E27FC236}">
                    <a16:creationId xmlns:a16="http://schemas.microsoft.com/office/drawing/2014/main" id="{C93789EE-4577-163F-91EF-744ADB72F63B}"/>
                  </a:ext>
                </a:extLst>
              </p:cNvPr>
              <p:cNvSpPr>
                <a:spLocks/>
              </p:cNvSpPr>
              <p:nvPr/>
            </p:nvSpPr>
            <p:spPr bwMode="auto">
              <a:xfrm>
                <a:off x="3170" y="2046"/>
                <a:ext cx="35" cy="22"/>
              </a:xfrm>
              <a:custGeom>
                <a:avLst/>
                <a:gdLst>
                  <a:gd name="T0" fmla="*/ 136 w 159"/>
                  <a:gd name="T1" fmla="*/ 1 h 99"/>
                  <a:gd name="T2" fmla="*/ 111 w 159"/>
                  <a:gd name="T3" fmla="*/ 21 h 99"/>
                  <a:gd name="T4" fmla="*/ 93 w 159"/>
                  <a:gd name="T5" fmla="*/ 12 h 99"/>
                  <a:gd name="T6" fmla="*/ 74 w 159"/>
                  <a:gd name="T7" fmla="*/ 44 h 99"/>
                  <a:gd name="T8" fmla="*/ 57 w 159"/>
                  <a:gd name="T9" fmla="*/ 36 h 99"/>
                  <a:gd name="T10" fmla="*/ 37 w 159"/>
                  <a:gd name="T11" fmla="*/ 65 h 99"/>
                  <a:gd name="T12" fmla="*/ 20 w 159"/>
                  <a:gd name="T13" fmla="*/ 57 h 99"/>
                  <a:gd name="T14" fmla="*/ 0 w 159"/>
                  <a:gd name="T15" fmla="*/ 98 h 99"/>
                  <a:gd name="T16" fmla="*/ 8 w 159"/>
                  <a:gd name="T17" fmla="*/ 99 h 99"/>
                  <a:gd name="T18" fmla="*/ 22 w 159"/>
                  <a:gd name="T19" fmla="*/ 65 h 99"/>
                  <a:gd name="T20" fmla="*/ 36 w 159"/>
                  <a:gd name="T21" fmla="*/ 77 h 99"/>
                  <a:gd name="T22" fmla="*/ 42 w 159"/>
                  <a:gd name="T23" fmla="*/ 87 h 99"/>
                  <a:gd name="T24" fmla="*/ 44 w 159"/>
                  <a:gd name="T25" fmla="*/ 75 h 99"/>
                  <a:gd name="T26" fmla="*/ 58 w 159"/>
                  <a:gd name="T27" fmla="*/ 44 h 99"/>
                  <a:gd name="T28" fmla="*/ 73 w 159"/>
                  <a:gd name="T29" fmla="*/ 58 h 99"/>
                  <a:gd name="T30" fmla="*/ 81 w 159"/>
                  <a:gd name="T31" fmla="*/ 56 h 99"/>
                  <a:gd name="T32" fmla="*/ 95 w 159"/>
                  <a:gd name="T33" fmla="*/ 20 h 99"/>
                  <a:gd name="T34" fmla="*/ 108 w 159"/>
                  <a:gd name="T35" fmla="*/ 34 h 99"/>
                  <a:gd name="T36" fmla="*/ 114 w 159"/>
                  <a:gd name="T37" fmla="*/ 49 h 99"/>
                  <a:gd name="T38" fmla="*/ 116 w 159"/>
                  <a:gd name="T39" fmla="*/ 33 h 99"/>
                  <a:gd name="T40" fmla="*/ 136 w 159"/>
                  <a:gd name="T41" fmla="*/ 10 h 99"/>
                  <a:gd name="T42" fmla="*/ 151 w 159"/>
                  <a:gd name="T43" fmla="*/ 24 h 99"/>
                  <a:gd name="T44" fmla="*/ 159 w 159"/>
                  <a:gd name="T45" fmla="*/ 21 h 99"/>
                  <a:gd name="T46" fmla="*/ 136 w 159"/>
                  <a:gd name="T47" fmla="*/ 1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59" h="99">
                    <a:moveTo>
                      <a:pt x="136" y="1"/>
                    </a:moveTo>
                    <a:cubicBezTo>
                      <a:pt x="125" y="2"/>
                      <a:pt x="116" y="11"/>
                      <a:pt x="111" y="21"/>
                    </a:cubicBezTo>
                    <a:cubicBezTo>
                      <a:pt x="104" y="11"/>
                      <a:pt x="97" y="11"/>
                      <a:pt x="93" y="12"/>
                    </a:cubicBezTo>
                    <a:cubicBezTo>
                      <a:pt x="83" y="14"/>
                      <a:pt x="76" y="27"/>
                      <a:pt x="74" y="44"/>
                    </a:cubicBezTo>
                    <a:cubicBezTo>
                      <a:pt x="67" y="36"/>
                      <a:pt x="61" y="35"/>
                      <a:pt x="57" y="36"/>
                    </a:cubicBezTo>
                    <a:cubicBezTo>
                      <a:pt x="48" y="37"/>
                      <a:pt x="41" y="49"/>
                      <a:pt x="37" y="65"/>
                    </a:cubicBezTo>
                    <a:cubicBezTo>
                      <a:pt x="31" y="59"/>
                      <a:pt x="25" y="55"/>
                      <a:pt x="20" y="57"/>
                    </a:cubicBezTo>
                    <a:cubicBezTo>
                      <a:pt x="5" y="61"/>
                      <a:pt x="0" y="91"/>
                      <a:pt x="0" y="98"/>
                    </a:cubicBezTo>
                    <a:cubicBezTo>
                      <a:pt x="8" y="99"/>
                      <a:pt x="8" y="99"/>
                      <a:pt x="8" y="99"/>
                    </a:cubicBezTo>
                    <a:cubicBezTo>
                      <a:pt x="10" y="86"/>
                      <a:pt x="15" y="67"/>
                      <a:pt x="22" y="65"/>
                    </a:cubicBezTo>
                    <a:cubicBezTo>
                      <a:pt x="25" y="64"/>
                      <a:pt x="30" y="69"/>
                      <a:pt x="36" y="77"/>
                    </a:cubicBezTo>
                    <a:cubicBezTo>
                      <a:pt x="42" y="87"/>
                      <a:pt x="42" y="87"/>
                      <a:pt x="42" y="87"/>
                    </a:cubicBezTo>
                    <a:cubicBezTo>
                      <a:pt x="44" y="75"/>
                      <a:pt x="44" y="75"/>
                      <a:pt x="44" y="75"/>
                    </a:cubicBezTo>
                    <a:cubicBezTo>
                      <a:pt x="46" y="56"/>
                      <a:pt x="53" y="45"/>
                      <a:pt x="58" y="44"/>
                    </a:cubicBezTo>
                    <a:cubicBezTo>
                      <a:pt x="63" y="43"/>
                      <a:pt x="68" y="48"/>
                      <a:pt x="73" y="58"/>
                    </a:cubicBezTo>
                    <a:cubicBezTo>
                      <a:pt x="81" y="56"/>
                      <a:pt x="81" y="56"/>
                      <a:pt x="81" y="56"/>
                    </a:cubicBezTo>
                    <a:cubicBezTo>
                      <a:pt x="81" y="34"/>
                      <a:pt x="89" y="21"/>
                      <a:pt x="95" y="20"/>
                    </a:cubicBezTo>
                    <a:cubicBezTo>
                      <a:pt x="99" y="19"/>
                      <a:pt x="104" y="24"/>
                      <a:pt x="108" y="34"/>
                    </a:cubicBezTo>
                    <a:cubicBezTo>
                      <a:pt x="114" y="49"/>
                      <a:pt x="114" y="49"/>
                      <a:pt x="114" y="49"/>
                    </a:cubicBezTo>
                    <a:cubicBezTo>
                      <a:pt x="116" y="33"/>
                      <a:pt x="116" y="33"/>
                      <a:pt x="116" y="33"/>
                    </a:cubicBezTo>
                    <a:cubicBezTo>
                      <a:pt x="118" y="22"/>
                      <a:pt x="128" y="11"/>
                      <a:pt x="136" y="10"/>
                    </a:cubicBezTo>
                    <a:cubicBezTo>
                      <a:pt x="144" y="9"/>
                      <a:pt x="148" y="17"/>
                      <a:pt x="151" y="24"/>
                    </a:cubicBezTo>
                    <a:cubicBezTo>
                      <a:pt x="159" y="21"/>
                      <a:pt x="159" y="21"/>
                      <a:pt x="159" y="21"/>
                    </a:cubicBezTo>
                    <a:cubicBezTo>
                      <a:pt x="152" y="2"/>
                      <a:pt x="141" y="0"/>
                      <a:pt x="136"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97" name="Freeform 1872">
                <a:extLst>
                  <a:ext uri="{FF2B5EF4-FFF2-40B4-BE49-F238E27FC236}">
                    <a16:creationId xmlns:a16="http://schemas.microsoft.com/office/drawing/2014/main" id="{38C874AB-5E7A-6FF6-69C7-ADB95E937C57}"/>
                  </a:ext>
                </a:extLst>
              </p:cNvPr>
              <p:cNvSpPr>
                <a:spLocks/>
              </p:cNvSpPr>
              <p:nvPr/>
            </p:nvSpPr>
            <p:spPr bwMode="auto">
              <a:xfrm>
                <a:off x="3203" y="2047"/>
                <a:ext cx="31" cy="10"/>
              </a:xfrm>
              <a:custGeom>
                <a:avLst/>
                <a:gdLst>
                  <a:gd name="T0" fmla="*/ 74 w 138"/>
                  <a:gd name="T1" fmla="*/ 1 h 42"/>
                  <a:gd name="T2" fmla="*/ 53 w 138"/>
                  <a:gd name="T3" fmla="*/ 19 h 42"/>
                  <a:gd name="T4" fmla="*/ 34 w 138"/>
                  <a:gd name="T5" fmla="*/ 5 h 42"/>
                  <a:gd name="T6" fmla="*/ 0 w 138"/>
                  <a:gd name="T7" fmla="*/ 39 h 42"/>
                  <a:gd name="T8" fmla="*/ 8 w 138"/>
                  <a:gd name="T9" fmla="*/ 42 h 42"/>
                  <a:gd name="T10" fmla="*/ 32 w 138"/>
                  <a:gd name="T11" fmla="*/ 14 h 42"/>
                  <a:gd name="T12" fmla="*/ 48 w 138"/>
                  <a:gd name="T13" fmla="*/ 32 h 42"/>
                  <a:gd name="T14" fmla="*/ 56 w 138"/>
                  <a:gd name="T15" fmla="*/ 33 h 42"/>
                  <a:gd name="T16" fmla="*/ 75 w 138"/>
                  <a:gd name="T17" fmla="*/ 9 h 42"/>
                  <a:gd name="T18" fmla="*/ 86 w 138"/>
                  <a:gd name="T19" fmla="*/ 26 h 42"/>
                  <a:gd name="T20" fmla="*/ 88 w 138"/>
                  <a:gd name="T21" fmla="*/ 34 h 42"/>
                  <a:gd name="T22" fmla="*/ 94 w 138"/>
                  <a:gd name="T23" fmla="*/ 27 h 42"/>
                  <a:gd name="T24" fmla="*/ 113 w 138"/>
                  <a:gd name="T25" fmla="*/ 13 h 42"/>
                  <a:gd name="T26" fmla="*/ 131 w 138"/>
                  <a:gd name="T27" fmla="*/ 26 h 42"/>
                  <a:gd name="T28" fmla="*/ 138 w 138"/>
                  <a:gd name="T29" fmla="*/ 21 h 42"/>
                  <a:gd name="T30" fmla="*/ 114 w 138"/>
                  <a:gd name="T31" fmla="*/ 5 h 42"/>
                  <a:gd name="T32" fmla="*/ 92 w 138"/>
                  <a:gd name="T33" fmla="*/ 16 h 42"/>
                  <a:gd name="T34" fmla="*/ 74 w 138"/>
                  <a:gd name="T35" fmla="*/ 1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38" h="42">
                    <a:moveTo>
                      <a:pt x="74" y="1"/>
                    </a:moveTo>
                    <a:cubicBezTo>
                      <a:pt x="66" y="1"/>
                      <a:pt x="58" y="9"/>
                      <a:pt x="53" y="19"/>
                    </a:cubicBezTo>
                    <a:cubicBezTo>
                      <a:pt x="49" y="13"/>
                      <a:pt x="44" y="8"/>
                      <a:pt x="34" y="5"/>
                    </a:cubicBezTo>
                    <a:cubicBezTo>
                      <a:pt x="16" y="0"/>
                      <a:pt x="2" y="35"/>
                      <a:pt x="0" y="39"/>
                    </a:cubicBezTo>
                    <a:cubicBezTo>
                      <a:pt x="8" y="42"/>
                      <a:pt x="8" y="42"/>
                      <a:pt x="8" y="42"/>
                    </a:cubicBezTo>
                    <a:cubicBezTo>
                      <a:pt x="13" y="29"/>
                      <a:pt x="24" y="11"/>
                      <a:pt x="32" y="14"/>
                    </a:cubicBezTo>
                    <a:cubicBezTo>
                      <a:pt x="45" y="18"/>
                      <a:pt x="48" y="24"/>
                      <a:pt x="48" y="32"/>
                    </a:cubicBezTo>
                    <a:cubicBezTo>
                      <a:pt x="56" y="33"/>
                      <a:pt x="56" y="33"/>
                      <a:pt x="56" y="33"/>
                    </a:cubicBezTo>
                    <a:cubicBezTo>
                      <a:pt x="59" y="21"/>
                      <a:pt x="68" y="9"/>
                      <a:pt x="75" y="9"/>
                    </a:cubicBezTo>
                    <a:cubicBezTo>
                      <a:pt x="79" y="9"/>
                      <a:pt x="83" y="15"/>
                      <a:pt x="86" y="26"/>
                    </a:cubicBezTo>
                    <a:cubicBezTo>
                      <a:pt x="88" y="34"/>
                      <a:pt x="88" y="34"/>
                      <a:pt x="88" y="34"/>
                    </a:cubicBezTo>
                    <a:cubicBezTo>
                      <a:pt x="94" y="27"/>
                      <a:pt x="94" y="27"/>
                      <a:pt x="94" y="27"/>
                    </a:cubicBezTo>
                    <a:cubicBezTo>
                      <a:pt x="100" y="20"/>
                      <a:pt x="106" y="13"/>
                      <a:pt x="113" y="13"/>
                    </a:cubicBezTo>
                    <a:cubicBezTo>
                      <a:pt x="119" y="14"/>
                      <a:pt x="125" y="18"/>
                      <a:pt x="131" y="26"/>
                    </a:cubicBezTo>
                    <a:cubicBezTo>
                      <a:pt x="138" y="21"/>
                      <a:pt x="138" y="21"/>
                      <a:pt x="138" y="21"/>
                    </a:cubicBezTo>
                    <a:cubicBezTo>
                      <a:pt x="130" y="10"/>
                      <a:pt x="122" y="5"/>
                      <a:pt x="114" y="5"/>
                    </a:cubicBezTo>
                    <a:cubicBezTo>
                      <a:pt x="105" y="5"/>
                      <a:pt x="98" y="10"/>
                      <a:pt x="92" y="16"/>
                    </a:cubicBezTo>
                    <a:cubicBezTo>
                      <a:pt x="87" y="4"/>
                      <a:pt x="80" y="1"/>
                      <a:pt x="7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98" name="Freeform 1873">
                <a:extLst>
                  <a:ext uri="{FF2B5EF4-FFF2-40B4-BE49-F238E27FC236}">
                    <a16:creationId xmlns:a16="http://schemas.microsoft.com/office/drawing/2014/main" id="{E062F462-7FDD-FFA4-3BCE-34FB2383FE54}"/>
                  </a:ext>
                </a:extLst>
              </p:cNvPr>
              <p:cNvSpPr>
                <a:spLocks/>
              </p:cNvSpPr>
              <p:nvPr/>
            </p:nvSpPr>
            <p:spPr bwMode="auto">
              <a:xfrm>
                <a:off x="3170" y="2063"/>
                <a:ext cx="68" cy="23"/>
              </a:xfrm>
              <a:custGeom>
                <a:avLst/>
                <a:gdLst>
                  <a:gd name="T0" fmla="*/ 264 w 308"/>
                  <a:gd name="T1" fmla="*/ 2 h 105"/>
                  <a:gd name="T2" fmla="*/ 260 w 308"/>
                  <a:gd name="T3" fmla="*/ 28 h 105"/>
                  <a:gd name="T4" fmla="*/ 246 w 308"/>
                  <a:gd name="T5" fmla="*/ 19 h 105"/>
                  <a:gd name="T6" fmla="*/ 241 w 308"/>
                  <a:gd name="T7" fmla="*/ 13 h 105"/>
                  <a:gd name="T8" fmla="*/ 238 w 308"/>
                  <a:gd name="T9" fmla="*/ 19 h 105"/>
                  <a:gd name="T10" fmla="*/ 222 w 308"/>
                  <a:gd name="T11" fmla="*/ 36 h 105"/>
                  <a:gd name="T12" fmla="*/ 204 w 308"/>
                  <a:gd name="T13" fmla="*/ 19 h 105"/>
                  <a:gd name="T14" fmla="*/ 198 w 308"/>
                  <a:gd name="T15" fmla="*/ 8 h 105"/>
                  <a:gd name="T16" fmla="*/ 196 w 308"/>
                  <a:gd name="T17" fmla="*/ 21 h 105"/>
                  <a:gd name="T18" fmla="*/ 187 w 308"/>
                  <a:gd name="T19" fmla="*/ 41 h 105"/>
                  <a:gd name="T20" fmla="*/ 166 w 308"/>
                  <a:gd name="T21" fmla="*/ 19 h 105"/>
                  <a:gd name="T22" fmla="*/ 158 w 308"/>
                  <a:gd name="T23" fmla="*/ 4 h 105"/>
                  <a:gd name="T24" fmla="*/ 158 w 308"/>
                  <a:gd name="T25" fmla="*/ 21 h 105"/>
                  <a:gd name="T26" fmla="*/ 147 w 308"/>
                  <a:gd name="T27" fmla="*/ 47 h 105"/>
                  <a:gd name="T28" fmla="*/ 124 w 308"/>
                  <a:gd name="T29" fmla="*/ 45 h 105"/>
                  <a:gd name="T30" fmla="*/ 118 w 308"/>
                  <a:gd name="T31" fmla="*/ 41 h 105"/>
                  <a:gd name="T32" fmla="*/ 118 w 308"/>
                  <a:gd name="T33" fmla="*/ 48 h 105"/>
                  <a:gd name="T34" fmla="*/ 109 w 308"/>
                  <a:gd name="T35" fmla="*/ 68 h 105"/>
                  <a:gd name="T36" fmla="*/ 87 w 308"/>
                  <a:gd name="T37" fmla="*/ 65 h 105"/>
                  <a:gd name="T38" fmla="*/ 79 w 308"/>
                  <a:gd name="T39" fmla="*/ 62 h 105"/>
                  <a:gd name="T40" fmla="*/ 78 w 308"/>
                  <a:gd name="T41" fmla="*/ 67 h 105"/>
                  <a:gd name="T42" fmla="*/ 67 w 308"/>
                  <a:gd name="T43" fmla="*/ 87 h 105"/>
                  <a:gd name="T44" fmla="*/ 48 w 308"/>
                  <a:gd name="T45" fmla="*/ 72 h 105"/>
                  <a:gd name="T46" fmla="*/ 43 w 308"/>
                  <a:gd name="T47" fmla="*/ 62 h 105"/>
                  <a:gd name="T48" fmla="*/ 40 w 308"/>
                  <a:gd name="T49" fmla="*/ 73 h 105"/>
                  <a:gd name="T50" fmla="*/ 25 w 308"/>
                  <a:gd name="T51" fmla="*/ 96 h 105"/>
                  <a:gd name="T52" fmla="*/ 8 w 308"/>
                  <a:gd name="T53" fmla="*/ 77 h 105"/>
                  <a:gd name="T54" fmla="*/ 0 w 308"/>
                  <a:gd name="T55" fmla="*/ 80 h 105"/>
                  <a:gd name="T56" fmla="*/ 26 w 308"/>
                  <a:gd name="T57" fmla="*/ 104 h 105"/>
                  <a:gd name="T58" fmla="*/ 45 w 308"/>
                  <a:gd name="T59" fmla="*/ 83 h 105"/>
                  <a:gd name="T60" fmla="*/ 68 w 308"/>
                  <a:gd name="T61" fmla="*/ 96 h 105"/>
                  <a:gd name="T62" fmla="*/ 85 w 308"/>
                  <a:gd name="T63" fmla="*/ 74 h 105"/>
                  <a:gd name="T64" fmla="*/ 114 w 308"/>
                  <a:gd name="T65" fmla="*/ 75 h 105"/>
                  <a:gd name="T66" fmla="*/ 125 w 308"/>
                  <a:gd name="T67" fmla="*/ 55 h 105"/>
                  <a:gd name="T68" fmla="*/ 151 w 308"/>
                  <a:gd name="T69" fmla="*/ 55 h 105"/>
                  <a:gd name="T70" fmla="*/ 165 w 308"/>
                  <a:gd name="T71" fmla="*/ 34 h 105"/>
                  <a:gd name="T72" fmla="*/ 188 w 308"/>
                  <a:gd name="T73" fmla="*/ 49 h 105"/>
                  <a:gd name="T74" fmla="*/ 202 w 308"/>
                  <a:gd name="T75" fmla="*/ 32 h 105"/>
                  <a:gd name="T76" fmla="*/ 223 w 308"/>
                  <a:gd name="T77" fmla="*/ 45 h 105"/>
                  <a:gd name="T78" fmla="*/ 243 w 308"/>
                  <a:gd name="T79" fmla="*/ 29 h 105"/>
                  <a:gd name="T80" fmla="*/ 263 w 308"/>
                  <a:gd name="T81" fmla="*/ 36 h 105"/>
                  <a:gd name="T82" fmla="*/ 273 w 308"/>
                  <a:gd name="T83" fmla="*/ 16 h 105"/>
                  <a:gd name="T84" fmla="*/ 295 w 308"/>
                  <a:gd name="T85" fmla="*/ 28 h 105"/>
                  <a:gd name="T86" fmla="*/ 308 w 308"/>
                  <a:gd name="T87" fmla="*/ 1 h 105"/>
                  <a:gd name="T88" fmla="*/ 300 w 308"/>
                  <a:gd name="T89" fmla="*/ 1 h 105"/>
                  <a:gd name="T90" fmla="*/ 293 w 308"/>
                  <a:gd name="T91" fmla="*/ 20 h 105"/>
                  <a:gd name="T92" fmla="*/ 272 w 308"/>
                  <a:gd name="T93" fmla="*/ 0 h 105"/>
                  <a:gd name="T94" fmla="*/ 264 w 308"/>
                  <a:gd name="T95" fmla="*/ 2 h 10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308" h="105">
                    <a:moveTo>
                      <a:pt x="264" y="2"/>
                    </a:moveTo>
                    <a:cubicBezTo>
                      <a:pt x="266" y="25"/>
                      <a:pt x="260" y="28"/>
                      <a:pt x="260" y="28"/>
                    </a:cubicBezTo>
                    <a:cubicBezTo>
                      <a:pt x="257" y="29"/>
                      <a:pt x="252" y="26"/>
                      <a:pt x="246" y="19"/>
                    </a:cubicBezTo>
                    <a:cubicBezTo>
                      <a:pt x="241" y="13"/>
                      <a:pt x="241" y="13"/>
                      <a:pt x="241" y="13"/>
                    </a:cubicBezTo>
                    <a:cubicBezTo>
                      <a:pt x="238" y="19"/>
                      <a:pt x="238" y="19"/>
                      <a:pt x="238" y="19"/>
                    </a:cubicBezTo>
                    <a:cubicBezTo>
                      <a:pt x="233" y="30"/>
                      <a:pt x="228" y="36"/>
                      <a:pt x="222" y="36"/>
                    </a:cubicBezTo>
                    <a:cubicBezTo>
                      <a:pt x="217" y="37"/>
                      <a:pt x="209" y="30"/>
                      <a:pt x="204" y="19"/>
                    </a:cubicBezTo>
                    <a:cubicBezTo>
                      <a:pt x="198" y="8"/>
                      <a:pt x="198" y="8"/>
                      <a:pt x="198" y="8"/>
                    </a:cubicBezTo>
                    <a:cubicBezTo>
                      <a:pt x="196" y="21"/>
                      <a:pt x="196" y="21"/>
                      <a:pt x="196" y="21"/>
                    </a:cubicBezTo>
                    <a:cubicBezTo>
                      <a:pt x="193" y="38"/>
                      <a:pt x="188" y="41"/>
                      <a:pt x="187" y="41"/>
                    </a:cubicBezTo>
                    <a:cubicBezTo>
                      <a:pt x="183" y="41"/>
                      <a:pt x="174" y="34"/>
                      <a:pt x="166" y="19"/>
                    </a:cubicBezTo>
                    <a:cubicBezTo>
                      <a:pt x="158" y="4"/>
                      <a:pt x="158" y="4"/>
                      <a:pt x="158" y="4"/>
                    </a:cubicBezTo>
                    <a:cubicBezTo>
                      <a:pt x="158" y="21"/>
                      <a:pt x="158" y="21"/>
                      <a:pt x="158" y="21"/>
                    </a:cubicBezTo>
                    <a:cubicBezTo>
                      <a:pt x="158" y="34"/>
                      <a:pt x="154" y="44"/>
                      <a:pt x="147" y="47"/>
                    </a:cubicBezTo>
                    <a:cubicBezTo>
                      <a:pt x="141" y="51"/>
                      <a:pt x="132" y="50"/>
                      <a:pt x="124" y="45"/>
                    </a:cubicBezTo>
                    <a:cubicBezTo>
                      <a:pt x="118" y="41"/>
                      <a:pt x="118" y="41"/>
                      <a:pt x="118" y="41"/>
                    </a:cubicBezTo>
                    <a:cubicBezTo>
                      <a:pt x="118" y="48"/>
                      <a:pt x="118" y="48"/>
                      <a:pt x="118" y="48"/>
                    </a:cubicBezTo>
                    <a:cubicBezTo>
                      <a:pt x="117" y="58"/>
                      <a:pt x="114" y="65"/>
                      <a:pt x="109" y="68"/>
                    </a:cubicBezTo>
                    <a:cubicBezTo>
                      <a:pt x="102" y="72"/>
                      <a:pt x="92" y="68"/>
                      <a:pt x="87" y="65"/>
                    </a:cubicBezTo>
                    <a:cubicBezTo>
                      <a:pt x="79" y="62"/>
                      <a:pt x="79" y="62"/>
                      <a:pt x="79" y="62"/>
                    </a:cubicBezTo>
                    <a:cubicBezTo>
                      <a:pt x="78" y="67"/>
                      <a:pt x="78" y="67"/>
                      <a:pt x="78" y="67"/>
                    </a:cubicBezTo>
                    <a:cubicBezTo>
                      <a:pt x="76" y="79"/>
                      <a:pt x="72" y="86"/>
                      <a:pt x="67" y="87"/>
                    </a:cubicBezTo>
                    <a:cubicBezTo>
                      <a:pt x="61" y="88"/>
                      <a:pt x="53" y="81"/>
                      <a:pt x="48" y="72"/>
                    </a:cubicBezTo>
                    <a:cubicBezTo>
                      <a:pt x="43" y="62"/>
                      <a:pt x="43" y="62"/>
                      <a:pt x="43" y="62"/>
                    </a:cubicBezTo>
                    <a:cubicBezTo>
                      <a:pt x="40" y="73"/>
                      <a:pt x="40" y="73"/>
                      <a:pt x="40" y="73"/>
                    </a:cubicBezTo>
                    <a:cubicBezTo>
                      <a:pt x="34" y="93"/>
                      <a:pt x="28" y="96"/>
                      <a:pt x="25" y="96"/>
                    </a:cubicBezTo>
                    <a:cubicBezTo>
                      <a:pt x="19" y="96"/>
                      <a:pt x="11" y="83"/>
                      <a:pt x="8" y="77"/>
                    </a:cubicBezTo>
                    <a:cubicBezTo>
                      <a:pt x="0" y="80"/>
                      <a:pt x="0" y="80"/>
                      <a:pt x="0" y="80"/>
                    </a:cubicBezTo>
                    <a:cubicBezTo>
                      <a:pt x="1" y="83"/>
                      <a:pt x="12" y="105"/>
                      <a:pt x="26" y="104"/>
                    </a:cubicBezTo>
                    <a:cubicBezTo>
                      <a:pt x="34" y="104"/>
                      <a:pt x="40" y="97"/>
                      <a:pt x="45" y="83"/>
                    </a:cubicBezTo>
                    <a:cubicBezTo>
                      <a:pt x="51" y="91"/>
                      <a:pt x="59" y="97"/>
                      <a:pt x="68" y="96"/>
                    </a:cubicBezTo>
                    <a:cubicBezTo>
                      <a:pt x="74" y="95"/>
                      <a:pt x="81" y="90"/>
                      <a:pt x="85" y="74"/>
                    </a:cubicBezTo>
                    <a:cubicBezTo>
                      <a:pt x="92" y="77"/>
                      <a:pt x="104" y="81"/>
                      <a:pt x="114" y="75"/>
                    </a:cubicBezTo>
                    <a:cubicBezTo>
                      <a:pt x="119" y="72"/>
                      <a:pt x="123" y="64"/>
                      <a:pt x="125" y="55"/>
                    </a:cubicBezTo>
                    <a:cubicBezTo>
                      <a:pt x="134" y="59"/>
                      <a:pt x="144" y="59"/>
                      <a:pt x="151" y="55"/>
                    </a:cubicBezTo>
                    <a:cubicBezTo>
                      <a:pt x="158" y="51"/>
                      <a:pt x="163" y="44"/>
                      <a:pt x="165" y="34"/>
                    </a:cubicBezTo>
                    <a:cubicBezTo>
                      <a:pt x="171" y="43"/>
                      <a:pt x="180" y="51"/>
                      <a:pt x="188" y="49"/>
                    </a:cubicBezTo>
                    <a:cubicBezTo>
                      <a:pt x="194" y="48"/>
                      <a:pt x="199" y="42"/>
                      <a:pt x="202" y="32"/>
                    </a:cubicBezTo>
                    <a:cubicBezTo>
                      <a:pt x="207" y="39"/>
                      <a:pt x="214" y="45"/>
                      <a:pt x="223" y="45"/>
                    </a:cubicBezTo>
                    <a:cubicBezTo>
                      <a:pt x="230" y="45"/>
                      <a:pt x="237" y="39"/>
                      <a:pt x="243" y="29"/>
                    </a:cubicBezTo>
                    <a:cubicBezTo>
                      <a:pt x="248" y="34"/>
                      <a:pt x="256" y="39"/>
                      <a:pt x="263" y="36"/>
                    </a:cubicBezTo>
                    <a:cubicBezTo>
                      <a:pt x="269" y="34"/>
                      <a:pt x="272" y="27"/>
                      <a:pt x="273" y="16"/>
                    </a:cubicBezTo>
                    <a:cubicBezTo>
                      <a:pt x="280" y="25"/>
                      <a:pt x="288" y="30"/>
                      <a:pt x="295" y="28"/>
                    </a:cubicBezTo>
                    <a:cubicBezTo>
                      <a:pt x="301" y="27"/>
                      <a:pt x="308" y="21"/>
                      <a:pt x="308" y="1"/>
                    </a:cubicBezTo>
                    <a:cubicBezTo>
                      <a:pt x="300" y="1"/>
                      <a:pt x="300" y="1"/>
                      <a:pt x="300" y="1"/>
                    </a:cubicBezTo>
                    <a:cubicBezTo>
                      <a:pt x="300" y="12"/>
                      <a:pt x="297" y="19"/>
                      <a:pt x="293" y="20"/>
                    </a:cubicBezTo>
                    <a:cubicBezTo>
                      <a:pt x="288" y="21"/>
                      <a:pt x="279" y="13"/>
                      <a:pt x="272" y="0"/>
                    </a:cubicBezTo>
                    <a:lnTo>
                      <a:pt x="264"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99" name="Freeform 1874">
                <a:extLst>
                  <a:ext uri="{FF2B5EF4-FFF2-40B4-BE49-F238E27FC236}">
                    <a16:creationId xmlns:a16="http://schemas.microsoft.com/office/drawing/2014/main" id="{3C16A26E-FF00-794A-056F-E0DC649D00DE}"/>
                  </a:ext>
                </a:extLst>
              </p:cNvPr>
              <p:cNvSpPr>
                <a:spLocks/>
              </p:cNvSpPr>
              <p:nvPr/>
            </p:nvSpPr>
            <p:spPr bwMode="auto">
              <a:xfrm>
                <a:off x="3290" y="2019"/>
                <a:ext cx="38" cy="21"/>
              </a:xfrm>
              <a:custGeom>
                <a:avLst/>
                <a:gdLst>
                  <a:gd name="T0" fmla="*/ 162 w 172"/>
                  <a:gd name="T1" fmla="*/ 62 h 93"/>
                  <a:gd name="T2" fmla="*/ 130 w 172"/>
                  <a:gd name="T3" fmla="*/ 56 h 93"/>
                  <a:gd name="T4" fmla="*/ 126 w 172"/>
                  <a:gd name="T5" fmla="*/ 36 h 93"/>
                  <a:gd name="T6" fmla="*/ 89 w 172"/>
                  <a:gd name="T7" fmla="*/ 42 h 93"/>
                  <a:gd name="T8" fmla="*/ 84 w 172"/>
                  <a:gd name="T9" fmla="*/ 24 h 93"/>
                  <a:gd name="T10" fmla="*/ 49 w 172"/>
                  <a:gd name="T11" fmla="*/ 28 h 93"/>
                  <a:gd name="T12" fmla="*/ 44 w 172"/>
                  <a:gd name="T13" fmla="*/ 9 h 93"/>
                  <a:gd name="T14" fmla="*/ 0 w 172"/>
                  <a:gd name="T15" fmla="*/ 20 h 93"/>
                  <a:gd name="T16" fmla="*/ 5 w 172"/>
                  <a:gd name="T17" fmla="*/ 27 h 93"/>
                  <a:gd name="T18" fmla="*/ 39 w 172"/>
                  <a:gd name="T19" fmla="*/ 16 h 93"/>
                  <a:gd name="T20" fmla="*/ 39 w 172"/>
                  <a:gd name="T21" fmla="*/ 35 h 93"/>
                  <a:gd name="T22" fmla="*/ 36 w 172"/>
                  <a:gd name="T23" fmla="*/ 46 h 93"/>
                  <a:gd name="T24" fmla="*/ 46 w 172"/>
                  <a:gd name="T25" fmla="*/ 40 h 93"/>
                  <a:gd name="T26" fmla="*/ 79 w 172"/>
                  <a:gd name="T27" fmla="*/ 31 h 93"/>
                  <a:gd name="T28" fmla="*/ 78 w 172"/>
                  <a:gd name="T29" fmla="*/ 51 h 93"/>
                  <a:gd name="T30" fmla="*/ 85 w 172"/>
                  <a:gd name="T31" fmla="*/ 56 h 93"/>
                  <a:gd name="T32" fmla="*/ 121 w 172"/>
                  <a:gd name="T33" fmla="*/ 43 h 93"/>
                  <a:gd name="T34" fmla="*/ 119 w 172"/>
                  <a:gd name="T35" fmla="*/ 62 h 93"/>
                  <a:gd name="T36" fmla="*/ 111 w 172"/>
                  <a:gd name="T37" fmla="*/ 76 h 93"/>
                  <a:gd name="T38" fmla="*/ 125 w 172"/>
                  <a:gd name="T39" fmla="*/ 68 h 93"/>
                  <a:gd name="T40" fmla="*/ 156 w 172"/>
                  <a:gd name="T41" fmla="*/ 68 h 93"/>
                  <a:gd name="T42" fmla="*/ 154 w 172"/>
                  <a:gd name="T43" fmla="*/ 88 h 93"/>
                  <a:gd name="T44" fmla="*/ 162 w 172"/>
                  <a:gd name="T45" fmla="*/ 93 h 93"/>
                  <a:gd name="T46" fmla="*/ 162 w 172"/>
                  <a:gd name="T47" fmla="*/ 62 h 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172" h="93">
                    <a:moveTo>
                      <a:pt x="162" y="62"/>
                    </a:moveTo>
                    <a:cubicBezTo>
                      <a:pt x="154" y="55"/>
                      <a:pt x="141" y="54"/>
                      <a:pt x="130" y="56"/>
                    </a:cubicBezTo>
                    <a:cubicBezTo>
                      <a:pt x="133" y="45"/>
                      <a:pt x="129" y="39"/>
                      <a:pt x="126" y="36"/>
                    </a:cubicBezTo>
                    <a:cubicBezTo>
                      <a:pt x="118" y="30"/>
                      <a:pt x="104" y="33"/>
                      <a:pt x="89" y="42"/>
                    </a:cubicBezTo>
                    <a:cubicBezTo>
                      <a:pt x="91" y="32"/>
                      <a:pt x="88" y="27"/>
                      <a:pt x="84" y="24"/>
                    </a:cubicBezTo>
                    <a:cubicBezTo>
                      <a:pt x="77" y="18"/>
                      <a:pt x="64" y="20"/>
                      <a:pt x="49" y="28"/>
                    </a:cubicBezTo>
                    <a:cubicBezTo>
                      <a:pt x="50" y="19"/>
                      <a:pt x="49" y="13"/>
                      <a:pt x="44" y="9"/>
                    </a:cubicBezTo>
                    <a:cubicBezTo>
                      <a:pt x="32" y="0"/>
                      <a:pt x="5" y="17"/>
                      <a:pt x="0" y="20"/>
                    </a:cubicBezTo>
                    <a:cubicBezTo>
                      <a:pt x="5" y="27"/>
                      <a:pt x="5" y="27"/>
                      <a:pt x="5" y="27"/>
                    </a:cubicBezTo>
                    <a:cubicBezTo>
                      <a:pt x="15" y="21"/>
                      <a:pt x="34" y="12"/>
                      <a:pt x="39" y="16"/>
                    </a:cubicBezTo>
                    <a:cubicBezTo>
                      <a:pt x="42" y="18"/>
                      <a:pt x="42" y="25"/>
                      <a:pt x="39" y="35"/>
                    </a:cubicBezTo>
                    <a:cubicBezTo>
                      <a:pt x="36" y="46"/>
                      <a:pt x="36" y="46"/>
                      <a:pt x="36" y="46"/>
                    </a:cubicBezTo>
                    <a:cubicBezTo>
                      <a:pt x="46" y="40"/>
                      <a:pt x="46" y="40"/>
                      <a:pt x="46" y="40"/>
                    </a:cubicBezTo>
                    <a:cubicBezTo>
                      <a:pt x="62" y="29"/>
                      <a:pt x="75" y="27"/>
                      <a:pt x="79" y="31"/>
                    </a:cubicBezTo>
                    <a:cubicBezTo>
                      <a:pt x="82" y="33"/>
                      <a:pt x="82" y="41"/>
                      <a:pt x="78" y="51"/>
                    </a:cubicBezTo>
                    <a:cubicBezTo>
                      <a:pt x="85" y="56"/>
                      <a:pt x="85" y="56"/>
                      <a:pt x="85" y="56"/>
                    </a:cubicBezTo>
                    <a:cubicBezTo>
                      <a:pt x="101" y="42"/>
                      <a:pt x="116" y="39"/>
                      <a:pt x="121" y="43"/>
                    </a:cubicBezTo>
                    <a:cubicBezTo>
                      <a:pt x="124" y="46"/>
                      <a:pt x="123" y="53"/>
                      <a:pt x="119" y="62"/>
                    </a:cubicBezTo>
                    <a:cubicBezTo>
                      <a:pt x="111" y="76"/>
                      <a:pt x="111" y="76"/>
                      <a:pt x="111" y="76"/>
                    </a:cubicBezTo>
                    <a:cubicBezTo>
                      <a:pt x="125" y="68"/>
                      <a:pt x="125" y="68"/>
                      <a:pt x="125" y="68"/>
                    </a:cubicBezTo>
                    <a:cubicBezTo>
                      <a:pt x="134" y="62"/>
                      <a:pt x="149" y="62"/>
                      <a:pt x="156" y="68"/>
                    </a:cubicBezTo>
                    <a:cubicBezTo>
                      <a:pt x="161" y="74"/>
                      <a:pt x="158" y="82"/>
                      <a:pt x="154" y="88"/>
                    </a:cubicBezTo>
                    <a:cubicBezTo>
                      <a:pt x="162" y="93"/>
                      <a:pt x="162" y="93"/>
                      <a:pt x="162" y="93"/>
                    </a:cubicBezTo>
                    <a:cubicBezTo>
                      <a:pt x="172" y="76"/>
                      <a:pt x="166" y="66"/>
                      <a:pt x="162" y="6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00" name="Freeform 1875">
                <a:extLst>
                  <a:ext uri="{FF2B5EF4-FFF2-40B4-BE49-F238E27FC236}">
                    <a16:creationId xmlns:a16="http://schemas.microsoft.com/office/drawing/2014/main" id="{813D98CE-D20B-1385-05AD-74B0E8DEED11}"/>
                  </a:ext>
                </a:extLst>
              </p:cNvPr>
              <p:cNvSpPr>
                <a:spLocks/>
              </p:cNvSpPr>
              <p:nvPr/>
            </p:nvSpPr>
            <p:spPr bwMode="auto">
              <a:xfrm>
                <a:off x="3279" y="2032"/>
                <a:ext cx="42" cy="34"/>
              </a:xfrm>
              <a:custGeom>
                <a:avLst/>
                <a:gdLst>
                  <a:gd name="T0" fmla="*/ 188 w 192"/>
                  <a:gd name="T1" fmla="*/ 142 h 154"/>
                  <a:gd name="T2" fmla="*/ 189 w 192"/>
                  <a:gd name="T3" fmla="*/ 117 h 154"/>
                  <a:gd name="T4" fmla="*/ 183 w 192"/>
                  <a:gd name="T5" fmla="*/ 112 h 154"/>
                  <a:gd name="T6" fmla="*/ 162 w 192"/>
                  <a:gd name="T7" fmla="*/ 118 h 154"/>
                  <a:gd name="T8" fmla="*/ 165 w 192"/>
                  <a:gd name="T9" fmla="*/ 88 h 154"/>
                  <a:gd name="T10" fmla="*/ 158 w 192"/>
                  <a:gd name="T11" fmla="*/ 84 h 154"/>
                  <a:gd name="T12" fmla="*/ 131 w 192"/>
                  <a:gd name="T13" fmla="*/ 92 h 154"/>
                  <a:gd name="T14" fmla="*/ 119 w 192"/>
                  <a:gd name="T15" fmla="*/ 73 h 154"/>
                  <a:gd name="T16" fmla="*/ 118 w 192"/>
                  <a:gd name="T17" fmla="*/ 66 h 154"/>
                  <a:gd name="T18" fmla="*/ 112 w 192"/>
                  <a:gd name="T19" fmla="*/ 70 h 154"/>
                  <a:gd name="T20" fmla="*/ 91 w 192"/>
                  <a:gd name="T21" fmla="*/ 76 h 154"/>
                  <a:gd name="T22" fmla="*/ 79 w 192"/>
                  <a:gd name="T23" fmla="*/ 57 h 154"/>
                  <a:gd name="T24" fmla="*/ 76 w 192"/>
                  <a:gd name="T25" fmla="*/ 50 h 154"/>
                  <a:gd name="T26" fmla="*/ 72 w 192"/>
                  <a:gd name="T27" fmla="*/ 52 h 154"/>
                  <a:gd name="T28" fmla="*/ 49 w 192"/>
                  <a:gd name="T29" fmla="*/ 56 h 154"/>
                  <a:gd name="T30" fmla="*/ 49 w 192"/>
                  <a:gd name="T31" fmla="*/ 32 h 154"/>
                  <a:gd name="T32" fmla="*/ 53 w 192"/>
                  <a:gd name="T33" fmla="*/ 22 h 154"/>
                  <a:gd name="T34" fmla="*/ 43 w 192"/>
                  <a:gd name="T35" fmla="*/ 26 h 154"/>
                  <a:gd name="T36" fmla="*/ 16 w 192"/>
                  <a:gd name="T37" fmla="*/ 30 h 154"/>
                  <a:gd name="T38" fmla="*/ 19 w 192"/>
                  <a:gd name="T39" fmla="*/ 4 h 154"/>
                  <a:gd name="T40" fmla="*/ 11 w 192"/>
                  <a:gd name="T41" fmla="*/ 0 h 154"/>
                  <a:gd name="T42" fmla="*/ 10 w 192"/>
                  <a:gd name="T43" fmla="*/ 36 h 154"/>
                  <a:gd name="T44" fmla="*/ 38 w 192"/>
                  <a:gd name="T45" fmla="*/ 37 h 154"/>
                  <a:gd name="T46" fmla="*/ 43 w 192"/>
                  <a:gd name="T47" fmla="*/ 62 h 154"/>
                  <a:gd name="T48" fmla="*/ 71 w 192"/>
                  <a:gd name="T49" fmla="*/ 62 h 154"/>
                  <a:gd name="T50" fmla="*/ 88 w 192"/>
                  <a:gd name="T51" fmla="*/ 84 h 154"/>
                  <a:gd name="T52" fmla="*/ 112 w 192"/>
                  <a:gd name="T53" fmla="*/ 80 h 154"/>
                  <a:gd name="T54" fmla="*/ 128 w 192"/>
                  <a:gd name="T55" fmla="*/ 100 h 154"/>
                  <a:gd name="T56" fmla="*/ 153 w 192"/>
                  <a:gd name="T57" fmla="*/ 97 h 154"/>
                  <a:gd name="T58" fmla="*/ 156 w 192"/>
                  <a:gd name="T59" fmla="*/ 125 h 154"/>
                  <a:gd name="T60" fmla="*/ 178 w 192"/>
                  <a:gd name="T61" fmla="*/ 124 h 154"/>
                  <a:gd name="T62" fmla="*/ 182 w 192"/>
                  <a:gd name="T63" fmla="*/ 148 h 154"/>
                  <a:gd name="T64" fmla="*/ 188 w 192"/>
                  <a:gd name="T65" fmla="*/ 142 h 1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92" h="154">
                    <a:moveTo>
                      <a:pt x="188" y="142"/>
                    </a:moveTo>
                    <a:cubicBezTo>
                      <a:pt x="184" y="138"/>
                      <a:pt x="185" y="128"/>
                      <a:pt x="189" y="117"/>
                    </a:cubicBezTo>
                    <a:cubicBezTo>
                      <a:pt x="183" y="112"/>
                      <a:pt x="183" y="112"/>
                      <a:pt x="183" y="112"/>
                    </a:cubicBezTo>
                    <a:cubicBezTo>
                      <a:pt x="168" y="121"/>
                      <a:pt x="163" y="119"/>
                      <a:pt x="162" y="118"/>
                    </a:cubicBezTo>
                    <a:cubicBezTo>
                      <a:pt x="159" y="115"/>
                      <a:pt x="159" y="104"/>
                      <a:pt x="165" y="88"/>
                    </a:cubicBezTo>
                    <a:cubicBezTo>
                      <a:pt x="158" y="84"/>
                      <a:pt x="158" y="84"/>
                      <a:pt x="158" y="84"/>
                    </a:cubicBezTo>
                    <a:cubicBezTo>
                      <a:pt x="148" y="92"/>
                      <a:pt x="139" y="95"/>
                      <a:pt x="131" y="92"/>
                    </a:cubicBezTo>
                    <a:cubicBezTo>
                      <a:pt x="125" y="89"/>
                      <a:pt x="120" y="82"/>
                      <a:pt x="119" y="73"/>
                    </a:cubicBezTo>
                    <a:cubicBezTo>
                      <a:pt x="118" y="66"/>
                      <a:pt x="118" y="66"/>
                      <a:pt x="118" y="66"/>
                    </a:cubicBezTo>
                    <a:cubicBezTo>
                      <a:pt x="112" y="70"/>
                      <a:pt x="112" y="70"/>
                      <a:pt x="112" y="70"/>
                    </a:cubicBezTo>
                    <a:cubicBezTo>
                      <a:pt x="103" y="76"/>
                      <a:pt x="96" y="78"/>
                      <a:pt x="91" y="76"/>
                    </a:cubicBezTo>
                    <a:cubicBezTo>
                      <a:pt x="84" y="74"/>
                      <a:pt x="81" y="63"/>
                      <a:pt x="79" y="57"/>
                    </a:cubicBezTo>
                    <a:cubicBezTo>
                      <a:pt x="76" y="50"/>
                      <a:pt x="76" y="50"/>
                      <a:pt x="76" y="50"/>
                    </a:cubicBezTo>
                    <a:cubicBezTo>
                      <a:pt x="72" y="52"/>
                      <a:pt x="72" y="52"/>
                      <a:pt x="72" y="52"/>
                    </a:cubicBezTo>
                    <a:cubicBezTo>
                      <a:pt x="61" y="58"/>
                      <a:pt x="53" y="59"/>
                      <a:pt x="49" y="56"/>
                    </a:cubicBezTo>
                    <a:cubicBezTo>
                      <a:pt x="45" y="52"/>
                      <a:pt x="45" y="42"/>
                      <a:pt x="49" y="32"/>
                    </a:cubicBezTo>
                    <a:cubicBezTo>
                      <a:pt x="53" y="22"/>
                      <a:pt x="53" y="22"/>
                      <a:pt x="53" y="22"/>
                    </a:cubicBezTo>
                    <a:cubicBezTo>
                      <a:pt x="43" y="26"/>
                      <a:pt x="43" y="26"/>
                      <a:pt x="43" y="26"/>
                    </a:cubicBezTo>
                    <a:cubicBezTo>
                      <a:pt x="23" y="35"/>
                      <a:pt x="17" y="32"/>
                      <a:pt x="16" y="30"/>
                    </a:cubicBezTo>
                    <a:cubicBezTo>
                      <a:pt x="11" y="25"/>
                      <a:pt x="16" y="11"/>
                      <a:pt x="19" y="4"/>
                    </a:cubicBezTo>
                    <a:cubicBezTo>
                      <a:pt x="11" y="0"/>
                      <a:pt x="11" y="0"/>
                      <a:pt x="11" y="0"/>
                    </a:cubicBezTo>
                    <a:cubicBezTo>
                      <a:pt x="10" y="3"/>
                      <a:pt x="0" y="26"/>
                      <a:pt x="10" y="36"/>
                    </a:cubicBezTo>
                    <a:cubicBezTo>
                      <a:pt x="15" y="42"/>
                      <a:pt x="25" y="42"/>
                      <a:pt x="38" y="37"/>
                    </a:cubicBezTo>
                    <a:cubicBezTo>
                      <a:pt x="36" y="47"/>
                      <a:pt x="37" y="57"/>
                      <a:pt x="43" y="62"/>
                    </a:cubicBezTo>
                    <a:cubicBezTo>
                      <a:pt x="48" y="66"/>
                      <a:pt x="56" y="69"/>
                      <a:pt x="71" y="62"/>
                    </a:cubicBezTo>
                    <a:cubicBezTo>
                      <a:pt x="74" y="69"/>
                      <a:pt x="78" y="81"/>
                      <a:pt x="88" y="84"/>
                    </a:cubicBezTo>
                    <a:cubicBezTo>
                      <a:pt x="95" y="87"/>
                      <a:pt x="103" y="84"/>
                      <a:pt x="112" y="80"/>
                    </a:cubicBezTo>
                    <a:cubicBezTo>
                      <a:pt x="114" y="89"/>
                      <a:pt x="120" y="97"/>
                      <a:pt x="128" y="100"/>
                    </a:cubicBezTo>
                    <a:cubicBezTo>
                      <a:pt x="136" y="103"/>
                      <a:pt x="144" y="102"/>
                      <a:pt x="153" y="97"/>
                    </a:cubicBezTo>
                    <a:cubicBezTo>
                      <a:pt x="151" y="107"/>
                      <a:pt x="150" y="119"/>
                      <a:pt x="156" y="125"/>
                    </a:cubicBezTo>
                    <a:cubicBezTo>
                      <a:pt x="161" y="129"/>
                      <a:pt x="168" y="128"/>
                      <a:pt x="178" y="124"/>
                    </a:cubicBezTo>
                    <a:cubicBezTo>
                      <a:pt x="176" y="132"/>
                      <a:pt x="176" y="142"/>
                      <a:pt x="182" y="148"/>
                    </a:cubicBezTo>
                    <a:cubicBezTo>
                      <a:pt x="187" y="154"/>
                      <a:pt x="192" y="146"/>
                      <a:pt x="188" y="14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01" name="Freeform 1876">
                <a:extLst>
                  <a:ext uri="{FF2B5EF4-FFF2-40B4-BE49-F238E27FC236}">
                    <a16:creationId xmlns:a16="http://schemas.microsoft.com/office/drawing/2014/main" id="{E9CE7AA2-2ED4-64A1-41F6-2217FFB1105C}"/>
                  </a:ext>
                </a:extLst>
              </p:cNvPr>
              <p:cNvSpPr>
                <a:spLocks/>
              </p:cNvSpPr>
              <p:nvPr/>
            </p:nvSpPr>
            <p:spPr bwMode="auto">
              <a:xfrm>
                <a:off x="3341" y="4048"/>
                <a:ext cx="17" cy="15"/>
              </a:xfrm>
              <a:custGeom>
                <a:avLst/>
                <a:gdLst>
                  <a:gd name="T0" fmla="*/ 6 w 76"/>
                  <a:gd name="T1" fmla="*/ 21 h 67"/>
                  <a:gd name="T2" fmla="*/ 26 w 76"/>
                  <a:gd name="T3" fmla="*/ 25 h 67"/>
                  <a:gd name="T4" fmla="*/ 22 w 76"/>
                  <a:gd name="T5" fmla="*/ 44 h 67"/>
                  <a:gd name="T6" fmla="*/ 38 w 76"/>
                  <a:gd name="T7" fmla="*/ 52 h 67"/>
                  <a:gd name="T8" fmla="*/ 39 w 76"/>
                  <a:gd name="T9" fmla="*/ 52 h 67"/>
                  <a:gd name="T10" fmla="*/ 45 w 76"/>
                  <a:gd name="T11" fmla="*/ 62 h 67"/>
                  <a:gd name="T12" fmla="*/ 76 w 76"/>
                  <a:gd name="T13" fmla="*/ 52 h 67"/>
                  <a:gd name="T14" fmla="*/ 71 w 76"/>
                  <a:gd name="T15" fmla="*/ 45 h 67"/>
                  <a:gd name="T16" fmla="*/ 49 w 76"/>
                  <a:gd name="T17" fmla="*/ 54 h 67"/>
                  <a:gd name="T18" fmla="*/ 46 w 76"/>
                  <a:gd name="T19" fmla="*/ 48 h 67"/>
                  <a:gd name="T20" fmla="*/ 46 w 76"/>
                  <a:gd name="T21" fmla="*/ 44 h 67"/>
                  <a:gd name="T22" fmla="*/ 40 w 76"/>
                  <a:gd name="T23" fmla="*/ 43 h 67"/>
                  <a:gd name="T24" fmla="*/ 30 w 76"/>
                  <a:gd name="T25" fmla="*/ 40 h 67"/>
                  <a:gd name="T26" fmla="*/ 38 w 76"/>
                  <a:gd name="T27" fmla="*/ 20 h 67"/>
                  <a:gd name="T28" fmla="*/ 44 w 76"/>
                  <a:gd name="T29" fmla="*/ 10 h 67"/>
                  <a:gd name="T30" fmla="*/ 33 w 76"/>
                  <a:gd name="T31" fmla="*/ 14 h 67"/>
                  <a:gd name="T32" fmla="*/ 12 w 76"/>
                  <a:gd name="T33" fmla="*/ 15 h 67"/>
                  <a:gd name="T34" fmla="*/ 11 w 76"/>
                  <a:gd name="T35" fmla="*/ 2 h 67"/>
                  <a:gd name="T36" fmla="*/ 2 w 76"/>
                  <a:gd name="T37" fmla="*/ 0 h 67"/>
                  <a:gd name="T38" fmla="*/ 6 w 76"/>
                  <a:gd name="T39" fmla="*/ 2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6" h="67">
                    <a:moveTo>
                      <a:pt x="6" y="21"/>
                    </a:moveTo>
                    <a:cubicBezTo>
                      <a:pt x="11" y="26"/>
                      <a:pt x="19" y="26"/>
                      <a:pt x="26" y="25"/>
                    </a:cubicBezTo>
                    <a:cubicBezTo>
                      <a:pt x="21" y="33"/>
                      <a:pt x="20" y="39"/>
                      <a:pt x="22" y="44"/>
                    </a:cubicBezTo>
                    <a:cubicBezTo>
                      <a:pt x="25" y="49"/>
                      <a:pt x="31" y="51"/>
                      <a:pt x="38" y="52"/>
                    </a:cubicBezTo>
                    <a:cubicBezTo>
                      <a:pt x="38" y="52"/>
                      <a:pt x="39" y="52"/>
                      <a:pt x="39" y="52"/>
                    </a:cubicBezTo>
                    <a:cubicBezTo>
                      <a:pt x="40" y="57"/>
                      <a:pt x="42" y="60"/>
                      <a:pt x="45" y="62"/>
                    </a:cubicBezTo>
                    <a:cubicBezTo>
                      <a:pt x="56" y="67"/>
                      <a:pt x="73" y="55"/>
                      <a:pt x="76" y="52"/>
                    </a:cubicBezTo>
                    <a:cubicBezTo>
                      <a:pt x="71" y="45"/>
                      <a:pt x="71" y="45"/>
                      <a:pt x="71" y="45"/>
                    </a:cubicBezTo>
                    <a:cubicBezTo>
                      <a:pt x="65" y="50"/>
                      <a:pt x="53" y="56"/>
                      <a:pt x="49" y="54"/>
                    </a:cubicBezTo>
                    <a:cubicBezTo>
                      <a:pt x="47" y="53"/>
                      <a:pt x="47" y="51"/>
                      <a:pt x="46" y="48"/>
                    </a:cubicBezTo>
                    <a:cubicBezTo>
                      <a:pt x="46" y="44"/>
                      <a:pt x="46" y="44"/>
                      <a:pt x="46" y="44"/>
                    </a:cubicBezTo>
                    <a:cubicBezTo>
                      <a:pt x="40" y="43"/>
                      <a:pt x="40" y="43"/>
                      <a:pt x="40" y="43"/>
                    </a:cubicBezTo>
                    <a:cubicBezTo>
                      <a:pt x="36" y="43"/>
                      <a:pt x="31" y="42"/>
                      <a:pt x="30" y="40"/>
                    </a:cubicBezTo>
                    <a:cubicBezTo>
                      <a:pt x="29" y="39"/>
                      <a:pt x="29" y="35"/>
                      <a:pt x="38" y="20"/>
                    </a:cubicBezTo>
                    <a:cubicBezTo>
                      <a:pt x="44" y="10"/>
                      <a:pt x="44" y="10"/>
                      <a:pt x="44" y="10"/>
                    </a:cubicBezTo>
                    <a:cubicBezTo>
                      <a:pt x="33" y="14"/>
                      <a:pt x="33" y="14"/>
                      <a:pt x="33" y="14"/>
                    </a:cubicBezTo>
                    <a:cubicBezTo>
                      <a:pt x="29" y="16"/>
                      <a:pt x="17" y="19"/>
                      <a:pt x="12" y="15"/>
                    </a:cubicBezTo>
                    <a:cubicBezTo>
                      <a:pt x="9" y="12"/>
                      <a:pt x="10" y="6"/>
                      <a:pt x="11" y="2"/>
                    </a:cubicBezTo>
                    <a:cubicBezTo>
                      <a:pt x="2" y="0"/>
                      <a:pt x="2" y="0"/>
                      <a:pt x="2" y="0"/>
                    </a:cubicBezTo>
                    <a:cubicBezTo>
                      <a:pt x="0" y="10"/>
                      <a:pt x="1" y="17"/>
                      <a:pt x="6"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02" name="Freeform 1877">
                <a:extLst>
                  <a:ext uri="{FF2B5EF4-FFF2-40B4-BE49-F238E27FC236}">
                    <a16:creationId xmlns:a16="http://schemas.microsoft.com/office/drawing/2014/main" id="{C6D4831E-E859-5F5F-8557-CEB0D82BA10F}"/>
                  </a:ext>
                </a:extLst>
              </p:cNvPr>
              <p:cNvSpPr>
                <a:spLocks noEditPoints="1"/>
              </p:cNvSpPr>
              <p:nvPr/>
            </p:nvSpPr>
            <p:spPr bwMode="auto">
              <a:xfrm>
                <a:off x="3350" y="4043"/>
                <a:ext cx="8" cy="10"/>
              </a:xfrm>
              <a:custGeom>
                <a:avLst/>
                <a:gdLst>
                  <a:gd name="T0" fmla="*/ 15 w 35"/>
                  <a:gd name="T1" fmla="*/ 42 h 45"/>
                  <a:gd name="T2" fmla="*/ 28 w 35"/>
                  <a:gd name="T3" fmla="*/ 43 h 45"/>
                  <a:gd name="T4" fmla="*/ 29 w 35"/>
                  <a:gd name="T5" fmla="*/ 17 h 45"/>
                  <a:gd name="T6" fmla="*/ 6 w 35"/>
                  <a:gd name="T7" fmla="*/ 4 h 45"/>
                  <a:gd name="T8" fmla="*/ 0 w 35"/>
                  <a:gd name="T9" fmla="*/ 15 h 45"/>
                  <a:gd name="T10" fmla="*/ 5 w 35"/>
                  <a:gd name="T11" fmla="*/ 30 h 45"/>
                  <a:gd name="T12" fmla="*/ 15 w 35"/>
                  <a:gd name="T13" fmla="*/ 42 h 45"/>
                  <a:gd name="T14" fmla="*/ 23 w 35"/>
                  <a:gd name="T15" fmla="*/ 36 h 45"/>
                  <a:gd name="T16" fmla="*/ 19 w 35"/>
                  <a:gd name="T17" fmla="*/ 34 h 45"/>
                  <a:gd name="T18" fmla="*/ 12 w 35"/>
                  <a:gd name="T19" fmla="*/ 26 h 45"/>
                  <a:gd name="T20" fmla="*/ 9 w 35"/>
                  <a:gd name="T21" fmla="*/ 15 h 45"/>
                  <a:gd name="T22" fmla="*/ 10 w 35"/>
                  <a:gd name="T23" fmla="*/ 11 h 45"/>
                  <a:gd name="T24" fmla="*/ 21 w 35"/>
                  <a:gd name="T25" fmla="*/ 21 h 45"/>
                  <a:gd name="T26" fmla="*/ 23 w 35"/>
                  <a:gd name="T27" fmla="*/ 36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5" h="45">
                    <a:moveTo>
                      <a:pt x="15" y="42"/>
                    </a:moveTo>
                    <a:cubicBezTo>
                      <a:pt x="19" y="45"/>
                      <a:pt x="24" y="45"/>
                      <a:pt x="28" y="43"/>
                    </a:cubicBezTo>
                    <a:cubicBezTo>
                      <a:pt x="34" y="39"/>
                      <a:pt x="35" y="28"/>
                      <a:pt x="29" y="17"/>
                    </a:cubicBezTo>
                    <a:cubicBezTo>
                      <a:pt x="22" y="5"/>
                      <a:pt x="12" y="0"/>
                      <a:pt x="6" y="4"/>
                    </a:cubicBezTo>
                    <a:cubicBezTo>
                      <a:pt x="2" y="6"/>
                      <a:pt x="0" y="10"/>
                      <a:pt x="0" y="15"/>
                    </a:cubicBezTo>
                    <a:cubicBezTo>
                      <a:pt x="0" y="20"/>
                      <a:pt x="2" y="25"/>
                      <a:pt x="5" y="30"/>
                    </a:cubicBezTo>
                    <a:cubicBezTo>
                      <a:pt x="7" y="35"/>
                      <a:pt x="11" y="39"/>
                      <a:pt x="15" y="42"/>
                    </a:cubicBezTo>
                    <a:close/>
                    <a:moveTo>
                      <a:pt x="23" y="36"/>
                    </a:moveTo>
                    <a:cubicBezTo>
                      <a:pt x="23" y="36"/>
                      <a:pt x="21" y="36"/>
                      <a:pt x="19" y="34"/>
                    </a:cubicBezTo>
                    <a:cubicBezTo>
                      <a:pt x="17" y="33"/>
                      <a:pt x="14" y="29"/>
                      <a:pt x="12" y="26"/>
                    </a:cubicBezTo>
                    <a:cubicBezTo>
                      <a:pt x="10" y="22"/>
                      <a:pt x="9" y="18"/>
                      <a:pt x="9" y="15"/>
                    </a:cubicBezTo>
                    <a:cubicBezTo>
                      <a:pt x="9" y="13"/>
                      <a:pt x="9" y="11"/>
                      <a:pt x="10" y="11"/>
                    </a:cubicBezTo>
                    <a:cubicBezTo>
                      <a:pt x="11" y="10"/>
                      <a:pt x="17" y="13"/>
                      <a:pt x="21" y="21"/>
                    </a:cubicBezTo>
                    <a:cubicBezTo>
                      <a:pt x="25" y="29"/>
                      <a:pt x="25" y="35"/>
                      <a:pt x="23"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03" name="Freeform 1878">
                <a:extLst>
                  <a:ext uri="{FF2B5EF4-FFF2-40B4-BE49-F238E27FC236}">
                    <a16:creationId xmlns:a16="http://schemas.microsoft.com/office/drawing/2014/main" id="{5E7E97C8-760B-AFC8-B7E7-D7EB715E1BD8}"/>
                  </a:ext>
                </a:extLst>
              </p:cNvPr>
              <p:cNvSpPr>
                <a:spLocks/>
              </p:cNvSpPr>
              <p:nvPr/>
            </p:nvSpPr>
            <p:spPr bwMode="auto">
              <a:xfrm>
                <a:off x="3346" y="4109"/>
                <a:ext cx="19" cy="9"/>
              </a:xfrm>
              <a:custGeom>
                <a:avLst/>
                <a:gdLst>
                  <a:gd name="T0" fmla="*/ 70 w 88"/>
                  <a:gd name="T1" fmla="*/ 5 h 41"/>
                  <a:gd name="T2" fmla="*/ 55 w 88"/>
                  <a:gd name="T3" fmla="*/ 17 h 41"/>
                  <a:gd name="T4" fmla="*/ 43 w 88"/>
                  <a:gd name="T5" fmla="*/ 2 h 41"/>
                  <a:gd name="T6" fmla="*/ 26 w 88"/>
                  <a:gd name="T7" fmla="*/ 8 h 41"/>
                  <a:gd name="T8" fmla="*/ 26 w 88"/>
                  <a:gd name="T9" fmla="*/ 8 h 41"/>
                  <a:gd name="T10" fmla="*/ 14 w 88"/>
                  <a:gd name="T11" fmla="*/ 6 h 41"/>
                  <a:gd name="T12" fmla="*/ 0 w 88"/>
                  <a:gd name="T13" fmla="*/ 35 h 41"/>
                  <a:gd name="T14" fmla="*/ 8 w 88"/>
                  <a:gd name="T15" fmla="*/ 36 h 41"/>
                  <a:gd name="T16" fmla="*/ 17 w 88"/>
                  <a:gd name="T17" fmla="*/ 14 h 41"/>
                  <a:gd name="T18" fmla="*/ 23 w 88"/>
                  <a:gd name="T19" fmla="*/ 17 h 41"/>
                  <a:gd name="T20" fmla="*/ 26 w 88"/>
                  <a:gd name="T21" fmla="*/ 19 h 41"/>
                  <a:gd name="T22" fmla="*/ 31 w 88"/>
                  <a:gd name="T23" fmla="*/ 15 h 41"/>
                  <a:gd name="T24" fmla="*/ 40 w 88"/>
                  <a:gd name="T25" fmla="*/ 10 h 41"/>
                  <a:gd name="T26" fmla="*/ 49 w 88"/>
                  <a:gd name="T27" fmla="*/ 29 h 41"/>
                  <a:gd name="T28" fmla="*/ 53 w 88"/>
                  <a:gd name="T29" fmla="*/ 41 h 41"/>
                  <a:gd name="T30" fmla="*/ 57 w 88"/>
                  <a:gd name="T31" fmla="*/ 30 h 41"/>
                  <a:gd name="T32" fmla="*/ 71 w 88"/>
                  <a:gd name="T33" fmla="*/ 14 h 41"/>
                  <a:gd name="T34" fmla="*/ 81 w 88"/>
                  <a:gd name="T35" fmla="*/ 21 h 41"/>
                  <a:gd name="T36" fmla="*/ 88 w 88"/>
                  <a:gd name="T37" fmla="*/ 17 h 41"/>
                  <a:gd name="T38" fmla="*/ 70 w 88"/>
                  <a:gd name="T39" fmla="*/ 5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88" h="41">
                    <a:moveTo>
                      <a:pt x="70" y="5"/>
                    </a:moveTo>
                    <a:cubicBezTo>
                      <a:pt x="63" y="6"/>
                      <a:pt x="58" y="12"/>
                      <a:pt x="55" y="17"/>
                    </a:cubicBezTo>
                    <a:cubicBezTo>
                      <a:pt x="51" y="8"/>
                      <a:pt x="48" y="3"/>
                      <a:pt x="43" y="2"/>
                    </a:cubicBezTo>
                    <a:cubicBezTo>
                      <a:pt x="37" y="0"/>
                      <a:pt x="32" y="4"/>
                      <a:pt x="26" y="8"/>
                    </a:cubicBezTo>
                    <a:cubicBezTo>
                      <a:pt x="26" y="8"/>
                      <a:pt x="26" y="8"/>
                      <a:pt x="26" y="8"/>
                    </a:cubicBezTo>
                    <a:cubicBezTo>
                      <a:pt x="21" y="6"/>
                      <a:pt x="17" y="5"/>
                      <a:pt x="14" y="6"/>
                    </a:cubicBezTo>
                    <a:cubicBezTo>
                      <a:pt x="3" y="11"/>
                      <a:pt x="0" y="31"/>
                      <a:pt x="0" y="35"/>
                    </a:cubicBezTo>
                    <a:cubicBezTo>
                      <a:pt x="8" y="36"/>
                      <a:pt x="8" y="36"/>
                      <a:pt x="8" y="36"/>
                    </a:cubicBezTo>
                    <a:cubicBezTo>
                      <a:pt x="9" y="29"/>
                      <a:pt x="13" y="16"/>
                      <a:pt x="17" y="14"/>
                    </a:cubicBezTo>
                    <a:cubicBezTo>
                      <a:pt x="19" y="14"/>
                      <a:pt x="21" y="15"/>
                      <a:pt x="23" y="17"/>
                    </a:cubicBezTo>
                    <a:cubicBezTo>
                      <a:pt x="26" y="19"/>
                      <a:pt x="26" y="19"/>
                      <a:pt x="26" y="19"/>
                    </a:cubicBezTo>
                    <a:cubicBezTo>
                      <a:pt x="31" y="15"/>
                      <a:pt x="31" y="15"/>
                      <a:pt x="31" y="15"/>
                    </a:cubicBezTo>
                    <a:cubicBezTo>
                      <a:pt x="35" y="12"/>
                      <a:pt x="39" y="9"/>
                      <a:pt x="40" y="10"/>
                    </a:cubicBezTo>
                    <a:cubicBezTo>
                      <a:pt x="42" y="10"/>
                      <a:pt x="45" y="13"/>
                      <a:pt x="49" y="29"/>
                    </a:cubicBezTo>
                    <a:cubicBezTo>
                      <a:pt x="53" y="41"/>
                      <a:pt x="53" y="41"/>
                      <a:pt x="53" y="41"/>
                    </a:cubicBezTo>
                    <a:cubicBezTo>
                      <a:pt x="57" y="30"/>
                      <a:pt x="57" y="30"/>
                      <a:pt x="57" y="30"/>
                    </a:cubicBezTo>
                    <a:cubicBezTo>
                      <a:pt x="59" y="26"/>
                      <a:pt x="65" y="15"/>
                      <a:pt x="71" y="14"/>
                    </a:cubicBezTo>
                    <a:cubicBezTo>
                      <a:pt x="75" y="14"/>
                      <a:pt x="79" y="18"/>
                      <a:pt x="81" y="21"/>
                    </a:cubicBezTo>
                    <a:cubicBezTo>
                      <a:pt x="88" y="17"/>
                      <a:pt x="88" y="17"/>
                      <a:pt x="88" y="17"/>
                    </a:cubicBezTo>
                    <a:cubicBezTo>
                      <a:pt x="83" y="9"/>
                      <a:pt x="77" y="5"/>
                      <a:pt x="7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04" name="Freeform 1879">
                <a:extLst>
                  <a:ext uri="{FF2B5EF4-FFF2-40B4-BE49-F238E27FC236}">
                    <a16:creationId xmlns:a16="http://schemas.microsoft.com/office/drawing/2014/main" id="{0C93E78D-F520-33E8-E1C5-87C867BCE399}"/>
                  </a:ext>
                </a:extLst>
              </p:cNvPr>
              <p:cNvSpPr>
                <a:spLocks noEditPoints="1"/>
              </p:cNvSpPr>
              <p:nvPr/>
            </p:nvSpPr>
            <p:spPr bwMode="auto">
              <a:xfrm>
                <a:off x="3352" y="4118"/>
                <a:ext cx="10" cy="8"/>
              </a:xfrm>
              <a:custGeom>
                <a:avLst/>
                <a:gdLst>
                  <a:gd name="T0" fmla="*/ 12 w 47"/>
                  <a:gd name="T1" fmla="*/ 1 h 32"/>
                  <a:gd name="T2" fmla="*/ 2 w 47"/>
                  <a:gd name="T3" fmla="*/ 10 h 32"/>
                  <a:gd name="T4" fmla="*/ 20 w 47"/>
                  <a:gd name="T5" fmla="*/ 28 h 32"/>
                  <a:gd name="T6" fmla="*/ 46 w 47"/>
                  <a:gd name="T7" fmla="*/ 21 h 32"/>
                  <a:gd name="T8" fmla="*/ 41 w 47"/>
                  <a:gd name="T9" fmla="*/ 8 h 32"/>
                  <a:gd name="T10" fmla="*/ 27 w 47"/>
                  <a:gd name="T11" fmla="*/ 2 h 32"/>
                  <a:gd name="T12" fmla="*/ 12 w 47"/>
                  <a:gd name="T13" fmla="*/ 1 h 32"/>
                  <a:gd name="T14" fmla="*/ 10 w 47"/>
                  <a:gd name="T15" fmla="*/ 12 h 32"/>
                  <a:gd name="T16" fmla="*/ 14 w 47"/>
                  <a:gd name="T17" fmla="*/ 10 h 32"/>
                  <a:gd name="T18" fmla="*/ 25 w 47"/>
                  <a:gd name="T19" fmla="*/ 10 h 32"/>
                  <a:gd name="T20" fmla="*/ 35 w 47"/>
                  <a:gd name="T21" fmla="*/ 15 h 32"/>
                  <a:gd name="T22" fmla="*/ 37 w 47"/>
                  <a:gd name="T23" fmla="*/ 18 h 32"/>
                  <a:gd name="T24" fmla="*/ 22 w 47"/>
                  <a:gd name="T25" fmla="*/ 20 h 32"/>
                  <a:gd name="T26" fmla="*/ 10 w 47"/>
                  <a:gd name="T27" fmla="*/ 12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7" h="32">
                    <a:moveTo>
                      <a:pt x="12" y="1"/>
                    </a:moveTo>
                    <a:cubicBezTo>
                      <a:pt x="6" y="3"/>
                      <a:pt x="3" y="6"/>
                      <a:pt x="2" y="10"/>
                    </a:cubicBezTo>
                    <a:cubicBezTo>
                      <a:pt x="0" y="17"/>
                      <a:pt x="8" y="25"/>
                      <a:pt x="20" y="28"/>
                    </a:cubicBezTo>
                    <a:cubicBezTo>
                      <a:pt x="33" y="32"/>
                      <a:pt x="44" y="28"/>
                      <a:pt x="46" y="21"/>
                    </a:cubicBezTo>
                    <a:cubicBezTo>
                      <a:pt x="47" y="16"/>
                      <a:pt x="45" y="12"/>
                      <a:pt x="41" y="8"/>
                    </a:cubicBezTo>
                    <a:cubicBezTo>
                      <a:pt x="37" y="5"/>
                      <a:pt x="32" y="3"/>
                      <a:pt x="27" y="2"/>
                    </a:cubicBezTo>
                    <a:cubicBezTo>
                      <a:pt x="22" y="0"/>
                      <a:pt x="16" y="0"/>
                      <a:pt x="12" y="1"/>
                    </a:cubicBezTo>
                    <a:close/>
                    <a:moveTo>
                      <a:pt x="10" y="12"/>
                    </a:moveTo>
                    <a:cubicBezTo>
                      <a:pt x="10" y="11"/>
                      <a:pt x="11" y="10"/>
                      <a:pt x="14" y="10"/>
                    </a:cubicBezTo>
                    <a:cubicBezTo>
                      <a:pt x="17" y="9"/>
                      <a:pt x="21" y="9"/>
                      <a:pt x="25" y="10"/>
                    </a:cubicBezTo>
                    <a:cubicBezTo>
                      <a:pt x="29" y="11"/>
                      <a:pt x="33" y="13"/>
                      <a:pt x="35" y="15"/>
                    </a:cubicBezTo>
                    <a:cubicBezTo>
                      <a:pt x="37" y="17"/>
                      <a:pt x="37" y="18"/>
                      <a:pt x="37" y="18"/>
                    </a:cubicBezTo>
                    <a:cubicBezTo>
                      <a:pt x="37" y="20"/>
                      <a:pt x="31" y="22"/>
                      <a:pt x="22" y="20"/>
                    </a:cubicBezTo>
                    <a:cubicBezTo>
                      <a:pt x="14" y="18"/>
                      <a:pt x="10" y="13"/>
                      <a:pt x="1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05" name="Freeform 1880">
                <a:extLst>
                  <a:ext uri="{FF2B5EF4-FFF2-40B4-BE49-F238E27FC236}">
                    <a16:creationId xmlns:a16="http://schemas.microsoft.com/office/drawing/2014/main" id="{6241AC98-E025-5AF5-93D7-1BFBA728C134}"/>
                  </a:ext>
                </a:extLst>
              </p:cNvPr>
              <p:cNvSpPr>
                <a:spLocks/>
              </p:cNvSpPr>
              <p:nvPr/>
            </p:nvSpPr>
            <p:spPr bwMode="auto">
              <a:xfrm>
                <a:off x="3302" y="4009"/>
                <a:ext cx="19" cy="13"/>
              </a:xfrm>
              <a:custGeom>
                <a:avLst/>
                <a:gdLst>
                  <a:gd name="T0" fmla="*/ 79 w 85"/>
                  <a:gd name="T1" fmla="*/ 10 h 59"/>
                  <a:gd name="T2" fmla="*/ 62 w 85"/>
                  <a:gd name="T3" fmla="*/ 1 h 59"/>
                  <a:gd name="T4" fmla="*/ 40 w 85"/>
                  <a:gd name="T5" fmla="*/ 29 h 59"/>
                  <a:gd name="T6" fmla="*/ 24 w 85"/>
                  <a:gd name="T7" fmla="*/ 19 h 59"/>
                  <a:gd name="T8" fmla="*/ 0 w 85"/>
                  <a:gd name="T9" fmla="*/ 57 h 59"/>
                  <a:gd name="T10" fmla="*/ 8 w 85"/>
                  <a:gd name="T11" fmla="*/ 59 h 59"/>
                  <a:gd name="T12" fmla="*/ 25 w 85"/>
                  <a:gd name="T13" fmla="*/ 27 h 59"/>
                  <a:gd name="T14" fmla="*/ 38 w 85"/>
                  <a:gd name="T15" fmla="*/ 40 h 59"/>
                  <a:gd name="T16" fmla="*/ 44 w 85"/>
                  <a:gd name="T17" fmla="*/ 50 h 59"/>
                  <a:gd name="T18" fmla="*/ 46 w 85"/>
                  <a:gd name="T19" fmla="*/ 39 h 59"/>
                  <a:gd name="T20" fmla="*/ 63 w 85"/>
                  <a:gd name="T21" fmla="*/ 9 h 59"/>
                  <a:gd name="T22" fmla="*/ 77 w 85"/>
                  <a:gd name="T23" fmla="*/ 24 h 59"/>
                  <a:gd name="T24" fmla="*/ 85 w 85"/>
                  <a:gd name="T25" fmla="*/ 23 h 59"/>
                  <a:gd name="T26" fmla="*/ 79 w 85"/>
                  <a:gd name="T27" fmla="*/ 1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85" h="59">
                    <a:moveTo>
                      <a:pt x="79" y="10"/>
                    </a:moveTo>
                    <a:cubicBezTo>
                      <a:pt x="73" y="2"/>
                      <a:pt x="67" y="0"/>
                      <a:pt x="62" y="1"/>
                    </a:cubicBezTo>
                    <a:cubicBezTo>
                      <a:pt x="53" y="2"/>
                      <a:pt x="45" y="12"/>
                      <a:pt x="40" y="29"/>
                    </a:cubicBezTo>
                    <a:cubicBezTo>
                      <a:pt x="35" y="22"/>
                      <a:pt x="29" y="18"/>
                      <a:pt x="24" y="19"/>
                    </a:cubicBezTo>
                    <a:cubicBezTo>
                      <a:pt x="8" y="21"/>
                      <a:pt x="1" y="51"/>
                      <a:pt x="0" y="57"/>
                    </a:cubicBezTo>
                    <a:cubicBezTo>
                      <a:pt x="8" y="59"/>
                      <a:pt x="8" y="59"/>
                      <a:pt x="8" y="59"/>
                    </a:cubicBezTo>
                    <a:cubicBezTo>
                      <a:pt x="11" y="47"/>
                      <a:pt x="18" y="28"/>
                      <a:pt x="25" y="27"/>
                    </a:cubicBezTo>
                    <a:cubicBezTo>
                      <a:pt x="28" y="27"/>
                      <a:pt x="33" y="31"/>
                      <a:pt x="38" y="40"/>
                    </a:cubicBezTo>
                    <a:cubicBezTo>
                      <a:pt x="44" y="50"/>
                      <a:pt x="44" y="50"/>
                      <a:pt x="44" y="50"/>
                    </a:cubicBezTo>
                    <a:cubicBezTo>
                      <a:pt x="46" y="39"/>
                      <a:pt x="46" y="39"/>
                      <a:pt x="46" y="39"/>
                    </a:cubicBezTo>
                    <a:cubicBezTo>
                      <a:pt x="50" y="20"/>
                      <a:pt x="58" y="10"/>
                      <a:pt x="63" y="9"/>
                    </a:cubicBezTo>
                    <a:cubicBezTo>
                      <a:pt x="68" y="9"/>
                      <a:pt x="73" y="14"/>
                      <a:pt x="77" y="24"/>
                    </a:cubicBezTo>
                    <a:cubicBezTo>
                      <a:pt x="85" y="23"/>
                      <a:pt x="85" y="23"/>
                      <a:pt x="85" y="23"/>
                    </a:cubicBezTo>
                    <a:cubicBezTo>
                      <a:pt x="79" y="17"/>
                      <a:pt x="82" y="20"/>
                      <a:pt x="7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06" name="Freeform 1881">
                <a:extLst>
                  <a:ext uri="{FF2B5EF4-FFF2-40B4-BE49-F238E27FC236}">
                    <a16:creationId xmlns:a16="http://schemas.microsoft.com/office/drawing/2014/main" id="{F566AD15-CE13-B6AA-725D-EC98C185D77F}"/>
                  </a:ext>
                </a:extLst>
              </p:cNvPr>
              <p:cNvSpPr>
                <a:spLocks/>
              </p:cNvSpPr>
              <p:nvPr/>
            </p:nvSpPr>
            <p:spPr bwMode="auto">
              <a:xfrm>
                <a:off x="3352" y="4146"/>
                <a:ext cx="28" cy="8"/>
              </a:xfrm>
              <a:custGeom>
                <a:avLst/>
                <a:gdLst>
                  <a:gd name="T0" fmla="*/ 12 w 125"/>
                  <a:gd name="T1" fmla="*/ 12 h 38"/>
                  <a:gd name="T2" fmla="*/ 40 w 125"/>
                  <a:gd name="T3" fmla="*/ 19 h 38"/>
                  <a:gd name="T4" fmla="*/ 61 w 125"/>
                  <a:gd name="T5" fmla="*/ 1 h 38"/>
                  <a:gd name="T6" fmla="*/ 81 w 125"/>
                  <a:gd name="T7" fmla="*/ 17 h 38"/>
                  <a:gd name="T8" fmla="*/ 104 w 125"/>
                  <a:gd name="T9" fmla="*/ 1 h 38"/>
                  <a:gd name="T10" fmla="*/ 125 w 125"/>
                  <a:gd name="T11" fmla="*/ 30 h 38"/>
                  <a:gd name="T12" fmla="*/ 116 w 125"/>
                  <a:gd name="T13" fmla="*/ 32 h 38"/>
                  <a:gd name="T14" fmla="*/ 103 w 125"/>
                  <a:gd name="T15" fmla="*/ 9 h 38"/>
                  <a:gd name="T16" fmla="*/ 84 w 125"/>
                  <a:gd name="T17" fmla="*/ 29 h 38"/>
                  <a:gd name="T18" fmla="*/ 79 w 125"/>
                  <a:gd name="T19" fmla="*/ 38 h 38"/>
                  <a:gd name="T20" fmla="*/ 76 w 125"/>
                  <a:gd name="T21" fmla="*/ 28 h 38"/>
                  <a:gd name="T22" fmla="*/ 61 w 125"/>
                  <a:gd name="T23" fmla="*/ 10 h 38"/>
                  <a:gd name="T24" fmla="*/ 45 w 125"/>
                  <a:gd name="T25" fmla="*/ 27 h 38"/>
                  <a:gd name="T26" fmla="*/ 43 w 125"/>
                  <a:gd name="T27" fmla="*/ 31 h 38"/>
                  <a:gd name="T28" fmla="*/ 36 w 125"/>
                  <a:gd name="T29" fmla="*/ 27 h 38"/>
                  <a:gd name="T30" fmla="*/ 15 w 125"/>
                  <a:gd name="T31" fmla="*/ 20 h 38"/>
                  <a:gd name="T32" fmla="*/ 3 w 125"/>
                  <a:gd name="T33" fmla="*/ 37 h 38"/>
                  <a:gd name="T34" fmla="*/ 12 w 125"/>
                  <a:gd name="T35" fmla="*/ 12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25" h="38">
                    <a:moveTo>
                      <a:pt x="12" y="12"/>
                    </a:moveTo>
                    <a:cubicBezTo>
                      <a:pt x="19" y="2"/>
                      <a:pt x="33" y="14"/>
                      <a:pt x="40" y="19"/>
                    </a:cubicBezTo>
                    <a:cubicBezTo>
                      <a:pt x="47" y="4"/>
                      <a:pt x="55" y="1"/>
                      <a:pt x="61" y="1"/>
                    </a:cubicBezTo>
                    <a:cubicBezTo>
                      <a:pt x="70" y="1"/>
                      <a:pt x="77" y="9"/>
                      <a:pt x="81" y="17"/>
                    </a:cubicBezTo>
                    <a:cubicBezTo>
                      <a:pt x="89" y="6"/>
                      <a:pt x="96" y="0"/>
                      <a:pt x="104" y="1"/>
                    </a:cubicBezTo>
                    <a:cubicBezTo>
                      <a:pt x="118" y="3"/>
                      <a:pt x="124" y="27"/>
                      <a:pt x="125" y="30"/>
                    </a:cubicBezTo>
                    <a:cubicBezTo>
                      <a:pt x="116" y="32"/>
                      <a:pt x="116" y="32"/>
                      <a:pt x="116" y="32"/>
                    </a:cubicBezTo>
                    <a:cubicBezTo>
                      <a:pt x="115" y="25"/>
                      <a:pt x="109" y="10"/>
                      <a:pt x="103" y="9"/>
                    </a:cubicBezTo>
                    <a:cubicBezTo>
                      <a:pt x="100" y="9"/>
                      <a:pt x="94" y="10"/>
                      <a:pt x="84" y="29"/>
                    </a:cubicBezTo>
                    <a:cubicBezTo>
                      <a:pt x="79" y="38"/>
                      <a:pt x="79" y="38"/>
                      <a:pt x="79" y="38"/>
                    </a:cubicBezTo>
                    <a:cubicBezTo>
                      <a:pt x="76" y="28"/>
                      <a:pt x="76" y="28"/>
                      <a:pt x="76" y="28"/>
                    </a:cubicBezTo>
                    <a:cubicBezTo>
                      <a:pt x="73" y="18"/>
                      <a:pt x="66" y="10"/>
                      <a:pt x="61" y="10"/>
                    </a:cubicBezTo>
                    <a:cubicBezTo>
                      <a:pt x="55" y="9"/>
                      <a:pt x="50" y="15"/>
                      <a:pt x="45" y="27"/>
                    </a:cubicBezTo>
                    <a:cubicBezTo>
                      <a:pt x="43" y="31"/>
                      <a:pt x="43" y="31"/>
                      <a:pt x="43" y="31"/>
                    </a:cubicBezTo>
                    <a:cubicBezTo>
                      <a:pt x="36" y="27"/>
                      <a:pt x="36" y="27"/>
                      <a:pt x="36" y="27"/>
                    </a:cubicBezTo>
                    <a:cubicBezTo>
                      <a:pt x="32" y="24"/>
                      <a:pt x="22" y="17"/>
                      <a:pt x="15" y="20"/>
                    </a:cubicBezTo>
                    <a:cubicBezTo>
                      <a:pt x="10" y="22"/>
                      <a:pt x="6" y="27"/>
                      <a:pt x="3" y="37"/>
                    </a:cubicBezTo>
                    <a:cubicBezTo>
                      <a:pt x="3" y="37"/>
                      <a:pt x="0" y="28"/>
                      <a:pt x="12"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07" name="Freeform 1882">
                <a:extLst>
                  <a:ext uri="{FF2B5EF4-FFF2-40B4-BE49-F238E27FC236}">
                    <a16:creationId xmlns:a16="http://schemas.microsoft.com/office/drawing/2014/main" id="{02E33B0A-008B-5018-4CA0-09AC3D6BC569}"/>
                  </a:ext>
                </a:extLst>
              </p:cNvPr>
              <p:cNvSpPr>
                <a:spLocks/>
              </p:cNvSpPr>
              <p:nvPr/>
            </p:nvSpPr>
            <p:spPr bwMode="auto">
              <a:xfrm>
                <a:off x="3291" y="4124"/>
                <a:ext cx="23" cy="9"/>
              </a:xfrm>
              <a:custGeom>
                <a:avLst/>
                <a:gdLst>
                  <a:gd name="T0" fmla="*/ 27 w 106"/>
                  <a:gd name="T1" fmla="*/ 36 h 37"/>
                  <a:gd name="T2" fmla="*/ 41 w 106"/>
                  <a:gd name="T3" fmla="*/ 15 h 37"/>
                  <a:gd name="T4" fmla="*/ 64 w 106"/>
                  <a:gd name="T5" fmla="*/ 31 h 37"/>
                  <a:gd name="T6" fmla="*/ 78 w 106"/>
                  <a:gd name="T7" fmla="*/ 15 h 37"/>
                  <a:gd name="T8" fmla="*/ 98 w 106"/>
                  <a:gd name="T9" fmla="*/ 28 h 37"/>
                  <a:gd name="T10" fmla="*/ 98 w 106"/>
                  <a:gd name="T11" fmla="*/ 19 h 37"/>
                  <a:gd name="T12" fmla="*/ 80 w 106"/>
                  <a:gd name="T13" fmla="*/ 2 h 37"/>
                  <a:gd name="T14" fmla="*/ 72 w 106"/>
                  <a:gd name="T15" fmla="*/ 3 h 37"/>
                  <a:gd name="T16" fmla="*/ 63 w 106"/>
                  <a:gd name="T17" fmla="*/ 23 h 37"/>
                  <a:gd name="T18" fmla="*/ 43 w 106"/>
                  <a:gd name="T19" fmla="*/ 0 h 37"/>
                  <a:gd name="T20" fmla="*/ 35 w 106"/>
                  <a:gd name="T21" fmla="*/ 2 h 37"/>
                  <a:gd name="T22" fmla="*/ 23 w 106"/>
                  <a:gd name="T23" fmla="*/ 28 h 37"/>
                  <a:gd name="T24" fmla="*/ 0 w 106"/>
                  <a:gd name="T25" fmla="*/ 24 h 37"/>
                  <a:gd name="T26" fmla="*/ 27 w 106"/>
                  <a:gd name="T27" fmla="*/ 36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106" h="37">
                    <a:moveTo>
                      <a:pt x="27" y="36"/>
                    </a:moveTo>
                    <a:cubicBezTo>
                      <a:pt x="35" y="35"/>
                      <a:pt x="39" y="25"/>
                      <a:pt x="41" y="15"/>
                    </a:cubicBezTo>
                    <a:cubicBezTo>
                      <a:pt x="47" y="24"/>
                      <a:pt x="55" y="32"/>
                      <a:pt x="64" y="31"/>
                    </a:cubicBezTo>
                    <a:cubicBezTo>
                      <a:pt x="70" y="30"/>
                      <a:pt x="75" y="25"/>
                      <a:pt x="78" y="15"/>
                    </a:cubicBezTo>
                    <a:cubicBezTo>
                      <a:pt x="83" y="21"/>
                      <a:pt x="89" y="28"/>
                      <a:pt x="98" y="28"/>
                    </a:cubicBezTo>
                    <a:cubicBezTo>
                      <a:pt x="106" y="28"/>
                      <a:pt x="104" y="19"/>
                      <a:pt x="98" y="19"/>
                    </a:cubicBezTo>
                    <a:cubicBezTo>
                      <a:pt x="92" y="19"/>
                      <a:pt x="86" y="13"/>
                      <a:pt x="80" y="2"/>
                    </a:cubicBezTo>
                    <a:cubicBezTo>
                      <a:pt x="72" y="3"/>
                      <a:pt x="72" y="3"/>
                      <a:pt x="72" y="3"/>
                    </a:cubicBezTo>
                    <a:cubicBezTo>
                      <a:pt x="69" y="20"/>
                      <a:pt x="64" y="22"/>
                      <a:pt x="63" y="23"/>
                    </a:cubicBezTo>
                    <a:cubicBezTo>
                      <a:pt x="59" y="23"/>
                      <a:pt x="50" y="16"/>
                      <a:pt x="43" y="0"/>
                    </a:cubicBezTo>
                    <a:cubicBezTo>
                      <a:pt x="35" y="2"/>
                      <a:pt x="35" y="2"/>
                      <a:pt x="35" y="2"/>
                    </a:cubicBezTo>
                    <a:cubicBezTo>
                      <a:pt x="34" y="15"/>
                      <a:pt x="30" y="24"/>
                      <a:pt x="23" y="28"/>
                    </a:cubicBezTo>
                    <a:cubicBezTo>
                      <a:pt x="16" y="31"/>
                      <a:pt x="8" y="30"/>
                      <a:pt x="0" y="24"/>
                    </a:cubicBezTo>
                    <a:cubicBezTo>
                      <a:pt x="0" y="24"/>
                      <a:pt x="12" y="37"/>
                      <a:pt x="27"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08" name="Freeform 1883">
                <a:extLst>
                  <a:ext uri="{FF2B5EF4-FFF2-40B4-BE49-F238E27FC236}">
                    <a16:creationId xmlns:a16="http://schemas.microsoft.com/office/drawing/2014/main" id="{E6F22EF2-9D4C-FC15-E8B0-006FD8EBC396}"/>
                  </a:ext>
                </a:extLst>
              </p:cNvPr>
              <p:cNvSpPr>
                <a:spLocks/>
              </p:cNvSpPr>
              <p:nvPr/>
            </p:nvSpPr>
            <p:spPr bwMode="auto">
              <a:xfrm>
                <a:off x="3361" y="4076"/>
                <a:ext cx="21" cy="13"/>
              </a:xfrm>
              <a:custGeom>
                <a:avLst/>
                <a:gdLst>
                  <a:gd name="T0" fmla="*/ 69 w 98"/>
                  <a:gd name="T1" fmla="*/ 8 h 60"/>
                  <a:gd name="T2" fmla="*/ 64 w 98"/>
                  <a:gd name="T3" fmla="*/ 32 h 60"/>
                  <a:gd name="T4" fmla="*/ 37 w 98"/>
                  <a:gd name="T5" fmla="*/ 27 h 60"/>
                  <a:gd name="T6" fmla="*/ 31 w 98"/>
                  <a:gd name="T7" fmla="*/ 48 h 60"/>
                  <a:gd name="T8" fmla="*/ 7 w 98"/>
                  <a:gd name="T9" fmla="*/ 44 h 60"/>
                  <a:gd name="T10" fmla="*/ 10 w 98"/>
                  <a:gd name="T11" fmla="*/ 52 h 60"/>
                  <a:gd name="T12" fmla="*/ 34 w 98"/>
                  <a:gd name="T13" fmla="*/ 60 h 60"/>
                  <a:gd name="T14" fmla="*/ 41 w 98"/>
                  <a:gd name="T15" fmla="*/ 56 h 60"/>
                  <a:gd name="T16" fmla="*/ 42 w 98"/>
                  <a:gd name="T17" fmla="*/ 34 h 60"/>
                  <a:gd name="T18" fmla="*/ 69 w 98"/>
                  <a:gd name="T19" fmla="*/ 46 h 60"/>
                  <a:gd name="T20" fmla="*/ 76 w 98"/>
                  <a:gd name="T21" fmla="*/ 41 h 60"/>
                  <a:gd name="T22" fmla="*/ 76 w 98"/>
                  <a:gd name="T23" fmla="*/ 13 h 60"/>
                  <a:gd name="T24" fmla="*/ 98 w 98"/>
                  <a:gd name="T25" fmla="*/ 7 h 60"/>
                  <a:gd name="T26" fmla="*/ 69 w 98"/>
                  <a:gd name="T27" fmla="*/ 8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98" h="60">
                    <a:moveTo>
                      <a:pt x="69" y="8"/>
                    </a:moveTo>
                    <a:cubicBezTo>
                      <a:pt x="62" y="12"/>
                      <a:pt x="63" y="23"/>
                      <a:pt x="64" y="32"/>
                    </a:cubicBezTo>
                    <a:cubicBezTo>
                      <a:pt x="55" y="27"/>
                      <a:pt x="45" y="22"/>
                      <a:pt x="37" y="27"/>
                    </a:cubicBezTo>
                    <a:cubicBezTo>
                      <a:pt x="32" y="30"/>
                      <a:pt x="30" y="37"/>
                      <a:pt x="31" y="48"/>
                    </a:cubicBezTo>
                    <a:cubicBezTo>
                      <a:pt x="24" y="44"/>
                      <a:pt x="15" y="40"/>
                      <a:pt x="7" y="44"/>
                    </a:cubicBezTo>
                    <a:cubicBezTo>
                      <a:pt x="0" y="47"/>
                      <a:pt x="6" y="54"/>
                      <a:pt x="10" y="52"/>
                    </a:cubicBezTo>
                    <a:cubicBezTo>
                      <a:pt x="16" y="49"/>
                      <a:pt x="25" y="53"/>
                      <a:pt x="34" y="60"/>
                    </a:cubicBezTo>
                    <a:cubicBezTo>
                      <a:pt x="41" y="56"/>
                      <a:pt x="41" y="56"/>
                      <a:pt x="41" y="56"/>
                    </a:cubicBezTo>
                    <a:cubicBezTo>
                      <a:pt x="37" y="39"/>
                      <a:pt x="41" y="35"/>
                      <a:pt x="42" y="34"/>
                    </a:cubicBezTo>
                    <a:cubicBezTo>
                      <a:pt x="45" y="32"/>
                      <a:pt x="56" y="36"/>
                      <a:pt x="69" y="46"/>
                    </a:cubicBezTo>
                    <a:cubicBezTo>
                      <a:pt x="76" y="41"/>
                      <a:pt x="76" y="41"/>
                      <a:pt x="76" y="41"/>
                    </a:cubicBezTo>
                    <a:cubicBezTo>
                      <a:pt x="71" y="29"/>
                      <a:pt x="71" y="19"/>
                      <a:pt x="76" y="13"/>
                    </a:cubicBezTo>
                    <a:cubicBezTo>
                      <a:pt x="80" y="8"/>
                      <a:pt x="89" y="5"/>
                      <a:pt x="98" y="7"/>
                    </a:cubicBezTo>
                    <a:cubicBezTo>
                      <a:pt x="98" y="7"/>
                      <a:pt x="82" y="0"/>
                      <a:pt x="69"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09" name="Freeform 1884">
                <a:extLst>
                  <a:ext uri="{FF2B5EF4-FFF2-40B4-BE49-F238E27FC236}">
                    <a16:creationId xmlns:a16="http://schemas.microsoft.com/office/drawing/2014/main" id="{09E8DC91-44A2-495F-12E8-DF136061AE9F}"/>
                  </a:ext>
                </a:extLst>
              </p:cNvPr>
              <p:cNvSpPr>
                <a:spLocks/>
              </p:cNvSpPr>
              <p:nvPr/>
            </p:nvSpPr>
            <p:spPr bwMode="auto">
              <a:xfrm>
                <a:off x="3218" y="2103"/>
                <a:ext cx="30" cy="19"/>
              </a:xfrm>
              <a:custGeom>
                <a:avLst/>
                <a:gdLst>
                  <a:gd name="T0" fmla="*/ 114 w 138"/>
                  <a:gd name="T1" fmla="*/ 9 h 87"/>
                  <a:gd name="T2" fmla="*/ 129 w 138"/>
                  <a:gd name="T3" fmla="*/ 15 h 87"/>
                  <a:gd name="T4" fmla="*/ 123 w 138"/>
                  <a:gd name="T5" fmla="*/ 30 h 87"/>
                  <a:gd name="T6" fmla="*/ 123 w 138"/>
                  <a:gd name="T7" fmla="*/ 31 h 87"/>
                  <a:gd name="T8" fmla="*/ 122 w 138"/>
                  <a:gd name="T9" fmla="*/ 32 h 87"/>
                  <a:gd name="T10" fmla="*/ 117 w 138"/>
                  <a:gd name="T11" fmla="*/ 41 h 87"/>
                  <a:gd name="T12" fmla="*/ 87 w 138"/>
                  <a:gd name="T13" fmla="*/ 36 h 87"/>
                  <a:gd name="T14" fmla="*/ 79 w 138"/>
                  <a:gd name="T15" fmla="*/ 31 h 87"/>
                  <a:gd name="T16" fmla="*/ 80 w 138"/>
                  <a:gd name="T17" fmla="*/ 40 h 87"/>
                  <a:gd name="T18" fmla="*/ 77 w 138"/>
                  <a:gd name="T19" fmla="*/ 69 h 87"/>
                  <a:gd name="T20" fmla="*/ 49 w 138"/>
                  <a:gd name="T21" fmla="*/ 65 h 87"/>
                  <a:gd name="T22" fmla="*/ 45 w 138"/>
                  <a:gd name="T23" fmla="*/ 62 h 87"/>
                  <a:gd name="T24" fmla="*/ 43 w 138"/>
                  <a:gd name="T25" fmla="*/ 67 h 87"/>
                  <a:gd name="T26" fmla="*/ 35 w 138"/>
                  <a:gd name="T27" fmla="*/ 78 h 87"/>
                  <a:gd name="T28" fmla="*/ 29 w 138"/>
                  <a:gd name="T29" fmla="*/ 74 h 87"/>
                  <a:gd name="T30" fmla="*/ 25 w 138"/>
                  <a:gd name="T31" fmla="*/ 58 h 87"/>
                  <a:gd name="T32" fmla="*/ 27 w 138"/>
                  <a:gd name="T33" fmla="*/ 53 h 87"/>
                  <a:gd name="T34" fmla="*/ 21 w 138"/>
                  <a:gd name="T35" fmla="*/ 52 h 87"/>
                  <a:gd name="T36" fmla="*/ 9 w 138"/>
                  <a:gd name="T37" fmla="*/ 46 h 87"/>
                  <a:gd name="T38" fmla="*/ 17 w 138"/>
                  <a:gd name="T39" fmla="*/ 28 h 87"/>
                  <a:gd name="T40" fmla="*/ 18 w 138"/>
                  <a:gd name="T41" fmla="*/ 27 h 87"/>
                  <a:gd name="T42" fmla="*/ 12 w 138"/>
                  <a:gd name="T43" fmla="*/ 22 h 87"/>
                  <a:gd name="T44" fmla="*/ 11 w 138"/>
                  <a:gd name="T45" fmla="*/ 23 h 87"/>
                  <a:gd name="T46" fmla="*/ 0 w 138"/>
                  <a:gd name="T47" fmla="*/ 44 h 87"/>
                  <a:gd name="T48" fmla="*/ 1 w 138"/>
                  <a:gd name="T49" fmla="*/ 49 h 87"/>
                  <a:gd name="T50" fmla="*/ 16 w 138"/>
                  <a:gd name="T51" fmla="*/ 59 h 87"/>
                  <a:gd name="T52" fmla="*/ 16 w 138"/>
                  <a:gd name="T53" fmla="*/ 61 h 87"/>
                  <a:gd name="T54" fmla="*/ 22 w 138"/>
                  <a:gd name="T55" fmla="*/ 79 h 87"/>
                  <a:gd name="T56" fmla="*/ 36 w 138"/>
                  <a:gd name="T57" fmla="*/ 86 h 87"/>
                  <a:gd name="T58" fmla="*/ 49 w 138"/>
                  <a:gd name="T59" fmla="*/ 74 h 87"/>
                  <a:gd name="T60" fmla="*/ 82 w 138"/>
                  <a:gd name="T61" fmla="*/ 76 h 87"/>
                  <a:gd name="T62" fmla="*/ 90 w 138"/>
                  <a:gd name="T63" fmla="*/ 54 h 87"/>
                  <a:gd name="T64" fmla="*/ 90 w 138"/>
                  <a:gd name="T65" fmla="*/ 46 h 87"/>
                  <a:gd name="T66" fmla="*/ 121 w 138"/>
                  <a:gd name="T67" fmla="*/ 48 h 87"/>
                  <a:gd name="T68" fmla="*/ 131 w 138"/>
                  <a:gd name="T69" fmla="*/ 35 h 87"/>
                  <a:gd name="T70" fmla="*/ 138 w 138"/>
                  <a:gd name="T71" fmla="*/ 18 h 87"/>
                  <a:gd name="T72" fmla="*/ 137 w 138"/>
                  <a:gd name="T73" fmla="*/ 12 h 87"/>
                  <a:gd name="T74" fmla="*/ 115 w 138"/>
                  <a:gd name="T75" fmla="*/ 0 h 87"/>
                  <a:gd name="T76" fmla="*/ 114 w 138"/>
                  <a:gd name="T77" fmla="*/ 9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38" h="87">
                    <a:moveTo>
                      <a:pt x="114" y="9"/>
                    </a:moveTo>
                    <a:cubicBezTo>
                      <a:pt x="122" y="9"/>
                      <a:pt x="127" y="12"/>
                      <a:pt x="129" y="15"/>
                    </a:cubicBezTo>
                    <a:cubicBezTo>
                      <a:pt x="130" y="19"/>
                      <a:pt x="128" y="24"/>
                      <a:pt x="123" y="30"/>
                    </a:cubicBezTo>
                    <a:cubicBezTo>
                      <a:pt x="123" y="31"/>
                      <a:pt x="123" y="31"/>
                      <a:pt x="123" y="31"/>
                    </a:cubicBezTo>
                    <a:cubicBezTo>
                      <a:pt x="122" y="32"/>
                      <a:pt x="122" y="32"/>
                      <a:pt x="122" y="32"/>
                    </a:cubicBezTo>
                    <a:cubicBezTo>
                      <a:pt x="122" y="36"/>
                      <a:pt x="120" y="39"/>
                      <a:pt x="117" y="41"/>
                    </a:cubicBezTo>
                    <a:cubicBezTo>
                      <a:pt x="111" y="44"/>
                      <a:pt x="98" y="42"/>
                      <a:pt x="87" y="36"/>
                    </a:cubicBezTo>
                    <a:cubicBezTo>
                      <a:pt x="79" y="31"/>
                      <a:pt x="79" y="31"/>
                      <a:pt x="79" y="31"/>
                    </a:cubicBezTo>
                    <a:cubicBezTo>
                      <a:pt x="80" y="40"/>
                      <a:pt x="80" y="40"/>
                      <a:pt x="80" y="40"/>
                    </a:cubicBezTo>
                    <a:cubicBezTo>
                      <a:pt x="83" y="55"/>
                      <a:pt x="82" y="66"/>
                      <a:pt x="77" y="69"/>
                    </a:cubicBezTo>
                    <a:cubicBezTo>
                      <a:pt x="72" y="73"/>
                      <a:pt x="62" y="71"/>
                      <a:pt x="49" y="65"/>
                    </a:cubicBezTo>
                    <a:cubicBezTo>
                      <a:pt x="45" y="62"/>
                      <a:pt x="45" y="62"/>
                      <a:pt x="45" y="62"/>
                    </a:cubicBezTo>
                    <a:cubicBezTo>
                      <a:pt x="43" y="67"/>
                      <a:pt x="43" y="67"/>
                      <a:pt x="43" y="67"/>
                    </a:cubicBezTo>
                    <a:cubicBezTo>
                      <a:pt x="39" y="76"/>
                      <a:pt x="36" y="78"/>
                      <a:pt x="35" y="78"/>
                    </a:cubicBezTo>
                    <a:cubicBezTo>
                      <a:pt x="32" y="78"/>
                      <a:pt x="30" y="75"/>
                      <a:pt x="29" y="74"/>
                    </a:cubicBezTo>
                    <a:cubicBezTo>
                      <a:pt x="25" y="69"/>
                      <a:pt x="23" y="61"/>
                      <a:pt x="25" y="58"/>
                    </a:cubicBezTo>
                    <a:cubicBezTo>
                      <a:pt x="27" y="53"/>
                      <a:pt x="27" y="53"/>
                      <a:pt x="27" y="53"/>
                    </a:cubicBezTo>
                    <a:cubicBezTo>
                      <a:pt x="21" y="52"/>
                      <a:pt x="21" y="52"/>
                      <a:pt x="21" y="52"/>
                    </a:cubicBezTo>
                    <a:cubicBezTo>
                      <a:pt x="15" y="51"/>
                      <a:pt x="10" y="49"/>
                      <a:pt x="9" y="46"/>
                    </a:cubicBezTo>
                    <a:cubicBezTo>
                      <a:pt x="7" y="41"/>
                      <a:pt x="15" y="31"/>
                      <a:pt x="17" y="28"/>
                    </a:cubicBezTo>
                    <a:cubicBezTo>
                      <a:pt x="18" y="27"/>
                      <a:pt x="18" y="27"/>
                      <a:pt x="18" y="27"/>
                    </a:cubicBezTo>
                    <a:cubicBezTo>
                      <a:pt x="12" y="22"/>
                      <a:pt x="12" y="22"/>
                      <a:pt x="12" y="22"/>
                    </a:cubicBezTo>
                    <a:cubicBezTo>
                      <a:pt x="11" y="23"/>
                      <a:pt x="11" y="23"/>
                      <a:pt x="11" y="23"/>
                    </a:cubicBezTo>
                    <a:cubicBezTo>
                      <a:pt x="7" y="27"/>
                      <a:pt x="0" y="36"/>
                      <a:pt x="0" y="44"/>
                    </a:cubicBezTo>
                    <a:cubicBezTo>
                      <a:pt x="0" y="46"/>
                      <a:pt x="0" y="47"/>
                      <a:pt x="1" y="49"/>
                    </a:cubicBezTo>
                    <a:cubicBezTo>
                      <a:pt x="3" y="54"/>
                      <a:pt x="8" y="57"/>
                      <a:pt x="16" y="59"/>
                    </a:cubicBezTo>
                    <a:cubicBezTo>
                      <a:pt x="16" y="60"/>
                      <a:pt x="16" y="60"/>
                      <a:pt x="16" y="61"/>
                    </a:cubicBezTo>
                    <a:cubicBezTo>
                      <a:pt x="16" y="67"/>
                      <a:pt x="18" y="74"/>
                      <a:pt x="22" y="79"/>
                    </a:cubicBezTo>
                    <a:cubicBezTo>
                      <a:pt x="26" y="84"/>
                      <a:pt x="31" y="87"/>
                      <a:pt x="36" y="86"/>
                    </a:cubicBezTo>
                    <a:cubicBezTo>
                      <a:pt x="41" y="86"/>
                      <a:pt x="45" y="81"/>
                      <a:pt x="49" y="74"/>
                    </a:cubicBezTo>
                    <a:cubicBezTo>
                      <a:pt x="59" y="79"/>
                      <a:pt x="73" y="83"/>
                      <a:pt x="82" y="76"/>
                    </a:cubicBezTo>
                    <a:cubicBezTo>
                      <a:pt x="88" y="72"/>
                      <a:pt x="90" y="65"/>
                      <a:pt x="90" y="54"/>
                    </a:cubicBezTo>
                    <a:cubicBezTo>
                      <a:pt x="90" y="52"/>
                      <a:pt x="90" y="49"/>
                      <a:pt x="90" y="46"/>
                    </a:cubicBezTo>
                    <a:cubicBezTo>
                      <a:pt x="102" y="51"/>
                      <a:pt x="114" y="52"/>
                      <a:pt x="121" y="48"/>
                    </a:cubicBezTo>
                    <a:cubicBezTo>
                      <a:pt x="126" y="46"/>
                      <a:pt x="129" y="41"/>
                      <a:pt x="131" y="35"/>
                    </a:cubicBezTo>
                    <a:cubicBezTo>
                      <a:pt x="135" y="29"/>
                      <a:pt x="138" y="23"/>
                      <a:pt x="138" y="18"/>
                    </a:cubicBezTo>
                    <a:cubicBezTo>
                      <a:pt x="138" y="16"/>
                      <a:pt x="137" y="14"/>
                      <a:pt x="137" y="12"/>
                    </a:cubicBezTo>
                    <a:cubicBezTo>
                      <a:pt x="135" y="8"/>
                      <a:pt x="130" y="1"/>
                      <a:pt x="115" y="0"/>
                    </a:cubicBezTo>
                    <a:lnTo>
                      <a:pt x="114"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10" name="Freeform 1885">
                <a:extLst>
                  <a:ext uri="{FF2B5EF4-FFF2-40B4-BE49-F238E27FC236}">
                    <a16:creationId xmlns:a16="http://schemas.microsoft.com/office/drawing/2014/main" id="{3F4A67C1-904E-930A-8CD8-5AD15F987A6E}"/>
                  </a:ext>
                </a:extLst>
              </p:cNvPr>
              <p:cNvSpPr>
                <a:spLocks noEditPoints="1"/>
              </p:cNvSpPr>
              <p:nvPr/>
            </p:nvSpPr>
            <p:spPr bwMode="auto">
              <a:xfrm>
                <a:off x="3225" y="2107"/>
                <a:ext cx="9" cy="7"/>
              </a:xfrm>
              <a:custGeom>
                <a:avLst/>
                <a:gdLst>
                  <a:gd name="T0" fmla="*/ 0 w 43"/>
                  <a:gd name="T1" fmla="*/ 16 h 31"/>
                  <a:gd name="T2" fmla="*/ 22 w 43"/>
                  <a:gd name="T3" fmla="*/ 31 h 31"/>
                  <a:gd name="T4" fmla="*/ 43 w 43"/>
                  <a:gd name="T5" fmla="*/ 16 h 31"/>
                  <a:gd name="T6" fmla="*/ 22 w 43"/>
                  <a:gd name="T7" fmla="*/ 0 h 31"/>
                  <a:gd name="T8" fmla="*/ 0 w 43"/>
                  <a:gd name="T9" fmla="*/ 16 h 31"/>
                  <a:gd name="T10" fmla="*/ 9 w 43"/>
                  <a:gd name="T11" fmla="*/ 16 h 31"/>
                  <a:gd name="T12" fmla="*/ 22 w 43"/>
                  <a:gd name="T13" fmla="*/ 9 h 31"/>
                  <a:gd name="T14" fmla="*/ 34 w 43"/>
                  <a:gd name="T15" fmla="*/ 16 h 31"/>
                  <a:gd name="T16" fmla="*/ 22 w 43"/>
                  <a:gd name="T17" fmla="*/ 23 h 31"/>
                  <a:gd name="T18" fmla="*/ 9 w 43"/>
                  <a:gd name="T19" fmla="*/ 16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3" h="31">
                    <a:moveTo>
                      <a:pt x="0" y="16"/>
                    </a:moveTo>
                    <a:cubicBezTo>
                      <a:pt x="0" y="24"/>
                      <a:pt x="10" y="31"/>
                      <a:pt x="22" y="31"/>
                    </a:cubicBezTo>
                    <a:cubicBezTo>
                      <a:pt x="33" y="31"/>
                      <a:pt x="43" y="24"/>
                      <a:pt x="43" y="16"/>
                    </a:cubicBezTo>
                    <a:cubicBezTo>
                      <a:pt x="43" y="7"/>
                      <a:pt x="33" y="0"/>
                      <a:pt x="22" y="0"/>
                    </a:cubicBezTo>
                    <a:cubicBezTo>
                      <a:pt x="10" y="0"/>
                      <a:pt x="0" y="7"/>
                      <a:pt x="0" y="16"/>
                    </a:cubicBezTo>
                    <a:close/>
                    <a:moveTo>
                      <a:pt x="9" y="16"/>
                    </a:moveTo>
                    <a:cubicBezTo>
                      <a:pt x="9" y="12"/>
                      <a:pt x="14" y="9"/>
                      <a:pt x="22" y="9"/>
                    </a:cubicBezTo>
                    <a:cubicBezTo>
                      <a:pt x="29" y="9"/>
                      <a:pt x="34" y="12"/>
                      <a:pt x="34" y="16"/>
                    </a:cubicBezTo>
                    <a:cubicBezTo>
                      <a:pt x="34" y="19"/>
                      <a:pt x="29" y="23"/>
                      <a:pt x="22" y="23"/>
                    </a:cubicBezTo>
                    <a:cubicBezTo>
                      <a:pt x="14" y="23"/>
                      <a:pt x="9" y="19"/>
                      <a:pt x="9"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11" name="Freeform 1886">
                <a:extLst>
                  <a:ext uri="{FF2B5EF4-FFF2-40B4-BE49-F238E27FC236}">
                    <a16:creationId xmlns:a16="http://schemas.microsoft.com/office/drawing/2014/main" id="{D051A9E0-8E5B-EB16-0DDE-FD83473080DD}"/>
                  </a:ext>
                </a:extLst>
              </p:cNvPr>
              <p:cNvSpPr>
                <a:spLocks/>
              </p:cNvSpPr>
              <p:nvPr/>
            </p:nvSpPr>
            <p:spPr bwMode="auto">
              <a:xfrm>
                <a:off x="3078" y="2182"/>
                <a:ext cx="6" cy="17"/>
              </a:xfrm>
              <a:custGeom>
                <a:avLst/>
                <a:gdLst>
                  <a:gd name="T0" fmla="*/ 5 w 29"/>
                  <a:gd name="T1" fmla="*/ 9 h 74"/>
                  <a:gd name="T2" fmla="*/ 19 w 29"/>
                  <a:gd name="T3" fmla="*/ 19 h 74"/>
                  <a:gd name="T4" fmla="*/ 10 w 29"/>
                  <a:gd name="T5" fmla="*/ 30 h 74"/>
                  <a:gd name="T6" fmla="*/ 6 w 29"/>
                  <a:gd name="T7" fmla="*/ 33 h 74"/>
                  <a:gd name="T8" fmla="*/ 10 w 29"/>
                  <a:gd name="T9" fmla="*/ 36 h 74"/>
                  <a:gd name="T10" fmla="*/ 20 w 29"/>
                  <a:gd name="T11" fmla="*/ 55 h 74"/>
                  <a:gd name="T12" fmla="*/ 0 w 29"/>
                  <a:gd name="T13" fmla="*/ 66 h 74"/>
                  <a:gd name="T14" fmla="*/ 2 w 29"/>
                  <a:gd name="T15" fmla="*/ 74 h 74"/>
                  <a:gd name="T16" fmla="*/ 28 w 29"/>
                  <a:gd name="T17" fmla="*/ 57 h 74"/>
                  <a:gd name="T18" fmla="*/ 29 w 29"/>
                  <a:gd name="T19" fmla="*/ 53 h 74"/>
                  <a:gd name="T20" fmla="*/ 19 w 29"/>
                  <a:gd name="T21" fmla="*/ 34 h 74"/>
                  <a:gd name="T22" fmla="*/ 27 w 29"/>
                  <a:gd name="T23" fmla="*/ 19 h 74"/>
                  <a:gd name="T24" fmla="*/ 27 w 29"/>
                  <a:gd name="T25" fmla="*/ 17 h 74"/>
                  <a:gd name="T26" fmla="*/ 7 w 29"/>
                  <a:gd name="T27" fmla="*/ 0 h 74"/>
                  <a:gd name="T28" fmla="*/ 5 w 29"/>
                  <a:gd name="T29" fmla="*/ 9 h 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29" h="74">
                    <a:moveTo>
                      <a:pt x="5" y="9"/>
                    </a:moveTo>
                    <a:cubicBezTo>
                      <a:pt x="9" y="10"/>
                      <a:pt x="18" y="14"/>
                      <a:pt x="19" y="19"/>
                    </a:cubicBezTo>
                    <a:cubicBezTo>
                      <a:pt x="19" y="22"/>
                      <a:pt x="16" y="26"/>
                      <a:pt x="10" y="30"/>
                    </a:cubicBezTo>
                    <a:cubicBezTo>
                      <a:pt x="6" y="33"/>
                      <a:pt x="6" y="33"/>
                      <a:pt x="6" y="33"/>
                    </a:cubicBezTo>
                    <a:cubicBezTo>
                      <a:pt x="10" y="36"/>
                      <a:pt x="10" y="36"/>
                      <a:pt x="10" y="36"/>
                    </a:cubicBezTo>
                    <a:cubicBezTo>
                      <a:pt x="15" y="42"/>
                      <a:pt x="21" y="49"/>
                      <a:pt x="20" y="55"/>
                    </a:cubicBezTo>
                    <a:cubicBezTo>
                      <a:pt x="18" y="59"/>
                      <a:pt x="11" y="63"/>
                      <a:pt x="0" y="66"/>
                    </a:cubicBezTo>
                    <a:cubicBezTo>
                      <a:pt x="2" y="74"/>
                      <a:pt x="2" y="74"/>
                      <a:pt x="2" y="74"/>
                    </a:cubicBezTo>
                    <a:cubicBezTo>
                      <a:pt x="17" y="70"/>
                      <a:pt x="26" y="65"/>
                      <a:pt x="28" y="57"/>
                    </a:cubicBezTo>
                    <a:cubicBezTo>
                      <a:pt x="28" y="56"/>
                      <a:pt x="29" y="54"/>
                      <a:pt x="29" y="53"/>
                    </a:cubicBezTo>
                    <a:cubicBezTo>
                      <a:pt x="29" y="46"/>
                      <a:pt x="24" y="39"/>
                      <a:pt x="19" y="34"/>
                    </a:cubicBezTo>
                    <a:cubicBezTo>
                      <a:pt x="24" y="29"/>
                      <a:pt x="27" y="24"/>
                      <a:pt x="27" y="19"/>
                    </a:cubicBezTo>
                    <a:cubicBezTo>
                      <a:pt x="27" y="19"/>
                      <a:pt x="27" y="18"/>
                      <a:pt x="27" y="17"/>
                    </a:cubicBezTo>
                    <a:cubicBezTo>
                      <a:pt x="25" y="6"/>
                      <a:pt x="9" y="1"/>
                      <a:pt x="7" y="0"/>
                    </a:cubicBezTo>
                    <a:lnTo>
                      <a:pt x="5" y="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12" name="Freeform 1887">
                <a:extLst>
                  <a:ext uri="{FF2B5EF4-FFF2-40B4-BE49-F238E27FC236}">
                    <a16:creationId xmlns:a16="http://schemas.microsoft.com/office/drawing/2014/main" id="{00E6BF8A-7B2E-3DFC-BCC1-6B0F29AC0A09}"/>
                  </a:ext>
                </a:extLst>
              </p:cNvPr>
              <p:cNvSpPr>
                <a:spLocks noEditPoints="1"/>
              </p:cNvSpPr>
              <p:nvPr/>
            </p:nvSpPr>
            <p:spPr bwMode="auto">
              <a:xfrm>
                <a:off x="3069" y="2188"/>
                <a:ext cx="9" cy="6"/>
              </a:xfrm>
              <a:custGeom>
                <a:avLst/>
                <a:gdLst>
                  <a:gd name="T0" fmla="*/ 0 w 39"/>
                  <a:gd name="T1" fmla="*/ 15 h 30"/>
                  <a:gd name="T2" fmla="*/ 20 w 39"/>
                  <a:gd name="T3" fmla="*/ 30 h 30"/>
                  <a:gd name="T4" fmla="*/ 39 w 39"/>
                  <a:gd name="T5" fmla="*/ 15 h 30"/>
                  <a:gd name="T6" fmla="*/ 20 w 39"/>
                  <a:gd name="T7" fmla="*/ 0 h 30"/>
                  <a:gd name="T8" fmla="*/ 0 w 39"/>
                  <a:gd name="T9" fmla="*/ 15 h 30"/>
                  <a:gd name="T10" fmla="*/ 9 w 39"/>
                  <a:gd name="T11" fmla="*/ 15 h 30"/>
                  <a:gd name="T12" fmla="*/ 20 w 39"/>
                  <a:gd name="T13" fmla="*/ 9 h 30"/>
                  <a:gd name="T14" fmla="*/ 31 w 39"/>
                  <a:gd name="T15" fmla="*/ 15 h 30"/>
                  <a:gd name="T16" fmla="*/ 20 w 39"/>
                  <a:gd name="T17" fmla="*/ 21 h 30"/>
                  <a:gd name="T18" fmla="*/ 9 w 39"/>
                  <a:gd name="T19" fmla="*/ 15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 h="30">
                    <a:moveTo>
                      <a:pt x="0" y="15"/>
                    </a:moveTo>
                    <a:cubicBezTo>
                      <a:pt x="0" y="23"/>
                      <a:pt x="9" y="30"/>
                      <a:pt x="20" y="30"/>
                    </a:cubicBezTo>
                    <a:cubicBezTo>
                      <a:pt x="31" y="30"/>
                      <a:pt x="39" y="23"/>
                      <a:pt x="39" y="15"/>
                    </a:cubicBezTo>
                    <a:cubicBezTo>
                      <a:pt x="39" y="7"/>
                      <a:pt x="31" y="0"/>
                      <a:pt x="20" y="0"/>
                    </a:cubicBezTo>
                    <a:cubicBezTo>
                      <a:pt x="9" y="0"/>
                      <a:pt x="0" y="7"/>
                      <a:pt x="0" y="15"/>
                    </a:cubicBezTo>
                    <a:close/>
                    <a:moveTo>
                      <a:pt x="9" y="15"/>
                    </a:moveTo>
                    <a:cubicBezTo>
                      <a:pt x="9" y="12"/>
                      <a:pt x="13" y="9"/>
                      <a:pt x="20" y="9"/>
                    </a:cubicBezTo>
                    <a:cubicBezTo>
                      <a:pt x="26" y="9"/>
                      <a:pt x="31" y="12"/>
                      <a:pt x="31" y="15"/>
                    </a:cubicBezTo>
                    <a:cubicBezTo>
                      <a:pt x="31" y="18"/>
                      <a:pt x="26" y="21"/>
                      <a:pt x="20" y="21"/>
                    </a:cubicBezTo>
                    <a:cubicBezTo>
                      <a:pt x="13" y="21"/>
                      <a:pt x="9" y="18"/>
                      <a:pt x="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13" name="Freeform 1888">
                <a:extLst>
                  <a:ext uri="{FF2B5EF4-FFF2-40B4-BE49-F238E27FC236}">
                    <a16:creationId xmlns:a16="http://schemas.microsoft.com/office/drawing/2014/main" id="{1A205F02-9062-CD1A-8AE3-942CFBC3C110}"/>
                  </a:ext>
                </a:extLst>
              </p:cNvPr>
              <p:cNvSpPr>
                <a:spLocks/>
              </p:cNvSpPr>
              <p:nvPr/>
            </p:nvSpPr>
            <p:spPr bwMode="auto">
              <a:xfrm>
                <a:off x="1341" y="4199"/>
                <a:ext cx="14" cy="13"/>
              </a:xfrm>
              <a:custGeom>
                <a:avLst/>
                <a:gdLst>
                  <a:gd name="T0" fmla="*/ 43 w 62"/>
                  <a:gd name="T1" fmla="*/ 0 h 56"/>
                  <a:gd name="T2" fmla="*/ 3 w 62"/>
                  <a:gd name="T3" fmla="*/ 39 h 56"/>
                  <a:gd name="T4" fmla="*/ 33 w 62"/>
                  <a:gd name="T5" fmla="*/ 52 h 56"/>
                  <a:gd name="T6" fmla="*/ 43 w 62"/>
                  <a:gd name="T7" fmla="*/ 0 h 56"/>
                </a:gdLst>
                <a:ahLst/>
                <a:cxnLst>
                  <a:cxn ang="0">
                    <a:pos x="T0" y="T1"/>
                  </a:cxn>
                  <a:cxn ang="0">
                    <a:pos x="T2" y="T3"/>
                  </a:cxn>
                  <a:cxn ang="0">
                    <a:pos x="T4" y="T5"/>
                  </a:cxn>
                  <a:cxn ang="0">
                    <a:pos x="T6" y="T7"/>
                  </a:cxn>
                </a:cxnLst>
                <a:rect l="0" t="0" r="r" b="b"/>
                <a:pathLst>
                  <a:path w="62" h="56">
                    <a:moveTo>
                      <a:pt x="43" y="0"/>
                    </a:moveTo>
                    <a:cubicBezTo>
                      <a:pt x="43" y="0"/>
                      <a:pt x="0" y="26"/>
                      <a:pt x="3" y="39"/>
                    </a:cubicBezTo>
                    <a:cubicBezTo>
                      <a:pt x="6" y="52"/>
                      <a:pt x="19" y="56"/>
                      <a:pt x="33" y="52"/>
                    </a:cubicBezTo>
                    <a:cubicBezTo>
                      <a:pt x="47" y="48"/>
                      <a:pt x="62" y="4"/>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14" name="Freeform 1889">
                <a:extLst>
                  <a:ext uri="{FF2B5EF4-FFF2-40B4-BE49-F238E27FC236}">
                    <a16:creationId xmlns:a16="http://schemas.microsoft.com/office/drawing/2014/main" id="{E282456B-5926-248E-3030-EFD2D56A5BA1}"/>
                  </a:ext>
                </a:extLst>
              </p:cNvPr>
              <p:cNvSpPr>
                <a:spLocks noEditPoints="1"/>
              </p:cNvSpPr>
              <p:nvPr/>
            </p:nvSpPr>
            <p:spPr bwMode="auto">
              <a:xfrm>
                <a:off x="1339" y="4197"/>
                <a:ext cx="16" cy="16"/>
              </a:xfrm>
              <a:custGeom>
                <a:avLst/>
                <a:gdLst>
                  <a:gd name="T0" fmla="*/ 48 w 70"/>
                  <a:gd name="T1" fmla="*/ 2 h 73"/>
                  <a:gd name="T2" fmla="*/ 3 w 70"/>
                  <a:gd name="T3" fmla="*/ 50 h 73"/>
                  <a:gd name="T4" fmla="*/ 16 w 70"/>
                  <a:gd name="T5" fmla="*/ 67 h 73"/>
                  <a:gd name="T6" fmla="*/ 45 w 70"/>
                  <a:gd name="T7" fmla="*/ 69 h 73"/>
                  <a:gd name="T8" fmla="*/ 70 w 70"/>
                  <a:gd name="T9" fmla="*/ 23 h 73"/>
                  <a:gd name="T10" fmla="*/ 54 w 70"/>
                  <a:gd name="T11" fmla="*/ 1 h 73"/>
                  <a:gd name="T12" fmla="*/ 51 w 70"/>
                  <a:gd name="T13" fmla="*/ 0 h 73"/>
                  <a:gd name="T14" fmla="*/ 48 w 70"/>
                  <a:gd name="T15" fmla="*/ 2 h 73"/>
                  <a:gd name="T16" fmla="*/ 24 w 70"/>
                  <a:gd name="T17" fmla="*/ 52 h 73"/>
                  <a:gd name="T18" fmla="*/ 20 w 70"/>
                  <a:gd name="T19" fmla="*/ 46 h 73"/>
                  <a:gd name="T20" fmla="*/ 52 w 70"/>
                  <a:gd name="T21" fmla="*/ 20 h 73"/>
                  <a:gd name="T22" fmla="*/ 52 w 70"/>
                  <a:gd name="T23" fmla="*/ 23 h 73"/>
                  <a:gd name="T24" fmla="*/ 52 w 70"/>
                  <a:gd name="T25" fmla="*/ 24 h 73"/>
                  <a:gd name="T26" fmla="*/ 40 w 70"/>
                  <a:gd name="T27" fmla="*/ 53 h 73"/>
                  <a:gd name="T28" fmla="*/ 24 w 70"/>
                  <a:gd name="T29" fmla="*/ 52 h 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73">
                    <a:moveTo>
                      <a:pt x="48" y="2"/>
                    </a:moveTo>
                    <a:cubicBezTo>
                      <a:pt x="26" y="15"/>
                      <a:pt x="0" y="34"/>
                      <a:pt x="3" y="50"/>
                    </a:cubicBezTo>
                    <a:cubicBezTo>
                      <a:pt x="5" y="58"/>
                      <a:pt x="9" y="64"/>
                      <a:pt x="16" y="67"/>
                    </a:cubicBezTo>
                    <a:cubicBezTo>
                      <a:pt x="23" y="72"/>
                      <a:pt x="34" y="73"/>
                      <a:pt x="45" y="69"/>
                    </a:cubicBezTo>
                    <a:cubicBezTo>
                      <a:pt x="59" y="65"/>
                      <a:pt x="70" y="40"/>
                      <a:pt x="70" y="23"/>
                    </a:cubicBezTo>
                    <a:cubicBezTo>
                      <a:pt x="69" y="11"/>
                      <a:pt x="64" y="3"/>
                      <a:pt x="54" y="1"/>
                    </a:cubicBezTo>
                    <a:cubicBezTo>
                      <a:pt x="51" y="0"/>
                      <a:pt x="51" y="0"/>
                      <a:pt x="51" y="0"/>
                    </a:cubicBezTo>
                    <a:lnTo>
                      <a:pt x="48" y="2"/>
                    </a:lnTo>
                    <a:close/>
                    <a:moveTo>
                      <a:pt x="24" y="52"/>
                    </a:moveTo>
                    <a:cubicBezTo>
                      <a:pt x="22" y="51"/>
                      <a:pt x="21" y="49"/>
                      <a:pt x="20" y="46"/>
                    </a:cubicBezTo>
                    <a:cubicBezTo>
                      <a:pt x="21" y="42"/>
                      <a:pt x="36" y="30"/>
                      <a:pt x="52" y="20"/>
                    </a:cubicBezTo>
                    <a:cubicBezTo>
                      <a:pt x="52" y="21"/>
                      <a:pt x="52" y="22"/>
                      <a:pt x="52" y="23"/>
                    </a:cubicBezTo>
                    <a:cubicBezTo>
                      <a:pt x="52" y="24"/>
                      <a:pt x="52" y="24"/>
                      <a:pt x="52" y="24"/>
                    </a:cubicBezTo>
                    <a:cubicBezTo>
                      <a:pt x="52" y="37"/>
                      <a:pt x="44" y="52"/>
                      <a:pt x="40" y="53"/>
                    </a:cubicBezTo>
                    <a:cubicBezTo>
                      <a:pt x="34" y="55"/>
                      <a:pt x="28" y="54"/>
                      <a:pt x="24" y="5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15" name="Freeform 1890">
                <a:extLst>
                  <a:ext uri="{FF2B5EF4-FFF2-40B4-BE49-F238E27FC236}">
                    <a16:creationId xmlns:a16="http://schemas.microsoft.com/office/drawing/2014/main" id="{D821FABA-BD6F-D471-1A08-D23671BAB50B}"/>
                  </a:ext>
                </a:extLst>
              </p:cNvPr>
              <p:cNvSpPr>
                <a:spLocks/>
              </p:cNvSpPr>
              <p:nvPr/>
            </p:nvSpPr>
            <p:spPr bwMode="auto">
              <a:xfrm>
                <a:off x="1815" y="4116"/>
                <a:ext cx="36" cy="45"/>
              </a:xfrm>
              <a:custGeom>
                <a:avLst/>
                <a:gdLst>
                  <a:gd name="T0" fmla="*/ 133 w 165"/>
                  <a:gd name="T1" fmla="*/ 2 h 201"/>
                  <a:gd name="T2" fmla="*/ 50 w 165"/>
                  <a:gd name="T3" fmla="*/ 71 h 201"/>
                  <a:gd name="T4" fmla="*/ 2 w 165"/>
                  <a:gd name="T5" fmla="*/ 137 h 201"/>
                  <a:gd name="T6" fmla="*/ 33 w 165"/>
                  <a:gd name="T7" fmla="*/ 178 h 201"/>
                  <a:gd name="T8" fmla="*/ 77 w 165"/>
                  <a:gd name="T9" fmla="*/ 195 h 201"/>
                  <a:gd name="T10" fmla="*/ 80 w 165"/>
                  <a:gd name="T11" fmla="*/ 144 h 201"/>
                  <a:gd name="T12" fmla="*/ 95 w 165"/>
                  <a:gd name="T13" fmla="*/ 135 h 201"/>
                  <a:gd name="T14" fmla="*/ 99 w 165"/>
                  <a:gd name="T15" fmla="*/ 126 h 201"/>
                  <a:gd name="T16" fmla="*/ 131 w 165"/>
                  <a:gd name="T17" fmla="*/ 126 h 201"/>
                  <a:gd name="T18" fmla="*/ 141 w 165"/>
                  <a:gd name="T19" fmla="*/ 97 h 201"/>
                  <a:gd name="T20" fmla="*/ 141 w 165"/>
                  <a:gd name="T21" fmla="*/ 71 h 201"/>
                  <a:gd name="T22" fmla="*/ 165 w 165"/>
                  <a:gd name="T23" fmla="*/ 52 h 201"/>
                  <a:gd name="T24" fmla="*/ 133 w 165"/>
                  <a:gd name="T25" fmla="*/ 2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5" h="201">
                    <a:moveTo>
                      <a:pt x="133" y="2"/>
                    </a:moveTo>
                    <a:cubicBezTo>
                      <a:pt x="133" y="2"/>
                      <a:pt x="67" y="52"/>
                      <a:pt x="50" y="71"/>
                    </a:cubicBezTo>
                    <a:cubicBezTo>
                      <a:pt x="33" y="90"/>
                      <a:pt x="0" y="124"/>
                      <a:pt x="2" y="137"/>
                    </a:cubicBezTo>
                    <a:cubicBezTo>
                      <a:pt x="3" y="150"/>
                      <a:pt x="24" y="172"/>
                      <a:pt x="33" y="178"/>
                    </a:cubicBezTo>
                    <a:cubicBezTo>
                      <a:pt x="43" y="184"/>
                      <a:pt x="71" y="201"/>
                      <a:pt x="77" y="195"/>
                    </a:cubicBezTo>
                    <a:cubicBezTo>
                      <a:pt x="82" y="189"/>
                      <a:pt x="80" y="144"/>
                      <a:pt x="80" y="144"/>
                    </a:cubicBezTo>
                    <a:cubicBezTo>
                      <a:pt x="95" y="135"/>
                      <a:pt x="95" y="135"/>
                      <a:pt x="95" y="135"/>
                    </a:cubicBezTo>
                    <a:cubicBezTo>
                      <a:pt x="95" y="135"/>
                      <a:pt x="92" y="126"/>
                      <a:pt x="99" y="126"/>
                    </a:cubicBezTo>
                    <a:cubicBezTo>
                      <a:pt x="107" y="126"/>
                      <a:pt x="131" y="126"/>
                      <a:pt x="131" y="126"/>
                    </a:cubicBezTo>
                    <a:cubicBezTo>
                      <a:pt x="131" y="126"/>
                      <a:pt x="148" y="112"/>
                      <a:pt x="141" y="97"/>
                    </a:cubicBezTo>
                    <a:cubicBezTo>
                      <a:pt x="133" y="82"/>
                      <a:pt x="127" y="73"/>
                      <a:pt x="141" y="71"/>
                    </a:cubicBezTo>
                    <a:cubicBezTo>
                      <a:pt x="154" y="69"/>
                      <a:pt x="165" y="71"/>
                      <a:pt x="165" y="52"/>
                    </a:cubicBezTo>
                    <a:cubicBezTo>
                      <a:pt x="165" y="34"/>
                      <a:pt x="161" y="0"/>
                      <a:pt x="13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16" name="Freeform 1891">
                <a:extLst>
                  <a:ext uri="{FF2B5EF4-FFF2-40B4-BE49-F238E27FC236}">
                    <a16:creationId xmlns:a16="http://schemas.microsoft.com/office/drawing/2014/main" id="{25389CDD-DD5B-268E-841F-4F15030A6EBE}"/>
                  </a:ext>
                </a:extLst>
              </p:cNvPr>
              <p:cNvSpPr>
                <a:spLocks noEditPoints="1"/>
              </p:cNvSpPr>
              <p:nvPr/>
            </p:nvSpPr>
            <p:spPr bwMode="auto">
              <a:xfrm>
                <a:off x="1813" y="4115"/>
                <a:ext cx="40" cy="48"/>
              </a:xfrm>
              <a:custGeom>
                <a:avLst/>
                <a:gdLst>
                  <a:gd name="T0" fmla="*/ 141 w 183"/>
                  <a:gd name="T1" fmla="*/ 1 h 217"/>
                  <a:gd name="T2" fmla="*/ 139 w 183"/>
                  <a:gd name="T3" fmla="*/ 1 h 217"/>
                  <a:gd name="T4" fmla="*/ 137 w 183"/>
                  <a:gd name="T5" fmla="*/ 3 h 217"/>
                  <a:gd name="T6" fmla="*/ 53 w 183"/>
                  <a:gd name="T7" fmla="*/ 73 h 217"/>
                  <a:gd name="T8" fmla="*/ 44 w 183"/>
                  <a:gd name="T9" fmla="*/ 83 h 217"/>
                  <a:gd name="T10" fmla="*/ 2 w 183"/>
                  <a:gd name="T11" fmla="*/ 146 h 217"/>
                  <a:gd name="T12" fmla="*/ 38 w 183"/>
                  <a:gd name="T13" fmla="*/ 194 h 217"/>
                  <a:gd name="T14" fmla="*/ 92 w 183"/>
                  <a:gd name="T15" fmla="*/ 209 h 217"/>
                  <a:gd name="T16" fmla="*/ 98 w 183"/>
                  <a:gd name="T17" fmla="*/ 170 h 217"/>
                  <a:gd name="T18" fmla="*/ 98 w 183"/>
                  <a:gd name="T19" fmla="*/ 157 h 217"/>
                  <a:gd name="T20" fmla="*/ 114 w 183"/>
                  <a:gd name="T21" fmla="*/ 147 h 217"/>
                  <a:gd name="T22" fmla="*/ 113 w 183"/>
                  <a:gd name="T23" fmla="*/ 142 h 217"/>
                  <a:gd name="T24" fmla="*/ 143 w 183"/>
                  <a:gd name="T25" fmla="*/ 142 h 217"/>
                  <a:gd name="T26" fmla="*/ 145 w 183"/>
                  <a:gd name="T27" fmla="*/ 140 h 217"/>
                  <a:gd name="T28" fmla="*/ 160 w 183"/>
                  <a:gd name="T29" fmla="*/ 113 h 217"/>
                  <a:gd name="T30" fmla="*/ 157 w 183"/>
                  <a:gd name="T31" fmla="*/ 102 h 217"/>
                  <a:gd name="T32" fmla="*/ 156 w 183"/>
                  <a:gd name="T33" fmla="*/ 99 h 217"/>
                  <a:gd name="T34" fmla="*/ 151 w 183"/>
                  <a:gd name="T35" fmla="*/ 88 h 217"/>
                  <a:gd name="T36" fmla="*/ 156 w 183"/>
                  <a:gd name="T37" fmla="*/ 87 h 217"/>
                  <a:gd name="T38" fmla="*/ 183 w 183"/>
                  <a:gd name="T39" fmla="*/ 60 h 217"/>
                  <a:gd name="T40" fmla="*/ 167 w 183"/>
                  <a:gd name="T41" fmla="*/ 10 h 217"/>
                  <a:gd name="T42" fmla="*/ 141 w 183"/>
                  <a:gd name="T43" fmla="*/ 1 h 217"/>
                  <a:gd name="T44" fmla="*/ 47 w 183"/>
                  <a:gd name="T45" fmla="*/ 179 h 217"/>
                  <a:gd name="T46" fmla="*/ 19 w 183"/>
                  <a:gd name="T47" fmla="*/ 144 h 217"/>
                  <a:gd name="T48" fmla="*/ 19 w 183"/>
                  <a:gd name="T49" fmla="*/ 144 h 217"/>
                  <a:gd name="T50" fmla="*/ 57 w 183"/>
                  <a:gd name="T51" fmla="*/ 95 h 217"/>
                  <a:gd name="T52" fmla="*/ 66 w 183"/>
                  <a:gd name="T53" fmla="*/ 85 h 217"/>
                  <a:gd name="T54" fmla="*/ 145 w 183"/>
                  <a:gd name="T55" fmla="*/ 18 h 217"/>
                  <a:gd name="T56" fmla="*/ 155 w 183"/>
                  <a:gd name="T57" fmla="*/ 22 h 217"/>
                  <a:gd name="T58" fmla="*/ 165 w 183"/>
                  <a:gd name="T59" fmla="*/ 60 h 217"/>
                  <a:gd name="T60" fmla="*/ 165 w 183"/>
                  <a:gd name="T61" fmla="*/ 60 h 217"/>
                  <a:gd name="T62" fmla="*/ 154 w 183"/>
                  <a:gd name="T63" fmla="*/ 70 h 217"/>
                  <a:gd name="T64" fmla="*/ 148 w 183"/>
                  <a:gd name="T65" fmla="*/ 71 h 217"/>
                  <a:gd name="T66" fmla="*/ 135 w 183"/>
                  <a:gd name="T67" fmla="*/ 79 h 217"/>
                  <a:gd name="T68" fmla="*/ 133 w 183"/>
                  <a:gd name="T69" fmla="*/ 86 h 217"/>
                  <a:gd name="T70" fmla="*/ 140 w 183"/>
                  <a:gd name="T71" fmla="*/ 107 h 217"/>
                  <a:gd name="T72" fmla="*/ 142 w 183"/>
                  <a:gd name="T73" fmla="*/ 109 h 217"/>
                  <a:gd name="T74" fmla="*/ 143 w 183"/>
                  <a:gd name="T75" fmla="*/ 113 h 217"/>
                  <a:gd name="T76" fmla="*/ 137 w 183"/>
                  <a:gd name="T77" fmla="*/ 125 h 217"/>
                  <a:gd name="T78" fmla="*/ 108 w 183"/>
                  <a:gd name="T79" fmla="*/ 125 h 217"/>
                  <a:gd name="T80" fmla="*/ 97 w 183"/>
                  <a:gd name="T81" fmla="*/ 130 h 217"/>
                  <a:gd name="T82" fmla="*/ 95 w 183"/>
                  <a:gd name="T83" fmla="*/ 138 h 217"/>
                  <a:gd name="T84" fmla="*/ 95 w 183"/>
                  <a:gd name="T85" fmla="*/ 139 h 217"/>
                  <a:gd name="T86" fmla="*/ 81 w 183"/>
                  <a:gd name="T87" fmla="*/ 148 h 217"/>
                  <a:gd name="T88" fmla="*/ 81 w 183"/>
                  <a:gd name="T89" fmla="*/ 153 h 217"/>
                  <a:gd name="T90" fmla="*/ 81 w 183"/>
                  <a:gd name="T91" fmla="*/ 168 h 217"/>
                  <a:gd name="T92" fmla="*/ 79 w 183"/>
                  <a:gd name="T93" fmla="*/ 195 h 217"/>
                  <a:gd name="T94" fmla="*/ 47 w 183"/>
                  <a:gd name="T95" fmla="*/ 179 h 2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3" h="217">
                    <a:moveTo>
                      <a:pt x="141" y="1"/>
                    </a:moveTo>
                    <a:cubicBezTo>
                      <a:pt x="139" y="1"/>
                      <a:pt x="139" y="1"/>
                      <a:pt x="139" y="1"/>
                    </a:cubicBezTo>
                    <a:cubicBezTo>
                      <a:pt x="137" y="3"/>
                      <a:pt x="137" y="3"/>
                      <a:pt x="137" y="3"/>
                    </a:cubicBezTo>
                    <a:cubicBezTo>
                      <a:pt x="134" y="5"/>
                      <a:pt x="70" y="54"/>
                      <a:pt x="53" y="73"/>
                    </a:cubicBezTo>
                    <a:cubicBezTo>
                      <a:pt x="44" y="83"/>
                      <a:pt x="44" y="83"/>
                      <a:pt x="44" y="83"/>
                    </a:cubicBezTo>
                    <a:cubicBezTo>
                      <a:pt x="18" y="111"/>
                      <a:pt x="0" y="132"/>
                      <a:pt x="2" y="146"/>
                    </a:cubicBezTo>
                    <a:cubicBezTo>
                      <a:pt x="4" y="162"/>
                      <a:pt x="27" y="187"/>
                      <a:pt x="38" y="194"/>
                    </a:cubicBezTo>
                    <a:cubicBezTo>
                      <a:pt x="70" y="213"/>
                      <a:pt x="84" y="217"/>
                      <a:pt x="92" y="209"/>
                    </a:cubicBezTo>
                    <a:cubicBezTo>
                      <a:pt x="94" y="207"/>
                      <a:pt x="98" y="202"/>
                      <a:pt x="98" y="170"/>
                    </a:cubicBezTo>
                    <a:cubicBezTo>
                      <a:pt x="98" y="166"/>
                      <a:pt x="98" y="161"/>
                      <a:pt x="98" y="157"/>
                    </a:cubicBezTo>
                    <a:cubicBezTo>
                      <a:pt x="103" y="154"/>
                      <a:pt x="114" y="147"/>
                      <a:pt x="114" y="147"/>
                    </a:cubicBezTo>
                    <a:cubicBezTo>
                      <a:pt x="114" y="147"/>
                      <a:pt x="114" y="144"/>
                      <a:pt x="113" y="142"/>
                    </a:cubicBezTo>
                    <a:cubicBezTo>
                      <a:pt x="120" y="142"/>
                      <a:pt x="143" y="142"/>
                      <a:pt x="143" y="142"/>
                    </a:cubicBezTo>
                    <a:cubicBezTo>
                      <a:pt x="145" y="140"/>
                      <a:pt x="145" y="140"/>
                      <a:pt x="145" y="140"/>
                    </a:cubicBezTo>
                    <a:cubicBezTo>
                      <a:pt x="151" y="136"/>
                      <a:pt x="160" y="125"/>
                      <a:pt x="160" y="113"/>
                    </a:cubicBezTo>
                    <a:cubicBezTo>
                      <a:pt x="160" y="109"/>
                      <a:pt x="159" y="105"/>
                      <a:pt x="157" y="102"/>
                    </a:cubicBezTo>
                    <a:cubicBezTo>
                      <a:pt x="156" y="99"/>
                      <a:pt x="156" y="99"/>
                      <a:pt x="156" y="99"/>
                    </a:cubicBezTo>
                    <a:cubicBezTo>
                      <a:pt x="154" y="95"/>
                      <a:pt x="152" y="90"/>
                      <a:pt x="151" y="88"/>
                    </a:cubicBezTo>
                    <a:cubicBezTo>
                      <a:pt x="151" y="88"/>
                      <a:pt x="156" y="87"/>
                      <a:pt x="156" y="87"/>
                    </a:cubicBezTo>
                    <a:cubicBezTo>
                      <a:pt x="166" y="86"/>
                      <a:pt x="183" y="84"/>
                      <a:pt x="183" y="60"/>
                    </a:cubicBezTo>
                    <a:cubicBezTo>
                      <a:pt x="183" y="44"/>
                      <a:pt x="180" y="22"/>
                      <a:pt x="167" y="10"/>
                    </a:cubicBezTo>
                    <a:cubicBezTo>
                      <a:pt x="160" y="3"/>
                      <a:pt x="152" y="0"/>
                      <a:pt x="141" y="1"/>
                    </a:cubicBezTo>
                    <a:close/>
                    <a:moveTo>
                      <a:pt x="47" y="179"/>
                    </a:moveTo>
                    <a:cubicBezTo>
                      <a:pt x="38" y="174"/>
                      <a:pt x="20" y="153"/>
                      <a:pt x="19" y="144"/>
                    </a:cubicBezTo>
                    <a:cubicBezTo>
                      <a:pt x="19" y="144"/>
                      <a:pt x="19" y="144"/>
                      <a:pt x="19" y="144"/>
                    </a:cubicBezTo>
                    <a:cubicBezTo>
                      <a:pt x="19" y="135"/>
                      <a:pt x="46" y="107"/>
                      <a:pt x="57" y="95"/>
                    </a:cubicBezTo>
                    <a:cubicBezTo>
                      <a:pt x="66" y="85"/>
                      <a:pt x="66" y="85"/>
                      <a:pt x="66" y="85"/>
                    </a:cubicBezTo>
                    <a:cubicBezTo>
                      <a:pt x="80" y="69"/>
                      <a:pt x="134" y="27"/>
                      <a:pt x="145" y="18"/>
                    </a:cubicBezTo>
                    <a:cubicBezTo>
                      <a:pt x="149" y="18"/>
                      <a:pt x="152" y="20"/>
                      <a:pt x="155" y="22"/>
                    </a:cubicBezTo>
                    <a:cubicBezTo>
                      <a:pt x="162" y="28"/>
                      <a:pt x="165" y="42"/>
                      <a:pt x="165" y="60"/>
                    </a:cubicBezTo>
                    <a:cubicBezTo>
                      <a:pt x="165" y="60"/>
                      <a:pt x="165" y="60"/>
                      <a:pt x="165" y="60"/>
                    </a:cubicBezTo>
                    <a:cubicBezTo>
                      <a:pt x="165" y="69"/>
                      <a:pt x="165" y="69"/>
                      <a:pt x="154" y="70"/>
                    </a:cubicBezTo>
                    <a:cubicBezTo>
                      <a:pt x="148" y="71"/>
                      <a:pt x="148" y="71"/>
                      <a:pt x="148" y="71"/>
                    </a:cubicBezTo>
                    <a:cubicBezTo>
                      <a:pt x="142" y="71"/>
                      <a:pt x="137" y="74"/>
                      <a:pt x="135" y="79"/>
                    </a:cubicBezTo>
                    <a:cubicBezTo>
                      <a:pt x="133" y="81"/>
                      <a:pt x="133" y="83"/>
                      <a:pt x="133" y="86"/>
                    </a:cubicBezTo>
                    <a:cubicBezTo>
                      <a:pt x="133" y="92"/>
                      <a:pt x="136" y="99"/>
                      <a:pt x="140" y="107"/>
                    </a:cubicBezTo>
                    <a:cubicBezTo>
                      <a:pt x="142" y="109"/>
                      <a:pt x="142" y="109"/>
                      <a:pt x="142" y="109"/>
                    </a:cubicBezTo>
                    <a:cubicBezTo>
                      <a:pt x="142" y="111"/>
                      <a:pt x="143" y="112"/>
                      <a:pt x="143" y="113"/>
                    </a:cubicBezTo>
                    <a:cubicBezTo>
                      <a:pt x="143" y="118"/>
                      <a:pt x="139" y="123"/>
                      <a:pt x="137" y="125"/>
                    </a:cubicBezTo>
                    <a:cubicBezTo>
                      <a:pt x="131" y="125"/>
                      <a:pt x="108" y="125"/>
                      <a:pt x="108" y="125"/>
                    </a:cubicBezTo>
                    <a:cubicBezTo>
                      <a:pt x="102" y="125"/>
                      <a:pt x="99" y="128"/>
                      <a:pt x="97" y="130"/>
                    </a:cubicBezTo>
                    <a:cubicBezTo>
                      <a:pt x="95" y="133"/>
                      <a:pt x="95" y="136"/>
                      <a:pt x="95" y="138"/>
                    </a:cubicBezTo>
                    <a:cubicBezTo>
                      <a:pt x="95" y="138"/>
                      <a:pt x="95" y="139"/>
                      <a:pt x="95" y="139"/>
                    </a:cubicBezTo>
                    <a:cubicBezTo>
                      <a:pt x="90" y="141"/>
                      <a:pt x="81" y="148"/>
                      <a:pt x="81" y="148"/>
                    </a:cubicBezTo>
                    <a:cubicBezTo>
                      <a:pt x="81" y="153"/>
                      <a:pt x="81" y="153"/>
                      <a:pt x="81" y="153"/>
                    </a:cubicBezTo>
                    <a:cubicBezTo>
                      <a:pt x="81" y="158"/>
                      <a:pt x="81" y="163"/>
                      <a:pt x="81" y="168"/>
                    </a:cubicBezTo>
                    <a:cubicBezTo>
                      <a:pt x="81" y="179"/>
                      <a:pt x="81" y="190"/>
                      <a:pt x="79" y="195"/>
                    </a:cubicBezTo>
                    <a:cubicBezTo>
                      <a:pt x="76" y="194"/>
                      <a:pt x="67" y="190"/>
                      <a:pt x="47" y="17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17" name="Freeform 1892">
                <a:extLst>
                  <a:ext uri="{FF2B5EF4-FFF2-40B4-BE49-F238E27FC236}">
                    <a16:creationId xmlns:a16="http://schemas.microsoft.com/office/drawing/2014/main" id="{DA5FE253-0317-9820-FB96-0A57F7674957}"/>
                  </a:ext>
                </a:extLst>
              </p:cNvPr>
              <p:cNvSpPr>
                <a:spLocks/>
              </p:cNvSpPr>
              <p:nvPr/>
            </p:nvSpPr>
            <p:spPr bwMode="auto">
              <a:xfrm>
                <a:off x="1845" y="4143"/>
                <a:ext cx="14" cy="9"/>
              </a:xfrm>
              <a:custGeom>
                <a:avLst/>
                <a:gdLst>
                  <a:gd name="T0" fmla="*/ 26 w 63"/>
                  <a:gd name="T1" fmla="*/ 0 h 37"/>
                  <a:gd name="T2" fmla="*/ 13 w 63"/>
                  <a:gd name="T3" fmla="*/ 30 h 37"/>
                  <a:gd name="T4" fmla="*/ 52 w 63"/>
                  <a:gd name="T5" fmla="*/ 28 h 37"/>
                  <a:gd name="T6" fmla="*/ 54 w 63"/>
                  <a:gd name="T7" fmla="*/ 4 h 37"/>
                  <a:gd name="T8" fmla="*/ 26 w 63"/>
                  <a:gd name="T9" fmla="*/ 0 h 37"/>
                </a:gdLst>
                <a:ahLst/>
                <a:cxnLst>
                  <a:cxn ang="0">
                    <a:pos x="T0" y="T1"/>
                  </a:cxn>
                  <a:cxn ang="0">
                    <a:pos x="T2" y="T3"/>
                  </a:cxn>
                  <a:cxn ang="0">
                    <a:pos x="T4" y="T5"/>
                  </a:cxn>
                  <a:cxn ang="0">
                    <a:pos x="T6" y="T7"/>
                  </a:cxn>
                  <a:cxn ang="0">
                    <a:pos x="T8" y="T9"/>
                  </a:cxn>
                </a:cxnLst>
                <a:rect l="0" t="0" r="r" b="b"/>
                <a:pathLst>
                  <a:path w="63" h="37">
                    <a:moveTo>
                      <a:pt x="26" y="0"/>
                    </a:moveTo>
                    <a:cubicBezTo>
                      <a:pt x="26" y="0"/>
                      <a:pt x="0" y="22"/>
                      <a:pt x="13" y="30"/>
                    </a:cubicBezTo>
                    <a:cubicBezTo>
                      <a:pt x="26" y="37"/>
                      <a:pt x="52" y="28"/>
                      <a:pt x="52" y="28"/>
                    </a:cubicBezTo>
                    <a:cubicBezTo>
                      <a:pt x="52" y="28"/>
                      <a:pt x="63" y="5"/>
                      <a:pt x="54" y="4"/>
                    </a:cubicBezTo>
                    <a:cubicBezTo>
                      <a:pt x="45" y="2"/>
                      <a:pt x="26"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18" name="Freeform 1893">
                <a:extLst>
                  <a:ext uri="{FF2B5EF4-FFF2-40B4-BE49-F238E27FC236}">
                    <a16:creationId xmlns:a16="http://schemas.microsoft.com/office/drawing/2014/main" id="{0E15A888-443F-9DEE-7F3A-C87DFB00F3BE}"/>
                  </a:ext>
                </a:extLst>
              </p:cNvPr>
              <p:cNvSpPr>
                <a:spLocks noEditPoints="1"/>
              </p:cNvSpPr>
              <p:nvPr/>
            </p:nvSpPr>
            <p:spPr bwMode="auto">
              <a:xfrm>
                <a:off x="1845" y="4141"/>
                <a:ext cx="16" cy="13"/>
              </a:xfrm>
              <a:custGeom>
                <a:avLst/>
                <a:gdLst>
                  <a:gd name="T0" fmla="*/ 21 w 70"/>
                  <a:gd name="T1" fmla="*/ 2 h 56"/>
                  <a:gd name="T2" fmla="*/ 2 w 70"/>
                  <a:gd name="T3" fmla="*/ 34 h 56"/>
                  <a:gd name="T4" fmla="*/ 9 w 70"/>
                  <a:gd name="T5" fmla="*/ 46 h 56"/>
                  <a:gd name="T6" fmla="*/ 56 w 70"/>
                  <a:gd name="T7" fmla="*/ 45 h 56"/>
                  <a:gd name="T8" fmla="*/ 59 w 70"/>
                  <a:gd name="T9" fmla="*/ 44 h 56"/>
                  <a:gd name="T10" fmla="*/ 61 w 70"/>
                  <a:gd name="T11" fmla="*/ 41 h 56"/>
                  <a:gd name="T12" fmla="*/ 66 w 70"/>
                  <a:gd name="T13" fmla="*/ 11 h 56"/>
                  <a:gd name="T14" fmla="*/ 57 w 70"/>
                  <a:gd name="T15" fmla="*/ 4 h 56"/>
                  <a:gd name="T16" fmla="*/ 24 w 70"/>
                  <a:gd name="T17" fmla="*/ 0 h 56"/>
                  <a:gd name="T18" fmla="*/ 21 w 70"/>
                  <a:gd name="T19" fmla="*/ 2 h 56"/>
                  <a:gd name="T20" fmla="*/ 30 w 70"/>
                  <a:gd name="T21" fmla="*/ 18 h 56"/>
                  <a:gd name="T22" fmla="*/ 50 w 70"/>
                  <a:gd name="T23" fmla="*/ 21 h 56"/>
                  <a:gd name="T24" fmla="*/ 47 w 70"/>
                  <a:gd name="T25" fmla="*/ 30 h 56"/>
                  <a:gd name="T26" fmla="*/ 19 w 70"/>
                  <a:gd name="T27" fmla="*/ 32 h 56"/>
                  <a:gd name="T28" fmla="*/ 30 w 70"/>
                  <a:gd name="T29" fmla="*/ 18 h 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70" h="56">
                    <a:moveTo>
                      <a:pt x="21" y="2"/>
                    </a:moveTo>
                    <a:cubicBezTo>
                      <a:pt x="16" y="6"/>
                      <a:pt x="0" y="21"/>
                      <a:pt x="2" y="34"/>
                    </a:cubicBezTo>
                    <a:cubicBezTo>
                      <a:pt x="2" y="39"/>
                      <a:pt x="5" y="44"/>
                      <a:pt x="9" y="46"/>
                    </a:cubicBezTo>
                    <a:cubicBezTo>
                      <a:pt x="26" y="56"/>
                      <a:pt x="53" y="46"/>
                      <a:pt x="56" y="45"/>
                    </a:cubicBezTo>
                    <a:cubicBezTo>
                      <a:pt x="59" y="44"/>
                      <a:pt x="59" y="44"/>
                      <a:pt x="59" y="44"/>
                    </a:cubicBezTo>
                    <a:cubicBezTo>
                      <a:pt x="61" y="41"/>
                      <a:pt x="61" y="41"/>
                      <a:pt x="61" y="41"/>
                    </a:cubicBezTo>
                    <a:cubicBezTo>
                      <a:pt x="65" y="33"/>
                      <a:pt x="70" y="20"/>
                      <a:pt x="66" y="11"/>
                    </a:cubicBezTo>
                    <a:cubicBezTo>
                      <a:pt x="64" y="7"/>
                      <a:pt x="61" y="5"/>
                      <a:pt x="57" y="4"/>
                    </a:cubicBezTo>
                    <a:cubicBezTo>
                      <a:pt x="24" y="0"/>
                      <a:pt x="24" y="0"/>
                      <a:pt x="24" y="0"/>
                    </a:cubicBezTo>
                    <a:lnTo>
                      <a:pt x="21" y="2"/>
                    </a:lnTo>
                    <a:close/>
                    <a:moveTo>
                      <a:pt x="30" y="18"/>
                    </a:moveTo>
                    <a:cubicBezTo>
                      <a:pt x="35" y="19"/>
                      <a:pt x="45" y="20"/>
                      <a:pt x="50" y="21"/>
                    </a:cubicBezTo>
                    <a:cubicBezTo>
                      <a:pt x="49" y="23"/>
                      <a:pt x="48" y="26"/>
                      <a:pt x="47" y="30"/>
                    </a:cubicBezTo>
                    <a:cubicBezTo>
                      <a:pt x="38" y="32"/>
                      <a:pt x="26" y="34"/>
                      <a:pt x="19" y="32"/>
                    </a:cubicBezTo>
                    <a:cubicBezTo>
                      <a:pt x="20" y="28"/>
                      <a:pt x="25" y="23"/>
                      <a:pt x="30"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19" name="Freeform 1894">
                <a:extLst>
                  <a:ext uri="{FF2B5EF4-FFF2-40B4-BE49-F238E27FC236}">
                    <a16:creationId xmlns:a16="http://schemas.microsoft.com/office/drawing/2014/main" id="{AC00381B-0B4B-31AF-3173-02929E480E84}"/>
                  </a:ext>
                </a:extLst>
              </p:cNvPr>
              <p:cNvSpPr>
                <a:spLocks/>
              </p:cNvSpPr>
              <p:nvPr/>
            </p:nvSpPr>
            <p:spPr bwMode="auto">
              <a:xfrm>
                <a:off x="1810" y="4150"/>
                <a:ext cx="7" cy="9"/>
              </a:xfrm>
              <a:custGeom>
                <a:avLst/>
                <a:gdLst>
                  <a:gd name="T0" fmla="*/ 8 w 34"/>
                  <a:gd name="T1" fmla="*/ 15 h 37"/>
                  <a:gd name="T2" fmla="*/ 13 w 34"/>
                  <a:gd name="T3" fmla="*/ 32 h 37"/>
                  <a:gd name="T4" fmla="*/ 34 w 34"/>
                  <a:gd name="T5" fmla="*/ 26 h 37"/>
                  <a:gd name="T6" fmla="*/ 8 w 34"/>
                  <a:gd name="T7" fmla="*/ 15 h 37"/>
                </a:gdLst>
                <a:ahLst/>
                <a:cxnLst>
                  <a:cxn ang="0">
                    <a:pos x="T0" y="T1"/>
                  </a:cxn>
                  <a:cxn ang="0">
                    <a:pos x="T2" y="T3"/>
                  </a:cxn>
                  <a:cxn ang="0">
                    <a:pos x="T4" y="T5"/>
                  </a:cxn>
                  <a:cxn ang="0">
                    <a:pos x="T6" y="T7"/>
                  </a:cxn>
                </a:cxnLst>
                <a:rect l="0" t="0" r="r" b="b"/>
                <a:pathLst>
                  <a:path w="34" h="37">
                    <a:moveTo>
                      <a:pt x="8" y="15"/>
                    </a:moveTo>
                    <a:cubicBezTo>
                      <a:pt x="8" y="15"/>
                      <a:pt x="0" y="26"/>
                      <a:pt x="13" y="32"/>
                    </a:cubicBezTo>
                    <a:cubicBezTo>
                      <a:pt x="26" y="37"/>
                      <a:pt x="34" y="26"/>
                      <a:pt x="34" y="26"/>
                    </a:cubicBezTo>
                    <a:cubicBezTo>
                      <a:pt x="34" y="26"/>
                      <a:pt x="25" y="0"/>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20" name="Freeform 1895">
                <a:extLst>
                  <a:ext uri="{FF2B5EF4-FFF2-40B4-BE49-F238E27FC236}">
                    <a16:creationId xmlns:a16="http://schemas.microsoft.com/office/drawing/2014/main" id="{6425BD1D-5F4D-4447-D96B-E5B58CD8A4EC}"/>
                  </a:ext>
                </a:extLst>
              </p:cNvPr>
              <p:cNvSpPr>
                <a:spLocks noEditPoints="1"/>
              </p:cNvSpPr>
              <p:nvPr/>
            </p:nvSpPr>
            <p:spPr bwMode="auto">
              <a:xfrm>
                <a:off x="1809" y="4151"/>
                <a:ext cx="10" cy="10"/>
              </a:xfrm>
              <a:custGeom>
                <a:avLst/>
                <a:gdLst>
                  <a:gd name="T0" fmla="*/ 7 w 49"/>
                  <a:gd name="T1" fmla="*/ 7 h 45"/>
                  <a:gd name="T2" fmla="*/ 6 w 49"/>
                  <a:gd name="T3" fmla="*/ 8 h 45"/>
                  <a:gd name="T4" fmla="*/ 5 w 49"/>
                  <a:gd name="T5" fmla="*/ 9 h 45"/>
                  <a:gd name="T6" fmla="*/ 3 w 49"/>
                  <a:gd name="T7" fmla="*/ 26 h 45"/>
                  <a:gd name="T8" fmla="*/ 15 w 49"/>
                  <a:gd name="T9" fmla="*/ 39 h 45"/>
                  <a:gd name="T10" fmla="*/ 46 w 49"/>
                  <a:gd name="T11" fmla="*/ 30 h 45"/>
                  <a:gd name="T12" fmla="*/ 49 w 49"/>
                  <a:gd name="T13" fmla="*/ 26 h 45"/>
                  <a:gd name="T14" fmla="*/ 47 w 49"/>
                  <a:gd name="T15" fmla="*/ 22 h 45"/>
                  <a:gd name="T16" fmla="*/ 28 w 49"/>
                  <a:gd name="T17" fmla="*/ 1 h 45"/>
                  <a:gd name="T18" fmla="*/ 7 w 49"/>
                  <a:gd name="T19" fmla="*/ 7 h 45"/>
                  <a:gd name="T20" fmla="*/ 23 w 49"/>
                  <a:gd name="T21" fmla="*/ 18 h 45"/>
                  <a:gd name="T22" fmla="*/ 28 w 49"/>
                  <a:gd name="T23" fmla="*/ 23 h 45"/>
                  <a:gd name="T24" fmla="*/ 22 w 49"/>
                  <a:gd name="T25" fmla="*/ 23 h 45"/>
                  <a:gd name="T26" fmla="*/ 19 w 49"/>
                  <a:gd name="T27" fmla="*/ 21 h 45"/>
                  <a:gd name="T28" fmla="*/ 19 w 49"/>
                  <a:gd name="T29" fmla="*/ 21 h 45"/>
                  <a:gd name="T30" fmla="*/ 20 w 49"/>
                  <a:gd name="T31" fmla="*/ 19 h 45"/>
                  <a:gd name="T32" fmla="*/ 23 w 49"/>
                  <a:gd name="T33" fmla="*/ 18 h 4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9" h="45">
                    <a:moveTo>
                      <a:pt x="7" y="7"/>
                    </a:moveTo>
                    <a:cubicBezTo>
                      <a:pt x="6" y="8"/>
                      <a:pt x="6" y="8"/>
                      <a:pt x="6" y="8"/>
                    </a:cubicBezTo>
                    <a:cubicBezTo>
                      <a:pt x="5" y="9"/>
                      <a:pt x="5" y="9"/>
                      <a:pt x="5" y="9"/>
                    </a:cubicBezTo>
                    <a:cubicBezTo>
                      <a:pt x="5" y="10"/>
                      <a:pt x="0" y="17"/>
                      <a:pt x="3" y="26"/>
                    </a:cubicBezTo>
                    <a:cubicBezTo>
                      <a:pt x="4" y="30"/>
                      <a:pt x="7" y="35"/>
                      <a:pt x="15" y="39"/>
                    </a:cubicBezTo>
                    <a:cubicBezTo>
                      <a:pt x="31" y="45"/>
                      <a:pt x="42" y="36"/>
                      <a:pt x="46" y="30"/>
                    </a:cubicBezTo>
                    <a:cubicBezTo>
                      <a:pt x="49" y="26"/>
                      <a:pt x="49" y="26"/>
                      <a:pt x="49" y="26"/>
                    </a:cubicBezTo>
                    <a:cubicBezTo>
                      <a:pt x="47" y="22"/>
                      <a:pt x="47" y="22"/>
                      <a:pt x="47" y="22"/>
                    </a:cubicBezTo>
                    <a:cubicBezTo>
                      <a:pt x="46" y="20"/>
                      <a:pt x="40" y="4"/>
                      <a:pt x="28" y="1"/>
                    </a:cubicBezTo>
                    <a:cubicBezTo>
                      <a:pt x="23" y="0"/>
                      <a:pt x="15" y="0"/>
                      <a:pt x="7" y="7"/>
                    </a:cubicBezTo>
                    <a:close/>
                    <a:moveTo>
                      <a:pt x="23" y="18"/>
                    </a:moveTo>
                    <a:cubicBezTo>
                      <a:pt x="25" y="18"/>
                      <a:pt x="26" y="20"/>
                      <a:pt x="28" y="23"/>
                    </a:cubicBezTo>
                    <a:cubicBezTo>
                      <a:pt x="26" y="23"/>
                      <a:pt x="24" y="24"/>
                      <a:pt x="22" y="23"/>
                    </a:cubicBezTo>
                    <a:cubicBezTo>
                      <a:pt x="20" y="22"/>
                      <a:pt x="19" y="21"/>
                      <a:pt x="19" y="21"/>
                    </a:cubicBezTo>
                    <a:cubicBezTo>
                      <a:pt x="19" y="21"/>
                      <a:pt x="19" y="21"/>
                      <a:pt x="19" y="21"/>
                    </a:cubicBezTo>
                    <a:cubicBezTo>
                      <a:pt x="19" y="20"/>
                      <a:pt x="19" y="20"/>
                      <a:pt x="20" y="19"/>
                    </a:cubicBezTo>
                    <a:cubicBezTo>
                      <a:pt x="21" y="18"/>
                      <a:pt x="22" y="18"/>
                      <a:pt x="23"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21" name="Freeform 1896">
                <a:extLst>
                  <a:ext uri="{FF2B5EF4-FFF2-40B4-BE49-F238E27FC236}">
                    <a16:creationId xmlns:a16="http://schemas.microsoft.com/office/drawing/2014/main" id="{B29F3EB6-8B3B-1E04-BF03-5A3240B19356}"/>
                  </a:ext>
                </a:extLst>
              </p:cNvPr>
              <p:cNvSpPr>
                <a:spLocks/>
              </p:cNvSpPr>
              <p:nvPr/>
            </p:nvSpPr>
            <p:spPr bwMode="auto">
              <a:xfrm>
                <a:off x="1839" y="4153"/>
                <a:ext cx="8" cy="5"/>
              </a:xfrm>
              <a:custGeom>
                <a:avLst/>
                <a:gdLst>
                  <a:gd name="T0" fmla="*/ 4 w 38"/>
                  <a:gd name="T1" fmla="*/ 0 h 22"/>
                  <a:gd name="T2" fmla="*/ 3 w 38"/>
                  <a:gd name="T3" fmla="*/ 6 h 22"/>
                  <a:gd name="T4" fmla="*/ 6 w 38"/>
                  <a:gd name="T5" fmla="*/ 22 h 22"/>
                  <a:gd name="T6" fmla="*/ 4 w 38"/>
                  <a:gd name="T7" fmla="*/ 0 h 22"/>
                </a:gdLst>
                <a:ahLst/>
                <a:cxnLst>
                  <a:cxn ang="0">
                    <a:pos x="T0" y="T1"/>
                  </a:cxn>
                  <a:cxn ang="0">
                    <a:pos x="T2" y="T3"/>
                  </a:cxn>
                  <a:cxn ang="0">
                    <a:pos x="T4" y="T5"/>
                  </a:cxn>
                  <a:cxn ang="0">
                    <a:pos x="T6" y="T7"/>
                  </a:cxn>
                </a:cxnLst>
                <a:rect l="0" t="0" r="r" b="b"/>
                <a:pathLst>
                  <a:path w="38" h="22">
                    <a:moveTo>
                      <a:pt x="4" y="0"/>
                    </a:moveTo>
                    <a:cubicBezTo>
                      <a:pt x="4" y="0"/>
                      <a:pt x="3" y="3"/>
                      <a:pt x="3" y="6"/>
                    </a:cubicBezTo>
                    <a:cubicBezTo>
                      <a:pt x="1" y="13"/>
                      <a:pt x="0" y="22"/>
                      <a:pt x="6" y="22"/>
                    </a:cubicBezTo>
                    <a:cubicBezTo>
                      <a:pt x="16" y="22"/>
                      <a:pt x="38"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22" name="Freeform 1897">
                <a:extLst>
                  <a:ext uri="{FF2B5EF4-FFF2-40B4-BE49-F238E27FC236}">
                    <a16:creationId xmlns:a16="http://schemas.microsoft.com/office/drawing/2014/main" id="{F5CCDEBB-6FC3-FD18-BA00-36713CF7E279}"/>
                  </a:ext>
                </a:extLst>
              </p:cNvPr>
              <p:cNvSpPr>
                <a:spLocks noEditPoints="1"/>
              </p:cNvSpPr>
              <p:nvPr/>
            </p:nvSpPr>
            <p:spPr bwMode="auto">
              <a:xfrm>
                <a:off x="1837" y="4151"/>
                <a:ext cx="8" cy="9"/>
              </a:xfrm>
              <a:custGeom>
                <a:avLst/>
                <a:gdLst>
                  <a:gd name="T0" fmla="*/ 2 w 39"/>
                  <a:gd name="T1" fmla="*/ 14 h 41"/>
                  <a:gd name="T2" fmla="*/ 4 w 39"/>
                  <a:gd name="T3" fmla="*/ 36 h 41"/>
                  <a:gd name="T4" fmla="*/ 14 w 39"/>
                  <a:gd name="T5" fmla="*/ 41 h 41"/>
                  <a:gd name="T6" fmla="*/ 39 w 39"/>
                  <a:gd name="T7" fmla="*/ 20 h 41"/>
                  <a:gd name="T8" fmla="*/ 13 w 39"/>
                  <a:gd name="T9" fmla="*/ 1 h 41"/>
                  <a:gd name="T10" fmla="*/ 6 w 39"/>
                  <a:gd name="T11" fmla="*/ 0 h 41"/>
                  <a:gd name="T12" fmla="*/ 2 w 39"/>
                  <a:gd name="T13" fmla="*/ 14 h 41"/>
                  <a:gd name="T14" fmla="*/ 19 w 39"/>
                  <a:gd name="T15" fmla="*/ 20 h 41"/>
                  <a:gd name="T16" fmla="*/ 20 w 39"/>
                  <a:gd name="T17" fmla="*/ 20 h 41"/>
                  <a:gd name="T18" fmla="*/ 19 w 39"/>
                  <a:gd name="T19" fmla="*/ 22 h 41"/>
                  <a:gd name="T20" fmla="*/ 19 w 39"/>
                  <a:gd name="T21" fmla="*/ 2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39" h="41">
                    <a:moveTo>
                      <a:pt x="2" y="14"/>
                    </a:moveTo>
                    <a:cubicBezTo>
                      <a:pt x="0" y="25"/>
                      <a:pt x="1" y="32"/>
                      <a:pt x="4" y="36"/>
                    </a:cubicBezTo>
                    <a:cubicBezTo>
                      <a:pt x="7" y="39"/>
                      <a:pt x="10" y="41"/>
                      <a:pt x="14" y="41"/>
                    </a:cubicBezTo>
                    <a:cubicBezTo>
                      <a:pt x="24" y="41"/>
                      <a:pt x="38" y="32"/>
                      <a:pt x="39" y="20"/>
                    </a:cubicBezTo>
                    <a:cubicBezTo>
                      <a:pt x="39" y="13"/>
                      <a:pt x="35" y="4"/>
                      <a:pt x="13" y="1"/>
                    </a:cubicBezTo>
                    <a:cubicBezTo>
                      <a:pt x="6" y="0"/>
                      <a:pt x="6" y="0"/>
                      <a:pt x="6" y="0"/>
                    </a:cubicBezTo>
                    <a:lnTo>
                      <a:pt x="2" y="14"/>
                    </a:lnTo>
                    <a:close/>
                    <a:moveTo>
                      <a:pt x="19" y="20"/>
                    </a:moveTo>
                    <a:cubicBezTo>
                      <a:pt x="19" y="20"/>
                      <a:pt x="20" y="20"/>
                      <a:pt x="20" y="20"/>
                    </a:cubicBezTo>
                    <a:cubicBezTo>
                      <a:pt x="20" y="21"/>
                      <a:pt x="19" y="21"/>
                      <a:pt x="19" y="22"/>
                    </a:cubicBezTo>
                    <a:cubicBezTo>
                      <a:pt x="19" y="21"/>
                      <a:pt x="19" y="21"/>
                      <a:pt x="19"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23" name="Freeform 1898">
                <a:extLst>
                  <a:ext uri="{FF2B5EF4-FFF2-40B4-BE49-F238E27FC236}">
                    <a16:creationId xmlns:a16="http://schemas.microsoft.com/office/drawing/2014/main" id="{3EC90584-AD6C-9C04-1AD5-37CEF7D148B0}"/>
                  </a:ext>
                </a:extLst>
              </p:cNvPr>
              <p:cNvSpPr>
                <a:spLocks/>
              </p:cNvSpPr>
              <p:nvPr/>
            </p:nvSpPr>
            <p:spPr bwMode="auto">
              <a:xfrm>
                <a:off x="1862" y="4138"/>
                <a:ext cx="8" cy="6"/>
              </a:xfrm>
              <a:custGeom>
                <a:avLst/>
                <a:gdLst>
                  <a:gd name="T0" fmla="*/ 20 w 34"/>
                  <a:gd name="T1" fmla="*/ 0 h 27"/>
                  <a:gd name="T2" fmla="*/ 15 w 34"/>
                  <a:gd name="T3" fmla="*/ 23 h 27"/>
                  <a:gd name="T4" fmla="*/ 34 w 34"/>
                  <a:gd name="T5" fmla="*/ 13 h 27"/>
                  <a:gd name="T6" fmla="*/ 20 w 34"/>
                  <a:gd name="T7" fmla="*/ 0 h 27"/>
                </a:gdLst>
                <a:ahLst/>
                <a:cxnLst>
                  <a:cxn ang="0">
                    <a:pos x="T0" y="T1"/>
                  </a:cxn>
                  <a:cxn ang="0">
                    <a:pos x="T2" y="T3"/>
                  </a:cxn>
                  <a:cxn ang="0">
                    <a:pos x="T4" y="T5"/>
                  </a:cxn>
                  <a:cxn ang="0">
                    <a:pos x="T6" y="T7"/>
                  </a:cxn>
                </a:cxnLst>
                <a:rect l="0" t="0" r="r" b="b"/>
                <a:pathLst>
                  <a:path w="34" h="27">
                    <a:moveTo>
                      <a:pt x="20" y="0"/>
                    </a:moveTo>
                    <a:cubicBezTo>
                      <a:pt x="20" y="0"/>
                      <a:pt x="0" y="19"/>
                      <a:pt x="15" y="23"/>
                    </a:cubicBezTo>
                    <a:cubicBezTo>
                      <a:pt x="30" y="27"/>
                      <a:pt x="34" y="13"/>
                      <a:pt x="34" y="13"/>
                    </a:cubicBezTo>
                    <a:cubicBezTo>
                      <a:pt x="34" y="13"/>
                      <a:pt x="32"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24" name="Freeform 1899">
                <a:extLst>
                  <a:ext uri="{FF2B5EF4-FFF2-40B4-BE49-F238E27FC236}">
                    <a16:creationId xmlns:a16="http://schemas.microsoft.com/office/drawing/2014/main" id="{0C3011EE-19B1-720D-54FA-BA6A6FA2DCD2}"/>
                  </a:ext>
                </a:extLst>
              </p:cNvPr>
              <p:cNvSpPr>
                <a:spLocks noEditPoints="1"/>
              </p:cNvSpPr>
              <p:nvPr/>
            </p:nvSpPr>
            <p:spPr bwMode="auto">
              <a:xfrm>
                <a:off x="1862" y="4137"/>
                <a:ext cx="9" cy="9"/>
              </a:xfrm>
              <a:custGeom>
                <a:avLst/>
                <a:gdLst>
                  <a:gd name="T0" fmla="*/ 19 w 44"/>
                  <a:gd name="T1" fmla="*/ 0 h 43"/>
                  <a:gd name="T2" fmla="*/ 17 w 44"/>
                  <a:gd name="T3" fmla="*/ 2 h 43"/>
                  <a:gd name="T4" fmla="*/ 3 w 44"/>
                  <a:gd name="T5" fmla="*/ 29 h 43"/>
                  <a:gd name="T6" fmla="*/ 15 w 44"/>
                  <a:gd name="T7" fmla="*/ 39 h 43"/>
                  <a:gd name="T8" fmla="*/ 44 w 44"/>
                  <a:gd name="T9" fmla="*/ 24 h 43"/>
                  <a:gd name="T10" fmla="*/ 44 w 44"/>
                  <a:gd name="T11" fmla="*/ 22 h 43"/>
                  <a:gd name="T12" fmla="*/ 44 w 44"/>
                  <a:gd name="T13" fmla="*/ 20 h 43"/>
                  <a:gd name="T14" fmla="*/ 22 w 44"/>
                  <a:gd name="T15" fmla="*/ 0 h 43"/>
                  <a:gd name="T16" fmla="*/ 19 w 44"/>
                  <a:gd name="T17" fmla="*/ 0 h 43"/>
                  <a:gd name="T18" fmla="*/ 25 w 44"/>
                  <a:gd name="T19" fmla="*/ 18 h 43"/>
                  <a:gd name="T20" fmla="*/ 26 w 44"/>
                  <a:gd name="T21" fmla="*/ 20 h 43"/>
                  <a:gd name="T22" fmla="*/ 21 w 44"/>
                  <a:gd name="T23" fmla="*/ 23 h 43"/>
                  <a:gd name="T24" fmla="*/ 25 w 44"/>
                  <a:gd name="T25" fmla="*/ 18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4" h="43">
                    <a:moveTo>
                      <a:pt x="19" y="0"/>
                    </a:moveTo>
                    <a:cubicBezTo>
                      <a:pt x="17" y="2"/>
                      <a:pt x="17" y="2"/>
                      <a:pt x="17" y="2"/>
                    </a:cubicBezTo>
                    <a:cubicBezTo>
                      <a:pt x="12" y="6"/>
                      <a:pt x="0" y="18"/>
                      <a:pt x="3" y="29"/>
                    </a:cubicBezTo>
                    <a:cubicBezTo>
                      <a:pt x="4" y="32"/>
                      <a:pt x="6" y="37"/>
                      <a:pt x="15" y="39"/>
                    </a:cubicBezTo>
                    <a:cubicBezTo>
                      <a:pt x="32" y="43"/>
                      <a:pt x="41" y="32"/>
                      <a:pt x="44" y="24"/>
                    </a:cubicBezTo>
                    <a:cubicBezTo>
                      <a:pt x="44" y="22"/>
                      <a:pt x="44" y="22"/>
                      <a:pt x="44" y="22"/>
                    </a:cubicBezTo>
                    <a:cubicBezTo>
                      <a:pt x="44" y="20"/>
                      <a:pt x="44" y="20"/>
                      <a:pt x="44" y="20"/>
                    </a:cubicBezTo>
                    <a:cubicBezTo>
                      <a:pt x="43" y="13"/>
                      <a:pt x="37" y="0"/>
                      <a:pt x="22" y="0"/>
                    </a:cubicBezTo>
                    <a:lnTo>
                      <a:pt x="19" y="0"/>
                    </a:lnTo>
                    <a:close/>
                    <a:moveTo>
                      <a:pt x="25" y="18"/>
                    </a:moveTo>
                    <a:cubicBezTo>
                      <a:pt x="25" y="19"/>
                      <a:pt x="26" y="20"/>
                      <a:pt x="26" y="20"/>
                    </a:cubicBezTo>
                    <a:cubicBezTo>
                      <a:pt x="25" y="22"/>
                      <a:pt x="23" y="23"/>
                      <a:pt x="21" y="23"/>
                    </a:cubicBezTo>
                    <a:cubicBezTo>
                      <a:pt x="22" y="21"/>
                      <a:pt x="23" y="20"/>
                      <a:pt x="25"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25" name="Freeform 1900">
                <a:extLst>
                  <a:ext uri="{FF2B5EF4-FFF2-40B4-BE49-F238E27FC236}">
                    <a16:creationId xmlns:a16="http://schemas.microsoft.com/office/drawing/2014/main" id="{524F4C3B-EA5D-4AFB-1433-845199B0D4B8}"/>
                  </a:ext>
                </a:extLst>
              </p:cNvPr>
              <p:cNvSpPr>
                <a:spLocks/>
              </p:cNvSpPr>
              <p:nvPr/>
            </p:nvSpPr>
            <p:spPr bwMode="auto">
              <a:xfrm>
                <a:off x="1864" y="4109"/>
                <a:ext cx="8" cy="5"/>
              </a:xfrm>
              <a:custGeom>
                <a:avLst/>
                <a:gdLst>
                  <a:gd name="T0" fmla="*/ 15 w 34"/>
                  <a:gd name="T1" fmla="*/ 0 h 19"/>
                  <a:gd name="T2" fmla="*/ 17 w 34"/>
                  <a:gd name="T3" fmla="*/ 17 h 19"/>
                  <a:gd name="T4" fmla="*/ 32 w 34"/>
                  <a:gd name="T5" fmla="*/ 0 h 19"/>
                  <a:gd name="T6" fmla="*/ 15 w 34"/>
                  <a:gd name="T7" fmla="*/ 0 h 19"/>
                </a:gdLst>
                <a:ahLst/>
                <a:cxnLst>
                  <a:cxn ang="0">
                    <a:pos x="T0" y="T1"/>
                  </a:cxn>
                  <a:cxn ang="0">
                    <a:pos x="T2" y="T3"/>
                  </a:cxn>
                  <a:cxn ang="0">
                    <a:pos x="T4" y="T5"/>
                  </a:cxn>
                  <a:cxn ang="0">
                    <a:pos x="T6" y="T7"/>
                  </a:cxn>
                </a:cxnLst>
                <a:rect l="0" t="0" r="r" b="b"/>
                <a:pathLst>
                  <a:path w="34" h="19">
                    <a:moveTo>
                      <a:pt x="15" y="0"/>
                    </a:moveTo>
                    <a:cubicBezTo>
                      <a:pt x="15" y="0"/>
                      <a:pt x="0" y="15"/>
                      <a:pt x="17" y="17"/>
                    </a:cubicBezTo>
                    <a:cubicBezTo>
                      <a:pt x="34" y="19"/>
                      <a:pt x="32" y="0"/>
                      <a:pt x="32" y="0"/>
                    </a:cubicBezTo>
                    <a:cubicBezTo>
                      <a:pt x="32" y="0"/>
                      <a:pt x="21" y="2"/>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26" name="Freeform 1901">
                <a:extLst>
                  <a:ext uri="{FF2B5EF4-FFF2-40B4-BE49-F238E27FC236}">
                    <a16:creationId xmlns:a16="http://schemas.microsoft.com/office/drawing/2014/main" id="{48332BF4-6524-81BB-278B-0C0BF017BD93}"/>
                  </a:ext>
                </a:extLst>
              </p:cNvPr>
              <p:cNvSpPr>
                <a:spLocks/>
              </p:cNvSpPr>
              <p:nvPr/>
            </p:nvSpPr>
            <p:spPr bwMode="auto">
              <a:xfrm>
                <a:off x="1864" y="4107"/>
                <a:ext cx="9" cy="8"/>
              </a:xfrm>
              <a:custGeom>
                <a:avLst/>
                <a:gdLst>
                  <a:gd name="T0" fmla="*/ 33 w 44"/>
                  <a:gd name="T1" fmla="*/ 1 h 36"/>
                  <a:gd name="T2" fmla="*/ 20 w 44"/>
                  <a:gd name="T3" fmla="*/ 2 h 36"/>
                  <a:gd name="T4" fmla="*/ 15 w 44"/>
                  <a:gd name="T5" fmla="*/ 0 h 36"/>
                  <a:gd name="T6" fmla="*/ 11 w 44"/>
                  <a:gd name="T7" fmla="*/ 4 h 36"/>
                  <a:gd name="T8" fmla="*/ 3 w 44"/>
                  <a:gd name="T9" fmla="*/ 25 h 36"/>
                  <a:gd name="T10" fmla="*/ 18 w 44"/>
                  <a:gd name="T11" fmla="*/ 35 h 36"/>
                  <a:gd name="T12" fmla="*/ 36 w 44"/>
                  <a:gd name="T13" fmla="*/ 30 h 36"/>
                  <a:gd name="T14" fmla="*/ 43 w 44"/>
                  <a:gd name="T15" fmla="*/ 9 h 36"/>
                  <a:gd name="T16" fmla="*/ 42 w 44"/>
                  <a:gd name="T17" fmla="*/ 0 h 36"/>
                  <a:gd name="T18" fmla="*/ 33 w 44"/>
                  <a:gd name="T19"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4" h="36">
                    <a:moveTo>
                      <a:pt x="33" y="1"/>
                    </a:moveTo>
                    <a:cubicBezTo>
                      <a:pt x="28" y="2"/>
                      <a:pt x="22" y="2"/>
                      <a:pt x="20" y="2"/>
                    </a:cubicBezTo>
                    <a:cubicBezTo>
                      <a:pt x="15" y="0"/>
                      <a:pt x="15" y="0"/>
                      <a:pt x="15" y="0"/>
                    </a:cubicBezTo>
                    <a:cubicBezTo>
                      <a:pt x="11" y="4"/>
                      <a:pt x="11" y="4"/>
                      <a:pt x="11" y="4"/>
                    </a:cubicBezTo>
                    <a:cubicBezTo>
                      <a:pt x="8" y="6"/>
                      <a:pt x="0" y="16"/>
                      <a:pt x="3" y="25"/>
                    </a:cubicBezTo>
                    <a:cubicBezTo>
                      <a:pt x="4" y="29"/>
                      <a:pt x="8" y="34"/>
                      <a:pt x="18" y="35"/>
                    </a:cubicBezTo>
                    <a:cubicBezTo>
                      <a:pt x="27" y="36"/>
                      <a:pt x="33" y="33"/>
                      <a:pt x="36" y="30"/>
                    </a:cubicBezTo>
                    <a:cubicBezTo>
                      <a:pt x="44" y="22"/>
                      <a:pt x="43" y="10"/>
                      <a:pt x="43" y="9"/>
                    </a:cubicBezTo>
                    <a:cubicBezTo>
                      <a:pt x="42" y="0"/>
                      <a:pt x="42" y="0"/>
                      <a:pt x="42" y="0"/>
                    </a:cubicBezTo>
                    <a:lnTo>
                      <a:pt x="33"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27" name="Freeform 1902">
                <a:extLst>
                  <a:ext uri="{FF2B5EF4-FFF2-40B4-BE49-F238E27FC236}">
                    <a16:creationId xmlns:a16="http://schemas.microsoft.com/office/drawing/2014/main" id="{EA8F5FFF-A5DC-8EED-AC32-75BB1A98A622}"/>
                  </a:ext>
                </a:extLst>
              </p:cNvPr>
              <p:cNvSpPr>
                <a:spLocks/>
              </p:cNvSpPr>
              <p:nvPr/>
            </p:nvSpPr>
            <p:spPr bwMode="auto">
              <a:xfrm>
                <a:off x="1286" y="3820"/>
                <a:ext cx="19" cy="12"/>
              </a:xfrm>
              <a:custGeom>
                <a:avLst/>
                <a:gdLst>
                  <a:gd name="T0" fmla="*/ 38 w 87"/>
                  <a:gd name="T1" fmla="*/ 1 h 52"/>
                  <a:gd name="T2" fmla="*/ 3 w 87"/>
                  <a:gd name="T3" fmla="*/ 33 h 52"/>
                  <a:gd name="T4" fmla="*/ 25 w 87"/>
                  <a:gd name="T5" fmla="*/ 52 h 52"/>
                  <a:gd name="T6" fmla="*/ 87 w 87"/>
                  <a:gd name="T7" fmla="*/ 30 h 52"/>
                  <a:gd name="T8" fmla="*/ 38 w 87"/>
                  <a:gd name="T9" fmla="*/ 1 h 52"/>
                </a:gdLst>
                <a:ahLst/>
                <a:cxnLst>
                  <a:cxn ang="0">
                    <a:pos x="T0" y="T1"/>
                  </a:cxn>
                  <a:cxn ang="0">
                    <a:pos x="T2" y="T3"/>
                  </a:cxn>
                  <a:cxn ang="0">
                    <a:pos x="T4" y="T5"/>
                  </a:cxn>
                  <a:cxn ang="0">
                    <a:pos x="T6" y="T7"/>
                  </a:cxn>
                  <a:cxn ang="0">
                    <a:pos x="T8" y="T9"/>
                  </a:cxn>
                </a:cxnLst>
                <a:rect l="0" t="0" r="r" b="b"/>
                <a:pathLst>
                  <a:path w="87" h="52">
                    <a:moveTo>
                      <a:pt x="38" y="1"/>
                    </a:moveTo>
                    <a:cubicBezTo>
                      <a:pt x="38" y="1"/>
                      <a:pt x="6" y="23"/>
                      <a:pt x="3" y="33"/>
                    </a:cubicBezTo>
                    <a:cubicBezTo>
                      <a:pt x="0" y="43"/>
                      <a:pt x="6" y="52"/>
                      <a:pt x="25" y="52"/>
                    </a:cubicBezTo>
                    <a:cubicBezTo>
                      <a:pt x="44" y="52"/>
                      <a:pt x="87" y="42"/>
                      <a:pt x="87" y="30"/>
                    </a:cubicBezTo>
                    <a:cubicBezTo>
                      <a:pt x="87" y="19"/>
                      <a:pt x="65" y="0"/>
                      <a:pt x="3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28" name="Freeform 1903">
                <a:extLst>
                  <a:ext uri="{FF2B5EF4-FFF2-40B4-BE49-F238E27FC236}">
                    <a16:creationId xmlns:a16="http://schemas.microsoft.com/office/drawing/2014/main" id="{F352C798-3040-0557-BEC8-C33C69B120CB}"/>
                  </a:ext>
                </a:extLst>
              </p:cNvPr>
              <p:cNvSpPr>
                <a:spLocks noEditPoints="1"/>
              </p:cNvSpPr>
              <p:nvPr/>
            </p:nvSpPr>
            <p:spPr bwMode="auto">
              <a:xfrm>
                <a:off x="1285" y="3818"/>
                <a:ext cx="22" cy="15"/>
              </a:xfrm>
              <a:custGeom>
                <a:avLst/>
                <a:gdLst>
                  <a:gd name="T0" fmla="*/ 44 w 103"/>
                  <a:gd name="T1" fmla="*/ 1 h 68"/>
                  <a:gd name="T2" fmla="*/ 42 w 103"/>
                  <a:gd name="T3" fmla="*/ 1 h 68"/>
                  <a:gd name="T4" fmla="*/ 40 w 103"/>
                  <a:gd name="T5" fmla="*/ 2 h 68"/>
                  <a:gd name="T6" fmla="*/ 2 w 103"/>
                  <a:gd name="T7" fmla="*/ 39 h 68"/>
                  <a:gd name="T8" fmla="*/ 5 w 103"/>
                  <a:gd name="T9" fmla="*/ 58 h 68"/>
                  <a:gd name="T10" fmla="*/ 32 w 103"/>
                  <a:gd name="T11" fmla="*/ 68 h 68"/>
                  <a:gd name="T12" fmla="*/ 103 w 103"/>
                  <a:gd name="T13" fmla="*/ 38 h 68"/>
                  <a:gd name="T14" fmla="*/ 92 w 103"/>
                  <a:gd name="T15" fmla="*/ 17 h 68"/>
                  <a:gd name="T16" fmla="*/ 44 w 103"/>
                  <a:gd name="T17" fmla="*/ 1 h 68"/>
                  <a:gd name="T18" fmla="*/ 80 w 103"/>
                  <a:gd name="T19" fmla="*/ 30 h 68"/>
                  <a:gd name="T20" fmla="*/ 85 w 103"/>
                  <a:gd name="T21" fmla="*/ 37 h 68"/>
                  <a:gd name="T22" fmla="*/ 32 w 103"/>
                  <a:gd name="T23" fmla="*/ 51 h 68"/>
                  <a:gd name="T24" fmla="*/ 19 w 103"/>
                  <a:gd name="T25" fmla="*/ 48 h 68"/>
                  <a:gd name="T26" fmla="*/ 18 w 103"/>
                  <a:gd name="T27" fmla="*/ 46 h 68"/>
                  <a:gd name="T28" fmla="*/ 19 w 103"/>
                  <a:gd name="T29" fmla="*/ 43 h 68"/>
                  <a:gd name="T30" fmla="*/ 48 w 103"/>
                  <a:gd name="T31" fmla="*/ 18 h 68"/>
                  <a:gd name="T32" fmla="*/ 80 w 103"/>
                  <a:gd name="T33" fmla="*/ 30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103" h="68">
                    <a:moveTo>
                      <a:pt x="44" y="1"/>
                    </a:moveTo>
                    <a:cubicBezTo>
                      <a:pt x="42" y="1"/>
                      <a:pt x="42" y="1"/>
                      <a:pt x="42" y="1"/>
                    </a:cubicBezTo>
                    <a:cubicBezTo>
                      <a:pt x="40" y="2"/>
                      <a:pt x="40" y="2"/>
                      <a:pt x="40" y="2"/>
                    </a:cubicBezTo>
                    <a:cubicBezTo>
                      <a:pt x="30" y="9"/>
                      <a:pt x="5" y="27"/>
                      <a:pt x="2" y="39"/>
                    </a:cubicBezTo>
                    <a:cubicBezTo>
                      <a:pt x="0" y="46"/>
                      <a:pt x="1" y="53"/>
                      <a:pt x="5" y="58"/>
                    </a:cubicBezTo>
                    <a:cubicBezTo>
                      <a:pt x="10" y="65"/>
                      <a:pt x="19" y="68"/>
                      <a:pt x="32" y="68"/>
                    </a:cubicBezTo>
                    <a:cubicBezTo>
                      <a:pt x="44" y="68"/>
                      <a:pt x="103" y="61"/>
                      <a:pt x="103" y="38"/>
                    </a:cubicBezTo>
                    <a:cubicBezTo>
                      <a:pt x="103" y="31"/>
                      <a:pt x="99" y="24"/>
                      <a:pt x="92" y="17"/>
                    </a:cubicBezTo>
                    <a:cubicBezTo>
                      <a:pt x="80" y="6"/>
                      <a:pt x="62" y="0"/>
                      <a:pt x="44" y="1"/>
                    </a:cubicBezTo>
                    <a:close/>
                    <a:moveTo>
                      <a:pt x="80" y="30"/>
                    </a:moveTo>
                    <a:cubicBezTo>
                      <a:pt x="84" y="33"/>
                      <a:pt x="85" y="36"/>
                      <a:pt x="85" y="37"/>
                    </a:cubicBezTo>
                    <a:cubicBezTo>
                      <a:pt x="79" y="43"/>
                      <a:pt x="50" y="51"/>
                      <a:pt x="32" y="51"/>
                    </a:cubicBezTo>
                    <a:cubicBezTo>
                      <a:pt x="24" y="51"/>
                      <a:pt x="20" y="49"/>
                      <a:pt x="19" y="48"/>
                    </a:cubicBezTo>
                    <a:cubicBezTo>
                      <a:pt x="18" y="47"/>
                      <a:pt x="18" y="46"/>
                      <a:pt x="18" y="46"/>
                    </a:cubicBezTo>
                    <a:cubicBezTo>
                      <a:pt x="18" y="45"/>
                      <a:pt x="18" y="44"/>
                      <a:pt x="19" y="43"/>
                    </a:cubicBezTo>
                    <a:cubicBezTo>
                      <a:pt x="20" y="39"/>
                      <a:pt x="33" y="28"/>
                      <a:pt x="48" y="18"/>
                    </a:cubicBezTo>
                    <a:cubicBezTo>
                      <a:pt x="62" y="18"/>
                      <a:pt x="74" y="24"/>
                      <a:pt x="80"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29" name="Freeform 1904">
                <a:extLst>
                  <a:ext uri="{FF2B5EF4-FFF2-40B4-BE49-F238E27FC236}">
                    <a16:creationId xmlns:a16="http://schemas.microsoft.com/office/drawing/2014/main" id="{D276144B-A38A-D301-EE8D-2BDE8E9451AA}"/>
                  </a:ext>
                </a:extLst>
              </p:cNvPr>
              <p:cNvSpPr>
                <a:spLocks/>
              </p:cNvSpPr>
              <p:nvPr/>
            </p:nvSpPr>
            <p:spPr bwMode="auto">
              <a:xfrm>
                <a:off x="1207" y="3850"/>
                <a:ext cx="11" cy="29"/>
              </a:xfrm>
              <a:custGeom>
                <a:avLst/>
                <a:gdLst>
                  <a:gd name="T0" fmla="*/ 10 w 53"/>
                  <a:gd name="T1" fmla="*/ 11 h 130"/>
                  <a:gd name="T2" fmla="*/ 10 w 53"/>
                  <a:gd name="T3" fmla="*/ 35 h 130"/>
                  <a:gd name="T4" fmla="*/ 26 w 53"/>
                  <a:gd name="T5" fmla="*/ 53 h 130"/>
                  <a:gd name="T6" fmla="*/ 29 w 53"/>
                  <a:gd name="T7" fmla="*/ 88 h 130"/>
                  <a:gd name="T8" fmla="*/ 45 w 53"/>
                  <a:gd name="T9" fmla="*/ 97 h 130"/>
                  <a:gd name="T10" fmla="*/ 39 w 53"/>
                  <a:gd name="T11" fmla="*/ 26 h 130"/>
                  <a:gd name="T12" fmla="*/ 10 w 53"/>
                  <a:gd name="T13" fmla="*/ 11 h 130"/>
                </a:gdLst>
                <a:ahLst/>
                <a:cxnLst>
                  <a:cxn ang="0">
                    <a:pos x="T0" y="T1"/>
                  </a:cxn>
                  <a:cxn ang="0">
                    <a:pos x="T2" y="T3"/>
                  </a:cxn>
                  <a:cxn ang="0">
                    <a:pos x="T4" y="T5"/>
                  </a:cxn>
                  <a:cxn ang="0">
                    <a:pos x="T6" y="T7"/>
                  </a:cxn>
                  <a:cxn ang="0">
                    <a:pos x="T8" y="T9"/>
                  </a:cxn>
                  <a:cxn ang="0">
                    <a:pos x="T10" y="T11"/>
                  </a:cxn>
                  <a:cxn ang="0">
                    <a:pos x="T12" y="T13"/>
                  </a:cxn>
                </a:cxnLst>
                <a:rect l="0" t="0" r="r" b="b"/>
                <a:pathLst>
                  <a:path w="53" h="130">
                    <a:moveTo>
                      <a:pt x="10" y="11"/>
                    </a:moveTo>
                    <a:cubicBezTo>
                      <a:pt x="10" y="11"/>
                      <a:pt x="0" y="35"/>
                      <a:pt x="10" y="35"/>
                    </a:cubicBezTo>
                    <a:cubicBezTo>
                      <a:pt x="20" y="35"/>
                      <a:pt x="30" y="49"/>
                      <a:pt x="26" y="53"/>
                    </a:cubicBezTo>
                    <a:cubicBezTo>
                      <a:pt x="21" y="58"/>
                      <a:pt x="24" y="69"/>
                      <a:pt x="29" y="88"/>
                    </a:cubicBezTo>
                    <a:cubicBezTo>
                      <a:pt x="33" y="107"/>
                      <a:pt x="43" y="130"/>
                      <a:pt x="45" y="97"/>
                    </a:cubicBezTo>
                    <a:cubicBezTo>
                      <a:pt x="46" y="63"/>
                      <a:pt x="53" y="40"/>
                      <a:pt x="39" y="26"/>
                    </a:cubicBezTo>
                    <a:cubicBezTo>
                      <a:pt x="24" y="11"/>
                      <a:pt x="14" y="0"/>
                      <a:pt x="1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30" name="Freeform 1905">
                <a:extLst>
                  <a:ext uri="{FF2B5EF4-FFF2-40B4-BE49-F238E27FC236}">
                    <a16:creationId xmlns:a16="http://schemas.microsoft.com/office/drawing/2014/main" id="{378D9711-62EC-F746-1CFA-116C84CC8844}"/>
                  </a:ext>
                </a:extLst>
              </p:cNvPr>
              <p:cNvSpPr>
                <a:spLocks noEditPoints="1"/>
              </p:cNvSpPr>
              <p:nvPr/>
            </p:nvSpPr>
            <p:spPr bwMode="auto">
              <a:xfrm>
                <a:off x="1206" y="3849"/>
                <a:ext cx="14" cy="28"/>
              </a:xfrm>
              <a:custGeom>
                <a:avLst/>
                <a:gdLst>
                  <a:gd name="T0" fmla="*/ 15 w 62"/>
                  <a:gd name="T1" fmla="*/ 2 h 127"/>
                  <a:gd name="T2" fmla="*/ 5 w 62"/>
                  <a:gd name="T3" fmla="*/ 12 h 127"/>
                  <a:gd name="T4" fmla="*/ 0 w 62"/>
                  <a:gd name="T5" fmla="*/ 32 h 127"/>
                  <a:gd name="T6" fmla="*/ 2 w 62"/>
                  <a:gd name="T7" fmla="*/ 42 h 127"/>
                  <a:gd name="T8" fmla="*/ 13 w 62"/>
                  <a:gd name="T9" fmla="*/ 47 h 127"/>
                  <a:gd name="T10" fmla="*/ 21 w 62"/>
                  <a:gd name="T11" fmla="*/ 54 h 127"/>
                  <a:gd name="T12" fmla="*/ 18 w 62"/>
                  <a:gd name="T13" fmla="*/ 64 h 127"/>
                  <a:gd name="T14" fmla="*/ 23 w 62"/>
                  <a:gd name="T15" fmla="*/ 92 h 127"/>
                  <a:gd name="T16" fmla="*/ 23 w 62"/>
                  <a:gd name="T17" fmla="*/ 94 h 127"/>
                  <a:gd name="T18" fmla="*/ 44 w 62"/>
                  <a:gd name="T19" fmla="*/ 126 h 127"/>
                  <a:gd name="T20" fmla="*/ 56 w 62"/>
                  <a:gd name="T21" fmla="*/ 101 h 127"/>
                  <a:gd name="T22" fmla="*/ 58 w 62"/>
                  <a:gd name="T23" fmla="*/ 79 h 127"/>
                  <a:gd name="T24" fmla="*/ 48 w 62"/>
                  <a:gd name="T25" fmla="*/ 24 h 127"/>
                  <a:gd name="T26" fmla="*/ 45 w 62"/>
                  <a:gd name="T27" fmla="*/ 20 h 127"/>
                  <a:gd name="T28" fmla="*/ 15 w 62"/>
                  <a:gd name="T29" fmla="*/ 2 h 127"/>
                  <a:gd name="T30" fmla="*/ 20 w 62"/>
                  <a:gd name="T31" fmla="*/ 21 h 127"/>
                  <a:gd name="T32" fmla="*/ 32 w 62"/>
                  <a:gd name="T33" fmla="*/ 33 h 127"/>
                  <a:gd name="T34" fmla="*/ 36 w 62"/>
                  <a:gd name="T35" fmla="*/ 36 h 127"/>
                  <a:gd name="T36" fmla="*/ 42 w 62"/>
                  <a:gd name="T37" fmla="*/ 56 h 127"/>
                  <a:gd name="T38" fmla="*/ 41 w 62"/>
                  <a:gd name="T39" fmla="*/ 77 h 127"/>
                  <a:gd name="T40" fmla="*/ 40 w 62"/>
                  <a:gd name="T41" fmla="*/ 89 h 127"/>
                  <a:gd name="T42" fmla="*/ 40 w 62"/>
                  <a:gd name="T43" fmla="*/ 88 h 127"/>
                  <a:gd name="T44" fmla="*/ 35 w 62"/>
                  <a:gd name="T45" fmla="*/ 64 h 127"/>
                  <a:gd name="T46" fmla="*/ 35 w 62"/>
                  <a:gd name="T47" fmla="*/ 63 h 127"/>
                  <a:gd name="T48" fmla="*/ 38 w 62"/>
                  <a:gd name="T49" fmla="*/ 55 h 127"/>
                  <a:gd name="T50" fmla="*/ 37 w 62"/>
                  <a:gd name="T51" fmla="*/ 48 h 127"/>
                  <a:gd name="T52" fmla="*/ 17 w 62"/>
                  <a:gd name="T53" fmla="*/ 31 h 127"/>
                  <a:gd name="T54" fmla="*/ 20 w 62"/>
                  <a:gd name="T55" fmla="*/ 21 h 127"/>
                  <a:gd name="T56" fmla="*/ 5 w 62"/>
                  <a:gd name="T57" fmla="*/ 12 h 127"/>
                  <a:gd name="T58" fmla="*/ 5 w 62"/>
                  <a:gd name="T59" fmla="*/ 12 h 127"/>
                  <a:gd name="T60" fmla="*/ 5 w 62"/>
                  <a:gd name="T61" fmla="*/ 12 h 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62" h="127">
                    <a:moveTo>
                      <a:pt x="15" y="2"/>
                    </a:moveTo>
                    <a:cubicBezTo>
                      <a:pt x="12" y="3"/>
                      <a:pt x="7" y="5"/>
                      <a:pt x="5" y="12"/>
                    </a:cubicBezTo>
                    <a:cubicBezTo>
                      <a:pt x="3" y="18"/>
                      <a:pt x="0" y="25"/>
                      <a:pt x="0" y="32"/>
                    </a:cubicBezTo>
                    <a:cubicBezTo>
                      <a:pt x="0" y="36"/>
                      <a:pt x="0" y="39"/>
                      <a:pt x="2" y="42"/>
                    </a:cubicBezTo>
                    <a:cubicBezTo>
                      <a:pt x="4" y="45"/>
                      <a:pt x="8" y="47"/>
                      <a:pt x="13" y="47"/>
                    </a:cubicBezTo>
                    <a:cubicBezTo>
                      <a:pt x="16" y="47"/>
                      <a:pt x="20" y="52"/>
                      <a:pt x="21" y="54"/>
                    </a:cubicBezTo>
                    <a:cubicBezTo>
                      <a:pt x="19" y="57"/>
                      <a:pt x="18" y="60"/>
                      <a:pt x="18" y="64"/>
                    </a:cubicBezTo>
                    <a:cubicBezTo>
                      <a:pt x="18" y="71"/>
                      <a:pt x="20" y="80"/>
                      <a:pt x="23" y="92"/>
                    </a:cubicBezTo>
                    <a:cubicBezTo>
                      <a:pt x="23" y="94"/>
                      <a:pt x="23" y="94"/>
                      <a:pt x="23" y="94"/>
                    </a:cubicBezTo>
                    <a:cubicBezTo>
                      <a:pt x="31" y="127"/>
                      <a:pt x="40" y="126"/>
                      <a:pt x="44" y="126"/>
                    </a:cubicBezTo>
                    <a:cubicBezTo>
                      <a:pt x="55" y="125"/>
                      <a:pt x="56" y="110"/>
                      <a:pt x="56" y="101"/>
                    </a:cubicBezTo>
                    <a:cubicBezTo>
                      <a:pt x="58" y="79"/>
                      <a:pt x="58" y="79"/>
                      <a:pt x="58" y="79"/>
                    </a:cubicBezTo>
                    <a:cubicBezTo>
                      <a:pt x="60" y="57"/>
                      <a:pt x="62" y="38"/>
                      <a:pt x="48" y="24"/>
                    </a:cubicBezTo>
                    <a:cubicBezTo>
                      <a:pt x="45" y="20"/>
                      <a:pt x="45" y="20"/>
                      <a:pt x="45" y="20"/>
                    </a:cubicBezTo>
                    <a:cubicBezTo>
                      <a:pt x="33" y="8"/>
                      <a:pt x="25" y="0"/>
                      <a:pt x="15" y="2"/>
                    </a:cubicBezTo>
                    <a:close/>
                    <a:moveTo>
                      <a:pt x="20" y="21"/>
                    </a:moveTo>
                    <a:cubicBezTo>
                      <a:pt x="23" y="24"/>
                      <a:pt x="28" y="29"/>
                      <a:pt x="32" y="33"/>
                    </a:cubicBezTo>
                    <a:cubicBezTo>
                      <a:pt x="36" y="36"/>
                      <a:pt x="36" y="36"/>
                      <a:pt x="36" y="36"/>
                    </a:cubicBezTo>
                    <a:cubicBezTo>
                      <a:pt x="40" y="41"/>
                      <a:pt x="42" y="47"/>
                      <a:pt x="42" y="56"/>
                    </a:cubicBezTo>
                    <a:cubicBezTo>
                      <a:pt x="42" y="62"/>
                      <a:pt x="41" y="69"/>
                      <a:pt x="41" y="77"/>
                    </a:cubicBezTo>
                    <a:cubicBezTo>
                      <a:pt x="41" y="77"/>
                      <a:pt x="40" y="83"/>
                      <a:pt x="40" y="89"/>
                    </a:cubicBezTo>
                    <a:cubicBezTo>
                      <a:pt x="40" y="88"/>
                      <a:pt x="40" y="88"/>
                      <a:pt x="40" y="88"/>
                    </a:cubicBezTo>
                    <a:cubicBezTo>
                      <a:pt x="38" y="79"/>
                      <a:pt x="35" y="69"/>
                      <a:pt x="35" y="64"/>
                    </a:cubicBezTo>
                    <a:cubicBezTo>
                      <a:pt x="35" y="64"/>
                      <a:pt x="35" y="63"/>
                      <a:pt x="35" y="63"/>
                    </a:cubicBezTo>
                    <a:cubicBezTo>
                      <a:pt x="36" y="62"/>
                      <a:pt x="38" y="59"/>
                      <a:pt x="38" y="55"/>
                    </a:cubicBezTo>
                    <a:cubicBezTo>
                      <a:pt x="38" y="53"/>
                      <a:pt x="38" y="50"/>
                      <a:pt x="37" y="48"/>
                    </a:cubicBezTo>
                    <a:cubicBezTo>
                      <a:pt x="34" y="40"/>
                      <a:pt x="26" y="33"/>
                      <a:pt x="17" y="31"/>
                    </a:cubicBezTo>
                    <a:cubicBezTo>
                      <a:pt x="18" y="28"/>
                      <a:pt x="19" y="25"/>
                      <a:pt x="20" y="21"/>
                    </a:cubicBezTo>
                    <a:close/>
                    <a:moveTo>
                      <a:pt x="5" y="12"/>
                    </a:moveTo>
                    <a:cubicBezTo>
                      <a:pt x="5" y="12"/>
                      <a:pt x="5" y="12"/>
                      <a:pt x="5" y="12"/>
                    </a:cubicBezTo>
                    <a:cubicBezTo>
                      <a:pt x="5" y="12"/>
                      <a:pt x="5" y="12"/>
                      <a:pt x="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31" name="Freeform 1906">
                <a:extLst>
                  <a:ext uri="{FF2B5EF4-FFF2-40B4-BE49-F238E27FC236}">
                    <a16:creationId xmlns:a16="http://schemas.microsoft.com/office/drawing/2014/main" id="{B2135CC9-995C-E03B-52C4-095CD16BA2E2}"/>
                  </a:ext>
                </a:extLst>
              </p:cNvPr>
              <p:cNvSpPr>
                <a:spLocks/>
              </p:cNvSpPr>
              <p:nvPr/>
            </p:nvSpPr>
            <p:spPr bwMode="auto">
              <a:xfrm>
                <a:off x="1217" y="3846"/>
                <a:ext cx="8" cy="5"/>
              </a:xfrm>
              <a:custGeom>
                <a:avLst/>
                <a:gdLst>
                  <a:gd name="T0" fmla="*/ 13 w 34"/>
                  <a:gd name="T1" fmla="*/ 0 h 20"/>
                  <a:gd name="T2" fmla="*/ 9 w 34"/>
                  <a:gd name="T3" fmla="*/ 15 h 20"/>
                  <a:gd name="T4" fmla="*/ 13 w 34"/>
                  <a:gd name="T5" fmla="*/ 0 h 20"/>
                </a:gdLst>
                <a:ahLst/>
                <a:cxnLst>
                  <a:cxn ang="0">
                    <a:pos x="T0" y="T1"/>
                  </a:cxn>
                  <a:cxn ang="0">
                    <a:pos x="T2" y="T3"/>
                  </a:cxn>
                  <a:cxn ang="0">
                    <a:pos x="T4" y="T5"/>
                  </a:cxn>
                </a:cxnLst>
                <a:rect l="0" t="0" r="r" b="b"/>
                <a:pathLst>
                  <a:path w="34" h="20">
                    <a:moveTo>
                      <a:pt x="13" y="0"/>
                    </a:moveTo>
                    <a:cubicBezTo>
                      <a:pt x="13" y="0"/>
                      <a:pt x="0" y="9"/>
                      <a:pt x="9" y="15"/>
                    </a:cubicBezTo>
                    <a:cubicBezTo>
                      <a:pt x="18" y="20"/>
                      <a:pt x="34" y="2"/>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32" name="Freeform 1907">
                <a:extLst>
                  <a:ext uri="{FF2B5EF4-FFF2-40B4-BE49-F238E27FC236}">
                    <a16:creationId xmlns:a16="http://schemas.microsoft.com/office/drawing/2014/main" id="{3801047F-48FF-2276-0564-DCC27E6469BD}"/>
                  </a:ext>
                </a:extLst>
              </p:cNvPr>
              <p:cNvSpPr>
                <a:spLocks/>
              </p:cNvSpPr>
              <p:nvPr/>
            </p:nvSpPr>
            <p:spPr bwMode="auto">
              <a:xfrm>
                <a:off x="1216" y="3844"/>
                <a:ext cx="8" cy="8"/>
              </a:xfrm>
              <a:custGeom>
                <a:avLst/>
                <a:gdLst>
                  <a:gd name="T0" fmla="*/ 12 w 36"/>
                  <a:gd name="T1" fmla="*/ 2 h 35"/>
                  <a:gd name="T2" fmla="*/ 0 w 36"/>
                  <a:gd name="T3" fmla="*/ 19 h 35"/>
                  <a:gd name="T4" fmla="*/ 7 w 36"/>
                  <a:gd name="T5" fmla="*/ 31 h 35"/>
                  <a:gd name="T6" fmla="*/ 27 w 36"/>
                  <a:gd name="T7" fmla="*/ 29 h 35"/>
                  <a:gd name="T8" fmla="*/ 34 w 36"/>
                  <a:gd name="T9" fmla="*/ 12 h 35"/>
                  <a:gd name="T10" fmla="*/ 17 w 36"/>
                  <a:gd name="T11" fmla="*/ 0 h 35"/>
                  <a:gd name="T12" fmla="*/ 14 w 36"/>
                  <a:gd name="T13" fmla="*/ 0 h 35"/>
                  <a:gd name="T14" fmla="*/ 12 w 36"/>
                  <a:gd name="T15" fmla="*/ 2 h 35"/>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36" h="35">
                    <a:moveTo>
                      <a:pt x="12" y="2"/>
                    </a:moveTo>
                    <a:cubicBezTo>
                      <a:pt x="9" y="4"/>
                      <a:pt x="0" y="10"/>
                      <a:pt x="0" y="19"/>
                    </a:cubicBezTo>
                    <a:cubicBezTo>
                      <a:pt x="0" y="22"/>
                      <a:pt x="1" y="27"/>
                      <a:pt x="7" y="31"/>
                    </a:cubicBezTo>
                    <a:cubicBezTo>
                      <a:pt x="13" y="35"/>
                      <a:pt x="21" y="34"/>
                      <a:pt x="27" y="29"/>
                    </a:cubicBezTo>
                    <a:cubicBezTo>
                      <a:pt x="33" y="25"/>
                      <a:pt x="36" y="18"/>
                      <a:pt x="34" y="12"/>
                    </a:cubicBezTo>
                    <a:cubicBezTo>
                      <a:pt x="33" y="8"/>
                      <a:pt x="30" y="1"/>
                      <a:pt x="17" y="0"/>
                    </a:cubicBezTo>
                    <a:cubicBezTo>
                      <a:pt x="14" y="0"/>
                      <a:pt x="14" y="0"/>
                      <a:pt x="14" y="0"/>
                    </a:cubicBezTo>
                    <a:lnTo>
                      <a:pt x="12" y="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33" name="Freeform 1908">
                <a:extLst>
                  <a:ext uri="{FF2B5EF4-FFF2-40B4-BE49-F238E27FC236}">
                    <a16:creationId xmlns:a16="http://schemas.microsoft.com/office/drawing/2014/main" id="{BCB9F193-330A-27B6-48B6-E51D9BB46A6C}"/>
                  </a:ext>
                </a:extLst>
              </p:cNvPr>
              <p:cNvSpPr>
                <a:spLocks/>
              </p:cNvSpPr>
              <p:nvPr/>
            </p:nvSpPr>
            <p:spPr bwMode="auto">
              <a:xfrm>
                <a:off x="1220" y="3855"/>
                <a:ext cx="12" cy="15"/>
              </a:xfrm>
              <a:custGeom>
                <a:avLst/>
                <a:gdLst>
                  <a:gd name="T0" fmla="*/ 13 w 53"/>
                  <a:gd name="T1" fmla="*/ 4 h 70"/>
                  <a:gd name="T2" fmla="*/ 16 w 53"/>
                  <a:gd name="T3" fmla="*/ 24 h 70"/>
                  <a:gd name="T4" fmla="*/ 33 w 53"/>
                  <a:gd name="T5" fmla="*/ 56 h 70"/>
                  <a:gd name="T6" fmla="*/ 49 w 53"/>
                  <a:gd name="T7" fmla="*/ 50 h 70"/>
                  <a:gd name="T8" fmla="*/ 13 w 53"/>
                  <a:gd name="T9" fmla="*/ 4 h 70"/>
                </a:gdLst>
                <a:ahLst/>
                <a:cxnLst>
                  <a:cxn ang="0">
                    <a:pos x="T0" y="T1"/>
                  </a:cxn>
                  <a:cxn ang="0">
                    <a:pos x="T2" y="T3"/>
                  </a:cxn>
                  <a:cxn ang="0">
                    <a:pos x="T4" y="T5"/>
                  </a:cxn>
                  <a:cxn ang="0">
                    <a:pos x="T6" y="T7"/>
                  </a:cxn>
                  <a:cxn ang="0">
                    <a:pos x="T8" y="T9"/>
                  </a:cxn>
                </a:cxnLst>
                <a:rect l="0" t="0" r="r" b="b"/>
                <a:pathLst>
                  <a:path w="53" h="70">
                    <a:moveTo>
                      <a:pt x="13" y="4"/>
                    </a:moveTo>
                    <a:cubicBezTo>
                      <a:pt x="13" y="4"/>
                      <a:pt x="0" y="11"/>
                      <a:pt x="16" y="24"/>
                    </a:cubicBezTo>
                    <a:cubicBezTo>
                      <a:pt x="32" y="37"/>
                      <a:pt x="33" y="46"/>
                      <a:pt x="33" y="56"/>
                    </a:cubicBezTo>
                    <a:cubicBezTo>
                      <a:pt x="33" y="66"/>
                      <a:pt x="53" y="70"/>
                      <a:pt x="49" y="50"/>
                    </a:cubicBezTo>
                    <a:cubicBezTo>
                      <a:pt x="45" y="30"/>
                      <a:pt x="36" y="0"/>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34" name="Freeform 1909">
                <a:extLst>
                  <a:ext uri="{FF2B5EF4-FFF2-40B4-BE49-F238E27FC236}">
                    <a16:creationId xmlns:a16="http://schemas.microsoft.com/office/drawing/2014/main" id="{75C03F1E-2626-8C48-75C3-6AD007C1F66B}"/>
                  </a:ext>
                </a:extLst>
              </p:cNvPr>
              <p:cNvSpPr>
                <a:spLocks noEditPoints="1"/>
              </p:cNvSpPr>
              <p:nvPr/>
            </p:nvSpPr>
            <p:spPr bwMode="auto">
              <a:xfrm>
                <a:off x="1220" y="3852"/>
                <a:ext cx="14" cy="19"/>
              </a:xfrm>
              <a:custGeom>
                <a:avLst/>
                <a:gdLst>
                  <a:gd name="T0" fmla="*/ 12 w 61"/>
                  <a:gd name="T1" fmla="*/ 6 h 85"/>
                  <a:gd name="T2" fmla="*/ 11 w 61"/>
                  <a:gd name="T3" fmla="*/ 7 h 85"/>
                  <a:gd name="T4" fmla="*/ 10 w 61"/>
                  <a:gd name="T5" fmla="*/ 7 h 85"/>
                  <a:gd name="T6" fmla="*/ 0 w 61"/>
                  <a:gd name="T7" fmla="*/ 21 h 85"/>
                  <a:gd name="T8" fmla="*/ 11 w 61"/>
                  <a:gd name="T9" fmla="*/ 42 h 85"/>
                  <a:gd name="T10" fmla="*/ 25 w 61"/>
                  <a:gd name="T11" fmla="*/ 67 h 85"/>
                  <a:gd name="T12" fmla="*/ 35 w 61"/>
                  <a:gd name="T13" fmla="*/ 82 h 85"/>
                  <a:gd name="T14" fmla="*/ 53 w 61"/>
                  <a:gd name="T15" fmla="*/ 81 h 85"/>
                  <a:gd name="T16" fmla="*/ 58 w 61"/>
                  <a:gd name="T17" fmla="*/ 59 h 85"/>
                  <a:gd name="T18" fmla="*/ 12 w 61"/>
                  <a:gd name="T19" fmla="*/ 6 h 85"/>
                  <a:gd name="T20" fmla="*/ 36 w 61"/>
                  <a:gd name="T21" fmla="*/ 43 h 85"/>
                  <a:gd name="T22" fmla="*/ 22 w 61"/>
                  <a:gd name="T23" fmla="*/ 28 h 85"/>
                  <a:gd name="T24" fmla="*/ 18 w 61"/>
                  <a:gd name="T25" fmla="*/ 23 h 85"/>
                  <a:gd name="T26" fmla="*/ 36 w 61"/>
                  <a:gd name="T27" fmla="*/ 43 h 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1" h="85">
                    <a:moveTo>
                      <a:pt x="12" y="6"/>
                    </a:moveTo>
                    <a:cubicBezTo>
                      <a:pt x="11" y="7"/>
                      <a:pt x="11" y="7"/>
                      <a:pt x="11" y="7"/>
                    </a:cubicBezTo>
                    <a:cubicBezTo>
                      <a:pt x="10" y="7"/>
                      <a:pt x="10" y="7"/>
                      <a:pt x="10" y="7"/>
                    </a:cubicBezTo>
                    <a:cubicBezTo>
                      <a:pt x="6" y="10"/>
                      <a:pt x="1" y="15"/>
                      <a:pt x="0" y="21"/>
                    </a:cubicBezTo>
                    <a:cubicBezTo>
                      <a:pt x="0" y="28"/>
                      <a:pt x="3" y="35"/>
                      <a:pt x="11" y="42"/>
                    </a:cubicBezTo>
                    <a:cubicBezTo>
                      <a:pt x="25" y="53"/>
                      <a:pt x="25" y="60"/>
                      <a:pt x="25" y="67"/>
                    </a:cubicBezTo>
                    <a:cubicBezTo>
                      <a:pt x="25" y="73"/>
                      <a:pt x="29" y="79"/>
                      <a:pt x="35" y="82"/>
                    </a:cubicBezTo>
                    <a:cubicBezTo>
                      <a:pt x="41" y="85"/>
                      <a:pt x="48" y="84"/>
                      <a:pt x="53" y="81"/>
                    </a:cubicBezTo>
                    <a:cubicBezTo>
                      <a:pt x="56" y="78"/>
                      <a:pt x="61" y="72"/>
                      <a:pt x="58" y="59"/>
                    </a:cubicBezTo>
                    <a:cubicBezTo>
                      <a:pt x="55" y="45"/>
                      <a:pt x="46" y="0"/>
                      <a:pt x="12" y="6"/>
                    </a:cubicBezTo>
                    <a:close/>
                    <a:moveTo>
                      <a:pt x="36" y="43"/>
                    </a:moveTo>
                    <a:cubicBezTo>
                      <a:pt x="33" y="39"/>
                      <a:pt x="29" y="34"/>
                      <a:pt x="22" y="28"/>
                    </a:cubicBezTo>
                    <a:cubicBezTo>
                      <a:pt x="18" y="25"/>
                      <a:pt x="18" y="24"/>
                      <a:pt x="18" y="23"/>
                    </a:cubicBezTo>
                    <a:cubicBezTo>
                      <a:pt x="23" y="23"/>
                      <a:pt x="30" y="26"/>
                      <a:pt x="36"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35" name="Freeform 1910">
                <a:extLst>
                  <a:ext uri="{FF2B5EF4-FFF2-40B4-BE49-F238E27FC236}">
                    <a16:creationId xmlns:a16="http://schemas.microsoft.com/office/drawing/2014/main" id="{A7556308-0A8D-C291-2EC2-66685B85C26C}"/>
                  </a:ext>
                </a:extLst>
              </p:cNvPr>
              <p:cNvSpPr>
                <a:spLocks/>
              </p:cNvSpPr>
              <p:nvPr/>
            </p:nvSpPr>
            <p:spPr bwMode="auto">
              <a:xfrm>
                <a:off x="1225" y="3873"/>
                <a:ext cx="7" cy="4"/>
              </a:xfrm>
              <a:custGeom>
                <a:avLst/>
                <a:gdLst>
                  <a:gd name="T0" fmla="*/ 12 w 31"/>
                  <a:gd name="T1" fmla="*/ 0 h 17"/>
                  <a:gd name="T2" fmla="*/ 13 w 31"/>
                  <a:gd name="T3" fmla="*/ 17 h 17"/>
                  <a:gd name="T4" fmla="*/ 12 w 31"/>
                  <a:gd name="T5" fmla="*/ 0 h 17"/>
                </a:gdLst>
                <a:ahLst/>
                <a:cxnLst>
                  <a:cxn ang="0">
                    <a:pos x="T0" y="T1"/>
                  </a:cxn>
                  <a:cxn ang="0">
                    <a:pos x="T2" y="T3"/>
                  </a:cxn>
                  <a:cxn ang="0">
                    <a:pos x="T4" y="T5"/>
                  </a:cxn>
                </a:cxnLst>
                <a:rect l="0" t="0" r="r" b="b"/>
                <a:pathLst>
                  <a:path w="31" h="17">
                    <a:moveTo>
                      <a:pt x="12" y="0"/>
                    </a:moveTo>
                    <a:cubicBezTo>
                      <a:pt x="12" y="0"/>
                      <a:pt x="0" y="17"/>
                      <a:pt x="13" y="17"/>
                    </a:cubicBezTo>
                    <a:cubicBezTo>
                      <a:pt x="26" y="17"/>
                      <a:pt x="31"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36" name="Freeform 1911">
                <a:extLst>
                  <a:ext uri="{FF2B5EF4-FFF2-40B4-BE49-F238E27FC236}">
                    <a16:creationId xmlns:a16="http://schemas.microsoft.com/office/drawing/2014/main" id="{F300D5AC-28C7-EAE7-35E0-7C5C47E91723}"/>
                  </a:ext>
                </a:extLst>
              </p:cNvPr>
              <p:cNvSpPr>
                <a:spLocks/>
              </p:cNvSpPr>
              <p:nvPr/>
            </p:nvSpPr>
            <p:spPr bwMode="auto">
              <a:xfrm>
                <a:off x="1224" y="3871"/>
                <a:ext cx="9" cy="8"/>
              </a:xfrm>
              <a:custGeom>
                <a:avLst/>
                <a:gdLst>
                  <a:gd name="T0" fmla="*/ 9 w 38"/>
                  <a:gd name="T1" fmla="*/ 4 h 35"/>
                  <a:gd name="T2" fmla="*/ 4 w 38"/>
                  <a:gd name="T3" fmla="*/ 28 h 35"/>
                  <a:gd name="T4" fmla="*/ 17 w 38"/>
                  <a:gd name="T5" fmla="*/ 35 h 35"/>
                  <a:gd name="T6" fmla="*/ 37 w 38"/>
                  <a:gd name="T7" fmla="*/ 18 h 35"/>
                  <a:gd name="T8" fmla="*/ 17 w 38"/>
                  <a:gd name="T9" fmla="*/ 0 h 35"/>
                  <a:gd name="T10" fmla="*/ 12 w 38"/>
                  <a:gd name="T11" fmla="*/ 0 h 35"/>
                  <a:gd name="T12" fmla="*/ 9 w 38"/>
                  <a:gd name="T13" fmla="*/ 4 h 35"/>
                </a:gdLst>
                <a:ahLst/>
                <a:cxnLst>
                  <a:cxn ang="0">
                    <a:pos x="T0" y="T1"/>
                  </a:cxn>
                  <a:cxn ang="0">
                    <a:pos x="T2" y="T3"/>
                  </a:cxn>
                  <a:cxn ang="0">
                    <a:pos x="T4" y="T5"/>
                  </a:cxn>
                  <a:cxn ang="0">
                    <a:pos x="T6" y="T7"/>
                  </a:cxn>
                  <a:cxn ang="0">
                    <a:pos x="T8" y="T9"/>
                  </a:cxn>
                  <a:cxn ang="0">
                    <a:pos x="T10" y="T11"/>
                  </a:cxn>
                  <a:cxn ang="0">
                    <a:pos x="T12" y="T13"/>
                  </a:cxn>
                </a:cxnLst>
                <a:rect l="0" t="0" r="r" b="b"/>
                <a:pathLst>
                  <a:path w="38" h="35">
                    <a:moveTo>
                      <a:pt x="9" y="4"/>
                    </a:moveTo>
                    <a:cubicBezTo>
                      <a:pt x="6" y="8"/>
                      <a:pt x="0" y="19"/>
                      <a:pt x="4" y="28"/>
                    </a:cubicBezTo>
                    <a:cubicBezTo>
                      <a:pt x="6" y="30"/>
                      <a:pt x="9" y="35"/>
                      <a:pt x="17" y="35"/>
                    </a:cubicBezTo>
                    <a:cubicBezTo>
                      <a:pt x="28" y="35"/>
                      <a:pt x="37" y="27"/>
                      <a:pt x="37" y="18"/>
                    </a:cubicBezTo>
                    <a:cubicBezTo>
                      <a:pt x="38" y="10"/>
                      <a:pt x="31" y="1"/>
                      <a:pt x="17" y="0"/>
                    </a:cubicBezTo>
                    <a:cubicBezTo>
                      <a:pt x="12" y="0"/>
                      <a:pt x="12" y="0"/>
                      <a:pt x="12" y="0"/>
                    </a:cubicBezTo>
                    <a:lnTo>
                      <a:pt x="9"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37" name="Freeform 1912">
                <a:extLst>
                  <a:ext uri="{FF2B5EF4-FFF2-40B4-BE49-F238E27FC236}">
                    <a16:creationId xmlns:a16="http://schemas.microsoft.com/office/drawing/2014/main" id="{738D68C4-9841-1FFE-BB6A-1EAF797D3E89}"/>
                  </a:ext>
                </a:extLst>
              </p:cNvPr>
              <p:cNvSpPr>
                <a:spLocks/>
              </p:cNvSpPr>
              <p:nvPr/>
            </p:nvSpPr>
            <p:spPr bwMode="auto">
              <a:xfrm>
                <a:off x="1348" y="3779"/>
                <a:ext cx="10" cy="11"/>
              </a:xfrm>
              <a:custGeom>
                <a:avLst/>
                <a:gdLst>
                  <a:gd name="T0" fmla="*/ 27 w 47"/>
                  <a:gd name="T1" fmla="*/ 2 h 51"/>
                  <a:gd name="T2" fmla="*/ 0 w 47"/>
                  <a:gd name="T3" fmla="*/ 18 h 51"/>
                  <a:gd name="T4" fmla="*/ 1 w 47"/>
                  <a:gd name="T5" fmla="*/ 51 h 51"/>
                  <a:gd name="T6" fmla="*/ 24 w 47"/>
                  <a:gd name="T7" fmla="*/ 33 h 51"/>
                  <a:gd name="T8" fmla="*/ 27 w 47"/>
                  <a:gd name="T9" fmla="*/ 2 h 51"/>
                </a:gdLst>
                <a:ahLst/>
                <a:cxnLst>
                  <a:cxn ang="0">
                    <a:pos x="T0" y="T1"/>
                  </a:cxn>
                  <a:cxn ang="0">
                    <a:pos x="T2" y="T3"/>
                  </a:cxn>
                  <a:cxn ang="0">
                    <a:pos x="T4" y="T5"/>
                  </a:cxn>
                  <a:cxn ang="0">
                    <a:pos x="T6" y="T7"/>
                  </a:cxn>
                  <a:cxn ang="0">
                    <a:pos x="T8" y="T9"/>
                  </a:cxn>
                </a:cxnLst>
                <a:rect l="0" t="0" r="r" b="b"/>
                <a:pathLst>
                  <a:path w="47" h="51">
                    <a:moveTo>
                      <a:pt x="27" y="2"/>
                    </a:moveTo>
                    <a:cubicBezTo>
                      <a:pt x="27" y="2"/>
                      <a:pt x="0" y="0"/>
                      <a:pt x="0" y="18"/>
                    </a:cubicBezTo>
                    <a:cubicBezTo>
                      <a:pt x="0" y="35"/>
                      <a:pt x="1" y="51"/>
                      <a:pt x="1" y="51"/>
                    </a:cubicBezTo>
                    <a:cubicBezTo>
                      <a:pt x="1" y="51"/>
                      <a:pt x="14" y="45"/>
                      <a:pt x="24" y="33"/>
                    </a:cubicBezTo>
                    <a:cubicBezTo>
                      <a:pt x="34" y="22"/>
                      <a:pt x="47"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38" name="Freeform 1913">
                <a:extLst>
                  <a:ext uri="{FF2B5EF4-FFF2-40B4-BE49-F238E27FC236}">
                    <a16:creationId xmlns:a16="http://schemas.microsoft.com/office/drawing/2014/main" id="{A586B809-4990-44A7-A8D1-200B1FFF23DA}"/>
                  </a:ext>
                </a:extLst>
              </p:cNvPr>
              <p:cNvSpPr>
                <a:spLocks noEditPoints="1"/>
              </p:cNvSpPr>
              <p:nvPr/>
            </p:nvSpPr>
            <p:spPr bwMode="auto">
              <a:xfrm>
                <a:off x="1346" y="3777"/>
                <a:ext cx="13" cy="16"/>
              </a:xfrm>
              <a:custGeom>
                <a:avLst/>
                <a:gdLst>
                  <a:gd name="T0" fmla="*/ 36 w 60"/>
                  <a:gd name="T1" fmla="*/ 1 h 72"/>
                  <a:gd name="T2" fmla="*/ 7 w 60"/>
                  <a:gd name="T3" fmla="*/ 10 h 72"/>
                  <a:gd name="T4" fmla="*/ 0 w 60"/>
                  <a:gd name="T5" fmla="*/ 26 h 72"/>
                  <a:gd name="T6" fmla="*/ 2 w 60"/>
                  <a:gd name="T7" fmla="*/ 72 h 72"/>
                  <a:gd name="T8" fmla="*/ 14 w 60"/>
                  <a:gd name="T9" fmla="*/ 67 h 72"/>
                  <a:gd name="T10" fmla="*/ 40 w 60"/>
                  <a:gd name="T11" fmla="*/ 47 h 72"/>
                  <a:gd name="T12" fmla="*/ 54 w 60"/>
                  <a:gd name="T13" fmla="*/ 9 h 72"/>
                  <a:gd name="T14" fmla="*/ 36 w 60"/>
                  <a:gd name="T15" fmla="*/ 1 h 72"/>
                  <a:gd name="T16" fmla="*/ 17 w 60"/>
                  <a:gd name="T17" fmla="*/ 26 h 72"/>
                  <a:gd name="T18" fmla="*/ 19 w 60"/>
                  <a:gd name="T19" fmla="*/ 22 h 72"/>
                  <a:gd name="T20" fmla="*/ 36 w 60"/>
                  <a:gd name="T21" fmla="*/ 18 h 72"/>
                  <a:gd name="T22" fmla="*/ 37 w 60"/>
                  <a:gd name="T23" fmla="*/ 18 h 72"/>
                  <a:gd name="T24" fmla="*/ 38 w 60"/>
                  <a:gd name="T25" fmla="*/ 18 h 72"/>
                  <a:gd name="T26" fmla="*/ 27 w 60"/>
                  <a:gd name="T27" fmla="*/ 36 h 72"/>
                  <a:gd name="T28" fmla="*/ 18 w 60"/>
                  <a:gd name="T29" fmla="*/ 44 h 72"/>
                  <a:gd name="T30" fmla="*/ 17 w 60"/>
                  <a:gd name="T31" fmla="*/ 26 h 7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 h="72">
                    <a:moveTo>
                      <a:pt x="36" y="1"/>
                    </a:moveTo>
                    <a:cubicBezTo>
                      <a:pt x="33" y="1"/>
                      <a:pt x="16" y="1"/>
                      <a:pt x="7" y="10"/>
                    </a:cubicBezTo>
                    <a:cubicBezTo>
                      <a:pt x="2" y="14"/>
                      <a:pt x="0" y="19"/>
                      <a:pt x="0" y="26"/>
                    </a:cubicBezTo>
                    <a:cubicBezTo>
                      <a:pt x="2" y="72"/>
                      <a:pt x="2" y="72"/>
                      <a:pt x="2" y="72"/>
                    </a:cubicBezTo>
                    <a:cubicBezTo>
                      <a:pt x="14" y="67"/>
                      <a:pt x="14" y="67"/>
                      <a:pt x="14" y="67"/>
                    </a:cubicBezTo>
                    <a:cubicBezTo>
                      <a:pt x="14" y="66"/>
                      <a:pt x="29" y="60"/>
                      <a:pt x="40" y="47"/>
                    </a:cubicBezTo>
                    <a:cubicBezTo>
                      <a:pt x="46" y="40"/>
                      <a:pt x="60" y="22"/>
                      <a:pt x="54" y="9"/>
                    </a:cubicBezTo>
                    <a:cubicBezTo>
                      <a:pt x="52" y="6"/>
                      <a:pt x="48" y="0"/>
                      <a:pt x="36" y="1"/>
                    </a:cubicBezTo>
                    <a:close/>
                    <a:moveTo>
                      <a:pt x="17" y="26"/>
                    </a:moveTo>
                    <a:cubicBezTo>
                      <a:pt x="17" y="24"/>
                      <a:pt x="18" y="23"/>
                      <a:pt x="19" y="22"/>
                    </a:cubicBezTo>
                    <a:cubicBezTo>
                      <a:pt x="22" y="19"/>
                      <a:pt x="32" y="18"/>
                      <a:pt x="36" y="18"/>
                    </a:cubicBezTo>
                    <a:cubicBezTo>
                      <a:pt x="37" y="18"/>
                      <a:pt x="37" y="18"/>
                      <a:pt x="37" y="18"/>
                    </a:cubicBezTo>
                    <a:cubicBezTo>
                      <a:pt x="37" y="18"/>
                      <a:pt x="37" y="18"/>
                      <a:pt x="38" y="18"/>
                    </a:cubicBezTo>
                    <a:cubicBezTo>
                      <a:pt x="37" y="22"/>
                      <a:pt x="33" y="29"/>
                      <a:pt x="27" y="36"/>
                    </a:cubicBezTo>
                    <a:cubicBezTo>
                      <a:pt x="24" y="39"/>
                      <a:pt x="21" y="41"/>
                      <a:pt x="18" y="44"/>
                    </a:cubicBezTo>
                    <a:cubicBezTo>
                      <a:pt x="18" y="35"/>
                      <a:pt x="17" y="26"/>
                      <a:pt x="17"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39" name="Freeform 1914">
                <a:extLst>
                  <a:ext uri="{FF2B5EF4-FFF2-40B4-BE49-F238E27FC236}">
                    <a16:creationId xmlns:a16="http://schemas.microsoft.com/office/drawing/2014/main" id="{8A0D5661-4E29-517B-5016-1B907CFA270F}"/>
                  </a:ext>
                </a:extLst>
              </p:cNvPr>
              <p:cNvSpPr>
                <a:spLocks/>
              </p:cNvSpPr>
              <p:nvPr/>
            </p:nvSpPr>
            <p:spPr bwMode="auto">
              <a:xfrm>
                <a:off x="1269" y="3763"/>
                <a:ext cx="6" cy="11"/>
              </a:xfrm>
              <a:custGeom>
                <a:avLst/>
                <a:gdLst>
                  <a:gd name="T0" fmla="*/ 13 w 24"/>
                  <a:gd name="T1" fmla="*/ 0 h 51"/>
                  <a:gd name="T2" fmla="*/ 1 w 24"/>
                  <a:gd name="T3" fmla="*/ 16 h 51"/>
                  <a:gd name="T4" fmla="*/ 9 w 24"/>
                  <a:gd name="T5" fmla="*/ 43 h 51"/>
                  <a:gd name="T6" fmla="*/ 24 w 24"/>
                  <a:gd name="T7" fmla="*/ 19 h 51"/>
                  <a:gd name="T8" fmla="*/ 13 w 24"/>
                  <a:gd name="T9" fmla="*/ 0 h 51"/>
                </a:gdLst>
                <a:ahLst/>
                <a:cxnLst>
                  <a:cxn ang="0">
                    <a:pos x="T0" y="T1"/>
                  </a:cxn>
                  <a:cxn ang="0">
                    <a:pos x="T2" y="T3"/>
                  </a:cxn>
                  <a:cxn ang="0">
                    <a:pos x="T4" y="T5"/>
                  </a:cxn>
                  <a:cxn ang="0">
                    <a:pos x="T6" y="T7"/>
                  </a:cxn>
                  <a:cxn ang="0">
                    <a:pos x="T8" y="T9"/>
                  </a:cxn>
                </a:cxnLst>
                <a:rect l="0" t="0" r="r" b="b"/>
                <a:pathLst>
                  <a:path w="24" h="51">
                    <a:moveTo>
                      <a:pt x="13" y="0"/>
                    </a:moveTo>
                    <a:cubicBezTo>
                      <a:pt x="13" y="0"/>
                      <a:pt x="1" y="2"/>
                      <a:pt x="1" y="16"/>
                    </a:cubicBezTo>
                    <a:cubicBezTo>
                      <a:pt x="1" y="30"/>
                      <a:pt x="0" y="51"/>
                      <a:pt x="9" y="43"/>
                    </a:cubicBezTo>
                    <a:cubicBezTo>
                      <a:pt x="17" y="36"/>
                      <a:pt x="24" y="32"/>
                      <a:pt x="24" y="19"/>
                    </a:cubicBezTo>
                    <a:cubicBezTo>
                      <a:pt x="24" y="6"/>
                      <a:pt x="23" y="0"/>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40" name="Freeform 1915">
                <a:extLst>
                  <a:ext uri="{FF2B5EF4-FFF2-40B4-BE49-F238E27FC236}">
                    <a16:creationId xmlns:a16="http://schemas.microsoft.com/office/drawing/2014/main" id="{30CE7254-0BC1-3A5C-2D26-EEB3A22475A7}"/>
                  </a:ext>
                </a:extLst>
              </p:cNvPr>
              <p:cNvSpPr>
                <a:spLocks noEditPoints="1"/>
              </p:cNvSpPr>
              <p:nvPr/>
            </p:nvSpPr>
            <p:spPr bwMode="auto">
              <a:xfrm>
                <a:off x="1268" y="3761"/>
                <a:ext cx="9" cy="14"/>
              </a:xfrm>
              <a:custGeom>
                <a:avLst/>
                <a:gdLst>
                  <a:gd name="T0" fmla="*/ 20 w 41"/>
                  <a:gd name="T1" fmla="*/ 0 h 63"/>
                  <a:gd name="T2" fmla="*/ 20 w 41"/>
                  <a:gd name="T3" fmla="*/ 0 h 63"/>
                  <a:gd name="T4" fmla="*/ 1 w 41"/>
                  <a:gd name="T5" fmla="*/ 24 h 63"/>
                  <a:gd name="T6" fmla="*/ 1 w 41"/>
                  <a:gd name="T7" fmla="*/ 29 h 63"/>
                  <a:gd name="T8" fmla="*/ 9 w 41"/>
                  <a:gd name="T9" fmla="*/ 61 h 63"/>
                  <a:gd name="T10" fmla="*/ 22 w 41"/>
                  <a:gd name="T11" fmla="*/ 58 h 63"/>
                  <a:gd name="T12" fmla="*/ 25 w 41"/>
                  <a:gd name="T13" fmla="*/ 56 h 63"/>
                  <a:gd name="T14" fmla="*/ 41 w 41"/>
                  <a:gd name="T15" fmla="*/ 27 h 63"/>
                  <a:gd name="T16" fmla="*/ 21 w 41"/>
                  <a:gd name="T17" fmla="*/ 0 h 63"/>
                  <a:gd name="T18" fmla="*/ 20 w 41"/>
                  <a:gd name="T19" fmla="*/ 0 h 63"/>
                  <a:gd name="T20" fmla="*/ 18 w 41"/>
                  <a:gd name="T21" fmla="*/ 35 h 63"/>
                  <a:gd name="T22" fmla="*/ 18 w 41"/>
                  <a:gd name="T23" fmla="*/ 30 h 63"/>
                  <a:gd name="T24" fmla="*/ 18 w 41"/>
                  <a:gd name="T25" fmla="*/ 24 h 63"/>
                  <a:gd name="T26" fmla="*/ 22 w 41"/>
                  <a:gd name="T27" fmla="*/ 17 h 63"/>
                  <a:gd name="T28" fmla="*/ 23 w 41"/>
                  <a:gd name="T29" fmla="*/ 17 h 63"/>
                  <a:gd name="T30" fmla="*/ 23 w 41"/>
                  <a:gd name="T31" fmla="*/ 17 h 63"/>
                  <a:gd name="T32" fmla="*/ 24 w 41"/>
                  <a:gd name="T33" fmla="*/ 27 h 63"/>
                  <a:gd name="T34" fmla="*/ 24 w 41"/>
                  <a:gd name="T35" fmla="*/ 27 h 63"/>
                  <a:gd name="T36" fmla="*/ 18 w 41"/>
                  <a:gd name="T37" fmla="*/ 39 h 63"/>
                  <a:gd name="T38" fmla="*/ 18 w 41"/>
                  <a:gd name="T39" fmla="*/ 35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1" h="63">
                    <a:moveTo>
                      <a:pt x="20" y="0"/>
                    </a:moveTo>
                    <a:cubicBezTo>
                      <a:pt x="20" y="0"/>
                      <a:pt x="20" y="0"/>
                      <a:pt x="20" y="0"/>
                    </a:cubicBezTo>
                    <a:cubicBezTo>
                      <a:pt x="13" y="0"/>
                      <a:pt x="1" y="7"/>
                      <a:pt x="1" y="24"/>
                    </a:cubicBezTo>
                    <a:cubicBezTo>
                      <a:pt x="1" y="29"/>
                      <a:pt x="1" y="29"/>
                      <a:pt x="1" y="29"/>
                    </a:cubicBezTo>
                    <a:cubicBezTo>
                      <a:pt x="0" y="45"/>
                      <a:pt x="0" y="57"/>
                      <a:pt x="9" y="61"/>
                    </a:cubicBezTo>
                    <a:cubicBezTo>
                      <a:pt x="11" y="62"/>
                      <a:pt x="16" y="63"/>
                      <a:pt x="22" y="58"/>
                    </a:cubicBezTo>
                    <a:cubicBezTo>
                      <a:pt x="25" y="56"/>
                      <a:pt x="25" y="56"/>
                      <a:pt x="25" y="56"/>
                    </a:cubicBezTo>
                    <a:cubicBezTo>
                      <a:pt x="32" y="50"/>
                      <a:pt x="41" y="43"/>
                      <a:pt x="41" y="27"/>
                    </a:cubicBezTo>
                    <a:cubicBezTo>
                      <a:pt x="41" y="17"/>
                      <a:pt x="41" y="0"/>
                      <a:pt x="21" y="0"/>
                    </a:cubicBezTo>
                    <a:lnTo>
                      <a:pt x="20" y="0"/>
                    </a:lnTo>
                    <a:close/>
                    <a:moveTo>
                      <a:pt x="18" y="35"/>
                    </a:moveTo>
                    <a:cubicBezTo>
                      <a:pt x="18" y="33"/>
                      <a:pt x="18" y="31"/>
                      <a:pt x="18" y="30"/>
                    </a:cubicBezTo>
                    <a:cubicBezTo>
                      <a:pt x="18" y="24"/>
                      <a:pt x="18" y="24"/>
                      <a:pt x="18" y="24"/>
                    </a:cubicBezTo>
                    <a:cubicBezTo>
                      <a:pt x="18" y="19"/>
                      <a:pt x="20" y="17"/>
                      <a:pt x="22" y="17"/>
                    </a:cubicBezTo>
                    <a:cubicBezTo>
                      <a:pt x="23" y="17"/>
                      <a:pt x="23" y="17"/>
                      <a:pt x="23" y="17"/>
                    </a:cubicBezTo>
                    <a:cubicBezTo>
                      <a:pt x="23" y="17"/>
                      <a:pt x="23" y="17"/>
                      <a:pt x="23" y="17"/>
                    </a:cubicBezTo>
                    <a:cubicBezTo>
                      <a:pt x="23" y="18"/>
                      <a:pt x="24" y="20"/>
                      <a:pt x="24" y="27"/>
                    </a:cubicBezTo>
                    <a:cubicBezTo>
                      <a:pt x="24" y="27"/>
                      <a:pt x="24" y="27"/>
                      <a:pt x="24" y="27"/>
                    </a:cubicBezTo>
                    <a:cubicBezTo>
                      <a:pt x="24" y="32"/>
                      <a:pt x="22" y="35"/>
                      <a:pt x="18" y="39"/>
                    </a:cubicBezTo>
                    <a:cubicBezTo>
                      <a:pt x="18" y="38"/>
                      <a:pt x="18" y="36"/>
                      <a:pt x="18" y="3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41" name="Freeform 1916">
                <a:extLst>
                  <a:ext uri="{FF2B5EF4-FFF2-40B4-BE49-F238E27FC236}">
                    <a16:creationId xmlns:a16="http://schemas.microsoft.com/office/drawing/2014/main" id="{FDAB4426-B411-25E5-2AD1-0C379654988A}"/>
                  </a:ext>
                </a:extLst>
              </p:cNvPr>
              <p:cNvSpPr>
                <a:spLocks/>
              </p:cNvSpPr>
              <p:nvPr/>
            </p:nvSpPr>
            <p:spPr bwMode="auto">
              <a:xfrm>
                <a:off x="1207" y="3648"/>
                <a:ext cx="11" cy="11"/>
              </a:xfrm>
              <a:custGeom>
                <a:avLst/>
                <a:gdLst>
                  <a:gd name="T0" fmla="*/ 37 w 52"/>
                  <a:gd name="T1" fmla="*/ 3 h 49"/>
                  <a:gd name="T2" fmla="*/ 7 w 52"/>
                  <a:gd name="T3" fmla="*/ 29 h 49"/>
                  <a:gd name="T4" fmla="*/ 37 w 52"/>
                  <a:gd name="T5" fmla="*/ 45 h 49"/>
                  <a:gd name="T6" fmla="*/ 37 w 52"/>
                  <a:gd name="T7" fmla="*/ 3 h 49"/>
                </a:gdLst>
                <a:ahLst/>
                <a:cxnLst>
                  <a:cxn ang="0">
                    <a:pos x="T0" y="T1"/>
                  </a:cxn>
                  <a:cxn ang="0">
                    <a:pos x="T2" y="T3"/>
                  </a:cxn>
                  <a:cxn ang="0">
                    <a:pos x="T4" y="T5"/>
                  </a:cxn>
                  <a:cxn ang="0">
                    <a:pos x="T6" y="T7"/>
                  </a:cxn>
                </a:cxnLst>
                <a:rect l="0" t="0" r="r" b="b"/>
                <a:pathLst>
                  <a:path w="52" h="49">
                    <a:moveTo>
                      <a:pt x="37" y="3"/>
                    </a:moveTo>
                    <a:cubicBezTo>
                      <a:pt x="37" y="3"/>
                      <a:pt x="0" y="10"/>
                      <a:pt x="7" y="29"/>
                    </a:cubicBezTo>
                    <a:cubicBezTo>
                      <a:pt x="14" y="48"/>
                      <a:pt x="30" y="49"/>
                      <a:pt x="37" y="45"/>
                    </a:cubicBezTo>
                    <a:cubicBezTo>
                      <a:pt x="45" y="41"/>
                      <a:pt x="52" y="0"/>
                      <a:pt x="3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42" name="Freeform 1917">
                <a:extLst>
                  <a:ext uri="{FF2B5EF4-FFF2-40B4-BE49-F238E27FC236}">
                    <a16:creationId xmlns:a16="http://schemas.microsoft.com/office/drawing/2014/main" id="{640C30C0-9CE1-88A8-DFAC-14957F15DCF9}"/>
                  </a:ext>
                </a:extLst>
              </p:cNvPr>
              <p:cNvSpPr>
                <a:spLocks noEditPoints="1"/>
              </p:cNvSpPr>
              <p:nvPr/>
            </p:nvSpPr>
            <p:spPr bwMode="auto">
              <a:xfrm>
                <a:off x="1206" y="3647"/>
                <a:ext cx="13" cy="14"/>
              </a:xfrm>
              <a:custGeom>
                <a:avLst/>
                <a:gdLst>
                  <a:gd name="T0" fmla="*/ 39 w 60"/>
                  <a:gd name="T1" fmla="*/ 2 h 64"/>
                  <a:gd name="T2" fmla="*/ 3 w 60"/>
                  <a:gd name="T3" fmla="*/ 22 h 64"/>
                  <a:gd name="T4" fmla="*/ 0 w 60"/>
                  <a:gd name="T5" fmla="*/ 32 h 64"/>
                  <a:gd name="T6" fmla="*/ 2 w 60"/>
                  <a:gd name="T7" fmla="*/ 39 h 64"/>
                  <a:gd name="T8" fmla="*/ 23 w 60"/>
                  <a:gd name="T9" fmla="*/ 61 h 64"/>
                  <a:gd name="T10" fmla="*/ 45 w 60"/>
                  <a:gd name="T11" fmla="*/ 60 h 64"/>
                  <a:gd name="T12" fmla="*/ 55 w 60"/>
                  <a:gd name="T13" fmla="*/ 12 h 64"/>
                  <a:gd name="T14" fmla="*/ 39 w 60"/>
                  <a:gd name="T15" fmla="*/ 2 h 64"/>
                  <a:gd name="T16" fmla="*/ 29 w 60"/>
                  <a:gd name="T17" fmla="*/ 45 h 64"/>
                  <a:gd name="T18" fmla="*/ 18 w 60"/>
                  <a:gd name="T19" fmla="*/ 33 h 64"/>
                  <a:gd name="T20" fmla="*/ 18 w 60"/>
                  <a:gd name="T21" fmla="*/ 32 h 64"/>
                  <a:gd name="T22" fmla="*/ 18 w 60"/>
                  <a:gd name="T23" fmla="*/ 30 h 64"/>
                  <a:gd name="T24" fmla="*/ 39 w 60"/>
                  <a:gd name="T25" fmla="*/ 19 h 64"/>
                  <a:gd name="T26" fmla="*/ 40 w 60"/>
                  <a:gd name="T27" fmla="*/ 23 h 64"/>
                  <a:gd name="T28" fmla="*/ 35 w 60"/>
                  <a:gd name="T29" fmla="*/ 45 h 64"/>
                  <a:gd name="T30" fmla="*/ 29 w 60"/>
                  <a:gd name="T31" fmla="*/ 45 h 64"/>
                  <a:gd name="T32" fmla="*/ 39 w 60"/>
                  <a:gd name="T33" fmla="*/ 2 h 64"/>
                  <a:gd name="T34" fmla="*/ 39 w 60"/>
                  <a:gd name="T35" fmla="*/ 2 h 6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0" h="64">
                    <a:moveTo>
                      <a:pt x="39" y="2"/>
                    </a:moveTo>
                    <a:cubicBezTo>
                      <a:pt x="34" y="3"/>
                      <a:pt x="11" y="8"/>
                      <a:pt x="3" y="22"/>
                    </a:cubicBezTo>
                    <a:cubicBezTo>
                      <a:pt x="1" y="25"/>
                      <a:pt x="0" y="28"/>
                      <a:pt x="0" y="32"/>
                    </a:cubicBezTo>
                    <a:cubicBezTo>
                      <a:pt x="0" y="34"/>
                      <a:pt x="1" y="37"/>
                      <a:pt x="2" y="39"/>
                    </a:cubicBezTo>
                    <a:cubicBezTo>
                      <a:pt x="6" y="50"/>
                      <a:pt x="14" y="58"/>
                      <a:pt x="23" y="61"/>
                    </a:cubicBezTo>
                    <a:cubicBezTo>
                      <a:pt x="30" y="64"/>
                      <a:pt x="39" y="63"/>
                      <a:pt x="45" y="60"/>
                    </a:cubicBezTo>
                    <a:cubicBezTo>
                      <a:pt x="55" y="53"/>
                      <a:pt x="60" y="24"/>
                      <a:pt x="55" y="12"/>
                    </a:cubicBezTo>
                    <a:cubicBezTo>
                      <a:pt x="52" y="4"/>
                      <a:pt x="46" y="0"/>
                      <a:pt x="39" y="2"/>
                    </a:cubicBezTo>
                    <a:close/>
                    <a:moveTo>
                      <a:pt x="29" y="45"/>
                    </a:moveTo>
                    <a:cubicBezTo>
                      <a:pt x="24" y="43"/>
                      <a:pt x="20" y="39"/>
                      <a:pt x="18" y="33"/>
                    </a:cubicBezTo>
                    <a:cubicBezTo>
                      <a:pt x="18" y="32"/>
                      <a:pt x="18" y="32"/>
                      <a:pt x="18" y="32"/>
                    </a:cubicBezTo>
                    <a:cubicBezTo>
                      <a:pt x="18" y="31"/>
                      <a:pt x="18" y="31"/>
                      <a:pt x="18" y="30"/>
                    </a:cubicBezTo>
                    <a:cubicBezTo>
                      <a:pt x="21" y="26"/>
                      <a:pt x="31" y="21"/>
                      <a:pt x="39" y="19"/>
                    </a:cubicBezTo>
                    <a:cubicBezTo>
                      <a:pt x="40" y="21"/>
                      <a:pt x="40" y="22"/>
                      <a:pt x="40" y="23"/>
                    </a:cubicBezTo>
                    <a:cubicBezTo>
                      <a:pt x="40" y="31"/>
                      <a:pt x="38" y="41"/>
                      <a:pt x="35" y="45"/>
                    </a:cubicBezTo>
                    <a:cubicBezTo>
                      <a:pt x="34" y="45"/>
                      <a:pt x="32" y="46"/>
                      <a:pt x="29" y="45"/>
                    </a:cubicBezTo>
                    <a:close/>
                    <a:moveTo>
                      <a:pt x="39" y="2"/>
                    </a:moveTo>
                    <a:cubicBezTo>
                      <a:pt x="39" y="2"/>
                      <a:pt x="39" y="2"/>
                      <a:pt x="39"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43" name="Freeform 1918">
                <a:extLst>
                  <a:ext uri="{FF2B5EF4-FFF2-40B4-BE49-F238E27FC236}">
                    <a16:creationId xmlns:a16="http://schemas.microsoft.com/office/drawing/2014/main" id="{981BACEF-B55A-A2BD-A800-0BD2DFC57C1A}"/>
                  </a:ext>
                </a:extLst>
              </p:cNvPr>
              <p:cNvSpPr>
                <a:spLocks/>
              </p:cNvSpPr>
              <p:nvPr/>
            </p:nvSpPr>
            <p:spPr bwMode="auto">
              <a:xfrm>
                <a:off x="1212" y="3689"/>
                <a:ext cx="5" cy="7"/>
              </a:xfrm>
              <a:custGeom>
                <a:avLst/>
                <a:gdLst>
                  <a:gd name="T0" fmla="*/ 2 w 23"/>
                  <a:gd name="T1" fmla="*/ 1 h 33"/>
                  <a:gd name="T2" fmla="*/ 0 w 23"/>
                  <a:gd name="T3" fmla="*/ 33 h 33"/>
                  <a:gd name="T4" fmla="*/ 21 w 23"/>
                  <a:gd name="T5" fmla="*/ 17 h 33"/>
                  <a:gd name="T6" fmla="*/ 2 w 23"/>
                  <a:gd name="T7" fmla="*/ 1 h 33"/>
                </a:gdLst>
                <a:ahLst/>
                <a:cxnLst>
                  <a:cxn ang="0">
                    <a:pos x="T0" y="T1"/>
                  </a:cxn>
                  <a:cxn ang="0">
                    <a:pos x="T2" y="T3"/>
                  </a:cxn>
                  <a:cxn ang="0">
                    <a:pos x="T4" y="T5"/>
                  </a:cxn>
                  <a:cxn ang="0">
                    <a:pos x="T6" y="T7"/>
                  </a:cxn>
                </a:cxnLst>
                <a:rect l="0" t="0" r="r" b="b"/>
                <a:pathLst>
                  <a:path w="23" h="33">
                    <a:moveTo>
                      <a:pt x="2" y="1"/>
                    </a:moveTo>
                    <a:cubicBezTo>
                      <a:pt x="0" y="33"/>
                      <a:pt x="0" y="33"/>
                      <a:pt x="0" y="33"/>
                    </a:cubicBezTo>
                    <a:cubicBezTo>
                      <a:pt x="0" y="33"/>
                      <a:pt x="18" y="30"/>
                      <a:pt x="21" y="17"/>
                    </a:cubicBezTo>
                    <a:cubicBezTo>
                      <a:pt x="23" y="4"/>
                      <a:pt x="15"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44" name="Freeform 1919">
                <a:extLst>
                  <a:ext uri="{FF2B5EF4-FFF2-40B4-BE49-F238E27FC236}">
                    <a16:creationId xmlns:a16="http://schemas.microsoft.com/office/drawing/2014/main" id="{F180B38A-AF7E-45DC-DACC-F6EEBE132FD0}"/>
                  </a:ext>
                </a:extLst>
              </p:cNvPr>
              <p:cNvSpPr>
                <a:spLocks noEditPoints="1"/>
              </p:cNvSpPr>
              <p:nvPr/>
            </p:nvSpPr>
            <p:spPr bwMode="auto">
              <a:xfrm>
                <a:off x="1210" y="3687"/>
                <a:ext cx="9" cy="12"/>
              </a:xfrm>
              <a:custGeom>
                <a:avLst/>
                <a:gdLst>
                  <a:gd name="T0" fmla="*/ 10 w 40"/>
                  <a:gd name="T1" fmla="*/ 1 h 52"/>
                  <a:gd name="T2" fmla="*/ 2 w 40"/>
                  <a:gd name="T3" fmla="*/ 2 h 52"/>
                  <a:gd name="T4" fmla="*/ 0 w 40"/>
                  <a:gd name="T5" fmla="*/ 52 h 52"/>
                  <a:gd name="T6" fmla="*/ 11 w 40"/>
                  <a:gd name="T7" fmla="*/ 50 h 52"/>
                  <a:gd name="T8" fmla="*/ 38 w 40"/>
                  <a:gd name="T9" fmla="*/ 28 h 52"/>
                  <a:gd name="T10" fmla="*/ 34 w 40"/>
                  <a:gd name="T11" fmla="*/ 8 h 52"/>
                  <a:gd name="T12" fmla="*/ 10 w 40"/>
                  <a:gd name="T13" fmla="*/ 1 h 52"/>
                  <a:gd name="T14" fmla="*/ 19 w 40"/>
                  <a:gd name="T15" fmla="*/ 19 h 52"/>
                  <a:gd name="T16" fmla="*/ 21 w 40"/>
                  <a:gd name="T17" fmla="*/ 20 h 52"/>
                  <a:gd name="T18" fmla="*/ 21 w 40"/>
                  <a:gd name="T19" fmla="*/ 21 h 52"/>
                  <a:gd name="T20" fmla="*/ 21 w 40"/>
                  <a:gd name="T21" fmla="*/ 24 h 52"/>
                  <a:gd name="T22" fmla="*/ 19 w 40"/>
                  <a:gd name="T23" fmla="*/ 28 h 52"/>
                  <a:gd name="T24" fmla="*/ 19 w 40"/>
                  <a:gd name="T25" fmla="*/ 1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0" h="52">
                    <a:moveTo>
                      <a:pt x="10" y="1"/>
                    </a:moveTo>
                    <a:cubicBezTo>
                      <a:pt x="2" y="2"/>
                      <a:pt x="2" y="2"/>
                      <a:pt x="2" y="2"/>
                    </a:cubicBezTo>
                    <a:cubicBezTo>
                      <a:pt x="0" y="52"/>
                      <a:pt x="0" y="52"/>
                      <a:pt x="0" y="52"/>
                    </a:cubicBezTo>
                    <a:cubicBezTo>
                      <a:pt x="11" y="50"/>
                      <a:pt x="11" y="50"/>
                      <a:pt x="11" y="50"/>
                    </a:cubicBezTo>
                    <a:cubicBezTo>
                      <a:pt x="19" y="49"/>
                      <a:pt x="35" y="43"/>
                      <a:pt x="38" y="28"/>
                    </a:cubicBezTo>
                    <a:cubicBezTo>
                      <a:pt x="40" y="18"/>
                      <a:pt x="37" y="12"/>
                      <a:pt x="34" y="8"/>
                    </a:cubicBezTo>
                    <a:cubicBezTo>
                      <a:pt x="31" y="4"/>
                      <a:pt x="24" y="0"/>
                      <a:pt x="10" y="1"/>
                    </a:cubicBezTo>
                    <a:close/>
                    <a:moveTo>
                      <a:pt x="19" y="19"/>
                    </a:moveTo>
                    <a:cubicBezTo>
                      <a:pt x="20" y="19"/>
                      <a:pt x="21" y="19"/>
                      <a:pt x="21" y="20"/>
                    </a:cubicBezTo>
                    <a:cubicBezTo>
                      <a:pt x="21" y="20"/>
                      <a:pt x="21" y="20"/>
                      <a:pt x="21" y="21"/>
                    </a:cubicBezTo>
                    <a:cubicBezTo>
                      <a:pt x="21" y="22"/>
                      <a:pt x="21" y="23"/>
                      <a:pt x="21" y="24"/>
                    </a:cubicBezTo>
                    <a:cubicBezTo>
                      <a:pt x="21" y="26"/>
                      <a:pt x="20" y="27"/>
                      <a:pt x="19" y="28"/>
                    </a:cubicBezTo>
                    <a:cubicBezTo>
                      <a:pt x="19" y="23"/>
                      <a:pt x="19" y="22"/>
                      <a:pt x="19"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45" name="Freeform 1920">
                <a:extLst>
                  <a:ext uri="{FF2B5EF4-FFF2-40B4-BE49-F238E27FC236}">
                    <a16:creationId xmlns:a16="http://schemas.microsoft.com/office/drawing/2014/main" id="{4607D275-D7D7-503D-6D52-F759C162FD2C}"/>
                  </a:ext>
                </a:extLst>
              </p:cNvPr>
              <p:cNvSpPr>
                <a:spLocks/>
              </p:cNvSpPr>
              <p:nvPr/>
            </p:nvSpPr>
            <p:spPr bwMode="auto">
              <a:xfrm>
                <a:off x="1073" y="3647"/>
                <a:ext cx="77" cy="122"/>
              </a:xfrm>
              <a:custGeom>
                <a:avLst/>
                <a:gdLst>
                  <a:gd name="T0" fmla="*/ 214 w 352"/>
                  <a:gd name="T1" fmla="*/ 0 h 555"/>
                  <a:gd name="T2" fmla="*/ 127 w 352"/>
                  <a:gd name="T3" fmla="*/ 91 h 555"/>
                  <a:gd name="T4" fmla="*/ 86 w 352"/>
                  <a:gd name="T5" fmla="*/ 94 h 555"/>
                  <a:gd name="T6" fmla="*/ 27 w 352"/>
                  <a:gd name="T7" fmla="*/ 84 h 555"/>
                  <a:gd name="T8" fmla="*/ 10 w 352"/>
                  <a:gd name="T9" fmla="*/ 124 h 555"/>
                  <a:gd name="T10" fmla="*/ 59 w 352"/>
                  <a:gd name="T11" fmla="*/ 206 h 555"/>
                  <a:gd name="T12" fmla="*/ 95 w 352"/>
                  <a:gd name="T13" fmla="*/ 217 h 555"/>
                  <a:gd name="T14" fmla="*/ 138 w 352"/>
                  <a:gd name="T15" fmla="*/ 247 h 555"/>
                  <a:gd name="T16" fmla="*/ 176 w 352"/>
                  <a:gd name="T17" fmla="*/ 374 h 555"/>
                  <a:gd name="T18" fmla="*/ 212 w 352"/>
                  <a:gd name="T19" fmla="*/ 488 h 555"/>
                  <a:gd name="T20" fmla="*/ 235 w 352"/>
                  <a:gd name="T21" fmla="*/ 547 h 555"/>
                  <a:gd name="T22" fmla="*/ 281 w 352"/>
                  <a:gd name="T23" fmla="*/ 555 h 555"/>
                  <a:gd name="T24" fmla="*/ 304 w 352"/>
                  <a:gd name="T25" fmla="*/ 541 h 555"/>
                  <a:gd name="T26" fmla="*/ 292 w 352"/>
                  <a:gd name="T27" fmla="*/ 512 h 555"/>
                  <a:gd name="T28" fmla="*/ 304 w 352"/>
                  <a:gd name="T29" fmla="*/ 485 h 555"/>
                  <a:gd name="T30" fmla="*/ 281 w 352"/>
                  <a:gd name="T31" fmla="*/ 452 h 555"/>
                  <a:gd name="T32" fmla="*/ 281 w 352"/>
                  <a:gd name="T33" fmla="*/ 418 h 555"/>
                  <a:gd name="T34" fmla="*/ 294 w 352"/>
                  <a:gd name="T35" fmla="*/ 355 h 555"/>
                  <a:gd name="T36" fmla="*/ 318 w 352"/>
                  <a:gd name="T37" fmla="*/ 309 h 555"/>
                  <a:gd name="T38" fmla="*/ 344 w 352"/>
                  <a:gd name="T39" fmla="*/ 240 h 555"/>
                  <a:gd name="T40" fmla="*/ 324 w 352"/>
                  <a:gd name="T41" fmla="*/ 114 h 555"/>
                  <a:gd name="T42" fmla="*/ 214 w 352"/>
                  <a:gd name="T43" fmla="*/ 0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2" h="555">
                    <a:moveTo>
                      <a:pt x="214" y="0"/>
                    </a:moveTo>
                    <a:cubicBezTo>
                      <a:pt x="127" y="91"/>
                      <a:pt x="127" y="91"/>
                      <a:pt x="127" y="91"/>
                    </a:cubicBezTo>
                    <a:cubicBezTo>
                      <a:pt x="86" y="94"/>
                      <a:pt x="86" y="94"/>
                      <a:pt x="86" y="94"/>
                    </a:cubicBezTo>
                    <a:cubicBezTo>
                      <a:pt x="86" y="94"/>
                      <a:pt x="36" y="84"/>
                      <a:pt x="27" y="84"/>
                    </a:cubicBezTo>
                    <a:cubicBezTo>
                      <a:pt x="18" y="84"/>
                      <a:pt x="0" y="97"/>
                      <a:pt x="10" y="124"/>
                    </a:cubicBezTo>
                    <a:cubicBezTo>
                      <a:pt x="20" y="152"/>
                      <a:pt x="59" y="206"/>
                      <a:pt x="59" y="206"/>
                    </a:cubicBezTo>
                    <a:cubicBezTo>
                      <a:pt x="59" y="206"/>
                      <a:pt x="77" y="209"/>
                      <a:pt x="95" y="217"/>
                    </a:cubicBezTo>
                    <a:cubicBezTo>
                      <a:pt x="112" y="224"/>
                      <a:pt x="135" y="228"/>
                      <a:pt x="138" y="247"/>
                    </a:cubicBezTo>
                    <a:cubicBezTo>
                      <a:pt x="141" y="266"/>
                      <a:pt x="160" y="315"/>
                      <a:pt x="176" y="374"/>
                    </a:cubicBezTo>
                    <a:cubicBezTo>
                      <a:pt x="191" y="433"/>
                      <a:pt x="210" y="460"/>
                      <a:pt x="212" y="488"/>
                    </a:cubicBezTo>
                    <a:cubicBezTo>
                      <a:pt x="213" y="515"/>
                      <a:pt x="212" y="547"/>
                      <a:pt x="235" y="547"/>
                    </a:cubicBezTo>
                    <a:cubicBezTo>
                      <a:pt x="258" y="547"/>
                      <a:pt x="277" y="555"/>
                      <a:pt x="281" y="555"/>
                    </a:cubicBezTo>
                    <a:cubicBezTo>
                      <a:pt x="285" y="555"/>
                      <a:pt x="317" y="550"/>
                      <a:pt x="304" y="541"/>
                    </a:cubicBezTo>
                    <a:cubicBezTo>
                      <a:pt x="291" y="532"/>
                      <a:pt x="291" y="535"/>
                      <a:pt x="292" y="512"/>
                    </a:cubicBezTo>
                    <a:cubicBezTo>
                      <a:pt x="294" y="489"/>
                      <a:pt x="308" y="491"/>
                      <a:pt x="304" y="485"/>
                    </a:cubicBezTo>
                    <a:cubicBezTo>
                      <a:pt x="300" y="479"/>
                      <a:pt x="281" y="452"/>
                      <a:pt x="281" y="452"/>
                    </a:cubicBezTo>
                    <a:cubicBezTo>
                      <a:pt x="281" y="452"/>
                      <a:pt x="277" y="439"/>
                      <a:pt x="281" y="418"/>
                    </a:cubicBezTo>
                    <a:cubicBezTo>
                      <a:pt x="285" y="398"/>
                      <a:pt x="294" y="355"/>
                      <a:pt x="294" y="355"/>
                    </a:cubicBezTo>
                    <a:cubicBezTo>
                      <a:pt x="294" y="355"/>
                      <a:pt x="304" y="323"/>
                      <a:pt x="318" y="309"/>
                    </a:cubicBezTo>
                    <a:cubicBezTo>
                      <a:pt x="333" y="294"/>
                      <a:pt x="352" y="268"/>
                      <a:pt x="344" y="240"/>
                    </a:cubicBezTo>
                    <a:cubicBezTo>
                      <a:pt x="337" y="211"/>
                      <a:pt x="324" y="129"/>
                      <a:pt x="324" y="114"/>
                    </a:cubicBezTo>
                    <a:cubicBezTo>
                      <a:pt x="324" y="100"/>
                      <a:pt x="297" y="32"/>
                      <a:pt x="2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46" name="Freeform 1921">
                <a:extLst>
                  <a:ext uri="{FF2B5EF4-FFF2-40B4-BE49-F238E27FC236}">
                    <a16:creationId xmlns:a16="http://schemas.microsoft.com/office/drawing/2014/main" id="{4F3689DB-E4B5-3E5E-BD7C-D95732F0DAB5}"/>
                  </a:ext>
                </a:extLst>
              </p:cNvPr>
              <p:cNvSpPr>
                <a:spLocks noEditPoints="1"/>
              </p:cNvSpPr>
              <p:nvPr/>
            </p:nvSpPr>
            <p:spPr bwMode="auto">
              <a:xfrm>
                <a:off x="1071" y="3645"/>
                <a:ext cx="80" cy="126"/>
              </a:xfrm>
              <a:custGeom>
                <a:avLst/>
                <a:gdLst>
                  <a:gd name="T0" fmla="*/ 93 w 361"/>
                  <a:gd name="T1" fmla="*/ 95 h 574"/>
                  <a:gd name="T2" fmla="*/ 10 w 361"/>
                  <a:gd name="T3" fmla="*/ 99 h 574"/>
                  <a:gd name="T4" fmla="*/ 58 w 361"/>
                  <a:gd name="T5" fmla="*/ 221 h 574"/>
                  <a:gd name="T6" fmla="*/ 63 w 361"/>
                  <a:gd name="T7" fmla="*/ 225 h 574"/>
                  <a:gd name="T8" fmla="*/ 108 w 361"/>
                  <a:gd name="T9" fmla="*/ 239 h 574"/>
                  <a:gd name="T10" fmla="*/ 150 w 361"/>
                  <a:gd name="T11" fmla="*/ 308 h 574"/>
                  <a:gd name="T12" fmla="*/ 196 w 361"/>
                  <a:gd name="T13" fmla="*/ 452 h 574"/>
                  <a:gd name="T14" fmla="*/ 209 w 361"/>
                  <a:gd name="T15" fmla="*/ 507 h 574"/>
                  <a:gd name="T16" fmla="*/ 277 w 361"/>
                  <a:gd name="T17" fmla="*/ 572 h 574"/>
                  <a:gd name="T18" fmla="*/ 321 w 361"/>
                  <a:gd name="T19" fmla="*/ 558 h 574"/>
                  <a:gd name="T20" fmla="*/ 315 w 361"/>
                  <a:gd name="T21" fmla="*/ 544 h 574"/>
                  <a:gd name="T22" fmla="*/ 307 w 361"/>
                  <a:gd name="T23" fmla="*/ 538 h 574"/>
                  <a:gd name="T24" fmla="*/ 307 w 361"/>
                  <a:gd name="T25" fmla="*/ 524 h 574"/>
                  <a:gd name="T26" fmla="*/ 319 w 361"/>
                  <a:gd name="T27" fmla="*/ 497 h 574"/>
                  <a:gd name="T28" fmla="*/ 295 w 361"/>
                  <a:gd name="T29" fmla="*/ 458 h 574"/>
                  <a:gd name="T30" fmla="*/ 295 w 361"/>
                  <a:gd name="T31" fmla="*/ 430 h 574"/>
                  <a:gd name="T32" fmla="*/ 330 w 361"/>
                  <a:gd name="T33" fmla="*/ 325 h 574"/>
                  <a:gd name="T34" fmla="*/ 359 w 361"/>
                  <a:gd name="T35" fmla="*/ 248 h 574"/>
                  <a:gd name="T36" fmla="*/ 224 w 361"/>
                  <a:gd name="T37" fmla="*/ 2 h 574"/>
                  <a:gd name="T38" fmla="*/ 129 w 361"/>
                  <a:gd name="T39" fmla="*/ 93 h 574"/>
                  <a:gd name="T40" fmla="*/ 222 w 361"/>
                  <a:gd name="T41" fmla="*/ 21 h 574"/>
                  <a:gd name="T42" fmla="*/ 342 w 361"/>
                  <a:gd name="T43" fmla="*/ 252 h 574"/>
                  <a:gd name="T44" fmla="*/ 318 w 361"/>
                  <a:gd name="T45" fmla="*/ 313 h 574"/>
                  <a:gd name="T46" fmla="*/ 278 w 361"/>
                  <a:gd name="T47" fmla="*/ 427 h 574"/>
                  <a:gd name="T48" fmla="*/ 279 w 361"/>
                  <a:gd name="T49" fmla="*/ 464 h 574"/>
                  <a:gd name="T50" fmla="*/ 300 w 361"/>
                  <a:gd name="T51" fmla="*/ 496 h 574"/>
                  <a:gd name="T52" fmla="*/ 289 w 361"/>
                  <a:gd name="T53" fmla="*/ 535 h 574"/>
                  <a:gd name="T54" fmla="*/ 287 w 361"/>
                  <a:gd name="T55" fmla="*/ 557 h 574"/>
                  <a:gd name="T56" fmla="*/ 282 w 361"/>
                  <a:gd name="T57" fmla="*/ 555 h 574"/>
                  <a:gd name="T58" fmla="*/ 227 w 361"/>
                  <a:gd name="T59" fmla="*/ 506 h 574"/>
                  <a:gd name="T60" fmla="*/ 212 w 361"/>
                  <a:gd name="T61" fmla="*/ 446 h 574"/>
                  <a:gd name="T62" fmla="*/ 166 w 361"/>
                  <a:gd name="T63" fmla="*/ 303 h 574"/>
                  <a:gd name="T64" fmla="*/ 114 w 361"/>
                  <a:gd name="T65" fmla="*/ 222 h 574"/>
                  <a:gd name="T66" fmla="*/ 70 w 361"/>
                  <a:gd name="T67" fmla="*/ 209 h 574"/>
                  <a:gd name="T68" fmla="*/ 21 w 361"/>
                  <a:gd name="T69" fmla="*/ 119 h 574"/>
                  <a:gd name="T70" fmla="*/ 33 w 361"/>
                  <a:gd name="T71" fmla="*/ 102 h 574"/>
                  <a:gd name="T72" fmla="*/ 92 w 361"/>
                  <a:gd name="T73" fmla="*/ 113 h 57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61" h="574">
                    <a:moveTo>
                      <a:pt x="129" y="93"/>
                    </a:moveTo>
                    <a:cubicBezTo>
                      <a:pt x="123" y="93"/>
                      <a:pt x="95" y="95"/>
                      <a:pt x="93" y="95"/>
                    </a:cubicBezTo>
                    <a:cubicBezTo>
                      <a:pt x="82" y="93"/>
                      <a:pt x="42" y="85"/>
                      <a:pt x="33" y="85"/>
                    </a:cubicBezTo>
                    <a:cubicBezTo>
                      <a:pt x="25" y="85"/>
                      <a:pt x="16" y="91"/>
                      <a:pt x="10" y="99"/>
                    </a:cubicBezTo>
                    <a:cubicBezTo>
                      <a:pt x="6" y="105"/>
                      <a:pt x="0" y="118"/>
                      <a:pt x="8" y="137"/>
                    </a:cubicBezTo>
                    <a:cubicBezTo>
                      <a:pt x="18" y="165"/>
                      <a:pt x="56" y="219"/>
                      <a:pt x="58" y="221"/>
                    </a:cubicBezTo>
                    <a:cubicBezTo>
                      <a:pt x="60" y="224"/>
                      <a:pt x="60" y="224"/>
                      <a:pt x="60" y="224"/>
                    </a:cubicBezTo>
                    <a:cubicBezTo>
                      <a:pt x="63" y="225"/>
                      <a:pt x="63" y="225"/>
                      <a:pt x="63" y="225"/>
                    </a:cubicBezTo>
                    <a:cubicBezTo>
                      <a:pt x="64" y="225"/>
                      <a:pt x="81" y="228"/>
                      <a:pt x="97" y="235"/>
                    </a:cubicBezTo>
                    <a:cubicBezTo>
                      <a:pt x="108" y="239"/>
                      <a:pt x="108" y="239"/>
                      <a:pt x="108" y="239"/>
                    </a:cubicBezTo>
                    <a:cubicBezTo>
                      <a:pt x="124" y="244"/>
                      <a:pt x="134" y="249"/>
                      <a:pt x="135" y="258"/>
                    </a:cubicBezTo>
                    <a:cubicBezTo>
                      <a:pt x="137" y="268"/>
                      <a:pt x="142" y="285"/>
                      <a:pt x="150" y="308"/>
                    </a:cubicBezTo>
                    <a:cubicBezTo>
                      <a:pt x="157" y="330"/>
                      <a:pt x="165" y="357"/>
                      <a:pt x="173" y="386"/>
                    </a:cubicBezTo>
                    <a:cubicBezTo>
                      <a:pt x="181" y="414"/>
                      <a:pt x="189" y="435"/>
                      <a:pt x="196" y="452"/>
                    </a:cubicBezTo>
                    <a:cubicBezTo>
                      <a:pt x="203" y="471"/>
                      <a:pt x="208" y="485"/>
                      <a:pt x="209" y="498"/>
                    </a:cubicBezTo>
                    <a:cubicBezTo>
                      <a:pt x="209" y="507"/>
                      <a:pt x="209" y="507"/>
                      <a:pt x="209" y="507"/>
                    </a:cubicBezTo>
                    <a:cubicBezTo>
                      <a:pt x="210" y="533"/>
                      <a:pt x="212" y="565"/>
                      <a:pt x="241" y="565"/>
                    </a:cubicBezTo>
                    <a:cubicBezTo>
                      <a:pt x="256" y="565"/>
                      <a:pt x="269" y="569"/>
                      <a:pt x="277" y="572"/>
                    </a:cubicBezTo>
                    <a:cubicBezTo>
                      <a:pt x="287" y="574"/>
                      <a:pt x="287" y="574"/>
                      <a:pt x="287" y="574"/>
                    </a:cubicBezTo>
                    <a:cubicBezTo>
                      <a:pt x="287" y="574"/>
                      <a:pt x="317" y="572"/>
                      <a:pt x="321" y="558"/>
                    </a:cubicBezTo>
                    <a:cubicBezTo>
                      <a:pt x="321" y="558"/>
                      <a:pt x="322" y="557"/>
                      <a:pt x="322" y="555"/>
                    </a:cubicBezTo>
                    <a:cubicBezTo>
                      <a:pt x="322" y="552"/>
                      <a:pt x="320" y="548"/>
                      <a:pt x="315" y="544"/>
                    </a:cubicBezTo>
                    <a:cubicBezTo>
                      <a:pt x="311" y="541"/>
                      <a:pt x="311" y="541"/>
                      <a:pt x="311" y="541"/>
                    </a:cubicBezTo>
                    <a:cubicBezTo>
                      <a:pt x="307" y="538"/>
                      <a:pt x="307" y="538"/>
                      <a:pt x="307" y="538"/>
                    </a:cubicBezTo>
                    <a:cubicBezTo>
                      <a:pt x="306" y="538"/>
                      <a:pt x="306" y="537"/>
                      <a:pt x="306" y="536"/>
                    </a:cubicBezTo>
                    <a:cubicBezTo>
                      <a:pt x="306" y="533"/>
                      <a:pt x="307" y="529"/>
                      <a:pt x="307" y="524"/>
                    </a:cubicBezTo>
                    <a:cubicBezTo>
                      <a:pt x="308" y="512"/>
                      <a:pt x="311" y="509"/>
                      <a:pt x="314" y="507"/>
                    </a:cubicBezTo>
                    <a:cubicBezTo>
                      <a:pt x="318" y="503"/>
                      <a:pt x="319" y="500"/>
                      <a:pt x="319" y="497"/>
                    </a:cubicBezTo>
                    <a:cubicBezTo>
                      <a:pt x="319" y="494"/>
                      <a:pt x="318" y="491"/>
                      <a:pt x="317" y="490"/>
                    </a:cubicBezTo>
                    <a:cubicBezTo>
                      <a:pt x="317" y="490"/>
                      <a:pt x="297" y="460"/>
                      <a:pt x="295" y="458"/>
                    </a:cubicBezTo>
                    <a:cubicBezTo>
                      <a:pt x="295" y="457"/>
                      <a:pt x="294" y="453"/>
                      <a:pt x="294" y="446"/>
                    </a:cubicBezTo>
                    <a:cubicBezTo>
                      <a:pt x="294" y="442"/>
                      <a:pt x="294" y="436"/>
                      <a:pt x="295" y="430"/>
                    </a:cubicBezTo>
                    <a:cubicBezTo>
                      <a:pt x="308" y="367"/>
                      <a:pt x="308" y="367"/>
                      <a:pt x="308" y="367"/>
                    </a:cubicBezTo>
                    <a:cubicBezTo>
                      <a:pt x="311" y="359"/>
                      <a:pt x="320" y="336"/>
                      <a:pt x="330" y="325"/>
                    </a:cubicBezTo>
                    <a:cubicBezTo>
                      <a:pt x="343" y="313"/>
                      <a:pt x="361" y="290"/>
                      <a:pt x="361" y="263"/>
                    </a:cubicBezTo>
                    <a:cubicBezTo>
                      <a:pt x="361" y="258"/>
                      <a:pt x="360" y="253"/>
                      <a:pt x="359" y="248"/>
                    </a:cubicBezTo>
                    <a:cubicBezTo>
                      <a:pt x="351" y="219"/>
                      <a:pt x="339" y="138"/>
                      <a:pt x="339" y="124"/>
                    </a:cubicBezTo>
                    <a:cubicBezTo>
                      <a:pt x="339" y="108"/>
                      <a:pt x="310" y="35"/>
                      <a:pt x="224" y="2"/>
                    </a:cubicBezTo>
                    <a:cubicBezTo>
                      <a:pt x="218" y="0"/>
                      <a:pt x="218" y="0"/>
                      <a:pt x="218" y="0"/>
                    </a:cubicBezTo>
                    <a:cubicBezTo>
                      <a:pt x="218" y="0"/>
                      <a:pt x="133" y="88"/>
                      <a:pt x="129" y="93"/>
                    </a:cubicBezTo>
                    <a:close/>
                    <a:moveTo>
                      <a:pt x="136" y="109"/>
                    </a:moveTo>
                    <a:cubicBezTo>
                      <a:pt x="136" y="109"/>
                      <a:pt x="215" y="29"/>
                      <a:pt x="222" y="21"/>
                    </a:cubicBezTo>
                    <a:cubicBezTo>
                      <a:pt x="300" y="53"/>
                      <a:pt x="321" y="117"/>
                      <a:pt x="321" y="124"/>
                    </a:cubicBezTo>
                    <a:cubicBezTo>
                      <a:pt x="321" y="140"/>
                      <a:pt x="335" y="223"/>
                      <a:pt x="342" y="252"/>
                    </a:cubicBezTo>
                    <a:cubicBezTo>
                      <a:pt x="343" y="255"/>
                      <a:pt x="343" y="259"/>
                      <a:pt x="343" y="263"/>
                    </a:cubicBezTo>
                    <a:cubicBezTo>
                      <a:pt x="343" y="284"/>
                      <a:pt x="328" y="303"/>
                      <a:pt x="318" y="313"/>
                    </a:cubicBezTo>
                    <a:cubicBezTo>
                      <a:pt x="302" y="328"/>
                      <a:pt x="292" y="361"/>
                      <a:pt x="292" y="362"/>
                    </a:cubicBezTo>
                    <a:cubicBezTo>
                      <a:pt x="291" y="363"/>
                      <a:pt x="278" y="427"/>
                      <a:pt x="278" y="427"/>
                    </a:cubicBezTo>
                    <a:cubicBezTo>
                      <a:pt x="277" y="434"/>
                      <a:pt x="276" y="440"/>
                      <a:pt x="276" y="446"/>
                    </a:cubicBezTo>
                    <a:cubicBezTo>
                      <a:pt x="276" y="457"/>
                      <a:pt x="278" y="464"/>
                      <a:pt x="279" y="464"/>
                    </a:cubicBezTo>
                    <a:cubicBezTo>
                      <a:pt x="279" y="466"/>
                      <a:pt x="279" y="466"/>
                      <a:pt x="279" y="466"/>
                    </a:cubicBezTo>
                    <a:cubicBezTo>
                      <a:pt x="279" y="466"/>
                      <a:pt x="296" y="490"/>
                      <a:pt x="300" y="496"/>
                    </a:cubicBezTo>
                    <a:cubicBezTo>
                      <a:pt x="296" y="500"/>
                      <a:pt x="291" y="507"/>
                      <a:pt x="290" y="522"/>
                    </a:cubicBezTo>
                    <a:cubicBezTo>
                      <a:pt x="289" y="527"/>
                      <a:pt x="289" y="531"/>
                      <a:pt x="289" y="535"/>
                    </a:cubicBezTo>
                    <a:cubicBezTo>
                      <a:pt x="289" y="544"/>
                      <a:pt x="291" y="549"/>
                      <a:pt x="299" y="554"/>
                    </a:cubicBezTo>
                    <a:cubicBezTo>
                      <a:pt x="295" y="556"/>
                      <a:pt x="289" y="557"/>
                      <a:pt x="287" y="557"/>
                    </a:cubicBezTo>
                    <a:cubicBezTo>
                      <a:pt x="287" y="557"/>
                      <a:pt x="287" y="557"/>
                      <a:pt x="287" y="557"/>
                    </a:cubicBezTo>
                    <a:cubicBezTo>
                      <a:pt x="287" y="557"/>
                      <a:pt x="282" y="555"/>
                      <a:pt x="282" y="555"/>
                    </a:cubicBezTo>
                    <a:cubicBezTo>
                      <a:pt x="273" y="553"/>
                      <a:pt x="258" y="548"/>
                      <a:pt x="241" y="548"/>
                    </a:cubicBezTo>
                    <a:cubicBezTo>
                      <a:pt x="230" y="548"/>
                      <a:pt x="228" y="535"/>
                      <a:pt x="227" y="506"/>
                    </a:cubicBezTo>
                    <a:cubicBezTo>
                      <a:pt x="226" y="497"/>
                      <a:pt x="226" y="497"/>
                      <a:pt x="226" y="497"/>
                    </a:cubicBezTo>
                    <a:cubicBezTo>
                      <a:pt x="225" y="481"/>
                      <a:pt x="219" y="466"/>
                      <a:pt x="212" y="446"/>
                    </a:cubicBezTo>
                    <a:cubicBezTo>
                      <a:pt x="205" y="429"/>
                      <a:pt x="197" y="409"/>
                      <a:pt x="190" y="382"/>
                    </a:cubicBezTo>
                    <a:cubicBezTo>
                      <a:pt x="182" y="352"/>
                      <a:pt x="173" y="325"/>
                      <a:pt x="166" y="303"/>
                    </a:cubicBezTo>
                    <a:cubicBezTo>
                      <a:pt x="159" y="281"/>
                      <a:pt x="154" y="264"/>
                      <a:pt x="153" y="256"/>
                    </a:cubicBezTo>
                    <a:cubicBezTo>
                      <a:pt x="149" y="235"/>
                      <a:pt x="130" y="228"/>
                      <a:pt x="114" y="222"/>
                    </a:cubicBezTo>
                    <a:cubicBezTo>
                      <a:pt x="104" y="219"/>
                      <a:pt x="104" y="219"/>
                      <a:pt x="104" y="219"/>
                    </a:cubicBezTo>
                    <a:cubicBezTo>
                      <a:pt x="91" y="213"/>
                      <a:pt x="76" y="210"/>
                      <a:pt x="70" y="209"/>
                    </a:cubicBezTo>
                    <a:cubicBezTo>
                      <a:pt x="62" y="197"/>
                      <a:pt x="32" y="154"/>
                      <a:pt x="24" y="131"/>
                    </a:cubicBezTo>
                    <a:cubicBezTo>
                      <a:pt x="22" y="127"/>
                      <a:pt x="21" y="123"/>
                      <a:pt x="21" y="119"/>
                    </a:cubicBezTo>
                    <a:cubicBezTo>
                      <a:pt x="21" y="115"/>
                      <a:pt x="22" y="111"/>
                      <a:pt x="25" y="108"/>
                    </a:cubicBezTo>
                    <a:cubicBezTo>
                      <a:pt x="28" y="104"/>
                      <a:pt x="32" y="102"/>
                      <a:pt x="33" y="102"/>
                    </a:cubicBezTo>
                    <a:cubicBezTo>
                      <a:pt x="38" y="102"/>
                      <a:pt x="70" y="108"/>
                      <a:pt x="90" y="112"/>
                    </a:cubicBezTo>
                    <a:cubicBezTo>
                      <a:pt x="92" y="113"/>
                      <a:pt x="92" y="113"/>
                      <a:pt x="92" y="113"/>
                    </a:cubicBezTo>
                    <a:lnTo>
                      <a:pt x="136"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47" name="Freeform 1922">
                <a:extLst>
                  <a:ext uri="{FF2B5EF4-FFF2-40B4-BE49-F238E27FC236}">
                    <a16:creationId xmlns:a16="http://schemas.microsoft.com/office/drawing/2014/main" id="{0B5A153A-070D-F03B-A585-13E17A7BE509}"/>
                  </a:ext>
                </a:extLst>
              </p:cNvPr>
              <p:cNvSpPr>
                <a:spLocks/>
              </p:cNvSpPr>
              <p:nvPr/>
            </p:nvSpPr>
            <p:spPr bwMode="auto">
              <a:xfrm>
                <a:off x="1120" y="3773"/>
                <a:ext cx="11" cy="6"/>
              </a:xfrm>
              <a:custGeom>
                <a:avLst/>
                <a:gdLst>
                  <a:gd name="T0" fmla="*/ 19 w 50"/>
                  <a:gd name="T1" fmla="*/ 0 h 26"/>
                  <a:gd name="T2" fmla="*/ 16 w 50"/>
                  <a:gd name="T3" fmla="*/ 19 h 26"/>
                  <a:gd name="T4" fmla="*/ 19 w 50"/>
                  <a:gd name="T5" fmla="*/ 0 h 26"/>
                </a:gdLst>
                <a:ahLst/>
                <a:cxnLst>
                  <a:cxn ang="0">
                    <a:pos x="T0" y="T1"/>
                  </a:cxn>
                  <a:cxn ang="0">
                    <a:pos x="T2" y="T3"/>
                  </a:cxn>
                  <a:cxn ang="0">
                    <a:pos x="T4" y="T5"/>
                  </a:cxn>
                </a:cxnLst>
                <a:rect l="0" t="0" r="r" b="b"/>
                <a:pathLst>
                  <a:path w="50" h="26">
                    <a:moveTo>
                      <a:pt x="19" y="0"/>
                    </a:moveTo>
                    <a:cubicBezTo>
                      <a:pt x="19" y="0"/>
                      <a:pt x="0" y="12"/>
                      <a:pt x="16" y="19"/>
                    </a:cubicBezTo>
                    <a:cubicBezTo>
                      <a:pt x="32" y="26"/>
                      <a:pt x="50" y="8"/>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48" name="Freeform 1923">
                <a:extLst>
                  <a:ext uri="{FF2B5EF4-FFF2-40B4-BE49-F238E27FC236}">
                    <a16:creationId xmlns:a16="http://schemas.microsoft.com/office/drawing/2014/main" id="{12E0849F-D6BE-B8A6-BD80-A91F7E1C1204}"/>
                  </a:ext>
                </a:extLst>
              </p:cNvPr>
              <p:cNvSpPr>
                <a:spLocks noEditPoints="1"/>
              </p:cNvSpPr>
              <p:nvPr/>
            </p:nvSpPr>
            <p:spPr bwMode="auto">
              <a:xfrm>
                <a:off x="1120" y="3771"/>
                <a:ext cx="10" cy="9"/>
              </a:xfrm>
              <a:custGeom>
                <a:avLst/>
                <a:gdLst>
                  <a:gd name="T0" fmla="*/ 14 w 46"/>
                  <a:gd name="T1" fmla="*/ 2 h 40"/>
                  <a:gd name="T2" fmla="*/ 1 w 46"/>
                  <a:gd name="T3" fmla="*/ 22 h 40"/>
                  <a:gd name="T4" fmla="*/ 12 w 46"/>
                  <a:gd name="T5" fmla="*/ 36 h 40"/>
                  <a:gd name="T6" fmla="*/ 39 w 46"/>
                  <a:gd name="T7" fmla="*/ 33 h 40"/>
                  <a:gd name="T8" fmla="*/ 44 w 46"/>
                  <a:gd name="T9" fmla="*/ 18 h 40"/>
                  <a:gd name="T10" fmla="*/ 21 w 46"/>
                  <a:gd name="T11" fmla="*/ 1 h 40"/>
                  <a:gd name="T12" fmla="*/ 17 w 46"/>
                  <a:gd name="T13" fmla="*/ 0 h 40"/>
                  <a:gd name="T14" fmla="*/ 14 w 46"/>
                  <a:gd name="T15" fmla="*/ 2 h 40"/>
                  <a:gd name="T16" fmla="*/ 20 w 46"/>
                  <a:gd name="T17" fmla="*/ 19 h 40"/>
                  <a:gd name="T18" fmla="*/ 25 w 46"/>
                  <a:gd name="T19" fmla="*/ 21 h 40"/>
                  <a:gd name="T20" fmla="*/ 19 w 46"/>
                  <a:gd name="T21" fmla="*/ 20 h 40"/>
                  <a:gd name="T22" fmla="*/ 19 w 46"/>
                  <a:gd name="T23" fmla="*/ 20 h 40"/>
                  <a:gd name="T24" fmla="*/ 20 w 46"/>
                  <a:gd name="T25" fmla="*/ 19 h 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46" h="40">
                    <a:moveTo>
                      <a:pt x="14" y="2"/>
                    </a:moveTo>
                    <a:cubicBezTo>
                      <a:pt x="11" y="4"/>
                      <a:pt x="0" y="11"/>
                      <a:pt x="1" y="22"/>
                    </a:cubicBezTo>
                    <a:cubicBezTo>
                      <a:pt x="1" y="26"/>
                      <a:pt x="3" y="32"/>
                      <a:pt x="12" y="36"/>
                    </a:cubicBezTo>
                    <a:cubicBezTo>
                      <a:pt x="21" y="40"/>
                      <a:pt x="32" y="39"/>
                      <a:pt x="39" y="33"/>
                    </a:cubicBezTo>
                    <a:cubicBezTo>
                      <a:pt x="43" y="29"/>
                      <a:pt x="46" y="23"/>
                      <a:pt x="44" y="18"/>
                    </a:cubicBezTo>
                    <a:cubicBezTo>
                      <a:pt x="42" y="10"/>
                      <a:pt x="34" y="4"/>
                      <a:pt x="21" y="1"/>
                    </a:cubicBezTo>
                    <a:cubicBezTo>
                      <a:pt x="17" y="0"/>
                      <a:pt x="17" y="0"/>
                      <a:pt x="17" y="0"/>
                    </a:cubicBezTo>
                    <a:lnTo>
                      <a:pt x="14" y="2"/>
                    </a:lnTo>
                    <a:close/>
                    <a:moveTo>
                      <a:pt x="20" y="19"/>
                    </a:moveTo>
                    <a:cubicBezTo>
                      <a:pt x="22" y="19"/>
                      <a:pt x="24" y="20"/>
                      <a:pt x="25" y="21"/>
                    </a:cubicBezTo>
                    <a:cubicBezTo>
                      <a:pt x="23" y="21"/>
                      <a:pt x="22" y="21"/>
                      <a:pt x="19" y="20"/>
                    </a:cubicBezTo>
                    <a:cubicBezTo>
                      <a:pt x="19" y="20"/>
                      <a:pt x="19" y="20"/>
                      <a:pt x="19" y="20"/>
                    </a:cubicBezTo>
                    <a:cubicBezTo>
                      <a:pt x="20" y="20"/>
                      <a:pt x="20" y="19"/>
                      <a:pt x="2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49" name="Freeform 1924">
                <a:extLst>
                  <a:ext uri="{FF2B5EF4-FFF2-40B4-BE49-F238E27FC236}">
                    <a16:creationId xmlns:a16="http://schemas.microsoft.com/office/drawing/2014/main" id="{710A33D2-4EBF-6FA8-B00B-D363EF9810F5}"/>
                  </a:ext>
                </a:extLst>
              </p:cNvPr>
              <p:cNvSpPr>
                <a:spLocks/>
              </p:cNvSpPr>
              <p:nvPr/>
            </p:nvSpPr>
            <p:spPr bwMode="auto">
              <a:xfrm>
                <a:off x="1123" y="3781"/>
                <a:ext cx="9" cy="7"/>
              </a:xfrm>
              <a:custGeom>
                <a:avLst/>
                <a:gdLst>
                  <a:gd name="T0" fmla="*/ 14 w 39"/>
                  <a:gd name="T1" fmla="*/ 0 h 32"/>
                  <a:gd name="T2" fmla="*/ 11 w 39"/>
                  <a:gd name="T3" fmla="*/ 29 h 32"/>
                  <a:gd name="T4" fmla="*/ 14 w 39"/>
                  <a:gd name="T5" fmla="*/ 0 h 32"/>
                </a:gdLst>
                <a:ahLst/>
                <a:cxnLst>
                  <a:cxn ang="0">
                    <a:pos x="T0" y="T1"/>
                  </a:cxn>
                  <a:cxn ang="0">
                    <a:pos x="T2" y="T3"/>
                  </a:cxn>
                  <a:cxn ang="0">
                    <a:pos x="T4" y="T5"/>
                  </a:cxn>
                </a:cxnLst>
                <a:rect l="0" t="0" r="r" b="b"/>
                <a:pathLst>
                  <a:path w="39" h="32">
                    <a:moveTo>
                      <a:pt x="14" y="0"/>
                    </a:moveTo>
                    <a:cubicBezTo>
                      <a:pt x="14" y="0"/>
                      <a:pt x="0" y="26"/>
                      <a:pt x="11" y="29"/>
                    </a:cubicBezTo>
                    <a:cubicBezTo>
                      <a:pt x="23" y="32"/>
                      <a:pt x="39"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50" name="Freeform 1925">
                <a:extLst>
                  <a:ext uri="{FF2B5EF4-FFF2-40B4-BE49-F238E27FC236}">
                    <a16:creationId xmlns:a16="http://schemas.microsoft.com/office/drawing/2014/main" id="{4FCBCDFD-E0A6-70D7-52EE-F4D3752040CE}"/>
                  </a:ext>
                </a:extLst>
              </p:cNvPr>
              <p:cNvSpPr>
                <a:spLocks noEditPoints="1"/>
              </p:cNvSpPr>
              <p:nvPr/>
            </p:nvSpPr>
            <p:spPr bwMode="auto">
              <a:xfrm>
                <a:off x="1122" y="3779"/>
                <a:ext cx="10" cy="11"/>
              </a:xfrm>
              <a:custGeom>
                <a:avLst/>
                <a:gdLst>
                  <a:gd name="T0" fmla="*/ 12 w 43"/>
                  <a:gd name="T1" fmla="*/ 5 h 48"/>
                  <a:gd name="T2" fmla="*/ 5 w 43"/>
                  <a:gd name="T3" fmla="*/ 38 h 48"/>
                  <a:gd name="T4" fmla="*/ 14 w 43"/>
                  <a:gd name="T5" fmla="*/ 46 h 48"/>
                  <a:gd name="T6" fmla="*/ 34 w 43"/>
                  <a:gd name="T7" fmla="*/ 38 h 48"/>
                  <a:gd name="T8" fmla="*/ 39 w 43"/>
                  <a:gd name="T9" fmla="*/ 12 h 48"/>
                  <a:gd name="T10" fmla="*/ 20 w 43"/>
                  <a:gd name="T11" fmla="*/ 0 h 48"/>
                  <a:gd name="T12" fmla="*/ 14 w 43"/>
                  <a:gd name="T13" fmla="*/ 0 h 48"/>
                  <a:gd name="T14" fmla="*/ 12 w 43"/>
                  <a:gd name="T15" fmla="*/ 5 h 48"/>
                  <a:gd name="T16" fmla="*/ 23 w 43"/>
                  <a:gd name="T17" fmla="*/ 22 h 48"/>
                  <a:gd name="T18" fmla="*/ 22 w 43"/>
                  <a:gd name="T19" fmla="*/ 23 h 48"/>
                  <a:gd name="T20" fmla="*/ 23 w 43"/>
                  <a:gd name="T21" fmla="*/ 22 h 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43" h="48">
                    <a:moveTo>
                      <a:pt x="12" y="5"/>
                    </a:moveTo>
                    <a:cubicBezTo>
                      <a:pt x="8" y="11"/>
                      <a:pt x="0" y="28"/>
                      <a:pt x="5" y="38"/>
                    </a:cubicBezTo>
                    <a:cubicBezTo>
                      <a:pt x="7" y="42"/>
                      <a:pt x="10" y="45"/>
                      <a:pt x="14" y="46"/>
                    </a:cubicBezTo>
                    <a:cubicBezTo>
                      <a:pt x="21" y="48"/>
                      <a:pt x="28" y="45"/>
                      <a:pt x="34" y="38"/>
                    </a:cubicBezTo>
                    <a:cubicBezTo>
                      <a:pt x="39" y="32"/>
                      <a:pt x="43" y="21"/>
                      <a:pt x="39" y="12"/>
                    </a:cubicBezTo>
                    <a:cubicBezTo>
                      <a:pt x="38" y="8"/>
                      <a:pt x="33" y="1"/>
                      <a:pt x="20" y="0"/>
                    </a:cubicBezTo>
                    <a:cubicBezTo>
                      <a:pt x="14" y="0"/>
                      <a:pt x="14" y="0"/>
                      <a:pt x="14" y="0"/>
                    </a:cubicBezTo>
                    <a:lnTo>
                      <a:pt x="12" y="5"/>
                    </a:lnTo>
                    <a:close/>
                    <a:moveTo>
                      <a:pt x="23" y="22"/>
                    </a:moveTo>
                    <a:cubicBezTo>
                      <a:pt x="23" y="23"/>
                      <a:pt x="23" y="23"/>
                      <a:pt x="22" y="23"/>
                    </a:cubicBezTo>
                    <a:cubicBezTo>
                      <a:pt x="22" y="23"/>
                      <a:pt x="23" y="23"/>
                      <a:pt x="23"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51" name="Freeform 1926">
                <a:extLst>
                  <a:ext uri="{FF2B5EF4-FFF2-40B4-BE49-F238E27FC236}">
                    <a16:creationId xmlns:a16="http://schemas.microsoft.com/office/drawing/2014/main" id="{E8C5C457-7706-4CAF-2E19-49AFC27EDCF3}"/>
                  </a:ext>
                </a:extLst>
              </p:cNvPr>
              <p:cNvSpPr>
                <a:spLocks/>
              </p:cNvSpPr>
              <p:nvPr/>
            </p:nvSpPr>
            <p:spPr bwMode="auto">
              <a:xfrm>
                <a:off x="1125" y="3795"/>
                <a:ext cx="9" cy="4"/>
              </a:xfrm>
              <a:custGeom>
                <a:avLst/>
                <a:gdLst>
                  <a:gd name="T0" fmla="*/ 10 w 38"/>
                  <a:gd name="T1" fmla="*/ 0 h 21"/>
                  <a:gd name="T2" fmla="*/ 9 w 38"/>
                  <a:gd name="T3" fmla="*/ 18 h 21"/>
                  <a:gd name="T4" fmla="*/ 10 w 38"/>
                  <a:gd name="T5" fmla="*/ 0 h 21"/>
                </a:gdLst>
                <a:ahLst/>
                <a:cxnLst>
                  <a:cxn ang="0">
                    <a:pos x="T0" y="T1"/>
                  </a:cxn>
                  <a:cxn ang="0">
                    <a:pos x="T2" y="T3"/>
                  </a:cxn>
                  <a:cxn ang="0">
                    <a:pos x="T4" y="T5"/>
                  </a:cxn>
                </a:cxnLst>
                <a:rect l="0" t="0" r="r" b="b"/>
                <a:pathLst>
                  <a:path w="38" h="21">
                    <a:moveTo>
                      <a:pt x="10" y="0"/>
                    </a:moveTo>
                    <a:cubicBezTo>
                      <a:pt x="10" y="0"/>
                      <a:pt x="0" y="15"/>
                      <a:pt x="9" y="18"/>
                    </a:cubicBezTo>
                    <a:cubicBezTo>
                      <a:pt x="17" y="21"/>
                      <a:pt x="38"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52" name="Freeform 1927">
                <a:extLst>
                  <a:ext uri="{FF2B5EF4-FFF2-40B4-BE49-F238E27FC236}">
                    <a16:creationId xmlns:a16="http://schemas.microsoft.com/office/drawing/2014/main" id="{47287DE5-8116-ED54-1672-97C817B89F0B}"/>
                  </a:ext>
                </a:extLst>
              </p:cNvPr>
              <p:cNvSpPr>
                <a:spLocks/>
              </p:cNvSpPr>
              <p:nvPr/>
            </p:nvSpPr>
            <p:spPr bwMode="auto">
              <a:xfrm>
                <a:off x="1124" y="3793"/>
                <a:ext cx="9" cy="8"/>
              </a:xfrm>
              <a:custGeom>
                <a:avLst/>
                <a:gdLst>
                  <a:gd name="T0" fmla="*/ 12 w 40"/>
                  <a:gd name="T1" fmla="*/ 0 h 37"/>
                  <a:gd name="T2" fmla="*/ 9 w 40"/>
                  <a:gd name="T3" fmla="*/ 3 h 37"/>
                  <a:gd name="T4" fmla="*/ 3 w 40"/>
                  <a:gd name="T5" fmla="*/ 25 h 37"/>
                  <a:gd name="T6" fmla="*/ 12 w 40"/>
                  <a:gd name="T7" fmla="*/ 34 h 37"/>
                  <a:gd name="T8" fmla="*/ 34 w 40"/>
                  <a:gd name="T9" fmla="*/ 26 h 37"/>
                  <a:gd name="T10" fmla="*/ 38 w 40"/>
                  <a:gd name="T11" fmla="*/ 9 h 37"/>
                  <a:gd name="T12" fmla="*/ 16 w 40"/>
                  <a:gd name="T13" fmla="*/ 0 h 37"/>
                  <a:gd name="T14" fmla="*/ 12 w 40"/>
                  <a:gd name="T15" fmla="*/ 0 h 37"/>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40" h="37">
                    <a:moveTo>
                      <a:pt x="12" y="0"/>
                    </a:moveTo>
                    <a:cubicBezTo>
                      <a:pt x="9" y="3"/>
                      <a:pt x="9" y="3"/>
                      <a:pt x="9" y="3"/>
                    </a:cubicBezTo>
                    <a:cubicBezTo>
                      <a:pt x="6" y="7"/>
                      <a:pt x="0" y="17"/>
                      <a:pt x="3" y="25"/>
                    </a:cubicBezTo>
                    <a:cubicBezTo>
                      <a:pt x="5" y="30"/>
                      <a:pt x="8" y="33"/>
                      <a:pt x="12" y="34"/>
                    </a:cubicBezTo>
                    <a:cubicBezTo>
                      <a:pt x="20" y="37"/>
                      <a:pt x="29" y="32"/>
                      <a:pt x="34" y="26"/>
                    </a:cubicBezTo>
                    <a:cubicBezTo>
                      <a:pt x="38" y="21"/>
                      <a:pt x="40" y="15"/>
                      <a:pt x="38" y="9"/>
                    </a:cubicBezTo>
                    <a:cubicBezTo>
                      <a:pt x="35" y="3"/>
                      <a:pt x="27" y="0"/>
                      <a:pt x="16" y="0"/>
                    </a:cubicBezTo>
                    <a:lnTo>
                      <a:pt x="1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53" name="Freeform 1928">
                <a:extLst>
                  <a:ext uri="{FF2B5EF4-FFF2-40B4-BE49-F238E27FC236}">
                    <a16:creationId xmlns:a16="http://schemas.microsoft.com/office/drawing/2014/main" id="{B32796CA-0BE2-97D9-7F11-A256EBD6BAD0}"/>
                  </a:ext>
                </a:extLst>
              </p:cNvPr>
              <p:cNvSpPr>
                <a:spLocks/>
              </p:cNvSpPr>
              <p:nvPr/>
            </p:nvSpPr>
            <p:spPr bwMode="auto">
              <a:xfrm>
                <a:off x="1111" y="3788"/>
                <a:ext cx="7" cy="11"/>
              </a:xfrm>
              <a:custGeom>
                <a:avLst/>
                <a:gdLst>
                  <a:gd name="T0" fmla="*/ 24 w 33"/>
                  <a:gd name="T1" fmla="*/ 20 h 48"/>
                  <a:gd name="T2" fmla="*/ 30 w 33"/>
                  <a:gd name="T3" fmla="*/ 46 h 48"/>
                  <a:gd name="T4" fmla="*/ 10 w 33"/>
                  <a:gd name="T5" fmla="*/ 28 h 48"/>
                  <a:gd name="T6" fmla="*/ 4 w 33"/>
                  <a:gd name="T7" fmla="*/ 2 h 48"/>
                  <a:gd name="T8" fmla="*/ 24 w 33"/>
                  <a:gd name="T9" fmla="*/ 20 h 48"/>
                </a:gdLst>
                <a:ahLst/>
                <a:cxnLst>
                  <a:cxn ang="0">
                    <a:pos x="T0" y="T1"/>
                  </a:cxn>
                  <a:cxn ang="0">
                    <a:pos x="T2" y="T3"/>
                  </a:cxn>
                  <a:cxn ang="0">
                    <a:pos x="T4" y="T5"/>
                  </a:cxn>
                  <a:cxn ang="0">
                    <a:pos x="T6" y="T7"/>
                  </a:cxn>
                  <a:cxn ang="0">
                    <a:pos x="T8" y="T9"/>
                  </a:cxn>
                </a:cxnLst>
                <a:rect l="0" t="0" r="r" b="b"/>
                <a:pathLst>
                  <a:path w="33" h="48">
                    <a:moveTo>
                      <a:pt x="24" y="20"/>
                    </a:moveTo>
                    <a:cubicBezTo>
                      <a:pt x="31" y="32"/>
                      <a:pt x="33" y="44"/>
                      <a:pt x="30" y="46"/>
                    </a:cubicBezTo>
                    <a:cubicBezTo>
                      <a:pt x="26" y="48"/>
                      <a:pt x="17" y="40"/>
                      <a:pt x="10" y="28"/>
                    </a:cubicBezTo>
                    <a:cubicBezTo>
                      <a:pt x="3" y="16"/>
                      <a:pt x="0" y="4"/>
                      <a:pt x="4" y="2"/>
                    </a:cubicBezTo>
                    <a:cubicBezTo>
                      <a:pt x="8" y="0"/>
                      <a:pt x="16" y="8"/>
                      <a:pt x="24"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54" name="Freeform 1929">
                <a:extLst>
                  <a:ext uri="{FF2B5EF4-FFF2-40B4-BE49-F238E27FC236}">
                    <a16:creationId xmlns:a16="http://schemas.microsoft.com/office/drawing/2014/main" id="{D0EE4726-9187-A8BE-8FBB-F1B358F5E0F5}"/>
                  </a:ext>
                </a:extLst>
              </p:cNvPr>
              <p:cNvSpPr>
                <a:spLocks noEditPoints="1"/>
              </p:cNvSpPr>
              <p:nvPr/>
            </p:nvSpPr>
            <p:spPr bwMode="auto">
              <a:xfrm>
                <a:off x="1108" y="3785"/>
                <a:ext cx="11" cy="15"/>
              </a:xfrm>
              <a:custGeom>
                <a:avLst/>
                <a:gdLst>
                  <a:gd name="T0" fmla="*/ 14 w 54"/>
                  <a:gd name="T1" fmla="*/ 7 h 68"/>
                  <a:gd name="T2" fmla="*/ 17 w 54"/>
                  <a:gd name="T3" fmla="*/ 45 h 68"/>
                  <a:gd name="T4" fmla="*/ 39 w 54"/>
                  <a:gd name="T5" fmla="*/ 68 h 68"/>
                  <a:gd name="T6" fmla="*/ 48 w 54"/>
                  <a:gd name="T7" fmla="*/ 67 h 68"/>
                  <a:gd name="T8" fmla="*/ 54 w 54"/>
                  <a:gd name="T9" fmla="*/ 55 h 68"/>
                  <a:gd name="T10" fmla="*/ 45 w 54"/>
                  <a:gd name="T11" fmla="*/ 29 h 68"/>
                  <a:gd name="T12" fmla="*/ 14 w 54"/>
                  <a:gd name="T13" fmla="*/ 7 h 68"/>
                  <a:gd name="T14" fmla="*/ 45 w 54"/>
                  <a:gd name="T15" fmla="*/ 29 h 68"/>
                  <a:gd name="T16" fmla="*/ 45 w 54"/>
                  <a:gd name="T17" fmla="*/ 29 h 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54" h="68">
                    <a:moveTo>
                      <a:pt x="14" y="7"/>
                    </a:moveTo>
                    <a:cubicBezTo>
                      <a:pt x="0" y="15"/>
                      <a:pt x="13" y="38"/>
                      <a:pt x="17" y="45"/>
                    </a:cubicBezTo>
                    <a:cubicBezTo>
                      <a:pt x="19" y="50"/>
                      <a:pt x="29" y="65"/>
                      <a:pt x="39" y="68"/>
                    </a:cubicBezTo>
                    <a:cubicBezTo>
                      <a:pt x="48" y="67"/>
                      <a:pt x="48" y="67"/>
                      <a:pt x="48" y="67"/>
                    </a:cubicBezTo>
                    <a:cubicBezTo>
                      <a:pt x="52" y="64"/>
                      <a:pt x="54" y="60"/>
                      <a:pt x="54" y="55"/>
                    </a:cubicBezTo>
                    <a:cubicBezTo>
                      <a:pt x="54" y="45"/>
                      <a:pt x="48" y="33"/>
                      <a:pt x="45" y="29"/>
                    </a:cubicBezTo>
                    <a:cubicBezTo>
                      <a:pt x="41" y="22"/>
                      <a:pt x="27" y="0"/>
                      <a:pt x="14" y="7"/>
                    </a:cubicBezTo>
                    <a:close/>
                    <a:moveTo>
                      <a:pt x="45" y="29"/>
                    </a:moveTo>
                    <a:cubicBezTo>
                      <a:pt x="45" y="29"/>
                      <a:pt x="45" y="29"/>
                      <a:pt x="45"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55" name="Freeform 1930">
                <a:extLst>
                  <a:ext uri="{FF2B5EF4-FFF2-40B4-BE49-F238E27FC236}">
                    <a16:creationId xmlns:a16="http://schemas.microsoft.com/office/drawing/2014/main" id="{FBC3631A-28AC-6DE5-2915-AC01C861A001}"/>
                  </a:ext>
                </a:extLst>
              </p:cNvPr>
              <p:cNvSpPr>
                <a:spLocks/>
              </p:cNvSpPr>
              <p:nvPr/>
            </p:nvSpPr>
            <p:spPr bwMode="auto">
              <a:xfrm>
                <a:off x="958" y="3951"/>
                <a:ext cx="25" cy="15"/>
              </a:xfrm>
              <a:custGeom>
                <a:avLst/>
                <a:gdLst>
                  <a:gd name="T0" fmla="*/ 57 w 109"/>
                  <a:gd name="T1" fmla="*/ 14 h 69"/>
                  <a:gd name="T2" fmla="*/ 39 w 109"/>
                  <a:gd name="T3" fmla="*/ 47 h 69"/>
                  <a:gd name="T4" fmla="*/ 90 w 109"/>
                  <a:gd name="T5" fmla="*/ 52 h 69"/>
                  <a:gd name="T6" fmla="*/ 57 w 109"/>
                  <a:gd name="T7" fmla="*/ 14 h 69"/>
                </a:gdLst>
                <a:ahLst/>
                <a:cxnLst>
                  <a:cxn ang="0">
                    <a:pos x="T0" y="T1"/>
                  </a:cxn>
                  <a:cxn ang="0">
                    <a:pos x="T2" y="T3"/>
                  </a:cxn>
                  <a:cxn ang="0">
                    <a:pos x="T4" y="T5"/>
                  </a:cxn>
                  <a:cxn ang="0">
                    <a:pos x="T6" y="T7"/>
                  </a:cxn>
                </a:cxnLst>
                <a:rect l="0" t="0" r="r" b="b"/>
                <a:pathLst>
                  <a:path w="109" h="69">
                    <a:moveTo>
                      <a:pt x="57" y="14"/>
                    </a:moveTo>
                    <a:cubicBezTo>
                      <a:pt x="57" y="14"/>
                      <a:pt x="0" y="0"/>
                      <a:pt x="39" y="47"/>
                    </a:cubicBezTo>
                    <a:cubicBezTo>
                      <a:pt x="57" y="69"/>
                      <a:pt x="79" y="63"/>
                      <a:pt x="90" y="52"/>
                    </a:cubicBezTo>
                    <a:cubicBezTo>
                      <a:pt x="101" y="41"/>
                      <a:pt x="109" y="10"/>
                      <a:pt x="5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56" name="Freeform 1931">
                <a:extLst>
                  <a:ext uri="{FF2B5EF4-FFF2-40B4-BE49-F238E27FC236}">
                    <a16:creationId xmlns:a16="http://schemas.microsoft.com/office/drawing/2014/main" id="{A4A07FA9-E81E-E2DD-84FE-44600B1CE116}"/>
                  </a:ext>
                </a:extLst>
              </p:cNvPr>
              <p:cNvSpPr>
                <a:spLocks noEditPoints="1"/>
              </p:cNvSpPr>
              <p:nvPr/>
            </p:nvSpPr>
            <p:spPr bwMode="auto">
              <a:xfrm>
                <a:off x="961" y="3951"/>
                <a:ext cx="22" cy="16"/>
              </a:xfrm>
              <a:custGeom>
                <a:avLst/>
                <a:gdLst>
                  <a:gd name="T0" fmla="*/ 8 w 99"/>
                  <a:gd name="T1" fmla="*/ 13 h 71"/>
                  <a:gd name="T2" fmla="*/ 21 w 99"/>
                  <a:gd name="T3" fmla="*/ 53 h 71"/>
                  <a:gd name="T4" fmla="*/ 54 w 99"/>
                  <a:gd name="T5" fmla="*/ 70 h 71"/>
                  <a:gd name="T6" fmla="*/ 85 w 99"/>
                  <a:gd name="T7" fmla="*/ 58 h 71"/>
                  <a:gd name="T8" fmla="*/ 93 w 99"/>
                  <a:gd name="T9" fmla="*/ 22 h 71"/>
                  <a:gd name="T10" fmla="*/ 47 w 99"/>
                  <a:gd name="T11" fmla="*/ 6 h 71"/>
                  <a:gd name="T12" fmla="*/ 8 w 99"/>
                  <a:gd name="T13" fmla="*/ 13 h 71"/>
                  <a:gd name="T14" fmla="*/ 55 w 99"/>
                  <a:gd name="T15" fmla="*/ 53 h 71"/>
                  <a:gd name="T16" fmla="*/ 34 w 99"/>
                  <a:gd name="T17" fmla="*/ 41 h 71"/>
                  <a:gd name="T18" fmla="*/ 23 w 99"/>
                  <a:gd name="T19" fmla="*/ 22 h 71"/>
                  <a:gd name="T20" fmla="*/ 44 w 99"/>
                  <a:gd name="T21" fmla="*/ 23 h 71"/>
                  <a:gd name="T22" fmla="*/ 46 w 99"/>
                  <a:gd name="T23" fmla="*/ 23 h 71"/>
                  <a:gd name="T24" fmla="*/ 47 w 99"/>
                  <a:gd name="T25" fmla="*/ 23 h 71"/>
                  <a:gd name="T26" fmla="*/ 78 w 99"/>
                  <a:gd name="T27" fmla="*/ 30 h 71"/>
                  <a:gd name="T28" fmla="*/ 73 w 99"/>
                  <a:gd name="T29" fmla="*/ 46 h 71"/>
                  <a:gd name="T30" fmla="*/ 55 w 99"/>
                  <a:gd name="T31" fmla="*/ 53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99" h="71">
                    <a:moveTo>
                      <a:pt x="8" y="13"/>
                    </a:moveTo>
                    <a:cubicBezTo>
                      <a:pt x="0" y="25"/>
                      <a:pt x="12" y="42"/>
                      <a:pt x="21" y="53"/>
                    </a:cubicBezTo>
                    <a:cubicBezTo>
                      <a:pt x="33" y="67"/>
                      <a:pt x="46" y="70"/>
                      <a:pt x="54" y="70"/>
                    </a:cubicBezTo>
                    <a:cubicBezTo>
                      <a:pt x="65" y="71"/>
                      <a:pt x="77" y="66"/>
                      <a:pt x="85" y="58"/>
                    </a:cubicBezTo>
                    <a:cubicBezTo>
                      <a:pt x="93" y="49"/>
                      <a:pt x="99" y="35"/>
                      <a:pt x="93" y="22"/>
                    </a:cubicBezTo>
                    <a:cubicBezTo>
                      <a:pt x="89" y="13"/>
                      <a:pt x="77" y="3"/>
                      <a:pt x="47" y="6"/>
                    </a:cubicBezTo>
                    <a:cubicBezTo>
                      <a:pt x="39" y="4"/>
                      <a:pt x="16" y="0"/>
                      <a:pt x="8" y="13"/>
                    </a:cubicBezTo>
                    <a:close/>
                    <a:moveTo>
                      <a:pt x="55" y="53"/>
                    </a:moveTo>
                    <a:cubicBezTo>
                      <a:pt x="47" y="53"/>
                      <a:pt x="41" y="49"/>
                      <a:pt x="34" y="41"/>
                    </a:cubicBezTo>
                    <a:cubicBezTo>
                      <a:pt x="22" y="27"/>
                      <a:pt x="23" y="22"/>
                      <a:pt x="23" y="22"/>
                    </a:cubicBezTo>
                    <a:cubicBezTo>
                      <a:pt x="25" y="21"/>
                      <a:pt x="35" y="21"/>
                      <a:pt x="44" y="23"/>
                    </a:cubicBezTo>
                    <a:cubicBezTo>
                      <a:pt x="46" y="23"/>
                      <a:pt x="46" y="23"/>
                      <a:pt x="46" y="23"/>
                    </a:cubicBezTo>
                    <a:cubicBezTo>
                      <a:pt x="47" y="23"/>
                      <a:pt x="47" y="23"/>
                      <a:pt x="47" y="23"/>
                    </a:cubicBezTo>
                    <a:cubicBezTo>
                      <a:pt x="64" y="22"/>
                      <a:pt x="75" y="24"/>
                      <a:pt x="78" y="30"/>
                    </a:cubicBezTo>
                    <a:cubicBezTo>
                      <a:pt x="80" y="34"/>
                      <a:pt x="77" y="42"/>
                      <a:pt x="73" y="46"/>
                    </a:cubicBezTo>
                    <a:cubicBezTo>
                      <a:pt x="68" y="51"/>
                      <a:pt x="61" y="53"/>
                      <a:pt x="55"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57" name="Freeform 1932">
                <a:extLst>
                  <a:ext uri="{FF2B5EF4-FFF2-40B4-BE49-F238E27FC236}">
                    <a16:creationId xmlns:a16="http://schemas.microsoft.com/office/drawing/2014/main" id="{40EF000A-8A55-81C3-319A-0950233C8835}"/>
                  </a:ext>
                </a:extLst>
              </p:cNvPr>
              <p:cNvSpPr>
                <a:spLocks/>
              </p:cNvSpPr>
              <p:nvPr/>
            </p:nvSpPr>
            <p:spPr bwMode="auto">
              <a:xfrm>
                <a:off x="981" y="3953"/>
                <a:ext cx="12" cy="8"/>
              </a:xfrm>
              <a:custGeom>
                <a:avLst/>
                <a:gdLst>
                  <a:gd name="T0" fmla="*/ 51 w 53"/>
                  <a:gd name="T1" fmla="*/ 3 h 37"/>
                  <a:gd name="T2" fmla="*/ 23 w 53"/>
                  <a:gd name="T3" fmla="*/ 14 h 37"/>
                  <a:gd name="T4" fmla="*/ 2 w 53"/>
                  <a:gd name="T5" fmla="*/ 35 h 37"/>
                  <a:gd name="T6" fmla="*/ 29 w 53"/>
                  <a:gd name="T7" fmla="*/ 23 h 37"/>
                  <a:gd name="T8" fmla="*/ 51 w 53"/>
                  <a:gd name="T9" fmla="*/ 3 h 37"/>
                </a:gdLst>
                <a:ahLst/>
                <a:cxnLst>
                  <a:cxn ang="0">
                    <a:pos x="T0" y="T1"/>
                  </a:cxn>
                  <a:cxn ang="0">
                    <a:pos x="T2" y="T3"/>
                  </a:cxn>
                  <a:cxn ang="0">
                    <a:pos x="T4" y="T5"/>
                  </a:cxn>
                  <a:cxn ang="0">
                    <a:pos x="T6" y="T7"/>
                  </a:cxn>
                  <a:cxn ang="0">
                    <a:pos x="T8" y="T9"/>
                  </a:cxn>
                </a:cxnLst>
                <a:rect l="0" t="0" r="r" b="b"/>
                <a:pathLst>
                  <a:path w="53" h="37">
                    <a:moveTo>
                      <a:pt x="51" y="3"/>
                    </a:moveTo>
                    <a:cubicBezTo>
                      <a:pt x="50" y="0"/>
                      <a:pt x="37" y="5"/>
                      <a:pt x="23" y="14"/>
                    </a:cubicBezTo>
                    <a:cubicBezTo>
                      <a:pt x="10" y="23"/>
                      <a:pt x="0" y="32"/>
                      <a:pt x="2" y="35"/>
                    </a:cubicBezTo>
                    <a:cubicBezTo>
                      <a:pt x="3" y="37"/>
                      <a:pt x="16" y="32"/>
                      <a:pt x="29" y="23"/>
                    </a:cubicBezTo>
                    <a:cubicBezTo>
                      <a:pt x="43" y="14"/>
                      <a:pt x="53" y="5"/>
                      <a:pt x="5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58" name="Freeform 1933">
                <a:extLst>
                  <a:ext uri="{FF2B5EF4-FFF2-40B4-BE49-F238E27FC236}">
                    <a16:creationId xmlns:a16="http://schemas.microsoft.com/office/drawing/2014/main" id="{7BDCA0BC-064F-6B01-CF50-337D4BEBAC3A}"/>
                  </a:ext>
                </a:extLst>
              </p:cNvPr>
              <p:cNvSpPr>
                <a:spLocks/>
              </p:cNvSpPr>
              <p:nvPr/>
            </p:nvSpPr>
            <p:spPr bwMode="auto">
              <a:xfrm>
                <a:off x="979" y="3950"/>
                <a:ext cx="17" cy="14"/>
              </a:xfrm>
              <a:custGeom>
                <a:avLst/>
                <a:gdLst>
                  <a:gd name="T0" fmla="*/ 32 w 79"/>
                  <a:gd name="T1" fmla="*/ 21 h 65"/>
                  <a:gd name="T2" fmla="*/ 7 w 79"/>
                  <a:gd name="T3" fmla="*/ 53 h 65"/>
                  <a:gd name="T4" fmla="*/ 47 w 79"/>
                  <a:gd name="T5" fmla="*/ 45 h 65"/>
                  <a:gd name="T6" fmla="*/ 71 w 79"/>
                  <a:gd name="T7" fmla="*/ 12 h 65"/>
                  <a:gd name="T8" fmla="*/ 71 w 79"/>
                  <a:gd name="T9" fmla="*/ 12 h 65"/>
                  <a:gd name="T10" fmla="*/ 32 w 79"/>
                  <a:gd name="T11" fmla="*/ 21 h 65"/>
                </a:gdLst>
                <a:ahLst/>
                <a:cxnLst>
                  <a:cxn ang="0">
                    <a:pos x="T0" y="T1"/>
                  </a:cxn>
                  <a:cxn ang="0">
                    <a:pos x="T2" y="T3"/>
                  </a:cxn>
                  <a:cxn ang="0">
                    <a:pos x="T4" y="T5"/>
                  </a:cxn>
                  <a:cxn ang="0">
                    <a:pos x="T6" y="T7"/>
                  </a:cxn>
                  <a:cxn ang="0">
                    <a:pos x="T8" y="T9"/>
                  </a:cxn>
                  <a:cxn ang="0">
                    <a:pos x="T10" y="T11"/>
                  </a:cxn>
                </a:cxnLst>
                <a:rect l="0" t="0" r="r" b="b"/>
                <a:pathLst>
                  <a:path w="79" h="65">
                    <a:moveTo>
                      <a:pt x="32" y="21"/>
                    </a:moveTo>
                    <a:cubicBezTo>
                      <a:pt x="0" y="41"/>
                      <a:pt x="5" y="50"/>
                      <a:pt x="7" y="53"/>
                    </a:cubicBezTo>
                    <a:cubicBezTo>
                      <a:pt x="10" y="57"/>
                      <a:pt x="15" y="65"/>
                      <a:pt x="47" y="45"/>
                    </a:cubicBezTo>
                    <a:cubicBezTo>
                      <a:pt x="79" y="24"/>
                      <a:pt x="74" y="16"/>
                      <a:pt x="71" y="12"/>
                    </a:cubicBezTo>
                    <a:cubicBezTo>
                      <a:pt x="71" y="12"/>
                      <a:pt x="71" y="12"/>
                      <a:pt x="71" y="12"/>
                    </a:cubicBezTo>
                    <a:cubicBezTo>
                      <a:pt x="69" y="8"/>
                      <a:pt x="64" y="0"/>
                      <a:pt x="32"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59" name="Oval 1934">
                <a:extLst>
                  <a:ext uri="{FF2B5EF4-FFF2-40B4-BE49-F238E27FC236}">
                    <a16:creationId xmlns:a16="http://schemas.microsoft.com/office/drawing/2014/main" id="{FA22F63E-0D69-5F51-A990-4CD81AE4072F}"/>
                  </a:ext>
                </a:extLst>
              </p:cNvPr>
              <p:cNvSpPr>
                <a:spLocks noChangeArrowheads="1"/>
              </p:cNvSpPr>
              <p:nvPr/>
            </p:nvSpPr>
            <p:spPr bwMode="auto">
              <a:xfrm>
                <a:off x="1010" y="3938"/>
                <a:ext cx="5" cy="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60" name="Freeform 1935">
                <a:extLst>
                  <a:ext uri="{FF2B5EF4-FFF2-40B4-BE49-F238E27FC236}">
                    <a16:creationId xmlns:a16="http://schemas.microsoft.com/office/drawing/2014/main" id="{B9690105-2965-57B5-77F3-62FD76336B60}"/>
                  </a:ext>
                </a:extLst>
              </p:cNvPr>
              <p:cNvSpPr>
                <a:spLocks noEditPoints="1"/>
              </p:cNvSpPr>
              <p:nvPr/>
            </p:nvSpPr>
            <p:spPr bwMode="auto">
              <a:xfrm>
                <a:off x="1008" y="3936"/>
                <a:ext cx="9" cy="10"/>
              </a:xfrm>
              <a:custGeom>
                <a:avLst/>
                <a:gdLst>
                  <a:gd name="T0" fmla="*/ 0 w 39"/>
                  <a:gd name="T1" fmla="*/ 22 h 43"/>
                  <a:gd name="T2" fmla="*/ 20 w 39"/>
                  <a:gd name="T3" fmla="*/ 43 h 43"/>
                  <a:gd name="T4" fmla="*/ 39 w 39"/>
                  <a:gd name="T5" fmla="*/ 22 h 43"/>
                  <a:gd name="T6" fmla="*/ 20 w 39"/>
                  <a:gd name="T7" fmla="*/ 0 h 43"/>
                  <a:gd name="T8" fmla="*/ 0 w 39"/>
                  <a:gd name="T9" fmla="*/ 22 h 43"/>
                  <a:gd name="T10" fmla="*/ 18 w 39"/>
                  <a:gd name="T11" fmla="*/ 22 h 43"/>
                  <a:gd name="T12" fmla="*/ 20 w 39"/>
                  <a:gd name="T13" fmla="*/ 17 h 43"/>
                  <a:gd name="T14" fmla="*/ 22 w 39"/>
                  <a:gd name="T15" fmla="*/ 22 h 43"/>
                  <a:gd name="T16" fmla="*/ 20 w 39"/>
                  <a:gd name="T17" fmla="*/ 26 h 43"/>
                  <a:gd name="T18" fmla="*/ 18 w 39"/>
                  <a:gd name="T19" fmla="*/ 2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9" h="43">
                    <a:moveTo>
                      <a:pt x="0" y="22"/>
                    </a:moveTo>
                    <a:cubicBezTo>
                      <a:pt x="0" y="34"/>
                      <a:pt x="9" y="43"/>
                      <a:pt x="20" y="43"/>
                    </a:cubicBezTo>
                    <a:cubicBezTo>
                      <a:pt x="31" y="43"/>
                      <a:pt x="39" y="34"/>
                      <a:pt x="39" y="22"/>
                    </a:cubicBezTo>
                    <a:cubicBezTo>
                      <a:pt x="39" y="10"/>
                      <a:pt x="31" y="0"/>
                      <a:pt x="20" y="0"/>
                    </a:cubicBezTo>
                    <a:cubicBezTo>
                      <a:pt x="9" y="0"/>
                      <a:pt x="0" y="10"/>
                      <a:pt x="0" y="22"/>
                    </a:cubicBezTo>
                    <a:close/>
                    <a:moveTo>
                      <a:pt x="18" y="22"/>
                    </a:moveTo>
                    <a:cubicBezTo>
                      <a:pt x="18" y="19"/>
                      <a:pt x="19" y="17"/>
                      <a:pt x="20" y="17"/>
                    </a:cubicBezTo>
                    <a:cubicBezTo>
                      <a:pt x="21" y="17"/>
                      <a:pt x="22" y="19"/>
                      <a:pt x="22" y="22"/>
                    </a:cubicBezTo>
                    <a:cubicBezTo>
                      <a:pt x="22" y="24"/>
                      <a:pt x="21" y="26"/>
                      <a:pt x="20" y="26"/>
                    </a:cubicBezTo>
                    <a:cubicBezTo>
                      <a:pt x="19" y="26"/>
                      <a:pt x="18" y="25"/>
                      <a:pt x="18" y="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61" name="Oval 1936">
                <a:extLst>
                  <a:ext uri="{FF2B5EF4-FFF2-40B4-BE49-F238E27FC236}">
                    <a16:creationId xmlns:a16="http://schemas.microsoft.com/office/drawing/2014/main" id="{2BF25059-891D-B992-7932-C9D09A9F1104}"/>
                  </a:ext>
                </a:extLst>
              </p:cNvPr>
              <p:cNvSpPr>
                <a:spLocks noChangeArrowheads="1"/>
              </p:cNvSpPr>
              <p:nvPr/>
            </p:nvSpPr>
            <p:spPr bwMode="auto">
              <a:xfrm>
                <a:off x="970" y="3968"/>
                <a:ext cx="5" cy="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62" name="Oval 1937">
                <a:extLst>
                  <a:ext uri="{FF2B5EF4-FFF2-40B4-BE49-F238E27FC236}">
                    <a16:creationId xmlns:a16="http://schemas.microsoft.com/office/drawing/2014/main" id="{E8DB06FC-05BF-5BAB-4F7C-8AF3B63562F2}"/>
                  </a:ext>
                </a:extLst>
              </p:cNvPr>
              <p:cNvSpPr>
                <a:spLocks noChangeArrowheads="1"/>
              </p:cNvSpPr>
              <p:nvPr/>
            </p:nvSpPr>
            <p:spPr bwMode="auto">
              <a:xfrm>
                <a:off x="969" y="3966"/>
                <a:ext cx="7" cy="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63" name="Oval 1938">
                <a:extLst>
                  <a:ext uri="{FF2B5EF4-FFF2-40B4-BE49-F238E27FC236}">
                    <a16:creationId xmlns:a16="http://schemas.microsoft.com/office/drawing/2014/main" id="{926E353A-29CB-7F99-D5AF-709FDC579DE6}"/>
                  </a:ext>
                </a:extLst>
              </p:cNvPr>
              <p:cNvSpPr>
                <a:spLocks noChangeArrowheads="1"/>
              </p:cNvSpPr>
              <p:nvPr/>
            </p:nvSpPr>
            <p:spPr bwMode="auto">
              <a:xfrm>
                <a:off x="969" y="3977"/>
                <a:ext cx="4" cy="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64" name="Oval 1939">
                <a:extLst>
                  <a:ext uri="{FF2B5EF4-FFF2-40B4-BE49-F238E27FC236}">
                    <a16:creationId xmlns:a16="http://schemas.microsoft.com/office/drawing/2014/main" id="{3A52F6F7-D97E-EA7A-6160-4B8834235CFE}"/>
                  </a:ext>
                </a:extLst>
              </p:cNvPr>
              <p:cNvSpPr>
                <a:spLocks noChangeArrowheads="1"/>
              </p:cNvSpPr>
              <p:nvPr/>
            </p:nvSpPr>
            <p:spPr bwMode="auto">
              <a:xfrm>
                <a:off x="967" y="3975"/>
                <a:ext cx="8" cy="8"/>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65" name="Oval 1940">
                <a:extLst>
                  <a:ext uri="{FF2B5EF4-FFF2-40B4-BE49-F238E27FC236}">
                    <a16:creationId xmlns:a16="http://schemas.microsoft.com/office/drawing/2014/main" id="{0B83B559-3799-4E98-745E-9B73F83B02D8}"/>
                  </a:ext>
                </a:extLst>
              </p:cNvPr>
              <p:cNvSpPr>
                <a:spLocks noChangeArrowheads="1"/>
              </p:cNvSpPr>
              <p:nvPr/>
            </p:nvSpPr>
            <p:spPr bwMode="auto">
              <a:xfrm>
                <a:off x="1709" y="4159"/>
                <a:ext cx="6" cy="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66" name="Freeform 1941">
                <a:extLst>
                  <a:ext uri="{FF2B5EF4-FFF2-40B4-BE49-F238E27FC236}">
                    <a16:creationId xmlns:a16="http://schemas.microsoft.com/office/drawing/2014/main" id="{B56EF7A2-E616-B71F-78F3-23A5DB911D9C}"/>
                  </a:ext>
                </a:extLst>
              </p:cNvPr>
              <p:cNvSpPr>
                <a:spLocks noEditPoints="1"/>
              </p:cNvSpPr>
              <p:nvPr/>
            </p:nvSpPr>
            <p:spPr bwMode="auto">
              <a:xfrm>
                <a:off x="1707" y="4157"/>
                <a:ext cx="10" cy="8"/>
              </a:xfrm>
              <a:custGeom>
                <a:avLst/>
                <a:gdLst>
                  <a:gd name="T0" fmla="*/ 0 w 46"/>
                  <a:gd name="T1" fmla="*/ 18 h 36"/>
                  <a:gd name="T2" fmla="*/ 23 w 46"/>
                  <a:gd name="T3" fmla="*/ 36 h 36"/>
                  <a:gd name="T4" fmla="*/ 46 w 46"/>
                  <a:gd name="T5" fmla="*/ 18 h 36"/>
                  <a:gd name="T6" fmla="*/ 23 w 46"/>
                  <a:gd name="T7" fmla="*/ 0 h 36"/>
                  <a:gd name="T8" fmla="*/ 0 w 46"/>
                  <a:gd name="T9" fmla="*/ 18 h 36"/>
                  <a:gd name="T10" fmla="*/ 23 w 46"/>
                  <a:gd name="T11" fmla="*/ 17 h 36"/>
                  <a:gd name="T12" fmla="*/ 27 w 46"/>
                  <a:gd name="T13" fmla="*/ 18 h 36"/>
                  <a:gd name="T14" fmla="*/ 23 w 46"/>
                  <a:gd name="T15" fmla="*/ 19 h 36"/>
                  <a:gd name="T16" fmla="*/ 19 w 46"/>
                  <a:gd name="T17" fmla="*/ 18 h 36"/>
                  <a:gd name="T18" fmla="*/ 23 w 46"/>
                  <a:gd name="T19" fmla="*/ 17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36">
                    <a:moveTo>
                      <a:pt x="0" y="18"/>
                    </a:moveTo>
                    <a:cubicBezTo>
                      <a:pt x="0" y="28"/>
                      <a:pt x="10" y="36"/>
                      <a:pt x="23" y="36"/>
                    </a:cubicBezTo>
                    <a:cubicBezTo>
                      <a:pt x="36" y="36"/>
                      <a:pt x="46" y="28"/>
                      <a:pt x="46" y="18"/>
                    </a:cubicBezTo>
                    <a:cubicBezTo>
                      <a:pt x="46" y="8"/>
                      <a:pt x="36" y="0"/>
                      <a:pt x="23" y="0"/>
                    </a:cubicBezTo>
                    <a:cubicBezTo>
                      <a:pt x="10" y="0"/>
                      <a:pt x="0" y="8"/>
                      <a:pt x="0" y="18"/>
                    </a:cubicBezTo>
                    <a:close/>
                    <a:moveTo>
                      <a:pt x="23" y="17"/>
                    </a:moveTo>
                    <a:cubicBezTo>
                      <a:pt x="25" y="17"/>
                      <a:pt x="26" y="17"/>
                      <a:pt x="27" y="18"/>
                    </a:cubicBezTo>
                    <a:cubicBezTo>
                      <a:pt x="26" y="18"/>
                      <a:pt x="25" y="19"/>
                      <a:pt x="23" y="19"/>
                    </a:cubicBezTo>
                    <a:cubicBezTo>
                      <a:pt x="21" y="19"/>
                      <a:pt x="20" y="18"/>
                      <a:pt x="19" y="18"/>
                    </a:cubicBezTo>
                    <a:cubicBezTo>
                      <a:pt x="20" y="17"/>
                      <a:pt x="21" y="17"/>
                      <a:pt x="23"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67" name="Oval 1942">
                <a:extLst>
                  <a:ext uri="{FF2B5EF4-FFF2-40B4-BE49-F238E27FC236}">
                    <a16:creationId xmlns:a16="http://schemas.microsoft.com/office/drawing/2014/main" id="{AD193B55-E2B9-7FF0-BDD8-71D2DA76E9E7}"/>
                  </a:ext>
                </a:extLst>
              </p:cNvPr>
              <p:cNvSpPr>
                <a:spLocks noChangeArrowheads="1"/>
              </p:cNvSpPr>
              <p:nvPr/>
            </p:nvSpPr>
            <p:spPr bwMode="auto">
              <a:xfrm>
                <a:off x="1699" y="4167"/>
                <a:ext cx="6" cy="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68" name="Oval 1943">
                <a:extLst>
                  <a:ext uri="{FF2B5EF4-FFF2-40B4-BE49-F238E27FC236}">
                    <a16:creationId xmlns:a16="http://schemas.microsoft.com/office/drawing/2014/main" id="{AF709EE7-3A06-8DD5-4FD7-C8BB73B41D52}"/>
                  </a:ext>
                </a:extLst>
              </p:cNvPr>
              <p:cNvSpPr>
                <a:spLocks noChangeArrowheads="1"/>
              </p:cNvSpPr>
              <p:nvPr/>
            </p:nvSpPr>
            <p:spPr bwMode="auto">
              <a:xfrm>
                <a:off x="1697" y="4165"/>
                <a:ext cx="10" cy="7"/>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69" name="Freeform 1944">
                <a:extLst>
                  <a:ext uri="{FF2B5EF4-FFF2-40B4-BE49-F238E27FC236}">
                    <a16:creationId xmlns:a16="http://schemas.microsoft.com/office/drawing/2014/main" id="{750E1ED3-0A13-A99C-7CEB-483D988E0E08}"/>
                  </a:ext>
                </a:extLst>
              </p:cNvPr>
              <p:cNvSpPr>
                <a:spLocks/>
              </p:cNvSpPr>
              <p:nvPr/>
            </p:nvSpPr>
            <p:spPr bwMode="auto">
              <a:xfrm>
                <a:off x="3225" y="4129"/>
                <a:ext cx="19" cy="8"/>
              </a:xfrm>
              <a:custGeom>
                <a:avLst/>
                <a:gdLst>
                  <a:gd name="T0" fmla="*/ 58 w 83"/>
                  <a:gd name="T1" fmla="*/ 1 h 36"/>
                  <a:gd name="T2" fmla="*/ 39 w 83"/>
                  <a:gd name="T3" fmla="*/ 16 h 36"/>
                  <a:gd name="T4" fmla="*/ 14 w 83"/>
                  <a:gd name="T5" fmla="*/ 9 h 36"/>
                  <a:gd name="T6" fmla="*/ 0 w 83"/>
                  <a:gd name="T7" fmla="*/ 36 h 36"/>
                  <a:gd name="T8" fmla="*/ 9 w 83"/>
                  <a:gd name="T9" fmla="*/ 36 h 36"/>
                  <a:gd name="T10" fmla="*/ 17 w 83"/>
                  <a:gd name="T11" fmla="*/ 17 h 36"/>
                  <a:gd name="T12" fmla="*/ 38 w 83"/>
                  <a:gd name="T13" fmla="*/ 26 h 36"/>
                  <a:gd name="T14" fmla="*/ 45 w 83"/>
                  <a:gd name="T15" fmla="*/ 32 h 36"/>
                  <a:gd name="T16" fmla="*/ 46 w 83"/>
                  <a:gd name="T17" fmla="*/ 23 h 36"/>
                  <a:gd name="T18" fmla="*/ 59 w 83"/>
                  <a:gd name="T19" fmla="*/ 10 h 36"/>
                  <a:gd name="T20" fmla="*/ 75 w 83"/>
                  <a:gd name="T21" fmla="*/ 23 h 36"/>
                  <a:gd name="T22" fmla="*/ 83 w 83"/>
                  <a:gd name="T23" fmla="*/ 20 h 36"/>
                  <a:gd name="T24" fmla="*/ 58 w 83"/>
                  <a:gd name="T25" fmla="*/ 1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3" h="36">
                    <a:moveTo>
                      <a:pt x="58" y="1"/>
                    </a:moveTo>
                    <a:cubicBezTo>
                      <a:pt x="49" y="3"/>
                      <a:pt x="42" y="9"/>
                      <a:pt x="39" y="16"/>
                    </a:cubicBezTo>
                    <a:cubicBezTo>
                      <a:pt x="29" y="9"/>
                      <a:pt x="20" y="6"/>
                      <a:pt x="14" y="9"/>
                    </a:cubicBezTo>
                    <a:cubicBezTo>
                      <a:pt x="1" y="15"/>
                      <a:pt x="0" y="34"/>
                      <a:pt x="0" y="36"/>
                    </a:cubicBezTo>
                    <a:cubicBezTo>
                      <a:pt x="9" y="36"/>
                      <a:pt x="9" y="36"/>
                      <a:pt x="9" y="36"/>
                    </a:cubicBezTo>
                    <a:cubicBezTo>
                      <a:pt x="9" y="32"/>
                      <a:pt x="11" y="20"/>
                      <a:pt x="17" y="17"/>
                    </a:cubicBezTo>
                    <a:cubicBezTo>
                      <a:pt x="22" y="15"/>
                      <a:pt x="29" y="18"/>
                      <a:pt x="38" y="26"/>
                    </a:cubicBezTo>
                    <a:cubicBezTo>
                      <a:pt x="45" y="32"/>
                      <a:pt x="45" y="32"/>
                      <a:pt x="45" y="32"/>
                    </a:cubicBezTo>
                    <a:cubicBezTo>
                      <a:pt x="46" y="23"/>
                      <a:pt x="46" y="23"/>
                      <a:pt x="46" y="23"/>
                    </a:cubicBezTo>
                    <a:cubicBezTo>
                      <a:pt x="46" y="18"/>
                      <a:pt x="52" y="11"/>
                      <a:pt x="59" y="10"/>
                    </a:cubicBezTo>
                    <a:cubicBezTo>
                      <a:pt x="67" y="8"/>
                      <a:pt x="72" y="16"/>
                      <a:pt x="75" y="23"/>
                    </a:cubicBezTo>
                    <a:cubicBezTo>
                      <a:pt x="83" y="20"/>
                      <a:pt x="83" y="20"/>
                      <a:pt x="83" y="20"/>
                    </a:cubicBezTo>
                    <a:cubicBezTo>
                      <a:pt x="75" y="0"/>
                      <a:pt x="63" y="0"/>
                      <a:pt x="5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70" name="Freeform 1945">
                <a:extLst>
                  <a:ext uri="{FF2B5EF4-FFF2-40B4-BE49-F238E27FC236}">
                    <a16:creationId xmlns:a16="http://schemas.microsoft.com/office/drawing/2014/main" id="{107D2462-CBD1-BF2B-B78B-443B7289D79D}"/>
                  </a:ext>
                </a:extLst>
              </p:cNvPr>
              <p:cNvSpPr>
                <a:spLocks/>
              </p:cNvSpPr>
              <p:nvPr/>
            </p:nvSpPr>
            <p:spPr bwMode="auto">
              <a:xfrm>
                <a:off x="3228" y="4139"/>
                <a:ext cx="16" cy="7"/>
              </a:xfrm>
              <a:custGeom>
                <a:avLst/>
                <a:gdLst>
                  <a:gd name="T0" fmla="*/ 66 w 74"/>
                  <a:gd name="T1" fmla="*/ 0 h 30"/>
                  <a:gd name="T2" fmla="*/ 61 w 74"/>
                  <a:gd name="T3" fmla="*/ 14 h 30"/>
                  <a:gd name="T4" fmla="*/ 43 w 74"/>
                  <a:gd name="T5" fmla="*/ 9 h 30"/>
                  <a:gd name="T6" fmla="*/ 40 w 74"/>
                  <a:gd name="T7" fmla="*/ 7 h 30"/>
                  <a:gd name="T8" fmla="*/ 37 w 74"/>
                  <a:gd name="T9" fmla="*/ 10 h 30"/>
                  <a:gd name="T10" fmla="*/ 21 w 74"/>
                  <a:gd name="T11" fmla="*/ 21 h 30"/>
                  <a:gd name="T12" fmla="*/ 7 w 74"/>
                  <a:gd name="T13" fmla="*/ 13 h 30"/>
                  <a:gd name="T14" fmla="*/ 0 w 74"/>
                  <a:gd name="T15" fmla="*/ 18 h 30"/>
                  <a:gd name="T16" fmla="*/ 21 w 74"/>
                  <a:gd name="T17" fmla="*/ 30 h 30"/>
                  <a:gd name="T18" fmla="*/ 42 w 74"/>
                  <a:gd name="T19" fmla="*/ 18 h 30"/>
                  <a:gd name="T20" fmla="*/ 66 w 74"/>
                  <a:gd name="T21" fmla="*/ 22 h 30"/>
                  <a:gd name="T22" fmla="*/ 74 w 74"/>
                  <a:gd name="T23" fmla="*/ 0 h 30"/>
                  <a:gd name="T24" fmla="*/ 66 w 74"/>
                  <a:gd name="T25"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74" h="30">
                    <a:moveTo>
                      <a:pt x="66" y="0"/>
                    </a:moveTo>
                    <a:cubicBezTo>
                      <a:pt x="66" y="8"/>
                      <a:pt x="64" y="13"/>
                      <a:pt x="61" y="14"/>
                    </a:cubicBezTo>
                    <a:cubicBezTo>
                      <a:pt x="59" y="16"/>
                      <a:pt x="54" y="16"/>
                      <a:pt x="43" y="9"/>
                    </a:cubicBezTo>
                    <a:cubicBezTo>
                      <a:pt x="40" y="7"/>
                      <a:pt x="40" y="7"/>
                      <a:pt x="40" y="7"/>
                    </a:cubicBezTo>
                    <a:cubicBezTo>
                      <a:pt x="37" y="10"/>
                      <a:pt x="37" y="10"/>
                      <a:pt x="37" y="10"/>
                    </a:cubicBezTo>
                    <a:cubicBezTo>
                      <a:pt x="32" y="18"/>
                      <a:pt x="26" y="21"/>
                      <a:pt x="21" y="21"/>
                    </a:cubicBezTo>
                    <a:cubicBezTo>
                      <a:pt x="13" y="21"/>
                      <a:pt x="7" y="13"/>
                      <a:pt x="7" y="13"/>
                    </a:cubicBezTo>
                    <a:cubicBezTo>
                      <a:pt x="0" y="18"/>
                      <a:pt x="0" y="18"/>
                      <a:pt x="0" y="18"/>
                    </a:cubicBezTo>
                    <a:cubicBezTo>
                      <a:pt x="0" y="19"/>
                      <a:pt x="9" y="30"/>
                      <a:pt x="21" y="30"/>
                    </a:cubicBezTo>
                    <a:cubicBezTo>
                      <a:pt x="28" y="30"/>
                      <a:pt x="35" y="26"/>
                      <a:pt x="42" y="18"/>
                    </a:cubicBezTo>
                    <a:cubicBezTo>
                      <a:pt x="49" y="22"/>
                      <a:pt x="58" y="26"/>
                      <a:pt x="66" y="22"/>
                    </a:cubicBezTo>
                    <a:cubicBezTo>
                      <a:pt x="71" y="18"/>
                      <a:pt x="74" y="11"/>
                      <a:pt x="74" y="0"/>
                    </a:cubicBezTo>
                    <a:lnTo>
                      <a:pt x="66"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71" name="Freeform 1946">
                <a:extLst>
                  <a:ext uri="{FF2B5EF4-FFF2-40B4-BE49-F238E27FC236}">
                    <a16:creationId xmlns:a16="http://schemas.microsoft.com/office/drawing/2014/main" id="{F3E98D2D-DDA2-269B-1C2D-F7259C08F1D9}"/>
                  </a:ext>
                </a:extLst>
              </p:cNvPr>
              <p:cNvSpPr>
                <a:spLocks/>
              </p:cNvSpPr>
              <p:nvPr/>
            </p:nvSpPr>
            <p:spPr bwMode="auto">
              <a:xfrm>
                <a:off x="3170" y="4044"/>
                <a:ext cx="18" cy="6"/>
              </a:xfrm>
              <a:custGeom>
                <a:avLst/>
                <a:gdLst>
                  <a:gd name="T0" fmla="*/ 73 w 82"/>
                  <a:gd name="T1" fmla="*/ 0 h 30"/>
                  <a:gd name="T2" fmla="*/ 70 w 82"/>
                  <a:gd name="T3" fmla="*/ 9 h 30"/>
                  <a:gd name="T4" fmla="*/ 57 w 82"/>
                  <a:gd name="T5" fmla="*/ 5 h 30"/>
                  <a:gd name="T6" fmla="*/ 51 w 82"/>
                  <a:gd name="T7" fmla="*/ 1 h 30"/>
                  <a:gd name="T8" fmla="*/ 51 w 82"/>
                  <a:gd name="T9" fmla="*/ 8 h 30"/>
                  <a:gd name="T10" fmla="*/ 46 w 82"/>
                  <a:gd name="T11" fmla="*/ 18 h 30"/>
                  <a:gd name="T12" fmla="*/ 31 w 82"/>
                  <a:gd name="T13" fmla="*/ 11 h 30"/>
                  <a:gd name="T14" fmla="*/ 28 w 82"/>
                  <a:gd name="T15" fmla="*/ 7 h 30"/>
                  <a:gd name="T16" fmla="*/ 25 w 82"/>
                  <a:gd name="T17" fmla="*/ 11 h 30"/>
                  <a:gd name="T18" fmla="*/ 13 w 82"/>
                  <a:gd name="T19" fmla="*/ 20 h 30"/>
                  <a:gd name="T20" fmla="*/ 9 w 82"/>
                  <a:gd name="T21" fmla="*/ 7 h 30"/>
                  <a:gd name="T22" fmla="*/ 0 w 82"/>
                  <a:gd name="T23" fmla="*/ 7 h 30"/>
                  <a:gd name="T24" fmla="*/ 9 w 82"/>
                  <a:gd name="T25" fmla="*/ 28 h 30"/>
                  <a:gd name="T26" fmla="*/ 28 w 82"/>
                  <a:gd name="T27" fmla="*/ 19 h 30"/>
                  <a:gd name="T28" fmla="*/ 48 w 82"/>
                  <a:gd name="T29" fmla="*/ 26 h 30"/>
                  <a:gd name="T30" fmla="*/ 58 w 82"/>
                  <a:gd name="T31" fmla="*/ 15 h 30"/>
                  <a:gd name="T32" fmla="*/ 74 w 82"/>
                  <a:gd name="T33" fmla="*/ 17 h 30"/>
                  <a:gd name="T34" fmla="*/ 82 w 82"/>
                  <a:gd name="T35" fmla="*/ 0 h 30"/>
                  <a:gd name="T36" fmla="*/ 73 w 82"/>
                  <a:gd name="T3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2" h="30">
                    <a:moveTo>
                      <a:pt x="73" y="0"/>
                    </a:moveTo>
                    <a:cubicBezTo>
                      <a:pt x="73" y="5"/>
                      <a:pt x="72" y="8"/>
                      <a:pt x="70" y="9"/>
                    </a:cubicBezTo>
                    <a:cubicBezTo>
                      <a:pt x="68" y="10"/>
                      <a:pt x="62" y="9"/>
                      <a:pt x="57" y="5"/>
                    </a:cubicBezTo>
                    <a:cubicBezTo>
                      <a:pt x="51" y="1"/>
                      <a:pt x="51" y="1"/>
                      <a:pt x="51" y="1"/>
                    </a:cubicBezTo>
                    <a:cubicBezTo>
                      <a:pt x="51" y="8"/>
                      <a:pt x="51" y="8"/>
                      <a:pt x="51" y="8"/>
                    </a:cubicBezTo>
                    <a:cubicBezTo>
                      <a:pt x="50" y="12"/>
                      <a:pt x="49" y="17"/>
                      <a:pt x="46" y="18"/>
                    </a:cubicBezTo>
                    <a:cubicBezTo>
                      <a:pt x="42" y="19"/>
                      <a:pt x="35" y="16"/>
                      <a:pt x="31" y="11"/>
                    </a:cubicBezTo>
                    <a:cubicBezTo>
                      <a:pt x="28" y="7"/>
                      <a:pt x="28" y="7"/>
                      <a:pt x="28" y="7"/>
                    </a:cubicBezTo>
                    <a:cubicBezTo>
                      <a:pt x="25" y="11"/>
                      <a:pt x="25" y="11"/>
                      <a:pt x="25" y="11"/>
                    </a:cubicBezTo>
                    <a:cubicBezTo>
                      <a:pt x="16" y="21"/>
                      <a:pt x="13" y="20"/>
                      <a:pt x="13" y="20"/>
                    </a:cubicBezTo>
                    <a:cubicBezTo>
                      <a:pt x="10" y="19"/>
                      <a:pt x="9" y="12"/>
                      <a:pt x="9" y="7"/>
                    </a:cubicBezTo>
                    <a:cubicBezTo>
                      <a:pt x="0" y="7"/>
                      <a:pt x="0" y="7"/>
                      <a:pt x="0" y="7"/>
                    </a:cubicBezTo>
                    <a:cubicBezTo>
                      <a:pt x="0" y="10"/>
                      <a:pt x="1" y="25"/>
                      <a:pt x="9" y="28"/>
                    </a:cubicBezTo>
                    <a:cubicBezTo>
                      <a:pt x="15" y="30"/>
                      <a:pt x="21" y="27"/>
                      <a:pt x="28" y="19"/>
                    </a:cubicBezTo>
                    <a:cubicBezTo>
                      <a:pt x="34" y="24"/>
                      <a:pt x="41" y="28"/>
                      <a:pt x="48" y="26"/>
                    </a:cubicBezTo>
                    <a:cubicBezTo>
                      <a:pt x="52" y="25"/>
                      <a:pt x="56" y="22"/>
                      <a:pt x="58" y="15"/>
                    </a:cubicBezTo>
                    <a:cubicBezTo>
                      <a:pt x="64" y="18"/>
                      <a:pt x="70" y="19"/>
                      <a:pt x="74" y="17"/>
                    </a:cubicBezTo>
                    <a:cubicBezTo>
                      <a:pt x="79" y="14"/>
                      <a:pt x="82" y="9"/>
                      <a:pt x="82" y="0"/>
                    </a:cubicBezTo>
                    <a:lnTo>
                      <a:pt x="73"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72" name="Freeform 1947">
                <a:extLst>
                  <a:ext uri="{FF2B5EF4-FFF2-40B4-BE49-F238E27FC236}">
                    <a16:creationId xmlns:a16="http://schemas.microsoft.com/office/drawing/2014/main" id="{4268A9C0-AF24-91E6-BBF6-3F75A2735CB2}"/>
                  </a:ext>
                </a:extLst>
              </p:cNvPr>
              <p:cNvSpPr>
                <a:spLocks/>
              </p:cNvSpPr>
              <p:nvPr/>
            </p:nvSpPr>
            <p:spPr bwMode="auto">
              <a:xfrm>
                <a:off x="3147" y="4032"/>
                <a:ext cx="18" cy="6"/>
              </a:xfrm>
              <a:custGeom>
                <a:avLst/>
                <a:gdLst>
                  <a:gd name="T0" fmla="*/ 72 w 81"/>
                  <a:gd name="T1" fmla="*/ 0 h 30"/>
                  <a:gd name="T2" fmla="*/ 69 w 81"/>
                  <a:gd name="T3" fmla="*/ 9 h 30"/>
                  <a:gd name="T4" fmla="*/ 57 w 81"/>
                  <a:gd name="T5" fmla="*/ 5 h 30"/>
                  <a:gd name="T6" fmla="*/ 50 w 81"/>
                  <a:gd name="T7" fmla="*/ 1 h 30"/>
                  <a:gd name="T8" fmla="*/ 50 w 81"/>
                  <a:gd name="T9" fmla="*/ 8 h 30"/>
                  <a:gd name="T10" fmla="*/ 45 w 81"/>
                  <a:gd name="T11" fmla="*/ 18 h 30"/>
                  <a:gd name="T12" fmla="*/ 31 w 81"/>
                  <a:gd name="T13" fmla="*/ 11 h 30"/>
                  <a:gd name="T14" fmla="*/ 27 w 81"/>
                  <a:gd name="T15" fmla="*/ 7 h 30"/>
                  <a:gd name="T16" fmla="*/ 24 w 81"/>
                  <a:gd name="T17" fmla="*/ 11 h 30"/>
                  <a:gd name="T18" fmla="*/ 12 w 81"/>
                  <a:gd name="T19" fmla="*/ 20 h 30"/>
                  <a:gd name="T20" fmla="*/ 8 w 81"/>
                  <a:gd name="T21" fmla="*/ 7 h 30"/>
                  <a:gd name="T22" fmla="*/ 0 w 81"/>
                  <a:gd name="T23" fmla="*/ 7 h 30"/>
                  <a:gd name="T24" fmla="*/ 9 w 81"/>
                  <a:gd name="T25" fmla="*/ 28 h 30"/>
                  <a:gd name="T26" fmla="*/ 27 w 81"/>
                  <a:gd name="T27" fmla="*/ 20 h 30"/>
                  <a:gd name="T28" fmla="*/ 47 w 81"/>
                  <a:gd name="T29" fmla="*/ 26 h 30"/>
                  <a:gd name="T30" fmla="*/ 57 w 81"/>
                  <a:gd name="T31" fmla="*/ 15 h 30"/>
                  <a:gd name="T32" fmla="*/ 73 w 81"/>
                  <a:gd name="T33" fmla="*/ 17 h 30"/>
                  <a:gd name="T34" fmla="*/ 81 w 81"/>
                  <a:gd name="T35" fmla="*/ 0 h 30"/>
                  <a:gd name="T36" fmla="*/ 72 w 81"/>
                  <a:gd name="T37" fmla="*/ 0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1" h="30">
                    <a:moveTo>
                      <a:pt x="72" y="0"/>
                    </a:moveTo>
                    <a:cubicBezTo>
                      <a:pt x="72" y="5"/>
                      <a:pt x="71" y="8"/>
                      <a:pt x="69" y="9"/>
                    </a:cubicBezTo>
                    <a:cubicBezTo>
                      <a:pt x="67" y="11"/>
                      <a:pt x="62" y="9"/>
                      <a:pt x="57" y="5"/>
                    </a:cubicBezTo>
                    <a:cubicBezTo>
                      <a:pt x="50" y="1"/>
                      <a:pt x="50" y="1"/>
                      <a:pt x="50" y="1"/>
                    </a:cubicBezTo>
                    <a:cubicBezTo>
                      <a:pt x="50" y="8"/>
                      <a:pt x="50" y="8"/>
                      <a:pt x="50" y="8"/>
                    </a:cubicBezTo>
                    <a:cubicBezTo>
                      <a:pt x="49" y="12"/>
                      <a:pt x="48" y="17"/>
                      <a:pt x="45" y="18"/>
                    </a:cubicBezTo>
                    <a:cubicBezTo>
                      <a:pt x="41" y="19"/>
                      <a:pt x="34" y="16"/>
                      <a:pt x="31" y="11"/>
                    </a:cubicBezTo>
                    <a:cubicBezTo>
                      <a:pt x="27" y="7"/>
                      <a:pt x="27" y="7"/>
                      <a:pt x="27" y="7"/>
                    </a:cubicBezTo>
                    <a:cubicBezTo>
                      <a:pt x="24" y="11"/>
                      <a:pt x="24" y="11"/>
                      <a:pt x="24" y="11"/>
                    </a:cubicBezTo>
                    <a:cubicBezTo>
                      <a:pt x="15" y="21"/>
                      <a:pt x="12" y="20"/>
                      <a:pt x="12" y="20"/>
                    </a:cubicBezTo>
                    <a:cubicBezTo>
                      <a:pt x="10" y="19"/>
                      <a:pt x="8" y="12"/>
                      <a:pt x="8" y="7"/>
                    </a:cubicBezTo>
                    <a:cubicBezTo>
                      <a:pt x="0" y="7"/>
                      <a:pt x="0" y="7"/>
                      <a:pt x="0" y="7"/>
                    </a:cubicBezTo>
                    <a:cubicBezTo>
                      <a:pt x="0" y="10"/>
                      <a:pt x="0" y="25"/>
                      <a:pt x="9" y="28"/>
                    </a:cubicBezTo>
                    <a:cubicBezTo>
                      <a:pt x="14" y="30"/>
                      <a:pt x="20" y="27"/>
                      <a:pt x="27" y="20"/>
                    </a:cubicBezTo>
                    <a:cubicBezTo>
                      <a:pt x="33" y="25"/>
                      <a:pt x="41" y="28"/>
                      <a:pt x="47" y="26"/>
                    </a:cubicBezTo>
                    <a:cubicBezTo>
                      <a:pt x="51" y="25"/>
                      <a:pt x="55" y="22"/>
                      <a:pt x="57" y="15"/>
                    </a:cubicBezTo>
                    <a:cubicBezTo>
                      <a:pt x="63" y="18"/>
                      <a:pt x="69" y="19"/>
                      <a:pt x="73" y="17"/>
                    </a:cubicBezTo>
                    <a:cubicBezTo>
                      <a:pt x="78" y="14"/>
                      <a:pt x="81" y="9"/>
                      <a:pt x="81" y="0"/>
                    </a:cubicBezTo>
                    <a:lnTo>
                      <a:pt x="72"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73" name="Freeform 1948">
                <a:extLst>
                  <a:ext uri="{FF2B5EF4-FFF2-40B4-BE49-F238E27FC236}">
                    <a16:creationId xmlns:a16="http://schemas.microsoft.com/office/drawing/2014/main" id="{7D4FBA6D-6006-0FA9-6A19-2392F56FD8C6}"/>
                  </a:ext>
                </a:extLst>
              </p:cNvPr>
              <p:cNvSpPr>
                <a:spLocks/>
              </p:cNvSpPr>
              <p:nvPr/>
            </p:nvSpPr>
            <p:spPr bwMode="auto">
              <a:xfrm>
                <a:off x="3224" y="4025"/>
                <a:ext cx="13" cy="7"/>
              </a:xfrm>
              <a:custGeom>
                <a:avLst/>
                <a:gdLst>
                  <a:gd name="T0" fmla="*/ 0 w 59"/>
                  <a:gd name="T1" fmla="*/ 16 h 28"/>
                  <a:gd name="T2" fmla="*/ 8 w 59"/>
                  <a:gd name="T3" fmla="*/ 20 h 28"/>
                  <a:gd name="T4" fmla="*/ 19 w 59"/>
                  <a:gd name="T5" fmla="*/ 9 h 28"/>
                  <a:gd name="T6" fmla="*/ 27 w 59"/>
                  <a:gd name="T7" fmla="*/ 21 h 28"/>
                  <a:gd name="T8" fmla="*/ 29 w 59"/>
                  <a:gd name="T9" fmla="*/ 28 h 28"/>
                  <a:gd name="T10" fmla="*/ 34 w 59"/>
                  <a:gd name="T11" fmla="*/ 22 h 28"/>
                  <a:gd name="T12" fmla="*/ 45 w 59"/>
                  <a:gd name="T13" fmla="*/ 16 h 28"/>
                  <a:gd name="T14" fmla="*/ 51 w 59"/>
                  <a:gd name="T15" fmla="*/ 27 h 28"/>
                  <a:gd name="T16" fmla="*/ 59 w 59"/>
                  <a:gd name="T17" fmla="*/ 25 h 28"/>
                  <a:gd name="T18" fmla="*/ 47 w 59"/>
                  <a:gd name="T19" fmla="*/ 8 h 28"/>
                  <a:gd name="T20" fmla="*/ 32 w 59"/>
                  <a:gd name="T21" fmla="*/ 12 h 28"/>
                  <a:gd name="T22" fmla="*/ 20 w 59"/>
                  <a:gd name="T23" fmla="*/ 1 h 28"/>
                  <a:gd name="T24" fmla="*/ 0 w 59"/>
                  <a:gd name="T25" fmla="*/ 16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9" h="28">
                    <a:moveTo>
                      <a:pt x="0" y="16"/>
                    </a:moveTo>
                    <a:cubicBezTo>
                      <a:pt x="8" y="20"/>
                      <a:pt x="8" y="20"/>
                      <a:pt x="8" y="20"/>
                    </a:cubicBezTo>
                    <a:cubicBezTo>
                      <a:pt x="10" y="16"/>
                      <a:pt x="16" y="9"/>
                      <a:pt x="19" y="9"/>
                    </a:cubicBezTo>
                    <a:cubicBezTo>
                      <a:pt x="22" y="10"/>
                      <a:pt x="25" y="14"/>
                      <a:pt x="27" y="21"/>
                    </a:cubicBezTo>
                    <a:cubicBezTo>
                      <a:pt x="29" y="28"/>
                      <a:pt x="29" y="28"/>
                      <a:pt x="29" y="28"/>
                    </a:cubicBezTo>
                    <a:cubicBezTo>
                      <a:pt x="34" y="22"/>
                      <a:pt x="34" y="22"/>
                      <a:pt x="34" y="22"/>
                    </a:cubicBezTo>
                    <a:cubicBezTo>
                      <a:pt x="38" y="18"/>
                      <a:pt x="42" y="16"/>
                      <a:pt x="45" y="16"/>
                    </a:cubicBezTo>
                    <a:cubicBezTo>
                      <a:pt x="47" y="17"/>
                      <a:pt x="50" y="21"/>
                      <a:pt x="51" y="27"/>
                    </a:cubicBezTo>
                    <a:cubicBezTo>
                      <a:pt x="59" y="25"/>
                      <a:pt x="59" y="25"/>
                      <a:pt x="59" y="25"/>
                    </a:cubicBezTo>
                    <a:cubicBezTo>
                      <a:pt x="57" y="15"/>
                      <a:pt x="53" y="9"/>
                      <a:pt x="47" y="8"/>
                    </a:cubicBezTo>
                    <a:cubicBezTo>
                      <a:pt x="41" y="6"/>
                      <a:pt x="36" y="9"/>
                      <a:pt x="32" y="12"/>
                    </a:cubicBezTo>
                    <a:cubicBezTo>
                      <a:pt x="29" y="6"/>
                      <a:pt x="25" y="1"/>
                      <a:pt x="20" y="1"/>
                    </a:cubicBezTo>
                    <a:cubicBezTo>
                      <a:pt x="9" y="0"/>
                      <a:pt x="1" y="14"/>
                      <a:pt x="0"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74" name="Freeform 1949">
                <a:extLst>
                  <a:ext uri="{FF2B5EF4-FFF2-40B4-BE49-F238E27FC236}">
                    <a16:creationId xmlns:a16="http://schemas.microsoft.com/office/drawing/2014/main" id="{FEB040F1-655D-45EE-05D9-0483714ED319}"/>
                  </a:ext>
                </a:extLst>
              </p:cNvPr>
              <p:cNvSpPr>
                <a:spLocks/>
              </p:cNvSpPr>
              <p:nvPr/>
            </p:nvSpPr>
            <p:spPr bwMode="auto">
              <a:xfrm>
                <a:off x="3265" y="4165"/>
                <a:ext cx="11" cy="7"/>
              </a:xfrm>
              <a:custGeom>
                <a:avLst/>
                <a:gdLst>
                  <a:gd name="T0" fmla="*/ 36 w 50"/>
                  <a:gd name="T1" fmla="*/ 0 h 31"/>
                  <a:gd name="T2" fmla="*/ 23 w 50"/>
                  <a:gd name="T3" fmla="*/ 9 h 31"/>
                  <a:gd name="T4" fmla="*/ 8 w 50"/>
                  <a:gd name="T5" fmla="*/ 8 h 31"/>
                  <a:gd name="T6" fmla="*/ 2 w 50"/>
                  <a:gd name="T7" fmla="*/ 31 h 31"/>
                  <a:gd name="T8" fmla="*/ 10 w 50"/>
                  <a:gd name="T9" fmla="*/ 30 h 31"/>
                  <a:gd name="T10" fmla="*/ 13 w 50"/>
                  <a:gd name="T11" fmla="*/ 16 h 31"/>
                  <a:gd name="T12" fmla="*/ 22 w 50"/>
                  <a:gd name="T13" fmla="*/ 18 h 31"/>
                  <a:gd name="T14" fmla="*/ 27 w 50"/>
                  <a:gd name="T15" fmla="*/ 21 h 31"/>
                  <a:gd name="T16" fmla="*/ 29 w 50"/>
                  <a:gd name="T17" fmla="*/ 16 h 31"/>
                  <a:gd name="T18" fmla="*/ 36 w 50"/>
                  <a:gd name="T19" fmla="*/ 9 h 31"/>
                  <a:gd name="T20" fmla="*/ 43 w 50"/>
                  <a:gd name="T21" fmla="*/ 15 h 31"/>
                  <a:gd name="T22" fmla="*/ 50 w 50"/>
                  <a:gd name="T23" fmla="*/ 11 h 31"/>
                  <a:gd name="T24" fmla="*/ 36 w 50"/>
                  <a:gd name="T25" fmla="*/ 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0" h="31">
                    <a:moveTo>
                      <a:pt x="36" y="0"/>
                    </a:moveTo>
                    <a:cubicBezTo>
                      <a:pt x="30" y="1"/>
                      <a:pt x="26" y="5"/>
                      <a:pt x="23" y="9"/>
                    </a:cubicBezTo>
                    <a:cubicBezTo>
                      <a:pt x="17" y="6"/>
                      <a:pt x="12" y="6"/>
                      <a:pt x="8" y="8"/>
                    </a:cubicBezTo>
                    <a:cubicBezTo>
                      <a:pt x="0" y="14"/>
                      <a:pt x="2" y="29"/>
                      <a:pt x="2" y="31"/>
                    </a:cubicBezTo>
                    <a:cubicBezTo>
                      <a:pt x="10" y="30"/>
                      <a:pt x="10" y="30"/>
                      <a:pt x="10" y="30"/>
                    </a:cubicBezTo>
                    <a:cubicBezTo>
                      <a:pt x="10" y="25"/>
                      <a:pt x="11" y="17"/>
                      <a:pt x="13" y="16"/>
                    </a:cubicBezTo>
                    <a:cubicBezTo>
                      <a:pt x="15" y="15"/>
                      <a:pt x="18" y="16"/>
                      <a:pt x="22" y="18"/>
                    </a:cubicBezTo>
                    <a:cubicBezTo>
                      <a:pt x="27" y="21"/>
                      <a:pt x="27" y="21"/>
                      <a:pt x="27" y="21"/>
                    </a:cubicBezTo>
                    <a:cubicBezTo>
                      <a:pt x="29" y="16"/>
                      <a:pt x="29" y="16"/>
                      <a:pt x="29" y="16"/>
                    </a:cubicBezTo>
                    <a:cubicBezTo>
                      <a:pt x="29" y="14"/>
                      <a:pt x="33" y="9"/>
                      <a:pt x="36" y="9"/>
                    </a:cubicBezTo>
                    <a:cubicBezTo>
                      <a:pt x="39" y="9"/>
                      <a:pt x="41" y="13"/>
                      <a:pt x="43" y="15"/>
                    </a:cubicBezTo>
                    <a:cubicBezTo>
                      <a:pt x="50" y="11"/>
                      <a:pt x="50" y="11"/>
                      <a:pt x="50" y="11"/>
                    </a:cubicBezTo>
                    <a:cubicBezTo>
                      <a:pt x="46" y="2"/>
                      <a:pt x="40" y="0"/>
                      <a:pt x="3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75" name="Freeform 1950">
                <a:extLst>
                  <a:ext uri="{FF2B5EF4-FFF2-40B4-BE49-F238E27FC236}">
                    <a16:creationId xmlns:a16="http://schemas.microsoft.com/office/drawing/2014/main" id="{E9E84D40-7709-43F1-F1BE-E35EDC4CEDE1}"/>
                  </a:ext>
                </a:extLst>
              </p:cNvPr>
              <p:cNvSpPr>
                <a:spLocks/>
              </p:cNvSpPr>
              <p:nvPr/>
            </p:nvSpPr>
            <p:spPr bwMode="auto">
              <a:xfrm>
                <a:off x="3272" y="4180"/>
                <a:ext cx="11" cy="6"/>
              </a:xfrm>
              <a:custGeom>
                <a:avLst/>
                <a:gdLst>
                  <a:gd name="T0" fmla="*/ 41 w 51"/>
                  <a:gd name="T1" fmla="*/ 1 h 28"/>
                  <a:gd name="T2" fmla="*/ 38 w 51"/>
                  <a:gd name="T3" fmla="*/ 10 h 28"/>
                  <a:gd name="T4" fmla="*/ 29 w 51"/>
                  <a:gd name="T5" fmla="*/ 10 h 28"/>
                  <a:gd name="T6" fmla="*/ 24 w 51"/>
                  <a:gd name="T7" fmla="*/ 6 h 28"/>
                  <a:gd name="T8" fmla="*/ 22 w 51"/>
                  <a:gd name="T9" fmla="*/ 11 h 28"/>
                  <a:gd name="T10" fmla="*/ 15 w 51"/>
                  <a:gd name="T11" fmla="*/ 19 h 28"/>
                  <a:gd name="T12" fmla="*/ 9 w 51"/>
                  <a:gd name="T13" fmla="*/ 9 h 28"/>
                  <a:gd name="T14" fmla="*/ 0 w 51"/>
                  <a:gd name="T15" fmla="*/ 12 h 28"/>
                  <a:gd name="T16" fmla="*/ 15 w 51"/>
                  <a:gd name="T17" fmla="*/ 27 h 28"/>
                  <a:gd name="T18" fmla="*/ 27 w 51"/>
                  <a:gd name="T19" fmla="*/ 19 h 28"/>
                  <a:gd name="T20" fmla="*/ 42 w 51"/>
                  <a:gd name="T21" fmla="*/ 18 h 28"/>
                  <a:gd name="T22" fmla="*/ 50 w 51"/>
                  <a:gd name="T23" fmla="*/ 0 h 28"/>
                  <a:gd name="T24" fmla="*/ 41 w 51"/>
                  <a:gd name="T25" fmla="*/ 1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51" h="28">
                    <a:moveTo>
                      <a:pt x="41" y="1"/>
                    </a:moveTo>
                    <a:cubicBezTo>
                      <a:pt x="42" y="6"/>
                      <a:pt x="41" y="9"/>
                      <a:pt x="38" y="10"/>
                    </a:cubicBezTo>
                    <a:cubicBezTo>
                      <a:pt x="35" y="12"/>
                      <a:pt x="30" y="11"/>
                      <a:pt x="29" y="10"/>
                    </a:cubicBezTo>
                    <a:cubicBezTo>
                      <a:pt x="24" y="6"/>
                      <a:pt x="24" y="6"/>
                      <a:pt x="24" y="6"/>
                    </a:cubicBezTo>
                    <a:cubicBezTo>
                      <a:pt x="22" y="11"/>
                      <a:pt x="22" y="11"/>
                      <a:pt x="22" y="11"/>
                    </a:cubicBezTo>
                    <a:cubicBezTo>
                      <a:pt x="19" y="17"/>
                      <a:pt x="16" y="19"/>
                      <a:pt x="15" y="19"/>
                    </a:cubicBezTo>
                    <a:cubicBezTo>
                      <a:pt x="13" y="19"/>
                      <a:pt x="10" y="14"/>
                      <a:pt x="9" y="9"/>
                    </a:cubicBezTo>
                    <a:cubicBezTo>
                      <a:pt x="0" y="12"/>
                      <a:pt x="0" y="12"/>
                      <a:pt x="0" y="12"/>
                    </a:cubicBezTo>
                    <a:cubicBezTo>
                      <a:pt x="1" y="15"/>
                      <a:pt x="6" y="27"/>
                      <a:pt x="15" y="27"/>
                    </a:cubicBezTo>
                    <a:cubicBezTo>
                      <a:pt x="21" y="28"/>
                      <a:pt x="25" y="23"/>
                      <a:pt x="27" y="19"/>
                    </a:cubicBezTo>
                    <a:cubicBezTo>
                      <a:pt x="32" y="20"/>
                      <a:pt x="38" y="21"/>
                      <a:pt x="42" y="18"/>
                    </a:cubicBezTo>
                    <a:cubicBezTo>
                      <a:pt x="46" y="16"/>
                      <a:pt x="51" y="12"/>
                      <a:pt x="50" y="0"/>
                    </a:cubicBezTo>
                    <a:lnTo>
                      <a:pt x="41" y="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76" name="Freeform 1951">
                <a:extLst>
                  <a:ext uri="{FF2B5EF4-FFF2-40B4-BE49-F238E27FC236}">
                    <a16:creationId xmlns:a16="http://schemas.microsoft.com/office/drawing/2014/main" id="{F05F58F6-1254-8C90-8329-CE4D546B7296}"/>
                  </a:ext>
                </a:extLst>
              </p:cNvPr>
              <p:cNvSpPr>
                <a:spLocks/>
              </p:cNvSpPr>
              <p:nvPr/>
            </p:nvSpPr>
            <p:spPr bwMode="auto">
              <a:xfrm>
                <a:off x="3231" y="3906"/>
                <a:ext cx="12" cy="13"/>
              </a:xfrm>
              <a:custGeom>
                <a:avLst/>
                <a:gdLst>
                  <a:gd name="T0" fmla="*/ 32 w 57"/>
                  <a:gd name="T1" fmla="*/ 4 h 59"/>
                  <a:gd name="T2" fmla="*/ 25 w 57"/>
                  <a:gd name="T3" fmla="*/ 22 h 59"/>
                  <a:gd name="T4" fmla="*/ 25 w 57"/>
                  <a:gd name="T5" fmla="*/ 26 h 59"/>
                  <a:gd name="T6" fmla="*/ 7 w 57"/>
                  <a:gd name="T7" fmla="*/ 31 h 59"/>
                  <a:gd name="T8" fmla="*/ 12 w 57"/>
                  <a:gd name="T9" fmla="*/ 59 h 59"/>
                  <a:gd name="T10" fmla="*/ 19 w 57"/>
                  <a:gd name="T11" fmla="*/ 54 h 59"/>
                  <a:gd name="T12" fmla="*/ 14 w 57"/>
                  <a:gd name="T13" fmla="*/ 36 h 59"/>
                  <a:gd name="T14" fmla="*/ 29 w 57"/>
                  <a:gd name="T15" fmla="*/ 35 h 59"/>
                  <a:gd name="T16" fmla="*/ 35 w 57"/>
                  <a:gd name="T17" fmla="*/ 36 h 59"/>
                  <a:gd name="T18" fmla="*/ 34 w 57"/>
                  <a:gd name="T19" fmla="*/ 30 h 59"/>
                  <a:gd name="T20" fmla="*/ 37 w 57"/>
                  <a:gd name="T21" fmla="*/ 11 h 59"/>
                  <a:gd name="T22" fmla="*/ 52 w 57"/>
                  <a:gd name="T23" fmla="*/ 16 h 59"/>
                  <a:gd name="T24" fmla="*/ 57 w 57"/>
                  <a:gd name="T25" fmla="*/ 9 h 59"/>
                  <a:gd name="T26" fmla="*/ 32 w 57"/>
                  <a:gd name="T27" fmla="*/ 4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7" h="59">
                    <a:moveTo>
                      <a:pt x="32" y="4"/>
                    </a:moveTo>
                    <a:cubicBezTo>
                      <a:pt x="27" y="7"/>
                      <a:pt x="25" y="13"/>
                      <a:pt x="25" y="22"/>
                    </a:cubicBezTo>
                    <a:cubicBezTo>
                      <a:pt x="25" y="23"/>
                      <a:pt x="25" y="24"/>
                      <a:pt x="25" y="26"/>
                    </a:cubicBezTo>
                    <a:cubicBezTo>
                      <a:pt x="16" y="25"/>
                      <a:pt x="10" y="26"/>
                      <a:pt x="7" y="31"/>
                    </a:cubicBezTo>
                    <a:cubicBezTo>
                      <a:pt x="0" y="40"/>
                      <a:pt x="10" y="56"/>
                      <a:pt x="12" y="59"/>
                    </a:cubicBezTo>
                    <a:cubicBezTo>
                      <a:pt x="19" y="54"/>
                      <a:pt x="19" y="54"/>
                      <a:pt x="19" y="54"/>
                    </a:cubicBezTo>
                    <a:cubicBezTo>
                      <a:pt x="16" y="49"/>
                      <a:pt x="12" y="39"/>
                      <a:pt x="14" y="36"/>
                    </a:cubicBezTo>
                    <a:cubicBezTo>
                      <a:pt x="16" y="33"/>
                      <a:pt x="21" y="33"/>
                      <a:pt x="29" y="35"/>
                    </a:cubicBezTo>
                    <a:cubicBezTo>
                      <a:pt x="35" y="36"/>
                      <a:pt x="35" y="36"/>
                      <a:pt x="35" y="36"/>
                    </a:cubicBezTo>
                    <a:cubicBezTo>
                      <a:pt x="34" y="30"/>
                      <a:pt x="34" y="30"/>
                      <a:pt x="34" y="30"/>
                    </a:cubicBezTo>
                    <a:cubicBezTo>
                      <a:pt x="32" y="19"/>
                      <a:pt x="34" y="13"/>
                      <a:pt x="37" y="11"/>
                    </a:cubicBezTo>
                    <a:cubicBezTo>
                      <a:pt x="40" y="9"/>
                      <a:pt x="46" y="11"/>
                      <a:pt x="52" y="16"/>
                    </a:cubicBezTo>
                    <a:cubicBezTo>
                      <a:pt x="57" y="9"/>
                      <a:pt x="57" y="9"/>
                      <a:pt x="57" y="9"/>
                    </a:cubicBezTo>
                    <a:cubicBezTo>
                      <a:pt x="45" y="0"/>
                      <a:pt x="37"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77" name="Freeform 1952">
                <a:extLst>
                  <a:ext uri="{FF2B5EF4-FFF2-40B4-BE49-F238E27FC236}">
                    <a16:creationId xmlns:a16="http://schemas.microsoft.com/office/drawing/2014/main" id="{B49ABC81-063E-D914-CDA5-322771E707F5}"/>
                  </a:ext>
                </a:extLst>
              </p:cNvPr>
              <p:cNvSpPr>
                <a:spLocks/>
              </p:cNvSpPr>
              <p:nvPr/>
            </p:nvSpPr>
            <p:spPr bwMode="auto">
              <a:xfrm>
                <a:off x="3245" y="3913"/>
                <a:ext cx="16" cy="8"/>
              </a:xfrm>
              <a:custGeom>
                <a:avLst/>
                <a:gdLst>
                  <a:gd name="T0" fmla="*/ 48 w 69"/>
                  <a:gd name="T1" fmla="*/ 1 h 37"/>
                  <a:gd name="T2" fmla="*/ 33 w 69"/>
                  <a:gd name="T3" fmla="*/ 13 h 37"/>
                  <a:gd name="T4" fmla="*/ 19 w 69"/>
                  <a:gd name="T5" fmla="*/ 3 h 37"/>
                  <a:gd name="T6" fmla="*/ 0 w 69"/>
                  <a:gd name="T7" fmla="*/ 26 h 37"/>
                  <a:gd name="T8" fmla="*/ 8 w 69"/>
                  <a:gd name="T9" fmla="*/ 29 h 37"/>
                  <a:gd name="T10" fmla="*/ 19 w 69"/>
                  <a:gd name="T11" fmla="*/ 11 h 37"/>
                  <a:gd name="T12" fmla="*/ 30 w 69"/>
                  <a:gd name="T13" fmla="*/ 25 h 37"/>
                  <a:gd name="T14" fmla="*/ 35 w 69"/>
                  <a:gd name="T15" fmla="*/ 37 h 37"/>
                  <a:gd name="T16" fmla="*/ 38 w 69"/>
                  <a:gd name="T17" fmla="*/ 24 h 37"/>
                  <a:gd name="T18" fmla="*/ 48 w 69"/>
                  <a:gd name="T19" fmla="*/ 9 h 37"/>
                  <a:gd name="T20" fmla="*/ 61 w 69"/>
                  <a:gd name="T21" fmla="*/ 22 h 37"/>
                  <a:gd name="T22" fmla="*/ 69 w 69"/>
                  <a:gd name="T23" fmla="*/ 19 h 37"/>
                  <a:gd name="T24" fmla="*/ 48 w 69"/>
                  <a:gd name="T25" fmla="*/ 1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37">
                    <a:moveTo>
                      <a:pt x="48" y="1"/>
                    </a:moveTo>
                    <a:cubicBezTo>
                      <a:pt x="42" y="1"/>
                      <a:pt x="37" y="5"/>
                      <a:pt x="33" y="13"/>
                    </a:cubicBezTo>
                    <a:cubicBezTo>
                      <a:pt x="29" y="6"/>
                      <a:pt x="24" y="2"/>
                      <a:pt x="19" y="3"/>
                    </a:cubicBezTo>
                    <a:cubicBezTo>
                      <a:pt x="7" y="3"/>
                      <a:pt x="1" y="22"/>
                      <a:pt x="0" y="26"/>
                    </a:cubicBezTo>
                    <a:cubicBezTo>
                      <a:pt x="8" y="29"/>
                      <a:pt x="8" y="29"/>
                      <a:pt x="8" y="29"/>
                    </a:cubicBezTo>
                    <a:cubicBezTo>
                      <a:pt x="10" y="21"/>
                      <a:pt x="15" y="12"/>
                      <a:pt x="19" y="11"/>
                    </a:cubicBezTo>
                    <a:cubicBezTo>
                      <a:pt x="21" y="11"/>
                      <a:pt x="25" y="15"/>
                      <a:pt x="30" y="25"/>
                    </a:cubicBezTo>
                    <a:cubicBezTo>
                      <a:pt x="35" y="37"/>
                      <a:pt x="35" y="37"/>
                      <a:pt x="35" y="37"/>
                    </a:cubicBezTo>
                    <a:cubicBezTo>
                      <a:pt x="38" y="24"/>
                      <a:pt x="38" y="24"/>
                      <a:pt x="38" y="24"/>
                    </a:cubicBezTo>
                    <a:cubicBezTo>
                      <a:pt x="40" y="15"/>
                      <a:pt x="44" y="10"/>
                      <a:pt x="48" y="9"/>
                    </a:cubicBezTo>
                    <a:cubicBezTo>
                      <a:pt x="53" y="9"/>
                      <a:pt x="58" y="14"/>
                      <a:pt x="61" y="22"/>
                    </a:cubicBezTo>
                    <a:cubicBezTo>
                      <a:pt x="69" y="19"/>
                      <a:pt x="69" y="19"/>
                      <a:pt x="69" y="19"/>
                    </a:cubicBezTo>
                    <a:cubicBezTo>
                      <a:pt x="64" y="7"/>
                      <a:pt x="56" y="0"/>
                      <a:pt x="4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78" name="Freeform 1953">
                <a:extLst>
                  <a:ext uri="{FF2B5EF4-FFF2-40B4-BE49-F238E27FC236}">
                    <a16:creationId xmlns:a16="http://schemas.microsoft.com/office/drawing/2014/main" id="{8C79AC2C-5316-03FB-26CE-1A1AFB11B7C4}"/>
                  </a:ext>
                </a:extLst>
              </p:cNvPr>
              <p:cNvSpPr>
                <a:spLocks/>
              </p:cNvSpPr>
              <p:nvPr/>
            </p:nvSpPr>
            <p:spPr bwMode="auto">
              <a:xfrm>
                <a:off x="3231" y="4033"/>
                <a:ext cx="12" cy="13"/>
              </a:xfrm>
              <a:custGeom>
                <a:avLst/>
                <a:gdLst>
                  <a:gd name="T0" fmla="*/ 32 w 57"/>
                  <a:gd name="T1" fmla="*/ 4 h 59"/>
                  <a:gd name="T2" fmla="*/ 25 w 57"/>
                  <a:gd name="T3" fmla="*/ 22 h 59"/>
                  <a:gd name="T4" fmla="*/ 25 w 57"/>
                  <a:gd name="T5" fmla="*/ 25 h 59"/>
                  <a:gd name="T6" fmla="*/ 7 w 57"/>
                  <a:gd name="T7" fmla="*/ 30 h 59"/>
                  <a:gd name="T8" fmla="*/ 12 w 57"/>
                  <a:gd name="T9" fmla="*/ 59 h 59"/>
                  <a:gd name="T10" fmla="*/ 19 w 57"/>
                  <a:gd name="T11" fmla="*/ 54 h 59"/>
                  <a:gd name="T12" fmla="*/ 14 w 57"/>
                  <a:gd name="T13" fmla="*/ 35 h 59"/>
                  <a:gd name="T14" fmla="*/ 29 w 57"/>
                  <a:gd name="T15" fmla="*/ 35 h 59"/>
                  <a:gd name="T16" fmla="*/ 35 w 57"/>
                  <a:gd name="T17" fmla="*/ 36 h 59"/>
                  <a:gd name="T18" fmla="*/ 34 w 57"/>
                  <a:gd name="T19" fmla="*/ 30 h 59"/>
                  <a:gd name="T20" fmla="*/ 37 w 57"/>
                  <a:gd name="T21" fmla="*/ 11 h 59"/>
                  <a:gd name="T22" fmla="*/ 52 w 57"/>
                  <a:gd name="T23" fmla="*/ 16 h 59"/>
                  <a:gd name="T24" fmla="*/ 57 w 57"/>
                  <a:gd name="T25" fmla="*/ 9 h 59"/>
                  <a:gd name="T26" fmla="*/ 32 w 57"/>
                  <a:gd name="T27" fmla="*/ 4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7" h="59">
                    <a:moveTo>
                      <a:pt x="32" y="4"/>
                    </a:moveTo>
                    <a:cubicBezTo>
                      <a:pt x="27" y="7"/>
                      <a:pt x="25" y="13"/>
                      <a:pt x="25" y="22"/>
                    </a:cubicBezTo>
                    <a:cubicBezTo>
                      <a:pt x="25" y="23"/>
                      <a:pt x="25" y="24"/>
                      <a:pt x="25" y="25"/>
                    </a:cubicBezTo>
                    <a:cubicBezTo>
                      <a:pt x="16" y="24"/>
                      <a:pt x="10" y="26"/>
                      <a:pt x="7" y="30"/>
                    </a:cubicBezTo>
                    <a:cubicBezTo>
                      <a:pt x="0" y="40"/>
                      <a:pt x="10" y="56"/>
                      <a:pt x="12" y="59"/>
                    </a:cubicBezTo>
                    <a:cubicBezTo>
                      <a:pt x="19" y="54"/>
                      <a:pt x="19" y="54"/>
                      <a:pt x="19" y="54"/>
                    </a:cubicBezTo>
                    <a:cubicBezTo>
                      <a:pt x="16" y="49"/>
                      <a:pt x="12" y="39"/>
                      <a:pt x="14" y="35"/>
                    </a:cubicBezTo>
                    <a:cubicBezTo>
                      <a:pt x="16" y="33"/>
                      <a:pt x="21" y="33"/>
                      <a:pt x="29" y="35"/>
                    </a:cubicBezTo>
                    <a:cubicBezTo>
                      <a:pt x="35" y="36"/>
                      <a:pt x="35" y="36"/>
                      <a:pt x="35" y="36"/>
                    </a:cubicBezTo>
                    <a:cubicBezTo>
                      <a:pt x="34" y="30"/>
                      <a:pt x="34" y="30"/>
                      <a:pt x="34" y="30"/>
                    </a:cubicBezTo>
                    <a:cubicBezTo>
                      <a:pt x="32" y="18"/>
                      <a:pt x="34" y="13"/>
                      <a:pt x="37" y="11"/>
                    </a:cubicBezTo>
                    <a:cubicBezTo>
                      <a:pt x="40" y="9"/>
                      <a:pt x="46" y="11"/>
                      <a:pt x="52" y="16"/>
                    </a:cubicBezTo>
                    <a:cubicBezTo>
                      <a:pt x="57" y="9"/>
                      <a:pt x="57" y="9"/>
                      <a:pt x="57" y="9"/>
                    </a:cubicBezTo>
                    <a:cubicBezTo>
                      <a:pt x="45" y="0"/>
                      <a:pt x="37" y="1"/>
                      <a:pt x="32"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79" name="Freeform 1954">
                <a:extLst>
                  <a:ext uri="{FF2B5EF4-FFF2-40B4-BE49-F238E27FC236}">
                    <a16:creationId xmlns:a16="http://schemas.microsoft.com/office/drawing/2014/main" id="{FAF12490-A435-4837-9170-063C70AA19AE}"/>
                  </a:ext>
                </a:extLst>
              </p:cNvPr>
              <p:cNvSpPr>
                <a:spLocks/>
              </p:cNvSpPr>
              <p:nvPr/>
            </p:nvSpPr>
            <p:spPr bwMode="auto">
              <a:xfrm>
                <a:off x="3245" y="4040"/>
                <a:ext cx="16" cy="8"/>
              </a:xfrm>
              <a:custGeom>
                <a:avLst/>
                <a:gdLst>
                  <a:gd name="T0" fmla="*/ 48 w 69"/>
                  <a:gd name="T1" fmla="*/ 0 h 37"/>
                  <a:gd name="T2" fmla="*/ 33 w 69"/>
                  <a:gd name="T3" fmla="*/ 12 h 37"/>
                  <a:gd name="T4" fmla="*/ 19 w 69"/>
                  <a:gd name="T5" fmla="*/ 2 h 37"/>
                  <a:gd name="T6" fmla="*/ 0 w 69"/>
                  <a:gd name="T7" fmla="*/ 26 h 37"/>
                  <a:gd name="T8" fmla="*/ 8 w 69"/>
                  <a:gd name="T9" fmla="*/ 28 h 37"/>
                  <a:gd name="T10" fmla="*/ 19 w 69"/>
                  <a:gd name="T11" fmla="*/ 11 h 37"/>
                  <a:gd name="T12" fmla="*/ 30 w 69"/>
                  <a:gd name="T13" fmla="*/ 25 h 37"/>
                  <a:gd name="T14" fmla="*/ 35 w 69"/>
                  <a:gd name="T15" fmla="*/ 37 h 37"/>
                  <a:gd name="T16" fmla="*/ 38 w 69"/>
                  <a:gd name="T17" fmla="*/ 24 h 37"/>
                  <a:gd name="T18" fmla="*/ 48 w 69"/>
                  <a:gd name="T19" fmla="*/ 9 h 37"/>
                  <a:gd name="T20" fmla="*/ 61 w 69"/>
                  <a:gd name="T21" fmla="*/ 22 h 37"/>
                  <a:gd name="T22" fmla="*/ 69 w 69"/>
                  <a:gd name="T23" fmla="*/ 19 h 37"/>
                  <a:gd name="T24" fmla="*/ 48 w 69"/>
                  <a:gd name="T25" fmla="*/ 0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69" h="37">
                    <a:moveTo>
                      <a:pt x="48" y="0"/>
                    </a:moveTo>
                    <a:cubicBezTo>
                      <a:pt x="42" y="1"/>
                      <a:pt x="37" y="5"/>
                      <a:pt x="33" y="12"/>
                    </a:cubicBezTo>
                    <a:cubicBezTo>
                      <a:pt x="29" y="6"/>
                      <a:pt x="24" y="2"/>
                      <a:pt x="19" y="2"/>
                    </a:cubicBezTo>
                    <a:cubicBezTo>
                      <a:pt x="7" y="3"/>
                      <a:pt x="1" y="22"/>
                      <a:pt x="0" y="26"/>
                    </a:cubicBezTo>
                    <a:cubicBezTo>
                      <a:pt x="8" y="28"/>
                      <a:pt x="8" y="28"/>
                      <a:pt x="8" y="28"/>
                    </a:cubicBezTo>
                    <a:cubicBezTo>
                      <a:pt x="10" y="21"/>
                      <a:pt x="15" y="11"/>
                      <a:pt x="19" y="11"/>
                    </a:cubicBezTo>
                    <a:cubicBezTo>
                      <a:pt x="21" y="11"/>
                      <a:pt x="25" y="15"/>
                      <a:pt x="30" y="25"/>
                    </a:cubicBezTo>
                    <a:cubicBezTo>
                      <a:pt x="35" y="37"/>
                      <a:pt x="35" y="37"/>
                      <a:pt x="35" y="37"/>
                    </a:cubicBezTo>
                    <a:cubicBezTo>
                      <a:pt x="38" y="24"/>
                      <a:pt x="38" y="24"/>
                      <a:pt x="38" y="24"/>
                    </a:cubicBezTo>
                    <a:cubicBezTo>
                      <a:pt x="40" y="15"/>
                      <a:pt x="44" y="10"/>
                      <a:pt x="48" y="9"/>
                    </a:cubicBezTo>
                    <a:cubicBezTo>
                      <a:pt x="53" y="9"/>
                      <a:pt x="58" y="14"/>
                      <a:pt x="61" y="22"/>
                    </a:cubicBezTo>
                    <a:cubicBezTo>
                      <a:pt x="69" y="19"/>
                      <a:pt x="69" y="19"/>
                      <a:pt x="69" y="19"/>
                    </a:cubicBezTo>
                    <a:cubicBezTo>
                      <a:pt x="64" y="7"/>
                      <a:pt x="56" y="0"/>
                      <a:pt x="4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80" name="Freeform 1955">
                <a:extLst>
                  <a:ext uri="{FF2B5EF4-FFF2-40B4-BE49-F238E27FC236}">
                    <a16:creationId xmlns:a16="http://schemas.microsoft.com/office/drawing/2014/main" id="{37CE8935-D078-3885-036E-8C63281E6BE1}"/>
                  </a:ext>
                </a:extLst>
              </p:cNvPr>
              <p:cNvSpPr>
                <a:spLocks/>
              </p:cNvSpPr>
              <p:nvPr/>
            </p:nvSpPr>
            <p:spPr bwMode="auto">
              <a:xfrm>
                <a:off x="1705" y="1053"/>
                <a:ext cx="17" cy="12"/>
              </a:xfrm>
              <a:custGeom>
                <a:avLst/>
                <a:gdLst>
                  <a:gd name="T0" fmla="*/ 25 w 78"/>
                  <a:gd name="T1" fmla="*/ 3 h 54"/>
                  <a:gd name="T2" fmla="*/ 6 w 78"/>
                  <a:gd name="T3" fmla="*/ 23 h 54"/>
                  <a:gd name="T4" fmla="*/ 48 w 78"/>
                  <a:gd name="T5" fmla="*/ 48 h 54"/>
                  <a:gd name="T6" fmla="*/ 74 w 78"/>
                  <a:gd name="T7" fmla="*/ 11 h 54"/>
                  <a:gd name="T8" fmla="*/ 25 w 78"/>
                  <a:gd name="T9" fmla="*/ 3 h 54"/>
                </a:gdLst>
                <a:ahLst/>
                <a:cxnLst>
                  <a:cxn ang="0">
                    <a:pos x="T0" y="T1"/>
                  </a:cxn>
                  <a:cxn ang="0">
                    <a:pos x="T2" y="T3"/>
                  </a:cxn>
                  <a:cxn ang="0">
                    <a:pos x="T4" y="T5"/>
                  </a:cxn>
                  <a:cxn ang="0">
                    <a:pos x="T6" y="T7"/>
                  </a:cxn>
                  <a:cxn ang="0">
                    <a:pos x="T8" y="T9"/>
                  </a:cxn>
                </a:cxnLst>
                <a:rect l="0" t="0" r="r" b="b"/>
                <a:pathLst>
                  <a:path w="78" h="54">
                    <a:moveTo>
                      <a:pt x="25" y="3"/>
                    </a:moveTo>
                    <a:cubicBezTo>
                      <a:pt x="25" y="3"/>
                      <a:pt x="0" y="11"/>
                      <a:pt x="6" y="23"/>
                    </a:cubicBezTo>
                    <a:cubicBezTo>
                      <a:pt x="12" y="36"/>
                      <a:pt x="30" y="54"/>
                      <a:pt x="48" y="48"/>
                    </a:cubicBezTo>
                    <a:cubicBezTo>
                      <a:pt x="65" y="42"/>
                      <a:pt x="78" y="21"/>
                      <a:pt x="74" y="11"/>
                    </a:cubicBezTo>
                    <a:cubicBezTo>
                      <a:pt x="69" y="0"/>
                      <a:pt x="29" y="0"/>
                      <a:pt x="25"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81" name="Freeform 1956">
                <a:extLst>
                  <a:ext uri="{FF2B5EF4-FFF2-40B4-BE49-F238E27FC236}">
                    <a16:creationId xmlns:a16="http://schemas.microsoft.com/office/drawing/2014/main" id="{6690BD77-0AC7-73A6-339E-57576B6119EA}"/>
                  </a:ext>
                </a:extLst>
              </p:cNvPr>
              <p:cNvSpPr>
                <a:spLocks noEditPoints="1"/>
              </p:cNvSpPr>
              <p:nvPr/>
            </p:nvSpPr>
            <p:spPr bwMode="auto">
              <a:xfrm>
                <a:off x="1705" y="1052"/>
                <a:ext cx="18" cy="14"/>
              </a:xfrm>
              <a:custGeom>
                <a:avLst/>
                <a:gdLst>
                  <a:gd name="T0" fmla="*/ 22 w 80"/>
                  <a:gd name="T1" fmla="*/ 4 h 63"/>
                  <a:gd name="T2" fmla="*/ 23 w 80"/>
                  <a:gd name="T3" fmla="*/ 3 h 63"/>
                  <a:gd name="T4" fmla="*/ 2 w 80"/>
                  <a:gd name="T5" fmla="*/ 18 h 63"/>
                  <a:gd name="T6" fmla="*/ 2 w 80"/>
                  <a:gd name="T7" fmla="*/ 29 h 63"/>
                  <a:gd name="T8" fmla="*/ 49 w 80"/>
                  <a:gd name="T9" fmla="*/ 56 h 63"/>
                  <a:gd name="T10" fmla="*/ 76 w 80"/>
                  <a:gd name="T11" fmla="*/ 31 h 63"/>
                  <a:gd name="T12" fmla="*/ 78 w 80"/>
                  <a:gd name="T13" fmla="*/ 13 h 63"/>
                  <a:gd name="T14" fmla="*/ 66 w 80"/>
                  <a:gd name="T15" fmla="*/ 4 h 63"/>
                  <a:gd name="T16" fmla="*/ 22 w 80"/>
                  <a:gd name="T17" fmla="*/ 4 h 63"/>
                  <a:gd name="T18" fmla="*/ 10 w 80"/>
                  <a:gd name="T19" fmla="*/ 26 h 63"/>
                  <a:gd name="T20" fmla="*/ 10 w 80"/>
                  <a:gd name="T21" fmla="*/ 22 h 63"/>
                  <a:gd name="T22" fmla="*/ 26 w 80"/>
                  <a:gd name="T23" fmla="*/ 11 h 63"/>
                  <a:gd name="T24" fmla="*/ 26 w 80"/>
                  <a:gd name="T25" fmla="*/ 11 h 63"/>
                  <a:gd name="T26" fmla="*/ 27 w 80"/>
                  <a:gd name="T27" fmla="*/ 11 h 63"/>
                  <a:gd name="T28" fmla="*/ 66 w 80"/>
                  <a:gd name="T29" fmla="*/ 14 h 63"/>
                  <a:gd name="T30" fmla="*/ 70 w 80"/>
                  <a:gd name="T31" fmla="*/ 16 h 63"/>
                  <a:gd name="T32" fmla="*/ 68 w 80"/>
                  <a:gd name="T33" fmla="*/ 27 h 63"/>
                  <a:gd name="T34" fmla="*/ 46 w 80"/>
                  <a:gd name="T35" fmla="*/ 48 h 63"/>
                  <a:gd name="T36" fmla="*/ 10 w 80"/>
                  <a:gd name="T37" fmla="*/ 26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0" h="63">
                    <a:moveTo>
                      <a:pt x="22" y="4"/>
                    </a:moveTo>
                    <a:cubicBezTo>
                      <a:pt x="23" y="3"/>
                      <a:pt x="23" y="3"/>
                      <a:pt x="23" y="3"/>
                    </a:cubicBezTo>
                    <a:cubicBezTo>
                      <a:pt x="22" y="4"/>
                      <a:pt x="6" y="8"/>
                      <a:pt x="2" y="18"/>
                    </a:cubicBezTo>
                    <a:cubicBezTo>
                      <a:pt x="0" y="22"/>
                      <a:pt x="0" y="25"/>
                      <a:pt x="2" y="29"/>
                    </a:cubicBezTo>
                    <a:cubicBezTo>
                      <a:pt x="9" y="44"/>
                      <a:pt x="29" y="63"/>
                      <a:pt x="49" y="56"/>
                    </a:cubicBezTo>
                    <a:cubicBezTo>
                      <a:pt x="62" y="52"/>
                      <a:pt x="72" y="40"/>
                      <a:pt x="76" y="31"/>
                    </a:cubicBezTo>
                    <a:cubicBezTo>
                      <a:pt x="79" y="24"/>
                      <a:pt x="80" y="18"/>
                      <a:pt x="78" y="13"/>
                    </a:cubicBezTo>
                    <a:cubicBezTo>
                      <a:pt x="76" y="9"/>
                      <a:pt x="72" y="6"/>
                      <a:pt x="66" y="4"/>
                    </a:cubicBezTo>
                    <a:cubicBezTo>
                      <a:pt x="53" y="1"/>
                      <a:pt x="27" y="0"/>
                      <a:pt x="22" y="4"/>
                    </a:cubicBezTo>
                    <a:close/>
                    <a:moveTo>
                      <a:pt x="10" y="26"/>
                    </a:moveTo>
                    <a:cubicBezTo>
                      <a:pt x="9" y="24"/>
                      <a:pt x="9" y="23"/>
                      <a:pt x="10" y="22"/>
                    </a:cubicBezTo>
                    <a:cubicBezTo>
                      <a:pt x="12" y="17"/>
                      <a:pt x="21" y="13"/>
                      <a:pt x="26" y="11"/>
                    </a:cubicBezTo>
                    <a:cubicBezTo>
                      <a:pt x="26" y="11"/>
                      <a:pt x="26" y="11"/>
                      <a:pt x="26" y="11"/>
                    </a:cubicBezTo>
                    <a:cubicBezTo>
                      <a:pt x="27" y="11"/>
                      <a:pt x="27" y="11"/>
                      <a:pt x="27" y="11"/>
                    </a:cubicBezTo>
                    <a:cubicBezTo>
                      <a:pt x="30" y="10"/>
                      <a:pt x="54" y="9"/>
                      <a:pt x="66" y="14"/>
                    </a:cubicBezTo>
                    <a:cubicBezTo>
                      <a:pt x="69" y="15"/>
                      <a:pt x="70" y="16"/>
                      <a:pt x="70" y="16"/>
                    </a:cubicBezTo>
                    <a:cubicBezTo>
                      <a:pt x="71" y="19"/>
                      <a:pt x="70" y="23"/>
                      <a:pt x="68" y="27"/>
                    </a:cubicBezTo>
                    <a:cubicBezTo>
                      <a:pt x="64" y="35"/>
                      <a:pt x="56" y="45"/>
                      <a:pt x="46" y="48"/>
                    </a:cubicBezTo>
                    <a:cubicBezTo>
                      <a:pt x="32" y="53"/>
                      <a:pt x="15" y="38"/>
                      <a:pt x="10"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82" name="Freeform 1957">
                <a:extLst>
                  <a:ext uri="{FF2B5EF4-FFF2-40B4-BE49-F238E27FC236}">
                    <a16:creationId xmlns:a16="http://schemas.microsoft.com/office/drawing/2014/main" id="{81FEC07A-CED0-09F0-29D0-53F712508B5D}"/>
                  </a:ext>
                </a:extLst>
              </p:cNvPr>
              <p:cNvSpPr>
                <a:spLocks/>
              </p:cNvSpPr>
              <p:nvPr/>
            </p:nvSpPr>
            <p:spPr bwMode="auto">
              <a:xfrm>
                <a:off x="1723" y="1043"/>
                <a:ext cx="19" cy="23"/>
              </a:xfrm>
              <a:custGeom>
                <a:avLst/>
                <a:gdLst>
                  <a:gd name="T0" fmla="*/ 13 w 84"/>
                  <a:gd name="T1" fmla="*/ 39 h 103"/>
                  <a:gd name="T2" fmla="*/ 38 w 84"/>
                  <a:gd name="T3" fmla="*/ 38 h 103"/>
                  <a:gd name="T4" fmla="*/ 84 w 84"/>
                  <a:gd name="T5" fmla="*/ 17 h 103"/>
                  <a:gd name="T6" fmla="*/ 56 w 84"/>
                  <a:gd name="T7" fmla="*/ 61 h 103"/>
                  <a:gd name="T8" fmla="*/ 13 w 84"/>
                  <a:gd name="T9" fmla="*/ 39 h 103"/>
                </a:gdLst>
                <a:ahLst/>
                <a:cxnLst>
                  <a:cxn ang="0">
                    <a:pos x="T0" y="T1"/>
                  </a:cxn>
                  <a:cxn ang="0">
                    <a:pos x="T2" y="T3"/>
                  </a:cxn>
                  <a:cxn ang="0">
                    <a:pos x="T4" y="T5"/>
                  </a:cxn>
                  <a:cxn ang="0">
                    <a:pos x="T6" y="T7"/>
                  </a:cxn>
                  <a:cxn ang="0">
                    <a:pos x="T8" y="T9"/>
                  </a:cxn>
                </a:cxnLst>
                <a:rect l="0" t="0" r="r" b="b"/>
                <a:pathLst>
                  <a:path w="84" h="103">
                    <a:moveTo>
                      <a:pt x="13" y="39"/>
                    </a:moveTo>
                    <a:cubicBezTo>
                      <a:pt x="13" y="39"/>
                      <a:pt x="20" y="41"/>
                      <a:pt x="38" y="38"/>
                    </a:cubicBezTo>
                    <a:cubicBezTo>
                      <a:pt x="55" y="35"/>
                      <a:pt x="84" y="0"/>
                      <a:pt x="84" y="17"/>
                    </a:cubicBezTo>
                    <a:cubicBezTo>
                      <a:pt x="84" y="35"/>
                      <a:pt x="74" y="46"/>
                      <a:pt x="56" y="61"/>
                    </a:cubicBezTo>
                    <a:cubicBezTo>
                      <a:pt x="39" y="75"/>
                      <a:pt x="0" y="103"/>
                      <a:pt x="13" y="3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83" name="Freeform 1958">
                <a:extLst>
                  <a:ext uri="{FF2B5EF4-FFF2-40B4-BE49-F238E27FC236}">
                    <a16:creationId xmlns:a16="http://schemas.microsoft.com/office/drawing/2014/main" id="{4B13251D-1BC8-CA8B-A628-E2948F93669B}"/>
                  </a:ext>
                </a:extLst>
              </p:cNvPr>
              <p:cNvSpPr>
                <a:spLocks noEditPoints="1"/>
              </p:cNvSpPr>
              <p:nvPr/>
            </p:nvSpPr>
            <p:spPr bwMode="auto">
              <a:xfrm>
                <a:off x="1724" y="1044"/>
                <a:ext cx="19" cy="18"/>
              </a:xfrm>
              <a:custGeom>
                <a:avLst/>
                <a:gdLst>
                  <a:gd name="T0" fmla="*/ 57 w 84"/>
                  <a:gd name="T1" fmla="*/ 13 h 81"/>
                  <a:gd name="T2" fmla="*/ 33 w 84"/>
                  <a:gd name="T3" fmla="*/ 27 h 81"/>
                  <a:gd name="T4" fmla="*/ 10 w 84"/>
                  <a:gd name="T5" fmla="*/ 29 h 81"/>
                  <a:gd name="T6" fmla="*/ 6 w 84"/>
                  <a:gd name="T7" fmla="*/ 28 h 81"/>
                  <a:gd name="T8" fmla="*/ 5 w 84"/>
                  <a:gd name="T9" fmla="*/ 32 h 81"/>
                  <a:gd name="T10" fmla="*/ 11 w 84"/>
                  <a:gd name="T11" fmla="*/ 75 h 81"/>
                  <a:gd name="T12" fmla="*/ 55 w 84"/>
                  <a:gd name="T13" fmla="*/ 58 h 81"/>
                  <a:gd name="T14" fmla="*/ 84 w 84"/>
                  <a:gd name="T15" fmla="*/ 11 h 81"/>
                  <a:gd name="T16" fmla="*/ 80 w 84"/>
                  <a:gd name="T17" fmla="*/ 3 h 81"/>
                  <a:gd name="T18" fmla="*/ 57 w 84"/>
                  <a:gd name="T19" fmla="*/ 13 h 81"/>
                  <a:gd name="T20" fmla="*/ 34 w 84"/>
                  <a:gd name="T21" fmla="*/ 36 h 81"/>
                  <a:gd name="T22" fmla="*/ 62 w 84"/>
                  <a:gd name="T23" fmla="*/ 20 h 81"/>
                  <a:gd name="T24" fmla="*/ 76 w 84"/>
                  <a:gd name="T25" fmla="*/ 11 h 81"/>
                  <a:gd name="T26" fmla="*/ 76 w 84"/>
                  <a:gd name="T27" fmla="*/ 11 h 81"/>
                  <a:gd name="T28" fmla="*/ 50 w 84"/>
                  <a:gd name="T29" fmla="*/ 51 h 81"/>
                  <a:gd name="T30" fmla="*/ 15 w 84"/>
                  <a:gd name="T31" fmla="*/ 68 h 81"/>
                  <a:gd name="T32" fmla="*/ 11 w 84"/>
                  <a:gd name="T33" fmla="*/ 55 h 81"/>
                  <a:gd name="T34" fmla="*/ 13 w 84"/>
                  <a:gd name="T35" fmla="*/ 38 h 81"/>
                  <a:gd name="T36" fmla="*/ 34 w 84"/>
                  <a:gd name="T37" fmla="*/ 36 h 8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84" h="81">
                    <a:moveTo>
                      <a:pt x="57" y="13"/>
                    </a:moveTo>
                    <a:cubicBezTo>
                      <a:pt x="49" y="19"/>
                      <a:pt x="39" y="26"/>
                      <a:pt x="33" y="27"/>
                    </a:cubicBezTo>
                    <a:cubicBezTo>
                      <a:pt x="17" y="30"/>
                      <a:pt x="10" y="29"/>
                      <a:pt x="10" y="29"/>
                    </a:cubicBezTo>
                    <a:cubicBezTo>
                      <a:pt x="6" y="28"/>
                      <a:pt x="6" y="28"/>
                      <a:pt x="6" y="28"/>
                    </a:cubicBezTo>
                    <a:cubicBezTo>
                      <a:pt x="5" y="32"/>
                      <a:pt x="5" y="32"/>
                      <a:pt x="5" y="32"/>
                    </a:cubicBezTo>
                    <a:cubicBezTo>
                      <a:pt x="0" y="56"/>
                      <a:pt x="2" y="70"/>
                      <a:pt x="11" y="75"/>
                    </a:cubicBezTo>
                    <a:cubicBezTo>
                      <a:pt x="20" y="81"/>
                      <a:pt x="35" y="75"/>
                      <a:pt x="55" y="58"/>
                    </a:cubicBezTo>
                    <a:cubicBezTo>
                      <a:pt x="74" y="43"/>
                      <a:pt x="84" y="30"/>
                      <a:pt x="84" y="11"/>
                    </a:cubicBezTo>
                    <a:cubicBezTo>
                      <a:pt x="84" y="6"/>
                      <a:pt x="82" y="4"/>
                      <a:pt x="80" y="3"/>
                    </a:cubicBezTo>
                    <a:cubicBezTo>
                      <a:pt x="74" y="0"/>
                      <a:pt x="67" y="5"/>
                      <a:pt x="57" y="13"/>
                    </a:cubicBezTo>
                    <a:close/>
                    <a:moveTo>
                      <a:pt x="34" y="36"/>
                    </a:moveTo>
                    <a:cubicBezTo>
                      <a:pt x="43" y="34"/>
                      <a:pt x="53" y="27"/>
                      <a:pt x="62" y="20"/>
                    </a:cubicBezTo>
                    <a:cubicBezTo>
                      <a:pt x="66" y="17"/>
                      <a:pt x="73" y="13"/>
                      <a:pt x="76" y="11"/>
                    </a:cubicBezTo>
                    <a:cubicBezTo>
                      <a:pt x="76" y="11"/>
                      <a:pt x="76" y="11"/>
                      <a:pt x="76" y="11"/>
                    </a:cubicBezTo>
                    <a:cubicBezTo>
                      <a:pt x="76" y="27"/>
                      <a:pt x="66" y="37"/>
                      <a:pt x="50" y="51"/>
                    </a:cubicBezTo>
                    <a:cubicBezTo>
                      <a:pt x="30" y="67"/>
                      <a:pt x="19" y="71"/>
                      <a:pt x="15" y="68"/>
                    </a:cubicBezTo>
                    <a:cubicBezTo>
                      <a:pt x="14" y="67"/>
                      <a:pt x="11" y="64"/>
                      <a:pt x="11" y="55"/>
                    </a:cubicBezTo>
                    <a:cubicBezTo>
                      <a:pt x="11" y="50"/>
                      <a:pt x="12" y="45"/>
                      <a:pt x="13" y="38"/>
                    </a:cubicBezTo>
                    <a:cubicBezTo>
                      <a:pt x="17" y="38"/>
                      <a:pt x="24" y="38"/>
                      <a:pt x="3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84" name="Freeform 1959">
                <a:extLst>
                  <a:ext uri="{FF2B5EF4-FFF2-40B4-BE49-F238E27FC236}">
                    <a16:creationId xmlns:a16="http://schemas.microsoft.com/office/drawing/2014/main" id="{B96CDAB4-CF5E-E47B-DBF8-3A9F5DE62DCD}"/>
                  </a:ext>
                </a:extLst>
              </p:cNvPr>
              <p:cNvSpPr>
                <a:spLocks/>
              </p:cNvSpPr>
              <p:nvPr/>
            </p:nvSpPr>
            <p:spPr bwMode="auto">
              <a:xfrm>
                <a:off x="1824" y="965"/>
                <a:ext cx="42" cy="17"/>
              </a:xfrm>
              <a:custGeom>
                <a:avLst/>
                <a:gdLst>
                  <a:gd name="T0" fmla="*/ 149 w 189"/>
                  <a:gd name="T1" fmla="*/ 3 h 79"/>
                  <a:gd name="T2" fmla="*/ 87 w 189"/>
                  <a:gd name="T3" fmla="*/ 33 h 79"/>
                  <a:gd name="T4" fmla="*/ 46 w 189"/>
                  <a:gd name="T5" fmla="*/ 46 h 79"/>
                  <a:gd name="T6" fmla="*/ 1 w 189"/>
                  <a:gd name="T7" fmla="*/ 49 h 79"/>
                  <a:gd name="T8" fmla="*/ 38 w 189"/>
                  <a:gd name="T9" fmla="*/ 76 h 79"/>
                  <a:gd name="T10" fmla="*/ 123 w 189"/>
                  <a:gd name="T11" fmla="*/ 49 h 79"/>
                  <a:gd name="T12" fmla="*/ 149 w 189"/>
                  <a:gd name="T13" fmla="*/ 3 h 79"/>
                </a:gdLst>
                <a:ahLst/>
                <a:cxnLst>
                  <a:cxn ang="0">
                    <a:pos x="T0" y="T1"/>
                  </a:cxn>
                  <a:cxn ang="0">
                    <a:pos x="T2" y="T3"/>
                  </a:cxn>
                  <a:cxn ang="0">
                    <a:pos x="T4" y="T5"/>
                  </a:cxn>
                  <a:cxn ang="0">
                    <a:pos x="T6" y="T7"/>
                  </a:cxn>
                  <a:cxn ang="0">
                    <a:pos x="T8" y="T9"/>
                  </a:cxn>
                  <a:cxn ang="0">
                    <a:pos x="T10" y="T11"/>
                  </a:cxn>
                  <a:cxn ang="0">
                    <a:pos x="T12" y="T13"/>
                  </a:cxn>
                </a:cxnLst>
                <a:rect l="0" t="0" r="r" b="b"/>
                <a:pathLst>
                  <a:path w="189" h="79">
                    <a:moveTo>
                      <a:pt x="149" y="3"/>
                    </a:moveTo>
                    <a:cubicBezTo>
                      <a:pt x="149" y="3"/>
                      <a:pt x="114" y="0"/>
                      <a:pt x="87" y="33"/>
                    </a:cubicBezTo>
                    <a:cubicBezTo>
                      <a:pt x="72" y="46"/>
                      <a:pt x="59" y="58"/>
                      <a:pt x="46" y="46"/>
                    </a:cubicBezTo>
                    <a:cubicBezTo>
                      <a:pt x="33" y="34"/>
                      <a:pt x="3" y="36"/>
                      <a:pt x="1" y="49"/>
                    </a:cubicBezTo>
                    <a:cubicBezTo>
                      <a:pt x="0" y="62"/>
                      <a:pt x="12" y="73"/>
                      <a:pt x="38" y="76"/>
                    </a:cubicBezTo>
                    <a:cubicBezTo>
                      <a:pt x="63" y="79"/>
                      <a:pt x="102" y="68"/>
                      <a:pt x="123" y="49"/>
                    </a:cubicBezTo>
                    <a:cubicBezTo>
                      <a:pt x="143" y="30"/>
                      <a:pt x="189" y="0"/>
                      <a:pt x="14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85" name="Freeform 1960">
                <a:extLst>
                  <a:ext uri="{FF2B5EF4-FFF2-40B4-BE49-F238E27FC236}">
                    <a16:creationId xmlns:a16="http://schemas.microsoft.com/office/drawing/2014/main" id="{C2932E09-EBEE-55FC-09A3-F7EA113399B9}"/>
                  </a:ext>
                </a:extLst>
              </p:cNvPr>
              <p:cNvSpPr>
                <a:spLocks noEditPoints="1"/>
              </p:cNvSpPr>
              <p:nvPr/>
            </p:nvSpPr>
            <p:spPr bwMode="auto">
              <a:xfrm>
                <a:off x="1823" y="964"/>
                <a:ext cx="39" cy="19"/>
              </a:xfrm>
              <a:custGeom>
                <a:avLst/>
                <a:gdLst>
                  <a:gd name="T0" fmla="*/ 153 w 176"/>
                  <a:gd name="T1" fmla="*/ 1 h 87"/>
                  <a:gd name="T2" fmla="*/ 87 w 176"/>
                  <a:gd name="T3" fmla="*/ 33 h 87"/>
                  <a:gd name="T4" fmla="*/ 53 w 176"/>
                  <a:gd name="T5" fmla="*/ 46 h 87"/>
                  <a:gd name="T6" fmla="*/ 12 w 176"/>
                  <a:gd name="T7" fmla="*/ 39 h 87"/>
                  <a:gd name="T8" fmla="*/ 1 w 176"/>
                  <a:gd name="T9" fmla="*/ 51 h 87"/>
                  <a:gd name="T10" fmla="*/ 41 w 176"/>
                  <a:gd name="T11" fmla="*/ 84 h 87"/>
                  <a:gd name="T12" fmla="*/ 130 w 176"/>
                  <a:gd name="T13" fmla="*/ 55 h 87"/>
                  <a:gd name="T14" fmla="*/ 144 w 176"/>
                  <a:gd name="T15" fmla="*/ 43 h 87"/>
                  <a:gd name="T16" fmla="*/ 172 w 176"/>
                  <a:gd name="T17" fmla="*/ 7 h 87"/>
                  <a:gd name="T18" fmla="*/ 153 w 176"/>
                  <a:gd name="T19" fmla="*/ 1 h 87"/>
                  <a:gd name="T20" fmla="*/ 153 w 176"/>
                  <a:gd name="T21" fmla="*/ 10 h 87"/>
                  <a:gd name="T22" fmla="*/ 165 w 176"/>
                  <a:gd name="T23" fmla="*/ 11 h 87"/>
                  <a:gd name="T24" fmla="*/ 139 w 176"/>
                  <a:gd name="T25" fmla="*/ 36 h 87"/>
                  <a:gd name="T26" fmla="*/ 124 w 176"/>
                  <a:gd name="T27" fmla="*/ 49 h 87"/>
                  <a:gd name="T28" fmla="*/ 42 w 176"/>
                  <a:gd name="T29" fmla="*/ 75 h 87"/>
                  <a:gd name="T30" fmla="*/ 10 w 176"/>
                  <a:gd name="T31" fmla="*/ 52 h 87"/>
                  <a:gd name="T32" fmla="*/ 15 w 176"/>
                  <a:gd name="T33" fmla="*/ 47 h 87"/>
                  <a:gd name="T34" fmla="*/ 47 w 176"/>
                  <a:gd name="T35" fmla="*/ 52 h 87"/>
                  <a:gd name="T36" fmla="*/ 93 w 176"/>
                  <a:gd name="T37" fmla="*/ 39 h 87"/>
                  <a:gd name="T38" fmla="*/ 152 w 176"/>
                  <a:gd name="T39" fmla="*/ 10 h 87"/>
                  <a:gd name="T40" fmla="*/ 153 w 176"/>
                  <a:gd name="T41" fmla="*/ 10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76" h="87">
                    <a:moveTo>
                      <a:pt x="153" y="1"/>
                    </a:moveTo>
                    <a:cubicBezTo>
                      <a:pt x="150" y="1"/>
                      <a:pt x="115" y="0"/>
                      <a:pt x="87" y="33"/>
                    </a:cubicBezTo>
                    <a:cubicBezTo>
                      <a:pt x="71" y="48"/>
                      <a:pt x="62" y="54"/>
                      <a:pt x="53" y="46"/>
                    </a:cubicBezTo>
                    <a:cubicBezTo>
                      <a:pt x="43" y="36"/>
                      <a:pt x="23" y="35"/>
                      <a:pt x="12" y="39"/>
                    </a:cubicBezTo>
                    <a:cubicBezTo>
                      <a:pt x="6" y="42"/>
                      <a:pt x="2" y="46"/>
                      <a:pt x="1" y="51"/>
                    </a:cubicBezTo>
                    <a:cubicBezTo>
                      <a:pt x="0" y="65"/>
                      <a:pt x="9" y="80"/>
                      <a:pt x="41" y="84"/>
                    </a:cubicBezTo>
                    <a:cubicBezTo>
                      <a:pt x="69" y="87"/>
                      <a:pt x="109" y="74"/>
                      <a:pt x="130" y="55"/>
                    </a:cubicBezTo>
                    <a:cubicBezTo>
                      <a:pt x="144" y="43"/>
                      <a:pt x="144" y="43"/>
                      <a:pt x="144" y="43"/>
                    </a:cubicBezTo>
                    <a:cubicBezTo>
                      <a:pt x="164" y="26"/>
                      <a:pt x="176" y="16"/>
                      <a:pt x="172" y="7"/>
                    </a:cubicBezTo>
                    <a:cubicBezTo>
                      <a:pt x="170" y="1"/>
                      <a:pt x="160" y="1"/>
                      <a:pt x="153" y="1"/>
                    </a:cubicBezTo>
                    <a:close/>
                    <a:moveTo>
                      <a:pt x="153" y="10"/>
                    </a:moveTo>
                    <a:cubicBezTo>
                      <a:pt x="163" y="9"/>
                      <a:pt x="164" y="11"/>
                      <a:pt x="165" y="11"/>
                    </a:cubicBezTo>
                    <a:cubicBezTo>
                      <a:pt x="164" y="15"/>
                      <a:pt x="148" y="29"/>
                      <a:pt x="139" y="36"/>
                    </a:cubicBezTo>
                    <a:cubicBezTo>
                      <a:pt x="124" y="49"/>
                      <a:pt x="124" y="49"/>
                      <a:pt x="124" y="49"/>
                    </a:cubicBezTo>
                    <a:cubicBezTo>
                      <a:pt x="105" y="66"/>
                      <a:pt x="68" y="78"/>
                      <a:pt x="42" y="75"/>
                    </a:cubicBezTo>
                    <a:cubicBezTo>
                      <a:pt x="21" y="73"/>
                      <a:pt x="8" y="64"/>
                      <a:pt x="10" y="52"/>
                    </a:cubicBezTo>
                    <a:cubicBezTo>
                      <a:pt x="10" y="50"/>
                      <a:pt x="13" y="48"/>
                      <a:pt x="15" y="47"/>
                    </a:cubicBezTo>
                    <a:cubicBezTo>
                      <a:pt x="24" y="44"/>
                      <a:pt x="40" y="45"/>
                      <a:pt x="47" y="52"/>
                    </a:cubicBezTo>
                    <a:cubicBezTo>
                      <a:pt x="63" y="66"/>
                      <a:pt x="79" y="52"/>
                      <a:pt x="93" y="39"/>
                    </a:cubicBezTo>
                    <a:cubicBezTo>
                      <a:pt x="119" y="8"/>
                      <a:pt x="151" y="10"/>
                      <a:pt x="152" y="10"/>
                    </a:cubicBezTo>
                    <a:cubicBezTo>
                      <a:pt x="153" y="10"/>
                      <a:pt x="153" y="10"/>
                      <a:pt x="15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86" name="Freeform 1961">
                <a:extLst>
                  <a:ext uri="{FF2B5EF4-FFF2-40B4-BE49-F238E27FC236}">
                    <a16:creationId xmlns:a16="http://schemas.microsoft.com/office/drawing/2014/main" id="{3D6C3140-E772-81F8-1711-87F93C87F15B}"/>
                  </a:ext>
                </a:extLst>
              </p:cNvPr>
              <p:cNvSpPr>
                <a:spLocks/>
              </p:cNvSpPr>
              <p:nvPr/>
            </p:nvSpPr>
            <p:spPr bwMode="auto">
              <a:xfrm>
                <a:off x="1853" y="971"/>
                <a:ext cx="16" cy="8"/>
              </a:xfrm>
              <a:custGeom>
                <a:avLst/>
                <a:gdLst>
                  <a:gd name="T0" fmla="*/ 45 w 72"/>
                  <a:gd name="T1" fmla="*/ 8 h 36"/>
                  <a:gd name="T2" fmla="*/ 20 w 72"/>
                  <a:gd name="T3" fmla="*/ 34 h 36"/>
                  <a:gd name="T4" fmla="*/ 45 w 72"/>
                  <a:gd name="T5" fmla="*/ 8 h 36"/>
                </a:gdLst>
                <a:ahLst/>
                <a:cxnLst>
                  <a:cxn ang="0">
                    <a:pos x="T0" y="T1"/>
                  </a:cxn>
                  <a:cxn ang="0">
                    <a:pos x="T2" y="T3"/>
                  </a:cxn>
                  <a:cxn ang="0">
                    <a:pos x="T4" y="T5"/>
                  </a:cxn>
                </a:cxnLst>
                <a:rect l="0" t="0" r="r" b="b"/>
                <a:pathLst>
                  <a:path w="72" h="36">
                    <a:moveTo>
                      <a:pt x="45" y="8"/>
                    </a:moveTo>
                    <a:cubicBezTo>
                      <a:pt x="31" y="0"/>
                      <a:pt x="0" y="36"/>
                      <a:pt x="20" y="34"/>
                    </a:cubicBezTo>
                    <a:cubicBezTo>
                      <a:pt x="41" y="33"/>
                      <a:pt x="72" y="24"/>
                      <a:pt x="45"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87" name="Freeform 1962">
                <a:extLst>
                  <a:ext uri="{FF2B5EF4-FFF2-40B4-BE49-F238E27FC236}">
                    <a16:creationId xmlns:a16="http://schemas.microsoft.com/office/drawing/2014/main" id="{67B81A81-AD52-A894-27B3-07E3C916056B}"/>
                  </a:ext>
                </a:extLst>
              </p:cNvPr>
              <p:cNvSpPr>
                <a:spLocks noEditPoints="1"/>
              </p:cNvSpPr>
              <p:nvPr/>
            </p:nvSpPr>
            <p:spPr bwMode="auto">
              <a:xfrm>
                <a:off x="1855" y="971"/>
                <a:ext cx="12" cy="9"/>
              </a:xfrm>
              <a:custGeom>
                <a:avLst/>
                <a:gdLst>
                  <a:gd name="T0" fmla="*/ 14 w 55"/>
                  <a:gd name="T1" fmla="*/ 11 h 38"/>
                  <a:gd name="T2" fmla="*/ 3 w 55"/>
                  <a:gd name="T3" fmla="*/ 33 h 38"/>
                  <a:gd name="T4" fmla="*/ 14 w 55"/>
                  <a:gd name="T5" fmla="*/ 38 h 38"/>
                  <a:gd name="T6" fmla="*/ 53 w 55"/>
                  <a:gd name="T7" fmla="*/ 21 h 38"/>
                  <a:gd name="T8" fmla="*/ 40 w 55"/>
                  <a:gd name="T9" fmla="*/ 4 h 38"/>
                  <a:gd name="T10" fmla="*/ 40 w 55"/>
                  <a:gd name="T11" fmla="*/ 4 h 38"/>
                  <a:gd name="T12" fmla="*/ 14 w 55"/>
                  <a:gd name="T13" fmla="*/ 11 h 38"/>
                  <a:gd name="T14" fmla="*/ 11 w 55"/>
                  <a:gd name="T15" fmla="*/ 29 h 38"/>
                  <a:gd name="T16" fmla="*/ 23 w 55"/>
                  <a:gd name="T17" fmla="*/ 15 h 38"/>
                  <a:gd name="T18" fmla="*/ 36 w 55"/>
                  <a:gd name="T19" fmla="*/ 11 h 38"/>
                  <a:gd name="T20" fmla="*/ 44 w 55"/>
                  <a:gd name="T21" fmla="*/ 19 h 38"/>
                  <a:gd name="T22" fmla="*/ 44 w 55"/>
                  <a:gd name="T23" fmla="*/ 19 h 38"/>
                  <a:gd name="T24" fmla="*/ 13 w 55"/>
                  <a:gd name="T25" fmla="*/ 29 h 38"/>
                  <a:gd name="T26" fmla="*/ 11 w 55"/>
                  <a:gd name="T27" fmla="*/ 29 h 3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5" h="38">
                    <a:moveTo>
                      <a:pt x="14" y="11"/>
                    </a:moveTo>
                    <a:cubicBezTo>
                      <a:pt x="7" y="17"/>
                      <a:pt x="0" y="26"/>
                      <a:pt x="3" y="33"/>
                    </a:cubicBezTo>
                    <a:cubicBezTo>
                      <a:pt x="4" y="35"/>
                      <a:pt x="7" y="38"/>
                      <a:pt x="14" y="38"/>
                    </a:cubicBezTo>
                    <a:cubicBezTo>
                      <a:pt x="20" y="37"/>
                      <a:pt x="50" y="34"/>
                      <a:pt x="53" y="21"/>
                    </a:cubicBezTo>
                    <a:cubicBezTo>
                      <a:pt x="55" y="12"/>
                      <a:pt x="44" y="6"/>
                      <a:pt x="40" y="4"/>
                    </a:cubicBezTo>
                    <a:cubicBezTo>
                      <a:pt x="40" y="4"/>
                      <a:pt x="40" y="4"/>
                      <a:pt x="40" y="4"/>
                    </a:cubicBezTo>
                    <a:cubicBezTo>
                      <a:pt x="33" y="0"/>
                      <a:pt x="24" y="2"/>
                      <a:pt x="14" y="11"/>
                    </a:cubicBezTo>
                    <a:close/>
                    <a:moveTo>
                      <a:pt x="11" y="29"/>
                    </a:moveTo>
                    <a:cubicBezTo>
                      <a:pt x="11" y="28"/>
                      <a:pt x="15" y="20"/>
                      <a:pt x="23" y="15"/>
                    </a:cubicBezTo>
                    <a:cubicBezTo>
                      <a:pt x="29" y="11"/>
                      <a:pt x="33" y="10"/>
                      <a:pt x="36" y="11"/>
                    </a:cubicBezTo>
                    <a:cubicBezTo>
                      <a:pt x="43" y="15"/>
                      <a:pt x="44" y="18"/>
                      <a:pt x="44" y="19"/>
                    </a:cubicBezTo>
                    <a:cubicBezTo>
                      <a:pt x="44" y="19"/>
                      <a:pt x="44" y="19"/>
                      <a:pt x="44" y="19"/>
                    </a:cubicBezTo>
                    <a:cubicBezTo>
                      <a:pt x="43" y="23"/>
                      <a:pt x="30" y="28"/>
                      <a:pt x="13" y="29"/>
                    </a:cubicBezTo>
                    <a:lnTo>
                      <a:pt x="11" y="2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88" name="Freeform 1963">
                <a:extLst>
                  <a:ext uri="{FF2B5EF4-FFF2-40B4-BE49-F238E27FC236}">
                    <a16:creationId xmlns:a16="http://schemas.microsoft.com/office/drawing/2014/main" id="{CFD32FA0-89CC-68C8-45BA-5446CDED1995}"/>
                  </a:ext>
                </a:extLst>
              </p:cNvPr>
              <p:cNvSpPr>
                <a:spLocks/>
              </p:cNvSpPr>
              <p:nvPr/>
            </p:nvSpPr>
            <p:spPr bwMode="auto">
              <a:xfrm>
                <a:off x="1844" y="954"/>
                <a:ext cx="13" cy="10"/>
              </a:xfrm>
              <a:custGeom>
                <a:avLst/>
                <a:gdLst>
                  <a:gd name="T0" fmla="*/ 28 w 59"/>
                  <a:gd name="T1" fmla="*/ 0 h 44"/>
                  <a:gd name="T2" fmla="*/ 2 w 59"/>
                  <a:gd name="T3" fmla="*/ 20 h 44"/>
                  <a:gd name="T4" fmla="*/ 21 w 59"/>
                  <a:gd name="T5" fmla="*/ 40 h 44"/>
                  <a:gd name="T6" fmla="*/ 28 w 59"/>
                  <a:gd name="T7" fmla="*/ 0 h 44"/>
                </a:gdLst>
                <a:ahLst/>
                <a:cxnLst>
                  <a:cxn ang="0">
                    <a:pos x="T0" y="T1"/>
                  </a:cxn>
                  <a:cxn ang="0">
                    <a:pos x="T2" y="T3"/>
                  </a:cxn>
                  <a:cxn ang="0">
                    <a:pos x="T4" y="T5"/>
                  </a:cxn>
                  <a:cxn ang="0">
                    <a:pos x="T6" y="T7"/>
                  </a:cxn>
                </a:cxnLst>
                <a:rect l="0" t="0" r="r" b="b"/>
                <a:pathLst>
                  <a:path w="59" h="44">
                    <a:moveTo>
                      <a:pt x="28" y="0"/>
                    </a:moveTo>
                    <a:cubicBezTo>
                      <a:pt x="28" y="0"/>
                      <a:pt x="0" y="10"/>
                      <a:pt x="2" y="20"/>
                    </a:cubicBezTo>
                    <a:cubicBezTo>
                      <a:pt x="3" y="30"/>
                      <a:pt x="6" y="44"/>
                      <a:pt x="21" y="40"/>
                    </a:cubicBezTo>
                    <a:cubicBezTo>
                      <a:pt x="35" y="36"/>
                      <a:pt x="59" y="10"/>
                      <a:pt x="2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89" name="Freeform 1964">
                <a:extLst>
                  <a:ext uri="{FF2B5EF4-FFF2-40B4-BE49-F238E27FC236}">
                    <a16:creationId xmlns:a16="http://schemas.microsoft.com/office/drawing/2014/main" id="{4D505F68-D90F-B2B2-6338-0AA4D2803DE9}"/>
                  </a:ext>
                </a:extLst>
              </p:cNvPr>
              <p:cNvSpPr>
                <a:spLocks noEditPoints="1"/>
              </p:cNvSpPr>
              <p:nvPr/>
            </p:nvSpPr>
            <p:spPr bwMode="auto">
              <a:xfrm>
                <a:off x="1843" y="953"/>
                <a:ext cx="12" cy="12"/>
              </a:xfrm>
              <a:custGeom>
                <a:avLst/>
                <a:gdLst>
                  <a:gd name="T0" fmla="*/ 30 w 52"/>
                  <a:gd name="T1" fmla="*/ 1 h 51"/>
                  <a:gd name="T2" fmla="*/ 1 w 52"/>
                  <a:gd name="T3" fmla="*/ 26 h 51"/>
                  <a:gd name="T4" fmla="*/ 12 w 52"/>
                  <a:gd name="T5" fmla="*/ 48 h 51"/>
                  <a:gd name="T6" fmla="*/ 26 w 52"/>
                  <a:gd name="T7" fmla="*/ 49 h 51"/>
                  <a:gd name="T8" fmla="*/ 52 w 52"/>
                  <a:gd name="T9" fmla="*/ 20 h 51"/>
                  <a:gd name="T10" fmla="*/ 33 w 52"/>
                  <a:gd name="T11" fmla="*/ 1 h 51"/>
                  <a:gd name="T12" fmla="*/ 32 w 52"/>
                  <a:gd name="T13" fmla="*/ 0 h 51"/>
                  <a:gd name="T14" fmla="*/ 30 w 52"/>
                  <a:gd name="T15" fmla="*/ 1 h 51"/>
                  <a:gd name="T16" fmla="*/ 16 w 52"/>
                  <a:gd name="T17" fmla="*/ 41 h 51"/>
                  <a:gd name="T18" fmla="*/ 10 w 52"/>
                  <a:gd name="T19" fmla="*/ 24 h 51"/>
                  <a:gd name="T20" fmla="*/ 10 w 52"/>
                  <a:gd name="T21" fmla="*/ 24 h 51"/>
                  <a:gd name="T22" fmla="*/ 32 w 52"/>
                  <a:gd name="T23" fmla="*/ 9 h 51"/>
                  <a:gd name="T24" fmla="*/ 43 w 52"/>
                  <a:gd name="T25" fmla="*/ 20 h 51"/>
                  <a:gd name="T26" fmla="*/ 43 w 52"/>
                  <a:gd name="T27" fmla="*/ 20 h 51"/>
                  <a:gd name="T28" fmla="*/ 23 w 52"/>
                  <a:gd name="T29" fmla="*/ 41 h 51"/>
                  <a:gd name="T30" fmla="*/ 16 w 52"/>
                  <a:gd name="T31" fmla="*/ 41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2" h="51">
                    <a:moveTo>
                      <a:pt x="30" y="1"/>
                    </a:moveTo>
                    <a:cubicBezTo>
                      <a:pt x="23" y="3"/>
                      <a:pt x="0" y="13"/>
                      <a:pt x="1" y="26"/>
                    </a:cubicBezTo>
                    <a:cubicBezTo>
                      <a:pt x="3" y="35"/>
                      <a:pt x="5" y="44"/>
                      <a:pt x="12" y="48"/>
                    </a:cubicBezTo>
                    <a:cubicBezTo>
                      <a:pt x="16" y="50"/>
                      <a:pt x="20" y="51"/>
                      <a:pt x="26" y="49"/>
                    </a:cubicBezTo>
                    <a:cubicBezTo>
                      <a:pt x="36" y="46"/>
                      <a:pt x="51" y="33"/>
                      <a:pt x="52" y="20"/>
                    </a:cubicBezTo>
                    <a:cubicBezTo>
                      <a:pt x="52" y="14"/>
                      <a:pt x="48" y="6"/>
                      <a:pt x="33" y="1"/>
                    </a:cubicBezTo>
                    <a:cubicBezTo>
                      <a:pt x="32" y="0"/>
                      <a:pt x="32" y="0"/>
                      <a:pt x="32" y="0"/>
                    </a:cubicBezTo>
                    <a:lnTo>
                      <a:pt x="30" y="1"/>
                    </a:lnTo>
                    <a:close/>
                    <a:moveTo>
                      <a:pt x="16" y="41"/>
                    </a:moveTo>
                    <a:cubicBezTo>
                      <a:pt x="12" y="38"/>
                      <a:pt x="11" y="28"/>
                      <a:pt x="10" y="24"/>
                    </a:cubicBezTo>
                    <a:cubicBezTo>
                      <a:pt x="10" y="24"/>
                      <a:pt x="10" y="24"/>
                      <a:pt x="10" y="24"/>
                    </a:cubicBezTo>
                    <a:cubicBezTo>
                      <a:pt x="10" y="21"/>
                      <a:pt x="20" y="14"/>
                      <a:pt x="32" y="9"/>
                    </a:cubicBezTo>
                    <a:cubicBezTo>
                      <a:pt x="39" y="12"/>
                      <a:pt x="43" y="16"/>
                      <a:pt x="43" y="20"/>
                    </a:cubicBezTo>
                    <a:cubicBezTo>
                      <a:pt x="43" y="20"/>
                      <a:pt x="43" y="20"/>
                      <a:pt x="43" y="20"/>
                    </a:cubicBezTo>
                    <a:cubicBezTo>
                      <a:pt x="43" y="28"/>
                      <a:pt x="31" y="39"/>
                      <a:pt x="23" y="41"/>
                    </a:cubicBezTo>
                    <a:cubicBezTo>
                      <a:pt x="20" y="42"/>
                      <a:pt x="18" y="42"/>
                      <a:pt x="16" y="4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90" name="Freeform 1965">
                <a:extLst>
                  <a:ext uri="{FF2B5EF4-FFF2-40B4-BE49-F238E27FC236}">
                    <a16:creationId xmlns:a16="http://schemas.microsoft.com/office/drawing/2014/main" id="{0016D2F3-B3A8-A2C2-5529-7CC990344598}"/>
                  </a:ext>
                </a:extLst>
              </p:cNvPr>
              <p:cNvSpPr>
                <a:spLocks/>
              </p:cNvSpPr>
              <p:nvPr/>
            </p:nvSpPr>
            <p:spPr bwMode="auto">
              <a:xfrm>
                <a:off x="1858" y="942"/>
                <a:ext cx="16" cy="15"/>
              </a:xfrm>
              <a:custGeom>
                <a:avLst/>
                <a:gdLst>
                  <a:gd name="T0" fmla="*/ 32 w 72"/>
                  <a:gd name="T1" fmla="*/ 5 h 64"/>
                  <a:gd name="T2" fmla="*/ 3 w 72"/>
                  <a:gd name="T3" fmla="*/ 39 h 64"/>
                  <a:gd name="T4" fmla="*/ 39 w 72"/>
                  <a:gd name="T5" fmla="*/ 41 h 64"/>
                  <a:gd name="T6" fmla="*/ 32 w 72"/>
                  <a:gd name="T7" fmla="*/ 5 h 64"/>
                </a:gdLst>
                <a:ahLst/>
                <a:cxnLst>
                  <a:cxn ang="0">
                    <a:pos x="T0" y="T1"/>
                  </a:cxn>
                  <a:cxn ang="0">
                    <a:pos x="T2" y="T3"/>
                  </a:cxn>
                  <a:cxn ang="0">
                    <a:pos x="T4" y="T5"/>
                  </a:cxn>
                  <a:cxn ang="0">
                    <a:pos x="T6" y="T7"/>
                  </a:cxn>
                </a:cxnLst>
                <a:rect l="0" t="0" r="r" b="b"/>
                <a:pathLst>
                  <a:path w="72" h="64">
                    <a:moveTo>
                      <a:pt x="32" y="5"/>
                    </a:moveTo>
                    <a:cubicBezTo>
                      <a:pt x="32" y="5"/>
                      <a:pt x="0" y="23"/>
                      <a:pt x="3" y="39"/>
                    </a:cubicBezTo>
                    <a:cubicBezTo>
                      <a:pt x="6" y="55"/>
                      <a:pt x="24" y="64"/>
                      <a:pt x="39" y="41"/>
                    </a:cubicBezTo>
                    <a:cubicBezTo>
                      <a:pt x="53" y="18"/>
                      <a:pt x="72" y="0"/>
                      <a:pt x="32"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91" name="Freeform 1966">
                <a:extLst>
                  <a:ext uri="{FF2B5EF4-FFF2-40B4-BE49-F238E27FC236}">
                    <a16:creationId xmlns:a16="http://schemas.microsoft.com/office/drawing/2014/main" id="{EBA34204-91DE-764E-F58E-F2ECA3002E9A}"/>
                  </a:ext>
                </a:extLst>
              </p:cNvPr>
              <p:cNvSpPr>
                <a:spLocks noEditPoints="1"/>
              </p:cNvSpPr>
              <p:nvPr/>
            </p:nvSpPr>
            <p:spPr bwMode="auto">
              <a:xfrm>
                <a:off x="1857" y="942"/>
                <a:ext cx="15" cy="14"/>
              </a:xfrm>
              <a:custGeom>
                <a:avLst/>
                <a:gdLst>
                  <a:gd name="T0" fmla="*/ 36 w 68"/>
                  <a:gd name="T1" fmla="*/ 1 h 62"/>
                  <a:gd name="T2" fmla="*/ 35 w 68"/>
                  <a:gd name="T3" fmla="*/ 1 h 62"/>
                  <a:gd name="T4" fmla="*/ 34 w 68"/>
                  <a:gd name="T5" fmla="*/ 2 h 62"/>
                  <a:gd name="T6" fmla="*/ 3 w 68"/>
                  <a:gd name="T7" fmla="*/ 41 h 62"/>
                  <a:gd name="T8" fmla="*/ 20 w 68"/>
                  <a:gd name="T9" fmla="*/ 60 h 62"/>
                  <a:gd name="T10" fmla="*/ 47 w 68"/>
                  <a:gd name="T11" fmla="*/ 44 h 62"/>
                  <a:gd name="T12" fmla="*/ 54 w 68"/>
                  <a:gd name="T13" fmla="*/ 34 h 62"/>
                  <a:gd name="T14" fmla="*/ 64 w 68"/>
                  <a:gd name="T15" fmla="*/ 7 h 62"/>
                  <a:gd name="T16" fmla="*/ 36 w 68"/>
                  <a:gd name="T17" fmla="*/ 1 h 62"/>
                  <a:gd name="T18" fmla="*/ 56 w 68"/>
                  <a:gd name="T19" fmla="*/ 11 h 62"/>
                  <a:gd name="T20" fmla="*/ 47 w 68"/>
                  <a:gd name="T21" fmla="*/ 29 h 62"/>
                  <a:gd name="T22" fmla="*/ 40 w 68"/>
                  <a:gd name="T23" fmla="*/ 39 h 62"/>
                  <a:gd name="T24" fmla="*/ 22 w 68"/>
                  <a:gd name="T25" fmla="*/ 51 h 62"/>
                  <a:gd name="T26" fmla="*/ 12 w 68"/>
                  <a:gd name="T27" fmla="*/ 40 h 62"/>
                  <a:gd name="T28" fmla="*/ 12 w 68"/>
                  <a:gd name="T29" fmla="*/ 38 h 62"/>
                  <a:gd name="T30" fmla="*/ 38 w 68"/>
                  <a:gd name="T31" fmla="*/ 10 h 62"/>
                  <a:gd name="T32" fmla="*/ 56 w 68"/>
                  <a:gd name="T33" fmla="*/ 11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8" h="62">
                    <a:moveTo>
                      <a:pt x="36" y="1"/>
                    </a:moveTo>
                    <a:cubicBezTo>
                      <a:pt x="35" y="1"/>
                      <a:pt x="35" y="1"/>
                      <a:pt x="35" y="1"/>
                    </a:cubicBezTo>
                    <a:cubicBezTo>
                      <a:pt x="34" y="2"/>
                      <a:pt x="34" y="2"/>
                      <a:pt x="34" y="2"/>
                    </a:cubicBezTo>
                    <a:cubicBezTo>
                      <a:pt x="31" y="4"/>
                      <a:pt x="0" y="23"/>
                      <a:pt x="3" y="41"/>
                    </a:cubicBezTo>
                    <a:cubicBezTo>
                      <a:pt x="5" y="51"/>
                      <a:pt x="12" y="58"/>
                      <a:pt x="20" y="60"/>
                    </a:cubicBezTo>
                    <a:cubicBezTo>
                      <a:pt x="30" y="62"/>
                      <a:pt x="40" y="56"/>
                      <a:pt x="47" y="44"/>
                    </a:cubicBezTo>
                    <a:cubicBezTo>
                      <a:pt x="54" y="34"/>
                      <a:pt x="54" y="34"/>
                      <a:pt x="54" y="34"/>
                    </a:cubicBezTo>
                    <a:cubicBezTo>
                      <a:pt x="62" y="22"/>
                      <a:pt x="68" y="13"/>
                      <a:pt x="64" y="7"/>
                    </a:cubicBezTo>
                    <a:cubicBezTo>
                      <a:pt x="61" y="1"/>
                      <a:pt x="53" y="0"/>
                      <a:pt x="36" y="1"/>
                    </a:cubicBezTo>
                    <a:close/>
                    <a:moveTo>
                      <a:pt x="56" y="11"/>
                    </a:moveTo>
                    <a:cubicBezTo>
                      <a:pt x="58" y="13"/>
                      <a:pt x="51" y="23"/>
                      <a:pt x="47" y="29"/>
                    </a:cubicBezTo>
                    <a:cubicBezTo>
                      <a:pt x="40" y="39"/>
                      <a:pt x="40" y="39"/>
                      <a:pt x="40" y="39"/>
                    </a:cubicBezTo>
                    <a:cubicBezTo>
                      <a:pt x="35" y="48"/>
                      <a:pt x="28" y="53"/>
                      <a:pt x="22" y="51"/>
                    </a:cubicBezTo>
                    <a:cubicBezTo>
                      <a:pt x="17" y="50"/>
                      <a:pt x="13" y="46"/>
                      <a:pt x="12" y="40"/>
                    </a:cubicBezTo>
                    <a:cubicBezTo>
                      <a:pt x="12" y="39"/>
                      <a:pt x="12" y="39"/>
                      <a:pt x="12" y="38"/>
                    </a:cubicBezTo>
                    <a:cubicBezTo>
                      <a:pt x="12" y="29"/>
                      <a:pt x="27" y="16"/>
                      <a:pt x="38" y="10"/>
                    </a:cubicBezTo>
                    <a:cubicBezTo>
                      <a:pt x="54" y="8"/>
                      <a:pt x="56" y="11"/>
                      <a:pt x="5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92" name="Freeform 1967">
                <a:extLst>
                  <a:ext uri="{FF2B5EF4-FFF2-40B4-BE49-F238E27FC236}">
                    <a16:creationId xmlns:a16="http://schemas.microsoft.com/office/drawing/2014/main" id="{BA34B9FA-6D54-993F-065C-8580AD57B2A5}"/>
                  </a:ext>
                </a:extLst>
              </p:cNvPr>
              <p:cNvSpPr>
                <a:spLocks/>
              </p:cNvSpPr>
              <p:nvPr/>
            </p:nvSpPr>
            <p:spPr bwMode="auto">
              <a:xfrm>
                <a:off x="1863" y="923"/>
                <a:ext cx="11" cy="8"/>
              </a:xfrm>
              <a:custGeom>
                <a:avLst/>
                <a:gdLst>
                  <a:gd name="T0" fmla="*/ 31 w 49"/>
                  <a:gd name="T1" fmla="*/ 0 h 36"/>
                  <a:gd name="T2" fmla="*/ 10 w 49"/>
                  <a:gd name="T3" fmla="*/ 25 h 36"/>
                  <a:gd name="T4" fmla="*/ 31 w 49"/>
                  <a:gd name="T5" fmla="*/ 0 h 36"/>
                </a:gdLst>
                <a:ahLst/>
                <a:cxnLst>
                  <a:cxn ang="0">
                    <a:pos x="T0" y="T1"/>
                  </a:cxn>
                  <a:cxn ang="0">
                    <a:pos x="T2" y="T3"/>
                  </a:cxn>
                  <a:cxn ang="0">
                    <a:pos x="T4" y="T5"/>
                  </a:cxn>
                </a:cxnLst>
                <a:rect l="0" t="0" r="r" b="b"/>
                <a:pathLst>
                  <a:path w="49" h="36">
                    <a:moveTo>
                      <a:pt x="31" y="0"/>
                    </a:moveTo>
                    <a:cubicBezTo>
                      <a:pt x="31" y="0"/>
                      <a:pt x="0" y="13"/>
                      <a:pt x="10" y="25"/>
                    </a:cubicBezTo>
                    <a:cubicBezTo>
                      <a:pt x="20" y="36"/>
                      <a:pt x="49" y="32"/>
                      <a:pt x="3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93" name="Freeform 1968">
                <a:extLst>
                  <a:ext uri="{FF2B5EF4-FFF2-40B4-BE49-F238E27FC236}">
                    <a16:creationId xmlns:a16="http://schemas.microsoft.com/office/drawing/2014/main" id="{76156604-1326-5550-3878-7689193C1F34}"/>
                  </a:ext>
                </a:extLst>
              </p:cNvPr>
              <p:cNvSpPr>
                <a:spLocks noEditPoints="1"/>
              </p:cNvSpPr>
              <p:nvPr/>
            </p:nvSpPr>
            <p:spPr bwMode="auto">
              <a:xfrm>
                <a:off x="1863" y="922"/>
                <a:ext cx="10" cy="9"/>
              </a:xfrm>
              <a:custGeom>
                <a:avLst/>
                <a:gdLst>
                  <a:gd name="T0" fmla="*/ 27 w 44"/>
                  <a:gd name="T1" fmla="*/ 1 h 42"/>
                  <a:gd name="T2" fmla="*/ 1 w 44"/>
                  <a:gd name="T3" fmla="*/ 23 h 42"/>
                  <a:gd name="T4" fmla="*/ 3 w 44"/>
                  <a:gd name="T5" fmla="*/ 33 h 42"/>
                  <a:gd name="T6" fmla="*/ 31 w 44"/>
                  <a:gd name="T7" fmla="*/ 37 h 42"/>
                  <a:gd name="T8" fmla="*/ 32 w 44"/>
                  <a:gd name="T9" fmla="*/ 3 h 42"/>
                  <a:gd name="T10" fmla="*/ 30 w 44"/>
                  <a:gd name="T11" fmla="*/ 0 h 42"/>
                  <a:gd name="T12" fmla="*/ 27 w 44"/>
                  <a:gd name="T13" fmla="*/ 1 h 42"/>
                  <a:gd name="T14" fmla="*/ 10 w 44"/>
                  <a:gd name="T15" fmla="*/ 27 h 42"/>
                  <a:gd name="T16" fmla="*/ 9 w 44"/>
                  <a:gd name="T17" fmla="*/ 25 h 42"/>
                  <a:gd name="T18" fmla="*/ 9 w 44"/>
                  <a:gd name="T19" fmla="*/ 25 h 42"/>
                  <a:gd name="T20" fmla="*/ 26 w 44"/>
                  <a:gd name="T21" fmla="*/ 11 h 42"/>
                  <a:gd name="T22" fmla="*/ 29 w 44"/>
                  <a:gd name="T23" fmla="*/ 23 h 42"/>
                  <a:gd name="T24" fmla="*/ 26 w 44"/>
                  <a:gd name="T25" fmla="*/ 30 h 42"/>
                  <a:gd name="T26" fmla="*/ 10 w 44"/>
                  <a:gd name="T27" fmla="*/ 27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4" h="42">
                    <a:moveTo>
                      <a:pt x="27" y="1"/>
                    </a:moveTo>
                    <a:cubicBezTo>
                      <a:pt x="23" y="3"/>
                      <a:pt x="3" y="11"/>
                      <a:pt x="1" y="23"/>
                    </a:cubicBezTo>
                    <a:cubicBezTo>
                      <a:pt x="0" y="25"/>
                      <a:pt x="0" y="29"/>
                      <a:pt x="3" y="33"/>
                    </a:cubicBezTo>
                    <a:cubicBezTo>
                      <a:pt x="10" y="41"/>
                      <a:pt x="23" y="42"/>
                      <a:pt x="31" y="37"/>
                    </a:cubicBezTo>
                    <a:cubicBezTo>
                      <a:pt x="35" y="34"/>
                      <a:pt x="44" y="25"/>
                      <a:pt x="32" y="3"/>
                    </a:cubicBezTo>
                    <a:cubicBezTo>
                      <a:pt x="30" y="0"/>
                      <a:pt x="30" y="0"/>
                      <a:pt x="30" y="0"/>
                    </a:cubicBezTo>
                    <a:lnTo>
                      <a:pt x="27" y="1"/>
                    </a:lnTo>
                    <a:close/>
                    <a:moveTo>
                      <a:pt x="10" y="27"/>
                    </a:moveTo>
                    <a:cubicBezTo>
                      <a:pt x="9" y="26"/>
                      <a:pt x="9" y="26"/>
                      <a:pt x="9" y="25"/>
                    </a:cubicBezTo>
                    <a:cubicBezTo>
                      <a:pt x="9" y="25"/>
                      <a:pt x="9" y="25"/>
                      <a:pt x="9" y="25"/>
                    </a:cubicBezTo>
                    <a:cubicBezTo>
                      <a:pt x="10" y="20"/>
                      <a:pt x="19" y="15"/>
                      <a:pt x="26" y="11"/>
                    </a:cubicBezTo>
                    <a:cubicBezTo>
                      <a:pt x="28" y="16"/>
                      <a:pt x="29" y="19"/>
                      <a:pt x="29" y="23"/>
                    </a:cubicBezTo>
                    <a:cubicBezTo>
                      <a:pt x="29" y="26"/>
                      <a:pt x="28" y="28"/>
                      <a:pt x="26" y="30"/>
                    </a:cubicBezTo>
                    <a:cubicBezTo>
                      <a:pt x="22" y="33"/>
                      <a:pt x="14" y="31"/>
                      <a:pt x="10" y="2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94" name="Freeform 1969">
                <a:extLst>
                  <a:ext uri="{FF2B5EF4-FFF2-40B4-BE49-F238E27FC236}">
                    <a16:creationId xmlns:a16="http://schemas.microsoft.com/office/drawing/2014/main" id="{52722B23-A966-7B91-7123-274029F6E64E}"/>
                  </a:ext>
                </a:extLst>
              </p:cNvPr>
              <p:cNvSpPr>
                <a:spLocks/>
              </p:cNvSpPr>
              <p:nvPr/>
            </p:nvSpPr>
            <p:spPr bwMode="auto">
              <a:xfrm>
                <a:off x="1866" y="902"/>
                <a:ext cx="15" cy="10"/>
              </a:xfrm>
              <a:custGeom>
                <a:avLst/>
                <a:gdLst>
                  <a:gd name="T0" fmla="*/ 27 w 65"/>
                  <a:gd name="T1" fmla="*/ 5 h 45"/>
                  <a:gd name="T2" fmla="*/ 7 w 65"/>
                  <a:gd name="T3" fmla="*/ 25 h 45"/>
                  <a:gd name="T4" fmla="*/ 27 w 65"/>
                  <a:gd name="T5" fmla="*/ 42 h 45"/>
                  <a:gd name="T6" fmla="*/ 27 w 65"/>
                  <a:gd name="T7" fmla="*/ 5 h 45"/>
                </a:gdLst>
                <a:ahLst/>
                <a:cxnLst>
                  <a:cxn ang="0">
                    <a:pos x="T0" y="T1"/>
                  </a:cxn>
                  <a:cxn ang="0">
                    <a:pos x="T2" y="T3"/>
                  </a:cxn>
                  <a:cxn ang="0">
                    <a:pos x="T4" y="T5"/>
                  </a:cxn>
                  <a:cxn ang="0">
                    <a:pos x="T6" y="T7"/>
                  </a:cxn>
                </a:cxnLst>
                <a:rect l="0" t="0" r="r" b="b"/>
                <a:pathLst>
                  <a:path w="65" h="45">
                    <a:moveTo>
                      <a:pt x="27" y="5"/>
                    </a:moveTo>
                    <a:cubicBezTo>
                      <a:pt x="27" y="5"/>
                      <a:pt x="0" y="9"/>
                      <a:pt x="7" y="25"/>
                    </a:cubicBezTo>
                    <a:cubicBezTo>
                      <a:pt x="14" y="41"/>
                      <a:pt x="17" y="45"/>
                      <a:pt x="27" y="42"/>
                    </a:cubicBezTo>
                    <a:cubicBezTo>
                      <a:pt x="37" y="39"/>
                      <a:pt x="65" y="0"/>
                      <a:pt x="27"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95" name="Freeform 1970">
                <a:extLst>
                  <a:ext uri="{FF2B5EF4-FFF2-40B4-BE49-F238E27FC236}">
                    <a16:creationId xmlns:a16="http://schemas.microsoft.com/office/drawing/2014/main" id="{C0E2B70F-2ABE-0BCA-F01D-E77FC4BB2597}"/>
                  </a:ext>
                </a:extLst>
              </p:cNvPr>
              <p:cNvSpPr>
                <a:spLocks noEditPoints="1"/>
              </p:cNvSpPr>
              <p:nvPr/>
            </p:nvSpPr>
            <p:spPr bwMode="auto">
              <a:xfrm>
                <a:off x="1866" y="902"/>
                <a:ext cx="12" cy="11"/>
              </a:xfrm>
              <a:custGeom>
                <a:avLst/>
                <a:gdLst>
                  <a:gd name="T0" fmla="*/ 27 w 53"/>
                  <a:gd name="T1" fmla="*/ 2 h 52"/>
                  <a:gd name="T2" fmla="*/ 27 w 53"/>
                  <a:gd name="T3" fmla="*/ 2 h 52"/>
                  <a:gd name="T4" fmla="*/ 3 w 53"/>
                  <a:gd name="T5" fmla="*/ 15 h 52"/>
                  <a:gd name="T6" fmla="*/ 3 w 53"/>
                  <a:gd name="T7" fmla="*/ 29 h 52"/>
                  <a:gd name="T8" fmla="*/ 28 w 53"/>
                  <a:gd name="T9" fmla="*/ 48 h 52"/>
                  <a:gd name="T10" fmla="*/ 50 w 53"/>
                  <a:gd name="T11" fmla="*/ 13 h 52"/>
                  <a:gd name="T12" fmla="*/ 27 w 53"/>
                  <a:gd name="T13" fmla="*/ 2 h 52"/>
                  <a:gd name="T14" fmla="*/ 42 w 53"/>
                  <a:gd name="T15" fmla="*/ 15 h 52"/>
                  <a:gd name="T16" fmla="*/ 26 w 53"/>
                  <a:gd name="T17" fmla="*/ 40 h 52"/>
                  <a:gd name="T18" fmla="*/ 11 w 53"/>
                  <a:gd name="T19" fmla="*/ 25 h 52"/>
                  <a:gd name="T20" fmla="*/ 10 w 53"/>
                  <a:gd name="T21" fmla="*/ 22 h 52"/>
                  <a:gd name="T22" fmla="*/ 11 w 53"/>
                  <a:gd name="T23" fmla="*/ 19 h 52"/>
                  <a:gd name="T24" fmla="*/ 28 w 53"/>
                  <a:gd name="T25" fmla="*/ 11 h 52"/>
                  <a:gd name="T26" fmla="*/ 42 w 53"/>
                  <a:gd name="T27" fmla="*/ 15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3" h="52">
                    <a:moveTo>
                      <a:pt x="27" y="2"/>
                    </a:moveTo>
                    <a:cubicBezTo>
                      <a:pt x="27" y="2"/>
                      <a:pt x="27" y="2"/>
                      <a:pt x="27" y="2"/>
                    </a:cubicBezTo>
                    <a:cubicBezTo>
                      <a:pt x="25" y="3"/>
                      <a:pt x="8" y="5"/>
                      <a:pt x="3" y="15"/>
                    </a:cubicBezTo>
                    <a:cubicBezTo>
                      <a:pt x="2" y="18"/>
                      <a:pt x="0" y="23"/>
                      <a:pt x="3" y="29"/>
                    </a:cubicBezTo>
                    <a:cubicBezTo>
                      <a:pt x="10" y="43"/>
                      <a:pt x="14" y="52"/>
                      <a:pt x="28" y="48"/>
                    </a:cubicBezTo>
                    <a:cubicBezTo>
                      <a:pt x="37" y="46"/>
                      <a:pt x="53" y="26"/>
                      <a:pt x="50" y="13"/>
                    </a:cubicBezTo>
                    <a:cubicBezTo>
                      <a:pt x="49" y="8"/>
                      <a:pt x="45" y="0"/>
                      <a:pt x="27" y="2"/>
                    </a:cubicBezTo>
                    <a:close/>
                    <a:moveTo>
                      <a:pt x="42" y="15"/>
                    </a:moveTo>
                    <a:cubicBezTo>
                      <a:pt x="44" y="23"/>
                      <a:pt x="31" y="39"/>
                      <a:pt x="26" y="40"/>
                    </a:cubicBezTo>
                    <a:cubicBezTo>
                      <a:pt x="20" y="42"/>
                      <a:pt x="19" y="41"/>
                      <a:pt x="11" y="25"/>
                    </a:cubicBezTo>
                    <a:cubicBezTo>
                      <a:pt x="10" y="24"/>
                      <a:pt x="10" y="23"/>
                      <a:pt x="10" y="22"/>
                    </a:cubicBezTo>
                    <a:cubicBezTo>
                      <a:pt x="10" y="21"/>
                      <a:pt x="10" y="20"/>
                      <a:pt x="11" y="19"/>
                    </a:cubicBezTo>
                    <a:cubicBezTo>
                      <a:pt x="13" y="14"/>
                      <a:pt x="24" y="11"/>
                      <a:pt x="28" y="11"/>
                    </a:cubicBezTo>
                    <a:cubicBezTo>
                      <a:pt x="33" y="10"/>
                      <a:pt x="41" y="10"/>
                      <a:pt x="42"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96" name="Freeform 1971">
                <a:extLst>
                  <a:ext uri="{FF2B5EF4-FFF2-40B4-BE49-F238E27FC236}">
                    <a16:creationId xmlns:a16="http://schemas.microsoft.com/office/drawing/2014/main" id="{DE7C631F-6AF6-94CB-08FC-254B0940CA8F}"/>
                  </a:ext>
                </a:extLst>
              </p:cNvPr>
              <p:cNvSpPr>
                <a:spLocks/>
              </p:cNvSpPr>
              <p:nvPr/>
            </p:nvSpPr>
            <p:spPr bwMode="auto">
              <a:xfrm>
                <a:off x="1908" y="756"/>
                <a:ext cx="32" cy="48"/>
              </a:xfrm>
              <a:custGeom>
                <a:avLst/>
                <a:gdLst>
                  <a:gd name="T0" fmla="*/ 86 w 143"/>
                  <a:gd name="T1" fmla="*/ 6 h 214"/>
                  <a:gd name="T2" fmla="*/ 19 w 143"/>
                  <a:gd name="T3" fmla="*/ 45 h 214"/>
                  <a:gd name="T4" fmla="*/ 0 w 143"/>
                  <a:gd name="T5" fmla="*/ 91 h 214"/>
                  <a:gd name="T6" fmla="*/ 42 w 143"/>
                  <a:gd name="T7" fmla="*/ 147 h 214"/>
                  <a:gd name="T8" fmla="*/ 111 w 143"/>
                  <a:gd name="T9" fmla="*/ 209 h 214"/>
                  <a:gd name="T10" fmla="*/ 111 w 143"/>
                  <a:gd name="T11" fmla="*/ 162 h 214"/>
                  <a:gd name="T12" fmla="*/ 92 w 143"/>
                  <a:gd name="T13" fmla="*/ 110 h 214"/>
                  <a:gd name="T14" fmla="*/ 128 w 143"/>
                  <a:gd name="T15" fmla="*/ 43 h 214"/>
                  <a:gd name="T16" fmla="*/ 86 w 143"/>
                  <a:gd name="T17" fmla="*/ 6 h 2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3" h="214">
                    <a:moveTo>
                      <a:pt x="86" y="6"/>
                    </a:moveTo>
                    <a:cubicBezTo>
                      <a:pt x="86" y="6"/>
                      <a:pt x="33" y="43"/>
                      <a:pt x="19" y="45"/>
                    </a:cubicBezTo>
                    <a:cubicBezTo>
                      <a:pt x="4" y="46"/>
                      <a:pt x="0" y="66"/>
                      <a:pt x="0" y="91"/>
                    </a:cubicBezTo>
                    <a:cubicBezTo>
                      <a:pt x="0" y="115"/>
                      <a:pt x="19" y="130"/>
                      <a:pt x="42" y="147"/>
                    </a:cubicBezTo>
                    <a:cubicBezTo>
                      <a:pt x="65" y="164"/>
                      <a:pt x="105" y="205"/>
                      <a:pt x="111" y="209"/>
                    </a:cubicBezTo>
                    <a:cubicBezTo>
                      <a:pt x="117" y="214"/>
                      <a:pt x="134" y="190"/>
                      <a:pt x="111" y="162"/>
                    </a:cubicBezTo>
                    <a:cubicBezTo>
                      <a:pt x="88" y="133"/>
                      <a:pt x="70" y="118"/>
                      <a:pt x="92" y="110"/>
                    </a:cubicBezTo>
                    <a:cubicBezTo>
                      <a:pt x="114" y="101"/>
                      <a:pt x="143" y="65"/>
                      <a:pt x="128" y="43"/>
                    </a:cubicBezTo>
                    <a:cubicBezTo>
                      <a:pt x="114" y="22"/>
                      <a:pt x="107" y="0"/>
                      <a:pt x="8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97" name="Freeform 1972">
                <a:extLst>
                  <a:ext uri="{FF2B5EF4-FFF2-40B4-BE49-F238E27FC236}">
                    <a16:creationId xmlns:a16="http://schemas.microsoft.com/office/drawing/2014/main" id="{8141FABF-CC5F-9F87-4A7B-7D1BAEC0FF66}"/>
                  </a:ext>
                </a:extLst>
              </p:cNvPr>
              <p:cNvSpPr>
                <a:spLocks noEditPoints="1"/>
              </p:cNvSpPr>
              <p:nvPr/>
            </p:nvSpPr>
            <p:spPr bwMode="auto">
              <a:xfrm>
                <a:off x="1907" y="756"/>
                <a:ext cx="32" cy="48"/>
              </a:xfrm>
              <a:custGeom>
                <a:avLst/>
                <a:gdLst>
                  <a:gd name="T0" fmla="*/ 90 w 143"/>
                  <a:gd name="T1" fmla="*/ 6 h 219"/>
                  <a:gd name="T2" fmla="*/ 89 w 143"/>
                  <a:gd name="T3" fmla="*/ 6 h 219"/>
                  <a:gd name="T4" fmla="*/ 89 w 143"/>
                  <a:gd name="T5" fmla="*/ 6 h 219"/>
                  <a:gd name="T6" fmla="*/ 23 w 143"/>
                  <a:gd name="T7" fmla="*/ 44 h 219"/>
                  <a:gd name="T8" fmla="*/ 0 w 143"/>
                  <a:gd name="T9" fmla="*/ 95 h 219"/>
                  <a:gd name="T10" fmla="*/ 44 w 143"/>
                  <a:gd name="T11" fmla="*/ 155 h 219"/>
                  <a:gd name="T12" fmla="*/ 97 w 143"/>
                  <a:gd name="T13" fmla="*/ 202 h 219"/>
                  <a:gd name="T14" fmla="*/ 113 w 143"/>
                  <a:gd name="T15" fmla="*/ 217 h 219"/>
                  <a:gd name="T16" fmla="*/ 125 w 143"/>
                  <a:gd name="T17" fmla="*/ 214 h 219"/>
                  <a:gd name="T18" fmla="*/ 119 w 143"/>
                  <a:gd name="T19" fmla="*/ 163 h 219"/>
                  <a:gd name="T20" fmla="*/ 109 w 143"/>
                  <a:gd name="T21" fmla="*/ 150 h 219"/>
                  <a:gd name="T22" fmla="*/ 92 w 143"/>
                  <a:gd name="T23" fmla="*/ 123 h 219"/>
                  <a:gd name="T24" fmla="*/ 99 w 143"/>
                  <a:gd name="T25" fmla="*/ 118 h 219"/>
                  <a:gd name="T26" fmla="*/ 139 w 143"/>
                  <a:gd name="T27" fmla="*/ 73 h 219"/>
                  <a:gd name="T28" fmla="*/ 137 w 143"/>
                  <a:gd name="T29" fmla="*/ 45 h 219"/>
                  <a:gd name="T30" fmla="*/ 129 w 143"/>
                  <a:gd name="T31" fmla="*/ 33 h 219"/>
                  <a:gd name="T32" fmla="*/ 90 w 143"/>
                  <a:gd name="T33" fmla="*/ 6 h 219"/>
                  <a:gd name="T34" fmla="*/ 122 w 143"/>
                  <a:gd name="T35" fmla="*/ 37 h 219"/>
                  <a:gd name="T36" fmla="*/ 130 w 143"/>
                  <a:gd name="T37" fmla="*/ 50 h 219"/>
                  <a:gd name="T38" fmla="*/ 133 w 143"/>
                  <a:gd name="T39" fmla="*/ 61 h 219"/>
                  <a:gd name="T40" fmla="*/ 131 w 143"/>
                  <a:gd name="T41" fmla="*/ 70 h 219"/>
                  <a:gd name="T42" fmla="*/ 95 w 143"/>
                  <a:gd name="T43" fmla="*/ 110 h 219"/>
                  <a:gd name="T44" fmla="*/ 83 w 143"/>
                  <a:gd name="T45" fmla="*/ 121 h 219"/>
                  <a:gd name="T46" fmla="*/ 83 w 143"/>
                  <a:gd name="T47" fmla="*/ 124 h 219"/>
                  <a:gd name="T48" fmla="*/ 102 w 143"/>
                  <a:gd name="T49" fmla="*/ 156 h 219"/>
                  <a:gd name="T50" fmla="*/ 112 w 143"/>
                  <a:gd name="T51" fmla="*/ 168 h 219"/>
                  <a:gd name="T52" fmla="*/ 123 w 143"/>
                  <a:gd name="T53" fmla="*/ 195 h 219"/>
                  <a:gd name="T54" fmla="*/ 122 w 143"/>
                  <a:gd name="T55" fmla="*/ 203 h 219"/>
                  <a:gd name="T56" fmla="*/ 118 w 143"/>
                  <a:gd name="T57" fmla="*/ 209 h 219"/>
                  <a:gd name="T58" fmla="*/ 103 w 143"/>
                  <a:gd name="T59" fmla="*/ 196 h 219"/>
                  <a:gd name="T60" fmla="*/ 49 w 143"/>
                  <a:gd name="T61" fmla="*/ 148 h 219"/>
                  <a:gd name="T62" fmla="*/ 9 w 143"/>
                  <a:gd name="T63" fmla="*/ 95 h 219"/>
                  <a:gd name="T64" fmla="*/ 24 w 143"/>
                  <a:gd name="T65" fmla="*/ 53 h 219"/>
                  <a:gd name="T66" fmla="*/ 93 w 143"/>
                  <a:gd name="T67" fmla="*/ 14 h 219"/>
                  <a:gd name="T68" fmla="*/ 122 w 143"/>
                  <a:gd name="T69" fmla="*/ 37 h 2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43" h="219">
                    <a:moveTo>
                      <a:pt x="90" y="6"/>
                    </a:moveTo>
                    <a:cubicBezTo>
                      <a:pt x="89" y="6"/>
                      <a:pt x="89" y="6"/>
                      <a:pt x="89" y="6"/>
                    </a:cubicBezTo>
                    <a:cubicBezTo>
                      <a:pt x="89" y="6"/>
                      <a:pt x="89" y="6"/>
                      <a:pt x="89" y="6"/>
                    </a:cubicBezTo>
                    <a:cubicBezTo>
                      <a:pt x="69" y="21"/>
                      <a:pt x="33" y="43"/>
                      <a:pt x="23" y="44"/>
                    </a:cubicBezTo>
                    <a:cubicBezTo>
                      <a:pt x="8" y="46"/>
                      <a:pt x="0" y="62"/>
                      <a:pt x="0" y="95"/>
                    </a:cubicBezTo>
                    <a:cubicBezTo>
                      <a:pt x="0" y="122"/>
                      <a:pt x="22" y="138"/>
                      <a:pt x="44" y="155"/>
                    </a:cubicBezTo>
                    <a:cubicBezTo>
                      <a:pt x="59" y="166"/>
                      <a:pt x="82" y="188"/>
                      <a:pt x="97" y="202"/>
                    </a:cubicBezTo>
                    <a:cubicBezTo>
                      <a:pt x="113" y="217"/>
                      <a:pt x="113" y="217"/>
                      <a:pt x="113" y="217"/>
                    </a:cubicBezTo>
                    <a:cubicBezTo>
                      <a:pt x="116" y="219"/>
                      <a:pt x="120" y="219"/>
                      <a:pt x="125" y="214"/>
                    </a:cubicBezTo>
                    <a:cubicBezTo>
                      <a:pt x="133" y="206"/>
                      <a:pt x="138" y="186"/>
                      <a:pt x="119" y="163"/>
                    </a:cubicBezTo>
                    <a:cubicBezTo>
                      <a:pt x="109" y="150"/>
                      <a:pt x="109" y="150"/>
                      <a:pt x="109" y="150"/>
                    </a:cubicBezTo>
                    <a:cubicBezTo>
                      <a:pt x="99" y="138"/>
                      <a:pt x="90" y="128"/>
                      <a:pt x="92" y="123"/>
                    </a:cubicBezTo>
                    <a:cubicBezTo>
                      <a:pt x="92" y="121"/>
                      <a:pt x="95" y="119"/>
                      <a:pt x="99" y="118"/>
                    </a:cubicBezTo>
                    <a:cubicBezTo>
                      <a:pt x="116" y="111"/>
                      <a:pt x="134" y="91"/>
                      <a:pt x="139" y="73"/>
                    </a:cubicBezTo>
                    <a:cubicBezTo>
                      <a:pt x="143" y="62"/>
                      <a:pt x="142" y="52"/>
                      <a:pt x="137" y="45"/>
                    </a:cubicBezTo>
                    <a:cubicBezTo>
                      <a:pt x="129" y="33"/>
                      <a:pt x="129" y="33"/>
                      <a:pt x="129" y="33"/>
                    </a:cubicBezTo>
                    <a:cubicBezTo>
                      <a:pt x="119" y="16"/>
                      <a:pt x="110" y="0"/>
                      <a:pt x="90" y="6"/>
                    </a:cubicBezTo>
                    <a:close/>
                    <a:moveTo>
                      <a:pt x="122" y="37"/>
                    </a:moveTo>
                    <a:cubicBezTo>
                      <a:pt x="130" y="50"/>
                      <a:pt x="130" y="50"/>
                      <a:pt x="130" y="50"/>
                    </a:cubicBezTo>
                    <a:cubicBezTo>
                      <a:pt x="132" y="53"/>
                      <a:pt x="133" y="57"/>
                      <a:pt x="133" y="61"/>
                    </a:cubicBezTo>
                    <a:cubicBezTo>
                      <a:pt x="133" y="64"/>
                      <a:pt x="132" y="67"/>
                      <a:pt x="131" y="70"/>
                    </a:cubicBezTo>
                    <a:cubicBezTo>
                      <a:pt x="126" y="87"/>
                      <a:pt x="108" y="104"/>
                      <a:pt x="95" y="110"/>
                    </a:cubicBezTo>
                    <a:cubicBezTo>
                      <a:pt x="88" y="112"/>
                      <a:pt x="84" y="116"/>
                      <a:pt x="83" y="121"/>
                    </a:cubicBezTo>
                    <a:cubicBezTo>
                      <a:pt x="83" y="122"/>
                      <a:pt x="83" y="123"/>
                      <a:pt x="83" y="124"/>
                    </a:cubicBezTo>
                    <a:cubicBezTo>
                      <a:pt x="83" y="133"/>
                      <a:pt x="91" y="142"/>
                      <a:pt x="102" y="156"/>
                    </a:cubicBezTo>
                    <a:cubicBezTo>
                      <a:pt x="112" y="168"/>
                      <a:pt x="112" y="168"/>
                      <a:pt x="112" y="168"/>
                    </a:cubicBezTo>
                    <a:cubicBezTo>
                      <a:pt x="121" y="179"/>
                      <a:pt x="123" y="188"/>
                      <a:pt x="123" y="195"/>
                    </a:cubicBezTo>
                    <a:cubicBezTo>
                      <a:pt x="123" y="198"/>
                      <a:pt x="123" y="201"/>
                      <a:pt x="122" y="203"/>
                    </a:cubicBezTo>
                    <a:cubicBezTo>
                      <a:pt x="121" y="207"/>
                      <a:pt x="119" y="209"/>
                      <a:pt x="118" y="209"/>
                    </a:cubicBezTo>
                    <a:cubicBezTo>
                      <a:pt x="116" y="208"/>
                      <a:pt x="103" y="196"/>
                      <a:pt x="103" y="196"/>
                    </a:cubicBezTo>
                    <a:cubicBezTo>
                      <a:pt x="88" y="181"/>
                      <a:pt x="65" y="159"/>
                      <a:pt x="49" y="148"/>
                    </a:cubicBezTo>
                    <a:cubicBezTo>
                      <a:pt x="28" y="132"/>
                      <a:pt x="9" y="118"/>
                      <a:pt x="9" y="95"/>
                    </a:cubicBezTo>
                    <a:cubicBezTo>
                      <a:pt x="9" y="77"/>
                      <a:pt x="12" y="54"/>
                      <a:pt x="24" y="53"/>
                    </a:cubicBezTo>
                    <a:cubicBezTo>
                      <a:pt x="39" y="52"/>
                      <a:pt x="86" y="19"/>
                      <a:pt x="93" y="14"/>
                    </a:cubicBezTo>
                    <a:cubicBezTo>
                      <a:pt x="105" y="11"/>
                      <a:pt x="111" y="20"/>
                      <a:pt x="122"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98" name="Freeform 1973">
                <a:extLst>
                  <a:ext uri="{FF2B5EF4-FFF2-40B4-BE49-F238E27FC236}">
                    <a16:creationId xmlns:a16="http://schemas.microsoft.com/office/drawing/2014/main" id="{2999A23E-695B-520A-9861-8F750DB8FB2F}"/>
                  </a:ext>
                </a:extLst>
              </p:cNvPr>
              <p:cNvSpPr>
                <a:spLocks/>
              </p:cNvSpPr>
              <p:nvPr/>
            </p:nvSpPr>
            <p:spPr bwMode="auto">
              <a:xfrm>
                <a:off x="1936" y="768"/>
                <a:ext cx="12" cy="13"/>
              </a:xfrm>
              <a:custGeom>
                <a:avLst/>
                <a:gdLst>
                  <a:gd name="T0" fmla="*/ 32 w 54"/>
                  <a:gd name="T1" fmla="*/ 1 h 60"/>
                  <a:gd name="T2" fmla="*/ 18 w 54"/>
                  <a:gd name="T3" fmla="*/ 37 h 60"/>
                  <a:gd name="T4" fmla="*/ 54 w 54"/>
                  <a:gd name="T5" fmla="*/ 38 h 60"/>
                  <a:gd name="T6" fmla="*/ 32 w 54"/>
                  <a:gd name="T7" fmla="*/ 1 h 60"/>
                </a:gdLst>
                <a:ahLst/>
                <a:cxnLst>
                  <a:cxn ang="0">
                    <a:pos x="T0" y="T1"/>
                  </a:cxn>
                  <a:cxn ang="0">
                    <a:pos x="T2" y="T3"/>
                  </a:cxn>
                  <a:cxn ang="0">
                    <a:pos x="T4" y="T5"/>
                  </a:cxn>
                  <a:cxn ang="0">
                    <a:pos x="T6" y="T7"/>
                  </a:cxn>
                </a:cxnLst>
                <a:rect l="0" t="0" r="r" b="b"/>
                <a:pathLst>
                  <a:path w="54" h="60">
                    <a:moveTo>
                      <a:pt x="32" y="1"/>
                    </a:moveTo>
                    <a:cubicBezTo>
                      <a:pt x="32" y="1"/>
                      <a:pt x="0" y="14"/>
                      <a:pt x="18" y="37"/>
                    </a:cubicBezTo>
                    <a:cubicBezTo>
                      <a:pt x="35" y="60"/>
                      <a:pt x="54" y="59"/>
                      <a:pt x="54" y="38"/>
                    </a:cubicBezTo>
                    <a:cubicBezTo>
                      <a:pt x="54" y="18"/>
                      <a:pt x="49" y="0"/>
                      <a:pt x="3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99" name="Freeform 1974">
                <a:extLst>
                  <a:ext uri="{FF2B5EF4-FFF2-40B4-BE49-F238E27FC236}">
                    <a16:creationId xmlns:a16="http://schemas.microsoft.com/office/drawing/2014/main" id="{A1FDE869-131A-5134-E45C-0FE8E3F28527}"/>
                  </a:ext>
                </a:extLst>
              </p:cNvPr>
              <p:cNvSpPr>
                <a:spLocks noEditPoints="1"/>
              </p:cNvSpPr>
              <p:nvPr/>
            </p:nvSpPr>
            <p:spPr bwMode="auto">
              <a:xfrm>
                <a:off x="1937" y="767"/>
                <a:ext cx="12" cy="14"/>
              </a:xfrm>
              <a:custGeom>
                <a:avLst/>
                <a:gdLst>
                  <a:gd name="T0" fmla="*/ 25 w 51"/>
                  <a:gd name="T1" fmla="*/ 1 h 65"/>
                  <a:gd name="T2" fmla="*/ 24 w 51"/>
                  <a:gd name="T3" fmla="*/ 1 h 65"/>
                  <a:gd name="T4" fmla="*/ 23 w 51"/>
                  <a:gd name="T5" fmla="*/ 1 h 65"/>
                  <a:gd name="T6" fmla="*/ 2 w 51"/>
                  <a:gd name="T7" fmla="*/ 22 h 65"/>
                  <a:gd name="T8" fmla="*/ 7 w 51"/>
                  <a:gd name="T9" fmla="*/ 44 h 65"/>
                  <a:gd name="T10" fmla="*/ 40 w 51"/>
                  <a:gd name="T11" fmla="*/ 62 h 65"/>
                  <a:gd name="T12" fmla="*/ 51 w 51"/>
                  <a:gd name="T13" fmla="*/ 42 h 65"/>
                  <a:gd name="T14" fmla="*/ 41 w 51"/>
                  <a:gd name="T15" fmla="*/ 6 h 65"/>
                  <a:gd name="T16" fmla="*/ 25 w 51"/>
                  <a:gd name="T17" fmla="*/ 1 h 65"/>
                  <a:gd name="T18" fmla="*/ 35 w 51"/>
                  <a:gd name="T19" fmla="*/ 12 h 65"/>
                  <a:gd name="T20" fmla="*/ 42 w 51"/>
                  <a:gd name="T21" fmla="*/ 42 h 65"/>
                  <a:gd name="T22" fmla="*/ 37 w 51"/>
                  <a:gd name="T23" fmla="*/ 53 h 65"/>
                  <a:gd name="T24" fmla="*/ 14 w 51"/>
                  <a:gd name="T25" fmla="*/ 38 h 65"/>
                  <a:gd name="T26" fmla="*/ 10 w 51"/>
                  <a:gd name="T27" fmla="*/ 28 h 65"/>
                  <a:gd name="T28" fmla="*/ 10 w 51"/>
                  <a:gd name="T29" fmla="*/ 24 h 65"/>
                  <a:gd name="T30" fmla="*/ 26 w 51"/>
                  <a:gd name="T31" fmla="*/ 9 h 65"/>
                  <a:gd name="T32" fmla="*/ 35 w 51"/>
                  <a:gd name="T33" fmla="*/ 12 h 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65">
                    <a:moveTo>
                      <a:pt x="25" y="1"/>
                    </a:moveTo>
                    <a:cubicBezTo>
                      <a:pt x="24" y="1"/>
                      <a:pt x="24" y="1"/>
                      <a:pt x="24" y="1"/>
                    </a:cubicBezTo>
                    <a:cubicBezTo>
                      <a:pt x="23" y="1"/>
                      <a:pt x="23" y="1"/>
                      <a:pt x="23" y="1"/>
                    </a:cubicBezTo>
                    <a:cubicBezTo>
                      <a:pt x="23" y="1"/>
                      <a:pt x="6" y="8"/>
                      <a:pt x="2" y="22"/>
                    </a:cubicBezTo>
                    <a:cubicBezTo>
                      <a:pt x="0" y="29"/>
                      <a:pt x="2" y="36"/>
                      <a:pt x="7" y="44"/>
                    </a:cubicBezTo>
                    <a:cubicBezTo>
                      <a:pt x="18" y="58"/>
                      <a:pt x="30" y="65"/>
                      <a:pt x="40" y="62"/>
                    </a:cubicBezTo>
                    <a:cubicBezTo>
                      <a:pt x="47" y="59"/>
                      <a:pt x="51" y="52"/>
                      <a:pt x="51" y="42"/>
                    </a:cubicBezTo>
                    <a:cubicBezTo>
                      <a:pt x="51" y="24"/>
                      <a:pt x="48" y="12"/>
                      <a:pt x="41" y="6"/>
                    </a:cubicBezTo>
                    <a:cubicBezTo>
                      <a:pt x="36" y="2"/>
                      <a:pt x="31" y="0"/>
                      <a:pt x="25" y="1"/>
                    </a:cubicBezTo>
                    <a:close/>
                    <a:moveTo>
                      <a:pt x="35" y="12"/>
                    </a:moveTo>
                    <a:cubicBezTo>
                      <a:pt x="38" y="15"/>
                      <a:pt x="42" y="23"/>
                      <a:pt x="42" y="42"/>
                    </a:cubicBezTo>
                    <a:cubicBezTo>
                      <a:pt x="42" y="48"/>
                      <a:pt x="40" y="52"/>
                      <a:pt x="37" y="53"/>
                    </a:cubicBezTo>
                    <a:cubicBezTo>
                      <a:pt x="32" y="55"/>
                      <a:pt x="23" y="51"/>
                      <a:pt x="14" y="38"/>
                    </a:cubicBezTo>
                    <a:cubicBezTo>
                      <a:pt x="11" y="35"/>
                      <a:pt x="10" y="31"/>
                      <a:pt x="10" y="28"/>
                    </a:cubicBezTo>
                    <a:cubicBezTo>
                      <a:pt x="10" y="27"/>
                      <a:pt x="10" y="26"/>
                      <a:pt x="10" y="24"/>
                    </a:cubicBezTo>
                    <a:cubicBezTo>
                      <a:pt x="13" y="15"/>
                      <a:pt x="24" y="10"/>
                      <a:pt x="26" y="9"/>
                    </a:cubicBezTo>
                    <a:cubicBezTo>
                      <a:pt x="30" y="9"/>
                      <a:pt x="32" y="10"/>
                      <a:pt x="35"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400" name="Freeform 1975">
                <a:extLst>
                  <a:ext uri="{FF2B5EF4-FFF2-40B4-BE49-F238E27FC236}">
                    <a16:creationId xmlns:a16="http://schemas.microsoft.com/office/drawing/2014/main" id="{19E639CC-C1E1-E48A-EB9F-96F651FB6864}"/>
                  </a:ext>
                </a:extLst>
              </p:cNvPr>
              <p:cNvSpPr>
                <a:spLocks/>
              </p:cNvSpPr>
              <p:nvPr/>
            </p:nvSpPr>
            <p:spPr bwMode="auto">
              <a:xfrm>
                <a:off x="1937" y="789"/>
                <a:ext cx="59" cy="49"/>
              </a:xfrm>
              <a:custGeom>
                <a:avLst/>
                <a:gdLst>
                  <a:gd name="T0" fmla="*/ 87 w 266"/>
                  <a:gd name="T1" fmla="*/ 3 h 225"/>
                  <a:gd name="T2" fmla="*/ 29 w 266"/>
                  <a:gd name="T3" fmla="*/ 40 h 225"/>
                  <a:gd name="T4" fmla="*/ 35 w 266"/>
                  <a:gd name="T5" fmla="*/ 85 h 225"/>
                  <a:gd name="T6" fmla="*/ 84 w 266"/>
                  <a:gd name="T7" fmla="*/ 106 h 225"/>
                  <a:gd name="T8" fmla="*/ 121 w 266"/>
                  <a:gd name="T9" fmla="*/ 153 h 225"/>
                  <a:gd name="T10" fmla="*/ 150 w 266"/>
                  <a:gd name="T11" fmla="*/ 177 h 225"/>
                  <a:gd name="T12" fmla="*/ 202 w 266"/>
                  <a:gd name="T13" fmla="*/ 174 h 225"/>
                  <a:gd name="T14" fmla="*/ 189 w 266"/>
                  <a:gd name="T15" fmla="*/ 138 h 225"/>
                  <a:gd name="T16" fmla="*/ 213 w 266"/>
                  <a:gd name="T17" fmla="*/ 115 h 225"/>
                  <a:gd name="T18" fmla="*/ 229 w 266"/>
                  <a:gd name="T19" fmla="*/ 81 h 225"/>
                  <a:gd name="T20" fmla="*/ 189 w 266"/>
                  <a:gd name="T21" fmla="*/ 47 h 225"/>
                  <a:gd name="T22" fmla="*/ 144 w 266"/>
                  <a:gd name="T23" fmla="*/ 37 h 225"/>
                  <a:gd name="T24" fmla="*/ 87 w 266"/>
                  <a:gd name="T25" fmla="*/ 3 h 2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66" h="225">
                    <a:moveTo>
                      <a:pt x="87" y="3"/>
                    </a:moveTo>
                    <a:cubicBezTo>
                      <a:pt x="87" y="3"/>
                      <a:pt x="30" y="21"/>
                      <a:pt x="29" y="40"/>
                    </a:cubicBezTo>
                    <a:cubicBezTo>
                      <a:pt x="27" y="59"/>
                      <a:pt x="0" y="81"/>
                      <a:pt x="35" y="85"/>
                    </a:cubicBezTo>
                    <a:cubicBezTo>
                      <a:pt x="69" y="89"/>
                      <a:pt x="84" y="79"/>
                      <a:pt x="84" y="106"/>
                    </a:cubicBezTo>
                    <a:cubicBezTo>
                      <a:pt x="84" y="134"/>
                      <a:pt x="97" y="147"/>
                      <a:pt x="121" y="153"/>
                    </a:cubicBezTo>
                    <a:cubicBezTo>
                      <a:pt x="146" y="158"/>
                      <a:pt x="144" y="160"/>
                      <a:pt x="150" y="177"/>
                    </a:cubicBezTo>
                    <a:cubicBezTo>
                      <a:pt x="156" y="194"/>
                      <a:pt x="202" y="225"/>
                      <a:pt x="202" y="174"/>
                    </a:cubicBezTo>
                    <a:cubicBezTo>
                      <a:pt x="202" y="124"/>
                      <a:pt x="199" y="150"/>
                      <a:pt x="189" y="138"/>
                    </a:cubicBezTo>
                    <a:cubicBezTo>
                      <a:pt x="179" y="127"/>
                      <a:pt x="201" y="118"/>
                      <a:pt x="213" y="115"/>
                    </a:cubicBezTo>
                    <a:cubicBezTo>
                      <a:pt x="226" y="112"/>
                      <a:pt x="266" y="87"/>
                      <a:pt x="229" y="81"/>
                    </a:cubicBezTo>
                    <a:cubicBezTo>
                      <a:pt x="196" y="75"/>
                      <a:pt x="189" y="53"/>
                      <a:pt x="189" y="47"/>
                    </a:cubicBezTo>
                    <a:cubicBezTo>
                      <a:pt x="189" y="42"/>
                      <a:pt x="160" y="36"/>
                      <a:pt x="144" y="37"/>
                    </a:cubicBezTo>
                    <a:cubicBezTo>
                      <a:pt x="128" y="39"/>
                      <a:pt x="127" y="0"/>
                      <a:pt x="8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401" name="Freeform 1976">
                <a:extLst>
                  <a:ext uri="{FF2B5EF4-FFF2-40B4-BE49-F238E27FC236}">
                    <a16:creationId xmlns:a16="http://schemas.microsoft.com/office/drawing/2014/main" id="{9364228B-0995-9977-46E7-BE0DF79CB2F0}"/>
                  </a:ext>
                </a:extLst>
              </p:cNvPr>
              <p:cNvSpPr>
                <a:spLocks noEditPoints="1"/>
              </p:cNvSpPr>
              <p:nvPr/>
            </p:nvSpPr>
            <p:spPr bwMode="auto">
              <a:xfrm>
                <a:off x="1940" y="788"/>
                <a:ext cx="52" cy="47"/>
              </a:xfrm>
              <a:custGeom>
                <a:avLst/>
                <a:gdLst>
                  <a:gd name="T0" fmla="*/ 75 w 238"/>
                  <a:gd name="T1" fmla="*/ 2 h 213"/>
                  <a:gd name="T2" fmla="*/ 75 w 238"/>
                  <a:gd name="T3" fmla="*/ 2 h 213"/>
                  <a:gd name="T4" fmla="*/ 74 w 238"/>
                  <a:gd name="T5" fmla="*/ 3 h 213"/>
                  <a:gd name="T6" fmla="*/ 14 w 238"/>
                  <a:gd name="T7" fmla="*/ 44 h 213"/>
                  <a:gd name="T8" fmla="*/ 8 w 238"/>
                  <a:gd name="T9" fmla="*/ 60 h 213"/>
                  <a:gd name="T10" fmla="*/ 3 w 238"/>
                  <a:gd name="T11" fmla="*/ 84 h 213"/>
                  <a:gd name="T12" fmla="*/ 23 w 238"/>
                  <a:gd name="T13" fmla="*/ 93 h 213"/>
                  <a:gd name="T14" fmla="*/ 48 w 238"/>
                  <a:gd name="T15" fmla="*/ 95 h 213"/>
                  <a:gd name="T16" fmla="*/ 68 w 238"/>
                  <a:gd name="T17" fmla="*/ 110 h 213"/>
                  <a:gd name="T18" fmla="*/ 109 w 238"/>
                  <a:gd name="T19" fmla="*/ 161 h 213"/>
                  <a:gd name="T20" fmla="*/ 134 w 238"/>
                  <a:gd name="T21" fmla="*/ 179 h 213"/>
                  <a:gd name="T22" fmla="*/ 135 w 238"/>
                  <a:gd name="T23" fmla="*/ 183 h 213"/>
                  <a:gd name="T24" fmla="*/ 177 w 238"/>
                  <a:gd name="T25" fmla="*/ 210 h 213"/>
                  <a:gd name="T26" fmla="*/ 195 w 238"/>
                  <a:gd name="T27" fmla="*/ 178 h 213"/>
                  <a:gd name="T28" fmla="*/ 191 w 238"/>
                  <a:gd name="T29" fmla="*/ 143 h 213"/>
                  <a:gd name="T30" fmla="*/ 185 w 238"/>
                  <a:gd name="T31" fmla="*/ 141 h 213"/>
                  <a:gd name="T32" fmla="*/ 181 w 238"/>
                  <a:gd name="T33" fmla="*/ 139 h 213"/>
                  <a:gd name="T34" fmla="*/ 180 w 238"/>
                  <a:gd name="T35" fmla="*/ 135 h 213"/>
                  <a:gd name="T36" fmla="*/ 203 w 238"/>
                  <a:gd name="T37" fmla="*/ 123 h 213"/>
                  <a:gd name="T38" fmla="*/ 238 w 238"/>
                  <a:gd name="T39" fmla="*/ 94 h 213"/>
                  <a:gd name="T40" fmla="*/ 219 w 238"/>
                  <a:gd name="T41" fmla="*/ 80 h 213"/>
                  <a:gd name="T42" fmla="*/ 182 w 238"/>
                  <a:gd name="T43" fmla="*/ 51 h 213"/>
                  <a:gd name="T44" fmla="*/ 180 w 238"/>
                  <a:gd name="T45" fmla="*/ 46 h 213"/>
                  <a:gd name="T46" fmla="*/ 133 w 238"/>
                  <a:gd name="T47" fmla="*/ 37 h 213"/>
                  <a:gd name="T48" fmla="*/ 122 w 238"/>
                  <a:gd name="T49" fmla="*/ 27 h 213"/>
                  <a:gd name="T50" fmla="*/ 75 w 238"/>
                  <a:gd name="T51" fmla="*/ 2 h 213"/>
                  <a:gd name="T52" fmla="*/ 115 w 238"/>
                  <a:gd name="T53" fmla="*/ 32 h 213"/>
                  <a:gd name="T54" fmla="*/ 134 w 238"/>
                  <a:gd name="T55" fmla="*/ 46 h 213"/>
                  <a:gd name="T56" fmla="*/ 174 w 238"/>
                  <a:gd name="T57" fmla="*/ 52 h 213"/>
                  <a:gd name="T58" fmla="*/ 218 w 238"/>
                  <a:gd name="T59" fmla="*/ 89 h 213"/>
                  <a:gd name="T60" fmla="*/ 229 w 238"/>
                  <a:gd name="T61" fmla="*/ 94 h 213"/>
                  <a:gd name="T62" fmla="*/ 229 w 238"/>
                  <a:gd name="T63" fmla="*/ 94 h 213"/>
                  <a:gd name="T64" fmla="*/ 202 w 238"/>
                  <a:gd name="T65" fmla="*/ 115 h 213"/>
                  <a:gd name="T66" fmla="*/ 172 w 238"/>
                  <a:gd name="T67" fmla="*/ 133 h 213"/>
                  <a:gd name="T68" fmla="*/ 171 w 238"/>
                  <a:gd name="T69" fmla="*/ 136 h 213"/>
                  <a:gd name="T70" fmla="*/ 175 w 238"/>
                  <a:gd name="T71" fmla="*/ 145 h 213"/>
                  <a:gd name="T72" fmla="*/ 185 w 238"/>
                  <a:gd name="T73" fmla="*/ 150 h 213"/>
                  <a:gd name="T74" fmla="*/ 187 w 238"/>
                  <a:gd name="T75" fmla="*/ 178 h 213"/>
                  <a:gd name="T76" fmla="*/ 176 w 238"/>
                  <a:gd name="T77" fmla="*/ 202 h 213"/>
                  <a:gd name="T78" fmla="*/ 143 w 238"/>
                  <a:gd name="T79" fmla="*/ 180 h 213"/>
                  <a:gd name="T80" fmla="*/ 142 w 238"/>
                  <a:gd name="T81" fmla="*/ 176 h 213"/>
                  <a:gd name="T82" fmla="*/ 111 w 238"/>
                  <a:gd name="T83" fmla="*/ 152 h 213"/>
                  <a:gd name="T84" fmla="*/ 77 w 238"/>
                  <a:gd name="T85" fmla="*/ 110 h 213"/>
                  <a:gd name="T86" fmla="*/ 48 w 238"/>
                  <a:gd name="T87" fmla="*/ 86 h 213"/>
                  <a:gd name="T88" fmla="*/ 24 w 238"/>
                  <a:gd name="T89" fmla="*/ 85 h 213"/>
                  <a:gd name="T90" fmla="*/ 11 w 238"/>
                  <a:gd name="T91" fmla="*/ 79 h 213"/>
                  <a:gd name="T92" fmla="*/ 11 w 238"/>
                  <a:gd name="T93" fmla="*/ 77 h 213"/>
                  <a:gd name="T94" fmla="*/ 15 w 238"/>
                  <a:gd name="T95" fmla="*/ 64 h 213"/>
                  <a:gd name="T96" fmla="*/ 22 w 238"/>
                  <a:gd name="T97" fmla="*/ 44 h 213"/>
                  <a:gd name="T98" fmla="*/ 76 w 238"/>
                  <a:gd name="T99" fmla="*/ 11 h 213"/>
                  <a:gd name="T100" fmla="*/ 115 w 238"/>
                  <a:gd name="T101" fmla="*/ 32 h 2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238" h="213">
                    <a:moveTo>
                      <a:pt x="75" y="2"/>
                    </a:moveTo>
                    <a:cubicBezTo>
                      <a:pt x="75" y="2"/>
                      <a:pt x="75" y="2"/>
                      <a:pt x="75" y="2"/>
                    </a:cubicBezTo>
                    <a:cubicBezTo>
                      <a:pt x="74" y="3"/>
                      <a:pt x="74" y="3"/>
                      <a:pt x="74" y="3"/>
                    </a:cubicBezTo>
                    <a:cubicBezTo>
                      <a:pt x="64" y="6"/>
                      <a:pt x="15" y="23"/>
                      <a:pt x="14" y="44"/>
                    </a:cubicBezTo>
                    <a:cubicBezTo>
                      <a:pt x="13" y="49"/>
                      <a:pt x="10" y="55"/>
                      <a:pt x="8" y="60"/>
                    </a:cubicBezTo>
                    <a:cubicBezTo>
                      <a:pt x="4" y="68"/>
                      <a:pt x="0" y="77"/>
                      <a:pt x="3" y="84"/>
                    </a:cubicBezTo>
                    <a:cubicBezTo>
                      <a:pt x="6" y="89"/>
                      <a:pt x="12" y="92"/>
                      <a:pt x="23" y="93"/>
                    </a:cubicBezTo>
                    <a:cubicBezTo>
                      <a:pt x="48" y="95"/>
                      <a:pt x="48" y="95"/>
                      <a:pt x="48" y="95"/>
                    </a:cubicBezTo>
                    <a:cubicBezTo>
                      <a:pt x="65" y="95"/>
                      <a:pt x="68" y="95"/>
                      <a:pt x="68" y="110"/>
                    </a:cubicBezTo>
                    <a:cubicBezTo>
                      <a:pt x="68" y="138"/>
                      <a:pt x="81" y="154"/>
                      <a:pt x="109" y="161"/>
                    </a:cubicBezTo>
                    <a:cubicBezTo>
                      <a:pt x="129" y="166"/>
                      <a:pt x="130" y="166"/>
                      <a:pt x="134" y="179"/>
                    </a:cubicBezTo>
                    <a:cubicBezTo>
                      <a:pt x="135" y="183"/>
                      <a:pt x="135" y="183"/>
                      <a:pt x="135" y="183"/>
                    </a:cubicBezTo>
                    <a:cubicBezTo>
                      <a:pt x="139" y="195"/>
                      <a:pt x="160" y="213"/>
                      <a:pt x="177" y="210"/>
                    </a:cubicBezTo>
                    <a:cubicBezTo>
                      <a:pt x="185" y="209"/>
                      <a:pt x="195" y="202"/>
                      <a:pt x="195" y="178"/>
                    </a:cubicBezTo>
                    <a:cubicBezTo>
                      <a:pt x="195" y="150"/>
                      <a:pt x="194" y="145"/>
                      <a:pt x="191" y="143"/>
                    </a:cubicBezTo>
                    <a:cubicBezTo>
                      <a:pt x="185" y="141"/>
                      <a:pt x="185" y="141"/>
                      <a:pt x="185" y="141"/>
                    </a:cubicBezTo>
                    <a:cubicBezTo>
                      <a:pt x="184" y="141"/>
                      <a:pt x="183" y="141"/>
                      <a:pt x="181" y="139"/>
                    </a:cubicBezTo>
                    <a:cubicBezTo>
                      <a:pt x="179" y="137"/>
                      <a:pt x="180" y="136"/>
                      <a:pt x="180" y="135"/>
                    </a:cubicBezTo>
                    <a:cubicBezTo>
                      <a:pt x="181" y="131"/>
                      <a:pt x="192" y="126"/>
                      <a:pt x="203" y="123"/>
                    </a:cubicBezTo>
                    <a:cubicBezTo>
                      <a:pt x="213" y="121"/>
                      <a:pt x="238" y="107"/>
                      <a:pt x="238" y="94"/>
                    </a:cubicBezTo>
                    <a:cubicBezTo>
                      <a:pt x="238" y="87"/>
                      <a:pt x="231" y="82"/>
                      <a:pt x="219" y="80"/>
                    </a:cubicBezTo>
                    <a:cubicBezTo>
                      <a:pt x="189" y="75"/>
                      <a:pt x="182" y="56"/>
                      <a:pt x="182" y="51"/>
                    </a:cubicBezTo>
                    <a:cubicBezTo>
                      <a:pt x="180" y="46"/>
                      <a:pt x="180" y="46"/>
                      <a:pt x="180" y="46"/>
                    </a:cubicBezTo>
                    <a:cubicBezTo>
                      <a:pt x="173" y="40"/>
                      <a:pt x="147" y="36"/>
                      <a:pt x="133" y="37"/>
                    </a:cubicBezTo>
                    <a:cubicBezTo>
                      <a:pt x="129" y="37"/>
                      <a:pt x="127" y="34"/>
                      <a:pt x="122" y="27"/>
                    </a:cubicBezTo>
                    <a:cubicBezTo>
                      <a:pt x="114" y="16"/>
                      <a:pt x="102" y="0"/>
                      <a:pt x="75" y="2"/>
                    </a:cubicBezTo>
                    <a:close/>
                    <a:moveTo>
                      <a:pt x="115" y="32"/>
                    </a:moveTo>
                    <a:cubicBezTo>
                      <a:pt x="120" y="39"/>
                      <a:pt x="125" y="46"/>
                      <a:pt x="134" y="46"/>
                    </a:cubicBezTo>
                    <a:cubicBezTo>
                      <a:pt x="148" y="44"/>
                      <a:pt x="171" y="49"/>
                      <a:pt x="174" y="52"/>
                    </a:cubicBezTo>
                    <a:cubicBezTo>
                      <a:pt x="174" y="60"/>
                      <a:pt x="183" y="83"/>
                      <a:pt x="218" y="89"/>
                    </a:cubicBezTo>
                    <a:cubicBezTo>
                      <a:pt x="226" y="90"/>
                      <a:pt x="229" y="93"/>
                      <a:pt x="229" y="94"/>
                    </a:cubicBezTo>
                    <a:cubicBezTo>
                      <a:pt x="229" y="94"/>
                      <a:pt x="229" y="94"/>
                      <a:pt x="229" y="94"/>
                    </a:cubicBezTo>
                    <a:cubicBezTo>
                      <a:pt x="229" y="101"/>
                      <a:pt x="210" y="113"/>
                      <a:pt x="202" y="115"/>
                    </a:cubicBezTo>
                    <a:cubicBezTo>
                      <a:pt x="197" y="116"/>
                      <a:pt x="175" y="121"/>
                      <a:pt x="172" y="133"/>
                    </a:cubicBezTo>
                    <a:cubicBezTo>
                      <a:pt x="171" y="134"/>
                      <a:pt x="171" y="135"/>
                      <a:pt x="171" y="136"/>
                    </a:cubicBezTo>
                    <a:cubicBezTo>
                      <a:pt x="171" y="139"/>
                      <a:pt x="172" y="142"/>
                      <a:pt x="175" y="145"/>
                    </a:cubicBezTo>
                    <a:cubicBezTo>
                      <a:pt x="179" y="150"/>
                      <a:pt x="183" y="150"/>
                      <a:pt x="185" y="150"/>
                    </a:cubicBezTo>
                    <a:cubicBezTo>
                      <a:pt x="187" y="154"/>
                      <a:pt x="187" y="171"/>
                      <a:pt x="187" y="178"/>
                    </a:cubicBezTo>
                    <a:cubicBezTo>
                      <a:pt x="187" y="188"/>
                      <a:pt x="185" y="200"/>
                      <a:pt x="176" y="202"/>
                    </a:cubicBezTo>
                    <a:cubicBezTo>
                      <a:pt x="164" y="203"/>
                      <a:pt x="146" y="189"/>
                      <a:pt x="143" y="180"/>
                    </a:cubicBezTo>
                    <a:cubicBezTo>
                      <a:pt x="142" y="176"/>
                      <a:pt x="142" y="176"/>
                      <a:pt x="142" y="176"/>
                    </a:cubicBezTo>
                    <a:cubicBezTo>
                      <a:pt x="137" y="160"/>
                      <a:pt x="135" y="158"/>
                      <a:pt x="111" y="152"/>
                    </a:cubicBezTo>
                    <a:cubicBezTo>
                      <a:pt x="87" y="147"/>
                      <a:pt x="77" y="134"/>
                      <a:pt x="77" y="110"/>
                    </a:cubicBezTo>
                    <a:cubicBezTo>
                      <a:pt x="77" y="86"/>
                      <a:pt x="65" y="86"/>
                      <a:pt x="48" y="86"/>
                    </a:cubicBezTo>
                    <a:cubicBezTo>
                      <a:pt x="24" y="85"/>
                      <a:pt x="24" y="85"/>
                      <a:pt x="24" y="85"/>
                    </a:cubicBezTo>
                    <a:cubicBezTo>
                      <a:pt x="14" y="83"/>
                      <a:pt x="12" y="81"/>
                      <a:pt x="11" y="79"/>
                    </a:cubicBezTo>
                    <a:cubicBezTo>
                      <a:pt x="11" y="79"/>
                      <a:pt x="11" y="78"/>
                      <a:pt x="11" y="77"/>
                    </a:cubicBezTo>
                    <a:cubicBezTo>
                      <a:pt x="11" y="74"/>
                      <a:pt x="13" y="69"/>
                      <a:pt x="15" y="64"/>
                    </a:cubicBezTo>
                    <a:cubicBezTo>
                      <a:pt x="18" y="58"/>
                      <a:pt x="22" y="51"/>
                      <a:pt x="22" y="44"/>
                    </a:cubicBezTo>
                    <a:cubicBezTo>
                      <a:pt x="23" y="34"/>
                      <a:pt x="54" y="18"/>
                      <a:pt x="76" y="11"/>
                    </a:cubicBezTo>
                    <a:cubicBezTo>
                      <a:pt x="98" y="10"/>
                      <a:pt x="107" y="21"/>
                      <a:pt x="115"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grpSp>
        <p:sp>
          <p:nvSpPr>
            <p:cNvPr id="24" name="Freeform 1978">
              <a:extLst>
                <a:ext uri="{FF2B5EF4-FFF2-40B4-BE49-F238E27FC236}">
                  <a16:creationId xmlns:a16="http://schemas.microsoft.com/office/drawing/2014/main" id="{C19F9F3D-9C6C-34E9-7CA2-EA99BE73A30C}"/>
                </a:ext>
              </a:extLst>
            </p:cNvPr>
            <p:cNvSpPr>
              <a:spLocks/>
            </p:cNvSpPr>
            <p:nvPr/>
          </p:nvSpPr>
          <p:spPr bwMode="auto">
            <a:xfrm>
              <a:off x="2065" y="677"/>
              <a:ext cx="15" cy="22"/>
            </a:xfrm>
            <a:custGeom>
              <a:avLst/>
              <a:gdLst>
                <a:gd name="T0" fmla="*/ 16 w 66"/>
                <a:gd name="T1" fmla="*/ 19 h 97"/>
                <a:gd name="T2" fmla="*/ 14 w 66"/>
                <a:gd name="T3" fmla="*/ 96 h 97"/>
                <a:gd name="T4" fmla="*/ 59 w 66"/>
                <a:gd name="T5" fmla="*/ 41 h 97"/>
                <a:gd name="T6" fmla="*/ 16 w 66"/>
                <a:gd name="T7" fmla="*/ 19 h 97"/>
              </a:gdLst>
              <a:ahLst/>
              <a:cxnLst>
                <a:cxn ang="0">
                  <a:pos x="T0" y="T1"/>
                </a:cxn>
                <a:cxn ang="0">
                  <a:pos x="T2" y="T3"/>
                </a:cxn>
                <a:cxn ang="0">
                  <a:pos x="T4" y="T5"/>
                </a:cxn>
                <a:cxn ang="0">
                  <a:pos x="T6" y="T7"/>
                </a:cxn>
              </a:cxnLst>
              <a:rect l="0" t="0" r="r" b="b"/>
              <a:pathLst>
                <a:path w="66" h="97">
                  <a:moveTo>
                    <a:pt x="16" y="19"/>
                  </a:moveTo>
                  <a:cubicBezTo>
                    <a:pt x="16" y="19"/>
                    <a:pt x="0" y="97"/>
                    <a:pt x="14" y="96"/>
                  </a:cubicBezTo>
                  <a:cubicBezTo>
                    <a:pt x="29" y="94"/>
                    <a:pt x="52" y="61"/>
                    <a:pt x="59" y="41"/>
                  </a:cubicBezTo>
                  <a:cubicBezTo>
                    <a:pt x="66" y="21"/>
                    <a:pt x="47" y="0"/>
                    <a:pt x="16"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5" name="Freeform 1979">
              <a:extLst>
                <a:ext uri="{FF2B5EF4-FFF2-40B4-BE49-F238E27FC236}">
                  <a16:creationId xmlns:a16="http://schemas.microsoft.com/office/drawing/2014/main" id="{5B087248-E259-29AA-A45B-617B61878DDD}"/>
                </a:ext>
              </a:extLst>
            </p:cNvPr>
            <p:cNvSpPr>
              <a:spLocks noEditPoints="1"/>
            </p:cNvSpPr>
            <p:nvPr/>
          </p:nvSpPr>
          <p:spPr bwMode="auto">
            <a:xfrm>
              <a:off x="2065" y="678"/>
              <a:ext cx="15" cy="21"/>
            </a:xfrm>
            <a:custGeom>
              <a:avLst/>
              <a:gdLst>
                <a:gd name="T0" fmla="*/ 16 w 69"/>
                <a:gd name="T1" fmla="*/ 10 h 95"/>
                <a:gd name="T2" fmla="*/ 14 w 69"/>
                <a:gd name="T3" fmla="*/ 11 h 95"/>
                <a:gd name="T4" fmla="*/ 13 w 69"/>
                <a:gd name="T5" fmla="*/ 13 h 95"/>
                <a:gd name="T6" fmla="*/ 10 w 69"/>
                <a:gd name="T7" fmla="*/ 92 h 95"/>
                <a:gd name="T8" fmla="*/ 17 w 69"/>
                <a:gd name="T9" fmla="*/ 95 h 95"/>
                <a:gd name="T10" fmla="*/ 65 w 69"/>
                <a:gd name="T11" fmla="*/ 37 h 95"/>
                <a:gd name="T12" fmla="*/ 58 w 69"/>
                <a:gd name="T13" fmla="*/ 8 h 95"/>
                <a:gd name="T14" fmla="*/ 16 w 69"/>
                <a:gd name="T15" fmla="*/ 10 h 95"/>
                <a:gd name="T16" fmla="*/ 53 w 69"/>
                <a:gd name="T17" fmla="*/ 15 h 95"/>
                <a:gd name="T18" fmla="*/ 57 w 69"/>
                <a:gd name="T19" fmla="*/ 34 h 95"/>
                <a:gd name="T20" fmla="*/ 16 w 69"/>
                <a:gd name="T21" fmla="*/ 86 h 95"/>
                <a:gd name="T22" fmla="*/ 14 w 69"/>
                <a:gd name="T23" fmla="*/ 76 h 95"/>
                <a:gd name="T24" fmla="*/ 22 w 69"/>
                <a:gd name="T25" fmla="*/ 17 h 95"/>
                <a:gd name="T26" fmla="*/ 53 w 69"/>
                <a:gd name="T27" fmla="*/ 15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69" h="95">
                  <a:moveTo>
                    <a:pt x="16" y="10"/>
                  </a:moveTo>
                  <a:cubicBezTo>
                    <a:pt x="14" y="11"/>
                    <a:pt x="14" y="11"/>
                    <a:pt x="14" y="11"/>
                  </a:cubicBezTo>
                  <a:cubicBezTo>
                    <a:pt x="13" y="13"/>
                    <a:pt x="13" y="13"/>
                    <a:pt x="13" y="13"/>
                  </a:cubicBezTo>
                  <a:cubicBezTo>
                    <a:pt x="10" y="29"/>
                    <a:pt x="0" y="82"/>
                    <a:pt x="10" y="92"/>
                  </a:cubicBezTo>
                  <a:cubicBezTo>
                    <a:pt x="12" y="94"/>
                    <a:pt x="14" y="95"/>
                    <a:pt x="17" y="95"/>
                  </a:cubicBezTo>
                  <a:cubicBezTo>
                    <a:pt x="35" y="93"/>
                    <a:pt x="58" y="57"/>
                    <a:pt x="65" y="37"/>
                  </a:cubicBezTo>
                  <a:cubicBezTo>
                    <a:pt x="69" y="26"/>
                    <a:pt x="66" y="15"/>
                    <a:pt x="58" y="8"/>
                  </a:cubicBezTo>
                  <a:cubicBezTo>
                    <a:pt x="48" y="0"/>
                    <a:pt x="32" y="1"/>
                    <a:pt x="16" y="10"/>
                  </a:cubicBezTo>
                  <a:close/>
                  <a:moveTo>
                    <a:pt x="53" y="15"/>
                  </a:moveTo>
                  <a:cubicBezTo>
                    <a:pt x="58" y="19"/>
                    <a:pt x="60" y="27"/>
                    <a:pt x="57" y="34"/>
                  </a:cubicBezTo>
                  <a:cubicBezTo>
                    <a:pt x="50" y="55"/>
                    <a:pt x="27" y="85"/>
                    <a:pt x="16" y="86"/>
                  </a:cubicBezTo>
                  <a:cubicBezTo>
                    <a:pt x="15" y="85"/>
                    <a:pt x="14" y="81"/>
                    <a:pt x="14" y="76"/>
                  </a:cubicBezTo>
                  <a:cubicBezTo>
                    <a:pt x="14" y="63"/>
                    <a:pt x="17" y="41"/>
                    <a:pt x="22" y="17"/>
                  </a:cubicBezTo>
                  <a:cubicBezTo>
                    <a:pt x="34" y="10"/>
                    <a:pt x="46" y="9"/>
                    <a:pt x="5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6" name="Freeform 1980">
              <a:extLst>
                <a:ext uri="{FF2B5EF4-FFF2-40B4-BE49-F238E27FC236}">
                  <a16:creationId xmlns:a16="http://schemas.microsoft.com/office/drawing/2014/main" id="{9A4AA967-5550-4967-6EBB-468F9039C74A}"/>
                </a:ext>
              </a:extLst>
            </p:cNvPr>
            <p:cNvSpPr>
              <a:spLocks/>
            </p:cNvSpPr>
            <p:nvPr/>
          </p:nvSpPr>
          <p:spPr bwMode="auto">
            <a:xfrm>
              <a:off x="2068" y="671"/>
              <a:ext cx="59" cy="72"/>
            </a:xfrm>
            <a:custGeom>
              <a:avLst/>
              <a:gdLst>
                <a:gd name="T0" fmla="*/ 84 w 266"/>
                <a:gd name="T1" fmla="*/ 20 h 322"/>
                <a:gd name="T2" fmla="*/ 75 w 266"/>
                <a:gd name="T3" fmla="*/ 105 h 322"/>
                <a:gd name="T4" fmla="*/ 58 w 266"/>
                <a:gd name="T5" fmla="*/ 128 h 322"/>
                <a:gd name="T6" fmla="*/ 38 w 266"/>
                <a:gd name="T7" fmla="*/ 167 h 322"/>
                <a:gd name="T8" fmla="*/ 12 w 266"/>
                <a:gd name="T9" fmla="*/ 283 h 322"/>
                <a:gd name="T10" fmla="*/ 31 w 266"/>
                <a:gd name="T11" fmla="*/ 310 h 322"/>
                <a:gd name="T12" fmla="*/ 166 w 266"/>
                <a:gd name="T13" fmla="*/ 208 h 322"/>
                <a:gd name="T14" fmla="*/ 219 w 266"/>
                <a:gd name="T15" fmla="*/ 176 h 322"/>
                <a:gd name="T16" fmla="*/ 266 w 266"/>
                <a:gd name="T17" fmla="*/ 120 h 322"/>
                <a:gd name="T18" fmla="*/ 237 w 266"/>
                <a:gd name="T19" fmla="*/ 84 h 322"/>
                <a:gd name="T20" fmla="*/ 173 w 266"/>
                <a:gd name="T21" fmla="*/ 74 h 322"/>
                <a:gd name="T22" fmla="*/ 84 w 266"/>
                <a:gd name="T23" fmla="*/ 20 h 3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66" h="322">
                  <a:moveTo>
                    <a:pt x="84" y="20"/>
                  </a:moveTo>
                  <a:cubicBezTo>
                    <a:pt x="84" y="20"/>
                    <a:pt x="75" y="101"/>
                    <a:pt x="75" y="105"/>
                  </a:cubicBezTo>
                  <a:cubicBezTo>
                    <a:pt x="75" y="110"/>
                    <a:pt x="74" y="128"/>
                    <a:pt x="58" y="128"/>
                  </a:cubicBezTo>
                  <a:cubicBezTo>
                    <a:pt x="42" y="128"/>
                    <a:pt x="42" y="146"/>
                    <a:pt x="38" y="167"/>
                  </a:cubicBezTo>
                  <a:cubicBezTo>
                    <a:pt x="33" y="189"/>
                    <a:pt x="12" y="283"/>
                    <a:pt x="12" y="283"/>
                  </a:cubicBezTo>
                  <a:cubicBezTo>
                    <a:pt x="12" y="283"/>
                    <a:pt x="0" y="322"/>
                    <a:pt x="31" y="310"/>
                  </a:cubicBezTo>
                  <a:cubicBezTo>
                    <a:pt x="61" y="299"/>
                    <a:pt x="160" y="216"/>
                    <a:pt x="166" y="208"/>
                  </a:cubicBezTo>
                  <a:cubicBezTo>
                    <a:pt x="172" y="199"/>
                    <a:pt x="204" y="190"/>
                    <a:pt x="219" y="176"/>
                  </a:cubicBezTo>
                  <a:cubicBezTo>
                    <a:pt x="235" y="161"/>
                    <a:pt x="266" y="134"/>
                    <a:pt x="266" y="120"/>
                  </a:cubicBezTo>
                  <a:cubicBezTo>
                    <a:pt x="266" y="105"/>
                    <a:pt x="266" y="76"/>
                    <a:pt x="237" y="84"/>
                  </a:cubicBezTo>
                  <a:cubicBezTo>
                    <a:pt x="208" y="91"/>
                    <a:pt x="198" y="110"/>
                    <a:pt x="173" y="74"/>
                  </a:cubicBezTo>
                  <a:cubicBezTo>
                    <a:pt x="149" y="37"/>
                    <a:pt x="117" y="0"/>
                    <a:pt x="84"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7" name="Freeform 1981">
              <a:extLst>
                <a:ext uri="{FF2B5EF4-FFF2-40B4-BE49-F238E27FC236}">
                  <a16:creationId xmlns:a16="http://schemas.microsoft.com/office/drawing/2014/main" id="{6DB01994-FA53-AABD-2CCF-6956A4372187}"/>
                </a:ext>
              </a:extLst>
            </p:cNvPr>
            <p:cNvSpPr>
              <a:spLocks noEditPoints="1"/>
            </p:cNvSpPr>
            <p:nvPr/>
          </p:nvSpPr>
          <p:spPr bwMode="auto">
            <a:xfrm>
              <a:off x="2068" y="670"/>
              <a:ext cx="60" cy="72"/>
            </a:xfrm>
            <a:custGeom>
              <a:avLst/>
              <a:gdLst>
                <a:gd name="T0" fmla="*/ 81 w 269"/>
                <a:gd name="T1" fmla="*/ 22 h 324"/>
                <a:gd name="T2" fmla="*/ 79 w 269"/>
                <a:gd name="T3" fmla="*/ 24 h 324"/>
                <a:gd name="T4" fmla="*/ 79 w 269"/>
                <a:gd name="T5" fmla="*/ 26 h 324"/>
                <a:gd name="T6" fmla="*/ 70 w 269"/>
                <a:gd name="T7" fmla="*/ 111 h 324"/>
                <a:gd name="T8" fmla="*/ 57 w 269"/>
                <a:gd name="T9" fmla="*/ 130 h 324"/>
                <a:gd name="T10" fmla="*/ 34 w 269"/>
                <a:gd name="T11" fmla="*/ 163 h 324"/>
                <a:gd name="T12" fmla="*/ 33 w 269"/>
                <a:gd name="T13" fmla="*/ 172 h 324"/>
                <a:gd name="T14" fmla="*/ 7 w 269"/>
                <a:gd name="T15" fmla="*/ 288 h 324"/>
                <a:gd name="T16" fmla="*/ 10 w 269"/>
                <a:gd name="T17" fmla="*/ 319 h 324"/>
                <a:gd name="T18" fmla="*/ 31 w 269"/>
                <a:gd name="T19" fmla="*/ 320 h 324"/>
                <a:gd name="T20" fmla="*/ 169 w 269"/>
                <a:gd name="T21" fmla="*/ 216 h 324"/>
                <a:gd name="T22" fmla="*/ 189 w 269"/>
                <a:gd name="T23" fmla="*/ 204 h 324"/>
                <a:gd name="T24" fmla="*/ 221 w 269"/>
                <a:gd name="T25" fmla="*/ 185 h 324"/>
                <a:gd name="T26" fmla="*/ 269 w 269"/>
                <a:gd name="T27" fmla="*/ 126 h 324"/>
                <a:gd name="T28" fmla="*/ 258 w 269"/>
                <a:gd name="T29" fmla="*/ 89 h 324"/>
                <a:gd name="T30" fmla="*/ 235 w 269"/>
                <a:gd name="T31" fmla="*/ 85 h 324"/>
                <a:gd name="T32" fmla="*/ 216 w 269"/>
                <a:gd name="T33" fmla="*/ 92 h 324"/>
                <a:gd name="T34" fmla="*/ 176 w 269"/>
                <a:gd name="T35" fmla="*/ 77 h 324"/>
                <a:gd name="T36" fmla="*/ 81 w 269"/>
                <a:gd name="T37" fmla="*/ 22 h 324"/>
                <a:gd name="T38" fmla="*/ 169 w 269"/>
                <a:gd name="T39" fmla="*/ 82 h 324"/>
                <a:gd name="T40" fmla="*/ 219 w 269"/>
                <a:gd name="T41" fmla="*/ 100 h 324"/>
                <a:gd name="T42" fmla="*/ 237 w 269"/>
                <a:gd name="T43" fmla="*/ 94 h 324"/>
                <a:gd name="T44" fmla="*/ 253 w 269"/>
                <a:gd name="T45" fmla="*/ 95 h 324"/>
                <a:gd name="T46" fmla="*/ 260 w 269"/>
                <a:gd name="T47" fmla="*/ 126 h 324"/>
                <a:gd name="T48" fmla="*/ 216 w 269"/>
                <a:gd name="T49" fmla="*/ 178 h 324"/>
                <a:gd name="T50" fmla="*/ 185 w 269"/>
                <a:gd name="T51" fmla="*/ 197 h 324"/>
                <a:gd name="T52" fmla="*/ 162 w 269"/>
                <a:gd name="T53" fmla="*/ 211 h 324"/>
                <a:gd name="T54" fmla="*/ 28 w 269"/>
                <a:gd name="T55" fmla="*/ 312 h 324"/>
                <a:gd name="T56" fmla="*/ 16 w 269"/>
                <a:gd name="T57" fmla="*/ 313 h 324"/>
                <a:gd name="T58" fmla="*/ 13 w 269"/>
                <a:gd name="T59" fmla="*/ 303 h 324"/>
                <a:gd name="T60" fmla="*/ 15 w 269"/>
                <a:gd name="T61" fmla="*/ 290 h 324"/>
                <a:gd name="T62" fmla="*/ 41 w 269"/>
                <a:gd name="T63" fmla="*/ 174 h 324"/>
                <a:gd name="T64" fmla="*/ 43 w 269"/>
                <a:gd name="T65" fmla="*/ 164 h 324"/>
                <a:gd name="T66" fmla="*/ 57 w 269"/>
                <a:gd name="T67" fmla="*/ 139 h 324"/>
                <a:gd name="T68" fmla="*/ 79 w 269"/>
                <a:gd name="T69" fmla="*/ 111 h 324"/>
                <a:gd name="T70" fmla="*/ 87 w 269"/>
                <a:gd name="T71" fmla="*/ 29 h 324"/>
                <a:gd name="T72" fmla="*/ 169 w 269"/>
                <a:gd name="T73" fmla="*/ 82 h 3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269" h="324">
                  <a:moveTo>
                    <a:pt x="81" y="22"/>
                  </a:moveTo>
                  <a:cubicBezTo>
                    <a:pt x="79" y="24"/>
                    <a:pt x="79" y="24"/>
                    <a:pt x="79" y="24"/>
                  </a:cubicBezTo>
                  <a:cubicBezTo>
                    <a:pt x="79" y="26"/>
                    <a:pt x="79" y="26"/>
                    <a:pt x="79" y="26"/>
                  </a:cubicBezTo>
                  <a:cubicBezTo>
                    <a:pt x="78" y="34"/>
                    <a:pt x="70" y="107"/>
                    <a:pt x="70" y="111"/>
                  </a:cubicBezTo>
                  <a:cubicBezTo>
                    <a:pt x="70" y="113"/>
                    <a:pt x="70" y="130"/>
                    <a:pt x="57" y="130"/>
                  </a:cubicBezTo>
                  <a:cubicBezTo>
                    <a:pt x="40" y="130"/>
                    <a:pt x="37" y="146"/>
                    <a:pt x="34" y="163"/>
                  </a:cubicBezTo>
                  <a:cubicBezTo>
                    <a:pt x="33" y="172"/>
                    <a:pt x="33" y="172"/>
                    <a:pt x="33" y="172"/>
                  </a:cubicBezTo>
                  <a:cubicBezTo>
                    <a:pt x="7" y="288"/>
                    <a:pt x="7" y="288"/>
                    <a:pt x="7" y="288"/>
                  </a:cubicBezTo>
                  <a:cubicBezTo>
                    <a:pt x="6" y="290"/>
                    <a:pt x="0" y="310"/>
                    <a:pt x="10" y="319"/>
                  </a:cubicBezTo>
                  <a:cubicBezTo>
                    <a:pt x="14" y="323"/>
                    <a:pt x="22" y="324"/>
                    <a:pt x="31" y="320"/>
                  </a:cubicBezTo>
                  <a:cubicBezTo>
                    <a:pt x="63" y="308"/>
                    <a:pt x="163" y="225"/>
                    <a:pt x="169" y="216"/>
                  </a:cubicBezTo>
                  <a:cubicBezTo>
                    <a:pt x="171" y="213"/>
                    <a:pt x="180" y="209"/>
                    <a:pt x="189" y="204"/>
                  </a:cubicBezTo>
                  <a:cubicBezTo>
                    <a:pt x="200" y="199"/>
                    <a:pt x="213" y="193"/>
                    <a:pt x="221" y="185"/>
                  </a:cubicBezTo>
                  <a:cubicBezTo>
                    <a:pt x="245" y="164"/>
                    <a:pt x="269" y="141"/>
                    <a:pt x="269" y="126"/>
                  </a:cubicBezTo>
                  <a:cubicBezTo>
                    <a:pt x="269" y="115"/>
                    <a:pt x="269" y="97"/>
                    <a:pt x="258" y="89"/>
                  </a:cubicBezTo>
                  <a:cubicBezTo>
                    <a:pt x="252" y="84"/>
                    <a:pt x="244" y="83"/>
                    <a:pt x="235" y="85"/>
                  </a:cubicBezTo>
                  <a:cubicBezTo>
                    <a:pt x="216" y="92"/>
                    <a:pt x="216" y="92"/>
                    <a:pt x="216" y="92"/>
                  </a:cubicBezTo>
                  <a:cubicBezTo>
                    <a:pt x="200" y="99"/>
                    <a:pt x="193" y="102"/>
                    <a:pt x="176" y="77"/>
                  </a:cubicBezTo>
                  <a:cubicBezTo>
                    <a:pt x="151" y="40"/>
                    <a:pt x="117" y="0"/>
                    <a:pt x="81" y="22"/>
                  </a:cubicBezTo>
                  <a:close/>
                  <a:moveTo>
                    <a:pt x="169" y="82"/>
                  </a:moveTo>
                  <a:cubicBezTo>
                    <a:pt x="188" y="111"/>
                    <a:pt x="201" y="108"/>
                    <a:pt x="219" y="100"/>
                  </a:cubicBezTo>
                  <a:cubicBezTo>
                    <a:pt x="237" y="94"/>
                    <a:pt x="237" y="94"/>
                    <a:pt x="237" y="94"/>
                  </a:cubicBezTo>
                  <a:cubicBezTo>
                    <a:pt x="244" y="92"/>
                    <a:pt x="249" y="93"/>
                    <a:pt x="253" y="95"/>
                  </a:cubicBezTo>
                  <a:cubicBezTo>
                    <a:pt x="260" y="101"/>
                    <a:pt x="260" y="117"/>
                    <a:pt x="260" y="126"/>
                  </a:cubicBezTo>
                  <a:cubicBezTo>
                    <a:pt x="260" y="138"/>
                    <a:pt x="229" y="166"/>
                    <a:pt x="216" y="178"/>
                  </a:cubicBezTo>
                  <a:cubicBezTo>
                    <a:pt x="208" y="186"/>
                    <a:pt x="196" y="192"/>
                    <a:pt x="185" y="197"/>
                  </a:cubicBezTo>
                  <a:cubicBezTo>
                    <a:pt x="174" y="202"/>
                    <a:pt x="165" y="206"/>
                    <a:pt x="162" y="211"/>
                  </a:cubicBezTo>
                  <a:cubicBezTo>
                    <a:pt x="157" y="218"/>
                    <a:pt x="58" y="300"/>
                    <a:pt x="28" y="312"/>
                  </a:cubicBezTo>
                  <a:cubicBezTo>
                    <a:pt x="24" y="314"/>
                    <a:pt x="18" y="315"/>
                    <a:pt x="16" y="313"/>
                  </a:cubicBezTo>
                  <a:cubicBezTo>
                    <a:pt x="14" y="311"/>
                    <a:pt x="13" y="307"/>
                    <a:pt x="13" y="303"/>
                  </a:cubicBezTo>
                  <a:cubicBezTo>
                    <a:pt x="13" y="298"/>
                    <a:pt x="14" y="293"/>
                    <a:pt x="15" y="290"/>
                  </a:cubicBezTo>
                  <a:cubicBezTo>
                    <a:pt x="15" y="290"/>
                    <a:pt x="41" y="174"/>
                    <a:pt x="41" y="174"/>
                  </a:cubicBezTo>
                  <a:cubicBezTo>
                    <a:pt x="43" y="164"/>
                    <a:pt x="43" y="164"/>
                    <a:pt x="43" y="164"/>
                  </a:cubicBezTo>
                  <a:cubicBezTo>
                    <a:pt x="46" y="145"/>
                    <a:pt x="48" y="139"/>
                    <a:pt x="57" y="139"/>
                  </a:cubicBezTo>
                  <a:cubicBezTo>
                    <a:pt x="74" y="139"/>
                    <a:pt x="79" y="121"/>
                    <a:pt x="79" y="111"/>
                  </a:cubicBezTo>
                  <a:cubicBezTo>
                    <a:pt x="79" y="108"/>
                    <a:pt x="84" y="61"/>
                    <a:pt x="87" y="29"/>
                  </a:cubicBezTo>
                  <a:cubicBezTo>
                    <a:pt x="117" y="13"/>
                    <a:pt x="146" y="49"/>
                    <a:pt x="169" y="8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8" name="Freeform 1982">
              <a:extLst>
                <a:ext uri="{FF2B5EF4-FFF2-40B4-BE49-F238E27FC236}">
                  <a16:creationId xmlns:a16="http://schemas.microsoft.com/office/drawing/2014/main" id="{68D71AE0-12E9-AD9D-2329-A6135EC548C7}"/>
                </a:ext>
              </a:extLst>
            </p:cNvPr>
            <p:cNvSpPr>
              <a:spLocks/>
            </p:cNvSpPr>
            <p:nvPr/>
          </p:nvSpPr>
          <p:spPr bwMode="auto">
            <a:xfrm>
              <a:off x="2139" y="691"/>
              <a:ext cx="9" cy="25"/>
            </a:xfrm>
            <a:custGeom>
              <a:avLst/>
              <a:gdLst>
                <a:gd name="T0" fmla="*/ 22 w 43"/>
                <a:gd name="T1" fmla="*/ 2 h 111"/>
                <a:gd name="T2" fmla="*/ 4 w 43"/>
                <a:gd name="T3" fmla="*/ 41 h 111"/>
                <a:gd name="T4" fmla="*/ 13 w 43"/>
                <a:gd name="T5" fmla="*/ 98 h 111"/>
                <a:gd name="T6" fmla="*/ 39 w 43"/>
                <a:gd name="T7" fmla="*/ 34 h 111"/>
                <a:gd name="T8" fmla="*/ 22 w 43"/>
                <a:gd name="T9" fmla="*/ 2 h 111"/>
              </a:gdLst>
              <a:ahLst/>
              <a:cxnLst>
                <a:cxn ang="0">
                  <a:pos x="T0" y="T1"/>
                </a:cxn>
                <a:cxn ang="0">
                  <a:pos x="T2" y="T3"/>
                </a:cxn>
                <a:cxn ang="0">
                  <a:pos x="T4" y="T5"/>
                </a:cxn>
                <a:cxn ang="0">
                  <a:pos x="T6" y="T7"/>
                </a:cxn>
                <a:cxn ang="0">
                  <a:pos x="T8" y="T9"/>
                </a:cxn>
              </a:cxnLst>
              <a:rect l="0" t="0" r="r" b="b"/>
              <a:pathLst>
                <a:path w="43" h="111">
                  <a:moveTo>
                    <a:pt x="22" y="2"/>
                  </a:moveTo>
                  <a:cubicBezTo>
                    <a:pt x="22" y="2"/>
                    <a:pt x="7" y="19"/>
                    <a:pt x="4" y="41"/>
                  </a:cubicBezTo>
                  <a:cubicBezTo>
                    <a:pt x="1" y="62"/>
                    <a:pt x="0" y="111"/>
                    <a:pt x="13" y="98"/>
                  </a:cubicBezTo>
                  <a:cubicBezTo>
                    <a:pt x="26" y="85"/>
                    <a:pt x="39" y="54"/>
                    <a:pt x="39" y="34"/>
                  </a:cubicBezTo>
                  <a:cubicBezTo>
                    <a:pt x="39" y="13"/>
                    <a:pt x="43" y="0"/>
                    <a:pt x="2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9" name="Freeform 1983">
              <a:extLst>
                <a:ext uri="{FF2B5EF4-FFF2-40B4-BE49-F238E27FC236}">
                  <a16:creationId xmlns:a16="http://schemas.microsoft.com/office/drawing/2014/main" id="{24DEE2BB-C4F2-80DC-100A-595D3DEA82EC}"/>
                </a:ext>
              </a:extLst>
            </p:cNvPr>
            <p:cNvSpPr>
              <a:spLocks noEditPoints="1"/>
            </p:cNvSpPr>
            <p:nvPr/>
          </p:nvSpPr>
          <p:spPr bwMode="auto">
            <a:xfrm>
              <a:off x="2137" y="690"/>
              <a:ext cx="11" cy="24"/>
            </a:xfrm>
            <a:custGeom>
              <a:avLst/>
              <a:gdLst>
                <a:gd name="T0" fmla="*/ 28 w 51"/>
                <a:gd name="T1" fmla="*/ 1 h 109"/>
                <a:gd name="T2" fmla="*/ 27 w 51"/>
                <a:gd name="T3" fmla="*/ 1 h 109"/>
                <a:gd name="T4" fmla="*/ 25 w 51"/>
                <a:gd name="T5" fmla="*/ 2 h 109"/>
                <a:gd name="T6" fmla="*/ 7 w 51"/>
                <a:gd name="T7" fmla="*/ 43 h 109"/>
                <a:gd name="T8" fmla="*/ 13 w 51"/>
                <a:gd name="T9" fmla="*/ 107 h 109"/>
                <a:gd name="T10" fmla="*/ 23 w 51"/>
                <a:gd name="T11" fmla="*/ 105 h 109"/>
                <a:gd name="T12" fmla="*/ 50 w 51"/>
                <a:gd name="T13" fmla="*/ 37 h 109"/>
                <a:gd name="T14" fmla="*/ 50 w 51"/>
                <a:gd name="T15" fmla="*/ 28 h 109"/>
                <a:gd name="T16" fmla="*/ 46 w 51"/>
                <a:gd name="T17" fmla="*/ 5 h 109"/>
                <a:gd name="T18" fmla="*/ 28 w 51"/>
                <a:gd name="T19" fmla="*/ 1 h 109"/>
                <a:gd name="T20" fmla="*/ 40 w 51"/>
                <a:gd name="T21" fmla="*/ 11 h 109"/>
                <a:gd name="T22" fmla="*/ 42 w 51"/>
                <a:gd name="T23" fmla="*/ 21 h 109"/>
                <a:gd name="T24" fmla="*/ 42 w 51"/>
                <a:gd name="T25" fmla="*/ 28 h 109"/>
                <a:gd name="T26" fmla="*/ 42 w 51"/>
                <a:gd name="T27" fmla="*/ 37 h 109"/>
                <a:gd name="T28" fmla="*/ 17 w 51"/>
                <a:gd name="T29" fmla="*/ 98 h 109"/>
                <a:gd name="T30" fmla="*/ 17 w 51"/>
                <a:gd name="T31" fmla="*/ 99 h 109"/>
                <a:gd name="T32" fmla="*/ 14 w 51"/>
                <a:gd name="T33" fmla="*/ 74 h 109"/>
                <a:gd name="T34" fmla="*/ 16 w 51"/>
                <a:gd name="T35" fmla="*/ 44 h 109"/>
                <a:gd name="T36" fmla="*/ 31 w 51"/>
                <a:gd name="T37" fmla="*/ 9 h 109"/>
                <a:gd name="T38" fmla="*/ 40 w 51"/>
                <a:gd name="T39" fmla="*/ 1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1" h="109">
                  <a:moveTo>
                    <a:pt x="28" y="1"/>
                  </a:moveTo>
                  <a:cubicBezTo>
                    <a:pt x="27" y="1"/>
                    <a:pt x="27" y="1"/>
                    <a:pt x="27" y="1"/>
                  </a:cubicBezTo>
                  <a:cubicBezTo>
                    <a:pt x="25" y="2"/>
                    <a:pt x="25" y="2"/>
                    <a:pt x="25" y="2"/>
                  </a:cubicBezTo>
                  <a:cubicBezTo>
                    <a:pt x="25" y="3"/>
                    <a:pt x="10" y="21"/>
                    <a:pt x="7" y="43"/>
                  </a:cubicBezTo>
                  <a:cubicBezTo>
                    <a:pt x="7" y="44"/>
                    <a:pt x="0" y="101"/>
                    <a:pt x="13" y="107"/>
                  </a:cubicBezTo>
                  <a:cubicBezTo>
                    <a:pt x="15" y="108"/>
                    <a:pt x="19" y="109"/>
                    <a:pt x="23" y="105"/>
                  </a:cubicBezTo>
                  <a:cubicBezTo>
                    <a:pt x="37" y="91"/>
                    <a:pt x="50" y="57"/>
                    <a:pt x="50" y="37"/>
                  </a:cubicBezTo>
                  <a:cubicBezTo>
                    <a:pt x="50" y="28"/>
                    <a:pt x="50" y="28"/>
                    <a:pt x="50" y="28"/>
                  </a:cubicBezTo>
                  <a:cubicBezTo>
                    <a:pt x="51" y="18"/>
                    <a:pt x="51" y="10"/>
                    <a:pt x="46" y="5"/>
                  </a:cubicBezTo>
                  <a:cubicBezTo>
                    <a:pt x="42" y="1"/>
                    <a:pt x="37" y="0"/>
                    <a:pt x="28" y="1"/>
                  </a:cubicBezTo>
                  <a:close/>
                  <a:moveTo>
                    <a:pt x="40" y="11"/>
                  </a:moveTo>
                  <a:cubicBezTo>
                    <a:pt x="42" y="13"/>
                    <a:pt x="42" y="16"/>
                    <a:pt x="42" y="21"/>
                  </a:cubicBezTo>
                  <a:cubicBezTo>
                    <a:pt x="42" y="23"/>
                    <a:pt x="42" y="25"/>
                    <a:pt x="42" y="28"/>
                  </a:cubicBezTo>
                  <a:cubicBezTo>
                    <a:pt x="42" y="37"/>
                    <a:pt x="42" y="37"/>
                    <a:pt x="42" y="37"/>
                  </a:cubicBezTo>
                  <a:cubicBezTo>
                    <a:pt x="42" y="55"/>
                    <a:pt x="29" y="86"/>
                    <a:pt x="17" y="98"/>
                  </a:cubicBezTo>
                  <a:cubicBezTo>
                    <a:pt x="17" y="98"/>
                    <a:pt x="17" y="99"/>
                    <a:pt x="17" y="99"/>
                  </a:cubicBezTo>
                  <a:cubicBezTo>
                    <a:pt x="15" y="96"/>
                    <a:pt x="14" y="86"/>
                    <a:pt x="14" y="74"/>
                  </a:cubicBezTo>
                  <a:cubicBezTo>
                    <a:pt x="14" y="65"/>
                    <a:pt x="14" y="54"/>
                    <a:pt x="16" y="44"/>
                  </a:cubicBezTo>
                  <a:cubicBezTo>
                    <a:pt x="18" y="27"/>
                    <a:pt x="28" y="13"/>
                    <a:pt x="31" y="9"/>
                  </a:cubicBezTo>
                  <a:cubicBezTo>
                    <a:pt x="35" y="9"/>
                    <a:pt x="38" y="10"/>
                    <a:pt x="4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0" name="Freeform 1984">
              <a:extLst>
                <a:ext uri="{FF2B5EF4-FFF2-40B4-BE49-F238E27FC236}">
                  <a16:creationId xmlns:a16="http://schemas.microsoft.com/office/drawing/2014/main" id="{A7C36D4A-2DCA-150E-A718-F8AA0B896268}"/>
                </a:ext>
              </a:extLst>
            </p:cNvPr>
            <p:cNvSpPr>
              <a:spLocks/>
            </p:cNvSpPr>
            <p:nvPr/>
          </p:nvSpPr>
          <p:spPr bwMode="auto">
            <a:xfrm>
              <a:off x="2148" y="652"/>
              <a:ext cx="38" cy="25"/>
            </a:xfrm>
            <a:custGeom>
              <a:avLst/>
              <a:gdLst>
                <a:gd name="T0" fmla="*/ 51 w 170"/>
                <a:gd name="T1" fmla="*/ 48 h 112"/>
                <a:gd name="T2" fmla="*/ 153 w 170"/>
                <a:gd name="T3" fmla="*/ 1 h 112"/>
                <a:gd name="T4" fmla="*/ 147 w 170"/>
                <a:gd name="T5" fmla="*/ 32 h 112"/>
                <a:gd name="T6" fmla="*/ 70 w 170"/>
                <a:gd name="T7" fmla="*/ 82 h 112"/>
                <a:gd name="T8" fmla="*/ 51 w 170"/>
                <a:gd name="T9" fmla="*/ 48 h 112"/>
              </a:gdLst>
              <a:ahLst/>
              <a:cxnLst>
                <a:cxn ang="0">
                  <a:pos x="T0" y="T1"/>
                </a:cxn>
                <a:cxn ang="0">
                  <a:pos x="T2" y="T3"/>
                </a:cxn>
                <a:cxn ang="0">
                  <a:pos x="T4" y="T5"/>
                </a:cxn>
                <a:cxn ang="0">
                  <a:pos x="T6" y="T7"/>
                </a:cxn>
                <a:cxn ang="0">
                  <a:pos x="T8" y="T9"/>
                </a:cxn>
              </a:cxnLst>
              <a:rect l="0" t="0" r="r" b="b"/>
              <a:pathLst>
                <a:path w="170" h="112">
                  <a:moveTo>
                    <a:pt x="51" y="48"/>
                  </a:moveTo>
                  <a:cubicBezTo>
                    <a:pt x="51" y="48"/>
                    <a:pt x="136" y="0"/>
                    <a:pt x="153" y="1"/>
                  </a:cubicBezTo>
                  <a:cubicBezTo>
                    <a:pt x="170" y="3"/>
                    <a:pt x="160" y="19"/>
                    <a:pt x="147" y="32"/>
                  </a:cubicBezTo>
                  <a:cubicBezTo>
                    <a:pt x="134" y="45"/>
                    <a:pt x="85" y="71"/>
                    <a:pt x="70" y="82"/>
                  </a:cubicBezTo>
                  <a:cubicBezTo>
                    <a:pt x="54" y="94"/>
                    <a:pt x="0" y="112"/>
                    <a:pt x="51"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1" name="Freeform 1985">
              <a:extLst>
                <a:ext uri="{FF2B5EF4-FFF2-40B4-BE49-F238E27FC236}">
                  <a16:creationId xmlns:a16="http://schemas.microsoft.com/office/drawing/2014/main" id="{F0621AD0-9B05-8F86-B7E6-2518DDBDE54F}"/>
                </a:ext>
              </a:extLst>
            </p:cNvPr>
            <p:cNvSpPr>
              <a:spLocks noEditPoints="1"/>
            </p:cNvSpPr>
            <p:nvPr/>
          </p:nvSpPr>
          <p:spPr bwMode="auto">
            <a:xfrm>
              <a:off x="2153" y="651"/>
              <a:ext cx="33" cy="24"/>
            </a:xfrm>
            <a:custGeom>
              <a:avLst/>
              <a:gdLst>
                <a:gd name="T0" fmla="*/ 28 w 148"/>
                <a:gd name="T1" fmla="*/ 48 h 108"/>
                <a:gd name="T2" fmla="*/ 27 w 148"/>
                <a:gd name="T3" fmla="*/ 48 h 108"/>
                <a:gd name="T4" fmla="*/ 26 w 148"/>
                <a:gd name="T5" fmla="*/ 49 h 108"/>
                <a:gd name="T6" fmla="*/ 7 w 148"/>
                <a:gd name="T7" fmla="*/ 99 h 108"/>
                <a:gd name="T8" fmla="*/ 51 w 148"/>
                <a:gd name="T9" fmla="*/ 90 h 108"/>
                <a:gd name="T10" fmla="*/ 80 w 148"/>
                <a:gd name="T11" fmla="*/ 72 h 108"/>
                <a:gd name="T12" fmla="*/ 129 w 148"/>
                <a:gd name="T13" fmla="*/ 39 h 108"/>
                <a:gd name="T14" fmla="*/ 145 w 148"/>
                <a:gd name="T15" fmla="*/ 9 h 108"/>
                <a:gd name="T16" fmla="*/ 133 w 148"/>
                <a:gd name="T17" fmla="*/ 1 h 108"/>
                <a:gd name="T18" fmla="*/ 28 w 148"/>
                <a:gd name="T19" fmla="*/ 48 h 108"/>
                <a:gd name="T20" fmla="*/ 132 w 148"/>
                <a:gd name="T21" fmla="*/ 10 h 108"/>
                <a:gd name="T22" fmla="*/ 137 w 148"/>
                <a:gd name="T23" fmla="*/ 12 h 108"/>
                <a:gd name="T24" fmla="*/ 123 w 148"/>
                <a:gd name="T25" fmla="*/ 33 h 108"/>
                <a:gd name="T26" fmla="*/ 76 w 148"/>
                <a:gd name="T27" fmla="*/ 64 h 108"/>
                <a:gd name="T28" fmla="*/ 46 w 148"/>
                <a:gd name="T29" fmla="*/ 83 h 108"/>
                <a:gd name="T30" fmla="*/ 13 w 148"/>
                <a:gd name="T31" fmla="*/ 93 h 108"/>
                <a:gd name="T32" fmla="*/ 13 w 148"/>
                <a:gd name="T33" fmla="*/ 90 h 108"/>
                <a:gd name="T34" fmla="*/ 33 w 148"/>
                <a:gd name="T35" fmla="*/ 55 h 108"/>
                <a:gd name="T36" fmla="*/ 132 w 148"/>
                <a:gd name="T37" fmla="*/ 10 h 1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148" h="108">
                  <a:moveTo>
                    <a:pt x="28" y="48"/>
                  </a:moveTo>
                  <a:cubicBezTo>
                    <a:pt x="27" y="48"/>
                    <a:pt x="27" y="48"/>
                    <a:pt x="27" y="48"/>
                  </a:cubicBezTo>
                  <a:cubicBezTo>
                    <a:pt x="26" y="49"/>
                    <a:pt x="26" y="49"/>
                    <a:pt x="26" y="49"/>
                  </a:cubicBezTo>
                  <a:cubicBezTo>
                    <a:pt x="6" y="75"/>
                    <a:pt x="0" y="91"/>
                    <a:pt x="7" y="99"/>
                  </a:cubicBezTo>
                  <a:cubicBezTo>
                    <a:pt x="17" y="108"/>
                    <a:pt x="42" y="96"/>
                    <a:pt x="51" y="90"/>
                  </a:cubicBezTo>
                  <a:cubicBezTo>
                    <a:pt x="80" y="72"/>
                    <a:pt x="80" y="72"/>
                    <a:pt x="80" y="72"/>
                  </a:cubicBezTo>
                  <a:cubicBezTo>
                    <a:pt x="99" y="60"/>
                    <a:pt x="121" y="47"/>
                    <a:pt x="129" y="39"/>
                  </a:cubicBezTo>
                  <a:cubicBezTo>
                    <a:pt x="142" y="26"/>
                    <a:pt x="148" y="16"/>
                    <a:pt x="145" y="9"/>
                  </a:cubicBezTo>
                  <a:cubicBezTo>
                    <a:pt x="144" y="6"/>
                    <a:pt x="141" y="2"/>
                    <a:pt x="133" y="1"/>
                  </a:cubicBezTo>
                  <a:cubicBezTo>
                    <a:pt x="114" y="0"/>
                    <a:pt x="36" y="43"/>
                    <a:pt x="28" y="48"/>
                  </a:cubicBezTo>
                  <a:close/>
                  <a:moveTo>
                    <a:pt x="132" y="10"/>
                  </a:moveTo>
                  <a:cubicBezTo>
                    <a:pt x="135" y="10"/>
                    <a:pt x="137" y="11"/>
                    <a:pt x="137" y="12"/>
                  </a:cubicBezTo>
                  <a:cubicBezTo>
                    <a:pt x="138" y="14"/>
                    <a:pt x="135" y="21"/>
                    <a:pt x="123" y="33"/>
                  </a:cubicBezTo>
                  <a:cubicBezTo>
                    <a:pt x="116" y="40"/>
                    <a:pt x="94" y="53"/>
                    <a:pt x="76" y="64"/>
                  </a:cubicBezTo>
                  <a:cubicBezTo>
                    <a:pt x="46" y="83"/>
                    <a:pt x="46" y="83"/>
                    <a:pt x="46" y="83"/>
                  </a:cubicBezTo>
                  <a:cubicBezTo>
                    <a:pt x="35" y="90"/>
                    <a:pt x="17" y="96"/>
                    <a:pt x="13" y="93"/>
                  </a:cubicBezTo>
                  <a:cubicBezTo>
                    <a:pt x="13" y="92"/>
                    <a:pt x="13" y="92"/>
                    <a:pt x="13" y="90"/>
                  </a:cubicBezTo>
                  <a:cubicBezTo>
                    <a:pt x="13" y="86"/>
                    <a:pt x="16" y="77"/>
                    <a:pt x="33" y="55"/>
                  </a:cubicBezTo>
                  <a:cubicBezTo>
                    <a:pt x="65" y="37"/>
                    <a:pt x="120" y="9"/>
                    <a:pt x="13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2" name="Freeform 1986">
              <a:extLst>
                <a:ext uri="{FF2B5EF4-FFF2-40B4-BE49-F238E27FC236}">
                  <a16:creationId xmlns:a16="http://schemas.microsoft.com/office/drawing/2014/main" id="{D830104E-47D9-0E16-2406-C77C6A582158}"/>
                </a:ext>
              </a:extLst>
            </p:cNvPr>
            <p:cNvSpPr>
              <a:spLocks/>
            </p:cNvSpPr>
            <p:nvPr/>
          </p:nvSpPr>
          <p:spPr bwMode="auto">
            <a:xfrm>
              <a:off x="2190" y="637"/>
              <a:ext cx="39" cy="20"/>
            </a:xfrm>
            <a:custGeom>
              <a:avLst/>
              <a:gdLst>
                <a:gd name="T0" fmla="*/ 27 w 176"/>
                <a:gd name="T1" fmla="*/ 37 h 89"/>
                <a:gd name="T2" fmla="*/ 10 w 176"/>
                <a:gd name="T3" fmla="*/ 59 h 89"/>
                <a:gd name="T4" fmla="*/ 5 w 176"/>
                <a:gd name="T5" fmla="*/ 80 h 89"/>
                <a:gd name="T6" fmla="*/ 49 w 176"/>
                <a:gd name="T7" fmla="*/ 76 h 89"/>
                <a:gd name="T8" fmla="*/ 108 w 176"/>
                <a:gd name="T9" fmla="*/ 63 h 89"/>
                <a:gd name="T10" fmla="*/ 155 w 176"/>
                <a:gd name="T11" fmla="*/ 33 h 89"/>
                <a:gd name="T12" fmla="*/ 138 w 176"/>
                <a:gd name="T13" fmla="*/ 4 h 89"/>
                <a:gd name="T14" fmla="*/ 99 w 176"/>
                <a:gd name="T15" fmla="*/ 33 h 89"/>
                <a:gd name="T16" fmla="*/ 70 w 176"/>
                <a:gd name="T17" fmla="*/ 44 h 89"/>
                <a:gd name="T18" fmla="*/ 27 w 176"/>
                <a:gd name="T19" fmla="*/ 37 h 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6" h="89">
                  <a:moveTo>
                    <a:pt x="27" y="37"/>
                  </a:moveTo>
                  <a:cubicBezTo>
                    <a:pt x="27" y="37"/>
                    <a:pt x="0" y="54"/>
                    <a:pt x="10" y="59"/>
                  </a:cubicBezTo>
                  <a:cubicBezTo>
                    <a:pt x="20" y="63"/>
                    <a:pt x="3" y="73"/>
                    <a:pt x="5" y="80"/>
                  </a:cubicBezTo>
                  <a:cubicBezTo>
                    <a:pt x="8" y="88"/>
                    <a:pt x="31" y="89"/>
                    <a:pt x="49" y="76"/>
                  </a:cubicBezTo>
                  <a:cubicBezTo>
                    <a:pt x="66" y="63"/>
                    <a:pt x="80" y="63"/>
                    <a:pt x="108" y="63"/>
                  </a:cubicBezTo>
                  <a:cubicBezTo>
                    <a:pt x="135" y="63"/>
                    <a:pt x="150" y="47"/>
                    <a:pt x="155" y="33"/>
                  </a:cubicBezTo>
                  <a:cubicBezTo>
                    <a:pt x="161" y="18"/>
                    <a:pt x="176" y="0"/>
                    <a:pt x="138" y="4"/>
                  </a:cubicBezTo>
                  <a:cubicBezTo>
                    <a:pt x="101" y="8"/>
                    <a:pt x="109" y="20"/>
                    <a:pt x="99" y="33"/>
                  </a:cubicBezTo>
                  <a:cubicBezTo>
                    <a:pt x="89" y="46"/>
                    <a:pt x="85" y="46"/>
                    <a:pt x="70" y="44"/>
                  </a:cubicBezTo>
                  <a:cubicBezTo>
                    <a:pt x="56" y="43"/>
                    <a:pt x="49" y="34"/>
                    <a:pt x="27"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3" name="Freeform 1987">
              <a:extLst>
                <a:ext uri="{FF2B5EF4-FFF2-40B4-BE49-F238E27FC236}">
                  <a16:creationId xmlns:a16="http://schemas.microsoft.com/office/drawing/2014/main" id="{F818996D-58DC-E87B-174E-8C2C8A150C87}"/>
                </a:ext>
              </a:extLst>
            </p:cNvPr>
            <p:cNvSpPr>
              <a:spLocks noEditPoints="1"/>
            </p:cNvSpPr>
            <p:nvPr/>
          </p:nvSpPr>
          <p:spPr bwMode="auto">
            <a:xfrm>
              <a:off x="2190" y="637"/>
              <a:ext cx="38" cy="21"/>
            </a:xfrm>
            <a:custGeom>
              <a:avLst/>
              <a:gdLst>
                <a:gd name="T0" fmla="*/ 139 w 171"/>
                <a:gd name="T1" fmla="*/ 2 h 94"/>
                <a:gd name="T2" fmla="*/ 102 w 171"/>
                <a:gd name="T3" fmla="*/ 23 h 94"/>
                <a:gd name="T4" fmla="*/ 97 w 171"/>
                <a:gd name="T5" fmla="*/ 32 h 94"/>
                <a:gd name="T6" fmla="*/ 72 w 171"/>
                <a:gd name="T7" fmla="*/ 42 h 94"/>
                <a:gd name="T8" fmla="*/ 59 w 171"/>
                <a:gd name="T9" fmla="*/ 39 h 94"/>
                <a:gd name="T10" fmla="*/ 28 w 171"/>
                <a:gd name="T11" fmla="*/ 35 h 94"/>
                <a:gd name="T12" fmla="*/ 27 w 171"/>
                <a:gd name="T13" fmla="*/ 35 h 94"/>
                <a:gd name="T14" fmla="*/ 26 w 171"/>
                <a:gd name="T15" fmla="*/ 35 h 94"/>
                <a:gd name="T16" fmla="*/ 4 w 171"/>
                <a:gd name="T17" fmla="*/ 59 h 94"/>
                <a:gd name="T18" fmla="*/ 9 w 171"/>
                <a:gd name="T19" fmla="*/ 65 h 94"/>
                <a:gd name="T20" fmla="*/ 7 w 171"/>
                <a:gd name="T21" fmla="*/ 70 h 94"/>
                <a:gd name="T22" fmla="*/ 2 w 171"/>
                <a:gd name="T23" fmla="*/ 84 h 94"/>
                <a:gd name="T24" fmla="*/ 12 w 171"/>
                <a:gd name="T25" fmla="*/ 91 h 94"/>
                <a:gd name="T26" fmla="*/ 52 w 171"/>
                <a:gd name="T27" fmla="*/ 82 h 94"/>
                <a:gd name="T28" fmla="*/ 109 w 171"/>
                <a:gd name="T29" fmla="*/ 69 h 94"/>
                <a:gd name="T30" fmla="*/ 160 w 171"/>
                <a:gd name="T31" fmla="*/ 36 h 94"/>
                <a:gd name="T32" fmla="*/ 163 w 171"/>
                <a:gd name="T33" fmla="*/ 30 h 94"/>
                <a:gd name="T34" fmla="*/ 166 w 171"/>
                <a:gd name="T35" fmla="*/ 7 h 94"/>
                <a:gd name="T36" fmla="*/ 139 w 171"/>
                <a:gd name="T37" fmla="*/ 2 h 94"/>
                <a:gd name="T38" fmla="*/ 104 w 171"/>
                <a:gd name="T39" fmla="*/ 37 h 94"/>
                <a:gd name="T40" fmla="*/ 110 w 171"/>
                <a:gd name="T41" fmla="*/ 26 h 94"/>
                <a:gd name="T42" fmla="*/ 140 w 171"/>
                <a:gd name="T43" fmla="*/ 10 h 94"/>
                <a:gd name="T44" fmla="*/ 159 w 171"/>
                <a:gd name="T45" fmla="*/ 12 h 94"/>
                <a:gd name="T46" fmla="*/ 155 w 171"/>
                <a:gd name="T47" fmla="*/ 27 h 94"/>
                <a:gd name="T48" fmla="*/ 152 w 171"/>
                <a:gd name="T49" fmla="*/ 33 h 94"/>
                <a:gd name="T50" fmla="*/ 109 w 171"/>
                <a:gd name="T51" fmla="*/ 61 h 94"/>
                <a:gd name="T52" fmla="*/ 47 w 171"/>
                <a:gd name="T53" fmla="*/ 75 h 94"/>
                <a:gd name="T54" fmla="*/ 14 w 171"/>
                <a:gd name="T55" fmla="*/ 83 h 94"/>
                <a:gd name="T56" fmla="*/ 10 w 171"/>
                <a:gd name="T57" fmla="*/ 81 h 94"/>
                <a:gd name="T58" fmla="*/ 10 w 171"/>
                <a:gd name="T59" fmla="*/ 81 h 94"/>
                <a:gd name="T60" fmla="*/ 14 w 171"/>
                <a:gd name="T61" fmla="*/ 74 h 94"/>
                <a:gd name="T62" fmla="*/ 18 w 171"/>
                <a:gd name="T63" fmla="*/ 65 h 94"/>
                <a:gd name="T64" fmla="*/ 18 w 171"/>
                <a:gd name="T65" fmla="*/ 62 h 94"/>
                <a:gd name="T66" fmla="*/ 13 w 171"/>
                <a:gd name="T67" fmla="*/ 58 h 94"/>
                <a:gd name="T68" fmla="*/ 30 w 171"/>
                <a:gd name="T69" fmla="*/ 43 h 94"/>
                <a:gd name="T70" fmla="*/ 56 w 171"/>
                <a:gd name="T71" fmla="*/ 47 h 94"/>
                <a:gd name="T72" fmla="*/ 71 w 171"/>
                <a:gd name="T73" fmla="*/ 51 h 94"/>
                <a:gd name="T74" fmla="*/ 104 w 171"/>
                <a:gd name="T75" fmla="*/ 37 h 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71" h="94">
                  <a:moveTo>
                    <a:pt x="139" y="2"/>
                  </a:moveTo>
                  <a:cubicBezTo>
                    <a:pt x="111" y="5"/>
                    <a:pt x="106" y="12"/>
                    <a:pt x="102" y="23"/>
                  </a:cubicBezTo>
                  <a:cubicBezTo>
                    <a:pt x="97" y="32"/>
                    <a:pt x="97" y="32"/>
                    <a:pt x="97" y="32"/>
                  </a:cubicBezTo>
                  <a:cubicBezTo>
                    <a:pt x="88" y="44"/>
                    <a:pt x="85" y="43"/>
                    <a:pt x="72" y="42"/>
                  </a:cubicBezTo>
                  <a:cubicBezTo>
                    <a:pt x="59" y="39"/>
                    <a:pt x="59" y="39"/>
                    <a:pt x="59" y="39"/>
                  </a:cubicBezTo>
                  <a:cubicBezTo>
                    <a:pt x="51" y="36"/>
                    <a:pt x="42" y="33"/>
                    <a:pt x="28" y="35"/>
                  </a:cubicBezTo>
                  <a:cubicBezTo>
                    <a:pt x="27" y="35"/>
                    <a:pt x="27" y="35"/>
                    <a:pt x="27" y="35"/>
                  </a:cubicBezTo>
                  <a:cubicBezTo>
                    <a:pt x="26" y="35"/>
                    <a:pt x="26" y="35"/>
                    <a:pt x="26" y="35"/>
                  </a:cubicBezTo>
                  <a:cubicBezTo>
                    <a:pt x="17" y="41"/>
                    <a:pt x="4" y="51"/>
                    <a:pt x="4" y="59"/>
                  </a:cubicBezTo>
                  <a:cubicBezTo>
                    <a:pt x="4" y="60"/>
                    <a:pt x="5" y="63"/>
                    <a:pt x="9" y="65"/>
                  </a:cubicBezTo>
                  <a:cubicBezTo>
                    <a:pt x="10" y="65"/>
                    <a:pt x="8" y="68"/>
                    <a:pt x="7" y="70"/>
                  </a:cubicBezTo>
                  <a:cubicBezTo>
                    <a:pt x="4" y="74"/>
                    <a:pt x="0" y="79"/>
                    <a:pt x="2" y="84"/>
                  </a:cubicBezTo>
                  <a:cubicBezTo>
                    <a:pt x="3" y="86"/>
                    <a:pt x="6" y="89"/>
                    <a:pt x="12" y="91"/>
                  </a:cubicBezTo>
                  <a:cubicBezTo>
                    <a:pt x="22" y="94"/>
                    <a:pt x="38" y="92"/>
                    <a:pt x="52" y="82"/>
                  </a:cubicBezTo>
                  <a:cubicBezTo>
                    <a:pt x="68" y="69"/>
                    <a:pt x="82" y="69"/>
                    <a:pt x="109" y="69"/>
                  </a:cubicBezTo>
                  <a:cubicBezTo>
                    <a:pt x="133" y="69"/>
                    <a:pt x="152" y="57"/>
                    <a:pt x="160" y="36"/>
                  </a:cubicBezTo>
                  <a:cubicBezTo>
                    <a:pt x="163" y="30"/>
                    <a:pt x="163" y="30"/>
                    <a:pt x="163" y="30"/>
                  </a:cubicBezTo>
                  <a:cubicBezTo>
                    <a:pt x="167" y="22"/>
                    <a:pt x="171" y="14"/>
                    <a:pt x="166" y="7"/>
                  </a:cubicBezTo>
                  <a:cubicBezTo>
                    <a:pt x="162" y="2"/>
                    <a:pt x="154" y="0"/>
                    <a:pt x="139" y="2"/>
                  </a:cubicBezTo>
                  <a:close/>
                  <a:moveTo>
                    <a:pt x="104" y="37"/>
                  </a:moveTo>
                  <a:cubicBezTo>
                    <a:pt x="110" y="26"/>
                    <a:pt x="110" y="26"/>
                    <a:pt x="110" y="26"/>
                  </a:cubicBezTo>
                  <a:cubicBezTo>
                    <a:pt x="113" y="19"/>
                    <a:pt x="115" y="13"/>
                    <a:pt x="140" y="10"/>
                  </a:cubicBezTo>
                  <a:cubicBezTo>
                    <a:pt x="155" y="8"/>
                    <a:pt x="159" y="11"/>
                    <a:pt x="159" y="12"/>
                  </a:cubicBezTo>
                  <a:cubicBezTo>
                    <a:pt x="161" y="14"/>
                    <a:pt x="158" y="22"/>
                    <a:pt x="155" y="27"/>
                  </a:cubicBezTo>
                  <a:cubicBezTo>
                    <a:pt x="152" y="33"/>
                    <a:pt x="152" y="33"/>
                    <a:pt x="152" y="33"/>
                  </a:cubicBezTo>
                  <a:cubicBezTo>
                    <a:pt x="149" y="41"/>
                    <a:pt x="138" y="61"/>
                    <a:pt x="109" y="61"/>
                  </a:cubicBezTo>
                  <a:cubicBezTo>
                    <a:pt x="81" y="61"/>
                    <a:pt x="66" y="61"/>
                    <a:pt x="47" y="75"/>
                  </a:cubicBezTo>
                  <a:cubicBezTo>
                    <a:pt x="36" y="83"/>
                    <a:pt x="22" y="85"/>
                    <a:pt x="14" y="83"/>
                  </a:cubicBezTo>
                  <a:cubicBezTo>
                    <a:pt x="11" y="82"/>
                    <a:pt x="11" y="81"/>
                    <a:pt x="10" y="81"/>
                  </a:cubicBezTo>
                  <a:cubicBezTo>
                    <a:pt x="10" y="81"/>
                    <a:pt x="10" y="81"/>
                    <a:pt x="10" y="81"/>
                  </a:cubicBezTo>
                  <a:cubicBezTo>
                    <a:pt x="10" y="79"/>
                    <a:pt x="13" y="76"/>
                    <a:pt x="14" y="74"/>
                  </a:cubicBezTo>
                  <a:cubicBezTo>
                    <a:pt x="16" y="71"/>
                    <a:pt x="18" y="68"/>
                    <a:pt x="18" y="65"/>
                  </a:cubicBezTo>
                  <a:cubicBezTo>
                    <a:pt x="18" y="64"/>
                    <a:pt x="18" y="63"/>
                    <a:pt x="18" y="62"/>
                  </a:cubicBezTo>
                  <a:cubicBezTo>
                    <a:pt x="17" y="60"/>
                    <a:pt x="16" y="59"/>
                    <a:pt x="13" y="58"/>
                  </a:cubicBezTo>
                  <a:cubicBezTo>
                    <a:pt x="14" y="55"/>
                    <a:pt x="22" y="49"/>
                    <a:pt x="30" y="43"/>
                  </a:cubicBezTo>
                  <a:cubicBezTo>
                    <a:pt x="42" y="42"/>
                    <a:pt x="49" y="44"/>
                    <a:pt x="56" y="47"/>
                  </a:cubicBezTo>
                  <a:cubicBezTo>
                    <a:pt x="71" y="51"/>
                    <a:pt x="71" y="51"/>
                    <a:pt x="71" y="51"/>
                  </a:cubicBezTo>
                  <a:cubicBezTo>
                    <a:pt x="86" y="52"/>
                    <a:pt x="92" y="52"/>
                    <a:pt x="104" y="3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4" name="Freeform 1988">
              <a:extLst>
                <a:ext uri="{FF2B5EF4-FFF2-40B4-BE49-F238E27FC236}">
                  <a16:creationId xmlns:a16="http://schemas.microsoft.com/office/drawing/2014/main" id="{C72DBDC3-E5AF-CBBF-78C1-8C8E0C5DED9A}"/>
                </a:ext>
              </a:extLst>
            </p:cNvPr>
            <p:cNvSpPr>
              <a:spLocks/>
            </p:cNvSpPr>
            <p:nvPr/>
          </p:nvSpPr>
          <p:spPr bwMode="auto">
            <a:xfrm>
              <a:off x="2108" y="714"/>
              <a:ext cx="16" cy="17"/>
            </a:xfrm>
            <a:custGeom>
              <a:avLst/>
              <a:gdLst>
                <a:gd name="T0" fmla="*/ 51 w 70"/>
                <a:gd name="T1" fmla="*/ 3 h 77"/>
                <a:gd name="T2" fmla="*/ 13 w 70"/>
                <a:gd name="T3" fmla="*/ 36 h 77"/>
                <a:gd name="T4" fmla="*/ 15 w 70"/>
                <a:gd name="T5" fmla="*/ 71 h 77"/>
                <a:gd name="T6" fmla="*/ 53 w 70"/>
                <a:gd name="T7" fmla="*/ 39 h 77"/>
                <a:gd name="T8" fmla="*/ 51 w 70"/>
                <a:gd name="T9" fmla="*/ 3 h 77"/>
              </a:gdLst>
              <a:ahLst/>
              <a:cxnLst>
                <a:cxn ang="0">
                  <a:pos x="T0" y="T1"/>
                </a:cxn>
                <a:cxn ang="0">
                  <a:pos x="T2" y="T3"/>
                </a:cxn>
                <a:cxn ang="0">
                  <a:pos x="T4" y="T5"/>
                </a:cxn>
                <a:cxn ang="0">
                  <a:pos x="T6" y="T7"/>
                </a:cxn>
                <a:cxn ang="0">
                  <a:pos x="T8" y="T9"/>
                </a:cxn>
              </a:cxnLst>
              <a:rect l="0" t="0" r="r" b="b"/>
              <a:pathLst>
                <a:path w="70" h="77">
                  <a:moveTo>
                    <a:pt x="51" y="3"/>
                  </a:moveTo>
                  <a:cubicBezTo>
                    <a:pt x="51" y="3"/>
                    <a:pt x="18" y="23"/>
                    <a:pt x="13" y="36"/>
                  </a:cubicBezTo>
                  <a:cubicBezTo>
                    <a:pt x="7" y="49"/>
                    <a:pt x="0" y="77"/>
                    <a:pt x="15" y="71"/>
                  </a:cubicBezTo>
                  <a:cubicBezTo>
                    <a:pt x="31" y="65"/>
                    <a:pt x="50" y="42"/>
                    <a:pt x="53" y="39"/>
                  </a:cubicBezTo>
                  <a:cubicBezTo>
                    <a:pt x="56" y="36"/>
                    <a:pt x="70" y="0"/>
                    <a:pt x="5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5" name="Freeform 1989">
              <a:extLst>
                <a:ext uri="{FF2B5EF4-FFF2-40B4-BE49-F238E27FC236}">
                  <a16:creationId xmlns:a16="http://schemas.microsoft.com/office/drawing/2014/main" id="{1197E3D3-6258-57CE-42FD-ACDFEEEF2218}"/>
                </a:ext>
              </a:extLst>
            </p:cNvPr>
            <p:cNvSpPr>
              <a:spLocks noEditPoints="1"/>
            </p:cNvSpPr>
            <p:nvPr/>
          </p:nvSpPr>
          <p:spPr bwMode="auto">
            <a:xfrm>
              <a:off x="2107" y="714"/>
              <a:ext cx="16" cy="17"/>
            </a:xfrm>
            <a:custGeom>
              <a:avLst/>
              <a:gdLst>
                <a:gd name="T0" fmla="*/ 55 w 73"/>
                <a:gd name="T1" fmla="*/ 1 h 79"/>
                <a:gd name="T2" fmla="*/ 54 w 73"/>
                <a:gd name="T3" fmla="*/ 1 h 79"/>
                <a:gd name="T4" fmla="*/ 53 w 73"/>
                <a:gd name="T5" fmla="*/ 1 h 79"/>
                <a:gd name="T6" fmla="*/ 13 w 73"/>
                <a:gd name="T7" fmla="*/ 37 h 79"/>
                <a:gd name="T8" fmla="*/ 9 w 73"/>
                <a:gd name="T9" fmla="*/ 75 h 79"/>
                <a:gd name="T10" fmla="*/ 21 w 73"/>
                <a:gd name="T11" fmla="*/ 77 h 79"/>
                <a:gd name="T12" fmla="*/ 58 w 73"/>
                <a:gd name="T13" fmla="*/ 46 h 79"/>
                <a:gd name="T14" fmla="*/ 60 w 73"/>
                <a:gd name="T15" fmla="*/ 44 h 79"/>
                <a:gd name="T16" fmla="*/ 68 w 73"/>
                <a:gd name="T17" fmla="*/ 7 h 79"/>
                <a:gd name="T18" fmla="*/ 55 w 73"/>
                <a:gd name="T19" fmla="*/ 1 h 79"/>
                <a:gd name="T20" fmla="*/ 60 w 73"/>
                <a:gd name="T21" fmla="*/ 10 h 79"/>
                <a:gd name="T22" fmla="*/ 61 w 73"/>
                <a:gd name="T23" fmla="*/ 15 h 79"/>
                <a:gd name="T24" fmla="*/ 54 w 73"/>
                <a:gd name="T25" fmla="*/ 38 h 79"/>
                <a:gd name="T26" fmla="*/ 51 w 73"/>
                <a:gd name="T27" fmla="*/ 41 h 79"/>
                <a:gd name="T28" fmla="*/ 18 w 73"/>
                <a:gd name="T29" fmla="*/ 69 h 79"/>
                <a:gd name="T30" fmla="*/ 15 w 73"/>
                <a:gd name="T31" fmla="*/ 69 h 79"/>
                <a:gd name="T32" fmla="*/ 14 w 73"/>
                <a:gd name="T33" fmla="*/ 65 h 79"/>
                <a:gd name="T34" fmla="*/ 21 w 73"/>
                <a:gd name="T35" fmla="*/ 40 h 79"/>
                <a:gd name="T36" fmla="*/ 57 w 73"/>
                <a:gd name="T37" fmla="*/ 9 h 79"/>
                <a:gd name="T38" fmla="*/ 60 w 73"/>
                <a:gd name="T39" fmla="*/ 10 h 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73" h="79">
                  <a:moveTo>
                    <a:pt x="55" y="1"/>
                  </a:moveTo>
                  <a:cubicBezTo>
                    <a:pt x="54" y="1"/>
                    <a:pt x="54" y="1"/>
                    <a:pt x="54" y="1"/>
                  </a:cubicBezTo>
                  <a:cubicBezTo>
                    <a:pt x="53" y="1"/>
                    <a:pt x="53" y="1"/>
                    <a:pt x="53" y="1"/>
                  </a:cubicBezTo>
                  <a:cubicBezTo>
                    <a:pt x="50" y="4"/>
                    <a:pt x="19" y="23"/>
                    <a:pt x="13" y="37"/>
                  </a:cubicBezTo>
                  <a:cubicBezTo>
                    <a:pt x="12" y="38"/>
                    <a:pt x="0" y="66"/>
                    <a:pt x="9" y="75"/>
                  </a:cubicBezTo>
                  <a:cubicBezTo>
                    <a:pt x="11" y="77"/>
                    <a:pt x="14" y="79"/>
                    <a:pt x="21" y="77"/>
                  </a:cubicBezTo>
                  <a:cubicBezTo>
                    <a:pt x="35" y="72"/>
                    <a:pt x="51" y="54"/>
                    <a:pt x="58" y="46"/>
                  </a:cubicBezTo>
                  <a:cubicBezTo>
                    <a:pt x="60" y="44"/>
                    <a:pt x="60" y="44"/>
                    <a:pt x="60" y="44"/>
                  </a:cubicBezTo>
                  <a:cubicBezTo>
                    <a:pt x="63" y="41"/>
                    <a:pt x="73" y="17"/>
                    <a:pt x="68" y="7"/>
                  </a:cubicBezTo>
                  <a:cubicBezTo>
                    <a:pt x="66" y="4"/>
                    <a:pt x="63" y="0"/>
                    <a:pt x="55" y="1"/>
                  </a:cubicBezTo>
                  <a:close/>
                  <a:moveTo>
                    <a:pt x="60" y="10"/>
                  </a:moveTo>
                  <a:cubicBezTo>
                    <a:pt x="60" y="11"/>
                    <a:pt x="61" y="13"/>
                    <a:pt x="61" y="15"/>
                  </a:cubicBezTo>
                  <a:cubicBezTo>
                    <a:pt x="61" y="23"/>
                    <a:pt x="56" y="36"/>
                    <a:pt x="54" y="38"/>
                  </a:cubicBezTo>
                  <a:cubicBezTo>
                    <a:pt x="54" y="38"/>
                    <a:pt x="51" y="41"/>
                    <a:pt x="51" y="41"/>
                  </a:cubicBezTo>
                  <a:cubicBezTo>
                    <a:pt x="46" y="47"/>
                    <a:pt x="30" y="64"/>
                    <a:pt x="18" y="69"/>
                  </a:cubicBezTo>
                  <a:cubicBezTo>
                    <a:pt x="16" y="70"/>
                    <a:pt x="15" y="69"/>
                    <a:pt x="15" y="69"/>
                  </a:cubicBezTo>
                  <a:cubicBezTo>
                    <a:pt x="14" y="69"/>
                    <a:pt x="14" y="67"/>
                    <a:pt x="14" y="65"/>
                  </a:cubicBezTo>
                  <a:cubicBezTo>
                    <a:pt x="14" y="59"/>
                    <a:pt x="16" y="49"/>
                    <a:pt x="21" y="40"/>
                  </a:cubicBezTo>
                  <a:cubicBezTo>
                    <a:pt x="25" y="31"/>
                    <a:pt x="48" y="15"/>
                    <a:pt x="57" y="9"/>
                  </a:cubicBezTo>
                  <a:cubicBezTo>
                    <a:pt x="59" y="9"/>
                    <a:pt x="60" y="10"/>
                    <a:pt x="60"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6" name="Freeform 1990">
              <a:extLst>
                <a:ext uri="{FF2B5EF4-FFF2-40B4-BE49-F238E27FC236}">
                  <a16:creationId xmlns:a16="http://schemas.microsoft.com/office/drawing/2014/main" id="{BF354A5F-96D3-866C-ACEC-653A1569505E}"/>
                </a:ext>
              </a:extLst>
            </p:cNvPr>
            <p:cNvSpPr>
              <a:spLocks/>
            </p:cNvSpPr>
            <p:nvPr/>
          </p:nvSpPr>
          <p:spPr bwMode="auto">
            <a:xfrm>
              <a:off x="2095" y="732"/>
              <a:ext cx="15" cy="9"/>
            </a:xfrm>
            <a:custGeom>
              <a:avLst/>
              <a:gdLst>
                <a:gd name="T0" fmla="*/ 45 w 67"/>
                <a:gd name="T1" fmla="*/ 0 h 43"/>
                <a:gd name="T2" fmla="*/ 18 w 67"/>
                <a:gd name="T3" fmla="*/ 13 h 43"/>
                <a:gd name="T4" fmla="*/ 11 w 67"/>
                <a:gd name="T5" fmla="*/ 40 h 43"/>
                <a:gd name="T6" fmla="*/ 48 w 67"/>
                <a:gd name="T7" fmla="*/ 21 h 43"/>
                <a:gd name="T8" fmla="*/ 45 w 67"/>
                <a:gd name="T9" fmla="*/ 0 h 43"/>
              </a:gdLst>
              <a:ahLst/>
              <a:cxnLst>
                <a:cxn ang="0">
                  <a:pos x="T0" y="T1"/>
                </a:cxn>
                <a:cxn ang="0">
                  <a:pos x="T2" y="T3"/>
                </a:cxn>
                <a:cxn ang="0">
                  <a:pos x="T4" y="T5"/>
                </a:cxn>
                <a:cxn ang="0">
                  <a:pos x="T6" y="T7"/>
                </a:cxn>
                <a:cxn ang="0">
                  <a:pos x="T8" y="T9"/>
                </a:cxn>
              </a:cxnLst>
              <a:rect l="0" t="0" r="r" b="b"/>
              <a:pathLst>
                <a:path w="67" h="43">
                  <a:moveTo>
                    <a:pt x="45" y="0"/>
                  </a:moveTo>
                  <a:cubicBezTo>
                    <a:pt x="45" y="0"/>
                    <a:pt x="25" y="4"/>
                    <a:pt x="18" y="13"/>
                  </a:cubicBezTo>
                  <a:cubicBezTo>
                    <a:pt x="11" y="21"/>
                    <a:pt x="0" y="43"/>
                    <a:pt x="11" y="40"/>
                  </a:cubicBezTo>
                  <a:cubicBezTo>
                    <a:pt x="21" y="37"/>
                    <a:pt x="44" y="28"/>
                    <a:pt x="48" y="21"/>
                  </a:cubicBezTo>
                  <a:cubicBezTo>
                    <a:pt x="52" y="14"/>
                    <a:pt x="67" y="0"/>
                    <a:pt x="4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7" name="Freeform 1991">
              <a:extLst>
                <a:ext uri="{FF2B5EF4-FFF2-40B4-BE49-F238E27FC236}">
                  <a16:creationId xmlns:a16="http://schemas.microsoft.com/office/drawing/2014/main" id="{1C144711-2CB3-48E8-6455-A958444E8B09}"/>
                </a:ext>
              </a:extLst>
            </p:cNvPr>
            <p:cNvSpPr>
              <a:spLocks noEditPoints="1"/>
            </p:cNvSpPr>
            <p:nvPr/>
          </p:nvSpPr>
          <p:spPr bwMode="auto">
            <a:xfrm>
              <a:off x="2095" y="731"/>
              <a:ext cx="14" cy="11"/>
            </a:xfrm>
            <a:custGeom>
              <a:avLst/>
              <a:gdLst>
                <a:gd name="T0" fmla="*/ 47 w 65"/>
                <a:gd name="T1" fmla="*/ 0 h 51"/>
                <a:gd name="T2" fmla="*/ 46 w 65"/>
                <a:gd name="T3" fmla="*/ 0 h 51"/>
                <a:gd name="T4" fmla="*/ 16 w 65"/>
                <a:gd name="T5" fmla="*/ 15 h 51"/>
                <a:gd name="T6" fmla="*/ 5 w 65"/>
                <a:gd name="T7" fmla="*/ 47 h 51"/>
                <a:gd name="T8" fmla="*/ 14 w 65"/>
                <a:gd name="T9" fmla="*/ 49 h 51"/>
                <a:gd name="T10" fmla="*/ 54 w 65"/>
                <a:gd name="T11" fmla="*/ 28 h 51"/>
                <a:gd name="T12" fmla="*/ 56 w 65"/>
                <a:gd name="T13" fmla="*/ 25 h 51"/>
                <a:gd name="T14" fmla="*/ 62 w 65"/>
                <a:gd name="T15" fmla="*/ 6 h 51"/>
                <a:gd name="T16" fmla="*/ 47 w 65"/>
                <a:gd name="T17" fmla="*/ 0 h 51"/>
                <a:gd name="T18" fmla="*/ 23 w 65"/>
                <a:gd name="T19" fmla="*/ 20 h 51"/>
                <a:gd name="T20" fmla="*/ 48 w 65"/>
                <a:gd name="T21" fmla="*/ 9 h 51"/>
                <a:gd name="T22" fmla="*/ 54 w 65"/>
                <a:gd name="T23" fmla="*/ 10 h 51"/>
                <a:gd name="T24" fmla="*/ 54 w 65"/>
                <a:gd name="T25" fmla="*/ 10 h 51"/>
                <a:gd name="T26" fmla="*/ 49 w 65"/>
                <a:gd name="T27" fmla="*/ 20 h 51"/>
                <a:gd name="T28" fmla="*/ 46 w 65"/>
                <a:gd name="T29" fmla="*/ 24 h 51"/>
                <a:gd name="T30" fmla="*/ 13 w 65"/>
                <a:gd name="T31" fmla="*/ 40 h 51"/>
                <a:gd name="T32" fmla="*/ 23 w 65"/>
                <a:gd name="T33" fmla="*/ 20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65" h="51">
                  <a:moveTo>
                    <a:pt x="47" y="0"/>
                  </a:moveTo>
                  <a:cubicBezTo>
                    <a:pt x="46" y="0"/>
                    <a:pt x="46" y="0"/>
                    <a:pt x="46" y="0"/>
                  </a:cubicBezTo>
                  <a:cubicBezTo>
                    <a:pt x="44" y="1"/>
                    <a:pt x="24" y="5"/>
                    <a:pt x="16" y="15"/>
                  </a:cubicBezTo>
                  <a:cubicBezTo>
                    <a:pt x="13" y="19"/>
                    <a:pt x="0" y="39"/>
                    <a:pt x="5" y="47"/>
                  </a:cubicBezTo>
                  <a:cubicBezTo>
                    <a:pt x="6" y="48"/>
                    <a:pt x="8" y="51"/>
                    <a:pt x="14" y="49"/>
                  </a:cubicBezTo>
                  <a:cubicBezTo>
                    <a:pt x="14" y="49"/>
                    <a:pt x="47" y="39"/>
                    <a:pt x="54" y="28"/>
                  </a:cubicBezTo>
                  <a:cubicBezTo>
                    <a:pt x="56" y="25"/>
                    <a:pt x="56" y="25"/>
                    <a:pt x="56" y="25"/>
                  </a:cubicBezTo>
                  <a:cubicBezTo>
                    <a:pt x="60" y="19"/>
                    <a:pt x="65" y="12"/>
                    <a:pt x="62" y="6"/>
                  </a:cubicBezTo>
                  <a:cubicBezTo>
                    <a:pt x="59" y="1"/>
                    <a:pt x="52" y="0"/>
                    <a:pt x="47" y="0"/>
                  </a:cubicBezTo>
                  <a:close/>
                  <a:moveTo>
                    <a:pt x="23" y="20"/>
                  </a:moveTo>
                  <a:cubicBezTo>
                    <a:pt x="28" y="14"/>
                    <a:pt x="42" y="10"/>
                    <a:pt x="48" y="9"/>
                  </a:cubicBezTo>
                  <a:cubicBezTo>
                    <a:pt x="53" y="9"/>
                    <a:pt x="54" y="10"/>
                    <a:pt x="54" y="10"/>
                  </a:cubicBezTo>
                  <a:cubicBezTo>
                    <a:pt x="54" y="10"/>
                    <a:pt x="54" y="10"/>
                    <a:pt x="54" y="10"/>
                  </a:cubicBezTo>
                  <a:cubicBezTo>
                    <a:pt x="54" y="12"/>
                    <a:pt x="51" y="17"/>
                    <a:pt x="49" y="20"/>
                  </a:cubicBezTo>
                  <a:cubicBezTo>
                    <a:pt x="46" y="24"/>
                    <a:pt x="46" y="24"/>
                    <a:pt x="46" y="24"/>
                  </a:cubicBezTo>
                  <a:cubicBezTo>
                    <a:pt x="43" y="29"/>
                    <a:pt x="25" y="37"/>
                    <a:pt x="13" y="40"/>
                  </a:cubicBezTo>
                  <a:cubicBezTo>
                    <a:pt x="14" y="36"/>
                    <a:pt x="18" y="26"/>
                    <a:pt x="2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8" name="Freeform 1992">
              <a:extLst>
                <a:ext uri="{FF2B5EF4-FFF2-40B4-BE49-F238E27FC236}">
                  <a16:creationId xmlns:a16="http://schemas.microsoft.com/office/drawing/2014/main" id="{2DEFFBC3-AA40-6AF2-3B19-53203107A99F}"/>
                </a:ext>
              </a:extLst>
            </p:cNvPr>
            <p:cNvSpPr>
              <a:spLocks/>
            </p:cNvSpPr>
            <p:nvPr/>
          </p:nvSpPr>
          <p:spPr bwMode="auto">
            <a:xfrm>
              <a:off x="2088" y="720"/>
              <a:ext cx="47" cy="83"/>
            </a:xfrm>
            <a:custGeom>
              <a:avLst/>
              <a:gdLst>
                <a:gd name="T0" fmla="*/ 186 w 212"/>
                <a:gd name="T1" fmla="*/ 13 h 373"/>
                <a:gd name="T2" fmla="*/ 144 w 212"/>
                <a:gd name="T3" fmla="*/ 69 h 373"/>
                <a:gd name="T4" fmla="*/ 137 w 212"/>
                <a:gd name="T5" fmla="*/ 108 h 373"/>
                <a:gd name="T6" fmla="*/ 122 w 212"/>
                <a:gd name="T7" fmla="*/ 154 h 373"/>
                <a:gd name="T8" fmla="*/ 80 w 212"/>
                <a:gd name="T9" fmla="*/ 233 h 373"/>
                <a:gd name="T10" fmla="*/ 16 w 212"/>
                <a:gd name="T11" fmla="*/ 287 h 373"/>
                <a:gd name="T12" fmla="*/ 8 w 212"/>
                <a:gd name="T13" fmla="*/ 314 h 373"/>
                <a:gd name="T14" fmla="*/ 10 w 212"/>
                <a:gd name="T15" fmla="*/ 366 h 373"/>
                <a:gd name="T16" fmla="*/ 42 w 212"/>
                <a:gd name="T17" fmla="*/ 324 h 373"/>
                <a:gd name="T18" fmla="*/ 76 w 212"/>
                <a:gd name="T19" fmla="*/ 265 h 373"/>
                <a:gd name="T20" fmla="*/ 131 w 212"/>
                <a:gd name="T21" fmla="*/ 174 h 373"/>
                <a:gd name="T22" fmla="*/ 166 w 212"/>
                <a:gd name="T23" fmla="*/ 111 h 373"/>
                <a:gd name="T24" fmla="*/ 190 w 212"/>
                <a:gd name="T25" fmla="*/ 62 h 373"/>
                <a:gd name="T26" fmla="*/ 186 w 212"/>
                <a:gd name="T27" fmla="*/ 13 h 37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12" h="373">
                  <a:moveTo>
                    <a:pt x="186" y="13"/>
                  </a:moveTo>
                  <a:cubicBezTo>
                    <a:pt x="186" y="13"/>
                    <a:pt x="151" y="56"/>
                    <a:pt x="144" y="69"/>
                  </a:cubicBezTo>
                  <a:cubicBezTo>
                    <a:pt x="137" y="82"/>
                    <a:pt x="137" y="96"/>
                    <a:pt x="137" y="108"/>
                  </a:cubicBezTo>
                  <a:cubicBezTo>
                    <a:pt x="137" y="119"/>
                    <a:pt x="134" y="135"/>
                    <a:pt x="122" y="154"/>
                  </a:cubicBezTo>
                  <a:cubicBezTo>
                    <a:pt x="111" y="173"/>
                    <a:pt x="98" y="213"/>
                    <a:pt x="80" y="233"/>
                  </a:cubicBezTo>
                  <a:cubicBezTo>
                    <a:pt x="63" y="253"/>
                    <a:pt x="21" y="284"/>
                    <a:pt x="16" y="287"/>
                  </a:cubicBezTo>
                  <a:cubicBezTo>
                    <a:pt x="10" y="290"/>
                    <a:pt x="11" y="292"/>
                    <a:pt x="8" y="314"/>
                  </a:cubicBezTo>
                  <a:cubicBezTo>
                    <a:pt x="5" y="336"/>
                    <a:pt x="0" y="373"/>
                    <a:pt x="10" y="366"/>
                  </a:cubicBezTo>
                  <a:cubicBezTo>
                    <a:pt x="20" y="359"/>
                    <a:pt x="33" y="349"/>
                    <a:pt x="42" y="324"/>
                  </a:cubicBezTo>
                  <a:cubicBezTo>
                    <a:pt x="50" y="300"/>
                    <a:pt x="60" y="278"/>
                    <a:pt x="76" y="265"/>
                  </a:cubicBezTo>
                  <a:cubicBezTo>
                    <a:pt x="92" y="252"/>
                    <a:pt x="125" y="184"/>
                    <a:pt x="131" y="174"/>
                  </a:cubicBezTo>
                  <a:cubicBezTo>
                    <a:pt x="137" y="164"/>
                    <a:pt x="166" y="121"/>
                    <a:pt x="166" y="111"/>
                  </a:cubicBezTo>
                  <a:cubicBezTo>
                    <a:pt x="166" y="101"/>
                    <a:pt x="186" y="72"/>
                    <a:pt x="190" y="62"/>
                  </a:cubicBezTo>
                  <a:cubicBezTo>
                    <a:pt x="194" y="52"/>
                    <a:pt x="212" y="0"/>
                    <a:pt x="186"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39" name="Freeform 1993">
              <a:extLst>
                <a:ext uri="{FF2B5EF4-FFF2-40B4-BE49-F238E27FC236}">
                  <a16:creationId xmlns:a16="http://schemas.microsoft.com/office/drawing/2014/main" id="{F94EA3D9-6865-0B2A-F32A-CEE863170BFB}"/>
                </a:ext>
              </a:extLst>
            </p:cNvPr>
            <p:cNvSpPr>
              <a:spLocks noEditPoints="1"/>
            </p:cNvSpPr>
            <p:nvPr/>
          </p:nvSpPr>
          <p:spPr bwMode="auto">
            <a:xfrm>
              <a:off x="2088" y="721"/>
              <a:ext cx="47" cy="81"/>
            </a:xfrm>
            <a:custGeom>
              <a:avLst/>
              <a:gdLst>
                <a:gd name="T0" fmla="*/ 186 w 214"/>
                <a:gd name="T1" fmla="*/ 5 h 368"/>
                <a:gd name="T2" fmla="*/ 185 w 214"/>
                <a:gd name="T3" fmla="*/ 5 h 368"/>
                <a:gd name="T4" fmla="*/ 184 w 214"/>
                <a:gd name="T5" fmla="*/ 6 h 368"/>
                <a:gd name="T6" fmla="*/ 142 w 214"/>
                <a:gd name="T7" fmla="*/ 63 h 368"/>
                <a:gd name="T8" fmla="*/ 134 w 214"/>
                <a:gd name="T9" fmla="*/ 104 h 368"/>
                <a:gd name="T10" fmla="*/ 121 w 214"/>
                <a:gd name="T11" fmla="*/ 148 h 368"/>
                <a:gd name="T12" fmla="*/ 106 w 214"/>
                <a:gd name="T13" fmla="*/ 177 h 368"/>
                <a:gd name="T14" fmla="*/ 79 w 214"/>
                <a:gd name="T15" fmla="*/ 226 h 368"/>
                <a:gd name="T16" fmla="*/ 16 w 214"/>
                <a:gd name="T17" fmla="*/ 279 h 368"/>
                <a:gd name="T18" fmla="*/ 8 w 214"/>
                <a:gd name="T19" fmla="*/ 297 h 368"/>
                <a:gd name="T20" fmla="*/ 6 w 214"/>
                <a:gd name="T21" fmla="*/ 309 h 368"/>
                <a:gd name="T22" fmla="*/ 5 w 214"/>
                <a:gd name="T23" fmla="*/ 314 h 368"/>
                <a:gd name="T24" fmla="*/ 6 w 214"/>
                <a:gd name="T25" fmla="*/ 366 h 368"/>
                <a:gd name="T26" fmla="*/ 14 w 214"/>
                <a:gd name="T27" fmla="*/ 366 h 368"/>
                <a:gd name="T28" fmla="*/ 48 w 214"/>
                <a:gd name="T29" fmla="*/ 322 h 368"/>
                <a:gd name="T30" fmla="*/ 81 w 214"/>
                <a:gd name="T31" fmla="*/ 264 h 368"/>
                <a:gd name="T32" fmla="*/ 131 w 214"/>
                <a:gd name="T33" fmla="*/ 184 h 368"/>
                <a:gd name="T34" fmla="*/ 137 w 214"/>
                <a:gd name="T35" fmla="*/ 172 h 368"/>
                <a:gd name="T36" fmla="*/ 143 w 214"/>
                <a:gd name="T37" fmla="*/ 161 h 368"/>
                <a:gd name="T38" fmla="*/ 172 w 214"/>
                <a:gd name="T39" fmla="*/ 107 h 368"/>
                <a:gd name="T40" fmla="*/ 187 w 214"/>
                <a:gd name="T41" fmla="*/ 75 h 368"/>
                <a:gd name="T42" fmla="*/ 196 w 214"/>
                <a:gd name="T43" fmla="*/ 59 h 368"/>
                <a:gd name="T44" fmla="*/ 202 w 214"/>
                <a:gd name="T45" fmla="*/ 5 h 368"/>
                <a:gd name="T46" fmla="*/ 186 w 214"/>
                <a:gd name="T47" fmla="*/ 5 h 368"/>
                <a:gd name="T48" fmla="*/ 196 w 214"/>
                <a:gd name="T49" fmla="*/ 11 h 368"/>
                <a:gd name="T50" fmla="*/ 197 w 214"/>
                <a:gd name="T51" fmla="*/ 18 h 368"/>
                <a:gd name="T52" fmla="*/ 188 w 214"/>
                <a:gd name="T53" fmla="*/ 56 h 368"/>
                <a:gd name="T54" fmla="*/ 180 w 214"/>
                <a:gd name="T55" fmla="*/ 71 h 368"/>
                <a:gd name="T56" fmla="*/ 163 w 214"/>
                <a:gd name="T57" fmla="*/ 107 h 368"/>
                <a:gd name="T58" fmla="*/ 136 w 214"/>
                <a:gd name="T59" fmla="*/ 157 h 368"/>
                <a:gd name="T60" fmla="*/ 129 w 214"/>
                <a:gd name="T61" fmla="*/ 168 h 368"/>
                <a:gd name="T62" fmla="*/ 123 w 214"/>
                <a:gd name="T63" fmla="*/ 180 h 368"/>
                <a:gd name="T64" fmla="*/ 75 w 214"/>
                <a:gd name="T65" fmla="*/ 258 h 368"/>
                <a:gd name="T66" fmla="*/ 39 w 214"/>
                <a:gd name="T67" fmla="*/ 319 h 368"/>
                <a:gd name="T68" fmla="*/ 11 w 214"/>
                <a:gd name="T69" fmla="*/ 357 h 368"/>
                <a:gd name="T70" fmla="*/ 10 w 214"/>
                <a:gd name="T71" fmla="*/ 352 h 368"/>
                <a:gd name="T72" fmla="*/ 14 w 214"/>
                <a:gd name="T73" fmla="*/ 315 h 368"/>
                <a:gd name="T74" fmla="*/ 15 w 214"/>
                <a:gd name="T75" fmla="*/ 311 h 368"/>
                <a:gd name="T76" fmla="*/ 16 w 214"/>
                <a:gd name="T77" fmla="*/ 298 h 368"/>
                <a:gd name="T78" fmla="*/ 19 w 214"/>
                <a:gd name="T79" fmla="*/ 287 h 368"/>
                <a:gd name="T80" fmla="*/ 86 w 214"/>
                <a:gd name="T81" fmla="*/ 232 h 368"/>
                <a:gd name="T82" fmla="*/ 114 w 214"/>
                <a:gd name="T83" fmla="*/ 180 h 368"/>
                <a:gd name="T84" fmla="*/ 128 w 214"/>
                <a:gd name="T85" fmla="*/ 152 h 368"/>
                <a:gd name="T86" fmla="*/ 143 w 214"/>
                <a:gd name="T87" fmla="*/ 104 h 368"/>
                <a:gd name="T88" fmla="*/ 150 w 214"/>
                <a:gd name="T89" fmla="*/ 67 h 368"/>
                <a:gd name="T90" fmla="*/ 190 w 214"/>
                <a:gd name="T91" fmla="*/ 12 h 368"/>
                <a:gd name="T92" fmla="*/ 196 w 214"/>
                <a:gd name="T93" fmla="*/ 11 h 3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214" h="368">
                  <a:moveTo>
                    <a:pt x="186" y="5"/>
                  </a:moveTo>
                  <a:cubicBezTo>
                    <a:pt x="185" y="5"/>
                    <a:pt x="185" y="5"/>
                    <a:pt x="185" y="5"/>
                  </a:cubicBezTo>
                  <a:cubicBezTo>
                    <a:pt x="184" y="6"/>
                    <a:pt x="184" y="6"/>
                    <a:pt x="184" y="6"/>
                  </a:cubicBezTo>
                  <a:cubicBezTo>
                    <a:pt x="183" y="8"/>
                    <a:pt x="149" y="50"/>
                    <a:pt x="142" y="63"/>
                  </a:cubicBezTo>
                  <a:cubicBezTo>
                    <a:pt x="134" y="77"/>
                    <a:pt x="134" y="92"/>
                    <a:pt x="134" y="104"/>
                  </a:cubicBezTo>
                  <a:cubicBezTo>
                    <a:pt x="134" y="118"/>
                    <a:pt x="130" y="133"/>
                    <a:pt x="121" y="148"/>
                  </a:cubicBezTo>
                  <a:cubicBezTo>
                    <a:pt x="116" y="155"/>
                    <a:pt x="111" y="166"/>
                    <a:pt x="106" y="177"/>
                  </a:cubicBezTo>
                  <a:cubicBezTo>
                    <a:pt x="98" y="194"/>
                    <a:pt x="89" y="214"/>
                    <a:pt x="79" y="226"/>
                  </a:cubicBezTo>
                  <a:cubicBezTo>
                    <a:pt x="62" y="247"/>
                    <a:pt x="21" y="276"/>
                    <a:pt x="16" y="279"/>
                  </a:cubicBezTo>
                  <a:cubicBezTo>
                    <a:pt x="9" y="282"/>
                    <a:pt x="9" y="286"/>
                    <a:pt x="8" y="297"/>
                  </a:cubicBezTo>
                  <a:cubicBezTo>
                    <a:pt x="6" y="309"/>
                    <a:pt x="6" y="309"/>
                    <a:pt x="6" y="309"/>
                  </a:cubicBezTo>
                  <a:cubicBezTo>
                    <a:pt x="5" y="314"/>
                    <a:pt x="5" y="314"/>
                    <a:pt x="5" y="314"/>
                  </a:cubicBezTo>
                  <a:cubicBezTo>
                    <a:pt x="1" y="349"/>
                    <a:pt x="0" y="363"/>
                    <a:pt x="6" y="366"/>
                  </a:cubicBezTo>
                  <a:cubicBezTo>
                    <a:pt x="8" y="367"/>
                    <a:pt x="11" y="368"/>
                    <a:pt x="14" y="366"/>
                  </a:cubicBezTo>
                  <a:cubicBezTo>
                    <a:pt x="26" y="357"/>
                    <a:pt x="39" y="346"/>
                    <a:pt x="48" y="322"/>
                  </a:cubicBezTo>
                  <a:cubicBezTo>
                    <a:pt x="55" y="301"/>
                    <a:pt x="65" y="278"/>
                    <a:pt x="81" y="264"/>
                  </a:cubicBezTo>
                  <a:cubicBezTo>
                    <a:pt x="94" y="253"/>
                    <a:pt x="118" y="208"/>
                    <a:pt x="131" y="184"/>
                  </a:cubicBezTo>
                  <a:cubicBezTo>
                    <a:pt x="137" y="172"/>
                    <a:pt x="137" y="172"/>
                    <a:pt x="137" y="172"/>
                  </a:cubicBezTo>
                  <a:cubicBezTo>
                    <a:pt x="143" y="161"/>
                    <a:pt x="143" y="161"/>
                    <a:pt x="143" y="161"/>
                  </a:cubicBezTo>
                  <a:cubicBezTo>
                    <a:pt x="162" y="132"/>
                    <a:pt x="172" y="114"/>
                    <a:pt x="172" y="107"/>
                  </a:cubicBezTo>
                  <a:cubicBezTo>
                    <a:pt x="172" y="101"/>
                    <a:pt x="181" y="86"/>
                    <a:pt x="187" y="75"/>
                  </a:cubicBezTo>
                  <a:cubicBezTo>
                    <a:pt x="196" y="59"/>
                    <a:pt x="196" y="59"/>
                    <a:pt x="196" y="59"/>
                  </a:cubicBezTo>
                  <a:cubicBezTo>
                    <a:pt x="196" y="59"/>
                    <a:pt x="214" y="16"/>
                    <a:pt x="202" y="5"/>
                  </a:cubicBezTo>
                  <a:cubicBezTo>
                    <a:pt x="199" y="2"/>
                    <a:pt x="194" y="0"/>
                    <a:pt x="186" y="5"/>
                  </a:cubicBezTo>
                  <a:close/>
                  <a:moveTo>
                    <a:pt x="196" y="11"/>
                  </a:moveTo>
                  <a:cubicBezTo>
                    <a:pt x="197" y="12"/>
                    <a:pt x="197" y="14"/>
                    <a:pt x="197" y="18"/>
                  </a:cubicBezTo>
                  <a:cubicBezTo>
                    <a:pt x="197" y="27"/>
                    <a:pt x="193" y="45"/>
                    <a:pt x="188" y="56"/>
                  </a:cubicBezTo>
                  <a:cubicBezTo>
                    <a:pt x="180" y="71"/>
                    <a:pt x="180" y="71"/>
                    <a:pt x="180" y="71"/>
                  </a:cubicBezTo>
                  <a:cubicBezTo>
                    <a:pt x="170" y="87"/>
                    <a:pt x="163" y="99"/>
                    <a:pt x="163" y="107"/>
                  </a:cubicBezTo>
                  <a:cubicBezTo>
                    <a:pt x="163" y="113"/>
                    <a:pt x="144" y="144"/>
                    <a:pt x="136" y="157"/>
                  </a:cubicBezTo>
                  <a:cubicBezTo>
                    <a:pt x="129" y="168"/>
                    <a:pt x="129" y="168"/>
                    <a:pt x="129" y="168"/>
                  </a:cubicBezTo>
                  <a:cubicBezTo>
                    <a:pt x="123" y="180"/>
                    <a:pt x="123" y="180"/>
                    <a:pt x="123" y="180"/>
                  </a:cubicBezTo>
                  <a:cubicBezTo>
                    <a:pt x="112" y="200"/>
                    <a:pt x="88" y="248"/>
                    <a:pt x="75" y="258"/>
                  </a:cubicBezTo>
                  <a:cubicBezTo>
                    <a:pt x="58" y="272"/>
                    <a:pt x="47" y="297"/>
                    <a:pt x="39" y="319"/>
                  </a:cubicBezTo>
                  <a:cubicBezTo>
                    <a:pt x="32" y="340"/>
                    <a:pt x="21" y="350"/>
                    <a:pt x="11" y="357"/>
                  </a:cubicBezTo>
                  <a:cubicBezTo>
                    <a:pt x="10" y="356"/>
                    <a:pt x="10" y="354"/>
                    <a:pt x="10" y="352"/>
                  </a:cubicBezTo>
                  <a:cubicBezTo>
                    <a:pt x="10" y="342"/>
                    <a:pt x="13" y="325"/>
                    <a:pt x="14" y="315"/>
                  </a:cubicBezTo>
                  <a:cubicBezTo>
                    <a:pt x="15" y="311"/>
                    <a:pt x="15" y="311"/>
                    <a:pt x="15" y="311"/>
                  </a:cubicBezTo>
                  <a:cubicBezTo>
                    <a:pt x="16" y="298"/>
                    <a:pt x="16" y="298"/>
                    <a:pt x="16" y="298"/>
                  </a:cubicBezTo>
                  <a:cubicBezTo>
                    <a:pt x="17" y="288"/>
                    <a:pt x="17" y="288"/>
                    <a:pt x="19" y="287"/>
                  </a:cubicBezTo>
                  <a:cubicBezTo>
                    <a:pt x="26" y="283"/>
                    <a:pt x="68" y="253"/>
                    <a:pt x="86" y="232"/>
                  </a:cubicBezTo>
                  <a:cubicBezTo>
                    <a:pt x="97" y="219"/>
                    <a:pt x="106" y="199"/>
                    <a:pt x="114" y="180"/>
                  </a:cubicBezTo>
                  <a:cubicBezTo>
                    <a:pt x="119" y="169"/>
                    <a:pt x="124" y="159"/>
                    <a:pt x="128" y="152"/>
                  </a:cubicBezTo>
                  <a:cubicBezTo>
                    <a:pt x="138" y="136"/>
                    <a:pt x="143" y="120"/>
                    <a:pt x="143" y="104"/>
                  </a:cubicBezTo>
                  <a:cubicBezTo>
                    <a:pt x="143" y="93"/>
                    <a:pt x="143" y="79"/>
                    <a:pt x="150" y="67"/>
                  </a:cubicBezTo>
                  <a:cubicBezTo>
                    <a:pt x="156" y="55"/>
                    <a:pt x="186" y="17"/>
                    <a:pt x="190" y="12"/>
                  </a:cubicBezTo>
                  <a:cubicBezTo>
                    <a:pt x="193" y="11"/>
                    <a:pt x="195" y="11"/>
                    <a:pt x="196"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40" name="Freeform 1994">
              <a:extLst>
                <a:ext uri="{FF2B5EF4-FFF2-40B4-BE49-F238E27FC236}">
                  <a16:creationId xmlns:a16="http://schemas.microsoft.com/office/drawing/2014/main" id="{32189E0E-3B7B-3AB0-E7B1-AC6A5ABA482C}"/>
                </a:ext>
              </a:extLst>
            </p:cNvPr>
            <p:cNvSpPr>
              <a:spLocks/>
            </p:cNvSpPr>
            <p:nvPr/>
          </p:nvSpPr>
          <p:spPr bwMode="auto">
            <a:xfrm>
              <a:off x="2081" y="738"/>
              <a:ext cx="33" cy="36"/>
            </a:xfrm>
            <a:custGeom>
              <a:avLst/>
              <a:gdLst>
                <a:gd name="T0" fmla="*/ 124 w 149"/>
                <a:gd name="T1" fmla="*/ 18 h 165"/>
                <a:gd name="T2" fmla="*/ 87 w 149"/>
                <a:gd name="T3" fmla="*/ 42 h 165"/>
                <a:gd name="T4" fmla="*/ 65 w 149"/>
                <a:gd name="T5" fmla="*/ 87 h 165"/>
                <a:gd name="T6" fmla="*/ 61 w 149"/>
                <a:gd name="T7" fmla="*/ 120 h 165"/>
                <a:gd name="T8" fmla="*/ 13 w 149"/>
                <a:gd name="T9" fmla="*/ 142 h 165"/>
                <a:gd name="T10" fmla="*/ 16 w 149"/>
                <a:gd name="T11" fmla="*/ 162 h 165"/>
                <a:gd name="T12" fmla="*/ 77 w 149"/>
                <a:gd name="T13" fmla="*/ 145 h 165"/>
                <a:gd name="T14" fmla="*/ 110 w 149"/>
                <a:gd name="T15" fmla="*/ 94 h 165"/>
                <a:gd name="T16" fmla="*/ 148 w 149"/>
                <a:gd name="T17" fmla="*/ 55 h 165"/>
                <a:gd name="T18" fmla="*/ 124 w 149"/>
                <a:gd name="T19" fmla="*/ 18 h 1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49" h="165">
                  <a:moveTo>
                    <a:pt x="124" y="18"/>
                  </a:moveTo>
                  <a:cubicBezTo>
                    <a:pt x="124" y="18"/>
                    <a:pt x="96" y="34"/>
                    <a:pt x="87" y="42"/>
                  </a:cubicBezTo>
                  <a:cubicBezTo>
                    <a:pt x="78" y="51"/>
                    <a:pt x="65" y="73"/>
                    <a:pt x="65" y="87"/>
                  </a:cubicBezTo>
                  <a:cubicBezTo>
                    <a:pt x="65" y="101"/>
                    <a:pt x="70" y="113"/>
                    <a:pt x="61" y="120"/>
                  </a:cubicBezTo>
                  <a:cubicBezTo>
                    <a:pt x="52" y="127"/>
                    <a:pt x="13" y="142"/>
                    <a:pt x="13" y="142"/>
                  </a:cubicBezTo>
                  <a:cubicBezTo>
                    <a:pt x="13" y="142"/>
                    <a:pt x="0" y="159"/>
                    <a:pt x="16" y="162"/>
                  </a:cubicBezTo>
                  <a:cubicBezTo>
                    <a:pt x="32" y="165"/>
                    <a:pt x="64" y="158"/>
                    <a:pt x="77" y="145"/>
                  </a:cubicBezTo>
                  <a:cubicBezTo>
                    <a:pt x="90" y="132"/>
                    <a:pt x="97" y="104"/>
                    <a:pt x="110" y="94"/>
                  </a:cubicBezTo>
                  <a:cubicBezTo>
                    <a:pt x="123" y="84"/>
                    <a:pt x="146" y="62"/>
                    <a:pt x="148" y="55"/>
                  </a:cubicBezTo>
                  <a:cubicBezTo>
                    <a:pt x="149" y="48"/>
                    <a:pt x="148" y="0"/>
                    <a:pt x="12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41" name="Freeform 1995">
              <a:extLst>
                <a:ext uri="{FF2B5EF4-FFF2-40B4-BE49-F238E27FC236}">
                  <a16:creationId xmlns:a16="http://schemas.microsoft.com/office/drawing/2014/main" id="{CF7291A0-7775-D6B0-C6A7-7A71B58B2433}"/>
                </a:ext>
              </a:extLst>
            </p:cNvPr>
            <p:cNvSpPr>
              <a:spLocks noEditPoints="1"/>
            </p:cNvSpPr>
            <p:nvPr/>
          </p:nvSpPr>
          <p:spPr bwMode="auto">
            <a:xfrm>
              <a:off x="2082" y="740"/>
              <a:ext cx="33" cy="35"/>
            </a:xfrm>
            <a:custGeom>
              <a:avLst/>
              <a:gdLst>
                <a:gd name="T0" fmla="*/ 120 w 151"/>
                <a:gd name="T1" fmla="*/ 6 h 161"/>
                <a:gd name="T2" fmla="*/ 120 w 151"/>
                <a:gd name="T3" fmla="*/ 6 h 161"/>
                <a:gd name="T4" fmla="*/ 82 w 151"/>
                <a:gd name="T5" fmla="*/ 31 h 161"/>
                <a:gd name="T6" fmla="*/ 59 w 151"/>
                <a:gd name="T7" fmla="*/ 79 h 161"/>
                <a:gd name="T8" fmla="*/ 60 w 151"/>
                <a:gd name="T9" fmla="*/ 90 h 161"/>
                <a:gd name="T10" fmla="*/ 56 w 151"/>
                <a:gd name="T11" fmla="*/ 109 h 161"/>
                <a:gd name="T12" fmla="*/ 10 w 151"/>
                <a:gd name="T13" fmla="*/ 130 h 161"/>
                <a:gd name="T14" fmla="*/ 9 w 151"/>
                <a:gd name="T15" fmla="*/ 130 h 161"/>
                <a:gd name="T16" fmla="*/ 8 w 151"/>
                <a:gd name="T17" fmla="*/ 131 h 161"/>
                <a:gd name="T18" fmla="*/ 3 w 151"/>
                <a:gd name="T19" fmla="*/ 151 h 161"/>
                <a:gd name="T20" fmla="*/ 13 w 151"/>
                <a:gd name="T21" fmla="*/ 158 h 161"/>
                <a:gd name="T22" fmla="*/ 78 w 151"/>
                <a:gd name="T23" fmla="*/ 140 h 161"/>
                <a:gd name="T24" fmla="*/ 94 w 151"/>
                <a:gd name="T25" fmla="*/ 114 h 161"/>
                <a:gd name="T26" fmla="*/ 111 w 151"/>
                <a:gd name="T27" fmla="*/ 90 h 161"/>
                <a:gd name="T28" fmla="*/ 150 w 151"/>
                <a:gd name="T29" fmla="*/ 48 h 161"/>
                <a:gd name="T30" fmla="*/ 138 w 151"/>
                <a:gd name="T31" fmla="*/ 4 h 161"/>
                <a:gd name="T32" fmla="*/ 120 w 151"/>
                <a:gd name="T33" fmla="*/ 6 h 161"/>
                <a:gd name="T34" fmla="*/ 62 w 151"/>
                <a:gd name="T35" fmla="*/ 115 h 161"/>
                <a:gd name="T36" fmla="*/ 69 w 151"/>
                <a:gd name="T37" fmla="*/ 98 h 161"/>
                <a:gd name="T38" fmla="*/ 68 w 151"/>
                <a:gd name="T39" fmla="*/ 89 h 161"/>
                <a:gd name="T40" fmla="*/ 68 w 151"/>
                <a:gd name="T41" fmla="*/ 79 h 161"/>
                <a:gd name="T42" fmla="*/ 88 w 151"/>
                <a:gd name="T43" fmla="*/ 37 h 161"/>
                <a:gd name="T44" fmla="*/ 125 w 151"/>
                <a:gd name="T45" fmla="*/ 13 h 161"/>
                <a:gd name="T46" fmla="*/ 125 w 151"/>
                <a:gd name="T47" fmla="*/ 13 h 161"/>
                <a:gd name="T48" fmla="*/ 125 w 151"/>
                <a:gd name="T49" fmla="*/ 13 h 161"/>
                <a:gd name="T50" fmla="*/ 134 w 151"/>
                <a:gd name="T51" fmla="*/ 11 h 161"/>
                <a:gd name="T52" fmla="*/ 141 w 151"/>
                <a:gd name="T53" fmla="*/ 46 h 161"/>
                <a:gd name="T54" fmla="*/ 105 w 151"/>
                <a:gd name="T55" fmla="*/ 83 h 161"/>
                <a:gd name="T56" fmla="*/ 87 w 151"/>
                <a:gd name="T57" fmla="*/ 110 h 161"/>
                <a:gd name="T58" fmla="*/ 72 w 151"/>
                <a:gd name="T59" fmla="*/ 134 h 161"/>
                <a:gd name="T60" fmla="*/ 15 w 151"/>
                <a:gd name="T61" fmla="*/ 150 h 161"/>
                <a:gd name="T62" fmla="*/ 11 w 151"/>
                <a:gd name="T63" fmla="*/ 147 h 161"/>
                <a:gd name="T64" fmla="*/ 11 w 151"/>
                <a:gd name="T65" fmla="*/ 146 h 161"/>
                <a:gd name="T66" fmla="*/ 14 w 151"/>
                <a:gd name="T67" fmla="*/ 137 h 161"/>
                <a:gd name="T68" fmla="*/ 62 w 151"/>
                <a:gd name="T69" fmla="*/ 115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51" h="161">
                  <a:moveTo>
                    <a:pt x="120" y="6"/>
                  </a:moveTo>
                  <a:cubicBezTo>
                    <a:pt x="120" y="6"/>
                    <a:pt x="120" y="6"/>
                    <a:pt x="120" y="6"/>
                  </a:cubicBezTo>
                  <a:cubicBezTo>
                    <a:pt x="119" y="7"/>
                    <a:pt x="91" y="22"/>
                    <a:pt x="82" y="31"/>
                  </a:cubicBezTo>
                  <a:cubicBezTo>
                    <a:pt x="72" y="41"/>
                    <a:pt x="59" y="64"/>
                    <a:pt x="59" y="79"/>
                  </a:cubicBezTo>
                  <a:cubicBezTo>
                    <a:pt x="60" y="90"/>
                    <a:pt x="60" y="90"/>
                    <a:pt x="60" y="90"/>
                  </a:cubicBezTo>
                  <a:cubicBezTo>
                    <a:pt x="60" y="100"/>
                    <a:pt x="61" y="105"/>
                    <a:pt x="56" y="109"/>
                  </a:cubicBezTo>
                  <a:cubicBezTo>
                    <a:pt x="50" y="114"/>
                    <a:pt x="21" y="126"/>
                    <a:pt x="10" y="130"/>
                  </a:cubicBezTo>
                  <a:cubicBezTo>
                    <a:pt x="9" y="130"/>
                    <a:pt x="9" y="130"/>
                    <a:pt x="9" y="130"/>
                  </a:cubicBezTo>
                  <a:cubicBezTo>
                    <a:pt x="8" y="131"/>
                    <a:pt x="8" y="131"/>
                    <a:pt x="8" y="131"/>
                  </a:cubicBezTo>
                  <a:cubicBezTo>
                    <a:pt x="7" y="132"/>
                    <a:pt x="0" y="143"/>
                    <a:pt x="3" y="151"/>
                  </a:cubicBezTo>
                  <a:cubicBezTo>
                    <a:pt x="4" y="153"/>
                    <a:pt x="7" y="157"/>
                    <a:pt x="13" y="158"/>
                  </a:cubicBezTo>
                  <a:cubicBezTo>
                    <a:pt x="31" y="161"/>
                    <a:pt x="64" y="153"/>
                    <a:pt x="78" y="140"/>
                  </a:cubicBezTo>
                  <a:cubicBezTo>
                    <a:pt x="85" y="133"/>
                    <a:pt x="90" y="123"/>
                    <a:pt x="94" y="114"/>
                  </a:cubicBezTo>
                  <a:cubicBezTo>
                    <a:pt x="99" y="104"/>
                    <a:pt x="105" y="94"/>
                    <a:pt x="111" y="90"/>
                  </a:cubicBezTo>
                  <a:cubicBezTo>
                    <a:pt x="120" y="82"/>
                    <a:pt x="148" y="58"/>
                    <a:pt x="150" y="48"/>
                  </a:cubicBezTo>
                  <a:cubicBezTo>
                    <a:pt x="151" y="43"/>
                    <a:pt x="151" y="12"/>
                    <a:pt x="138" y="4"/>
                  </a:cubicBezTo>
                  <a:cubicBezTo>
                    <a:pt x="135" y="1"/>
                    <a:pt x="128" y="0"/>
                    <a:pt x="120" y="6"/>
                  </a:cubicBezTo>
                  <a:close/>
                  <a:moveTo>
                    <a:pt x="62" y="115"/>
                  </a:moveTo>
                  <a:cubicBezTo>
                    <a:pt x="67" y="111"/>
                    <a:pt x="69" y="105"/>
                    <a:pt x="69" y="98"/>
                  </a:cubicBezTo>
                  <a:cubicBezTo>
                    <a:pt x="69" y="95"/>
                    <a:pt x="68" y="92"/>
                    <a:pt x="68" y="89"/>
                  </a:cubicBezTo>
                  <a:cubicBezTo>
                    <a:pt x="68" y="79"/>
                    <a:pt x="68" y="79"/>
                    <a:pt x="68" y="79"/>
                  </a:cubicBezTo>
                  <a:cubicBezTo>
                    <a:pt x="68" y="66"/>
                    <a:pt x="80" y="45"/>
                    <a:pt x="88" y="37"/>
                  </a:cubicBezTo>
                  <a:cubicBezTo>
                    <a:pt x="96" y="29"/>
                    <a:pt x="124" y="14"/>
                    <a:pt x="125" y="13"/>
                  </a:cubicBezTo>
                  <a:cubicBezTo>
                    <a:pt x="125" y="13"/>
                    <a:pt x="125" y="13"/>
                    <a:pt x="125" y="13"/>
                  </a:cubicBezTo>
                  <a:cubicBezTo>
                    <a:pt x="125" y="13"/>
                    <a:pt x="125" y="13"/>
                    <a:pt x="125" y="13"/>
                  </a:cubicBezTo>
                  <a:cubicBezTo>
                    <a:pt x="131" y="9"/>
                    <a:pt x="133" y="10"/>
                    <a:pt x="134" y="11"/>
                  </a:cubicBezTo>
                  <a:cubicBezTo>
                    <a:pt x="141" y="16"/>
                    <a:pt x="142" y="41"/>
                    <a:pt x="141" y="46"/>
                  </a:cubicBezTo>
                  <a:cubicBezTo>
                    <a:pt x="140" y="51"/>
                    <a:pt x="121" y="70"/>
                    <a:pt x="105" y="83"/>
                  </a:cubicBezTo>
                  <a:cubicBezTo>
                    <a:pt x="98" y="89"/>
                    <a:pt x="92" y="99"/>
                    <a:pt x="87" y="110"/>
                  </a:cubicBezTo>
                  <a:cubicBezTo>
                    <a:pt x="82" y="119"/>
                    <a:pt x="77" y="128"/>
                    <a:pt x="72" y="134"/>
                  </a:cubicBezTo>
                  <a:cubicBezTo>
                    <a:pt x="60" y="145"/>
                    <a:pt x="30" y="152"/>
                    <a:pt x="15" y="150"/>
                  </a:cubicBezTo>
                  <a:cubicBezTo>
                    <a:pt x="13" y="149"/>
                    <a:pt x="11" y="149"/>
                    <a:pt x="11" y="147"/>
                  </a:cubicBezTo>
                  <a:cubicBezTo>
                    <a:pt x="11" y="147"/>
                    <a:pt x="11" y="147"/>
                    <a:pt x="11" y="146"/>
                  </a:cubicBezTo>
                  <a:cubicBezTo>
                    <a:pt x="11" y="144"/>
                    <a:pt x="13" y="140"/>
                    <a:pt x="14" y="137"/>
                  </a:cubicBezTo>
                  <a:cubicBezTo>
                    <a:pt x="22" y="135"/>
                    <a:pt x="53" y="122"/>
                    <a:pt x="62" y="1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42" name="Freeform 1996">
              <a:extLst>
                <a:ext uri="{FF2B5EF4-FFF2-40B4-BE49-F238E27FC236}">
                  <a16:creationId xmlns:a16="http://schemas.microsoft.com/office/drawing/2014/main" id="{D88066C8-1AF9-2D98-588C-CD9455970233}"/>
                </a:ext>
              </a:extLst>
            </p:cNvPr>
            <p:cNvSpPr>
              <a:spLocks/>
            </p:cNvSpPr>
            <p:nvPr/>
          </p:nvSpPr>
          <p:spPr bwMode="auto">
            <a:xfrm>
              <a:off x="2054" y="780"/>
              <a:ext cx="14" cy="11"/>
            </a:xfrm>
            <a:custGeom>
              <a:avLst/>
              <a:gdLst>
                <a:gd name="T0" fmla="*/ 40 w 63"/>
                <a:gd name="T1" fmla="*/ 5 h 51"/>
                <a:gd name="T2" fmla="*/ 7 w 63"/>
                <a:gd name="T3" fmla="*/ 6 h 51"/>
                <a:gd name="T4" fmla="*/ 16 w 63"/>
                <a:gd name="T5" fmla="*/ 35 h 51"/>
                <a:gd name="T6" fmla="*/ 63 w 63"/>
                <a:gd name="T7" fmla="*/ 26 h 51"/>
                <a:gd name="T8" fmla="*/ 40 w 63"/>
                <a:gd name="T9" fmla="*/ 5 h 51"/>
              </a:gdLst>
              <a:ahLst/>
              <a:cxnLst>
                <a:cxn ang="0">
                  <a:pos x="T0" y="T1"/>
                </a:cxn>
                <a:cxn ang="0">
                  <a:pos x="T2" y="T3"/>
                </a:cxn>
                <a:cxn ang="0">
                  <a:pos x="T4" y="T5"/>
                </a:cxn>
                <a:cxn ang="0">
                  <a:pos x="T6" y="T7"/>
                </a:cxn>
                <a:cxn ang="0">
                  <a:pos x="T8" y="T9"/>
                </a:cxn>
              </a:cxnLst>
              <a:rect l="0" t="0" r="r" b="b"/>
              <a:pathLst>
                <a:path w="63" h="51">
                  <a:moveTo>
                    <a:pt x="40" y="5"/>
                  </a:moveTo>
                  <a:cubicBezTo>
                    <a:pt x="40" y="5"/>
                    <a:pt x="14" y="0"/>
                    <a:pt x="7" y="6"/>
                  </a:cubicBezTo>
                  <a:cubicBezTo>
                    <a:pt x="0" y="12"/>
                    <a:pt x="6" y="26"/>
                    <a:pt x="16" y="35"/>
                  </a:cubicBezTo>
                  <a:cubicBezTo>
                    <a:pt x="26" y="44"/>
                    <a:pt x="63" y="51"/>
                    <a:pt x="63" y="26"/>
                  </a:cubicBezTo>
                  <a:cubicBezTo>
                    <a:pt x="63" y="2"/>
                    <a:pt x="52" y="2"/>
                    <a:pt x="40"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43" name="Freeform 1997">
              <a:extLst>
                <a:ext uri="{FF2B5EF4-FFF2-40B4-BE49-F238E27FC236}">
                  <a16:creationId xmlns:a16="http://schemas.microsoft.com/office/drawing/2014/main" id="{8E7888E7-AC55-8A3C-FF61-6DC73EE794CB}"/>
                </a:ext>
              </a:extLst>
            </p:cNvPr>
            <p:cNvSpPr>
              <a:spLocks noEditPoints="1"/>
            </p:cNvSpPr>
            <p:nvPr/>
          </p:nvSpPr>
          <p:spPr bwMode="auto">
            <a:xfrm>
              <a:off x="2054" y="779"/>
              <a:ext cx="15" cy="12"/>
            </a:xfrm>
            <a:custGeom>
              <a:avLst/>
              <a:gdLst>
                <a:gd name="T0" fmla="*/ 5 w 69"/>
                <a:gd name="T1" fmla="*/ 7 h 55"/>
                <a:gd name="T2" fmla="*/ 0 w 69"/>
                <a:gd name="T3" fmla="*/ 17 h 55"/>
                <a:gd name="T4" fmla="*/ 14 w 69"/>
                <a:gd name="T5" fmla="*/ 42 h 55"/>
                <a:gd name="T6" fmla="*/ 57 w 69"/>
                <a:gd name="T7" fmla="*/ 49 h 55"/>
                <a:gd name="T8" fmla="*/ 69 w 69"/>
                <a:gd name="T9" fmla="*/ 30 h 55"/>
                <a:gd name="T10" fmla="*/ 61 w 69"/>
                <a:gd name="T11" fmla="*/ 6 h 55"/>
                <a:gd name="T12" fmla="*/ 41 w 69"/>
                <a:gd name="T13" fmla="*/ 4 h 55"/>
                <a:gd name="T14" fmla="*/ 5 w 69"/>
                <a:gd name="T15" fmla="*/ 7 h 55"/>
                <a:gd name="T16" fmla="*/ 19 w 69"/>
                <a:gd name="T17" fmla="*/ 36 h 55"/>
                <a:gd name="T18" fmla="*/ 9 w 69"/>
                <a:gd name="T19" fmla="*/ 17 h 55"/>
                <a:gd name="T20" fmla="*/ 11 w 69"/>
                <a:gd name="T21" fmla="*/ 13 h 55"/>
                <a:gd name="T22" fmla="*/ 40 w 69"/>
                <a:gd name="T23" fmla="*/ 13 h 55"/>
                <a:gd name="T24" fmla="*/ 41 w 69"/>
                <a:gd name="T25" fmla="*/ 13 h 55"/>
                <a:gd name="T26" fmla="*/ 42 w 69"/>
                <a:gd name="T27" fmla="*/ 13 h 55"/>
                <a:gd name="T28" fmla="*/ 55 w 69"/>
                <a:gd name="T29" fmla="*/ 13 h 55"/>
                <a:gd name="T30" fmla="*/ 60 w 69"/>
                <a:gd name="T31" fmla="*/ 30 h 55"/>
                <a:gd name="T32" fmla="*/ 54 w 69"/>
                <a:gd name="T33" fmla="*/ 41 h 55"/>
                <a:gd name="T34" fmla="*/ 19 w 69"/>
                <a:gd name="T35" fmla="*/ 36 h 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9" h="55">
                  <a:moveTo>
                    <a:pt x="5" y="7"/>
                  </a:moveTo>
                  <a:cubicBezTo>
                    <a:pt x="2" y="9"/>
                    <a:pt x="1" y="13"/>
                    <a:pt x="0" y="17"/>
                  </a:cubicBezTo>
                  <a:cubicBezTo>
                    <a:pt x="0" y="25"/>
                    <a:pt x="6" y="35"/>
                    <a:pt x="14" y="42"/>
                  </a:cubicBezTo>
                  <a:cubicBezTo>
                    <a:pt x="22" y="49"/>
                    <a:pt x="44" y="55"/>
                    <a:pt x="57" y="49"/>
                  </a:cubicBezTo>
                  <a:cubicBezTo>
                    <a:pt x="65" y="45"/>
                    <a:pt x="69" y="39"/>
                    <a:pt x="69" y="30"/>
                  </a:cubicBezTo>
                  <a:cubicBezTo>
                    <a:pt x="69" y="18"/>
                    <a:pt x="66" y="11"/>
                    <a:pt x="61" y="6"/>
                  </a:cubicBezTo>
                  <a:cubicBezTo>
                    <a:pt x="55" y="2"/>
                    <a:pt x="47" y="3"/>
                    <a:pt x="41" y="4"/>
                  </a:cubicBezTo>
                  <a:cubicBezTo>
                    <a:pt x="36" y="3"/>
                    <a:pt x="13" y="0"/>
                    <a:pt x="5" y="7"/>
                  </a:cubicBezTo>
                  <a:close/>
                  <a:moveTo>
                    <a:pt x="19" y="36"/>
                  </a:moveTo>
                  <a:cubicBezTo>
                    <a:pt x="13" y="30"/>
                    <a:pt x="9" y="23"/>
                    <a:pt x="9" y="17"/>
                  </a:cubicBezTo>
                  <a:cubicBezTo>
                    <a:pt x="9" y="15"/>
                    <a:pt x="10" y="14"/>
                    <a:pt x="11" y="13"/>
                  </a:cubicBezTo>
                  <a:cubicBezTo>
                    <a:pt x="14" y="11"/>
                    <a:pt x="29" y="11"/>
                    <a:pt x="40" y="13"/>
                  </a:cubicBezTo>
                  <a:cubicBezTo>
                    <a:pt x="41" y="13"/>
                    <a:pt x="41" y="13"/>
                    <a:pt x="41" y="13"/>
                  </a:cubicBezTo>
                  <a:cubicBezTo>
                    <a:pt x="42" y="13"/>
                    <a:pt x="42" y="13"/>
                    <a:pt x="42" y="13"/>
                  </a:cubicBezTo>
                  <a:cubicBezTo>
                    <a:pt x="49" y="11"/>
                    <a:pt x="53" y="11"/>
                    <a:pt x="55" y="13"/>
                  </a:cubicBezTo>
                  <a:cubicBezTo>
                    <a:pt x="58" y="16"/>
                    <a:pt x="60" y="22"/>
                    <a:pt x="60" y="30"/>
                  </a:cubicBezTo>
                  <a:cubicBezTo>
                    <a:pt x="60" y="36"/>
                    <a:pt x="58" y="39"/>
                    <a:pt x="54" y="41"/>
                  </a:cubicBezTo>
                  <a:cubicBezTo>
                    <a:pt x="44" y="45"/>
                    <a:pt x="25" y="41"/>
                    <a:pt x="19"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44" name="Freeform 1998">
              <a:extLst>
                <a:ext uri="{FF2B5EF4-FFF2-40B4-BE49-F238E27FC236}">
                  <a16:creationId xmlns:a16="http://schemas.microsoft.com/office/drawing/2014/main" id="{4F7F89DC-2136-D456-E912-02213C2E9D01}"/>
                </a:ext>
              </a:extLst>
            </p:cNvPr>
            <p:cNvSpPr>
              <a:spLocks/>
            </p:cNvSpPr>
            <p:nvPr/>
          </p:nvSpPr>
          <p:spPr bwMode="auto">
            <a:xfrm>
              <a:off x="2067" y="759"/>
              <a:ext cx="16" cy="14"/>
            </a:xfrm>
            <a:custGeom>
              <a:avLst/>
              <a:gdLst>
                <a:gd name="T0" fmla="*/ 45 w 72"/>
                <a:gd name="T1" fmla="*/ 4 h 63"/>
                <a:gd name="T2" fmla="*/ 17 w 72"/>
                <a:gd name="T3" fmla="*/ 29 h 63"/>
                <a:gd name="T4" fmla="*/ 10 w 72"/>
                <a:gd name="T5" fmla="*/ 62 h 63"/>
                <a:gd name="T6" fmla="*/ 49 w 72"/>
                <a:gd name="T7" fmla="*/ 48 h 63"/>
                <a:gd name="T8" fmla="*/ 45 w 72"/>
                <a:gd name="T9" fmla="*/ 4 h 63"/>
              </a:gdLst>
              <a:ahLst/>
              <a:cxnLst>
                <a:cxn ang="0">
                  <a:pos x="T0" y="T1"/>
                </a:cxn>
                <a:cxn ang="0">
                  <a:pos x="T2" y="T3"/>
                </a:cxn>
                <a:cxn ang="0">
                  <a:pos x="T4" y="T5"/>
                </a:cxn>
                <a:cxn ang="0">
                  <a:pos x="T6" y="T7"/>
                </a:cxn>
                <a:cxn ang="0">
                  <a:pos x="T8" y="T9"/>
                </a:cxn>
              </a:cxnLst>
              <a:rect l="0" t="0" r="r" b="b"/>
              <a:pathLst>
                <a:path w="72" h="63">
                  <a:moveTo>
                    <a:pt x="45" y="4"/>
                  </a:moveTo>
                  <a:cubicBezTo>
                    <a:pt x="45" y="4"/>
                    <a:pt x="24" y="17"/>
                    <a:pt x="17" y="29"/>
                  </a:cubicBezTo>
                  <a:cubicBezTo>
                    <a:pt x="10" y="40"/>
                    <a:pt x="0" y="63"/>
                    <a:pt x="10" y="62"/>
                  </a:cubicBezTo>
                  <a:cubicBezTo>
                    <a:pt x="20" y="61"/>
                    <a:pt x="36" y="58"/>
                    <a:pt x="49" y="48"/>
                  </a:cubicBezTo>
                  <a:cubicBezTo>
                    <a:pt x="62" y="38"/>
                    <a:pt x="72" y="0"/>
                    <a:pt x="45"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45" name="Freeform 1999">
              <a:extLst>
                <a:ext uri="{FF2B5EF4-FFF2-40B4-BE49-F238E27FC236}">
                  <a16:creationId xmlns:a16="http://schemas.microsoft.com/office/drawing/2014/main" id="{AD50C591-BC8A-2650-6A52-099EA56B9D3D}"/>
                </a:ext>
              </a:extLst>
            </p:cNvPr>
            <p:cNvSpPr>
              <a:spLocks noEditPoints="1"/>
            </p:cNvSpPr>
            <p:nvPr/>
          </p:nvSpPr>
          <p:spPr bwMode="auto">
            <a:xfrm>
              <a:off x="2067" y="759"/>
              <a:ext cx="16" cy="15"/>
            </a:xfrm>
            <a:custGeom>
              <a:avLst/>
              <a:gdLst>
                <a:gd name="T0" fmla="*/ 47 w 73"/>
                <a:gd name="T1" fmla="*/ 2 h 69"/>
                <a:gd name="T2" fmla="*/ 46 w 73"/>
                <a:gd name="T3" fmla="*/ 2 h 69"/>
                <a:gd name="T4" fmla="*/ 45 w 73"/>
                <a:gd name="T5" fmla="*/ 3 h 69"/>
                <a:gd name="T6" fmla="*/ 17 w 73"/>
                <a:gd name="T7" fmla="*/ 29 h 69"/>
                <a:gd name="T8" fmla="*/ 6 w 73"/>
                <a:gd name="T9" fmla="*/ 65 h 69"/>
                <a:gd name="T10" fmla="*/ 14 w 73"/>
                <a:gd name="T11" fmla="*/ 68 h 69"/>
                <a:gd name="T12" fmla="*/ 55 w 73"/>
                <a:gd name="T13" fmla="*/ 53 h 69"/>
                <a:gd name="T14" fmla="*/ 68 w 73"/>
                <a:gd name="T15" fmla="*/ 11 h 69"/>
                <a:gd name="T16" fmla="*/ 47 w 73"/>
                <a:gd name="T17" fmla="*/ 2 h 69"/>
                <a:gd name="T18" fmla="*/ 60 w 73"/>
                <a:gd name="T19" fmla="*/ 15 h 69"/>
                <a:gd name="T20" fmla="*/ 61 w 73"/>
                <a:gd name="T21" fmla="*/ 21 h 69"/>
                <a:gd name="T22" fmla="*/ 49 w 73"/>
                <a:gd name="T23" fmla="*/ 46 h 69"/>
                <a:gd name="T24" fmla="*/ 13 w 73"/>
                <a:gd name="T25" fmla="*/ 60 h 69"/>
                <a:gd name="T26" fmla="*/ 13 w 73"/>
                <a:gd name="T27" fmla="*/ 60 h 69"/>
                <a:gd name="T28" fmla="*/ 24 w 73"/>
                <a:gd name="T29" fmla="*/ 33 h 69"/>
                <a:gd name="T30" fmla="*/ 49 w 73"/>
                <a:gd name="T31" fmla="*/ 11 h 69"/>
                <a:gd name="T32" fmla="*/ 60 w 73"/>
                <a:gd name="T33" fmla="*/ 15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73" h="69">
                  <a:moveTo>
                    <a:pt x="47" y="2"/>
                  </a:moveTo>
                  <a:cubicBezTo>
                    <a:pt x="46" y="2"/>
                    <a:pt x="46" y="2"/>
                    <a:pt x="46" y="2"/>
                  </a:cubicBezTo>
                  <a:cubicBezTo>
                    <a:pt x="45" y="3"/>
                    <a:pt x="45" y="3"/>
                    <a:pt x="45" y="3"/>
                  </a:cubicBezTo>
                  <a:cubicBezTo>
                    <a:pt x="44" y="3"/>
                    <a:pt x="24" y="16"/>
                    <a:pt x="17" y="29"/>
                  </a:cubicBezTo>
                  <a:cubicBezTo>
                    <a:pt x="16" y="29"/>
                    <a:pt x="0" y="56"/>
                    <a:pt x="6" y="65"/>
                  </a:cubicBezTo>
                  <a:cubicBezTo>
                    <a:pt x="8" y="68"/>
                    <a:pt x="10" y="69"/>
                    <a:pt x="14" y="68"/>
                  </a:cubicBezTo>
                  <a:cubicBezTo>
                    <a:pt x="26" y="67"/>
                    <a:pt x="41" y="63"/>
                    <a:pt x="55" y="53"/>
                  </a:cubicBezTo>
                  <a:cubicBezTo>
                    <a:pt x="65" y="45"/>
                    <a:pt x="73" y="24"/>
                    <a:pt x="68" y="11"/>
                  </a:cubicBezTo>
                  <a:cubicBezTo>
                    <a:pt x="66" y="7"/>
                    <a:pt x="61" y="0"/>
                    <a:pt x="47" y="2"/>
                  </a:cubicBezTo>
                  <a:close/>
                  <a:moveTo>
                    <a:pt x="60" y="15"/>
                  </a:moveTo>
                  <a:cubicBezTo>
                    <a:pt x="60" y="16"/>
                    <a:pt x="61" y="18"/>
                    <a:pt x="61" y="21"/>
                  </a:cubicBezTo>
                  <a:cubicBezTo>
                    <a:pt x="61" y="30"/>
                    <a:pt x="55" y="42"/>
                    <a:pt x="49" y="46"/>
                  </a:cubicBezTo>
                  <a:cubicBezTo>
                    <a:pt x="38" y="55"/>
                    <a:pt x="24" y="58"/>
                    <a:pt x="13" y="60"/>
                  </a:cubicBezTo>
                  <a:cubicBezTo>
                    <a:pt x="13" y="60"/>
                    <a:pt x="13" y="60"/>
                    <a:pt x="13" y="60"/>
                  </a:cubicBezTo>
                  <a:cubicBezTo>
                    <a:pt x="13" y="55"/>
                    <a:pt x="18" y="43"/>
                    <a:pt x="24" y="33"/>
                  </a:cubicBezTo>
                  <a:cubicBezTo>
                    <a:pt x="30" y="23"/>
                    <a:pt x="47" y="12"/>
                    <a:pt x="49" y="11"/>
                  </a:cubicBezTo>
                  <a:cubicBezTo>
                    <a:pt x="57" y="10"/>
                    <a:pt x="59" y="13"/>
                    <a:pt x="60"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46" name="Freeform 2000">
              <a:extLst>
                <a:ext uri="{FF2B5EF4-FFF2-40B4-BE49-F238E27FC236}">
                  <a16:creationId xmlns:a16="http://schemas.microsoft.com/office/drawing/2014/main" id="{CDB0C65E-8CFD-AE46-5997-FB09316A648A}"/>
                </a:ext>
              </a:extLst>
            </p:cNvPr>
            <p:cNvSpPr>
              <a:spLocks/>
            </p:cNvSpPr>
            <p:nvPr/>
          </p:nvSpPr>
          <p:spPr bwMode="auto">
            <a:xfrm>
              <a:off x="2167" y="735"/>
              <a:ext cx="11" cy="9"/>
            </a:xfrm>
            <a:custGeom>
              <a:avLst/>
              <a:gdLst>
                <a:gd name="T0" fmla="*/ 38 w 51"/>
                <a:gd name="T1" fmla="*/ 0 h 44"/>
                <a:gd name="T2" fmla="*/ 11 w 51"/>
                <a:gd name="T3" fmla="*/ 15 h 44"/>
                <a:gd name="T4" fmla="*/ 12 w 51"/>
                <a:gd name="T5" fmla="*/ 44 h 44"/>
                <a:gd name="T6" fmla="*/ 38 w 51"/>
                <a:gd name="T7" fmla="*/ 0 h 44"/>
              </a:gdLst>
              <a:ahLst/>
              <a:cxnLst>
                <a:cxn ang="0">
                  <a:pos x="T0" y="T1"/>
                </a:cxn>
                <a:cxn ang="0">
                  <a:pos x="T2" y="T3"/>
                </a:cxn>
                <a:cxn ang="0">
                  <a:pos x="T4" y="T5"/>
                </a:cxn>
                <a:cxn ang="0">
                  <a:pos x="T6" y="T7"/>
                </a:cxn>
              </a:cxnLst>
              <a:rect l="0" t="0" r="r" b="b"/>
              <a:pathLst>
                <a:path w="51" h="44">
                  <a:moveTo>
                    <a:pt x="38" y="0"/>
                  </a:moveTo>
                  <a:cubicBezTo>
                    <a:pt x="38" y="0"/>
                    <a:pt x="20" y="2"/>
                    <a:pt x="11" y="15"/>
                  </a:cubicBezTo>
                  <a:cubicBezTo>
                    <a:pt x="2" y="28"/>
                    <a:pt x="0" y="44"/>
                    <a:pt x="12" y="44"/>
                  </a:cubicBezTo>
                  <a:cubicBezTo>
                    <a:pt x="25" y="44"/>
                    <a:pt x="51" y="20"/>
                    <a:pt x="3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47" name="Freeform 2001">
              <a:extLst>
                <a:ext uri="{FF2B5EF4-FFF2-40B4-BE49-F238E27FC236}">
                  <a16:creationId xmlns:a16="http://schemas.microsoft.com/office/drawing/2014/main" id="{88AC3315-84D4-E9C3-0842-FA13FBC3406F}"/>
                </a:ext>
              </a:extLst>
            </p:cNvPr>
            <p:cNvSpPr>
              <a:spLocks noEditPoints="1"/>
            </p:cNvSpPr>
            <p:nvPr/>
          </p:nvSpPr>
          <p:spPr bwMode="auto">
            <a:xfrm>
              <a:off x="2166" y="733"/>
              <a:ext cx="11" cy="12"/>
            </a:xfrm>
            <a:custGeom>
              <a:avLst/>
              <a:gdLst>
                <a:gd name="T0" fmla="*/ 41 w 51"/>
                <a:gd name="T1" fmla="*/ 0 h 54"/>
                <a:gd name="T2" fmla="*/ 10 w 51"/>
                <a:gd name="T3" fmla="*/ 18 h 54"/>
                <a:gd name="T4" fmla="*/ 4 w 51"/>
                <a:gd name="T5" fmla="*/ 47 h 54"/>
                <a:gd name="T6" fmla="*/ 15 w 51"/>
                <a:gd name="T7" fmla="*/ 54 h 54"/>
                <a:gd name="T8" fmla="*/ 45 w 51"/>
                <a:gd name="T9" fmla="*/ 32 h 54"/>
                <a:gd name="T10" fmla="*/ 45 w 51"/>
                <a:gd name="T11" fmla="*/ 2 h 54"/>
                <a:gd name="T12" fmla="*/ 44 w 51"/>
                <a:gd name="T13" fmla="*/ 0 h 54"/>
                <a:gd name="T14" fmla="*/ 41 w 51"/>
                <a:gd name="T15" fmla="*/ 0 h 54"/>
                <a:gd name="T16" fmla="*/ 12 w 51"/>
                <a:gd name="T17" fmla="*/ 43 h 54"/>
                <a:gd name="T18" fmla="*/ 11 w 51"/>
                <a:gd name="T19" fmla="*/ 40 h 54"/>
                <a:gd name="T20" fmla="*/ 18 w 51"/>
                <a:gd name="T21" fmla="*/ 23 h 54"/>
                <a:gd name="T22" fmla="*/ 39 w 51"/>
                <a:gd name="T23" fmla="*/ 10 h 54"/>
                <a:gd name="T24" fmla="*/ 41 w 51"/>
                <a:gd name="T25" fmla="*/ 16 h 54"/>
                <a:gd name="T26" fmla="*/ 37 w 51"/>
                <a:gd name="T27" fmla="*/ 28 h 54"/>
                <a:gd name="T28" fmla="*/ 15 w 51"/>
                <a:gd name="T29" fmla="*/ 45 h 54"/>
                <a:gd name="T30" fmla="*/ 12 w 51"/>
                <a:gd name="T31" fmla="*/ 43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51" h="54">
                  <a:moveTo>
                    <a:pt x="41" y="0"/>
                  </a:moveTo>
                  <a:cubicBezTo>
                    <a:pt x="40" y="0"/>
                    <a:pt x="20" y="4"/>
                    <a:pt x="10" y="18"/>
                  </a:cubicBezTo>
                  <a:cubicBezTo>
                    <a:pt x="4" y="27"/>
                    <a:pt x="0" y="39"/>
                    <a:pt x="4" y="47"/>
                  </a:cubicBezTo>
                  <a:cubicBezTo>
                    <a:pt x="5" y="50"/>
                    <a:pt x="8" y="54"/>
                    <a:pt x="15" y="54"/>
                  </a:cubicBezTo>
                  <a:cubicBezTo>
                    <a:pt x="25" y="54"/>
                    <a:pt x="39" y="44"/>
                    <a:pt x="45" y="32"/>
                  </a:cubicBezTo>
                  <a:cubicBezTo>
                    <a:pt x="51" y="21"/>
                    <a:pt x="51" y="11"/>
                    <a:pt x="45" y="2"/>
                  </a:cubicBezTo>
                  <a:cubicBezTo>
                    <a:pt x="44" y="0"/>
                    <a:pt x="44" y="0"/>
                    <a:pt x="44" y="0"/>
                  </a:cubicBezTo>
                  <a:lnTo>
                    <a:pt x="41" y="0"/>
                  </a:lnTo>
                  <a:close/>
                  <a:moveTo>
                    <a:pt x="12" y="43"/>
                  </a:moveTo>
                  <a:cubicBezTo>
                    <a:pt x="11" y="43"/>
                    <a:pt x="11" y="42"/>
                    <a:pt x="11" y="40"/>
                  </a:cubicBezTo>
                  <a:cubicBezTo>
                    <a:pt x="11" y="36"/>
                    <a:pt x="13" y="30"/>
                    <a:pt x="18" y="23"/>
                  </a:cubicBezTo>
                  <a:cubicBezTo>
                    <a:pt x="23" y="15"/>
                    <a:pt x="33" y="11"/>
                    <a:pt x="39" y="10"/>
                  </a:cubicBezTo>
                  <a:cubicBezTo>
                    <a:pt x="40" y="12"/>
                    <a:pt x="41" y="14"/>
                    <a:pt x="41" y="16"/>
                  </a:cubicBezTo>
                  <a:cubicBezTo>
                    <a:pt x="41" y="21"/>
                    <a:pt x="39" y="25"/>
                    <a:pt x="37" y="28"/>
                  </a:cubicBezTo>
                  <a:cubicBezTo>
                    <a:pt x="32" y="37"/>
                    <a:pt x="21" y="45"/>
                    <a:pt x="15" y="45"/>
                  </a:cubicBezTo>
                  <a:cubicBezTo>
                    <a:pt x="12" y="45"/>
                    <a:pt x="12" y="44"/>
                    <a:pt x="12" y="4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48" name="Freeform 2002">
              <a:extLst>
                <a:ext uri="{FF2B5EF4-FFF2-40B4-BE49-F238E27FC236}">
                  <a16:creationId xmlns:a16="http://schemas.microsoft.com/office/drawing/2014/main" id="{4FF5658B-6E26-5B8E-0CC2-E114D6BD0644}"/>
                </a:ext>
              </a:extLst>
            </p:cNvPr>
            <p:cNvSpPr>
              <a:spLocks/>
            </p:cNvSpPr>
            <p:nvPr/>
          </p:nvSpPr>
          <p:spPr bwMode="auto">
            <a:xfrm>
              <a:off x="2177" y="738"/>
              <a:ext cx="19" cy="18"/>
            </a:xfrm>
            <a:custGeom>
              <a:avLst/>
              <a:gdLst>
                <a:gd name="T0" fmla="*/ 64 w 83"/>
                <a:gd name="T1" fmla="*/ 7 h 81"/>
                <a:gd name="T2" fmla="*/ 36 w 83"/>
                <a:gd name="T3" fmla="*/ 20 h 81"/>
                <a:gd name="T4" fmla="*/ 14 w 83"/>
                <a:gd name="T5" fmla="*/ 71 h 81"/>
                <a:gd name="T6" fmla="*/ 50 w 83"/>
                <a:gd name="T7" fmla="*/ 56 h 81"/>
                <a:gd name="T8" fmla="*/ 64 w 83"/>
                <a:gd name="T9" fmla="*/ 7 h 81"/>
              </a:gdLst>
              <a:ahLst/>
              <a:cxnLst>
                <a:cxn ang="0">
                  <a:pos x="T0" y="T1"/>
                </a:cxn>
                <a:cxn ang="0">
                  <a:pos x="T2" y="T3"/>
                </a:cxn>
                <a:cxn ang="0">
                  <a:pos x="T4" y="T5"/>
                </a:cxn>
                <a:cxn ang="0">
                  <a:pos x="T6" y="T7"/>
                </a:cxn>
                <a:cxn ang="0">
                  <a:pos x="T8" y="T9"/>
                </a:cxn>
              </a:cxnLst>
              <a:rect l="0" t="0" r="r" b="b"/>
              <a:pathLst>
                <a:path w="83" h="81">
                  <a:moveTo>
                    <a:pt x="64" y="7"/>
                  </a:moveTo>
                  <a:cubicBezTo>
                    <a:pt x="64" y="7"/>
                    <a:pt x="41" y="11"/>
                    <a:pt x="36" y="20"/>
                  </a:cubicBezTo>
                  <a:cubicBezTo>
                    <a:pt x="30" y="29"/>
                    <a:pt x="0" y="60"/>
                    <a:pt x="14" y="71"/>
                  </a:cubicBezTo>
                  <a:cubicBezTo>
                    <a:pt x="28" y="81"/>
                    <a:pt x="44" y="66"/>
                    <a:pt x="50" y="56"/>
                  </a:cubicBezTo>
                  <a:cubicBezTo>
                    <a:pt x="56" y="46"/>
                    <a:pt x="83" y="0"/>
                    <a:pt x="6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49" name="Freeform 2003">
              <a:extLst>
                <a:ext uri="{FF2B5EF4-FFF2-40B4-BE49-F238E27FC236}">
                  <a16:creationId xmlns:a16="http://schemas.microsoft.com/office/drawing/2014/main" id="{85C0C70C-D3F6-EB4C-AB0A-A29D1687F3F5}"/>
                </a:ext>
              </a:extLst>
            </p:cNvPr>
            <p:cNvSpPr>
              <a:spLocks noEditPoints="1"/>
            </p:cNvSpPr>
            <p:nvPr/>
          </p:nvSpPr>
          <p:spPr bwMode="auto">
            <a:xfrm>
              <a:off x="2178" y="739"/>
              <a:ext cx="17" cy="17"/>
            </a:xfrm>
            <a:custGeom>
              <a:avLst/>
              <a:gdLst>
                <a:gd name="T0" fmla="*/ 59 w 74"/>
                <a:gd name="T1" fmla="*/ 2 h 78"/>
                <a:gd name="T2" fmla="*/ 60 w 74"/>
                <a:gd name="T3" fmla="*/ 2 h 78"/>
                <a:gd name="T4" fmla="*/ 28 w 74"/>
                <a:gd name="T5" fmla="*/ 17 h 78"/>
                <a:gd name="T6" fmla="*/ 23 w 74"/>
                <a:gd name="T7" fmla="*/ 23 h 78"/>
                <a:gd name="T8" fmla="*/ 2 w 74"/>
                <a:gd name="T9" fmla="*/ 64 h 78"/>
                <a:gd name="T10" fmla="*/ 7 w 74"/>
                <a:gd name="T11" fmla="*/ 73 h 78"/>
                <a:gd name="T12" fmla="*/ 26 w 74"/>
                <a:gd name="T13" fmla="*/ 77 h 78"/>
                <a:gd name="T14" fmla="*/ 50 w 74"/>
                <a:gd name="T15" fmla="*/ 57 h 78"/>
                <a:gd name="T16" fmla="*/ 51 w 74"/>
                <a:gd name="T17" fmla="*/ 55 h 78"/>
                <a:gd name="T18" fmla="*/ 69 w 74"/>
                <a:gd name="T19" fmla="*/ 3 h 78"/>
                <a:gd name="T20" fmla="*/ 59 w 74"/>
                <a:gd name="T21" fmla="*/ 2 h 78"/>
                <a:gd name="T22" fmla="*/ 12 w 74"/>
                <a:gd name="T23" fmla="*/ 66 h 78"/>
                <a:gd name="T24" fmla="*/ 11 w 74"/>
                <a:gd name="T25" fmla="*/ 63 h 78"/>
                <a:gd name="T26" fmla="*/ 10 w 74"/>
                <a:gd name="T27" fmla="*/ 62 h 78"/>
                <a:gd name="T28" fmla="*/ 30 w 74"/>
                <a:gd name="T29" fmla="*/ 29 h 78"/>
                <a:gd name="T30" fmla="*/ 35 w 74"/>
                <a:gd name="T31" fmla="*/ 21 h 78"/>
                <a:gd name="T32" fmla="*/ 61 w 74"/>
                <a:gd name="T33" fmla="*/ 10 h 78"/>
                <a:gd name="T34" fmla="*/ 61 w 74"/>
                <a:gd name="T35" fmla="*/ 10 h 78"/>
                <a:gd name="T36" fmla="*/ 62 w 74"/>
                <a:gd name="T37" fmla="*/ 10 h 78"/>
                <a:gd name="T38" fmla="*/ 63 w 74"/>
                <a:gd name="T39" fmla="*/ 10 h 78"/>
                <a:gd name="T40" fmla="*/ 43 w 74"/>
                <a:gd name="T41" fmla="*/ 51 h 78"/>
                <a:gd name="T42" fmla="*/ 42 w 74"/>
                <a:gd name="T43" fmla="*/ 53 h 78"/>
                <a:gd name="T44" fmla="*/ 24 w 74"/>
                <a:gd name="T45" fmla="*/ 68 h 78"/>
                <a:gd name="T46" fmla="*/ 12 w 74"/>
                <a:gd name="T47" fmla="*/ 66 h 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Lst>
              <a:rect l="0" t="0" r="r" b="b"/>
              <a:pathLst>
                <a:path w="74" h="78">
                  <a:moveTo>
                    <a:pt x="59" y="2"/>
                  </a:moveTo>
                  <a:cubicBezTo>
                    <a:pt x="60" y="2"/>
                    <a:pt x="60" y="2"/>
                    <a:pt x="60" y="2"/>
                  </a:cubicBezTo>
                  <a:cubicBezTo>
                    <a:pt x="57" y="2"/>
                    <a:pt x="35" y="7"/>
                    <a:pt x="28" y="17"/>
                  </a:cubicBezTo>
                  <a:cubicBezTo>
                    <a:pt x="23" y="23"/>
                    <a:pt x="23" y="23"/>
                    <a:pt x="23" y="23"/>
                  </a:cubicBezTo>
                  <a:cubicBezTo>
                    <a:pt x="11" y="38"/>
                    <a:pt x="0" y="53"/>
                    <a:pt x="2" y="64"/>
                  </a:cubicBezTo>
                  <a:cubicBezTo>
                    <a:pt x="2" y="68"/>
                    <a:pt x="4" y="71"/>
                    <a:pt x="7" y="73"/>
                  </a:cubicBezTo>
                  <a:cubicBezTo>
                    <a:pt x="13" y="77"/>
                    <a:pt x="19" y="78"/>
                    <a:pt x="26" y="77"/>
                  </a:cubicBezTo>
                  <a:cubicBezTo>
                    <a:pt x="36" y="74"/>
                    <a:pt x="45" y="65"/>
                    <a:pt x="50" y="57"/>
                  </a:cubicBezTo>
                  <a:cubicBezTo>
                    <a:pt x="51" y="55"/>
                    <a:pt x="51" y="55"/>
                    <a:pt x="51" y="55"/>
                  </a:cubicBezTo>
                  <a:cubicBezTo>
                    <a:pt x="72" y="19"/>
                    <a:pt x="74" y="8"/>
                    <a:pt x="69" y="3"/>
                  </a:cubicBezTo>
                  <a:cubicBezTo>
                    <a:pt x="68" y="2"/>
                    <a:pt x="65" y="0"/>
                    <a:pt x="59" y="2"/>
                  </a:cubicBezTo>
                  <a:close/>
                  <a:moveTo>
                    <a:pt x="12" y="66"/>
                  </a:moveTo>
                  <a:cubicBezTo>
                    <a:pt x="11" y="65"/>
                    <a:pt x="11" y="64"/>
                    <a:pt x="11" y="63"/>
                  </a:cubicBezTo>
                  <a:cubicBezTo>
                    <a:pt x="10" y="62"/>
                    <a:pt x="10" y="62"/>
                    <a:pt x="10" y="62"/>
                  </a:cubicBezTo>
                  <a:cubicBezTo>
                    <a:pt x="10" y="53"/>
                    <a:pt x="23" y="37"/>
                    <a:pt x="30" y="29"/>
                  </a:cubicBezTo>
                  <a:cubicBezTo>
                    <a:pt x="35" y="21"/>
                    <a:pt x="35" y="21"/>
                    <a:pt x="35" y="21"/>
                  </a:cubicBezTo>
                  <a:cubicBezTo>
                    <a:pt x="39" y="16"/>
                    <a:pt x="53" y="12"/>
                    <a:pt x="61" y="10"/>
                  </a:cubicBezTo>
                  <a:cubicBezTo>
                    <a:pt x="61" y="10"/>
                    <a:pt x="61" y="10"/>
                    <a:pt x="61" y="10"/>
                  </a:cubicBezTo>
                  <a:cubicBezTo>
                    <a:pt x="62" y="10"/>
                    <a:pt x="62" y="10"/>
                    <a:pt x="62" y="10"/>
                  </a:cubicBezTo>
                  <a:cubicBezTo>
                    <a:pt x="62" y="10"/>
                    <a:pt x="62" y="10"/>
                    <a:pt x="63" y="10"/>
                  </a:cubicBezTo>
                  <a:cubicBezTo>
                    <a:pt x="62" y="13"/>
                    <a:pt x="59" y="23"/>
                    <a:pt x="43" y="51"/>
                  </a:cubicBezTo>
                  <a:cubicBezTo>
                    <a:pt x="42" y="53"/>
                    <a:pt x="42" y="53"/>
                    <a:pt x="42" y="53"/>
                  </a:cubicBezTo>
                  <a:cubicBezTo>
                    <a:pt x="39" y="59"/>
                    <a:pt x="31" y="67"/>
                    <a:pt x="24" y="68"/>
                  </a:cubicBezTo>
                  <a:cubicBezTo>
                    <a:pt x="20" y="69"/>
                    <a:pt x="16" y="68"/>
                    <a:pt x="12" y="6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50" name="Freeform 2004">
              <a:extLst>
                <a:ext uri="{FF2B5EF4-FFF2-40B4-BE49-F238E27FC236}">
                  <a16:creationId xmlns:a16="http://schemas.microsoft.com/office/drawing/2014/main" id="{DB8CD09B-8868-316C-E420-E5CB57AF475E}"/>
                </a:ext>
              </a:extLst>
            </p:cNvPr>
            <p:cNvSpPr>
              <a:spLocks/>
            </p:cNvSpPr>
            <p:nvPr/>
          </p:nvSpPr>
          <p:spPr bwMode="auto">
            <a:xfrm>
              <a:off x="2159" y="748"/>
              <a:ext cx="12" cy="19"/>
            </a:xfrm>
            <a:custGeom>
              <a:avLst/>
              <a:gdLst>
                <a:gd name="T0" fmla="*/ 37 w 56"/>
                <a:gd name="T1" fmla="*/ 3 h 89"/>
                <a:gd name="T2" fmla="*/ 10 w 56"/>
                <a:gd name="T3" fmla="*/ 17 h 89"/>
                <a:gd name="T4" fmla="*/ 14 w 56"/>
                <a:gd name="T5" fmla="*/ 44 h 89"/>
                <a:gd name="T6" fmla="*/ 14 w 56"/>
                <a:gd name="T7" fmla="*/ 60 h 89"/>
                <a:gd name="T8" fmla="*/ 0 w 56"/>
                <a:gd name="T9" fmla="*/ 80 h 89"/>
                <a:gd name="T10" fmla="*/ 24 w 56"/>
                <a:gd name="T11" fmla="*/ 82 h 89"/>
                <a:gd name="T12" fmla="*/ 47 w 56"/>
                <a:gd name="T13" fmla="*/ 36 h 89"/>
                <a:gd name="T14" fmla="*/ 37 w 56"/>
                <a:gd name="T15" fmla="*/ 3 h 8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56" h="89">
                  <a:moveTo>
                    <a:pt x="37" y="3"/>
                  </a:moveTo>
                  <a:cubicBezTo>
                    <a:pt x="37" y="3"/>
                    <a:pt x="10" y="7"/>
                    <a:pt x="10" y="17"/>
                  </a:cubicBezTo>
                  <a:cubicBezTo>
                    <a:pt x="10" y="27"/>
                    <a:pt x="9" y="39"/>
                    <a:pt x="14" y="44"/>
                  </a:cubicBezTo>
                  <a:cubicBezTo>
                    <a:pt x="20" y="50"/>
                    <a:pt x="19" y="57"/>
                    <a:pt x="14" y="60"/>
                  </a:cubicBezTo>
                  <a:cubicBezTo>
                    <a:pt x="10" y="63"/>
                    <a:pt x="0" y="75"/>
                    <a:pt x="0" y="80"/>
                  </a:cubicBezTo>
                  <a:cubicBezTo>
                    <a:pt x="0" y="86"/>
                    <a:pt x="16" y="89"/>
                    <a:pt x="24" y="82"/>
                  </a:cubicBezTo>
                  <a:cubicBezTo>
                    <a:pt x="33" y="75"/>
                    <a:pt x="47" y="47"/>
                    <a:pt x="47" y="36"/>
                  </a:cubicBezTo>
                  <a:cubicBezTo>
                    <a:pt x="47" y="24"/>
                    <a:pt x="56" y="0"/>
                    <a:pt x="3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51" name="Freeform 2005">
              <a:extLst>
                <a:ext uri="{FF2B5EF4-FFF2-40B4-BE49-F238E27FC236}">
                  <a16:creationId xmlns:a16="http://schemas.microsoft.com/office/drawing/2014/main" id="{C4D018CD-E468-57DF-C609-C51CC76D25B7}"/>
                </a:ext>
              </a:extLst>
            </p:cNvPr>
            <p:cNvSpPr>
              <a:spLocks noEditPoints="1"/>
            </p:cNvSpPr>
            <p:nvPr/>
          </p:nvSpPr>
          <p:spPr bwMode="auto">
            <a:xfrm>
              <a:off x="2158" y="747"/>
              <a:ext cx="13" cy="21"/>
            </a:xfrm>
            <a:custGeom>
              <a:avLst/>
              <a:gdLst>
                <a:gd name="T0" fmla="*/ 41 w 59"/>
                <a:gd name="T1" fmla="*/ 1 h 95"/>
                <a:gd name="T2" fmla="*/ 41 w 59"/>
                <a:gd name="T3" fmla="*/ 1 h 95"/>
                <a:gd name="T4" fmla="*/ 10 w 59"/>
                <a:gd name="T5" fmla="*/ 20 h 95"/>
                <a:gd name="T6" fmla="*/ 10 w 59"/>
                <a:gd name="T7" fmla="*/ 25 h 95"/>
                <a:gd name="T8" fmla="*/ 15 w 59"/>
                <a:gd name="T9" fmla="*/ 50 h 95"/>
                <a:gd name="T10" fmla="*/ 18 w 59"/>
                <a:gd name="T11" fmla="*/ 56 h 95"/>
                <a:gd name="T12" fmla="*/ 16 w 59"/>
                <a:gd name="T13" fmla="*/ 60 h 95"/>
                <a:gd name="T14" fmla="*/ 0 w 59"/>
                <a:gd name="T15" fmla="*/ 83 h 95"/>
                <a:gd name="T16" fmla="*/ 6 w 59"/>
                <a:gd name="T17" fmla="*/ 92 h 95"/>
                <a:gd name="T18" fmla="*/ 31 w 59"/>
                <a:gd name="T19" fmla="*/ 88 h 95"/>
                <a:gd name="T20" fmla="*/ 56 w 59"/>
                <a:gd name="T21" fmla="*/ 39 h 95"/>
                <a:gd name="T22" fmla="*/ 57 w 59"/>
                <a:gd name="T23" fmla="*/ 30 h 95"/>
                <a:gd name="T24" fmla="*/ 54 w 59"/>
                <a:gd name="T25" fmla="*/ 4 h 95"/>
                <a:gd name="T26" fmla="*/ 41 w 59"/>
                <a:gd name="T27" fmla="*/ 1 h 95"/>
                <a:gd name="T28" fmla="*/ 47 w 59"/>
                <a:gd name="T29" fmla="*/ 11 h 95"/>
                <a:gd name="T30" fmla="*/ 48 w 59"/>
                <a:gd name="T31" fmla="*/ 29 h 95"/>
                <a:gd name="T32" fmla="*/ 47 w 59"/>
                <a:gd name="T33" fmla="*/ 39 h 95"/>
                <a:gd name="T34" fmla="*/ 26 w 59"/>
                <a:gd name="T35" fmla="*/ 82 h 95"/>
                <a:gd name="T36" fmla="*/ 13 w 59"/>
                <a:gd name="T37" fmla="*/ 85 h 95"/>
                <a:gd name="T38" fmla="*/ 8 w 59"/>
                <a:gd name="T39" fmla="*/ 83 h 95"/>
                <a:gd name="T40" fmla="*/ 21 w 59"/>
                <a:gd name="T41" fmla="*/ 67 h 95"/>
                <a:gd name="T42" fmla="*/ 26 w 59"/>
                <a:gd name="T43" fmla="*/ 57 h 95"/>
                <a:gd name="T44" fmla="*/ 26 w 59"/>
                <a:gd name="T45" fmla="*/ 56 h 95"/>
                <a:gd name="T46" fmla="*/ 21 w 59"/>
                <a:gd name="T47" fmla="*/ 44 h 95"/>
                <a:gd name="T48" fmla="*/ 18 w 59"/>
                <a:gd name="T49" fmla="*/ 30 h 95"/>
                <a:gd name="T50" fmla="*/ 18 w 59"/>
                <a:gd name="T51" fmla="*/ 25 h 95"/>
                <a:gd name="T52" fmla="*/ 18 w 59"/>
                <a:gd name="T53" fmla="*/ 20 h 95"/>
                <a:gd name="T54" fmla="*/ 42 w 59"/>
                <a:gd name="T55" fmla="*/ 10 h 95"/>
                <a:gd name="T56" fmla="*/ 47 w 59"/>
                <a:gd name="T57" fmla="*/ 11 h 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Lst>
              <a:rect l="0" t="0" r="r" b="b"/>
              <a:pathLst>
                <a:path w="59" h="95">
                  <a:moveTo>
                    <a:pt x="41" y="1"/>
                  </a:moveTo>
                  <a:cubicBezTo>
                    <a:pt x="41" y="1"/>
                    <a:pt x="41" y="1"/>
                    <a:pt x="41" y="1"/>
                  </a:cubicBezTo>
                  <a:cubicBezTo>
                    <a:pt x="33" y="2"/>
                    <a:pt x="10" y="7"/>
                    <a:pt x="10" y="20"/>
                  </a:cubicBezTo>
                  <a:cubicBezTo>
                    <a:pt x="10" y="25"/>
                    <a:pt x="10" y="25"/>
                    <a:pt x="10" y="25"/>
                  </a:cubicBezTo>
                  <a:cubicBezTo>
                    <a:pt x="9" y="34"/>
                    <a:pt x="9" y="44"/>
                    <a:pt x="15" y="50"/>
                  </a:cubicBezTo>
                  <a:cubicBezTo>
                    <a:pt x="17" y="52"/>
                    <a:pt x="18" y="54"/>
                    <a:pt x="18" y="56"/>
                  </a:cubicBezTo>
                  <a:cubicBezTo>
                    <a:pt x="18" y="58"/>
                    <a:pt x="17" y="59"/>
                    <a:pt x="16" y="60"/>
                  </a:cubicBezTo>
                  <a:cubicBezTo>
                    <a:pt x="12" y="62"/>
                    <a:pt x="0" y="75"/>
                    <a:pt x="0" y="83"/>
                  </a:cubicBezTo>
                  <a:cubicBezTo>
                    <a:pt x="0" y="87"/>
                    <a:pt x="2" y="90"/>
                    <a:pt x="6" y="92"/>
                  </a:cubicBezTo>
                  <a:cubicBezTo>
                    <a:pt x="12" y="95"/>
                    <a:pt x="24" y="94"/>
                    <a:pt x="31" y="88"/>
                  </a:cubicBezTo>
                  <a:cubicBezTo>
                    <a:pt x="41" y="80"/>
                    <a:pt x="56" y="52"/>
                    <a:pt x="56" y="39"/>
                  </a:cubicBezTo>
                  <a:cubicBezTo>
                    <a:pt x="57" y="30"/>
                    <a:pt x="57" y="30"/>
                    <a:pt x="57" y="30"/>
                  </a:cubicBezTo>
                  <a:cubicBezTo>
                    <a:pt x="58" y="21"/>
                    <a:pt x="59" y="10"/>
                    <a:pt x="54" y="4"/>
                  </a:cubicBezTo>
                  <a:cubicBezTo>
                    <a:pt x="51" y="1"/>
                    <a:pt x="46" y="0"/>
                    <a:pt x="41" y="1"/>
                  </a:cubicBezTo>
                  <a:close/>
                  <a:moveTo>
                    <a:pt x="47" y="11"/>
                  </a:moveTo>
                  <a:cubicBezTo>
                    <a:pt x="50" y="13"/>
                    <a:pt x="49" y="22"/>
                    <a:pt x="48" y="29"/>
                  </a:cubicBezTo>
                  <a:cubicBezTo>
                    <a:pt x="47" y="39"/>
                    <a:pt x="47" y="39"/>
                    <a:pt x="47" y="39"/>
                  </a:cubicBezTo>
                  <a:cubicBezTo>
                    <a:pt x="47" y="49"/>
                    <a:pt x="33" y="75"/>
                    <a:pt x="26" y="82"/>
                  </a:cubicBezTo>
                  <a:cubicBezTo>
                    <a:pt x="22" y="85"/>
                    <a:pt x="17" y="85"/>
                    <a:pt x="13" y="85"/>
                  </a:cubicBezTo>
                  <a:cubicBezTo>
                    <a:pt x="10" y="84"/>
                    <a:pt x="8" y="83"/>
                    <a:pt x="8" y="83"/>
                  </a:cubicBezTo>
                  <a:cubicBezTo>
                    <a:pt x="8" y="80"/>
                    <a:pt x="16" y="70"/>
                    <a:pt x="21" y="67"/>
                  </a:cubicBezTo>
                  <a:cubicBezTo>
                    <a:pt x="24" y="65"/>
                    <a:pt x="26" y="61"/>
                    <a:pt x="26" y="57"/>
                  </a:cubicBezTo>
                  <a:cubicBezTo>
                    <a:pt x="26" y="57"/>
                    <a:pt x="26" y="56"/>
                    <a:pt x="26" y="56"/>
                  </a:cubicBezTo>
                  <a:cubicBezTo>
                    <a:pt x="26" y="52"/>
                    <a:pt x="25" y="48"/>
                    <a:pt x="21" y="44"/>
                  </a:cubicBezTo>
                  <a:cubicBezTo>
                    <a:pt x="19" y="42"/>
                    <a:pt x="18" y="36"/>
                    <a:pt x="18" y="30"/>
                  </a:cubicBezTo>
                  <a:cubicBezTo>
                    <a:pt x="18" y="29"/>
                    <a:pt x="18" y="27"/>
                    <a:pt x="18" y="25"/>
                  </a:cubicBezTo>
                  <a:cubicBezTo>
                    <a:pt x="18" y="20"/>
                    <a:pt x="18" y="20"/>
                    <a:pt x="18" y="20"/>
                  </a:cubicBezTo>
                  <a:cubicBezTo>
                    <a:pt x="18" y="17"/>
                    <a:pt x="30" y="12"/>
                    <a:pt x="42" y="10"/>
                  </a:cubicBezTo>
                  <a:cubicBezTo>
                    <a:pt x="44" y="10"/>
                    <a:pt x="46" y="9"/>
                    <a:pt x="4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52" name="Freeform 2006">
              <a:extLst>
                <a:ext uri="{FF2B5EF4-FFF2-40B4-BE49-F238E27FC236}">
                  <a16:creationId xmlns:a16="http://schemas.microsoft.com/office/drawing/2014/main" id="{F23A1F89-A1DF-C9DA-B335-4BFE0BE9EDFC}"/>
                </a:ext>
              </a:extLst>
            </p:cNvPr>
            <p:cNvSpPr>
              <a:spLocks/>
            </p:cNvSpPr>
            <p:nvPr/>
          </p:nvSpPr>
          <p:spPr bwMode="auto">
            <a:xfrm>
              <a:off x="2052" y="793"/>
              <a:ext cx="20" cy="13"/>
            </a:xfrm>
            <a:custGeom>
              <a:avLst/>
              <a:gdLst>
                <a:gd name="T0" fmla="*/ 12 w 91"/>
                <a:gd name="T1" fmla="*/ 2 h 61"/>
                <a:gd name="T2" fmla="*/ 12 w 91"/>
                <a:gd name="T3" fmla="*/ 34 h 61"/>
                <a:gd name="T4" fmla="*/ 49 w 91"/>
                <a:gd name="T5" fmla="*/ 60 h 61"/>
                <a:gd name="T6" fmla="*/ 67 w 91"/>
                <a:gd name="T7" fmla="*/ 28 h 61"/>
                <a:gd name="T8" fmla="*/ 36 w 91"/>
                <a:gd name="T9" fmla="*/ 25 h 61"/>
                <a:gd name="T10" fmla="*/ 12 w 91"/>
                <a:gd name="T11" fmla="*/ 2 h 61"/>
              </a:gdLst>
              <a:ahLst/>
              <a:cxnLst>
                <a:cxn ang="0">
                  <a:pos x="T0" y="T1"/>
                </a:cxn>
                <a:cxn ang="0">
                  <a:pos x="T2" y="T3"/>
                </a:cxn>
                <a:cxn ang="0">
                  <a:pos x="T4" y="T5"/>
                </a:cxn>
                <a:cxn ang="0">
                  <a:pos x="T6" y="T7"/>
                </a:cxn>
                <a:cxn ang="0">
                  <a:pos x="T8" y="T9"/>
                </a:cxn>
                <a:cxn ang="0">
                  <a:pos x="T10" y="T11"/>
                </a:cxn>
              </a:cxnLst>
              <a:rect l="0" t="0" r="r" b="b"/>
              <a:pathLst>
                <a:path w="91" h="61">
                  <a:moveTo>
                    <a:pt x="12" y="2"/>
                  </a:moveTo>
                  <a:cubicBezTo>
                    <a:pt x="12" y="2"/>
                    <a:pt x="0" y="22"/>
                    <a:pt x="12" y="34"/>
                  </a:cubicBezTo>
                  <a:cubicBezTo>
                    <a:pt x="23" y="45"/>
                    <a:pt x="39" y="61"/>
                    <a:pt x="49" y="60"/>
                  </a:cubicBezTo>
                  <a:cubicBezTo>
                    <a:pt x="59" y="58"/>
                    <a:pt x="91" y="48"/>
                    <a:pt x="67" y="28"/>
                  </a:cubicBezTo>
                  <a:cubicBezTo>
                    <a:pt x="42" y="8"/>
                    <a:pt x="36" y="25"/>
                    <a:pt x="36" y="25"/>
                  </a:cubicBezTo>
                  <a:cubicBezTo>
                    <a:pt x="36" y="25"/>
                    <a:pt x="32" y="0"/>
                    <a:pt x="12"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53" name="Freeform 2007">
              <a:extLst>
                <a:ext uri="{FF2B5EF4-FFF2-40B4-BE49-F238E27FC236}">
                  <a16:creationId xmlns:a16="http://schemas.microsoft.com/office/drawing/2014/main" id="{060D6414-A3FC-F611-1B5D-405A9A2E192E}"/>
                </a:ext>
              </a:extLst>
            </p:cNvPr>
            <p:cNvSpPr>
              <a:spLocks noEditPoints="1"/>
            </p:cNvSpPr>
            <p:nvPr/>
          </p:nvSpPr>
          <p:spPr bwMode="auto">
            <a:xfrm>
              <a:off x="2051" y="792"/>
              <a:ext cx="19" cy="15"/>
            </a:xfrm>
            <a:custGeom>
              <a:avLst/>
              <a:gdLst>
                <a:gd name="T0" fmla="*/ 17 w 86"/>
                <a:gd name="T1" fmla="*/ 1 h 69"/>
                <a:gd name="T2" fmla="*/ 14 w 86"/>
                <a:gd name="T3" fmla="*/ 1 h 69"/>
                <a:gd name="T4" fmla="*/ 13 w 86"/>
                <a:gd name="T5" fmla="*/ 3 h 69"/>
                <a:gd name="T6" fmla="*/ 14 w 86"/>
                <a:gd name="T7" fmla="*/ 40 h 69"/>
                <a:gd name="T8" fmla="*/ 55 w 86"/>
                <a:gd name="T9" fmla="*/ 67 h 69"/>
                <a:gd name="T10" fmla="*/ 85 w 86"/>
                <a:gd name="T11" fmla="*/ 49 h 69"/>
                <a:gd name="T12" fmla="*/ 74 w 86"/>
                <a:gd name="T13" fmla="*/ 28 h 69"/>
                <a:gd name="T14" fmla="*/ 47 w 86"/>
                <a:gd name="T15" fmla="*/ 17 h 69"/>
                <a:gd name="T16" fmla="*/ 43 w 86"/>
                <a:gd name="T17" fmla="*/ 20 h 69"/>
                <a:gd name="T18" fmla="*/ 17 w 86"/>
                <a:gd name="T19" fmla="*/ 1 h 69"/>
                <a:gd name="T20" fmla="*/ 20 w 86"/>
                <a:gd name="T21" fmla="*/ 34 h 69"/>
                <a:gd name="T22" fmla="*/ 16 w 86"/>
                <a:gd name="T23" fmla="*/ 23 h 69"/>
                <a:gd name="T24" fmla="*/ 19 w 86"/>
                <a:gd name="T25" fmla="*/ 9 h 69"/>
                <a:gd name="T26" fmla="*/ 37 w 86"/>
                <a:gd name="T27" fmla="*/ 29 h 69"/>
                <a:gd name="T28" fmla="*/ 40 w 86"/>
                <a:gd name="T29" fmla="*/ 44 h 69"/>
                <a:gd name="T30" fmla="*/ 45 w 86"/>
                <a:gd name="T31" fmla="*/ 29 h 69"/>
                <a:gd name="T32" fmla="*/ 50 w 86"/>
                <a:gd name="T33" fmla="*/ 26 h 69"/>
                <a:gd name="T34" fmla="*/ 69 w 86"/>
                <a:gd name="T35" fmla="*/ 34 h 69"/>
                <a:gd name="T36" fmla="*/ 76 w 86"/>
                <a:gd name="T37" fmla="*/ 46 h 69"/>
                <a:gd name="T38" fmla="*/ 54 w 86"/>
                <a:gd name="T39" fmla="*/ 58 h 69"/>
                <a:gd name="T40" fmla="*/ 20 w 86"/>
                <a:gd name="T41" fmla="*/ 34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6" h="69">
                  <a:moveTo>
                    <a:pt x="17" y="1"/>
                  </a:moveTo>
                  <a:cubicBezTo>
                    <a:pt x="14" y="1"/>
                    <a:pt x="14" y="1"/>
                    <a:pt x="14" y="1"/>
                  </a:cubicBezTo>
                  <a:cubicBezTo>
                    <a:pt x="13" y="3"/>
                    <a:pt x="13" y="3"/>
                    <a:pt x="13" y="3"/>
                  </a:cubicBezTo>
                  <a:cubicBezTo>
                    <a:pt x="13" y="4"/>
                    <a:pt x="0" y="26"/>
                    <a:pt x="14" y="40"/>
                  </a:cubicBezTo>
                  <a:cubicBezTo>
                    <a:pt x="27" y="53"/>
                    <a:pt x="43" y="69"/>
                    <a:pt x="55" y="67"/>
                  </a:cubicBezTo>
                  <a:cubicBezTo>
                    <a:pt x="62" y="66"/>
                    <a:pt x="81" y="61"/>
                    <a:pt x="85" y="49"/>
                  </a:cubicBezTo>
                  <a:cubicBezTo>
                    <a:pt x="86" y="42"/>
                    <a:pt x="83" y="35"/>
                    <a:pt x="74" y="28"/>
                  </a:cubicBezTo>
                  <a:cubicBezTo>
                    <a:pt x="64" y="19"/>
                    <a:pt x="54" y="15"/>
                    <a:pt x="47" y="17"/>
                  </a:cubicBezTo>
                  <a:cubicBezTo>
                    <a:pt x="45" y="18"/>
                    <a:pt x="45" y="19"/>
                    <a:pt x="43" y="20"/>
                  </a:cubicBezTo>
                  <a:cubicBezTo>
                    <a:pt x="40" y="10"/>
                    <a:pt x="31" y="0"/>
                    <a:pt x="17" y="1"/>
                  </a:cubicBezTo>
                  <a:close/>
                  <a:moveTo>
                    <a:pt x="20" y="34"/>
                  </a:moveTo>
                  <a:cubicBezTo>
                    <a:pt x="17" y="31"/>
                    <a:pt x="16" y="27"/>
                    <a:pt x="16" y="23"/>
                  </a:cubicBezTo>
                  <a:cubicBezTo>
                    <a:pt x="16" y="18"/>
                    <a:pt x="18" y="12"/>
                    <a:pt x="19" y="9"/>
                  </a:cubicBezTo>
                  <a:cubicBezTo>
                    <a:pt x="33" y="10"/>
                    <a:pt x="37" y="28"/>
                    <a:pt x="37" y="29"/>
                  </a:cubicBezTo>
                  <a:cubicBezTo>
                    <a:pt x="40" y="44"/>
                    <a:pt x="40" y="44"/>
                    <a:pt x="40" y="44"/>
                  </a:cubicBezTo>
                  <a:cubicBezTo>
                    <a:pt x="45" y="29"/>
                    <a:pt x="45" y="29"/>
                    <a:pt x="45" y="29"/>
                  </a:cubicBezTo>
                  <a:cubicBezTo>
                    <a:pt x="45" y="29"/>
                    <a:pt x="47" y="26"/>
                    <a:pt x="50" y="26"/>
                  </a:cubicBezTo>
                  <a:cubicBezTo>
                    <a:pt x="52" y="25"/>
                    <a:pt x="58" y="25"/>
                    <a:pt x="69" y="34"/>
                  </a:cubicBezTo>
                  <a:cubicBezTo>
                    <a:pt x="73" y="37"/>
                    <a:pt x="77" y="42"/>
                    <a:pt x="76" y="46"/>
                  </a:cubicBezTo>
                  <a:cubicBezTo>
                    <a:pt x="75" y="52"/>
                    <a:pt x="62" y="57"/>
                    <a:pt x="54" y="58"/>
                  </a:cubicBezTo>
                  <a:cubicBezTo>
                    <a:pt x="46" y="59"/>
                    <a:pt x="30" y="43"/>
                    <a:pt x="20"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54" name="Freeform 2008">
              <a:extLst>
                <a:ext uri="{FF2B5EF4-FFF2-40B4-BE49-F238E27FC236}">
                  <a16:creationId xmlns:a16="http://schemas.microsoft.com/office/drawing/2014/main" id="{6F5C5528-EA7C-659F-9B1D-E10049FC8AA5}"/>
                </a:ext>
              </a:extLst>
            </p:cNvPr>
            <p:cNvSpPr>
              <a:spLocks/>
            </p:cNvSpPr>
            <p:nvPr/>
          </p:nvSpPr>
          <p:spPr bwMode="auto">
            <a:xfrm>
              <a:off x="2071" y="801"/>
              <a:ext cx="8" cy="12"/>
            </a:xfrm>
            <a:custGeom>
              <a:avLst/>
              <a:gdLst>
                <a:gd name="T0" fmla="*/ 20 w 36"/>
                <a:gd name="T1" fmla="*/ 7 h 53"/>
                <a:gd name="T2" fmla="*/ 1 w 36"/>
                <a:gd name="T3" fmla="*/ 14 h 53"/>
                <a:gd name="T4" fmla="*/ 7 w 36"/>
                <a:gd name="T5" fmla="*/ 50 h 53"/>
                <a:gd name="T6" fmla="*/ 36 w 36"/>
                <a:gd name="T7" fmla="*/ 36 h 53"/>
                <a:gd name="T8" fmla="*/ 20 w 36"/>
                <a:gd name="T9" fmla="*/ 7 h 53"/>
              </a:gdLst>
              <a:ahLst/>
              <a:cxnLst>
                <a:cxn ang="0">
                  <a:pos x="T0" y="T1"/>
                </a:cxn>
                <a:cxn ang="0">
                  <a:pos x="T2" y="T3"/>
                </a:cxn>
                <a:cxn ang="0">
                  <a:pos x="T4" y="T5"/>
                </a:cxn>
                <a:cxn ang="0">
                  <a:pos x="T6" y="T7"/>
                </a:cxn>
                <a:cxn ang="0">
                  <a:pos x="T8" y="T9"/>
                </a:cxn>
              </a:cxnLst>
              <a:rect l="0" t="0" r="r" b="b"/>
              <a:pathLst>
                <a:path w="36" h="53">
                  <a:moveTo>
                    <a:pt x="20" y="7"/>
                  </a:moveTo>
                  <a:cubicBezTo>
                    <a:pt x="20" y="7"/>
                    <a:pt x="1" y="0"/>
                    <a:pt x="1" y="14"/>
                  </a:cubicBezTo>
                  <a:cubicBezTo>
                    <a:pt x="1" y="28"/>
                    <a:pt x="0" y="47"/>
                    <a:pt x="7" y="50"/>
                  </a:cubicBezTo>
                  <a:cubicBezTo>
                    <a:pt x="14" y="53"/>
                    <a:pt x="36" y="51"/>
                    <a:pt x="36" y="36"/>
                  </a:cubicBezTo>
                  <a:cubicBezTo>
                    <a:pt x="36" y="20"/>
                    <a:pt x="30" y="4"/>
                    <a:pt x="2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55" name="Freeform 2009">
              <a:extLst>
                <a:ext uri="{FF2B5EF4-FFF2-40B4-BE49-F238E27FC236}">
                  <a16:creationId xmlns:a16="http://schemas.microsoft.com/office/drawing/2014/main" id="{EED3D40D-CFD1-81BD-AD5F-5919722D947D}"/>
                </a:ext>
              </a:extLst>
            </p:cNvPr>
            <p:cNvSpPr>
              <a:spLocks noEditPoints="1"/>
            </p:cNvSpPr>
            <p:nvPr/>
          </p:nvSpPr>
          <p:spPr bwMode="auto">
            <a:xfrm>
              <a:off x="2070" y="801"/>
              <a:ext cx="10" cy="12"/>
            </a:xfrm>
            <a:custGeom>
              <a:avLst/>
              <a:gdLst>
                <a:gd name="T0" fmla="*/ 6 w 44"/>
                <a:gd name="T1" fmla="*/ 4 h 58"/>
                <a:gd name="T2" fmla="*/ 1 w 44"/>
                <a:gd name="T3" fmla="*/ 15 h 58"/>
                <a:gd name="T4" fmla="*/ 1 w 44"/>
                <a:gd name="T5" fmla="*/ 21 h 58"/>
                <a:gd name="T6" fmla="*/ 9 w 44"/>
                <a:gd name="T7" fmla="*/ 55 h 58"/>
                <a:gd name="T8" fmla="*/ 36 w 44"/>
                <a:gd name="T9" fmla="*/ 52 h 58"/>
                <a:gd name="T10" fmla="*/ 44 w 44"/>
                <a:gd name="T11" fmla="*/ 37 h 58"/>
                <a:gd name="T12" fmla="*/ 34 w 44"/>
                <a:gd name="T13" fmla="*/ 6 h 58"/>
                <a:gd name="T14" fmla="*/ 24 w 44"/>
                <a:gd name="T15" fmla="*/ 3 h 58"/>
                <a:gd name="T16" fmla="*/ 6 w 44"/>
                <a:gd name="T17" fmla="*/ 4 h 58"/>
                <a:gd name="T18" fmla="*/ 13 w 44"/>
                <a:gd name="T19" fmla="*/ 47 h 58"/>
                <a:gd name="T20" fmla="*/ 10 w 44"/>
                <a:gd name="T21" fmla="*/ 21 h 58"/>
                <a:gd name="T22" fmla="*/ 10 w 44"/>
                <a:gd name="T23" fmla="*/ 15 h 58"/>
                <a:gd name="T24" fmla="*/ 11 w 44"/>
                <a:gd name="T25" fmla="*/ 11 h 58"/>
                <a:gd name="T26" fmla="*/ 22 w 44"/>
                <a:gd name="T27" fmla="*/ 12 h 58"/>
                <a:gd name="T28" fmla="*/ 24 w 44"/>
                <a:gd name="T29" fmla="*/ 12 h 58"/>
                <a:gd name="T30" fmla="*/ 25 w 44"/>
                <a:gd name="T31" fmla="*/ 12 h 58"/>
                <a:gd name="T32" fmla="*/ 29 w 44"/>
                <a:gd name="T33" fmla="*/ 13 h 58"/>
                <a:gd name="T34" fmla="*/ 36 w 44"/>
                <a:gd name="T35" fmla="*/ 37 h 58"/>
                <a:gd name="T36" fmla="*/ 31 w 44"/>
                <a:gd name="T37" fmla="*/ 45 h 58"/>
                <a:gd name="T38" fmla="*/ 13 w 44"/>
                <a:gd name="T39" fmla="*/ 47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4" h="58">
                  <a:moveTo>
                    <a:pt x="6" y="4"/>
                  </a:moveTo>
                  <a:cubicBezTo>
                    <a:pt x="4" y="6"/>
                    <a:pt x="1" y="9"/>
                    <a:pt x="1" y="15"/>
                  </a:cubicBezTo>
                  <a:cubicBezTo>
                    <a:pt x="1" y="21"/>
                    <a:pt x="1" y="21"/>
                    <a:pt x="1" y="21"/>
                  </a:cubicBezTo>
                  <a:cubicBezTo>
                    <a:pt x="1" y="37"/>
                    <a:pt x="0" y="51"/>
                    <a:pt x="9" y="55"/>
                  </a:cubicBezTo>
                  <a:cubicBezTo>
                    <a:pt x="15" y="57"/>
                    <a:pt x="28" y="58"/>
                    <a:pt x="36" y="52"/>
                  </a:cubicBezTo>
                  <a:cubicBezTo>
                    <a:pt x="41" y="48"/>
                    <a:pt x="44" y="43"/>
                    <a:pt x="44" y="37"/>
                  </a:cubicBezTo>
                  <a:cubicBezTo>
                    <a:pt x="44" y="25"/>
                    <a:pt x="41" y="11"/>
                    <a:pt x="34" y="6"/>
                  </a:cubicBezTo>
                  <a:cubicBezTo>
                    <a:pt x="31" y="4"/>
                    <a:pt x="28" y="3"/>
                    <a:pt x="24" y="3"/>
                  </a:cubicBezTo>
                  <a:cubicBezTo>
                    <a:pt x="22" y="2"/>
                    <a:pt x="12" y="0"/>
                    <a:pt x="6" y="4"/>
                  </a:cubicBezTo>
                  <a:close/>
                  <a:moveTo>
                    <a:pt x="13" y="47"/>
                  </a:moveTo>
                  <a:cubicBezTo>
                    <a:pt x="9" y="46"/>
                    <a:pt x="9" y="29"/>
                    <a:pt x="10" y="21"/>
                  </a:cubicBezTo>
                  <a:cubicBezTo>
                    <a:pt x="10" y="15"/>
                    <a:pt x="10" y="15"/>
                    <a:pt x="10" y="15"/>
                  </a:cubicBezTo>
                  <a:cubicBezTo>
                    <a:pt x="10" y="12"/>
                    <a:pt x="11" y="11"/>
                    <a:pt x="11" y="11"/>
                  </a:cubicBezTo>
                  <a:cubicBezTo>
                    <a:pt x="13" y="9"/>
                    <a:pt x="19" y="11"/>
                    <a:pt x="22" y="12"/>
                  </a:cubicBezTo>
                  <a:cubicBezTo>
                    <a:pt x="24" y="12"/>
                    <a:pt x="24" y="12"/>
                    <a:pt x="24" y="12"/>
                  </a:cubicBezTo>
                  <a:cubicBezTo>
                    <a:pt x="25" y="12"/>
                    <a:pt x="25" y="12"/>
                    <a:pt x="25" y="12"/>
                  </a:cubicBezTo>
                  <a:cubicBezTo>
                    <a:pt x="26" y="12"/>
                    <a:pt x="27" y="12"/>
                    <a:pt x="29" y="13"/>
                  </a:cubicBezTo>
                  <a:cubicBezTo>
                    <a:pt x="33" y="16"/>
                    <a:pt x="36" y="26"/>
                    <a:pt x="36" y="37"/>
                  </a:cubicBezTo>
                  <a:cubicBezTo>
                    <a:pt x="36" y="40"/>
                    <a:pt x="34" y="43"/>
                    <a:pt x="31" y="45"/>
                  </a:cubicBezTo>
                  <a:cubicBezTo>
                    <a:pt x="25" y="49"/>
                    <a:pt x="16" y="48"/>
                    <a:pt x="13" y="4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56" name="Freeform 2010">
              <a:extLst>
                <a:ext uri="{FF2B5EF4-FFF2-40B4-BE49-F238E27FC236}">
                  <a16:creationId xmlns:a16="http://schemas.microsoft.com/office/drawing/2014/main" id="{777F4312-DDBA-A9AD-B9BD-60C3280B779D}"/>
                </a:ext>
              </a:extLst>
            </p:cNvPr>
            <p:cNvSpPr>
              <a:spLocks/>
            </p:cNvSpPr>
            <p:nvPr/>
          </p:nvSpPr>
          <p:spPr bwMode="auto">
            <a:xfrm>
              <a:off x="2091" y="811"/>
              <a:ext cx="9" cy="8"/>
            </a:xfrm>
            <a:custGeom>
              <a:avLst/>
              <a:gdLst>
                <a:gd name="T0" fmla="*/ 23 w 42"/>
                <a:gd name="T1" fmla="*/ 0 h 36"/>
                <a:gd name="T2" fmla="*/ 0 w 42"/>
                <a:gd name="T3" fmla="*/ 10 h 36"/>
                <a:gd name="T4" fmla="*/ 16 w 42"/>
                <a:gd name="T5" fmla="*/ 33 h 36"/>
                <a:gd name="T6" fmla="*/ 23 w 42"/>
                <a:gd name="T7" fmla="*/ 0 h 36"/>
              </a:gdLst>
              <a:ahLst/>
              <a:cxnLst>
                <a:cxn ang="0">
                  <a:pos x="T0" y="T1"/>
                </a:cxn>
                <a:cxn ang="0">
                  <a:pos x="T2" y="T3"/>
                </a:cxn>
                <a:cxn ang="0">
                  <a:pos x="T4" y="T5"/>
                </a:cxn>
                <a:cxn ang="0">
                  <a:pos x="T6" y="T7"/>
                </a:cxn>
              </a:cxnLst>
              <a:rect l="0" t="0" r="r" b="b"/>
              <a:pathLst>
                <a:path w="42" h="36">
                  <a:moveTo>
                    <a:pt x="23" y="0"/>
                  </a:moveTo>
                  <a:cubicBezTo>
                    <a:pt x="23" y="0"/>
                    <a:pt x="0" y="4"/>
                    <a:pt x="0" y="10"/>
                  </a:cubicBezTo>
                  <a:cubicBezTo>
                    <a:pt x="0" y="16"/>
                    <a:pt x="6" y="36"/>
                    <a:pt x="16" y="33"/>
                  </a:cubicBezTo>
                  <a:cubicBezTo>
                    <a:pt x="26" y="30"/>
                    <a:pt x="42" y="2"/>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57" name="Freeform 2011">
              <a:extLst>
                <a:ext uri="{FF2B5EF4-FFF2-40B4-BE49-F238E27FC236}">
                  <a16:creationId xmlns:a16="http://schemas.microsoft.com/office/drawing/2014/main" id="{7E1248A8-FD01-D453-6EA2-64D8ADD52334}"/>
                </a:ext>
              </a:extLst>
            </p:cNvPr>
            <p:cNvSpPr>
              <a:spLocks noEditPoints="1"/>
            </p:cNvSpPr>
            <p:nvPr/>
          </p:nvSpPr>
          <p:spPr bwMode="auto">
            <a:xfrm>
              <a:off x="2090" y="810"/>
              <a:ext cx="9" cy="10"/>
            </a:xfrm>
            <a:custGeom>
              <a:avLst/>
              <a:gdLst>
                <a:gd name="T0" fmla="*/ 26 w 41"/>
                <a:gd name="T1" fmla="*/ 0 h 42"/>
                <a:gd name="T2" fmla="*/ 0 w 41"/>
                <a:gd name="T3" fmla="*/ 14 h 42"/>
                <a:gd name="T4" fmla="*/ 11 w 41"/>
                <a:gd name="T5" fmla="*/ 39 h 42"/>
                <a:gd name="T6" fmla="*/ 21 w 41"/>
                <a:gd name="T7" fmla="*/ 41 h 42"/>
                <a:gd name="T8" fmla="*/ 40 w 41"/>
                <a:gd name="T9" fmla="*/ 11 h 42"/>
                <a:gd name="T10" fmla="*/ 28 w 41"/>
                <a:gd name="T11" fmla="*/ 0 h 42"/>
                <a:gd name="T12" fmla="*/ 27 w 41"/>
                <a:gd name="T13" fmla="*/ 0 h 42"/>
                <a:gd name="T14" fmla="*/ 26 w 41"/>
                <a:gd name="T15" fmla="*/ 0 h 42"/>
                <a:gd name="T16" fmla="*/ 16 w 41"/>
                <a:gd name="T17" fmla="*/ 32 h 42"/>
                <a:gd name="T18" fmla="*/ 8 w 41"/>
                <a:gd name="T19" fmla="*/ 14 h 42"/>
                <a:gd name="T20" fmla="*/ 27 w 41"/>
                <a:gd name="T21" fmla="*/ 9 h 42"/>
                <a:gd name="T22" fmla="*/ 32 w 41"/>
                <a:gd name="T23" fmla="*/ 12 h 42"/>
                <a:gd name="T24" fmla="*/ 32 w 41"/>
                <a:gd name="T25" fmla="*/ 13 h 42"/>
                <a:gd name="T26" fmla="*/ 19 w 41"/>
                <a:gd name="T27" fmla="*/ 33 h 42"/>
                <a:gd name="T28" fmla="*/ 16 w 41"/>
                <a:gd name="T29" fmla="*/ 3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1" h="42">
                  <a:moveTo>
                    <a:pt x="26" y="0"/>
                  </a:moveTo>
                  <a:cubicBezTo>
                    <a:pt x="9" y="3"/>
                    <a:pt x="0" y="8"/>
                    <a:pt x="0" y="14"/>
                  </a:cubicBezTo>
                  <a:cubicBezTo>
                    <a:pt x="0" y="19"/>
                    <a:pt x="3" y="34"/>
                    <a:pt x="11" y="39"/>
                  </a:cubicBezTo>
                  <a:cubicBezTo>
                    <a:pt x="14" y="42"/>
                    <a:pt x="18" y="42"/>
                    <a:pt x="21" y="41"/>
                  </a:cubicBezTo>
                  <a:cubicBezTo>
                    <a:pt x="31" y="39"/>
                    <a:pt x="41" y="22"/>
                    <a:pt x="40" y="11"/>
                  </a:cubicBezTo>
                  <a:cubicBezTo>
                    <a:pt x="39" y="5"/>
                    <a:pt x="35" y="0"/>
                    <a:pt x="28" y="0"/>
                  </a:cubicBezTo>
                  <a:cubicBezTo>
                    <a:pt x="27" y="0"/>
                    <a:pt x="27" y="0"/>
                    <a:pt x="27" y="0"/>
                  </a:cubicBezTo>
                  <a:lnTo>
                    <a:pt x="26" y="0"/>
                  </a:lnTo>
                  <a:close/>
                  <a:moveTo>
                    <a:pt x="16" y="32"/>
                  </a:moveTo>
                  <a:cubicBezTo>
                    <a:pt x="12" y="29"/>
                    <a:pt x="8" y="18"/>
                    <a:pt x="8" y="14"/>
                  </a:cubicBezTo>
                  <a:cubicBezTo>
                    <a:pt x="10" y="13"/>
                    <a:pt x="18" y="10"/>
                    <a:pt x="27" y="9"/>
                  </a:cubicBezTo>
                  <a:cubicBezTo>
                    <a:pt x="31" y="9"/>
                    <a:pt x="31" y="11"/>
                    <a:pt x="32" y="12"/>
                  </a:cubicBezTo>
                  <a:cubicBezTo>
                    <a:pt x="32" y="12"/>
                    <a:pt x="32" y="13"/>
                    <a:pt x="32" y="13"/>
                  </a:cubicBezTo>
                  <a:cubicBezTo>
                    <a:pt x="32" y="21"/>
                    <a:pt x="23" y="32"/>
                    <a:pt x="19" y="33"/>
                  </a:cubicBezTo>
                  <a:cubicBezTo>
                    <a:pt x="18" y="33"/>
                    <a:pt x="17" y="33"/>
                    <a:pt x="16" y="3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58" name="Freeform 2012">
              <a:extLst>
                <a:ext uri="{FF2B5EF4-FFF2-40B4-BE49-F238E27FC236}">
                  <a16:creationId xmlns:a16="http://schemas.microsoft.com/office/drawing/2014/main" id="{4B4D77D1-44BE-903A-0A00-4A4F3E05F9A9}"/>
                </a:ext>
              </a:extLst>
            </p:cNvPr>
            <p:cNvSpPr>
              <a:spLocks/>
            </p:cNvSpPr>
            <p:nvPr/>
          </p:nvSpPr>
          <p:spPr bwMode="auto">
            <a:xfrm>
              <a:off x="2069" y="818"/>
              <a:ext cx="6" cy="6"/>
            </a:xfrm>
            <a:custGeom>
              <a:avLst/>
              <a:gdLst>
                <a:gd name="T0" fmla="*/ 10 w 24"/>
                <a:gd name="T1" fmla="*/ 2 h 26"/>
                <a:gd name="T2" fmla="*/ 0 w 24"/>
                <a:gd name="T3" fmla="*/ 13 h 26"/>
                <a:gd name="T4" fmla="*/ 13 w 24"/>
                <a:gd name="T5" fmla="*/ 22 h 26"/>
                <a:gd name="T6" fmla="*/ 10 w 24"/>
                <a:gd name="T7" fmla="*/ 2 h 26"/>
              </a:gdLst>
              <a:ahLst/>
              <a:cxnLst>
                <a:cxn ang="0">
                  <a:pos x="T0" y="T1"/>
                </a:cxn>
                <a:cxn ang="0">
                  <a:pos x="T2" y="T3"/>
                </a:cxn>
                <a:cxn ang="0">
                  <a:pos x="T4" y="T5"/>
                </a:cxn>
                <a:cxn ang="0">
                  <a:pos x="T6" y="T7"/>
                </a:cxn>
              </a:cxnLst>
              <a:rect l="0" t="0" r="r" b="b"/>
              <a:pathLst>
                <a:path w="24" h="26">
                  <a:moveTo>
                    <a:pt x="10" y="2"/>
                  </a:moveTo>
                  <a:cubicBezTo>
                    <a:pt x="10" y="2"/>
                    <a:pt x="0" y="8"/>
                    <a:pt x="0" y="13"/>
                  </a:cubicBezTo>
                  <a:cubicBezTo>
                    <a:pt x="0" y="19"/>
                    <a:pt x="7" y="26"/>
                    <a:pt x="13" y="22"/>
                  </a:cubicBezTo>
                  <a:cubicBezTo>
                    <a:pt x="18" y="18"/>
                    <a:pt x="24" y="0"/>
                    <a:pt x="10"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59" name="Freeform 2013">
              <a:extLst>
                <a:ext uri="{FF2B5EF4-FFF2-40B4-BE49-F238E27FC236}">
                  <a16:creationId xmlns:a16="http://schemas.microsoft.com/office/drawing/2014/main" id="{CBA7AFB2-0C1E-77F7-AA43-CA8ACBC6CBA0}"/>
                </a:ext>
              </a:extLst>
            </p:cNvPr>
            <p:cNvSpPr>
              <a:spLocks noEditPoints="1"/>
            </p:cNvSpPr>
            <p:nvPr/>
          </p:nvSpPr>
          <p:spPr bwMode="auto">
            <a:xfrm>
              <a:off x="2068" y="817"/>
              <a:ext cx="7" cy="7"/>
            </a:xfrm>
            <a:custGeom>
              <a:avLst/>
              <a:gdLst>
                <a:gd name="T0" fmla="*/ 14 w 30"/>
                <a:gd name="T1" fmla="*/ 1 h 31"/>
                <a:gd name="T2" fmla="*/ 13 w 30"/>
                <a:gd name="T3" fmla="*/ 1 h 31"/>
                <a:gd name="T4" fmla="*/ 13 w 30"/>
                <a:gd name="T5" fmla="*/ 1 h 31"/>
                <a:gd name="T6" fmla="*/ 0 w 30"/>
                <a:gd name="T7" fmla="*/ 16 h 31"/>
                <a:gd name="T8" fmla="*/ 9 w 30"/>
                <a:gd name="T9" fmla="*/ 29 h 31"/>
                <a:gd name="T10" fmla="*/ 20 w 30"/>
                <a:gd name="T11" fmla="*/ 29 h 31"/>
                <a:gd name="T12" fmla="*/ 27 w 30"/>
                <a:gd name="T13" fmla="*/ 7 h 31"/>
                <a:gd name="T14" fmla="*/ 14 w 30"/>
                <a:gd name="T15" fmla="*/ 1 h 31"/>
                <a:gd name="T16" fmla="*/ 19 w 30"/>
                <a:gd name="T17" fmla="*/ 10 h 31"/>
                <a:gd name="T18" fmla="*/ 15 w 30"/>
                <a:gd name="T19" fmla="*/ 22 h 31"/>
                <a:gd name="T20" fmla="*/ 13 w 30"/>
                <a:gd name="T21" fmla="*/ 22 h 31"/>
                <a:gd name="T22" fmla="*/ 9 w 30"/>
                <a:gd name="T23" fmla="*/ 16 h 31"/>
                <a:gd name="T24" fmla="*/ 16 w 30"/>
                <a:gd name="T25" fmla="*/ 9 h 31"/>
                <a:gd name="T26" fmla="*/ 19 w 30"/>
                <a:gd name="T27" fmla="*/ 10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0" h="31">
                  <a:moveTo>
                    <a:pt x="14" y="1"/>
                  </a:moveTo>
                  <a:cubicBezTo>
                    <a:pt x="13" y="1"/>
                    <a:pt x="13" y="1"/>
                    <a:pt x="13" y="1"/>
                  </a:cubicBezTo>
                  <a:cubicBezTo>
                    <a:pt x="13" y="1"/>
                    <a:pt x="13" y="1"/>
                    <a:pt x="13" y="1"/>
                  </a:cubicBezTo>
                  <a:cubicBezTo>
                    <a:pt x="10" y="2"/>
                    <a:pt x="0" y="9"/>
                    <a:pt x="0" y="16"/>
                  </a:cubicBezTo>
                  <a:cubicBezTo>
                    <a:pt x="0" y="22"/>
                    <a:pt x="4" y="27"/>
                    <a:pt x="9" y="29"/>
                  </a:cubicBezTo>
                  <a:cubicBezTo>
                    <a:pt x="13" y="31"/>
                    <a:pt x="17" y="31"/>
                    <a:pt x="20" y="29"/>
                  </a:cubicBezTo>
                  <a:cubicBezTo>
                    <a:pt x="26" y="24"/>
                    <a:pt x="30" y="14"/>
                    <a:pt x="27" y="7"/>
                  </a:cubicBezTo>
                  <a:cubicBezTo>
                    <a:pt x="26" y="5"/>
                    <a:pt x="23" y="0"/>
                    <a:pt x="14" y="1"/>
                  </a:cubicBezTo>
                  <a:close/>
                  <a:moveTo>
                    <a:pt x="19" y="10"/>
                  </a:moveTo>
                  <a:cubicBezTo>
                    <a:pt x="20" y="13"/>
                    <a:pt x="18" y="20"/>
                    <a:pt x="15" y="22"/>
                  </a:cubicBezTo>
                  <a:cubicBezTo>
                    <a:pt x="14" y="22"/>
                    <a:pt x="14" y="22"/>
                    <a:pt x="13" y="22"/>
                  </a:cubicBezTo>
                  <a:cubicBezTo>
                    <a:pt x="10" y="21"/>
                    <a:pt x="9" y="18"/>
                    <a:pt x="9" y="16"/>
                  </a:cubicBezTo>
                  <a:cubicBezTo>
                    <a:pt x="9" y="15"/>
                    <a:pt x="13" y="11"/>
                    <a:pt x="16" y="9"/>
                  </a:cubicBezTo>
                  <a:cubicBezTo>
                    <a:pt x="18" y="9"/>
                    <a:pt x="19" y="9"/>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60" name="Freeform 2014">
              <a:extLst>
                <a:ext uri="{FF2B5EF4-FFF2-40B4-BE49-F238E27FC236}">
                  <a16:creationId xmlns:a16="http://schemas.microsoft.com/office/drawing/2014/main" id="{80951BA9-6623-38C1-1766-F4AF78A1542E}"/>
                </a:ext>
              </a:extLst>
            </p:cNvPr>
            <p:cNvSpPr>
              <a:spLocks/>
            </p:cNvSpPr>
            <p:nvPr/>
          </p:nvSpPr>
          <p:spPr bwMode="auto">
            <a:xfrm>
              <a:off x="2082" y="823"/>
              <a:ext cx="13" cy="7"/>
            </a:xfrm>
            <a:custGeom>
              <a:avLst/>
              <a:gdLst>
                <a:gd name="T0" fmla="*/ 37 w 59"/>
                <a:gd name="T1" fmla="*/ 1 h 32"/>
                <a:gd name="T2" fmla="*/ 20 w 59"/>
                <a:gd name="T3" fmla="*/ 11 h 32"/>
                <a:gd name="T4" fmla="*/ 10 w 59"/>
                <a:gd name="T5" fmla="*/ 26 h 32"/>
                <a:gd name="T6" fmla="*/ 36 w 59"/>
                <a:gd name="T7" fmla="*/ 27 h 32"/>
                <a:gd name="T8" fmla="*/ 37 w 59"/>
                <a:gd name="T9" fmla="*/ 1 h 32"/>
              </a:gdLst>
              <a:ahLst/>
              <a:cxnLst>
                <a:cxn ang="0">
                  <a:pos x="T0" y="T1"/>
                </a:cxn>
                <a:cxn ang="0">
                  <a:pos x="T2" y="T3"/>
                </a:cxn>
                <a:cxn ang="0">
                  <a:pos x="T4" y="T5"/>
                </a:cxn>
                <a:cxn ang="0">
                  <a:pos x="T6" y="T7"/>
                </a:cxn>
                <a:cxn ang="0">
                  <a:pos x="T8" y="T9"/>
                </a:cxn>
              </a:cxnLst>
              <a:rect l="0" t="0" r="r" b="b"/>
              <a:pathLst>
                <a:path w="59" h="32">
                  <a:moveTo>
                    <a:pt x="37" y="1"/>
                  </a:moveTo>
                  <a:cubicBezTo>
                    <a:pt x="37" y="1"/>
                    <a:pt x="24" y="9"/>
                    <a:pt x="20" y="11"/>
                  </a:cubicBezTo>
                  <a:cubicBezTo>
                    <a:pt x="16" y="14"/>
                    <a:pt x="0" y="20"/>
                    <a:pt x="10" y="26"/>
                  </a:cubicBezTo>
                  <a:cubicBezTo>
                    <a:pt x="20" y="32"/>
                    <a:pt x="36" y="27"/>
                    <a:pt x="36" y="27"/>
                  </a:cubicBezTo>
                  <a:cubicBezTo>
                    <a:pt x="36" y="27"/>
                    <a:pt x="59" y="0"/>
                    <a:pt x="37"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61" name="Freeform 2015">
              <a:extLst>
                <a:ext uri="{FF2B5EF4-FFF2-40B4-BE49-F238E27FC236}">
                  <a16:creationId xmlns:a16="http://schemas.microsoft.com/office/drawing/2014/main" id="{8EF56730-342C-B313-8FD4-0DB20D010798}"/>
                </a:ext>
              </a:extLst>
            </p:cNvPr>
            <p:cNvSpPr>
              <a:spLocks noEditPoints="1"/>
            </p:cNvSpPr>
            <p:nvPr/>
          </p:nvSpPr>
          <p:spPr bwMode="auto">
            <a:xfrm>
              <a:off x="2082" y="823"/>
              <a:ext cx="12" cy="8"/>
            </a:xfrm>
            <a:custGeom>
              <a:avLst/>
              <a:gdLst>
                <a:gd name="T0" fmla="*/ 35 w 52"/>
                <a:gd name="T1" fmla="*/ 0 h 39"/>
                <a:gd name="T2" fmla="*/ 34 w 52"/>
                <a:gd name="T3" fmla="*/ 0 h 39"/>
                <a:gd name="T4" fmla="*/ 16 w 52"/>
                <a:gd name="T5" fmla="*/ 11 h 39"/>
                <a:gd name="T6" fmla="*/ 13 w 52"/>
                <a:gd name="T7" fmla="*/ 13 h 39"/>
                <a:gd name="T8" fmla="*/ 0 w 52"/>
                <a:gd name="T9" fmla="*/ 25 h 39"/>
                <a:gd name="T10" fmla="*/ 6 w 52"/>
                <a:gd name="T11" fmla="*/ 33 h 39"/>
                <a:gd name="T12" fmla="*/ 35 w 52"/>
                <a:gd name="T13" fmla="*/ 35 h 39"/>
                <a:gd name="T14" fmla="*/ 36 w 52"/>
                <a:gd name="T15" fmla="*/ 34 h 39"/>
                <a:gd name="T16" fmla="*/ 37 w 52"/>
                <a:gd name="T17" fmla="*/ 33 h 39"/>
                <a:gd name="T18" fmla="*/ 48 w 52"/>
                <a:gd name="T19" fmla="*/ 5 h 39"/>
                <a:gd name="T20" fmla="*/ 35 w 52"/>
                <a:gd name="T21" fmla="*/ 0 h 39"/>
                <a:gd name="T22" fmla="*/ 40 w 52"/>
                <a:gd name="T23" fmla="*/ 9 h 39"/>
                <a:gd name="T24" fmla="*/ 40 w 52"/>
                <a:gd name="T25" fmla="*/ 10 h 39"/>
                <a:gd name="T26" fmla="*/ 31 w 52"/>
                <a:gd name="T27" fmla="*/ 26 h 39"/>
                <a:gd name="T28" fmla="*/ 10 w 52"/>
                <a:gd name="T29" fmla="*/ 25 h 39"/>
                <a:gd name="T30" fmla="*/ 10 w 52"/>
                <a:gd name="T31" fmla="*/ 25 h 39"/>
                <a:gd name="T32" fmla="*/ 17 w 52"/>
                <a:gd name="T33" fmla="*/ 20 h 39"/>
                <a:gd name="T34" fmla="*/ 20 w 52"/>
                <a:gd name="T35" fmla="*/ 18 h 39"/>
                <a:gd name="T36" fmla="*/ 37 w 52"/>
                <a:gd name="T37" fmla="*/ 9 h 39"/>
                <a:gd name="T38" fmla="*/ 40 w 52"/>
                <a:gd name="T39" fmla="*/ 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2" h="39">
                  <a:moveTo>
                    <a:pt x="35" y="0"/>
                  </a:moveTo>
                  <a:cubicBezTo>
                    <a:pt x="34" y="0"/>
                    <a:pt x="34" y="0"/>
                    <a:pt x="34" y="0"/>
                  </a:cubicBezTo>
                  <a:cubicBezTo>
                    <a:pt x="16" y="11"/>
                    <a:pt x="16" y="11"/>
                    <a:pt x="16" y="11"/>
                  </a:cubicBezTo>
                  <a:cubicBezTo>
                    <a:pt x="13" y="13"/>
                    <a:pt x="13" y="13"/>
                    <a:pt x="13" y="13"/>
                  </a:cubicBezTo>
                  <a:cubicBezTo>
                    <a:pt x="7" y="15"/>
                    <a:pt x="0" y="19"/>
                    <a:pt x="0" y="25"/>
                  </a:cubicBezTo>
                  <a:cubicBezTo>
                    <a:pt x="0" y="27"/>
                    <a:pt x="1" y="30"/>
                    <a:pt x="6" y="33"/>
                  </a:cubicBezTo>
                  <a:cubicBezTo>
                    <a:pt x="17" y="39"/>
                    <a:pt x="34" y="35"/>
                    <a:pt x="35" y="35"/>
                  </a:cubicBezTo>
                  <a:cubicBezTo>
                    <a:pt x="36" y="34"/>
                    <a:pt x="36" y="34"/>
                    <a:pt x="36" y="34"/>
                  </a:cubicBezTo>
                  <a:cubicBezTo>
                    <a:pt x="37" y="33"/>
                    <a:pt x="37" y="33"/>
                    <a:pt x="37" y="33"/>
                  </a:cubicBezTo>
                  <a:cubicBezTo>
                    <a:pt x="41" y="29"/>
                    <a:pt x="52" y="14"/>
                    <a:pt x="48" y="5"/>
                  </a:cubicBezTo>
                  <a:cubicBezTo>
                    <a:pt x="46" y="1"/>
                    <a:pt x="42" y="0"/>
                    <a:pt x="35" y="0"/>
                  </a:cubicBezTo>
                  <a:close/>
                  <a:moveTo>
                    <a:pt x="40" y="9"/>
                  </a:moveTo>
                  <a:cubicBezTo>
                    <a:pt x="40" y="10"/>
                    <a:pt x="40" y="10"/>
                    <a:pt x="40" y="10"/>
                  </a:cubicBezTo>
                  <a:cubicBezTo>
                    <a:pt x="40" y="13"/>
                    <a:pt x="36" y="20"/>
                    <a:pt x="31" y="26"/>
                  </a:cubicBezTo>
                  <a:cubicBezTo>
                    <a:pt x="27" y="27"/>
                    <a:pt x="17" y="29"/>
                    <a:pt x="10" y="25"/>
                  </a:cubicBezTo>
                  <a:cubicBezTo>
                    <a:pt x="10" y="25"/>
                    <a:pt x="10" y="25"/>
                    <a:pt x="10" y="25"/>
                  </a:cubicBezTo>
                  <a:cubicBezTo>
                    <a:pt x="11" y="23"/>
                    <a:pt x="15" y="21"/>
                    <a:pt x="17" y="20"/>
                  </a:cubicBezTo>
                  <a:cubicBezTo>
                    <a:pt x="20" y="18"/>
                    <a:pt x="20" y="18"/>
                    <a:pt x="20" y="18"/>
                  </a:cubicBezTo>
                  <a:cubicBezTo>
                    <a:pt x="20" y="18"/>
                    <a:pt x="35" y="10"/>
                    <a:pt x="37" y="9"/>
                  </a:cubicBezTo>
                  <a:cubicBezTo>
                    <a:pt x="39" y="9"/>
                    <a:pt x="40" y="9"/>
                    <a:pt x="40"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62" name="Freeform 2016">
              <a:extLst>
                <a:ext uri="{FF2B5EF4-FFF2-40B4-BE49-F238E27FC236}">
                  <a16:creationId xmlns:a16="http://schemas.microsoft.com/office/drawing/2014/main" id="{1F7313CA-7533-B0B7-C524-7880D9478CAA}"/>
                </a:ext>
              </a:extLst>
            </p:cNvPr>
            <p:cNvSpPr>
              <a:spLocks/>
            </p:cNvSpPr>
            <p:nvPr/>
          </p:nvSpPr>
          <p:spPr bwMode="auto">
            <a:xfrm>
              <a:off x="2076" y="792"/>
              <a:ext cx="9" cy="5"/>
            </a:xfrm>
            <a:custGeom>
              <a:avLst/>
              <a:gdLst>
                <a:gd name="T0" fmla="*/ 21 w 42"/>
                <a:gd name="T1" fmla="*/ 1 h 24"/>
                <a:gd name="T2" fmla="*/ 5 w 42"/>
                <a:gd name="T3" fmla="*/ 10 h 24"/>
                <a:gd name="T4" fmla="*/ 12 w 42"/>
                <a:gd name="T5" fmla="*/ 23 h 24"/>
                <a:gd name="T6" fmla="*/ 21 w 42"/>
                <a:gd name="T7" fmla="*/ 1 h 24"/>
              </a:gdLst>
              <a:ahLst/>
              <a:cxnLst>
                <a:cxn ang="0">
                  <a:pos x="T0" y="T1"/>
                </a:cxn>
                <a:cxn ang="0">
                  <a:pos x="T2" y="T3"/>
                </a:cxn>
                <a:cxn ang="0">
                  <a:pos x="T4" y="T5"/>
                </a:cxn>
                <a:cxn ang="0">
                  <a:pos x="T6" y="T7"/>
                </a:cxn>
              </a:cxnLst>
              <a:rect l="0" t="0" r="r" b="b"/>
              <a:pathLst>
                <a:path w="42" h="24">
                  <a:moveTo>
                    <a:pt x="21" y="1"/>
                  </a:moveTo>
                  <a:cubicBezTo>
                    <a:pt x="21" y="1"/>
                    <a:pt x="0" y="1"/>
                    <a:pt x="5" y="10"/>
                  </a:cubicBezTo>
                  <a:cubicBezTo>
                    <a:pt x="9" y="18"/>
                    <a:pt x="0" y="21"/>
                    <a:pt x="12" y="23"/>
                  </a:cubicBezTo>
                  <a:cubicBezTo>
                    <a:pt x="23" y="24"/>
                    <a:pt x="42" y="0"/>
                    <a:pt x="21"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63" name="Freeform 2017">
              <a:extLst>
                <a:ext uri="{FF2B5EF4-FFF2-40B4-BE49-F238E27FC236}">
                  <a16:creationId xmlns:a16="http://schemas.microsoft.com/office/drawing/2014/main" id="{0BC807C8-B078-75B1-D1B8-0A1B356C2DE9}"/>
                </a:ext>
              </a:extLst>
            </p:cNvPr>
            <p:cNvSpPr>
              <a:spLocks noEditPoints="1"/>
            </p:cNvSpPr>
            <p:nvPr/>
          </p:nvSpPr>
          <p:spPr bwMode="auto">
            <a:xfrm>
              <a:off x="2076" y="791"/>
              <a:ext cx="8" cy="7"/>
            </a:xfrm>
            <a:custGeom>
              <a:avLst/>
              <a:gdLst>
                <a:gd name="T0" fmla="*/ 21 w 37"/>
                <a:gd name="T1" fmla="*/ 1 h 32"/>
                <a:gd name="T2" fmla="*/ 22 w 37"/>
                <a:gd name="T3" fmla="*/ 1 h 32"/>
                <a:gd name="T4" fmla="*/ 2 w 37"/>
                <a:gd name="T5" fmla="*/ 7 h 32"/>
                <a:gd name="T6" fmla="*/ 2 w 37"/>
                <a:gd name="T7" fmla="*/ 16 h 32"/>
                <a:gd name="T8" fmla="*/ 2 w 37"/>
                <a:gd name="T9" fmla="*/ 21 h 32"/>
                <a:gd name="T10" fmla="*/ 3 w 37"/>
                <a:gd name="T11" fmla="*/ 27 h 32"/>
                <a:gd name="T12" fmla="*/ 12 w 37"/>
                <a:gd name="T13" fmla="*/ 31 h 32"/>
                <a:gd name="T14" fmla="*/ 33 w 37"/>
                <a:gd name="T15" fmla="*/ 19 h 32"/>
                <a:gd name="T16" fmla="*/ 35 w 37"/>
                <a:gd name="T17" fmla="*/ 6 h 32"/>
                <a:gd name="T18" fmla="*/ 21 w 37"/>
                <a:gd name="T19" fmla="*/ 1 h 32"/>
                <a:gd name="T20" fmla="*/ 11 w 37"/>
                <a:gd name="T21" fmla="*/ 19 h 32"/>
                <a:gd name="T22" fmla="*/ 10 w 37"/>
                <a:gd name="T23" fmla="*/ 12 h 32"/>
                <a:gd name="T24" fmla="*/ 22 w 37"/>
                <a:gd name="T25" fmla="*/ 9 h 32"/>
                <a:gd name="T26" fmla="*/ 22 w 37"/>
                <a:gd name="T27" fmla="*/ 9 h 32"/>
                <a:gd name="T28" fmla="*/ 27 w 37"/>
                <a:gd name="T29" fmla="*/ 10 h 32"/>
                <a:gd name="T30" fmla="*/ 25 w 37"/>
                <a:gd name="T31" fmla="*/ 15 h 32"/>
                <a:gd name="T32" fmla="*/ 13 w 37"/>
                <a:gd name="T33" fmla="*/ 22 h 32"/>
                <a:gd name="T34" fmla="*/ 11 w 37"/>
                <a:gd name="T35" fmla="*/ 22 h 32"/>
                <a:gd name="T36" fmla="*/ 11 w 37"/>
                <a:gd name="T37" fmla="*/ 19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7" h="32">
                  <a:moveTo>
                    <a:pt x="21" y="1"/>
                  </a:moveTo>
                  <a:cubicBezTo>
                    <a:pt x="22" y="1"/>
                    <a:pt x="22" y="1"/>
                    <a:pt x="22" y="1"/>
                  </a:cubicBezTo>
                  <a:cubicBezTo>
                    <a:pt x="18" y="1"/>
                    <a:pt x="6" y="1"/>
                    <a:pt x="2" y="7"/>
                  </a:cubicBezTo>
                  <a:cubicBezTo>
                    <a:pt x="1" y="9"/>
                    <a:pt x="0" y="12"/>
                    <a:pt x="2" y="16"/>
                  </a:cubicBezTo>
                  <a:cubicBezTo>
                    <a:pt x="3" y="18"/>
                    <a:pt x="3" y="19"/>
                    <a:pt x="2" y="21"/>
                  </a:cubicBezTo>
                  <a:cubicBezTo>
                    <a:pt x="3" y="27"/>
                    <a:pt x="3" y="27"/>
                    <a:pt x="3" y="27"/>
                  </a:cubicBezTo>
                  <a:cubicBezTo>
                    <a:pt x="5" y="30"/>
                    <a:pt x="8" y="31"/>
                    <a:pt x="12" y="31"/>
                  </a:cubicBezTo>
                  <a:cubicBezTo>
                    <a:pt x="20" y="32"/>
                    <a:pt x="28" y="26"/>
                    <a:pt x="33" y="19"/>
                  </a:cubicBezTo>
                  <a:cubicBezTo>
                    <a:pt x="36" y="14"/>
                    <a:pt x="37" y="9"/>
                    <a:pt x="35" y="6"/>
                  </a:cubicBezTo>
                  <a:cubicBezTo>
                    <a:pt x="32" y="2"/>
                    <a:pt x="28" y="0"/>
                    <a:pt x="21" y="1"/>
                  </a:cubicBezTo>
                  <a:close/>
                  <a:moveTo>
                    <a:pt x="11" y="19"/>
                  </a:moveTo>
                  <a:cubicBezTo>
                    <a:pt x="11" y="17"/>
                    <a:pt x="11" y="15"/>
                    <a:pt x="10" y="12"/>
                  </a:cubicBezTo>
                  <a:cubicBezTo>
                    <a:pt x="10" y="11"/>
                    <a:pt x="16" y="9"/>
                    <a:pt x="22" y="9"/>
                  </a:cubicBezTo>
                  <a:cubicBezTo>
                    <a:pt x="22" y="9"/>
                    <a:pt x="22" y="9"/>
                    <a:pt x="22" y="9"/>
                  </a:cubicBezTo>
                  <a:cubicBezTo>
                    <a:pt x="26" y="9"/>
                    <a:pt x="27" y="10"/>
                    <a:pt x="27" y="10"/>
                  </a:cubicBezTo>
                  <a:cubicBezTo>
                    <a:pt x="27" y="11"/>
                    <a:pt x="27" y="12"/>
                    <a:pt x="25" y="15"/>
                  </a:cubicBezTo>
                  <a:cubicBezTo>
                    <a:pt x="22" y="20"/>
                    <a:pt x="16" y="23"/>
                    <a:pt x="13" y="22"/>
                  </a:cubicBezTo>
                  <a:cubicBezTo>
                    <a:pt x="13" y="22"/>
                    <a:pt x="12" y="22"/>
                    <a:pt x="11" y="22"/>
                  </a:cubicBezTo>
                  <a:cubicBezTo>
                    <a:pt x="11" y="21"/>
                    <a:pt x="11" y="20"/>
                    <a:pt x="11"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64" name="Freeform 2018">
              <a:extLst>
                <a:ext uri="{FF2B5EF4-FFF2-40B4-BE49-F238E27FC236}">
                  <a16:creationId xmlns:a16="http://schemas.microsoft.com/office/drawing/2014/main" id="{0E7893BA-FE33-DDEC-500A-4DA9E190BB9C}"/>
                </a:ext>
              </a:extLst>
            </p:cNvPr>
            <p:cNvSpPr>
              <a:spLocks/>
            </p:cNvSpPr>
            <p:nvPr/>
          </p:nvSpPr>
          <p:spPr bwMode="auto">
            <a:xfrm>
              <a:off x="2077" y="743"/>
              <a:ext cx="11" cy="5"/>
            </a:xfrm>
            <a:custGeom>
              <a:avLst/>
              <a:gdLst>
                <a:gd name="T0" fmla="*/ 24 w 47"/>
                <a:gd name="T1" fmla="*/ 0 h 22"/>
                <a:gd name="T2" fmla="*/ 0 w 47"/>
                <a:gd name="T3" fmla="*/ 11 h 22"/>
                <a:gd name="T4" fmla="*/ 14 w 47"/>
                <a:gd name="T5" fmla="*/ 20 h 22"/>
                <a:gd name="T6" fmla="*/ 24 w 47"/>
                <a:gd name="T7" fmla="*/ 0 h 22"/>
              </a:gdLst>
              <a:ahLst/>
              <a:cxnLst>
                <a:cxn ang="0">
                  <a:pos x="T0" y="T1"/>
                </a:cxn>
                <a:cxn ang="0">
                  <a:pos x="T2" y="T3"/>
                </a:cxn>
                <a:cxn ang="0">
                  <a:pos x="T4" y="T5"/>
                </a:cxn>
                <a:cxn ang="0">
                  <a:pos x="T6" y="T7"/>
                </a:cxn>
              </a:cxnLst>
              <a:rect l="0" t="0" r="r" b="b"/>
              <a:pathLst>
                <a:path w="47" h="22">
                  <a:moveTo>
                    <a:pt x="24" y="0"/>
                  </a:moveTo>
                  <a:cubicBezTo>
                    <a:pt x="24" y="0"/>
                    <a:pt x="0" y="1"/>
                    <a:pt x="0" y="11"/>
                  </a:cubicBezTo>
                  <a:cubicBezTo>
                    <a:pt x="0" y="22"/>
                    <a:pt x="0" y="22"/>
                    <a:pt x="14" y="20"/>
                  </a:cubicBezTo>
                  <a:cubicBezTo>
                    <a:pt x="29" y="19"/>
                    <a:pt x="47" y="1"/>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65" name="Freeform 2019">
              <a:extLst>
                <a:ext uri="{FF2B5EF4-FFF2-40B4-BE49-F238E27FC236}">
                  <a16:creationId xmlns:a16="http://schemas.microsoft.com/office/drawing/2014/main" id="{5C7AA081-5A9F-7478-5CF4-2B02B5A13CEA}"/>
                </a:ext>
              </a:extLst>
            </p:cNvPr>
            <p:cNvSpPr>
              <a:spLocks noEditPoints="1"/>
            </p:cNvSpPr>
            <p:nvPr/>
          </p:nvSpPr>
          <p:spPr bwMode="auto">
            <a:xfrm>
              <a:off x="2076" y="743"/>
              <a:ext cx="10" cy="6"/>
            </a:xfrm>
            <a:custGeom>
              <a:avLst/>
              <a:gdLst>
                <a:gd name="T0" fmla="*/ 29 w 45"/>
                <a:gd name="T1" fmla="*/ 0 h 30"/>
                <a:gd name="T2" fmla="*/ 0 w 45"/>
                <a:gd name="T3" fmla="*/ 15 h 30"/>
                <a:gd name="T4" fmla="*/ 3 w 45"/>
                <a:gd name="T5" fmla="*/ 27 h 30"/>
                <a:gd name="T6" fmla="*/ 20 w 45"/>
                <a:gd name="T7" fmla="*/ 28 h 30"/>
                <a:gd name="T8" fmla="*/ 44 w 45"/>
                <a:gd name="T9" fmla="*/ 9 h 30"/>
                <a:gd name="T10" fmla="*/ 29 w 45"/>
                <a:gd name="T11" fmla="*/ 0 h 30"/>
                <a:gd name="T12" fmla="*/ 29 w 45"/>
                <a:gd name="T13" fmla="*/ 0 h 30"/>
                <a:gd name="T14" fmla="*/ 9 w 45"/>
                <a:gd name="T15" fmla="*/ 18 h 30"/>
                <a:gd name="T16" fmla="*/ 9 w 45"/>
                <a:gd name="T17" fmla="*/ 15 h 30"/>
                <a:gd name="T18" fmla="*/ 29 w 45"/>
                <a:gd name="T19" fmla="*/ 8 h 30"/>
                <a:gd name="T20" fmla="*/ 36 w 45"/>
                <a:gd name="T21" fmla="*/ 10 h 30"/>
                <a:gd name="T22" fmla="*/ 19 w 45"/>
                <a:gd name="T23" fmla="*/ 20 h 30"/>
                <a:gd name="T24" fmla="*/ 9 w 45"/>
                <a:gd name="T25" fmla="*/ 20 h 30"/>
                <a:gd name="T26" fmla="*/ 9 w 45"/>
                <a:gd name="T27" fmla="*/ 18 h 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45" h="30">
                  <a:moveTo>
                    <a:pt x="29" y="0"/>
                  </a:moveTo>
                  <a:cubicBezTo>
                    <a:pt x="24" y="0"/>
                    <a:pt x="0" y="2"/>
                    <a:pt x="0" y="15"/>
                  </a:cubicBezTo>
                  <a:cubicBezTo>
                    <a:pt x="0" y="21"/>
                    <a:pt x="0" y="24"/>
                    <a:pt x="3" y="27"/>
                  </a:cubicBezTo>
                  <a:cubicBezTo>
                    <a:pt x="6" y="30"/>
                    <a:pt x="10" y="29"/>
                    <a:pt x="20" y="28"/>
                  </a:cubicBezTo>
                  <a:cubicBezTo>
                    <a:pt x="31" y="27"/>
                    <a:pt x="45" y="18"/>
                    <a:pt x="44" y="9"/>
                  </a:cubicBezTo>
                  <a:cubicBezTo>
                    <a:pt x="44" y="6"/>
                    <a:pt x="42" y="0"/>
                    <a:pt x="29" y="0"/>
                  </a:cubicBezTo>
                  <a:cubicBezTo>
                    <a:pt x="29" y="0"/>
                    <a:pt x="29" y="0"/>
                    <a:pt x="29" y="0"/>
                  </a:cubicBezTo>
                  <a:close/>
                  <a:moveTo>
                    <a:pt x="9" y="18"/>
                  </a:moveTo>
                  <a:cubicBezTo>
                    <a:pt x="9" y="16"/>
                    <a:pt x="9" y="15"/>
                    <a:pt x="9" y="15"/>
                  </a:cubicBezTo>
                  <a:cubicBezTo>
                    <a:pt x="9" y="12"/>
                    <a:pt x="20" y="9"/>
                    <a:pt x="29" y="8"/>
                  </a:cubicBezTo>
                  <a:cubicBezTo>
                    <a:pt x="35" y="9"/>
                    <a:pt x="36" y="10"/>
                    <a:pt x="36" y="10"/>
                  </a:cubicBezTo>
                  <a:cubicBezTo>
                    <a:pt x="36" y="12"/>
                    <a:pt x="27" y="19"/>
                    <a:pt x="19" y="20"/>
                  </a:cubicBezTo>
                  <a:cubicBezTo>
                    <a:pt x="14" y="20"/>
                    <a:pt x="10" y="21"/>
                    <a:pt x="9" y="20"/>
                  </a:cubicBezTo>
                  <a:cubicBezTo>
                    <a:pt x="9" y="20"/>
                    <a:pt x="9" y="19"/>
                    <a:pt x="9"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66" name="Freeform 2020">
              <a:extLst>
                <a:ext uri="{FF2B5EF4-FFF2-40B4-BE49-F238E27FC236}">
                  <a16:creationId xmlns:a16="http://schemas.microsoft.com/office/drawing/2014/main" id="{8572B8B8-8275-205A-031C-69044ECD88A2}"/>
                </a:ext>
              </a:extLst>
            </p:cNvPr>
            <p:cNvSpPr>
              <a:spLocks/>
            </p:cNvSpPr>
            <p:nvPr/>
          </p:nvSpPr>
          <p:spPr bwMode="auto">
            <a:xfrm>
              <a:off x="2163" y="643"/>
              <a:ext cx="13" cy="10"/>
            </a:xfrm>
            <a:custGeom>
              <a:avLst/>
              <a:gdLst>
                <a:gd name="T0" fmla="*/ 33 w 61"/>
                <a:gd name="T1" fmla="*/ 4 h 43"/>
                <a:gd name="T2" fmla="*/ 15 w 61"/>
                <a:gd name="T3" fmla="*/ 31 h 43"/>
                <a:gd name="T4" fmla="*/ 33 w 61"/>
                <a:gd name="T5" fmla="*/ 4 h 43"/>
              </a:gdLst>
              <a:ahLst/>
              <a:cxnLst>
                <a:cxn ang="0">
                  <a:pos x="T0" y="T1"/>
                </a:cxn>
                <a:cxn ang="0">
                  <a:pos x="T2" y="T3"/>
                </a:cxn>
                <a:cxn ang="0">
                  <a:pos x="T4" y="T5"/>
                </a:cxn>
              </a:cxnLst>
              <a:rect l="0" t="0" r="r" b="b"/>
              <a:pathLst>
                <a:path w="61" h="43">
                  <a:moveTo>
                    <a:pt x="33" y="4"/>
                  </a:moveTo>
                  <a:cubicBezTo>
                    <a:pt x="33" y="4"/>
                    <a:pt x="0" y="20"/>
                    <a:pt x="15" y="31"/>
                  </a:cubicBezTo>
                  <a:cubicBezTo>
                    <a:pt x="29" y="43"/>
                    <a:pt x="61" y="0"/>
                    <a:pt x="3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67" name="Freeform 2021">
              <a:extLst>
                <a:ext uri="{FF2B5EF4-FFF2-40B4-BE49-F238E27FC236}">
                  <a16:creationId xmlns:a16="http://schemas.microsoft.com/office/drawing/2014/main" id="{6B2BA549-8486-F6F3-05A4-4A01F6CEB249}"/>
                </a:ext>
              </a:extLst>
            </p:cNvPr>
            <p:cNvSpPr>
              <a:spLocks noEditPoints="1"/>
            </p:cNvSpPr>
            <p:nvPr/>
          </p:nvSpPr>
          <p:spPr bwMode="auto">
            <a:xfrm>
              <a:off x="2164" y="643"/>
              <a:ext cx="10" cy="9"/>
            </a:xfrm>
            <a:custGeom>
              <a:avLst/>
              <a:gdLst>
                <a:gd name="T0" fmla="*/ 27 w 45"/>
                <a:gd name="T1" fmla="*/ 2 h 41"/>
                <a:gd name="T2" fmla="*/ 26 w 45"/>
                <a:gd name="T3" fmla="*/ 2 h 41"/>
                <a:gd name="T4" fmla="*/ 26 w 45"/>
                <a:gd name="T5" fmla="*/ 2 h 41"/>
                <a:gd name="T6" fmla="*/ 1 w 45"/>
                <a:gd name="T7" fmla="*/ 26 h 41"/>
                <a:gd name="T8" fmla="*/ 6 w 45"/>
                <a:gd name="T9" fmla="*/ 37 h 41"/>
                <a:gd name="T10" fmla="*/ 28 w 45"/>
                <a:gd name="T11" fmla="*/ 34 h 41"/>
                <a:gd name="T12" fmla="*/ 42 w 45"/>
                <a:gd name="T13" fmla="*/ 7 h 41"/>
                <a:gd name="T14" fmla="*/ 27 w 45"/>
                <a:gd name="T15" fmla="*/ 2 h 41"/>
                <a:gd name="T16" fmla="*/ 34 w 45"/>
                <a:gd name="T17" fmla="*/ 11 h 41"/>
                <a:gd name="T18" fmla="*/ 23 w 45"/>
                <a:gd name="T19" fmla="*/ 27 h 41"/>
                <a:gd name="T20" fmla="*/ 11 w 45"/>
                <a:gd name="T21" fmla="*/ 30 h 41"/>
                <a:gd name="T22" fmla="*/ 9 w 45"/>
                <a:gd name="T23" fmla="*/ 27 h 41"/>
                <a:gd name="T24" fmla="*/ 9 w 45"/>
                <a:gd name="T25" fmla="*/ 27 h 41"/>
                <a:gd name="T26" fmla="*/ 29 w 45"/>
                <a:gd name="T27" fmla="*/ 10 h 41"/>
                <a:gd name="T28" fmla="*/ 34 w 45"/>
                <a:gd name="T29" fmla="*/ 11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5" h="41">
                  <a:moveTo>
                    <a:pt x="27" y="2"/>
                  </a:moveTo>
                  <a:cubicBezTo>
                    <a:pt x="26" y="2"/>
                    <a:pt x="26" y="2"/>
                    <a:pt x="26" y="2"/>
                  </a:cubicBezTo>
                  <a:cubicBezTo>
                    <a:pt x="26" y="2"/>
                    <a:pt x="26" y="2"/>
                    <a:pt x="26" y="2"/>
                  </a:cubicBezTo>
                  <a:cubicBezTo>
                    <a:pt x="22" y="4"/>
                    <a:pt x="2" y="14"/>
                    <a:pt x="1" y="26"/>
                  </a:cubicBezTo>
                  <a:cubicBezTo>
                    <a:pt x="0" y="28"/>
                    <a:pt x="1" y="33"/>
                    <a:pt x="6" y="37"/>
                  </a:cubicBezTo>
                  <a:cubicBezTo>
                    <a:pt x="12" y="41"/>
                    <a:pt x="20" y="40"/>
                    <a:pt x="28" y="34"/>
                  </a:cubicBezTo>
                  <a:cubicBezTo>
                    <a:pt x="37" y="27"/>
                    <a:pt x="45" y="15"/>
                    <a:pt x="42" y="7"/>
                  </a:cubicBezTo>
                  <a:cubicBezTo>
                    <a:pt x="40" y="4"/>
                    <a:pt x="37" y="0"/>
                    <a:pt x="27" y="2"/>
                  </a:cubicBezTo>
                  <a:close/>
                  <a:moveTo>
                    <a:pt x="34" y="11"/>
                  </a:moveTo>
                  <a:cubicBezTo>
                    <a:pt x="35" y="13"/>
                    <a:pt x="31" y="21"/>
                    <a:pt x="23" y="27"/>
                  </a:cubicBezTo>
                  <a:cubicBezTo>
                    <a:pt x="21" y="29"/>
                    <a:pt x="15" y="33"/>
                    <a:pt x="11" y="30"/>
                  </a:cubicBezTo>
                  <a:cubicBezTo>
                    <a:pt x="10" y="29"/>
                    <a:pt x="9" y="27"/>
                    <a:pt x="9" y="27"/>
                  </a:cubicBezTo>
                  <a:cubicBezTo>
                    <a:pt x="9" y="27"/>
                    <a:pt x="9" y="27"/>
                    <a:pt x="9" y="27"/>
                  </a:cubicBezTo>
                  <a:cubicBezTo>
                    <a:pt x="10" y="21"/>
                    <a:pt x="21" y="14"/>
                    <a:pt x="29" y="10"/>
                  </a:cubicBezTo>
                  <a:cubicBezTo>
                    <a:pt x="32" y="10"/>
                    <a:pt x="34" y="10"/>
                    <a:pt x="34"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68" name="Freeform 2022">
              <a:extLst>
                <a:ext uri="{FF2B5EF4-FFF2-40B4-BE49-F238E27FC236}">
                  <a16:creationId xmlns:a16="http://schemas.microsoft.com/office/drawing/2014/main" id="{BFFA6FEE-2335-05DD-1612-37BB38D69D10}"/>
                </a:ext>
              </a:extLst>
            </p:cNvPr>
            <p:cNvSpPr>
              <a:spLocks/>
            </p:cNvSpPr>
            <p:nvPr/>
          </p:nvSpPr>
          <p:spPr bwMode="auto">
            <a:xfrm>
              <a:off x="2206" y="627"/>
              <a:ext cx="11" cy="8"/>
            </a:xfrm>
            <a:custGeom>
              <a:avLst/>
              <a:gdLst>
                <a:gd name="T0" fmla="*/ 35 w 53"/>
                <a:gd name="T1" fmla="*/ 1 h 35"/>
                <a:gd name="T2" fmla="*/ 11 w 53"/>
                <a:gd name="T3" fmla="*/ 22 h 35"/>
                <a:gd name="T4" fmla="*/ 42 w 53"/>
                <a:gd name="T5" fmla="*/ 20 h 35"/>
                <a:gd name="T6" fmla="*/ 35 w 53"/>
                <a:gd name="T7" fmla="*/ 1 h 35"/>
              </a:gdLst>
              <a:ahLst/>
              <a:cxnLst>
                <a:cxn ang="0">
                  <a:pos x="T0" y="T1"/>
                </a:cxn>
                <a:cxn ang="0">
                  <a:pos x="T2" y="T3"/>
                </a:cxn>
                <a:cxn ang="0">
                  <a:pos x="T4" y="T5"/>
                </a:cxn>
                <a:cxn ang="0">
                  <a:pos x="T6" y="T7"/>
                </a:cxn>
              </a:cxnLst>
              <a:rect l="0" t="0" r="r" b="b"/>
              <a:pathLst>
                <a:path w="53" h="35">
                  <a:moveTo>
                    <a:pt x="35" y="1"/>
                  </a:moveTo>
                  <a:cubicBezTo>
                    <a:pt x="35" y="1"/>
                    <a:pt x="0" y="9"/>
                    <a:pt x="11" y="22"/>
                  </a:cubicBezTo>
                  <a:cubicBezTo>
                    <a:pt x="23" y="35"/>
                    <a:pt x="30" y="27"/>
                    <a:pt x="42" y="20"/>
                  </a:cubicBezTo>
                  <a:cubicBezTo>
                    <a:pt x="53" y="13"/>
                    <a:pt x="53" y="0"/>
                    <a:pt x="3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69" name="Freeform 2023">
              <a:extLst>
                <a:ext uri="{FF2B5EF4-FFF2-40B4-BE49-F238E27FC236}">
                  <a16:creationId xmlns:a16="http://schemas.microsoft.com/office/drawing/2014/main" id="{6881154F-9B11-50E7-1188-AD56E57F7D62}"/>
                </a:ext>
              </a:extLst>
            </p:cNvPr>
            <p:cNvSpPr>
              <a:spLocks noEditPoints="1"/>
            </p:cNvSpPr>
            <p:nvPr/>
          </p:nvSpPr>
          <p:spPr bwMode="auto">
            <a:xfrm>
              <a:off x="2207" y="626"/>
              <a:ext cx="11" cy="9"/>
            </a:xfrm>
            <a:custGeom>
              <a:avLst/>
              <a:gdLst>
                <a:gd name="T0" fmla="*/ 30 w 51"/>
                <a:gd name="T1" fmla="*/ 1 h 43"/>
                <a:gd name="T2" fmla="*/ 30 w 51"/>
                <a:gd name="T3" fmla="*/ 1 h 43"/>
                <a:gd name="T4" fmla="*/ 30 w 51"/>
                <a:gd name="T5" fmla="*/ 1 h 43"/>
                <a:gd name="T6" fmla="*/ 1 w 51"/>
                <a:gd name="T7" fmla="*/ 17 h 43"/>
                <a:gd name="T8" fmla="*/ 4 w 51"/>
                <a:gd name="T9" fmla="*/ 29 h 43"/>
                <a:gd name="T10" fmla="*/ 36 w 51"/>
                <a:gd name="T11" fmla="*/ 30 h 43"/>
                <a:gd name="T12" fmla="*/ 40 w 51"/>
                <a:gd name="T13" fmla="*/ 28 h 43"/>
                <a:gd name="T14" fmla="*/ 49 w 51"/>
                <a:gd name="T15" fmla="*/ 10 h 43"/>
                <a:gd name="T16" fmla="*/ 30 w 51"/>
                <a:gd name="T17" fmla="*/ 1 h 43"/>
                <a:gd name="T18" fmla="*/ 41 w 51"/>
                <a:gd name="T19" fmla="*/ 12 h 43"/>
                <a:gd name="T20" fmla="*/ 35 w 51"/>
                <a:gd name="T21" fmla="*/ 21 h 43"/>
                <a:gd name="T22" fmla="*/ 32 w 51"/>
                <a:gd name="T23" fmla="*/ 23 h 43"/>
                <a:gd name="T24" fmla="*/ 11 w 51"/>
                <a:gd name="T25" fmla="*/ 23 h 43"/>
                <a:gd name="T26" fmla="*/ 9 w 51"/>
                <a:gd name="T27" fmla="*/ 20 h 43"/>
                <a:gd name="T28" fmla="*/ 9 w 51"/>
                <a:gd name="T29" fmla="*/ 20 h 43"/>
                <a:gd name="T30" fmla="*/ 31 w 51"/>
                <a:gd name="T31" fmla="*/ 10 h 43"/>
                <a:gd name="T32" fmla="*/ 41 w 51"/>
                <a:gd name="T33" fmla="*/ 12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43">
                  <a:moveTo>
                    <a:pt x="30" y="1"/>
                  </a:moveTo>
                  <a:cubicBezTo>
                    <a:pt x="30" y="1"/>
                    <a:pt x="30" y="1"/>
                    <a:pt x="30" y="1"/>
                  </a:cubicBezTo>
                  <a:cubicBezTo>
                    <a:pt x="30" y="1"/>
                    <a:pt x="30" y="1"/>
                    <a:pt x="30" y="1"/>
                  </a:cubicBezTo>
                  <a:cubicBezTo>
                    <a:pt x="26" y="2"/>
                    <a:pt x="5" y="7"/>
                    <a:pt x="1" y="17"/>
                  </a:cubicBezTo>
                  <a:cubicBezTo>
                    <a:pt x="0" y="20"/>
                    <a:pt x="0" y="24"/>
                    <a:pt x="4" y="29"/>
                  </a:cubicBezTo>
                  <a:cubicBezTo>
                    <a:pt x="17" y="43"/>
                    <a:pt x="27" y="36"/>
                    <a:pt x="36" y="30"/>
                  </a:cubicBezTo>
                  <a:cubicBezTo>
                    <a:pt x="40" y="28"/>
                    <a:pt x="40" y="28"/>
                    <a:pt x="40" y="28"/>
                  </a:cubicBezTo>
                  <a:cubicBezTo>
                    <a:pt x="48" y="23"/>
                    <a:pt x="51" y="16"/>
                    <a:pt x="49" y="10"/>
                  </a:cubicBezTo>
                  <a:cubicBezTo>
                    <a:pt x="48" y="7"/>
                    <a:pt x="45" y="0"/>
                    <a:pt x="30" y="1"/>
                  </a:cubicBezTo>
                  <a:close/>
                  <a:moveTo>
                    <a:pt x="41" y="12"/>
                  </a:moveTo>
                  <a:cubicBezTo>
                    <a:pt x="42" y="14"/>
                    <a:pt x="40" y="18"/>
                    <a:pt x="35" y="21"/>
                  </a:cubicBezTo>
                  <a:cubicBezTo>
                    <a:pt x="32" y="23"/>
                    <a:pt x="32" y="23"/>
                    <a:pt x="32" y="23"/>
                  </a:cubicBezTo>
                  <a:cubicBezTo>
                    <a:pt x="22" y="29"/>
                    <a:pt x="18" y="32"/>
                    <a:pt x="11" y="23"/>
                  </a:cubicBezTo>
                  <a:cubicBezTo>
                    <a:pt x="10" y="22"/>
                    <a:pt x="9" y="21"/>
                    <a:pt x="9" y="20"/>
                  </a:cubicBezTo>
                  <a:cubicBezTo>
                    <a:pt x="9" y="20"/>
                    <a:pt x="9" y="20"/>
                    <a:pt x="9" y="20"/>
                  </a:cubicBezTo>
                  <a:cubicBezTo>
                    <a:pt x="11" y="16"/>
                    <a:pt x="22" y="12"/>
                    <a:pt x="31" y="10"/>
                  </a:cubicBezTo>
                  <a:cubicBezTo>
                    <a:pt x="37" y="9"/>
                    <a:pt x="41" y="11"/>
                    <a:pt x="41"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70" name="Freeform 2024">
              <a:extLst>
                <a:ext uri="{FF2B5EF4-FFF2-40B4-BE49-F238E27FC236}">
                  <a16:creationId xmlns:a16="http://schemas.microsoft.com/office/drawing/2014/main" id="{57022458-7322-900D-E883-74AAEC25B773}"/>
                </a:ext>
              </a:extLst>
            </p:cNvPr>
            <p:cNvSpPr>
              <a:spLocks/>
            </p:cNvSpPr>
            <p:nvPr/>
          </p:nvSpPr>
          <p:spPr bwMode="auto">
            <a:xfrm>
              <a:off x="2221" y="611"/>
              <a:ext cx="28" cy="15"/>
            </a:xfrm>
            <a:custGeom>
              <a:avLst/>
              <a:gdLst>
                <a:gd name="T0" fmla="*/ 0 w 124"/>
                <a:gd name="T1" fmla="*/ 48 h 68"/>
                <a:gd name="T2" fmla="*/ 88 w 124"/>
                <a:gd name="T3" fmla="*/ 0 h 68"/>
                <a:gd name="T4" fmla="*/ 95 w 124"/>
                <a:gd name="T5" fmla="*/ 29 h 68"/>
                <a:gd name="T6" fmla="*/ 46 w 124"/>
                <a:gd name="T7" fmla="*/ 40 h 68"/>
                <a:gd name="T8" fmla="*/ 14 w 124"/>
                <a:gd name="T9" fmla="*/ 60 h 68"/>
                <a:gd name="T10" fmla="*/ 0 w 124"/>
                <a:gd name="T11" fmla="*/ 48 h 68"/>
              </a:gdLst>
              <a:ahLst/>
              <a:cxnLst>
                <a:cxn ang="0">
                  <a:pos x="T0" y="T1"/>
                </a:cxn>
                <a:cxn ang="0">
                  <a:pos x="T2" y="T3"/>
                </a:cxn>
                <a:cxn ang="0">
                  <a:pos x="T4" y="T5"/>
                </a:cxn>
                <a:cxn ang="0">
                  <a:pos x="T6" y="T7"/>
                </a:cxn>
                <a:cxn ang="0">
                  <a:pos x="T8" y="T9"/>
                </a:cxn>
                <a:cxn ang="0">
                  <a:pos x="T10" y="T11"/>
                </a:cxn>
              </a:cxnLst>
              <a:rect l="0" t="0" r="r" b="b"/>
              <a:pathLst>
                <a:path w="124" h="68">
                  <a:moveTo>
                    <a:pt x="0" y="48"/>
                  </a:moveTo>
                  <a:cubicBezTo>
                    <a:pt x="0" y="48"/>
                    <a:pt x="57" y="0"/>
                    <a:pt x="88" y="0"/>
                  </a:cubicBezTo>
                  <a:cubicBezTo>
                    <a:pt x="118" y="0"/>
                    <a:pt x="124" y="24"/>
                    <a:pt x="95" y="29"/>
                  </a:cubicBezTo>
                  <a:cubicBezTo>
                    <a:pt x="66" y="33"/>
                    <a:pt x="56" y="33"/>
                    <a:pt x="46" y="40"/>
                  </a:cubicBezTo>
                  <a:cubicBezTo>
                    <a:pt x="36" y="48"/>
                    <a:pt x="27" y="60"/>
                    <a:pt x="14" y="60"/>
                  </a:cubicBezTo>
                  <a:cubicBezTo>
                    <a:pt x="1" y="60"/>
                    <a:pt x="0" y="68"/>
                    <a:pt x="0" y="4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71" name="Freeform 2025">
              <a:extLst>
                <a:ext uri="{FF2B5EF4-FFF2-40B4-BE49-F238E27FC236}">
                  <a16:creationId xmlns:a16="http://schemas.microsoft.com/office/drawing/2014/main" id="{26CDE686-ABD2-8898-2A47-C93448D51BF0}"/>
                </a:ext>
              </a:extLst>
            </p:cNvPr>
            <p:cNvSpPr>
              <a:spLocks noEditPoints="1"/>
            </p:cNvSpPr>
            <p:nvPr/>
          </p:nvSpPr>
          <p:spPr bwMode="auto">
            <a:xfrm>
              <a:off x="2220" y="610"/>
              <a:ext cx="27" cy="16"/>
            </a:xfrm>
            <a:custGeom>
              <a:avLst/>
              <a:gdLst>
                <a:gd name="T0" fmla="*/ 2 w 123"/>
                <a:gd name="T1" fmla="*/ 48 h 71"/>
                <a:gd name="T2" fmla="*/ 0 w 123"/>
                <a:gd name="T3" fmla="*/ 49 h 71"/>
                <a:gd name="T4" fmla="*/ 0 w 123"/>
                <a:gd name="T5" fmla="*/ 52 h 71"/>
                <a:gd name="T6" fmla="*/ 4 w 123"/>
                <a:gd name="T7" fmla="*/ 69 h 71"/>
                <a:gd name="T8" fmla="*/ 12 w 123"/>
                <a:gd name="T9" fmla="*/ 70 h 71"/>
                <a:gd name="T10" fmla="*/ 19 w 123"/>
                <a:gd name="T11" fmla="*/ 69 h 71"/>
                <a:gd name="T12" fmla="*/ 45 w 123"/>
                <a:gd name="T13" fmla="*/ 55 h 71"/>
                <a:gd name="T14" fmla="*/ 53 w 123"/>
                <a:gd name="T15" fmla="*/ 48 h 71"/>
                <a:gd name="T16" fmla="*/ 86 w 123"/>
                <a:gd name="T17" fmla="*/ 39 h 71"/>
                <a:gd name="T18" fmla="*/ 100 w 123"/>
                <a:gd name="T19" fmla="*/ 37 h 71"/>
                <a:gd name="T20" fmla="*/ 123 w 123"/>
                <a:gd name="T21" fmla="*/ 18 h 71"/>
                <a:gd name="T22" fmla="*/ 93 w 123"/>
                <a:gd name="T23" fmla="*/ 0 h 71"/>
                <a:gd name="T24" fmla="*/ 2 w 123"/>
                <a:gd name="T25" fmla="*/ 48 h 71"/>
                <a:gd name="T26" fmla="*/ 93 w 123"/>
                <a:gd name="T27" fmla="*/ 8 h 71"/>
                <a:gd name="T28" fmla="*/ 114 w 123"/>
                <a:gd name="T29" fmla="*/ 19 h 71"/>
                <a:gd name="T30" fmla="*/ 114 w 123"/>
                <a:gd name="T31" fmla="*/ 19 h 71"/>
                <a:gd name="T32" fmla="*/ 99 w 123"/>
                <a:gd name="T33" fmla="*/ 28 h 71"/>
                <a:gd name="T34" fmla="*/ 84 w 123"/>
                <a:gd name="T35" fmla="*/ 31 h 71"/>
                <a:gd name="T36" fmla="*/ 48 w 123"/>
                <a:gd name="T37" fmla="*/ 41 h 71"/>
                <a:gd name="T38" fmla="*/ 39 w 123"/>
                <a:gd name="T39" fmla="*/ 49 h 71"/>
                <a:gd name="T40" fmla="*/ 19 w 123"/>
                <a:gd name="T41" fmla="*/ 60 h 71"/>
                <a:gd name="T42" fmla="*/ 10 w 123"/>
                <a:gd name="T43" fmla="*/ 61 h 71"/>
                <a:gd name="T44" fmla="*/ 9 w 123"/>
                <a:gd name="T45" fmla="*/ 61 h 71"/>
                <a:gd name="T46" fmla="*/ 9 w 123"/>
                <a:gd name="T47" fmla="*/ 54 h 71"/>
                <a:gd name="T48" fmla="*/ 93 w 123"/>
                <a:gd name="T49" fmla="*/ 8 h 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23" h="71">
                  <a:moveTo>
                    <a:pt x="2" y="48"/>
                  </a:moveTo>
                  <a:cubicBezTo>
                    <a:pt x="0" y="49"/>
                    <a:pt x="0" y="49"/>
                    <a:pt x="0" y="49"/>
                  </a:cubicBezTo>
                  <a:cubicBezTo>
                    <a:pt x="0" y="52"/>
                    <a:pt x="0" y="52"/>
                    <a:pt x="0" y="52"/>
                  </a:cubicBezTo>
                  <a:cubicBezTo>
                    <a:pt x="0" y="62"/>
                    <a:pt x="1" y="66"/>
                    <a:pt x="4" y="69"/>
                  </a:cubicBezTo>
                  <a:cubicBezTo>
                    <a:pt x="6" y="71"/>
                    <a:pt x="9" y="70"/>
                    <a:pt x="12" y="70"/>
                  </a:cubicBezTo>
                  <a:cubicBezTo>
                    <a:pt x="19" y="69"/>
                    <a:pt x="19" y="69"/>
                    <a:pt x="19" y="69"/>
                  </a:cubicBezTo>
                  <a:cubicBezTo>
                    <a:pt x="30" y="69"/>
                    <a:pt x="38" y="61"/>
                    <a:pt x="45" y="55"/>
                  </a:cubicBezTo>
                  <a:cubicBezTo>
                    <a:pt x="53" y="48"/>
                    <a:pt x="53" y="48"/>
                    <a:pt x="53" y="48"/>
                  </a:cubicBezTo>
                  <a:cubicBezTo>
                    <a:pt x="61" y="43"/>
                    <a:pt x="68" y="42"/>
                    <a:pt x="86" y="39"/>
                  </a:cubicBezTo>
                  <a:cubicBezTo>
                    <a:pt x="100" y="37"/>
                    <a:pt x="100" y="37"/>
                    <a:pt x="100" y="37"/>
                  </a:cubicBezTo>
                  <a:cubicBezTo>
                    <a:pt x="118" y="34"/>
                    <a:pt x="123" y="25"/>
                    <a:pt x="123" y="18"/>
                  </a:cubicBezTo>
                  <a:cubicBezTo>
                    <a:pt x="122" y="9"/>
                    <a:pt x="112" y="0"/>
                    <a:pt x="93" y="0"/>
                  </a:cubicBezTo>
                  <a:cubicBezTo>
                    <a:pt x="61" y="0"/>
                    <a:pt x="4" y="46"/>
                    <a:pt x="2" y="48"/>
                  </a:cubicBezTo>
                  <a:close/>
                  <a:moveTo>
                    <a:pt x="93" y="8"/>
                  </a:moveTo>
                  <a:cubicBezTo>
                    <a:pt x="107" y="8"/>
                    <a:pt x="114" y="14"/>
                    <a:pt x="114" y="19"/>
                  </a:cubicBezTo>
                  <a:cubicBezTo>
                    <a:pt x="114" y="19"/>
                    <a:pt x="114" y="19"/>
                    <a:pt x="114" y="19"/>
                  </a:cubicBezTo>
                  <a:cubicBezTo>
                    <a:pt x="114" y="23"/>
                    <a:pt x="110" y="27"/>
                    <a:pt x="99" y="28"/>
                  </a:cubicBezTo>
                  <a:cubicBezTo>
                    <a:pt x="84" y="31"/>
                    <a:pt x="84" y="31"/>
                    <a:pt x="84" y="31"/>
                  </a:cubicBezTo>
                  <a:cubicBezTo>
                    <a:pt x="66" y="33"/>
                    <a:pt x="57" y="34"/>
                    <a:pt x="48" y="41"/>
                  </a:cubicBezTo>
                  <a:cubicBezTo>
                    <a:pt x="39" y="49"/>
                    <a:pt x="39" y="49"/>
                    <a:pt x="39" y="49"/>
                  </a:cubicBezTo>
                  <a:cubicBezTo>
                    <a:pt x="33" y="55"/>
                    <a:pt x="26" y="60"/>
                    <a:pt x="19" y="60"/>
                  </a:cubicBezTo>
                  <a:cubicBezTo>
                    <a:pt x="10" y="61"/>
                    <a:pt x="10" y="61"/>
                    <a:pt x="10" y="61"/>
                  </a:cubicBezTo>
                  <a:cubicBezTo>
                    <a:pt x="10" y="61"/>
                    <a:pt x="10" y="61"/>
                    <a:pt x="9" y="61"/>
                  </a:cubicBezTo>
                  <a:cubicBezTo>
                    <a:pt x="9" y="59"/>
                    <a:pt x="9" y="56"/>
                    <a:pt x="9" y="54"/>
                  </a:cubicBezTo>
                  <a:cubicBezTo>
                    <a:pt x="17" y="47"/>
                    <a:pt x="66" y="8"/>
                    <a:pt x="93"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72" name="Freeform 2026">
              <a:extLst>
                <a:ext uri="{FF2B5EF4-FFF2-40B4-BE49-F238E27FC236}">
                  <a16:creationId xmlns:a16="http://schemas.microsoft.com/office/drawing/2014/main" id="{2C13765E-F941-4E3E-BF63-922564149628}"/>
                </a:ext>
              </a:extLst>
            </p:cNvPr>
            <p:cNvSpPr>
              <a:spLocks/>
            </p:cNvSpPr>
            <p:nvPr/>
          </p:nvSpPr>
          <p:spPr bwMode="auto">
            <a:xfrm>
              <a:off x="1650" y="1196"/>
              <a:ext cx="9" cy="20"/>
            </a:xfrm>
            <a:custGeom>
              <a:avLst/>
              <a:gdLst>
                <a:gd name="T0" fmla="*/ 25 w 40"/>
                <a:gd name="T1" fmla="*/ 1 h 88"/>
                <a:gd name="T2" fmla="*/ 2 w 40"/>
                <a:gd name="T3" fmla="*/ 39 h 88"/>
                <a:gd name="T4" fmla="*/ 25 w 40"/>
                <a:gd name="T5" fmla="*/ 84 h 88"/>
                <a:gd name="T6" fmla="*/ 40 w 40"/>
                <a:gd name="T7" fmla="*/ 45 h 88"/>
                <a:gd name="T8" fmla="*/ 25 w 40"/>
                <a:gd name="T9" fmla="*/ 1 h 88"/>
              </a:gdLst>
              <a:ahLst/>
              <a:cxnLst>
                <a:cxn ang="0">
                  <a:pos x="T0" y="T1"/>
                </a:cxn>
                <a:cxn ang="0">
                  <a:pos x="T2" y="T3"/>
                </a:cxn>
                <a:cxn ang="0">
                  <a:pos x="T4" y="T5"/>
                </a:cxn>
                <a:cxn ang="0">
                  <a:pos x="T6" y="T7"/>
                </a:cxn>
                <a:cxn ang="0">
                  <a:pos x="T8" y="T9"/>
                </a:cxn>
              </a:cxnLst>
              <a:rect l="0" t="0" r="r" b="b"/>
              <a:pathLst>
                <a:path w="40" h="88">
                  <a:moveTo>
                    <a:pt x="25" y="1"/>
                  </a:moveTo>
                  <a:cubicBezTo>
                    <a:pt x="25" y="1"/>
                    <a:pt x="0" y="10"/>
                    <a:pt x="2" y="39"/>
                  </a:cubicBezTo>
                  <a:cubicBezTo>
                    <a:pt x="5" y="68"/>
                    <a:pt x="15" y="88"/>
                    <a:pt x="25" y="84"/>
                  </a:cubicBezTo>
                  <a:cubicBezTo>
                    <a:pt x="36" y="79"/>
                    <a:pt x="40" y="69"/>
                    <a:pt x="40" y="45"/>
                  </a:cubicBezTo>
                  <a:cubicBezTo>
                    <a:pt x="40" y="20"/>
                    <a:pt x="36" y="0"/>
                    <a:pt x="25"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73" name="Freeform 2027">
              <a:extLst>
                <a:ext uri="{FF2B5EF4-FFF2-40B4-BE49-F238E27FC236}">
                  <a16:creationId xmlns:a16="http://schemas.microsoft.com/office/drawing/2014/main" id="{61C20F83-F4D7-EE2A-42E9-693E2BFD9497}"/>
                </a:ext>
              </a:extLst>
            </p:cNvPr>
            <p:cNvSpPr>
              <a:spLocks noEditPoints="1"/>
            </p:cNvSpPr>
            <p:nvPr/>
          </p:nvSpPr>
          <p:spPr bwMode="auto">
            <a:xfrm>
              <a:off x="1649" y="1196"/>
              <a:ext cx="11" cy="20"/>
            </a:xfrm>
            <a:custGeom>
              <a:avLst/>
              <a:gdLst>
                <a:gd name="T0" fmla="*/ 29 w 48"/>
                <a:gd name="T1" fmla="*/ 0 h 92"/>
                <a:gd name="T2" fmla="*/ 28 w 48"/>
                <a:gd name="T3" fmla="*/ 0 h 92"/>
                <a:gd name="T4" fmla="*/ 28 w 48"/>
                <a:gd name="T5" fmla="*/ 0 h 92"/>
                <a:gd name="T6" fmla="*/ 2 w 48"/>
                <a:gd name="T7" fmla="*/ 42 h 92"/>
                <a:gd name="T8" fmla="*/ 21 w 48"/>
                <a:gd name="T9" fmla="*/ 90 h 92"/>
                <a:gd name="T10" fmla="*/ 31 w 48"/>
                <a:gd name="T11" fmla="*/ 91 h 92"/>
                <a:gd name="T12" fmla="*/ 48 w 48"/>
                <a:gd name="T13" fmla="*/ 48 h 92"/>
                <a:gd name="T14" fmla="*/ 38 w 48"/>
                <a:gd name="T15" fmla="*/ 3 h 92"/>
                <a:gd name="T16" fmla="*/ 29 w 48"/>
                <a:gd name="T17" fmla="*/ 0 h 92"/>
                <a:gd name="T18" fmla="*/ 32 w 48"/>
                <a:gd name="T19" fmla="*/ 9 h 92"/>
                <a:gd name="T20" fmla="*/ 40 w 48"/>
                <a:gd name="T21" fmla="*/ 48 h 92"/>
                <a:gd name="T22" fmla="*/ 28 w 48"/>
                <a:gd name="T23" fmla="*/ 83 h 92"/>
                <a:gd name="T24" fmla="*/ 25 w 48"/>
                <a:gd name="T25" fmla="*/ 82 h 92"/>
                <a:gd name="T26" fmla="*/ 11 w 48"/>
                <a:gd name="T27" fmla="*/ 41 h 92"/>
                <a:gd name="T28" fmla="*/ 11 w 48"/>
                <a:gd name="T29" fmla="*/ 37 h 92"/>
                <a:gd name="T30" fmla="*/ 30 w 48"/>
                <a:gd name="T31" fmla="*/ 9 h 92"/>
                <a:gd name="T32" fmla="*/ 32 w 48"/>
                <a:gd name="T33" fmla="*/ 9 h 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8" h="92">
                  <a:moveTo>
                    <a:pt x="29" y="0"/>
                  </a:moveTo>
                  <a:cubicBezTo>
                    <a:pt x="28" y="0"/>
                    <a:pt x="28" y="0"/>
                    <a:pt x="28" y="0"/>
                  </a:cubicBezTo>
                  <a:cubicBezTo>
                    <a:pt x="28" y="0"/>
                    <a:pt x="28" y="0"/>
                    <a:pt x="28" y="0"/>
                  </a:cubicBezTo>
                  <a:cubicBezTo>
                    <a:pt x="18" y="4"/>
                    <a:pt x="0" y="17"/>
                    <a:pt x="2" y="42"/>
                  </a:cubicBezTo>
                  <a:cubicBezTo>
                    <a:pt x="4" y="66"/>
                    <a:pt x="12" y="84"/>
                    <a:pt x="21" y="90"/>
                  </a:cubicBezTo>
                  <a:cubicBezTo>
                    <a:pt x="24" y="92"/>
                    <a:pt x="28" y="92"/>
                    <a:pt x="31" y="91"/>
                  </a:cubicBezTo>
                  <a:cubicBezTo>
                    <a:pt x="43" y="85"/>
                    <a:pt x="48" y="73"/>
                    <a:pt x="48" y="48"/>
                  </a:cubicBezTo>
                  <a:cubicBezTo>
                    <a:pt x="48" y="31"/>
                    <a:pt x="46" y="10"/>
                    <a:pt x="38" y="3"/>
                  </a:cubicBezTo>
                  <a:cubicBezTo>
                    <a:pt x="35" y="1"/>
                    <a:pt x="32" y="0"/>
                    <a:pt x="29" y="0"/>
                  </a:cubicBezTo>
                  <a:close/>
                  <a:moveTo>
                    <a:pt x="32" y="9"/>
                  </a:moveTo>
                  <a:cubicBezTo>
                    <a:pt x="36" y="12"/>
                    <a:pt x="40" y="24"/>
                    <a:pt x="40" y="48"/>
                  </a:cubicBezTo>
                  <a:cubicBezTo>
                    <a:pt x="40" y="73"/>
                    <a:pt x="35" y="79"/>
                    <a:pt x="28" y="83"/>
                  </a:cubicBezTo>
                  <a:cubicBezTo>
                    <a:pt x="27" y="83"/>
                    <a:pt x="26" y="83"/>
                    <a:pt x="25" y="82"/>
                  </a:cubicBezTo>
                  <a:cubicBezTo>
                    <a:pt x="20" y="79"/>
                    <a:pt x="13" y="64"/>
                    <a:pt x="11" y="41"/>
                  </a:cubicBezTo>
                  <a:cubicBezTo>
                    <a:pt x="11" y="40"/>
                    <a:pt x="11" y="39"/>
                    <a:pt x="11" y="37"/>
                  </a:cubicBezTo>
                  <a:cubicBezTo>
                    <a:pt x="11" y="17"/>
                    <a:pt x="28" y="9"/>
                    <a:pt x="30" y="9"/>
                  </a:cubicBezTo>
                  <a:cubicBezTo>
                    <a:pt x="31" y="9"/>
                    <a:pt x="31" y="9"/>
                    <a:pt x="3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74" name="Freeform 2028">
              <a:extLst>
                <a:ext uri="{FF2B5EF4-FFF2-40B4-BE49-F238E27FC236}">
                  <a16:creationId xmlns:a16="http://schemas.microsoft.com/office/drawing/2014/main" id="{9FB9DB45-186C-7E8F-E8DC-8A6120C4E417}"/>
                </a:ext>
              </a:extLst>
            </p:cNvPr>
            <p:cNvSpPr>
              <a:spLocks/>
            </p:cNvSpPr>
            <p:nvPr/>
          </p:nvSpPr>
          <p:spPr bwMode="auto">
            <a:xfrm>
              <a:off x="1677" y="1189"/>
              <a:ext cx="8" cy="10"/>
            </a:xfrm>
            <a:custGeom>
              <a:avLst/>
              <a:gdLst>
                <a:gd name="T0" fmla="*/ 17 w 37"/>
                <a:gd name="T1" fmla="*/ 2 h 48"/>
                <a:gd name="T2" fmla="*/ 0 w 37"/>
                <a:gd name="T3" fmla="*/ 19 h 48"/>
                <a:gd name="T4" fmla="*/ 18 w 37"/>
                <a:gd name="T5" fmla="*/ 45 h 48"/>
                <a:gd name="T6" fmla="*/ 37 w 37"/>
                <a:gd name="T7" fmla="*/ 23 h 48"/>
                <a:gd name="T8" fmla="*/ 17 w 37"/>
                <a:gd name="T9" fmla="*/ 2 h 48"/>
              </a:gdLst>
              <a:ahLst/>
              <a:cxnLst>
                <a:cxn ang="0">
                  <a:pos x="T0" y="T1"/>
                </a:cxn>
                <a:cxn ang="0">
                  <a:pos x="T2" y="T3"/>
                </a:cxn>
                <a:cxn ang="0">
                  <a:pos x="T4" y="T5"/>
                </a:cxn>
                <a:cxn ang="0">
                  <a:pos x="T6" y="T7"/>
                </a:cxn>
                <a:cxn ang="0">
                  <a:pos x="T8" y="T9"/>
                </a:cxn>
              </a:cxnLst>
              <a:rect l="0" t="0" r="r" b="b"/>
              <a:pathLst>
                <a:path w="37" h="48">
                  <a:moveTo>
                    <a:pt x="17" y="2"/>
                  </a:moveTo>
                  <a:cubicBezTo>
                    <a:pt x="17" y="2"/>
                    <a:pt x="0" y="7"/>
                    <a:pt x="0" y="19"/>
                  </a:cubicBezTo>
                  <a:cubicBezTo>
                    <a:pt x="0" y="31"/>
                    <a:pt x="10" y="48"/>
                    <a:pt x="18" y="45"/>
                  </a:cubicBezTo>
                  <a:cubicBezTo>
                    <a:pt x="27" y="42"/>
                    <a:pt x="37" y="33"/>
                    <a:pt x="37" y="23"/>
                  </a:cubicBezTo>
                  <a:cubicBezTo>
                    <a:pt x="37" y="13"/>
                    <a:pt x="33" y="0"/>
                    <a:pt x="1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75" name="Freeform 2029">
              <a:extLst>
                <a:ext uri="{FF2B5EF4-FFF2-40B4-BE49-F238E27FC236}">
                  <a16:creationId xmlns:a16="http://schemas.microsoft.com/office/drawing/2014/main" id="{516FDEE9-C4CA-33E5-9322-EBF329D0B7A2}"/>
                </a:ext>
              </a:extLst>
            </p:cNvPr>
            <p:cNvSpPr>
              <a:spLocks noEditPoints="1"/>
            </p:cNvSpPr>
            <p:nvPr/>
          </p:nvSpPr>
          <p:spPr bwMode="auto">
            <a:xfrm>
              <a:off x="1676" y="1188"/>
              <a:ext cx="10" cy="12"/>
            </a:xfrm>
            <a:custGeom>
              <a:avLst/>
              <a:gdLst>
                <a:gd name="T0" fmla="*/ 22 w 46"/>
                <a:gd name="T1" fmla="*/ 0 h 53"/>
                <a:gd name="T2" fmla="*/ 21 w 46"/>
                <a:gd name="T3" fmla="*/ 0 h 53"/>
                <a:gd name="T4" fmla="*/ 21 w 46"/>
                <a:gd name="T5" fmla="*/ 1 h 53"/>
                <a:gd name="T6" fmla="*/ 0 w 46"/>
                <a:gd name="T7" fmla="*/ 22 h 53"/>
                <a:gd name="T8" fmla="*/ 14 w 46"/>
                <a:gd name="T9" fmla="*/ 50 h 53"/>
                <a:gd name="T10" fmla="*/ 25 w 46"/>
                <a:gd name="T11" fmla="*/ 52 h 53"/>
                <a:gd name="T12" fmla="*/ 46 w 46"/>
                <a:gd name="T13" fmla="*/ 26 h 53"/>
                <a:gd name="T14" fmla="*/ 39 w 46"/>
                <a:gd name="T15" fmla="*/ 5 h 53"/>
                <a:gd name="T16" fmla="*/ 22 w 46"/>
                <a:gd name="T17" fmla="*/ 0 h 53"/>
                <a:gd name="T18" fmla="*/ 33 w 46"/>
                <a:gd name="T19" fmla="*/ 12 h 53"/>
                <a:gd name="T20" fmla="*/ 38 w 46"/>
                <a:gd name="T21" fmla="*/ 26 h 53"/>
                <a:gd name="T22" fmla="*/ 22 w 46"/>
                <a:gd name="T23" fmla="*/ 44 h 53"/>
                <a:gd name="T24" fmla="*/ 19 w 46"/>
                <a:gd name="T25" fmla="*/ 43 h 53"/>
                <a:gd name="T26" fmla="*/ 9 w 46"/>
                <a:gd name="T27" fmla="*/ 22 h 53"/>
                <a:gd name="T28" fmla="*/ 23 w 46"/>
                <a:gd name="T29" fmla="*/ 9 h 53"/>
                <a:gd name="T30" fmla="*/ 33 w 46"/>
                <a:gd name="T31" fmla="*/ 12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6" h="53">
                  <a:moveTo>
                    <a:pt x="22" y="0"/>
                  </a:moveTo>
                  <a:cubicBezTo>
                    <a:pt x="21" y="0"/>
                    <a:pt x="21" y="0"/>
                    <a:pt x="21" y="0"/>
                  </a:cubicBezTo>
                  <a:cubicBezTo>
                    <a:pt x="21" y="1"/>
                    <a:pt x="21" y="1"/>
                    <a:pt x="21" y="1"/>
                  </a:cubicBezTo>
                  <a:cubicBezTo>
                    <a:pt x="20" y="1"/>
                    <a:pt x="0" y="8"/>
                    <a:pt x="0" y="22"/>
                  </a:cubicBezTo>
                  <a:cubicBezTo>
                    <a:pt x="0" y="32"/>
                    <a:pt x="6" y="45"/>
                    <a:pt x="14" y="50"/>
                  </a:cubicBezTo>
                  <a:cubicBezTo>
                    <a:pt x="18" y="53"/>
                    <a:pt x="22" y="53"/>
                    <a:pt x="25" y="52"/>
                  </a:cubicBezTo>
                  <a:cubicBezTo>
                    <a:pt x="35" y="49"/>
                    <a:pt x="46" y="38"/>
                    <a:pt x="46" y="26"/>
                  </a:cubicBezTo>
                  <a:cubicBezTo>
                    <a:pt x="46" y="21"/>
                    <a:pt x="45" y="12"/>
                    <a:pt x="39" y="5"/>
                  </a:cubicBezTo>
                  <a:cubicBezTo>
                    <a:pt x="34" y="1"/>
                    <a:pt x="29" y="0"/>
                    <a:pt x="22" y="0"/>
                  </a:cubicBezTo>
                  <a:close/>
                  <a:moveTo>
                    <a:pt x="33" y="12"/>
                  </a:moveTo>
                  <a:cubicBezTo>
                    <a:pt x="37" y="16"/>
                    <a:pt x="38" y="23"/>
                    <a:pt x="38" y="26"/>
                  </a:cubicBezTo>
                  <a:cubicBezTo>
                    <a:pt x="38" y="34"/>
                    <a:pt x="30" y="41"/>
                    <a:pt x="22" y="44"/>
                  </a:cubicBezTo>
                  <a:cubicBezTo>
                    <a:pt x="21" y="44"/>
                    <a:pt x="20" y="44"/>
                    <a:pt x="19" y="43"/>
                  </a:cubicBezTo>
                  <a:cubicBezTo>
                    <a:pt x="14" y="39"/>
                    <a:pt x="9" y="29"/>
                    <a:pt x="9" y="22"/>
                  </a:cubicBezTo>
                  <a:cubicBezTo>
                    <a:pt x="9" y="14"/>
                    <a:pt x="22" y="10"/>
                    <a:pt x="23" y="9"/>
                  </a:cubicBezTo>
                  <a:cubicBezTo>
                    <a:pt x="27" y="9"/>
                    <a:pt x="30" y="10"/>
                    <a:pt x="33"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76" name="Freeform 2030">
              <a:extLst>
                <a:ext uri="{FF2B5EF4-FFF2-40B4-BE49-F238E27FC236}">
                  <a16:creationId xmlns:a16="http://schemas.microsoft.com/office/drawing/2014/main" id="{BC34CED3-6D38-0AE1-535B-E978ED93247F}"/>
                </a:ext>
              </a:extLst>
            </p:cNvPr>
            <p:cNvSpPr>
              <a:spLocks/>
            </p:cNvSpPr>
            <p:nvPr/>
          </p:nvSpPr>
          <p:spPr bwMode="auto">
            <a:xfrm>
              <a:off x="1828" y="1613"/>
              <a:ext cx="9" cy="6"/>
            </a:xfrm>
            <a:custGeom>
              <a:avLst/>
              <a:gdLst>
                <a:gd name="T0" fmla="*/ 16 w 43"/>
                <a:gd name="T1" fmla="*/ 5 h 27"/>
                <a:gd name="T2" fmla="*/ 17 w 43"/>
                <a:gd name="T3" fmla="*/ 26 h 27"/>
                <a:gd name="T4" fmla="*/ 32 w 43"/>
                <a:gd name="T5" fmla="*/ 5 h 27"/>
                <a:gd name="T6" fmla="*/ 16 w 43"/>
                <a:gd name="T7" fmla="*/ 5 h 27"/>
              </a:gdLst>
              <a:ahLst/>
              <a:cxnLst>
                <a:cxn ang="0">
                  <a:pos x="T0" y="T1"/>
                </a:cxn>
                <a:cxn ang="0">
                  <a:pos x="T2" y="T3"/>
                </a:cxn>
                <a:cxn ang="0">
                  <a:pos x="T4" y="T5"/>
                </a:cxn>
                <a:cxn ang="0">
                  <a:pos x="T6" y="T7"/>
                </a:cxn>
              </a:cxnLst>
              <a:rect l="0" t="0" r="r" b="b"/>
              <a:pathLst>
                <a:path w="43" h="27">
                  <a:moveTo>
                    <a:pt x="16" y="5"/>
                  </a:moveTo>
                  <a:cubicBezTo>
                    <a:pt x="16" y="5"/>
                    <a:pt x="0" y="24"/>
                    <a:pt x="17" y="26"/>
                  </a:cubicBezTo>
                  <a:cubicBezTo>
                    <a:pt x="34" y="27"/>
                    <a:pt x="43" y="11"/>
                    <a:pt x="32" y="5"/>
                  </a:cubicBezTo>
                  <a:cubicBezTo>
                    <a:pt x="20" y="0"/>
                    <a:pt x="16" y="5"/>
                    <a:pt x="16"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77" name="Freeform 2031">
              <a:extLst>
                <a:ext uri="{FF2B5EF4-FFF2-40B4-BE49-F238E27FC236}">
                  <a16:creationId xmlns:a16="http://schemas.microsoft.com/office/drawing/2014/main" id="{4CC614D1-6497-68A9-46C0-C42D4788F0D6}"/>
                </a:ext>
              </a:extLst>
            </p:cNvPr>
            <p:cNvSpPr>
              <a:spLocks noEditPoints="1"/>
            </p:cNvSpPr>
            <p:nvPr/>
          </p:nvSpPr>
          <p:spPr bwMode="auto">
            <a:xfrm>
              <a:off x="1829" y="1611"/>
              <a:ext cx="8" cy="8"/>
            </a:xfrm>
            <a:custGeom>
              <a:avLst/>
              <a:gdLst>
                <a:gd name="T0" fmla="*/ 7 w 37"/>
                <a:gd name="T1" fmla="*/ 9 h 37"/>
                <a:gd name="T2" fmla="*/ 0 w 37"/>
                <a:gd name="T3" fmla="*/ 25 h 37"/>
                <a:gd name="T4" fmla="*/ 1 w 37"/>
                <a:gd name="T5" fmla="*/ 29 h 37"/>
                <a:gd name="T6" fmla="*/ 12 w 37"/>
                <a:gd name="T7" fmla="*/ 36 h 37"/>
                <a:gd name="T8" fmla="*/ 36 w 37"/>
                <a:gd name="T9" fmla="*/ 22 h 37"/>
                <a:gd name="T10" fmla="*/ 29 w 37"/>
                <a:gd name="T11" fmla="*/ 7 h 37"/>
                <a:gd name="T12" fmla="*/ 7 w 37"/>
                <a:gd name="T13" fmla="*/ 9 h 37"/>
                <a:gd name="T14" fmla="*/ 13 w 37"/>
                <a:gd name="T15" fmla="*/ 27 h 37"/>
                <a:gd name="T16" fmla="*/ 9 w 37"/>
                <a:gd name="T17" fmla="*/ 26 h 37"/>
                <a:gd name="T18" fmla="*/ 14 w 37"/>
                <a:gd name="T19" fmla="*/ 14 h 37"/>
                <a:gd name="T20" fmla="*/ 14 w 37"/>
                <a:gd name="T21" fmla="*/ 14 h 37"/>
                <a:gd name="T22" fmla="*/ 25 w 37"/>
                <a:gd name="T23" fmla="*/ 15 h 37"/>
                <a:gd name="T24" fmla="*/ 27 w 37"/>
                <a:gd name="T25" fmla="*/ 20 h 37"/>
                <a:gd name="T26" fmla="*/ 13 w 37"/>
                <a:gd name="T27" fmla="*/ 27 h 37"/>
                <a:gd name="T28" fmla="*/ 7 w 37"/>
                <a:gd name="T29" fmla="*/ 9 h 37"/>
                <a:gd name="T30" fmla="*/ 7 w 37"/>
                <a:gd name="T31" fmla="*/ 9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7" h="37">
                  <a:moveTo>
                    <a:pt x="7" y="9"/>
                  </a:moveTo>
                  <a:cubicBezTo>
                    <a:pt x="6" y="11"/>
                    <a:pt x="0" y="18"/>
                    <a:pt x="0" y="25"/>
                  </a:cubicBezTo>
                  <a:cubicBezTo>
                    <a:pt x="0" y="27"/>
                    <a:pt x="0" y="28"/>
                    <a:pt x="1" y="29"/>
                  </a:cubicBezTo>
                  <a:cubicBezTo>
                    <a:pt x="2" y="32"/>
                    <a:pt x="5" y="35"/>
                    <a:pt x="12" y="36"/>
                  </a:cubicBezTo>
                  <a:cubicBezTo>
                    <a:pt x="25" y="37"/>
                    <a:pt x="34" y="30"/>
                    <a:pt x="36" y="22"/>
                  </a:cubicBezTo>
                  <a:cubicBezTo>
                    <a:pt x="37" y="16"/>
                    <a:pt x="35" y="10"/>
                    <a:pt x="29" y="7"/>
                  </a:cubicBezTo>
                  <a:cubicBezTo>
                    <a:pt x="14" y="0"/>
                    <a:pt x="8" y="8"/>
                    <a:pt x="7" y="9"/>
                  </a:cubicBezTo>
                  <a:close/>
                  <a:moveTo>
                    <a:pt x="13" y="27"/>
                  </a:moveTo>
                  <a:cubicBezTo>
                    <a:pt x="10" y="27"/>
                    <a:pt x="9" y="26"/>
                    <a:pt x="9" y="26"/>
                  </a:cubicBezTo>
                  <a:cubicBezTo>
                    <a:pt x="8" y="24"/>
                    <a:pt x="11" y="18"/>
                    <a:pt x="14" y="14"/>
                  </a:cubicBezTo>
                  <a:cubicBezTo>
                    <a:pt x="14" y="14"/>
                    <a:pt x="14" y="14"/>
                    <a:pt x="14" y="14"/>
                  </a:cubicBezTo>
                  <a:cubicBezTo>
                    <a:pt x="14" y="14"/>
                    <a:pt x="17" y="11"/>
                    <a:pt x="25" y="15"/>
                  </a:cubicBezTo>
                  <a:cubicBezTo>
                    <a:pt x="27" y="16"/>
                    <a:pt x="28" y="18"/>
                    <a:pt x="27" y="20"/>
                  </a:cubicBezTo>
                  <a:cubicBezTo>
                    <a:pt x="26" y="23"/>
                    <a:pt x="21" y="28"/>
                    <a:pt x="13" y="27"/>
                  </a:cubicBezTo>
                  <a:close/>
                  <a:moveTo>
                    <a:pt x="7" y="9"/>
                  </a:moveTo>
                  <a:cubicBezTo>
                    <a:pt x="7" y="9"/>
                    <a:pt x="7" y="9"/>
                    <a:pt x="7"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78" name="Freeform 2032">
              <a:extLst>
                <a:ext uri="{FF2B5EF4-FFF2-40B4-BE49-F238E27FC236}">
                  <a16:creationId xmlns:a16="http://schemas.microsoft.com/office/drawing/2014/main" id="{24944B9D-E049-96D7-0728-C3B07413D5CE}"/>
                </a:ext>
              </a:extLst>
            </p:cNvPr>
            <p:cNvSpPr>
              <a:spLocks/>
            </p:cNvSpPr>
            <p:nvPr/>
          </p:nvSpPr>
          <p:spPr bwMode="auto">
            <a:xfrm>
              <a:off x="1851" y="1614"/>
              <a:ext cx="10" cy="7"/>
            </a:xfrm>
            <a:custGeom>
              <a:avLst/>
              <a:gdLst>
                <a:gd name="T0" fmla="*/ 18 w 44"/>
                <a:gd name="T1" fmla="*/ 0 h 33"/>
                <a:gd name="T2" fmla="*/ 1 w 44"/>
                <a:gd name="T3" fmla="*/ 13 h 33"/>
                <a:gd name="T4" fmla="*/ 17 w 44"/>
                <a:gd name="T5" fmla="*/ 32 h 33"/>
                <a:gd name="T6" fmla="*/ 18 w 44"/>
                <a:gd name="T7" fmla="*/ 0 h 33"/>
              </a:gdLst>
              <a:ahLst/>
              <a:cxnLst>
                <a:cxn ang="0">
                  <a:pos x="T0" y="T1"/>
                </a:cxn>
                <a:cxn ang="0">
                  <a:pos x="T2" y="T3"/>
                </a:cxn>
                <a:cxn ang="0">
                  <a:pos x="T4" y="T5"/>
                </a:cxn>
                <a:cxn ang="0">
                  <a:pos x="T6" y="T7"/>
                </a:cxn>
              </a:cxnLst>
              <a:rect l="0" t="0" r="r" b="b"/>
              <a:pathLst>
                <a:path w="44" h="33">
                  <a:moveTo>
                    <a:pt x="18" y="0"/>
                  </a:moveTo>
                  <a:cubicBezTo>
                    <a:pt x="18" y="0"/>
                    <a:pt x="0" y="2"/>
                    <a:pt x="1" y="13"/>
                  </a:cubicBezTo>
                  <a:cubicBezTo>
                    <a:pt x="2" y="25"/>
                    <a:pt x="2" y="33"/>
                    <a:pt x="17" y="32"/>
                  </a:cubicBezTo>
                  <a:cubicBezTo>
                    <a:pt x="31" y="31"/>
                    <a:pt x="44" y="0"/>
                    <a:pt x="18"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79" name="Freeform 2033">
              <a:extLst>
                <a:ext uri="{FF2B5EF4-FFF2-40B4-BE49-F238E27FC236}">
                  <a16:creationId xmlns:a16="http://schemas.microsoft.com/office/drawing/2014/main" id="{588D3FEB-5682-E0B2-2206-7EBE29009BCA}"/>
                </a:ext>
              </a:extLst>
            </p:cNvPr>
            <p:cNvSpPr>
              <a:spLocks noEditPoints="1"/>
            </p:cNvSpPr>
            <p:nvPr/>
          </p:nvSpPr>
          <p:spPr bwMode="auto">
            <a:xfrm>
              <a:off x="1850" y="1613"/>
              <a:ext cx="10" cy="9"/>
            </a:xfrm>
            <a:custGeom>
              <a:avLst/>
              <a:gdLst>
                <a:gd name="T0" fmla="*/ 22 w 42"/>
                <a:gd name="T1" fmla="*/ 0 h 42"/>
                <a:gd name="T2" fmla="*/ 4 w 42"/>
                <a:gd name="T3" fmla="*/ 8 h 42"/>
                <a:gd name="T4" fmla="*/ 1 w 42"/>
                <a:gd name="T5" fmla="*/ 18 h 42"/>
                <a:gd name="T6" fmla="*/ 1 w 42"/>
                <a:gd name="T7" fmla="*/ 20 h 42"/>
                <a:gd name="T8" fmla="*/ 21 w 42"/>
                <a:gd name="T9" fmla="*/ 40 h 42"/>
                <a:gd name="T10" fmla="*/ 42 w 42"/>
                <a:gd name="T11" fmla="*/ 15 h 42"/>
                <a:gd name="T12" fmla="*/ 22 w 42"/>
                <a:gd name="T13" fmla="*/ 0 h 42"/>
                <a:gd name="T14" fmla="*/ 10 w 42"/>
                <a:gd name="T15" fmla="*/ 19 h 42"/>
                <a:gd name="T16" fmla="*/ 9 w 42"/>
                <a:gd name="T17" fmla="*/ 17 h 42"/>
                <a:gd name="T18" fmla="*/ 9 w 42"/>
                <a:gd name="T19" fmla="*/ 16 h 42"/>
                <a:gd name="T20" fmla="*/ 10 w 42"/>
                <a:gd name="T21" fmla="*/ 13 h 42"/>
                <a:gd name="T22" fmla="*/ 23 w 42"/>
                <a:gd name="T23" fmla="*/ 9 h 42"/>
                <a:gd name="T24" fmla="*/ 33 w 42"/>
                <a:gd name="T25" fmla="*/ 15 h 42"/>
                <a:gd name="T26" fmla="*/ 33 w 42"/>
                <a:gd name="T27" fmla="*/ 16 h 42"/>
                <a:gd name="T28" fmla="*/ 20 w 42"/>
                <a:gd name="T29" fmla="*/ 32 h 42"/>
                <a:gd name="T30" fmla="*/ 10 w 42"/>
                <a:gd name="T31" fmla="*/ 19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42">
                  <a:moveTo>
                    <a:pt x="22" y="0"/>
                  </a:moveTo>
                  <a:cubicBezTo>
                    <a:pt x="21" y="0"/>
                    <a:pt x="9" y="1"/>
                    <a:pt x="4" y="8"/>
                  </a:cubicBezTo>
                  <a:cubicBezTo>
                    <a:pt x="1" y="11"/>
                    <a:pt x="0" y="14"/>
                    <a:pt x="1" y="18"/>
                  </a:cubicBezTo>
                  <a:cubicBezTo>
                    <a:pt x="1" y="20"/>
                    <a:pt x="1" y="20"/>
                    <a:pt x="1" y="20"/>
                  </a:cubicBezTo>
                  <a:cubicBezTo>
                    <a:pt x="2" y="30"/>
                    <a:pt x="4" y="42"/>
                    <a:pt x="21" y="40"/>
                  </a:cubicBezTo>
                  <a:cubicBezTo>
                    <a:pt x="33" y="39"/>
                    <a:pt x="42" y="25"/>
                    <a:pt x="42" y="15"/>
                  </a:cubicBezTo>
                  <a:cubicBezTo>
                    <a:pt x="41" y="11"/>
                    <a:pt x="39" y="0"/>
                    <a:pt x="22" y="0"/>
                  </a:cubicBezTo>
                  <a:close/>
                  <a:moveTo>
                    <a:pt x="10" y="19"/>
                  </a:moveTo>
                  <a:cubicBezTo>
                    <a:pt x="9" y="17"/>
                    <a:pt x="9" y="17"/>
                    <a:pt x="9" y="17"/>
                  </a:cubicBezTo>
                  <a:cubicBezTo>
                    <a:pt x="9" y="17"/>
                    <a:pt x="9" y="16"/>
                    <a:pt x="9" y="16"/>
                  </a:cubicBezTo>
                  <a:cubicBezTo>
                    <a:pt x="9" y="15"/>
                    <a:pt x="10" y="14"/>
                    <a:pt x="10" y="13"/>
                  </a:cubicBezTo>
                  <a:cubicBezTo>
                    <a:pt x="13" y="10"/>
                    <a:pt x="20" y="9"/>
                    <a:pt x="23" y="9"/>
                  </a:cubicBezTo>
                  <a:cubicBezTo>
                    <a:pt x="33" y="9"/>
                    <a:pt x="33" y="14"/>
                    <a:pt x="33" y="15"/>
                  </a:cubicBezTo>
                  <a:cubicBezTo>
                    <a:pt x="33" y="16"/>
                    <a:pt x="33" y="16"/>
                    <a:pt x="33" y="16"/>
                  </a:cubicBezTo>
                  <a:cubicBezTo>
                    <a:pt x="33" y="23"/>
                    <a:pt x="26" y="31"/>
                    <a:pt x="20" y="32"/>
                  </a:cubicBezTo>
                  <a:cubicBezTo>
                    <a:pt x="12" y="33"/>
                    <a:pt x="11" y="30"/>
                    <a:pt x="10"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80" name="Freeform 2034">
              <a:extLst>
                <a:ext uri="{FF2B5EF4-FFF2-40B4-BE49-F238E27FC236}">
                  <a16:creationId xmlns:a16="http://schemas.microsoft.com/office/drawing/2014/main" id="{46D96615-92C9-3C83-DF08-C44BB0776DC0}"/>
                </a:ext>
              </a:extLst>
            </p:cNvPr>
            <p:cNvSpPr>
              <a:spLocks/>
            </p:cNvSpPr>
            <p:nvPr/>
          </p:nvSpPr>
          <p:spPr bwMode="auto">
            <a:xfrm>
              <a:off x="1866" y="1593"/>
              <a:ext cx="8" cy="8"/>
            </a:xfrm>
            <a:custGeom>
              <a:avLst/>
              <a:gdLst>
                <a:gd name="T0" fmla="*/ 19 w 35"/>
                <a:gd name="T1" fmla="*/ 3 h 36"/>
                <a:gd name="T2" fmla="*/ 7 w 35"/>
                <a:gd name="T3" fmla="*/ 23 h 36"/>
                <a:gd name="T4" fmla="*/ 33 w 35"/>
                <a:gd name="T5" fmla="*/ 23 h 36"/>
                <a:gd name="T6" fmla="*/ 19 w 35"/>
                <a:gd name="T7" fmla="*/ 3 h 36"/>
              </a:gdLst>
              <a:ahLst/>
              <a:cxnLst>
                <a:cxn ang="0">
                  <a:pos x="T0" y="T1"/>
                </a:cxn>
                <a:cxn ang="0">
                  <a:pos x="T2" y="T3"/>
                </a:cxn>
                <a:cxn ang="0">
                  <a:pos x="T4" y="T5"/>
                </a:cxn>
                <a:cxn ang="0">
                  <a:pos x="T6" y="T7"/>
                </a:cxn>
              </a:cxnLst>
              <a:rect l="0" t="0" r="r" b="b"/>
              <a:pathLst>
                <a:path w="35" h="36">
                  <a:moveTo>
                    <a:pt x="19" y="3"/>
                  </a:moveTo>
                  <a:cubicBezTo>
                    <a:pt x="19" y="3"/>
                    <a:pt x="0" y="10"/>
                    <a:pt x="7" y="23"/>
                  </a:cubicBezTo>
                  <a:cubicBezTo>
                    <a:pt x="14" y="36"/>
                    <a:pt x="32" y="36"/>
                    <a:pt x="33" y="23"/>
                  </a:cubicBezTo>
                  <a:cubicBezTo>
                    <a:pt x="35" y="10"/>
                    <a:pt x="26" y="0"/>
                    <a:pt x="19"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81" name="Freeform 2035">
              <a:extLst>
                <a:ext uri="{FF2B5EF4-FFF2-40B4-BE49-F238E27FC236}">
                  <a16:creationId xmlns:a16="http://schemas.microsoft.com/office/drawing/2014/main" id="{0306198E-C6A5-4630-ECEB-E55B8D02D9F0}"/>
                </a:ext>
              </a:extLst>
            </p:cNvPr>
            <p:cNvSpPr>
              <a:spLocks noEditPoints="1"/>
            </p:cNvSpPr>
            <p:nvPr/>
          </p:nvSpPr>
          <p:spPr bwMode="auto">
            <a:xfrm>
              <a:off x="1866" y="1592"/>
              <a:ext cx="8" cy="9"/>
            </a:xfrm>
            <a:custGeom>
              <a:avLst/>
              <a:gdLst>
                <a:gd name="T0" fmla="*/ 16 w 37"/>
                <a:gd name="T1" fmla="*/ 2 h 42"/>
                <a:gd name="T2" fmla="*/ 1 w 37"/>
                <a:gd name="T3" fmla="*/ 16 h 42"/>
                <a:gd name="T4" fmla="*/ 0 w 37"/>
                <a:gd name="T5" fmla="*/ 20 h 42"/>
                <a:gd name="T6" fmla="*/ 2 w 37"/>
                <a:gd name="T7" fmla="*/ 28 h 42"/>
                <a:gd name="T8" fmla="*/ 25 w 37"/>
                <a:gd name="T9" fmla="*/ 40 h 42"/>
                <a:gd name="T10" fmla="*/ 36 w 37"/>
                <a:gd name="T11" fmla="*/ 27 h 42"/>
                <a:gd name="T12" fmla="*/ 28 w 37"/>
                <a:gd name="T13" fmla="*/ 4 h 42"/>
                <a:gd name="T14" fmla="*/ 16 w 37"/>
                <a:gd name="T15" fmla="*/ 2 h 42"/>
                <a:gd name="T16" fmla="*/ 10 w 37"/>
                <a:gd name="T17" fmla="*/ 24 h 42"/>
                <a:gd name="T18" fmla="*/ 9 w 37"/>
                <a:gd name="T19" fmla="*/ 18 h 42"/>
                <a:gd name="T20" fmla="*/ 19 w 37"/>
                <a:gd name="T21" fmla="*/ 10 h 42"/>
                <a:gd name="T22" fmla="*/ 19 w 37"/>
                <a:gd name="T23" fmla="*/ 10 h 42"/>
                <a:gd name="T24" fmla="*/ 23 w 37"/>
                <a:gd name="T25" fmla="*/ 11 h 42"/>
                <a:gd name="T26" fmla="*/ 28 w 37"/>
                <a:gd name="T27" fmla="*/ 26 h 42"/>
                <a:gd name="T28" fmla="*/ 23 w 37"/>
                <a:gd name="T29" fmla="*/ 31 h 42"/>
                <a:gd name="T30" fmla="*/ 10 w 37"/>
                <a:gd name="T31" fmla="*/ 24 h 42"/>
                <a:gd name="T32" fmla="*/ 16 w 37"/>
                <a:gd name="T33" fmla="*/ 2 h 42"/>
                <a:gd name="T34" fmla="*/ 16 w 37"/>
                <a:gd name="T35" fmla="*/ 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7" h="42">
                  <a:moveTo>
                    <a:pt x="16" y="2"/>
                  </a:moveTo>
                  <a:cubicBezTo>
                    <a:pt x="15" y="2"/>
                    <a:pt x="4" y="7"/>
                    <a:pt x="1" y="16"/>
                  </a:cubicBezTo>
                  <a:cubicBezTo>
                    <a:pt x="0" y="17"/>
                    <a:pt x="0" y="19"/>
                    <a:pt x="0" y="20"/>
                  </a:cubicBezTo>
                  <a:cubicBezTo>
                    <a:pt x="0" y="23"/>
                    <a:pt x="1" y="26"/>
                    <a:pt x="2" y="28"/>
                  </a:cubicBezTo>
                  <a:cubicBezTo>
                    <a:pt x="7" y="37"/>
                    <a:pt x="16" y="42"/>
                    <a:pt x="25" y="40"/>
                  </a:cubicBezTo>
                  <a:cubicBezTo>
                    <a:pt x="31" y="39"/>
                    <a:pt x="36" y="34"/>
                    <a:pt x="36" y="27"/>
                  </a:cubicBezTo>
                  <a:cubicBezTo>
                    <a:pt x="37" y="18"/>
                    <a:pt x="34" y="9"/>
                    <a:pt x="28" y="4"/>
                  </a:cubicBezTo>
                  <a:cubicBezTo>
                    <a:pt x="24" y="1"/>
                    <a:pt x="20" y="0"/>
                    <a:pt x="16" y="2"/>
                  </a:cubicBezTo>
                  <a:close/>
                  <a:moveTo>
                    <a:pt x="10" y="24"/>
                  </a:moveTo>
                  <a:cubicBezTo>
                    <a:pt x="8" y="21"/>
                    <a:pt x="9" y="20"/>
                    <a:pt x="9" y="18"/>
                  </a:cubicBezTo>
                  <a:cubicBezTo>
                    <a:pt x="11" y="14"/>
                    <a:pt x="17" y="11"/>
                    <a:pt x="19" y="10"/>
                  </a:cubicBezTo>
                  <a:cubicBezTo>
                    <a:pt x="19" y="10"/>
                    <a:pt x="19" y="10"/>
                    <a:pt x="19" y="10"/>
                  </a:cubicBezTo>
                  <a:cubicBezTo>
                    <a:pt x="21" y="10"/>
                    <a:pt x="22" y="10"/>
                    <a:pt x="23" y="11"/>
                  </a:cubicBezTo>
                  <a:cubicBezTo>
                    <a:pt x="26" y="13"/>
                    <a:pt x="29" y="19"/>
                    <a:pt x="28" y="26"/>
                  </a:cubicBezTo>
                  <a:cubicBezTo>
                    <a:pt x="27" y="30"/>
                    <a:pt x="25" y="31"/>
                    <a:pt x="23" y="31"/>
                  </a:cubicBezTo>
                  <a:cubicBezTo>
                    <a:pt x="19" y="32"/>
                    <a:pt x="13" y="30"/>
                    <a:pt x="10" y="24"/>
                  </a:cubicBezTo>
                  <a:close/>
                  <a:moveTo>
                    <a:pt x="16" y="2"/>
                  </a:moveTo>
                  <a:cubicBezTo>
                    <a:pt x="16" y="2"/>
                    <a:pt x="16" y="2"/>
                    <a:pt x="16"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82" name="Freeform 2036">
              <a:extLst>
                <a:ext uri="{FF2B5EF4-FFF2-40B4-BE49-F238E27FC236}">
                  <a16:creationId xmlns:a16="http://schemas.microsoft.com/office/drawing/2014/main" id="{2AFFF53E-2D28-C564-9CA4-3EB8F8F4319A}"/>
                </a:ext>
              </a:extLst>
            </p:cNvPr>
            <p:cNvSpPr>
              <a:spLocks/>
            </p:cNvSpPr>
            <p:nvPr/>
          </p:nvSpPr>
          <p:spPr bwMode="auto">
            <a:xfrm>
              <a:off x="1833" y="1606"/>
              <a:ext cx="11" cy="6"/>
            </a:xfrm>
            <a:custGeom>
              <a:avLst/>
              <a:gdLst>
                <a:gd name="T0" fmla="*/ 26 w 47"/>
                <a:gd name="T1" fmla="*/ 0 h 28"/>
                <a:gd name="T2" fmla="*/ 3 w 47"/>
                <a:gd name="T3" fmla="*/ 12 h 28"/>
                <a:gd name="T4" fmla="*/ 16 w 47"/>
                <a:gd name="T5" fmla="*/ 26 h 28"/>
                <a:gd name="T6" fmla="*/ 26 w 47"/>
                <a:gd name="T7" fmla="*/ 0 h 28"/>
              </a:gdLst>
              <a:ahLst/>
              <a:cxnLst>
                <a:cxn ang="0">
                  <a:pos x="T0" y="T1"/>
                </a:cxn>
                <a:cxn ang="0">
                  <a:pos x="T2" y="T3"/>
                </a:cxn>
                <a:cxn ang="0">
                  <a:pos x="T4" y="T5"/>
                </a:cxn>
                <a:cxn ang="0">
                  <a:pos x="T6" y="T7"/>
                </a:cxn>
              </a:cxnLst>
              <a:rect l="0" t="0" r="r" b="b"/>
              <a:pathLst>
                <a:path w="47" h="28">
                  <a:moveTo>
                    <a:pt x="26" y="0"/>
                  </a:moveTo>
                  <a:cubicBezTo>
                    <a:pt x="26" y="0"/>
                    <a:pt x="3" y="6"/>
                    <a:pt x="3" y="12"/>
                  </a:cubicBezTo>
                  <a:cubicBezTo>
                    <a:pt x="3" y="18"/>
                    <a:pt x="0" y="25"/>
                    <a:pt x="16" y="26"/>
                  </a:cubicBezTo>
                  <a:cubicBezTo>
                    <a:pt x="32" y="28"/>
                    <a:pt x="47" y="2"/>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83" name="Freeform 2037">
              <a:extLst>
                <a:ext uri="{FF2B5EF4-FFF2-40B4-BE49-F238E27FC236}">
                  <a16:creationId xmlns:a16="http://schemas.microsoft.com/office/drawing/2014/main" id="{820FD6B7-F90C-FEA0-9260-2B5916B65760}"/>
                </a:ext>
              </a:extLst>
            </p:cNvPr>
            <p:cNvSpPr>
              <a:spLocks noEditPoints="1"/>
            </p:cNvSpPr>
            <p:nvPr/>
          </p:nvSpPr>
          <p:spPr bwMode="auto">
            <a:xfrm>
              <a:off x="1833" y="1605"/>
              <a:ext cx="10" cy="8"/>
            </a:xfrm>
            <a:custGeom>
              <a:avLst/>
              <a:gdLst>
                <a:gd name="T0" fmla="*/ 27 w 44"/>
                <a:gd name="T1" fmla="*/ 0 h 35"/>
                <a:gd name="T2" fmla="*/ 0 w 44"/>
                <a:gd name="T3" fmla="*/ 16 h 35"/>
                <a:gd name="T4" fmla="*/ 0 w 44"/>
                <a:gd name="T5" fmla="*/ 18 h 35"/>
                <a:gd name="T6" fmla="*/ 17 w 44"/>
                <a:gd name="T7" fmla="*/ 35 h 35"/>
                <a:gd name="T8" fmla="*/ 39 w 44"/>
                <a:gd name="T9" fmla="*/ 23 h 35"/>
                <a:gd name="T10" fmla="*/ 42 w 44"/>
                <a:gd name="T11" fmla="*/ 7 h 35"/>
                <a:gd name="T12" fmla="*/ 28 w 44"/>
                <a:gd name="T13" fmla="*/ 0 h 35"/>
                <a:gd name="T14" fmla="*/ 27 w 44"/>
                <a:gd name="T15" fmla="*/ 0 h 35"/>
                <a:gd name="T16" fmla="*/ 18 w 44"/>
                <a:gd name="T17" fmla="*/ 26 h 35"/>
                <a:gd name="T18" fmla="*/ 9 w 44"/>
                <a:gd name="T19" fmla="*/ 20 h 35"/>
                <a:gd name="T20" fmla="*/ 9 w 44"/>
                <a:gd name="T21" fmla="*/ 18 h 35"/>
                <a:gd name="T22" fmla="*/ 9 w 44"/>
                <a:gd name="T23" fmla="*/ 16 h 35"/>
                <a:gd name="T24" fmla="*/ 28 w 44"/>
                <a:gd name="T25" fmla="*/ 9 h 35"/>
                <a:gd name="T26" fmla="*/ 34 w 44"/>
                <a:gd name="T27" fmla="*/ 11 h 35"/>
                <a:gd name="T28" fmla="*/ 34 w 44"/>
                <a:gd name="T29" fmla="*/ 13 h 35"/>
                <a:gd name="T30" fmla="*/ 32 w 44"/>
                <a:gd name="T31" fmla="*/ 18 h 35"/>
                <a:gd name="T32" fmla="*/ 18 w 44"/>
                <a:gd name="T33" fmla="*/ 26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4" h="35">
                  <a:moveTo>
                    <a:pt x="27" y="0"/>
                  </a:moveTo>
                  <a:cubicBezTo>
                    <a:pt x="9" y="4"/>
                    <a:pt x="0" y="10"/>
                    <a:pt x="0" y="16"/>
                  </a:cubicBezTo>
                  <a:cubicBezTo>
                    <a:pt x="0" y="18"/>
                    <a:pt x="0" y="18"/>
                    <a:pt x="0" y="18"/>
                  </a:cubicBezTo>
                  <a:cubicBezTo>
                    <a:pt x="0" y="26"/>
                    <a:pt x="2" y="33"/>
                    <a:pt x="17" y="35"/>
                  </a:cubicBezTo>
                  <a:cubicBezTo>
                    <a:pt x="26" y="35"/>
                    <a:pt x="35" y="29"/>
                    <a:pt x="39" y="23"/>
                  </a:cubicBezTo>
                  <a:cubicBezTo>
                    <a:pt x="43" y="18"/>
                    <a:pt x="44" y="12"/>
                    <a:pt x="42" y="7"/>
                  </a:cubicBezTo>
                  <a:cubicBezTo>
                    <a:pt x="40" y="4"/>
                    <a:pt x="37" y="1"/>
                    <a:pt x="28" y="0"/>
                  </a:cubicBezTo>
                  <a:cubicBezTo>
                    <a:pt x="27" y="0"/>
                    <a:pt x="27" y="0"/>
                    <a:pt x="27" y="0"/>
                  </a:cubicBezTo>
                  <a:close/>
                  <a:moveTo>
                    <a:pt x="18" y="26"/>
                  </a:moveTo>
                  <a:cubicBezTo>
                    <a:pt x="10" y="25"/>
                    <a:pt x="9" y="24"/>
                    <a:pt x="9" y="20"/>
                  </a:cubicBezTo>
                  <a:cubicBezTo>
                    <a:pt x="9" y="20"/>
                    <a:pt x="9" y="19"/>
                    <a:pt x="9" y="18"/>
                  </a:cubicBezTo>
                  <a:cubicBezTo>
                    <a:pt x="9" y="16"/>
                    <a:pt x="9" y="16"/>
                    <a:pt x="9" y="16"/>
                  </a:cubicBezTo>
                  <a:cubicBezTo>
                    <a:pt x="10" y="15"/>
                    <a:pt x="19" y="11"/>
                    <a:pt x="28" y="9"/>
                  </a:cubicBezTo>
                  <a:cubicBezTo>
                    <a:pt x="31" y="9"/>
                    <a:pt x="33" y="10"/>
                    <a:pt x="34" y="11"/>
                  </a:cubicBezTo>
                  <a:cubicBezTo>
                    <a:pt x="34" y="12"/>
                    <a:pt x="34" y="12"/>
                    <a:pt x="34" y="13"/>
                  </a:cubicBezTo>
                  <a:cubicBezTo>
                    <a:pt x="34" y="14"/>
                    <a:pt x="33" y="16"/>
                    <a:pt x="32" y="18"/>
                  </a:cubicBezTo>
                  <a:cubicBezTo>
                    <a:pt x="29" y="22"/>
                    <a:pt x="24" y="26"/>
                    <a:pt x="18"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84" name="Freeform 2038">
              <a:extLst>
                <a:ext uri="{FF2B5EF4-FFF2-40B4-BE49-F238E27FC236}">
                  <a16:creationId xmlns:a16="http://schemas.microsoft.com/office/drawing/2014/main" id="{DB18E4AC-867A-0C31-6057-234EADB9AF03}"/>
                </a:ext>
              </a:extLst>
            </p:cNvPr>
            <p:cNvSpPr>
              <a:spLocks/>
            </p:cNvSpPr>
            <p:nvPr/>
          </p:nvSpPr>
          <p:spPr bwMode="auto">
            <a:xfrm>
              <a:off x="2279" y="2089"/>
              <a:ext cx="49" cy="31"/>
            </a:xfrm>
            <a:custGeom>
              <a:avLst/>
              <a:gdLst>
                <a:gd name="T0" fmla="*/ 74 w 222"/>
                <a:gd name="T1" fmla="*/ 5 h 140"/>
                <a:gd name="T2" fmla="*/ 19 w 222"/>
                <a:gd name="T3" fmla="*/ 40 h 140"/>
                <a:gd name="T4" fmla="*/ 26 w 222"/>
                <a:gd name="T5" fmla="*/ 92 h 140"/>
                <a:gd name="T6" fmla="*/ 94 w 222"/>
                <a:gd name="T7" fmla="*/ 112 h 140"/>
                <a:gd name="T8" fmla="*/ 128 w 222"/>
                <a:gd name="T9" fmla="*/ 108 h 140"/>
                <a:gd name="T10" fmla="*/ 175 w 222"/>
                <a:gd name="T11" fmla="*/ 122 h 140"/>
                <a:gd name="T12" fmla="*/ 202 w 222"/>
                <a:gd name="T13" fmla="*/ 102 h 140"/>
                <a:gd name="T14" fmla="*/ 211 w 222"/>
                <a:gd name="T15" fmla="*/ 67 h 140"/>
                <a:gd name="T16" fmla="*/ 185 w 222"/>
                <a:gd name="T17" fmla="*/ 30 h 140"/>
                <a:gd name="T18" fmla="*/ 163 w 222"/>
                <a:gd name="T19" fmla="*/ 39 h 140"/>
                <a:gd name="T20" fmla="*/ 124 w 222"/>
                <a:gd name="T21" fmla="*/ 39 h 140"/>
                <a:gd name="T22" fmla="*/ 74 w 222"/>
                <a:gd name="T23" fmla="*/ 5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2" h="140">
                  <a:moveTo>
                    <a:pt x="74" y="5"/>
                  </a:moveTo>
                  <a:cubicBezTo>
                    <a:pt x="74" y="5"/>
                    <a:pt x="25" y="18"/>
                    <a:pt x="19" y="40"/>
                  </a:cubicBezTo>
                  <a:cubicBezTo>
                    <a:pt x="13" y="62"/>
                    <a:pt x="0" y="78"/>
                    <a:pt x="26" y="92"/>
                  </a:cubicBezTo>
                  <a:cubicBezTo>
                    <a:pt x="52" y="106"/>
                    <a:pt x="74" y="119"/>
                    <a:pt x="94" y="112"/>
                  </a:cubicBezTo>
                  <a:cubicBezTo>
                    <a:pt x="114" y="105"/>
                    <a:pt x="111" y="95"/>
                    <a:pt x="128" y="108"/>
                  </a:cubicBezTo>
                  <a:cubicBezTo>
                    <a:pt x="146" y="121"/>
                    <a:pt x="167" y="140"/>
                    <a:pt x="175" y="122"/>
                  </a:cubicBezTo>
                  <a:cubicBezTo>
                    <a:pt x="182" y="105"/>
                    <a:pt x="190" y="104"/>
                    <a:pt x="202" y="102"/>
                  </a:cubicBezTo>
                  <a:cubicBezTo>
                    <a:pt x="214" y="101"/>
                    <a:pt x="222" y="67"/>
                    <a:pt x="211" y="67"/>
                  </a:cubicBezTo>
                  <a:cubicBezTo>
                    <a:pt x="199" y="67"/>
                    <a:pt x="185" y="40"/>
                    <a:pt x="185" y="30"/>
                  </a:cubicBezTo>
                  <a:cubicBezTo>
                    <a:pt x="185" y="20"/>
                    <a:pt x="175" y="30"/>
                    <a:pt x="163" y="39"/>
                  </a:cubicBezTo>
                  <a:cubicBezTo>
                    <a:pt x="152" y="47"/>
                    <a:pt x="144" y="50"/>
                    <a:pt x="124" y="39"/>
                  </a:cubicBezTo>
                  <a:cubicBezTo>
                    <a:pt x="104" y="27"/>
                    <a:pt x="92" y="0"/>
                    <a:pt x="74" y="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85" name="Freeform 2039">
              <a:extLst>
                <a:ext uri="{FF2B5EF4-FFF2-40B4-BE49-F238E27FC236}">
                  <a16:creationId xmlns:a16="http://schemas.microsoft.com/office/drawing/2014/main" id="{EFE8972F-BE1F-02D7-90D0-AF08B9A87E76}"/>
                </a:ext>
              </a:extLst>
            </p:cNvPr>
            <p:cNvSpPr>
              <a:spLocks noEditPoints="1"/>
            </p:cNvSpPr>
            <p:nvPr/>
          </p:nvSpPr>
          <p:spPr bwMode="auto">
            <a:xfrm>
              <a:off x="2279" y="2089"/>
              <a:ext cx="49" cy="31"/>
            </a:xfrm>
            <a:custGeom>
              <a:avLst/>
              <a:gdLst>
                <a:gd name="T0" fmla="*/ 72 w 221"/>
                <a:gd name="T1" fmla="*/ 4 h 139"/>
                <a:gd name="T2" fmla="*/ 73 w 221"/>
                <a:gd name="T3" fmla="*/ 4 h 139"/>
                <a:gd name="T4" fmla="*/ 15 w 221"/>
                <a:gd name="T5" fmla="*/ 42 h 139"/>
                <a:gd name="T6" fmla="*/ 11 w 221"/>
                <a:gd name="T7" fmla="*/ 54 h 139"/>
                <a:gd name="T8" fmla="*/ 24 w 221"/>
                <a:gd name="T9" fmla="*/ 99 h 139"/>
                <a:gd name="T10" fmla="*/ 28 w 221"/>
                <a:gd name="T11" fmla="*/ 101 h 139"/>
                <a:gd name="T12" fmla="*/ 95 w 221"/>
                <a:gd name="T13" fmla="*/ 119 h 139"/>
                <a:gd name="T14" fmla="*/ 110 w 221"/>
                <a:gd name="T15" fmla="*/ 112 h 139"/>
                <a:gd name="T16" fmla="*/ 126 w 221"/>
                <a:gd name="T17" fmla="*/ 114 h 139"/>
                <a:gd name="T18" fmla="*/ 131 w 221"/>
                <a:gd name="T19" fmla="*/ 118 h 139"/>
                <a:gd name="T20" fmla="*/ 169 w 221"/>
                <a:gd name="T21" fmla="*/ 136 h 139"/>
                <a:gd name="T22" fmla="*/ 179 w 221"/>
                <a:gd name="T23" fmla="*/ 127 h 139"/>
                <a:gd name="T24" fmla="*/ 203 w 221"/>
                <a:gd name="T25" fmla="*/ 109 h 139"/>
                <a:gd name="T26" fmla="*/ 220 w 221"/>
                <a:gd name="T27" fmla="*/ 78 h 139"/>
                <a:gd name="T28" fmla="*/ 211 w 221"/>
                <a:gd name="T29" fmla="*/ 66 h 139"/>
                <a:gd name="T30" fmla="*/ 189 w 221"/>
                <a:gd name="T31" fmla="*/ 33 h 139"/>
                <a:gd name="T32" fmla="*/ 185 w 221"/>
                <a:gd name="T33" fmla="*/ 25 h 139"/>
                <a:gd name="T34" fmla="*/ 166 w 221"/>
                <a:gd name="T35" fmla="*/ 34 h 139"/>
                <a:gd name="T36" fmla="*/ 160 w 221"/>
                <a:gd name="T37" fmla="*/ 38 h 139"/>
                <a:gd name="T38" fmla="*/ 126 w 221"/>
                <a:gd name="T39" fmla="*/ 38 h 139"/>
                <a:gd name="T40" fmla="*/ 107 w 221"/>
                <a:gd name="T41" fmla="*/ 21 h 139"/>
                <a:gd name="T42" fmla="*/ 72 w 221"/>
                <a:gd name="T43" fmla="*/ 4 h 139"/>
                <a:gd name="T44" fmla="*/ 32 w 221"/>
                <a:gd name="T45" fmla="*/ 93 h 139"/>
                <a:gd name="T46" fmla="*/ 28 w 221"/>
                <a:gd name="T47" fmla="*/ 91 h 139"/>
                <a:gd name="T48" fmla="*/ 19 w 221"/>
                <a:gd name="T49" fmla="*/ 56 h 139"/>
                <a:gd name="T50" fmla="*/ 23 w 221"/>
                <a:gd name="T51" fmla="*/ 44 h 139"/>
                <a:gd name="T52" fmla="*/ 75 w 221"/>
                <a:gd name="T53" fmla="*/ 13 h 139"/>
                <a:gd name="T54" fmla="*/ 75 w 221"/>
                <a:gd name="T55" fmla="*/ 13 h 139"/>
                <a:gd name="T56" fmla="*/ 101 w 221"/>
                <a:gd name="T57" fmla="*/ 27 h 139"/>
                <a:gd name="T58" fmla="*/ 122 w 221"/>
                <a:gd name="T59" fmla="*/ 45 h 139"/>
                <a:gd name="T60" fmla="*/ 166 w 221"/>
                <a:gd name="T61" fmla="*/ 45 h 139"/>
                <a:gd name="T62" fmla="*/ 172 w 221"/>
                <a:gd name="T63" fmla="*/ 41 h 139"/>
                <a:gd name="T64" fmla="*/ 181 w 221"/>
                <a:gd name="T65" fmla="*/ 34 h 139"/>
                <a:gd name="T66" fmla="*/ 211 w 221"/>
                <a:gd name="T67" fmla="*/ 75 h 139"/>
                <a:gd name="T68" fmla="*/ 212 w 221"/>
                <a:gd name="T69" fmla="*/ 79 h 139"/>
                <a:gd name="T70" fmla="*/ 211 w 221"/>
                <a:gd name="T71" fmla="*/ 86 h 139"/>
                <a:gd name="T72" fmla="*/ 201 w 221"/>
                <a:gd name="T73" fmla="*/ 101 h 139"/>
                <a:gd name="T74" fmla="*/ 171 w 221"/>
                <a:gd name="T75" fmla="*/ 124 h 139"/>
                <a:gd name="T76" fmla="*/ 167 w 221"/>
                <a:gd name="T77" fmla="*/ 128 h 139"/>
                <a:gd name="T78" fmla="*/ 136 w 221"/>
                <a:gd name="T79" fmla="*/ 111 h 139"/>
                <a:gd name="T80" fmla="*/ 131 w 221"/>
                <a:gd name="T81" fmla="*/ 107 h 139"/>
                <a:gd name="T82" fmla="*/ 105 w 221"/>
                <a:gd name="T83" fmla="*/ 104 h 139"/>
                <a:gd name="T84" fmla="*/ 92 w 221"/>
                <a:gd name="T85" fmla="*/ 111 h 139"/>
                <a:gd name="T86" fmla="*/ 32 w 221"/>
                <a:gd name="T87" fmla="*/ 93 h 1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221" h="139">
                  <a:moveTo>
                    <a:pt x="72" y="4"/>
                  </a:moveTo>
                  <a:cubicBezTo>
                    <a:pt x="73" y="4"/>
                    <a:pt x="73" y="4"/>
                    <a:pt x="73" y="4"/>
                  </a:cubicBezTo>
                  <a:cubicBezTo>
                    <a:pt x="67" y="6"/>
                    <a:pt x="21" y="19"/>
                    <a:pt x="15" y="42"/>
                  </a:cubicBezTo>
                  <a:cubicBezTo>
                    <a:pt x="11" y="54"/>
                    <a:pt x="11" y="54"/>
                    <a:pt x="11" y="54"/>
                  </a:cubicBezTo>
                  <a:cubicBezTo>
                    <a:pt x="5" y="69"/>
                    <a:pt x="0" y="85"/>
                    <a:pt x="24" y="99"/>
                  </a:cubicBezTo>
                  <a:cubicBezTo>
                    <a:pt x="28" y="101"/>
                    <a:pt x="28" y="101"/>
                    <a:pt x="28" y="101"/>
                  </a:cubicBezTo>
                  <a:cubicBezTo>
                    <a:pt x="53" y="115"/>
                    <a:pt x="74" y="127"/>
                    <a:pt x="95" y="119"/>
                  </a:cubicBezTo>
                  <a:cubicBezTo>
                    <a:pt x="102" y="117"/>
                    <a:pt x="107" y="114"/>
                    <a:pt x="110" y="112"/>
                  </a:cubicBezTo>
                  <a:cubicBezTo>
                    <a:pt x="116" y="108"/>
                    <a:pt x="117" y="107"/>
                    <a:pt x="126" y="114"/>
                  </a:cubicBezTo>
                  <a:cubicBezTo>
                    <a:pt x="131" y="118"/>
                    <a:pt x="131" y="118"/>
                    <a:pt x="131" y="118"/>
                  </a:cubicBezTo>
                  <a:cubicBezTo>
                    <a:pt x="144" y="128"/>
                    <a:pt x="158" y="139"/>
                    <a:pt x="169" y="136"/>
                  </a:cubicBezTo>
                  <a:cubicBezTo>
                    <a:pt x="173" y="135"/>
                    <a:pt x="177" y="132"/>
                    <a:pt x="179" y="127"/>
                  </a:cubicBezTo>
                  <a:cubicBezTo>
                    <a:pt x="185" y="112"/>
                    <a:pt x="192" y="111"/>
                    <a:pt x="203" y="109"/>
                  </a:cubicBezTo>
                  <a:cubicBezTo>
                    <a:pt x="214" y="108"/>
                    <a:pt x="221" y="89"/>
                    <a:pt x="220" y="78"/>
                  </a:cubicBezTo>
                  <a:cubicBezTo>
                    <a:pt x="220" y="69"/>
                    <a:pt x="215" y="66"/>
                    <a:pt x="211" y="66"/>
                  </a:cubicBezTo>
                  <a:cubicBezTo>
                    <a:pt x="203" y="66"/>
                    <a:pt x="189" y="42"/>
                    <a:pt x="189" y="33"/>
                  </a:cubicBezTo>
                  <a:cubicBezTo>
                    <a:pt x="189" y="29"/>
                    <a:pt x="188" y="26"/>
                    <a:pt x="185" y="25"/>
                  </a:cubicBezTo>
                  <a:cubicBezTo>
                    <a:pt x="180" y="23"/>
                    <a:pt x="175" y="27"/>
                    <a:pt x="166" y="34"/>
                  </a:cubicBezTo>
                  <a:cubicBezTo>
                    <a:pt x="160" y="38"/>
                    <a:pt x="160" y="38"/>
                    <a:pt x="160" y="38"/>
                  </a:cubicBezTo>
                  <a:cubicBezTo>
                    <a:pt x="150" y="46"/>
                    <a:pt x="145" y="49"/>
                    <a:pt x="126" y="38"/>
                  </a:cubicBezTo>
                  <a:cubicBezTo>
                    <a:pt x="119" y="34"/>
                    <a:pt x="113" y="27"/>
                    <a:pt x="107" y="21"/>
                  </a:cubicBezTo>
                  <a:cubicBezTo>
                    <a:pt x="97" y="11"/>
                    <a:pt x="87" y="0"/>
                    <a:pt x="72" y="4"/>
                  </a:cubicBezTo>
                  <a:close/>
                  <a:moveTo>
                    <a:pt x="32" y="93"/>
                  </a:moveTo>
                  <a:cubicBezTo>
                    <a:pt x="28" y="91"/>
                    <a:pt x="28" y="91"/>
                    <a:pt x="28" y="91"/>
                  </a:cubicBezTo>
                  <a:cubicBezTo>
                    <a:pt x="10" y="81"/>
                    <a:pt x="14" y="72"/>
                    <a:pt x="19" y="56"/>
                  </a:cubicBezTo>
                  <a:cubicBezTo>
                    <a:pt x="23" y="44"/>
                    <a:pt x="23" y="44"/>
                    <a:pt x="23" y="44"/>
                  </a:cubicBezTo>
                  <a:cubicBezTo>
                    <a:pt x="27" y="28"/>
                    <a:pt x="62" y="16"/>
                    <a:pt x="75" y="13"/>
                  </a:cubicBezTo>
                  <a:cubicBezTo>
                    <a:pt x="75" y="13"/>
                    <a:pt x="75" y="13"/>
                    <a:pt x="75" y="13"/>
                  </a:cubicBezTo>
                  <a:cubicBezTo>
                    <a:pt x="84" y="10"/>
                    <a:pt x="90" y="16"/>
                    <a:pt x="101" y="27"/>
                  </a:cubicBezTo>
                  <a:cubicBezTo>
                    <a:pt x="107" y="34"/>
                    <a:pt x="114" y="41"/>
                    <a:pt x="122" y="45"/>
                  </a:cubicBezTo>
                  <a:cubicBezTo>
                    <a:pt x="143" y="57"/>
                    <a:pt x="152" y="55"/>
                    <a:pt x="166" y="45"/>
                  </a:cubicBezTo>
                  <a:cubicBezTo>
                    <a:pt x="172" y="41"/>
                    <a:pt x="172" y="41"/>
                    <a:pt x="172" y="41"/>
                  </a:cubicBezTo>
                  <a:cubicBezTo>
                    <a:pt x="175" y="38"/>
                    <a:pt x="178" y="35"/>
                    <a:pt x="181" y="34"/>
                  </a:cubicBezTo>
                  <a:cubicBezTo>
                    <a:pt x="181" y="46"/>
                    <a:pt x="196" y="75"/>
                    <a:pt x="211" y="75"/>
                  </a:cubicBezTo>
                  <a:cubicBezTo>
                    <a:pt x="211" y="75"/>
                    <a:pt x="212" y="77"/>
                    <a:pt x="212" y="79"/>
                  </a:cubicBezTo>
                  <a:cubicBezTo>
                    <a:pt x="212" y="81"/>
                    <a:pt x="212" y="83"/>
                    <a:pt x="211" y="86"/>
                  </a:cubicBezTo>
                  <a:cubicBezTo>
                    <a:pt x="209" y="95"/>
                    <a:pt x="204" y="100"/>
                    <a:pt x="201" y="101"/>
                  </a:cubicBezTo>
                  <a:cubicBezTo>
                    <a:pt x="190" y="102"/>
                    <a:pt x="179" y="104"/>
                    <a:pt x="171" y="124"/>
                  </a:cubicBezTo>
                  <a:cubicBezTo>
                    <a:pt x="169" y="127"/>
                    <a:pt x="168" y="127"/>
                    <a:pt x="167" y="128"/>
                  </a:cubicBezTo>
                  <a:cubicBezTo>
                    <a:pt x="160" y="130"/>
                    <a:pt x="146" y="119"/>
                    <a:pt x="136" y="111"/>
                  </a:cubicBezTo>
                  <a:cubicBezTo>
                    <a:pt x="131" y="107"/>
                    <a:pt x="131" y="107"/>
                    <a:pt x="131" y="107"/>
                  </a:cubicBezTo>
                  <a:cubicBezTo>
                    <a:pt x="118" y="98"/>
                    <a:pt x="114" y="99"/>
                    <a:pt x="105" y="104"/>
                  </a:cubicBezTo>
                  <a:cubicBezTo>
                    <a:pt x="102" y="106"/>
                    <a:pt x="99" y="109"/>
                    <a:pt x="92" y="111"/>
                  </a:cubicBezTo>
                  <a:cubicBezTo>
                    <a:pt x="75" y="117"/>
                    <a:pt x="56" y="107"/>
                    <a:pt x="32" y="9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86" name="Freeform 2040">
              <a:extLst>
                <a:ext uri="{FF2B5EF4-FFF2-40B4-BE49-F238E27FC236}">
                  <a16:creationId xmlns:a16="http://schemas.microsoft.com/office/drawing/2014/main" id="{CBDF648D-AFC2-475B-F90E-EF742E6778FE}"/>
                </a:ext>
              </a:extLst>
            </p:cNvPr>
            <p:cNvSpPr>
              <a:spLocks/>
            </p:cNvSpPr>
            <p:nvPr/>
          </p:nvSpPr>
          <p:spPr bwMode="auto">
            <a:xfrm>
              <a:off x="2347" y="2138"/>
              <a:ext cx="22" cy="26"/>
            </a:xfrm>
            <a:custGeom>
              <a:avLst/>
              <a:gdLst>
                <a:gd name="T0" fmla="*/ 34 w 101"/>
                <a:gd name="T1" fmla="*/ 8 h 119"/>
                <a:gd name="T2" fmla="*/ 11 w 101"/>
                <a:gd name="T3" fmla="*/ 47 h 119"/>
                <a:gd name="T4" fmla="*/ 39 w 101"/>
                <a:gd name="T5" fmla="*/ 60 h 119"/>
                <a:gd name="T6" fmla="*/ 79 w 101"/>
                <a:gd name="T7" fmla="*/ 110 h 119"/>
                <a:gd name="T8" fmla="*/ 98 w 101"/>
                <a:gd name="T9" fmla="*/ 100 h 119"/>
                <a:gd name="T10" fmla="*/ 84 w 101"/>
                <a:gd name="T11" fmla="*/ 49 h 119"/>
                <a:gd name="T12" fmla="*/ 56 w 101"/>
                <a:gd name="T13" fmla="*/ 28 h 119"/>
                <a:gd name="T14" fmla="*/ 34 w 101"/>
                <a:gd name="T15" fmla="*/ 8 h 119"/>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01" h="119">
                  <a:moveTo>
                    <a:pt x="34" y="8"/>
                  </a:moveTo>
                  <a:cubicBezTo>
                    <a:pt x="34" y="8"/>
                    <a:pt x="0" y="39"/>
                    <a:pt x="11" y="47"/>
                  </a:cubicBezTo>
                  <a:cubicBezTo>
                    <a:pt x="23" y="54"/>
                    <a:pt x="24" y="47"/>
                    <a:pt x="39" y="60"/>
                  </a:cubicBezTo>
                  <a:cubicBezTo>
                    <a:pt x="53" y="72"/>
                    <a:pt x="73" y="107"/>
                    <a:pt x="79" y="110"/>
                  </a:cubicBezTo>
                  <a:cubicBezTo>
                    <a:pt x="85" y="113"/>
                    <a:pt x="95" y="119"/>
                    <a:pt x="98" y="100"/>
                  </a:cubicBezTo>
                  <a:cubicBezTo>
                    <a:pt x="101" y="81"/>
                    <a:pt x="101" y="51"/>
                    <a:pt x="84" y="49"/>
                  </a:cubicBezTo>
                  <a:cubicBezTo>
                    <a:pt x="66" y="48"/>
                    <a:pt x="56" y="32"/>
                    <a:pt x="56" y="28"/>
                  </a:cubicBezTo>
                  <a:cubicBezTo>
                    <a:pt x="56" y="23"/>
                    <a:pt x="47" y="0"/>
                    <a:pt x="34" y="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87" name="Freeform 2041">
              <a:extLst>
                <a:ext uri="{FF2B5EF4-FFF2-40B4-BE49-F238E27FC236}">
                  <a16:creationId xmlns:a16="http://schemas.microsoft.com/office/drawing/2014/main" id="{4BC6F95A-FB37-B175-DA85-37BE07D262C4}"/>
                </a:ext>
              </a:extLst>
            </p:cNvPr>
            <p:cNvSpPr>
              <a:spLocks noEditPoints="1"/>
            </p:cNvSpPr>
            <p:nvPr/>
          </p:nvSpPr>
          <p:spPr bwMode="auto">
            <a:xfrm>
              <a:off x="2348" y="2138"/>
              <a:ext cx="22" cy="26"/>
            </a:xfrm>
            <a:custGeom>
              <a:avLst/>
              <a:gdLst>
                <a:gd name="T0" fmla="*/ 28 w 103"/>
                <a:gd name="T1" fmla="*/ 3 h 118"/>
                <a:gd name="T2" fmla="*/ 28 w 103"/>
                <a:gd name="T3" fmla="*/ 3 h 118"/>
                <a:gd name="T4" fmla="*/ 28 w 103"/>
                <a:gd name="T5" fmla="*/ 3 h 118"/>
                <a:gd name="T6" fmla="*/ 1 w 103"/>
                <a:gd name="T7" fmla="*/ 42 h 118"/>
                <a:gd name="T8" fmla="*/ 5 w 103"/>
                <a:gd name="T9" fmla="*/ 49 h 118"/>
                <a:gd name="T10" fmla="*/ 17 w 103"/>
                <a:gd name="T11" fmla="*/ 54 h 118"/>
                <a:gd name="T12" fmla="*/ 32 w 103"/>
                <a:gd name="T13" fmla="*/ 62 h 118"/>
                <a:gd name="T14" fmla="*/ 57 w 103"/>
                <a:gd name="T15" fmla="*/ 93 h 118"/>
                <a:gd name="T16" fmla="*/ 73 w 103"/>
                <a:gd name="T17" fmla="*/ 113 h 118"/>
                <a:gd name="T18" fmla="*/ 90 w 103"/>
                <a:gd name="T19" fmla="*/ 115 h 118"/>
                <a:gd name="T20" fmla="*/ 98 w 103"/>
                <a:gd name="T21" fmla="*/ 100 h 118"/>
                <a:gd name="T22" fmla="*/ 92 w 103"/>
                <a:gd name="T23" fmla="*/ 51 h 118"/>
                <a:gd name="T24" fmla="*/ 80 w 103"/>
                <a:gd name="T25" fmla="*/ 44 h 118"/>
                <a:gd name="T26" fmla="*/ 56 w 103"/>
                <a:gd name="T27" fmla="*/ 27 h 118"/>
                <a:gd name="T28" fmla="*/ 43 w 103"/>
                <a:gd name="T29" fmla="*/ 3 h 118"/>
                <a:gd name="T30" fmla="*/ 28 w 103"/>
                <a:gd name="T31" fmla="*/ 3 h 118"/>
                <a:gd name="T32" fmla="*/ 38 w 103"/>
                <a:gd name="T33" fmla="*/ 10 h 118"/>
                <a:gd name="T34" fmla="*/ 48 w 103"/>
                <a:gd name="T35" fmla="*/ 27 h 118"/>
                <a:gd name="T36" fmla="*/ 79 w 103"/>
                <a:gd name="T37" fmla="*/ 53 h 118"/>
                <a:gd name="T38" fmla="*/ 86 w 103"/>
                <a:gd name="T39" fmla="*/ 56 h 118"/>
                <a:gd name="T40" fmla="*/ 90 w 103"/>
                <a:gd name="T41" fmla="*/ 98 h 118"/>
                <a:gd name="T42" fmla="*/ 86 w 103"/>
                <a:gd name="T43" fmla="*/ 108 h 118"/>
                <a:gd name="T44" fmla="*/ 78 w 103"/>
                <a:gd name="T45" fmla="*/ 105 h 118"/>
                <a:gd name="T46" fmla="*/ 64 w 103"/>
                <a:gd name="T47" fmla="*/ 88 h 118"/>
                <a:gd name="T48" fmla="*/ 38 w 103"/>
                <a:gd name="T49" fmla="*/ 55 h 118"/>
                <a:gd name="T50" fmla="*/ 19 w 103"/>
                <a:gd name="T51" fmla="*/ 45 h 118"/>
                <a:gd name="T52" fmla="*/ 10 w 103"/>
                <a:gd name="T53" fmla="*/ 42 h 118"/>
                <a:gd name="T54" fmla="*/ 10 w 103"/>
                <a:gd name="T55" fmla="*/ 41 h 118"/>
                <a:gd name="T56" fmla="*/ 33 w 103"/>
                <a:gd name="T57" fmla="*/ 10 h 118"/>
                <a:gd name="T58" fmla="*/ 38 w 103"/>
                <a:gd name="T59" fmla="*/ 10 h 1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03" h="118">
                  <a:moveTo>
                    <a:pt x="28" y="3"/>
                  </a:moveTo>
                  <a:cubicBezTo>
                    <a:pt x="28" y="3"/>
                    <a:pt x="28" y="3"/>
                    <a:pt x="28" y="3"/>
                  </a:cubicBezTo>
                  <a:cubicBezTo>
                    <a:pt x="28" y="3"/>
                    <a:pt x="28" y="3"/>
                    <a:pt x="28" y="3"/>
                  </a:cubicBezTo>
                  <a:cubicBezTo>
                    <a:pt x="23" y="8"/>
                    <a:pt x="0" y="30"/>
                    <a:pt x="1" y="42"/>
                  </a:cubicBezTo>
                  <a:cubicBezTo>
                    <a:pt x="1" y="45"/>
                    <a:pt x="3" y="48"/>
                    <a:pt x="5" y="49"/>
                  </a:cubicBezTo>
                  <a:cubicBezTo>
                    <a:pt x="11" y="53"/>
                    <a:pt x="14" y="53"/>
                    <a:pt x="17" y="54"/>
                  </a:cubicBezTo>
                  <a:cubicBezTo>
                    <a:pt x="21" y="54"/>
                    <a:pt x="24" y="55"/>
                    <a:pt x="32" y="62"/>
                  </a:cubicBezTo>
                  <a:cubicBezTo>
                    <a:pt x="39" y="68"/>
                    <a:pt x="49" y="82"/>
                    <a:pt x="57" y="93"/>
                  </a:cubicBezTo>
                  <a:cubicBezTo>
                    <a:pt x="65" y="105"/>
                    <a:pt x="70" y="111"/>
                    <a:pt x="73" y="113"/>
                  </a:cubicBezTo>
                  <a:cubicBezTo>
                    <a:pt x="78" y="115"/>
                    <a:pt x="84" y="118"/>
                    <a:pt x="90" y="115"/>
                  </a:cubicBezTo>
                  <a:cubicBezTo>
                    <a:pt x="94" y="113"/>
                    <a:pt x="97" y="108"/>
                    <a:pt x="98" y="100"/>
                  </a:cubicBezTo>
                  <a:cubicBezTo>
                    <a:pt x="99" y="91"/>
                    <a:pt x="103" y="64"/>
                    <a:pt x="92" y="51"/>
                  </a:cubicBezTo>
                  <a:cubicBezTo>
                    <a:pt x="89" y="47"/>
                    <a:pt x="85" y="45"/>
                    <a:pt x="80" y="44"/>
                  </a:cubicBezTo>
                  <a:cubicBezTo>
                    <a:pt x="65" y="43"/>
                    <a:pt x="57" y="30"/>
                    <a:pt x="56" y="27"/>
                  </a:cubicBezTo>
                  <a:cubicBezTo>
                    <a:pt x="56" y="23"/>
                    <a:pt x="52" y="8"/>
                    <a:pt x="43" y="3"/>
                  </a:cubicBezTo>
                  <a:cubicBezTo>
                    <a:pt x="38" y="0"/>
                    <a:pt x="33" y="0"/>
                    <a:pt x="28" y="3"/>
                  </a:cubicBezTo>
                  <a:close/>
                  <a:moveTo>
                    <a:pt x="38" y="10"/>
                  </a:moveTo>
                  <a:cubicBezTo>
                    <a:pt x="44" y="13"/>
                    <a:pt x="48" y="25"/>
                    <a:pt x="48" y="27"/>
                  </a:cubicBezTo>
                  <a:cubicBezTo>
                    <a:pt x="48" y="34"/>
                    <a:pt x="60" y="51"/>
                    <a:pt x="79" y="53"/>
                  </a:cubicBezTo>
                  <a:cubicBezTo>
                    <a:pt x="82" y="53"/>
                    <a:pt x="84" y="54"/>
                    <a:pt x="86" y="56"/>
                  </a:cubicBezTo>
                  <a:cubicBezTo>
                    <a:pt x="92" y="65"/>
                    <a:pt x="92" y="84"/>
                    <a:pt x="90" y="98"/>
                  </a:cubicBezTo>
                  <a:cubicBezTo>
                    <a:pt x="89" y="105"/>
                    <a:pt x="87" y="107"/>
                    <a:pt x="86" y="108"/>
                  </a:cubicBezTo>
                  <a:cubicBezTo>
                    <a:pt x="84" y="109"/>
                    <a:pt x="80" y="107"/>
                    <a:pt x="78" y="105"/>
                  </a:cubicBezTo>
                  <a:cubicBezTo>
                    <a:pt x="75" y="104"/>
                    <a:pt x="69" y="95"/>
                    <a:pt x="64" y="88"/>
                  </a:cubicBezTo>
                  <a:cubicBezTo>
                    <a:pt x="55" y="76"/>
                    <a:pt x="46" y="63"/>
                    <a:pt x="38" y="55"/>
                  </a:cubicBezTo>
                  <a:cubicBezTo>
                    <a:pt x="28" y="47"/>
                    <a:pt x="24" y="46"/>
                    <a:pt x="19" y="45"/>
                  </a:cubicBezTo>
                  <a:cubicBezTo>
                    <a:pt x="16" y="45"/>
                    <a:pt x="14" y="44"/>
                    <a:pt x="10" y="42"/>
                  </a:cubicBezTo>
                  <a:cubicBezTo>
                    <a:pt x="10" y="42"/>
                    <a:pt x="10" y="41"/>
                    <a:pt x="10" y="41"/>
                  </a:cubicBezTo>
                  <a:cubicBezTo>
                    <a:pt x="10" y="35"/>
                    <a:pt x="21" y="21"/>
                    <a:pt x="33" y="10"/>
                  </a:cubicBezTo>
                  <a:cubicBezTo>
                    <a:pt x="35" y="9"/>
                    <a:pt x="36" y="9"/>
                    <a:pt x="38"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88" name="Freeform 2042">
              <a:extLst>
                <a:ext uri="{FF2B5EF4-FFF2-40B4-BE49-F238E27FC236}">
                  <a16:creationId xmlns:a16="http://schemas.microsoft.com/office/drawing/2014/main" id="{F138321A-F13E-8BD1-B270-1015DCBF958F}"/>
                </a:ext>
              </a:extLst>
            </p:cNvPr>
            <p:cNvSpPr>
              <a:spLocks/>
            </p:cNvSpPr>
            <p:nvPr/>
          </p:nvSpPr>
          <p:spPr bwMode="auto">
            <a:xfrm>
              <a:off x="2396" y="2267"/>
              <a:ext cx="7" cy="11"/>
            </a:xfrm>
            <a:custGeom>
              <a:avLst/>
              <a:gdLst>
                <a:gd name="T0" fmla="*/ 24 w 32"/>
                <a:gd name="T1" fmla="*/ 0 h 52"/>
                <a:gd name="T2" fmla="*/ 7 w 32"/>
                <a:gd name="T3" fmla="*/ 19 h 52"/>
                <a:gd name="T4" fmla="*/ 9 w 32"/>
                <a:gd name="T5" fmla="*/ 39 h 52"/>
                <a:gd name="T6" fmla="*/ 32 w 32"/>
                <a:gd name="T7" fmla="*/ 33 h 52"/>
                <a:gd name="T8" fmla="*/ 24 w 32"/>
                <a:gd name="T9" fmla="*/ 0 h 52"/>
              </a:gdLst>
              <a:ahLst/>
              <a:cxnLst>
                <a:cxn ang="0">
                  <a:pos x="T0" y="T1"/>
                </a:cxn>
                <a:cxn ang="0">
                  <a:pos x="T2" y="T3"/>
                </a:cxn>
                <a:cxn ang="0">
                  <a:pos x="T4" y="T5"/>
                </a:cxn>
                <a:cxn ang="0">
                  <a:pos x="T6" y="T7"/>
                </a:cxn>
                <a:cxn ang="0">
                  <a:pos x="T8" y="T9"/>
                </a:cxn>
              </a:cxnLst>
              <a:rect l="0" t="0" r="r" b="b"/>
              <a:pathLst>
                <a:path w="32" h="52">
                  <a:moveTo>
                    <a:pt x="24" y="0"/>
                  </a:moveTo>
                  <a:cubicBezTo>
                    <a:pt x="7" y="19"/>
                    <a:pt x="7" y="19"/>
                    <a:pt x="7" y="19"/>
                  </a:cubicBezTo>
                  <a:cubicBezTo>
                    <a:pt x="7" y="19"/>
                    <a:pt x="0" y="33"/>
                    <a:pt x="9" y="39"/>
                  </a:cubicBezTo>
                  <a:cubicBezTo>
                    <a:pt x="17" y="45"/>
                    <a:pt x="32" y="52"/>
                    <a:pt x="32" y="33"/>
                  </a:cubicBezTo>
                  <a:cubicBezTo>
                    <a:pt x="32" y="15"/>
                    <a:pt x="24" y="0"/>
                    <a:pt x="2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89" name="Freeform 2043">
              <a:extLst>
                <a:ext uri="{FF2B5EF4-FFF2-40B4-BE49-F238E27FC236}">
                  <a16:creationId xmlns:a16="http://schemas.microsoft.com/office/drawing/2014/main" id="{E5A2E3E7-A2F5-09C6-31BB-3F40431C5E8D}"/>
                </a:ext>
              </a:extLst>
            </p:cNvPr>
            <p:cNvSpPr>
              <a:spLocks noEditPoints="1"/>
            </p:cNvSpPr>
            <p:nvPr/>
          </p:nvSpPr>
          <p:spPr bwMode="auto">
            <a:xfrm>
              <a:off x="2395" y="2265"/>
              <a:ext cx="9" cy="13"/>
            </a:xfrm>
            <a:custGeom>
              <a:avLst/>
              <a:gdLst>
                <a:gd name="T0" fmla="*/ 7 w 39"/>
                <a:gd name="T1" fmla="*/ 23 h 58"/>
                <a:gd name="T2" fmla="*/ 6 w 39"/>
                <a:gd name="T3" fmla="*/ 24 h 58"/>
                <a:gd name="T4" fmla="*/ 9 w 39"/>
                <a:gd name="T5" fmla="*/ 50 h 58"/>
                <a:gd name="T6" fmla="*/ 32 w 39"/>
                <a:gd name="T7" fmla="*/ 55 h 58"/>
                <a:gd name="T8" fmla="*/ 39 w 39"/>
                <a:gd name="T9" fmla="*/ 40 h 58"/>
                <a:gd name="T10" fmla="*/ 31 w 39"/>
                <a:gd name="T11" fmla="*/ 5 h 58"/>
                <a:gd name="T12" fmla="*/ 29 w 39"/>
                <a:gd name="T13" fmla="*/ 0 h 58"/>
                <a:gd name="T14" fmla="*/ 7 w 39"/>
                <a:gd name="T15" fmla="*/ 23 h 58"/>
                <a:gd name="T16" fmla="*/ 26 w 39"/>
                <a:gd name="T17" fmla="*/ 15 h 58"/>
                <a:gd name="T18" fmla="*/ 30 w 39"/>
                <a:gd name="T19" fmla="*/ 40 h 58"/>
                <a:gd name="T20" fmla="*/ 28 w 39"/>
                <a:gd name="T21" fmla="*/ 48 h 58"/>
                <a:gd name="T22" fmla="*/ 14 w 39"/>
                <a:gd name="T23" fmla="*/ 42 h 58"/>
                <a:gd name="T24" fmla="*/ 12 w 39"/>
                <a:gd name="T25" fmla="*/ 37 h 58"/>
                <a:gd name="T26" fmla="*/ 14 w 39"/>
                <a:gd name="T27" fmla="*/ 28 h 58"/>
                <a:gd name="T28" fmla="*/ 26 w 39"/>
                <a:gd name="T29" fmla="*/ 15 h 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 h="58">
                  <a:moveTo>
                    <a:pt x="7" y="23"/>
                  </a:moveTo>
                  <a:cubicBezTo>
                    <a:pt x="6" y="24"/>
                    <a:pt x="6" y="24"/>
                    <a:pt x="6" y="24"/>
                  </a:cubicBezTo>
                  <a:cubicBezTo>
                    <a:pt x="3" y="31"/>
                    <a:pt x="0" y="43"/>
                    <a:pt x="9" y="50"/>
                  </a:cubicBezTo>
                  <a:cubicBezTo>
                    <a:pt x="19" y="56"/>
                    <a:pt x="27" y="58"/>
                    <a:pt x="32" y="55"/>
                  </a:cubicBezTo>
                  <a:cubicBezTo>
                    <a:pt x="37" y="53"/>
                    <a:pt x="39" y="48"/>
                    <a:pt x="39" y="40"/>
                  </a:cubicBezTo>
                  <a:cubicBezTo>
                    <a:pt x="39" y="21"/>
                    <a:pt x="32" y="6"/>
                    <a:pt x="31" y="5"/>
                  </a:cubicBezTo>
                  <a:cubicBezTo>
                    <a:pt x="29" y="0"/>
                    <a:pt x="29" y="0"/>
                    <a:pt x="29" y="0"/>
                  </a:cubicBezTo>
                  <a:lnTo>
                    <a:pt x="7" y="23"/>
                  </a:lnTo>
                  <a:close/>
                  <a:moveTo>
                    <a:pt x="26" y="15"/>
                  </a:moveTo>
                  <a:cubicBezTo>
                    <a:pt x="28" y="21"/>
                    <a:pt x="30" y="30"/>
                    <a:pt x="30" y="40"/>
                  </a:cubicBezTo>
                  <a:cubicBezTo>
                    <a:pt x="30" y="44"/>
                    <a:pt x="30" y="47"/>
                    <a:pt x="28" y="48"/>
                  </a:cubicBezTo>
                  <a:cubicBezTo>
                    <a:pt x="28" y="48"/>
                    <a:pt x="24" y="49"/>
                    <a:pt x="14" y="42"/>
                  </a:cubicBezTo>
                  <a:cubicBezTo>
                    <a:pt x="12" y="41"/>
                    <a:pt x="12" y="39"/>
                    <a:pt x="12" y="37"/>
                  </a:cubicBezTo>
                  <a:cubicBezTo>
                    <a:pt x="12" y="33"/>
                    <a:pt x="14" y="29"/>
                    <a:pt x="14" y="28"/>
                  </a:cubicBezTo>
                  <a:cubicBezTo>
                    <a:pt x="15" y="27"/>
                    <a:pt x="21" y="20"/>
                    <a:pt x="26"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90" name="Freeform 2044">
              <a:extLst>
                <a:ext uri="{FF2B5EF4-FFF2-40B4-BE49-F238E27FC236}">
                  <a16:creationId xmlns:a16="http://schemas.microsoft.com/office/drawing/2014/main" id="{54799AA3-BA45-BF01-7220-CFF865F9423A}"/>
                </a:ext>
              </a:extLst>
            </p:cNvPr>
            <p:cNvSpPr>
              <a:spLocks/>
            </p:cNvSpPr>
            <p:nvPr/>
          </p:nvSpPr>
          <p:spPr bwMode="auto">
            <a:xfrm>
              <a:off x="2392" y="2280"/>
              <a:ext cx="7" cy="10"/>
            </a:xfrm>
            <a:custGeom>
              <a:avLst/>
              <a:gdLst>
                <a:gd name="T0" fmla="*/ 11 w 30"/>
                <a:gd name="T1" fmla="*/ 2 h 45"/>
                <a:gd name="T2" fmla="*/ 7 w 30"/>
                <a:gd name="T3" fmla="*/ 26 h 45"/>
                <a:gd name="T4" fmla="*/ 27 w 30"/>
                <a:gd name="T5" fmla="*/ 26 h 45"/>
                <a:gd name="T6" fmla="*/ 11 w 30"/>
                <a:gd name="T7" fmla="*/ 2 h 45"/>
              </a:gdLst>
              <a:ahLst/>
              <a:cxnLst>
                <a:cxn ang="0">
                  <a:pos x="T0" y="T1"/>
                </a:cxn>
                <a:cxn ang="0">
                  <a:pos x="T2" y="T3"/>
                </a:cxn>
                <a:cxn ang="0">
                  <a:pos x="T4" y="T5"/>
                </a:cxn>
                <a:cxn ang="0">
                  <a:pos x="T6" y="T7"/>
                </a:cxn>
              </a:cxnLst>
              <a:rect l="0" t="0" r="r" b="b"/>
              <a:pathLst>
                <a:path w="30" h="45">
                  <a:moveTo>
                    <a:pt x="11" y="2"/>
                  </a:moveTo>
                  <a:cubicBezTo>
                    <a:pt x="11" y="2"/>
                    <a:pt x="0" y="16"/>
                    <a:pt x="7" y="26"/>
                  </a:cubicBezTo>
                  <a:cubicBezTo>
                    <a:pt x="14" y="36"/>
                    <a:pt x="24" y="45"/>
                    <a:pt x="27" y="26"/>
                  </a:cubicBezTo>
                  <a:cubicBezTo>
                    <a:pt x="30" y="7"/>
                    <a:pt x="26" y="0"/>
                    <a:pt x="11"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91" name="Freeform 2045">
              <a:extLst>
                <a:ext uri="{FF2B5EF4-FFF2-40B4-BE49-F238E27FC236}">
                  <a16:creationId xmlns:a16="http://schemas.microsoft.com/office/drawing/2014/main" id="{A601678A-1C89-8826-5329-8E3841395077}"/>
                </a:ext>
              </a:extLst>
            </p:cNvPr>
            <p:cNvSpPr>
              <a:spLocks noEditPoints="1"/>
            </p:cNvSpPr>
            <p:nvPr/>
          </p:nvSpPr>
          <p:spPr bwMode="auto">
            <a:xfrm>
              <a:off x="2391" y="2279"/>
              <a:ext cx="8" cy="10"/>
            </a:xfrm>
            <a:custGeom>
              <a:avLst/>
              <a:gdLst>
                <a:gd name="T0" fmla="*/ 17 w 39"/>
                <a:gd name="T1" fmla="*/ 0 h 46"/>
                <a:gd name="T2" fmla="*/ 15 w 39"/>
                <a:gd name="T3" fmla="*/ 1 h 46"/>
                <a:gd name="T4" fmla="*/ 14 w 39"/>
                <a:gd name="T5" fmla="*/ 2 h 46"/>
                <a:gd name="T6" fmla="*/ 9 w 39"/>
                <a:gd name="T7" fmla="*/ 32 h 46"/>
                <a:gd name="T8" fmla="*/ 28 w 39"/>
                <a:gd name="T9" fmla="*/ 44 h 46"/>
                <a:gd name="T10" fmla="*/ 37 w 39"/>
                <a:gd name="T11" fmla="*/ 30 h 46"/>
                <a:gd name="T12" fmla="*/ 34 w 39"/>
                <a:gd name="T13" fmla="*/ 5 h 46"/>
                <a:gd name="T14" fmla="*/ 17 w 39"/>
                <a:gd name="T15" fmla="*/ 0 h 46"/>
                <a:gd name="T16" fmla="*/ 27 w 39"/>
                <a:gd name="T17" fmla="*/ 11 h 46"/>
                <a:gd name="T18" fmla="*/ 29 w 39"/>
                <a:gd name="T19" fmla="*/ 29 h 46"/>
                <a:gd name="T20" fmla="*/ 26 w 39"/>
                <a:gd name="T21" fmla="*/ 36 h 46"/>
                <a:gd name="T22" fmla="*/ 16 w 39"/>
                <a:gd name="T23" fmla="*/ 27 h 46"/>
                <a:gd name="T24" fmla="*/ 15 w 39"/>
                <a:gd name="T25" fmla="*/ 21 h 46"/>
                <a:gd name="T26" fmla="*/ 20 w 39"/>
                <a:gd name="T27" fmla="*/ 9 h 46"/>
                <a:gd name="T28" fmla="*/ 27 w 39"/>
                <a:gd name="T29" fmla="*/ 11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9" h="46">
                  <a:moveTo>
                    <a:pt x="17" y="0"/>
                  </a:moveTo>
                  <a:cubicBezTo>
                    <a:pt x="15" y="1"/>
                    <a:pt x="15" y="1"/>
                    <a:pt x="15" y="1"/>
                  </a:cubicBezTo>
                  <a:cubicBezTo>
                    <a:pt x="14" y="2"/>
                    <a:pt x="14" y="2"/>
                    <a:pt x="14" y="2"/>
                  </a:cubicBezTo>
                  <a:cubicBezTo>
                    <a:pt x="13" y="3"/>
                    <a:pt x="0" y="19"/>
                    <a:pt x="9" y="32"/>
                  </a:cubicBezTo>
                  <a:cubicBezTo>
                    <a:pt x="16" y="41"/>
                    <a:pt x="23" y="46"/>
                    <a:pt x="28" y="44"/>
                  </a:cubicBezTo>
                  <a:cubicBezTo>
                    <a:pt x="35" y="43"/>
                    <a:pt x="37" y="33"/>
                    <a:pt x="37" y="30"/>
                  </a:cubicBezTo>
                  <a:cubicBezTo>
                    <a:pt x="39" y="17"/>
                    <a:pt x="38" y="10"/>
                    <a:pt x="34" y="5"/>
                  </a:cubicBezTo>
                  <a:cubicBezTo>
                    <a:pt x="30" y="1"/>
                    <a:pt x="24" y="0"/>
                    <a:pt x="17" y="0"/>
                  </a:cubicBezTo>
                  <a:close/>
                  <a:moveTo>
                    <a:pt x="27" y="11"/>
                  </a:moveTo>
                  <a:cubicBezTo>
                    <a:pt x="30" y="13"/>
                    <a:pt x="30" y="19"/>
                    <a:pt x="29" y="29"/>
                  </a:cubicBezTo>
                  <a:cubicBezTo>
                    <a:pt x="28" y="35"/>
                    <a:pt x="26" y="36"/>
                    <a:pt x="26" y="36"/>
                  </a:cubicBezTo>
                  <a:cubicBezTo>
                    <a:pt x="26" y="36"/>
                    <a:pt x="22" y="35"/>
                    <a:pt x="16" y="27"/>
                  </a:cubicBezTo>
                  <a:cubicBezTo>
                    <a:pt x="15" y="25"/>
                    <a:pt x="15" y="23"/>
                    <a:pt x="15" y="21"/>
                  </a:cubicBezTo>
                  <a:cubicBezTo>
                    <a:pt x="15" y="17"/>
                    <a:pt x="18" y="11"/>
                    <a:pt x="20" y="9"/>
                  </a:cubicBezTo>
                  <a:cubicBezTo>
                    <a:pt x="23" y="9"/>
                    <a:pt x="26" y="9"/>
                    <a:pt x="27"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92" name="Freeform 2046">
              <a:extLst>
                <a:ext uri="{FF2B5EF4-FFF2-40B4-BE49-F238E27FC236}">
                  <a16:creationId xmlns:a16="http://schemas.microsoft.com/office/drawing/2014/main" id="{AD559F4E-8E25-3964-3D46-0CBEE60AF61C}"/>
                </a:ext>
              </a:extLst>
            </p:cNvPr>
            <p:cNvSpPr>
              <a:spLocks/>
            </p:cNvSpPr>
            <p:nvPr/>
          </p:nvSpPr>
          <p:spPr bwMode="auto">
            <a:xfrm>
              <a:off x="2515" y="2305"/>
              <a:ext cx="13" cy="8"/>
            </a:xfrm>
            <a:custGeom>
              <a:avLst/>
              <a:gdLst>
                <a:gd name="T0" fmla="*/ 37 w 58"/>
                <a:gd name="T1" fmla="*/ 3 h 37"/>
                <a:gd name="T2" fmla="*/ 11 w 58"/>
                <a:gd name="T3" fmla="*/ 29 h 37"/>
                <a:gd name="T4" fmla="*/ 50 w 58"/>
                <a:gd name="T5" fmla="*/ 18 h 37"/>
                <a:gd name="T6" fmla="*/ 37 w 58"/>
                <a:gd name="T7" fmla="*/ 3 h 37"/>
              </a:gdLst>
              <a:ahLst/>
              <a:cxnLst>
                <a:cxn ang="0">
                  <a:pos x="T0" y="T1"/>
                </a:cxn>
                <a:cxn ang="0">
                  <a:pos x="T2" y="T3"/>
                </a:cxn>
                <a:cxn ang="0">
                  <a:pos x="T4" y="T5"/>
                </a:cxn>
                <a:cxn ang="0">
                  <a:pos x="T6" y="T7"/>
                </a:cxn>
              </a:cxnLst>
              <a:rect l="0" t="0" r="r" b="b"/>
              <a:pathLst>
                <a:path w="58" h="37">
                  <a:moveTo>
                    <a:pt x="37" y="3"/>
                  </a:moveTo>
                  <a:cubicBezTo>
                    <a:pt x="37" y="3"/>
                    <a:pt x="0" y="20"/>
                    <a:pt x="11" y="29"/>
                  </a:cubicBezTo>
                  <a:cubicBezTo>
                    <a:pt x="23" y="37"/>
                    <a:pt x="47" y="29"/>
                    <a:pt x="50" y="18"/>
                  </a:cubicBezTo>
                  <a:cubicBezTo>
                    <a:pt x="53" y="8"/>
                    <a:pt x="58" y="0"/>
                    <a:pt x="3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93" name="Freeform 2047">
              <a:extLst>
                <a:ext uri="{FF2B5EF4-FFF2-40B4-BE49-F238E27FC236}">
                  <a16:creationId xmlns:a16="http://schemas.microsoft.com/office/drawing/2014/main" id="{065C973F-F92B-4461-569B-174972EC5F3F}"/>
                </a:ext>
              </a:extLst>
            </p:cNvPr>
            <p:cNvSpPr>
              <a:spLocks noEditPoints="1"/>
            </p:cNvSpPr>
            <p:nvPr/>
          </p:nvSpPr>
          <p:spPr bwMode="auto">
            <a:xfrm>
              <a:off x="2516" y="2304"/>
              <a:ext cx="12" cy="9"/>
            </a:xfrm>
            <a:custGeom>
              <a:avLst/>
              <a:gdLst>
                <a:gd name="T0" fmla="*/ 32 w 54"/>
                <a:gd name="T1" fmla="*/ 1 h 41"/>
                <a:gd name="T2" fmla="*/ 31 w 54"/>
                <a:gd name="T3" fmla="*/ 1 h 41"/>
                <a:gd name="T4" fmla="*/ 31 w 54"/>
                <a:gd name="T5" fmla="*/ 2 h 41"/>
                <a:gd name="T6" fmla="*/ 0 w 54"/>
                <a:gd name="T7" fmla="*/ 27 h 41"/>
                <a:gd name="T8" fmla="*/ 4 w 54"/>
                <a:gd name="T9" fmla="*/ 35 h 41"/>
                <a:gd name="T10" fmla="*/ 32 w 54"/>
                <a:gd name="T11" fmla="*/ 37 h 41"/>
                <a:gd name="T12" fmla="*/ 49 w 54"/>
                <a:gd name="T13" fmla="*/ 23 h 41"/>
                <a:gd name="T14" fmla="*/ 50 w 54"/>
                <a:gd name="T15" fmla="*/ 20 h 41"/>
                <a:gd name="T16" fmla="*/ 50 w 54"/>
                <a:gd name="T17" fmla="*/ 4 h 41"/>
                <a:gd name="T18" fmla="*/ 32 w 54"/>
                <a:gd name="T19" fmla="*/ 1 h 41"/>
                <a:gd name="T20" fmla="*/ 43 w 54"/>
                <a:gd name="T21" fmla="*/ 10 h 41"/>
                <a:gd name="T22" fmla="*/ 42 w 54"/>
                <a:gd name="T23" fmla="*/ 18 h 41"/>
                <a:gd name="T24" fmla="*/ 41 w 54"/>
                <a:gd name="T25" fmla="*/ 20 h 41"/>
                <a:gd name="T26" fmla="*/ 29 w 54"/>
                <a:gd name="T27" fmla="*/ 29 h 41"/>
                <a:gd name="T28" fmla="*/ 9 w 54"/>
                <a:gd name="T29" fmla="*/ 28 h 41"/>
                <a:gd name="T30" fmla="*/ 9 w 54"/>
                <a:gd name="T31" fmla="*/ 28 h 41"/>
                <a:gd name="T32" fmla="*/ 34 w 54"/>
                <a:gd name="T33" fmla="*/ 10 h 41"/>
                <a:gd name="T34" fmla="*/ 43 w 54"/>
                <a:gd name="T35" fmla="*/ 10 h 4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4" h="41">
                  <a:moveTo>
                    <a:pt x="32" y="1"/>
                  </a:moveTo>
                  <a:cubicBezTo>
                    <a:pt x="31" y="1"/>
                    <a:pt x="31" y="1"/>
                    <a:pt x="31" y="1"/>
                  </a:cubicBezTo>
                  <a:cubicBezTo>
                    <a:pt x="31" y="2"/>
                    <a:pt x="31" y="2"/>
                    <a:pt x="31" y="2"/>
                  </a:cubicBezTo>
                  <a:cubicBezTo>
                    <a:pt x="24" y="5"/>
                    <a:pt x="1" y="16"/>
                    <a:pt x="0" y="27"/>
                  </a:cubicBezTo>
                  <a:cubicBezTo>
                    <a:pt x="0" y="30"/>
                    <a:pt x="1" y="33"/>
                    <a:pt x="4" y="35"/>
                  </a:cubicBezTo>
                  <a:cubicBezTo>
                    <a:pt x="10" y="40"/>
                    <a:pt x="21" y="41"/>
                    <a:pt x="32" y="37"/>
                  </a:cubicBezTo>
                  <a:cubicBezTo>
                    <a:pt x="41" y="34"/>
                    <a:pt x="48" y="29"/>
                    <a:pt x="49" y="23"/>
                  </a:cubicBezTo>
                  <a:cubicBezTo>
                    <a:pt x="50" y="20"/>
                    <a:pt x="50" y="20"/>
                    <a:pt x="50" y="20"/>
                  </a:cubicBezTo>
                  <a:cubicBezTo>
                    <a:pt x="52" y="15"/>
                    <a:pt x="54" y="9"/>
                    <a:pt x="50" y="4"/>
                  </a:cubicBezTo>
                  <a:cubicBezTo>
                    <a:pt x="47" y="1"/>
                    <a:pt x="41" y="0"/>
                    <a:pt x="32" y="1"/>
                  </a:cubicBezTo>
                  <a:close/>
                  <a:moveTo>
                    <a:pt x="43" y="10"/>
                  </a:moveTo>
                  <a:cubicBezTo>
                    <a:pt x="44" y="11"/>
                    <a:pt x="43" y="15"/>
                    <a:pt x="42" y="18"/>
                  </a:cubicBezTo>
                  <a:cubicBezTo>
                    <a:pt x="41" y="20"/>
                    <a:pt x="41" y="20"/>
                    <a:pt x="41" y="20"/>
                  </a:cubicBezTo>
                  <a:cubicBezTo>
                    <a:pt x="40" y="23"/>
                    <a:pt x="36" y="27"/>
                    <a:pt x="29" y="29"/>
                  </a:cubicBezTo>
                  <a:cubicBezTo>
                    <a:pt x="21" y="32"/>
                    <a:pt x="13" y="31"/>
                    <a:pt x="9" y="28"/>
                  </a:cubicBezTo>
                  <a:cubicBezTo>
                    <a:pt x="9" y="28"/>
                    <a:pt x="9" y="28"/>
                    <a:pt x="9" y="28"/>
                  </a:cubicBezTo>
                  <a:cubicBezTo>
                    <a:pt x="9" y="24"/>
                    <a:pt x="20" y="16"/>
                    <a:pt x="34" y="10"/>
                  </a:cubicBezTo>
                  <a:cubicBezTo>
                    <a:pt x="42" y="9"/>
                    <a:pt x="43" y="10"/>
                    <a:pt x="43"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94" name="Freeform 2048">
              <a:extLst>
                <a:ext uri="{FF2B5EF4-FFF2-40B4-BE49-F238E27FC236}">
                  <a16:creationId xmlns:a16="http://schemas.microsoft.com/office/drawing/2014/main" id="{07159758-2F10-C6BA-BE13-B4D42D0B8DCF}"/>
                </a:ext>
              </a:extLst>
            </p:cNvPr>
            <p:cNvSpPr>
              <a:spLocks/>
            </p:cNvSpPr>
            <p:nvPr/>
          </p:nvSpPr>
          <p:spPr bwMode="auto">
            <a:xfrm>
              <a:off x="2509" y="2291"/>
              <a:ext cx="7" cy="9"/>
            </a:xfrm>
            <a:custGeom>
              <a:avLst/>
              <a:gdLst>
                <a:gd name="T0" fmla="*/ 5 w 32"/>
                <a:gd name="T1" fmla="*/ 7 h 42"/>
                <a:gd name="T2" fmla="*/ 15 w 32"/>
                <a:gd name="T3" fmla="*/ 31 h 42"/>
                <a:gd name="T4" fmla="*/ 22 w 32"/>
                <a:gd name="T5" fmla="*/ 10 h 42"/>
                <a:gd name="T6" fmla="*/ 5 w 32"/>
                <a:gd name="T7" fmla="*/ 7 h 42"/>
              </a:gdLst>
              <a:ahLst/>
              <a:cxnLst>
                <a:cxn ang="0">
                  <a:pos x="T0" y="T1"/>
                </a:cxn>
                <a:cxn ang="0">
                  <a:pos x="T2" y="T3"/>
                </a:cxn>
                <a:cxn ang="0">
                  <a:pos x="T4" y="T5"/>
                </a:cxn>
                <a:cxn ang="0">
                  <a:pos x="T6" y="T7"/>
                </a:cxn>
              </a:cxnLst>
              <a:rect l="0" t="0" r="r" b="b"/>
              <a:pathLst>
                <a:path w="32" h="42">
                  <a:moveTo>
                    <a:pt x="5" y="7"/>
                  </a:moveTo>
                  <a:cubicBezTo>
                    <a:pt x="5" y="7"/>
                    <a:pt x="0" y="42"/>
                    <a:pt x="15" y="31"/>
                  </a:cubicBezTo>
                  <a:cubicBezTo>
                    <a:pt x="29" y="21"/>
                    <a:pt x="32" y="20"/>
                    <a:pt x="22" y="10"/>
                  </a:cubicBezTo>
                  <a:cubicBezTo>
                    <a:pt x="15" y="3"/>
                    <a:pt x="6" y="0"/>
                    <a:pt x="5"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95" name="Freeform 2049">
              <a:extLst>
                <a:ext uri="{FF2B5EF4-FFF2-40B4-BE49-F238E27FC236}">
                  <a16:creationId xmlns:a16="http://schemas.microsoft.com/office/drawing/2014/main" id="{99908160-1C0F-E436-4635-EC90F3C0E407}"/>
                </a:ext>
              </a:extLst>
            </p:cNvPr>
            <p:cNvSpPr>
              <a:spLocks noEditPoints="1"/>
            </p:cNvSpPr>
            <p:nvPr/>
          </p:nvSpPr>
          <p:spPr bwMode="auto">
            <a:xfrm>
              <a:off x="2509" y="2290"/>
              <a:ext cx="7" cy="10"/>
            </a:xfrm>
            <a:custGeom>
              <a:avLst/>
              <a:gdLst>
                <a:gd name="T0" fmla="*/ 9 w 35"/>
                <a:gd name="T1" fmla="*/ 2 h 42"/>
                <a:gd name="T2" fmla="*/ 3 w 35"/>
                <a:gd name="T3" fmla="*/ 9 h 42"/>
                <a:gd name="T4" fmla="*/ 2 w 35"/>
                <a:gd name="T5" fmla="*/ 9 h 42"/>
                <a:gd name="T6" fmla="*/ 8 w 35"/>
                <a:gd name="T7" fmla="*/ 39 h 42"/>
                <a:gd name="T8" fmla="*/ 19 w 35"/>
                <a:gd name="T9" fmla="*/ 38 h 42"/>
                <a:gd name="T10" fmla="*/ 21 w 35"/>
                <a:gd name="T11" fmla="*/ 37 h 42"/>
                <a:gd name="T12" fmla="*/ 34 w 35"/>
                <a:gd name="T13" fmla="*/ 23 h 42"/>
                <a:gd name="T14" fmla="*/ 27 w 35"/>
                <a:gd name="T15" fmla="*/ 10 h 42"/>
                <a:gd name="T16" fmla="*/ 9 w 35"/>
                <a:gd name="T17" fmla="*/ 2 h 42"/>
                <a:gd name="T18" fmla="*/ 11 w 35"/>
                <a:gd name="T19" fmla="*/ 10 h 42"/>
                <a:gd name="T20" fmla="*/ 21 w 35"/>
                <a:gd name="T21" fmla="*/ 16 h 42"/>
                <a:gd name="T22" fmla="*/ 26 w 35"/>
                <a:gd name="T23" fmla="*/ 22 h 42"/>
                <a:gd name="T24" fmla="*/ 16 w 35"/>
                <a:gd name="T25" fmla="*/ 30 h 42"/>
                <a:gd name="T26" fmla="*/ 14 w 35"/>
                <a:gd name="T27" fmla="*/ 31 h 42"/>
                <a:gd name="T28" fmla="*/ 12 w 35"/>
                <a:gd name="T29" fmla="*/ 32 h 42"/>
                <a:gd name="T30" fmla="*/ 10 w 35"/>
                <a:gd name="T31" fmla="*/ 20 h 42"/>
                <a:gd name="T32" fmla="*/ 11 w 35"/>
                <a:gd name="T33" fmla="*/ 11 h 42"/>
                <a:gd name="T34" fmla="*/ 11 w 35"/>
                <a:gd name="T35" fmla="*/ 10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35" h="42">
                  <a:moveTo>
                    <a:pt x="9" y="2"/>
                  </a:moveTo>
                  <a:cubicBezTo>
                    <a:pt x="7" y="2"/>
                    <a:pt x="4" y="4"/>
                    <a:pt x="3" y="9"/>
                  </a:cubicBezTo>
                  <a:cubicBezTo>
                    <a:pt x="2" y="9"/>
                    <a:pt x="2" y="9"/>
                    <a:pt x="2" y="9"/>
                  </a:cubicBezTo>
                  <a:cubicBezTo>
                    <a:pt x="2" y="17"/>
                    <a:pt x="0" y="35"/>
                    <a:pt x="8" y="39"/>
                  </a:cubicBezTo>
                  <a:cubicBezTo>
                    <a:pt x="10" y="41"/>
                    <a:pt x="14" y="42"/>
                    <a:pt x="19" y="38"/>
                  </a:cubicBezTo>
                  <a:cubicBezTo>
                    <a:pt x="21" y="37"/>
                    <a:pt x="21" y="37"/>
                    <a:pt x="21" y="37"/>
                  </a:cubicBezTo>
                  <a:cubicBezTo>
                    <a:pt x="29" y="31"/>
                    <a:pt x="34" y="28"/>
                    <a:pt x="34" y="23"/>
                  </a:cubicBezTo>
                  <a:cubicBezTo>
                    <a:pt x="35" y="18"/>
                    <a:pt x="32" y="15"/>
                    <a:pt x="27" y="10"/>
                  </a:cubicBezTo>
                  <a:cubicBezTo>
                    <a:pt x="21" y="3"/>
                    <a:pt x="14" y="0"/>
                    <a:pt x="9" y="2"/>
                  </a:cubicBezTo>
                  <a:close/>
                  <a:moveTo>
                    <a:pt x="11" y="10"/>
                  </a:moveTo>
                  <a:cubicBezTo>
                    <a:pt x="12" y="10"/>
                    <a:pt x="16" y="11"/>
                    <a:pt x="21" y="16"/>
                  </a:cubicBezTo>
                  <a:cubicBezTo>
                    <a:pt x="25" y="20"/>
                    <a:pt x="26" y="22"/>
                    <a:pt x="26" y="22"/>
                  </a:cubicBezTo>
                  <a:cubicBezTo>
                    <a:pt x="25" y="23"/>
                    <a:pt x="21" y="27"/>
                    <a:pt x="16" y="30"/>
                  </a:cubicBezTo>
                  <a:cubicBezTo>
                    <a:pt x="14" y="31"/>
                    <a:pt x="14" y="31"/>
                    <a:pt x="14" y="31"/>
                  </a:cubicBezTo>
                  <a:cubicBezTo>
                    <a:pt x="12" y="32"/>
                    <a:pt x="12" y="32"/>
                    <a:pt x="12" y="32"/>
                  </a:cubicBezTo>
                  <a:cubicBezTo>
                    <a:pt x="11" y="31"/>
                    <a:pt x="10" y="26"/>
                    <a:pt x="10" y="20"/>
                  </a:cubicBezTo>
                  <a:cubicBezTo>
                    <a:pt x="10" y="17"/>
                    <a:pt x="11" y="14"/>
                    <a:pt x="11" y="11"/>
                  </a:cubicBezTo>
                  <a:cubicBezTo>
                    <a:pt x="11" y="10"/>
                    <a:pt x="11" y="10"/>
                    <a:pt x="11"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96" name="Freeform 2050">
              <a:extLst>
                <a:ext uri="{FF2B5EF4-FFF2-40B4-BE49-F238E27FC236}">
                  <a16:creationId xmlns:a16="http://schemas.microsoft.com/office/drawing/2014/main" id="{36C23152-0CB3-2EEA-7CE8-F552A25B55B5}"/>
                </a:ext>
              </a:extLst>
            </p:cNvPr>
            <p:cNvSpPr>
              <a:spLocks/>
            </p:cNvSpPr>
            <p:nvPr/>
          </p:nvSpPr>
          <p:spPr bwMode="auto">
            <a:xfrm>
              <a:off x="2582" y="2788"/>
              <a:ext cx="8" cy="12"/>
            </a:xfrm>
            <a:custGeom>
              <a:avLst/>
              <a:gdLst>
                <a:gd name="T0" fmla="*/ 2 w 35"/>
                <a:gd name="T1" fmla="*/ 1 h 56"/>
                <a:gd name="T2" fmla="*/ 6 w 35"/>
                <a:gd name="T3" fmla="*/ 34 h 56"/>
                <a:gd name="T4" fmla="*/ 33 w 35"/>
                <a:gd name="T5" fmla="*/ 36 h 56"/>
                <a:gd name="T6" fmla="*/ 2 w 35"/>
                <a:gd name="T7" fmla="*/ 1 h 56"/>
              </a:gdLst>
              <a:ahLst/>
              <a:cxnLst>
                <a:cxn ang="0">
                  <a:pos x="T0" y="T1"/>
                </a:cxn>
                <a:cxn ang="0">
                  <a:pos x="T2" y="T3"/>
                </a:cxn>
                <a:cxn ang="0">
                  <a:pos x="T4" y="T5"/>
                </a:cxn>
                <a:cxn ang="0">
                  <a:pos x="T6" y="T7"/>
                </a:cxn>
              </a:cxnLst>
              <a:rect l="0" t="0" r="r" b="b"/>
              <a:pathLst>
                <a:path w="35" h="56">
                  <a:moveTo>
                    <a:pt x="2" y="1"/>
                  </a:moveTo>
                  <a:cubicBezTo>
                    <a:pt x="2" y="1"/>
                    <a:pt x="0" y="23"/>
                    <a:pt x="6" y="34"/>
                  </a:cubicBezTo>
                  <a:cubicBezTo>
                    <a:pt x="12" y="46"/>
                    <a:pt x="32" y="56"/>
                    <a:pt x="33" y="36"/>
                  </a:cubicBezTo>
                  <a:cubicBezTo>
                    <a:pt x="35" y="16"/>
                    <a:pt x="22"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97" name="Freeform 2051">
              <a:extLst>
                <a:ext uri="{FF2B5EF4-FFF2-40B4-BE49-F238E27FC236}">
                  <a16:creationId xmlns:a16="http://schemas.microsoft.com/office/drawing/2014/main" id="{21F5E0AE-AF53-2B1D-2CEA-E4CD7AA6D2A1}"/>
                </a:ext>
              </a:extLst>
            </p:cNvPr>
            <p:cNvSpPr>
              <a:spLocks noEditPoints="1"/>
            </p:cNvSpPr>
            <p:nvPr/>
          </p:nvSpPr>
          <p:spPr bwMode="auto">
            <a:xfrm>
              <a:off x="2582" y="2787"/>
              <a:ext cx="9" cy="13"/>
            </a:xfrm>
            <a:custGeom>
              <a:avLst/>
              <a:gdLst>
                <a:gd name="T0" fmla="*/ 5 w 42"/>
                <a:gd name="T1" fmla="*/ 1 h 57"/>
                <a:gd name="T2" fmla="*/ 2 w 42"/>
                <a:gd name="T3" fmla="*/ 1 h 57"/>
                <a:gd name="T4" fmla="*/ 1 w 42"/>
                <a:gd name="T5" fmla="*/ 5 h 57"/>
                <a:gd name="T6" fmla="*/ 6 w 42"/>
                <a:gd name="T7" fmla="*/ 40 h 57"/>
                <a:gd name="T8" fmla="*/ 31 w 42"/>
                <a:gd name="T9" fmla="*/ 55 h 57"/>
                <a:gd name="T10" fmla="*/ 42 w 42"/>
                <a:gd name="T11" fmla="*/ 40 h 57"/>
                <a:gd name="T12" fmla="*/ 32 w 42"/>
                <a:gd name="T13" fmla="*/ 10 h 57"/>
                <a:gd name="T14" fmla="*/ 5 w 42"/>
                <a:gd name="T15" fmla="*/ 1 h 57"/>
                <a:gd name="T16" fmla="*/ 14 w 42"/>
                <a:gd name="T17" fmla="*/ 36 h 57"/>
                <a:gd name="T18" fmla="*/ 10 w 42"/>
                <a:gd name="T19" fmla="*/ 11 h 57"/>
                <a:gd name="T20" fmla="*/ 10 w 42"/>
                <a:gd name="T21" fmla="*/ 10 h 57"/>
                <a:gd name="T22" fmla="*/ 25 w 42"/>
                <a:gd name="T23" fmla="*/ 16 h 57"/>
                <a:gd name="T24" fmla="*/ 33 w 42"/>
                <a:gd name="T25" fmla="*/ 37 h 57"/>
                <a:gd name="T26" fmla="*/ 33 w 42"/>
                <a:gd name="T27" fmla="*/ 39 h 57"/>
                <a:gd name="T28" fmla="*/ 29 w 42"/>
                <a:gd name="T29" fmla="*/ 47 h 57"/>
                <a:gd name="T30" fmla="*/ 14 w 42"/>
                <a:gd name="T31" fmla="*/ 36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42" h="57">
                  <a:moveTo>
                    <a:pt x="5" y="1"/>
                  </a:moveTo>
                  <a:cubicBezTo>
                    <a:pt x="2" y="1"/>
                    <a:pt x="2" y="1"/>
                    <a:pt x="2" y="1"/>
                  </a:cubicBezTo>
                  <a:cubicBezTo>
                    <a:pt x="1" y="5"/>
                    <a:pt x="1" y="5"/>
                    <a:pt x="1" y="5"/>
                  </a:cubicBezTo>
                  <a:cubicBezTo>
                    <a:pt x="1" y="6"/>
                    <a:pt x="0" y="28"/>
                    <a:pt x="6" y="40"/>
                  </a:cubicBezTo>
                  <a:cubicBezTo>
                    <a:pt x="10" y="49"/>
                    <a:pt x="22" y="57"/>
                    <a:pt x="31" y="55"/>
                  </a:cubicBezTo>
                  <a:cubicBezTo>
                    <a:pt x="35" y="55"/>
                    <a:pt x="41" y="52"/>
                    <a:pt x="42" y="40"/>
                  </a:cubicBezTo>
                  <a:cubicBezTo>
                    <a:pt x="42" y="28"/>
                    <a:pt x="39" y="17"/>
                    <a:pt x="32" y="10"/>
                  </a:cubicBezTo>
                  <a:cubicBezTo>
                    <a:pt x="25" y="3"/>
                    <a:pt x="16" y="0"/>
                    <a:pt x="5" y="1"/>
                  </a:cubicBezTo>
                  <a:close/>
                  <a:moveTo>
                    <a:pt x="14" y="36"/>
                  </a:moveTo>
                  <a:cubicBezTo>
                    <a:pt x="10" y="29"/>
                    <a:pt x="10" y="18"/>
                    <a:pt x="10" y="11"/>
                  </a:cubicBezTo>
                  <a:cubicBezTo>
                    <a:pt x="10" y="11"/>
                    <a:pt x="10" y="10"/>
                    <a:pt x="10" y="10"/>
                  </a:cubicBezTo>
                  <a:cubicBezTo>
                    <a:pt x="16" y="10"/>
                    <a:pt x="21" y="12"/>
                    <a:pt x="25" y="16"/>
                  </a:cubicBezTo>
                  <a:cubicBezTo>
                    <a:pt x="30" y="21"/>
                    <a:pt x="33" y="29"/>
                    <a:pt x="33" y="37"/>
                  </a:cubicBezTo>
                  <a:cubicBezTo>
                    <a:pt x="33" y="38"/>
                    <a:pt x="33" y="39"/>
                    <a:pt x="33" y="39"/>
                  </a:cubicBezTo>
                  <a:cubicBezTo>
                    <a:pt x="33" y="43"/>
                    <a:pt x="32" y="46"/>
                    <a:pt x="29" y="47"/>
                  </a:cubicBezTo>
                  <a:cubicBezTo>
                    <a:pt x="25" y="48"/>
                    <a:pt x="17" y="42"/>
                    <a:pt x="14" y="3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98" name="Freeform 2052">
              <a:extLst>
                <a:ext uri="{FF2B5EF4-FFF2-40B4-BE49-F238E27FC236}">
                  <a16:creationId xmlns:a16="http://schemas.microsoft.com/office/drawing/2014/main" id="{1E50B2FE-8479-CE03-43F0-C46F293FDE79}"/>
                </a:ext>
              </a:extLst>
            </p:cNvPr>
            <p:cNvSpPr>
              <a:spLocks/>
            </p:cNvSpPr>
            <p:nvPr/>
          </p:nvSpPr>
          <p:spPr bwMode="auto">
            <a:xfrm>
              <a:off x="2568" y="3038"/>
              <a:ext cx="33" cy="31"/>
            </a:xfrm>
            <a:custGeom>
              <a:avLst/>
              <a:gdLst>
                <a:gd name="T0" fmla="*/ 100 w 147"/>
                <a:gd name="T1" fmla="*/ 26 h 140"/>
                <a:gd name="T2" fmla="*/ 68 w 147"/>
                <a:gd name="T3" fmla="*/ 17 h 140"/>
                <a:gd name="T4" fmla="*/ 3 w 147"/>
                <a:gd name="T5" fmla="*/ 14 h 140"/>
                <a:gd name="T6" fmla="*/ 36 w 147"/>
                <a:gd name="T7" fmla="*/ 88 h 140"/>
                <a:gd name="T8" fmla="*/ 104 w 147"/>
                <a:gd name="T9" fmla="*/ 125 h 140"/>
                <a:gd name="T10" fmla="*/ 140 w 147"/>
                <a:gd name="T11" fmla="*/ 131 h 140"/>
                <a:gd name="T12" fmla="*/ 133 w 147"/>
                <a:gd name="T13" fmla="*/ 95 h 140"/>
                <a:gd name="T14" fmla="*/ 111 w 147"/>
                <a:gd name="T15" fmla="*/ 49 h 140"/>
                <a:gd name="T16" fmla="*/ 100 w 147"/>
                <a:gd name="T17" fmla="*/ 26 h 1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7" h="140">
                  <a:moveTo>
                    <a:pt x="100" y="26"/>
                  </a:moveTo>
                  <a:cubicBezTo>
                    <a:pt x="100" y="26"/>
                    <a:pt x="85" y="22"/>
                    <a:pt x="68" y="17"/>
                  </a:cubicBezTo>
                  <a:cubicBezTo>
                    <a:pt x="51" y="13"/>
                    <a:pt x="6" y="0"/>
                    <a:pt x="3" y="14"/>
                  </a:cubicBezTo>
                  <a:cubicBezTo>
                    <a:pt x="0" y="29"/>
                    <a:pt x="7" y="69"/>
                    <a:pt x="36" y="88"/>
                  </a:cubicBezTo>
                  <a:cubicBezTo>
                    <a:pt x="65" y="107"/>
                    <a:pt x="93" y="115"/>
                    <a:pt x="104" y="125"/>
                  </a:cubicBezTo>
                  <a:cubicBezTo>
                    <a:pt x="116" y="136"/>
                    <a:pt x="140" y="140"/>
                    <a:pt x="140" y="131"/>
                  </a:cubicBezTo>
                  <a:cubicBezTo>
                    <a:pt x="140" y="123"/>
                    <a:pt x="147" y="120"/>
                    <a:pt x="133" y="95"/>
                  </a:cubicBezTo>
                  <a:cubicBezTo>
                    <a:pt x="119" y="71"/>
                    <a:pt x="114" y="63"/>
                    <a:pt x="111" y="49"/>
                  </a:cubicBezTo>
                  <a:cubicBezTo>
                    <a:pt x="108" y="35"/>
                    <a:pt x="104" y="33"/>
                    <a:pt x="100"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99" name="Freeform 2053">
              <a:extLst>
                <a:ext uri="{FF2B5EF4-FFF2-40B4-BE49-F238E27FC236}">
                  <a16:creationId xmlns:a16="http://schemas.microsoft.com/office/drawing/2014/main" id="{1B87D891-EC99-F482-5716-6FE7B21CEBCC}"/>
                </a:ext>
              </a:extLst>
            </p:cNvPr>
            <p:cNvSpPr>
              <a:spLocks noEditPoints="1"/>
            </p:cNvSpPr>
            <p:nvPr/>
          </p:nvSpPr>
          <p:spPr bwMode="auto">
            <a:xfrm>
              <a:off x="2567" y="3038"/>
              <a:ext cx="34" cy="32"/>
            </a:xfrm>
            <a:custGeom>
              <a:avLst/>
              <a:gdLst>
                <a:gd name="T0" fmla="*/ 9 w 153"/>
                <a:gd name="T1" fmla="*/ 6 h 143"/>
                <a:gd name="T2" fmla="*/ 4 w 153"/>
                <a:gd name="T3" fmla="*/ 14 h 143"/>
                <a:gd name="T4" fmla="*/ 39 w 153"/>
                <a:gd name="T5" fmla="*/ 92 h 143"/>
                <a:gd name="T6" fmla="*/ 80 w 153"/>
                <a:gd name="T7" fmla="*/ 114 h 143"/>
                <a:gd name="T8" fmla="*/ 106 w 153"/>
                <a:gd name="T9" fmla="*/ 129 h 143"/>
                <a:gd name="T10" fmla="*/ 144 w 153"/>
                <a:gd name="T11" fmla="*/ 139 h 143"/>
                <a:gd name="T12" fmla="*/ 149 w 153"/>
                <a:gd name="T13" fmla="*/ 131 h 143"/>
                <a:gd name="T14" fmla="*/ 150 w 153"/>
                <a:gd name="T15" fmla="*/ 127 h 143"/>
                <a:gd name="T16" fmla="*/ 142 w 153"/>
                <a:gd name="T17" fmla="*/ 93 h 143"/>
                <a:gd name="T18" fmla="*/ 141 w 153"/>
                <a:gd name="T19" fmla="*/ 92 h 143"/>
                <a:gd name="T20" fmla="*/ 121 w 153"/>
                <a:gd name="T21" fmla="*/ 48 h 143"/>
                <a:gd name="T22" fmla="*/ 112 w 153"/>
                <a:gd name="T23" fmla="*/ 28 h 143"/>
                <a:gd name="T24" fmla="*/ 108 w 153"/>
                <a:gd name="T25" fmla="*/ 22 h 143"/>
                <a:gd name="T26" fmla="*/ 106 w 153"/>
                <a:gd name="T27" fmla="*/ 22 h 143"/>
                <a:gd name="T28" fmla="*/ 74 w 153"/>
                <a:gd name="T29" fmla="*/ 13 h 143"/>
                <a:gd name="T30" fmla="*/ 69 w 153"/>
                <a:gd name="T31" fmla="*/ 12 h 143"/>
                <a:gd name="T32" fmla="*/ 9 w 153"/>
                <a:gd name="T33" fmla="*/ 6 h 143"/>
                <a:gd name="T34" fmla="*/ 112 w 153"/>
                <a:gd name="T35" fmla="*/ 122 h 143"/>
                <a:gd name="T36" fmla="*/ 84 w 153"/>
                <a:gd name="T37" fmla="*/ 106 h 143"/>
                <a:gd name="T38" fmla="*/ 44 w 153"/>
                <a:gd name="T39" fmla="*/ 84 h 143"/>
                <a:gd name="T40" fmla="*/ 12 w 153"/>
                <a:gd name="T41" fmla="*/ 15 h 143"/>
                <a:gd name="T42" fmla="*/ 14 w 153"/>
                <a:gd name="T43" fmla="*/ 14 h 143"/>
                <a:gd name="T44" fmla="*/ 67 w 153"/>
                <a:gd name="T45" fmla="*/ 20 h 143"/>
                <a:gd name="T46" fmla="*/ 72 w 153"/>
                <a:gd name="T47" fmla="*/ 21 h 143"/>
                <a:gd name="T48" fmla="*/ 102 w 153"/>
                <a:gd name="T49" fmla="*/ 30 h 143"/>
                <a:gd name="T50" fmla="*/ 105 w 153"/>
                <a:gd name="T51" fmla="*/ 34 h 143"/>
                <a:gd name="T52" fmla="*/ 112 w 153"/>
                <a:gd name="T53" fmla="*/ 50 h 143"/>
                <a:gd name="T54" fmla="*/ 134 w 153"/>
                <a:gd name="T55" fmla="*/ 96 h 143"/>
                <a:gd name="T56" fmla="*/ 134 w 153"/>
                <a:gd name="T57" fmla="*/ 97 h 143"/>
                <a:gd name="T58" fmla="*/ 143 w 153"/>
                <a:gd name="T59" fmla="*/ 119 h 143"/>
                <a:gd name="T60" fmla="*/ 142 w 153"/>
                <a:gd name="T61" fmla="*/ 124 h 143"/>
                <a:gd name="T62" fmla="*/ 141 w 153"/>
                <a:gd name="T63" fmla="*/ 131 h 143"/>
                <a:gd name="T64" fmla="*/ 112 w 153"/>
                <a:gd name="T65" fmla="*/ 122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53" h="143">
                  <a:moveTo>
                    <a:pt x="9" y="6"/>
                  </a:moveTo>
                  <a:cubicBezTo>
                    <a:pt x="6" y="8"/>
                    <a:pt x="5" y="11"/>
                    <a:pt x="4" y="14"/>
                  </a:cubicBezTo>
                  <a:cubicBezTo>
                    <a:pt x="0" y="31"/>
                    <a:pt x="10" y="72"/>
                    <a:pt x="39" y="92"/>
                  </a:cubicBezTo>
                  <a:cubicBezTo>
                    <a:pt x="54" y="101"/>
                    <a:pt x="69" y="108"/>
                    <a:pt x="80" y="114"/>
                  </a:cubicBezTo>
                  <a:cubicBezTo>
                    <a:pt x="91" y="119"/>
                    <a:pt x="101" y="124"/>
                    <a:pt x="106" y="129"/>
                  </a:cubicBezTo>
                  <a:cubicBezTo>
                    <a:pt x="116" y="138"/>
                    <a:pt x="136" y="143"/>
                    <a:pt x="144" y="139"/>
                  </a:cubicBezTo>
                  <a:cubicBezTo>
                    <a:pt x="148" y="137"/>
                    <a:pt x="149" y="135"/>
                    <a:pt x="149" y="131"/>
                  </a:cubicBezTo>
                  <a:cubicBezTo>
                    <a:pt x="150" y="127"/>
                    <a:pt x="150" y="127"/>
                    <a:pt x="150" y="127"/>
                  </a:cubicBezTo>
                  <a:cubicBezTo>
                    <a:pt x="152" y="119"/>
                    <a:pt x="153" y="112"/>
                    <a:pt x="142" y="93"/>
                  </a:cubicBezTo>
                  <a:cubicBezTo>
                    <a:pt x="141" y="92"/>
                    <a:pt x="141" y="92"/>
                    <a:pt x="141" y="92"/>
                  </a:cubicBezTo>
                  <a:cubicBezTo>
                    <a:pt x="127" y="69"/>
                    <a:pt x="123" y="62"/>
                    <a:pt x="121" y="48"/>
                  </a:cubicBezTo>
                  <a:cubicBezTo>
                    <a:pt x="118" y="37"/>
                    <a:pt x="115" y="32"/>
                    <a:pt x="112" y="28"/>
                  </a:cubicBezTo>
                  <a:cubicBezTo>
                    <a:pt x="108" y="22"/>
                    <a:pt x="108" y="22"/>
                    <a:pt x="108" y="22"/>
                  </a:cubicBezTo>
                  <a:cubicBezTo>
                    <a:pt x="106" y="22"/>
                    <a:pt x="106" y="22"/>
                    <a:pt x="106" y="22"/>
                  </a:cubicBezTo>
                  <a:cubicBezTo>
                    <a:pt x="74" y="13"/>
                    <a:pt x="74" y="13"/>
                    <a:pt x="74" y="13"/>
                  </a:cubicBezTo>
                  <a:cubicBezTo>
                    <a:pt x="69" y="12"/>
                    <a:pt x="69" y="12"/>
                    <a:pt x="69" y="12"/>
                  </a:cubicBezTo>
                  <a:cubicBezTo>
                    <a:pt x="44" y="5"/>
                    <a:pt x="20" y="0"/>
                    <a:pt x="9" y="6"/>
                  </a:cubicBezTo>
                  <a:close/>
                  <a:moveTo>
                    <a:pt x="112" y="122"/>
                  </a:moveTo>
                  <a:cubicBezTo>
                    <a:pt x="106" y="117"/>
                    <a:pt x="96" y="112"/>
                    <a:pt x="84" y="106"/>
                  </a:cubicBezTo>
                  <a:cubicBezTo>
                    <a:pt x="72" y="100"/>
                    <a:pt x="58" y="94"/>
                    <a:pt x="44" y="84"/>
                  </a:cubicBezTo>
                  <a:cubicBezTo>
                    <a:pt x="16" y="66"/>
                    <a:pt x="10" y="27"/>
                    <a:pt x="12" y="15"/>
                  </a:cubicBezTo>
                  <a:cubicBezTo>
                    <a:pt x="12" y="15"/>
                    <a:pt x="13" y="14"/>
                    <a:pt x="14" y="14"/>
                  </a:cubicBezTo>
                  <a:cubicBezTo>
                    <a:pt x="22" y="9"/>
                    <a:pt x="53" y="17"/>
                    <a:pt x="67" y="20"/>
                  </a:cubicBezTo>
                  <a:cubicBezTo>
                    <a:pt x="72" y="21"/>
                    <a:pt x="72" y="21"/>
                    <a:pt x="72" y="21"/>
                  </a:cubicBezTo>
                  <a:cubicBezTo>
                    <a:pt x="72" y="21"/>
                    <a:pt x="100" y="29"/>
                    <a:pt x="102" y="30"/>
                  </a:cubicBezTo>
                  <a:cubicBezTo>
                    <a:pt x="103" y="31"/>
                    <a:pt x="105" y="34"/>
                    <a:pt x="105" y="34"/>
                  </a:cubicBezTo>
                  <a:cubicBezTo>
                    <a:pt x="108" y="37"/>
                    <a:pt x="110" y="40"/>
                    <a:pt x="112" y="50"/>
                  </a:cubicBezTo>
                  <a:cubicBezTo>
                    <a:pt x="115" y="65"/>
                    <a:pt x="120" y="73"/>
                    <a:pt x="134" y="96"/>
                  </a:cubicBezTo>
                  <a:cubicBezTo>
                    <a:pt x="134" y="97"/>
                    <a:pt x="134" y="97"/>
                    <a:pt x="134" y="97"/>
                  </a:cubicBezTo>
                  <a:cubicBezTo>
                    <a:pt x="141" y="109"/>
                    <a:pt x="143" y="115"/>
                    <a:pt x="143" y="119"/>
                  </a:cubicBezTo>
                  <a:cubicBezTo>
                    <a:pt x="143" y="121"/>
                    <a:pt x="142" y="123"/>
                    <a:pt x="142" y="124"/>
                  </a:cubicBezTo>
                  <a:cubicBezTo>
                    <a:pt x="141" y="131"/>
                    <a:pt x="141" y="131"/>
                    <a:pt x="141" y="131"/>
                  </a:cubicBezTo>
                  <a:cubicBezTo>
                    <a:pt x="139" y="133"/>
                    <a:pt x="122" y="131"/>
                    <a:pt x="112" y="12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00" name="Freeform 2054">
              <a:extLst>
                <a:ext uri="{FF2B5EF4-FFF2-40B4-BE49-F238E27FC236}">
                  <a16:creationId xmlns:a16="http://schemas.microsoft.com/office/drawing/2014/main" id="{D51F59C3-4F7D-0D5B-C7F7-C04B3B9D1F04}"/>
                </a:ext>
              </a:extLst>
            </p:cNvPr>
            <p:cNvSpPr>
              <a:spLocks/>
            </p:cNvSpPr>
            <p:nvPr/>
          </p:nvSpPr>
          <p:spPr bwMode="auto">
            <a:xfrm>
              <a:off x="2562" y="3017"/>
              <a:ext cx="16" cy="7"/>
            </a:xfrm>
            <a:custGeom>
              <a:avLst/>
              <a:gdLst>
                <a:gd name="T0" fmla="*/ 46 w 72"/>
                <a:gd name="T1" fmla="*/ 6 h 29"/>
                <a:gd name="T2" fmla="*/ 25 w 72"/>
                <a:gd name="T3" fmla="*/ 26 h 29"/>
                <a:gd name="T4" fmla="*/ 62 w 72"/>
                <a:gd name="T5" fmla="*/ 10 h 29"/>
                <a:gd name="T6" fmla="*/ 46 w 72"/>
                <a:gd name="T7" fmla="*/ 6 h 29"/>
              </a:gdLst>
              <a:ahLst/>
              <a:cxnLst>
                <a:cxn ang="0">
                  <a:pos x="T0" y="T1"/>
                </a:cxn>
                <a:cxn ang="0">
                  <a:pos x="T2" y="T3"/>
                </a:cxn>
                <a:cxn ang="0">
                  <a:pos x="T4" y="T5"/>
                </a:cxn>
                <a:cxn ang="0">
                  <a:pos x="T6" y="T7"/>
                </a:cxn>
              </a:cxnLst>
              <a:rect l="0" t="0" r="r" b="b"/>
              <a:pathLst>
                <a:path w="72" h="29">
                  <a:moveTo>
                    <a:pt x="46" y="6"/>
                  </a:moveTo>
                  <a:cubicBezTo>
                    <a:pt x="46" y="6"/>
                    <a:pt x="0" y="23"/>
                    <a:pt x="25" y="26"/>
                  </a:cubicBezTo>
                  <a:cubicBezTo>
                    <a:pt x="49" y="29"/>
                    <a:pt x="72" y="20"/>
                    <a:pt x="62" y="10"/>
                  </a:cubicBezTo>
                  <a:cubicBezTo>
                    <a:pt x="52" y="0"/>
                    <a:pt x="58" y="0"/>
                    <a:pt x="46" y="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01" name="Freeform 2055">
              <a:extLst>
                <a:ext uri="{FF2B5EF4-FFF2-40B4-BE49-F238E27FC236}">
                  <a16:creationId xmlns:a16="http://schemas.microsoft.com/office/drawing/2014/main" id="{CD25DB05-9370-B189-647A-7EB2F63CE78C}"/>
                </a:ext>
              </a:extLst>
            </p:cNvPr>
            <p:cNvSpPr>
              <a:spLocks noEditPoints="1"/>
            </p:cNvSpPr>
            <p:nvPr/>
          </p:nvSpPr>
          <p:spPr bwMode="auto">
            <a:xfrm>
              <a:off x="2565" y="3016"/>
              <a:ext cx="13" cy="8"/>
            </a:xfrm>
            <a:custGeom>
              <a:avLst/>
              <a:gdLst>
                <a:gd name="T0" fmla="*/ 36 w 58"/>
                <a:gd name="T1" fmla="*/ 3 h 36"/>
                <a:gd name="T2" fmla="*/ 32 w 58"/>
                <a:gd name="T3" fmla="*/ 6 h 36"/>
                <a:gd name="T4" fmla="*/ 0 w 58"/>
                <a:gd name="T5" fmla="*/ 26 h 36"/>
                <a:gd name="T6" fmla="*/ 0 w 58"/>
                <a:gd name="T7" fmla="*/ 27 h 36"/>
                <a:gd name="T8" fmla="*/ 11 w 58"/>
                <a:gd name="T9" fmla="*/ 34 h 36"/>
                <a:gd name="T10" fmla="*/ 55 w 58"/>
                <a:gd name="T11" fmla="*/ 23 h 36"/>
                <a:gd name="T12" fmla="*/ 52 w 58"/>
                <a:gd name="T13" fmla="*/ 11 h 36"/>
                <a:gd name="T14" fmla="*/ 47 w 58"/>
                <a:gd name="T15" fmla="*/ 5 h 36"/>
                <a:gd name="T16" fmla="*/ 36 w 58"/>
                <a:gd name="T17" fmla="*/ 3 h 36"/>
                <a:gd name="T18" fmla="*/ 35 w 58"/>
                <a:gd name="T19" fmla="*/ 14 h 36"/>
                <a:gd name="T20" fmla="*/ 35 w 58"/>
                <a:gd name="T21" fmla="*/ 13 h 36"/>
                <a:gd name="T22" fmla="*/ 41 w 58"/>
                <a:gd name="T23" fmla="*/ 11 h 36"/>
                <a:gd name="T24" fmla="*/ 46 w 58"/>
                <a:gd name="T25" fmla="*/ 17 h 36"/>
                <a:gd name="T26" fmla="*/ 47 w 58"/>
                <a:gd name="T27" fmla="*/ 19 h 36"/>
                <a:gd name="T28" fmla="*/ 47 w 58"/>
                <a:gd name="T29" fmla="*/ 19 h 36"/>
                <a:gd name="T30" fmla="*/ 12 w 58"/>
                <a:gd name="T31" fmla="*/ 25 h 36"/>
                <a:gd name="T32" fmla="*/ 11 w 58"/>
                <a:gd name="T33" fmla="*/ 25 h 36"/>
                <a:gd name="T34" fmla="*/ 35 w 58"/>
                <a:gd name="T35" fmla="*/ 14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8" h="36">
                  <a:moveTo>
                    <a:pt x="36" y="3"/>
                  </a:moveTo>
                  <a:cubicBezTo>
                    <a:pt x="36" y="3"/>
                    <a:pt x="32" y="5"/>
                    <a:pt x="32" y="6"/>
                  </a:cubicBezTo>
                  <a:cubicBezTo>
                    <a:pt x="3" y="16"/>
                    <a:pt x="0" y="23"/>
                    <a:pt x="0" y="26"/>
                  </a:cubicBezTo>
                  <a:cubicBezTo>
                    <a:pt x="0" y="26"/>
                    <a:pt x="0" y="27"/>
                    <a:pt x="0" y="27"/>
                  </a:cubicBezTo>
                  <a:cubicBezTo>
                    <a:pt x="1" y="33"/>
                    <a:pt x="9" y="34"/>
                    <a:pt x="11" y="34"/>
                  </a:cubicBezTo>
                  <a:cubicBezTo>
                    <a:pt x="29" y="36"/>
                    <a:pt x="50" y="32"/>
                    <a:pt x="55" y="23"/>
                  </a:cubicBezTo>
                  <a:cubicBezTo>
                    <a:pt x="56" y="21"/>
                    <a:pt x="58" y="16"/>
                    <a:pt x="52" y="11"/>
                  </a:cubicBezTo>
                  <a:cubicBezTo>
                    <a:pt x="47" y="5"/>
                    <a:pt x="47" y="5"/>
                    <a:pt x="47" y="5"/>
                  </a:cubicBezTo>
                  <a:cubicBezTo>
                    <a:pt x="44" y="0"/>
                    <a:pt x="41" y="0"/>
                    <a:pt x="36" y="3"/>
                  </a:cubicBezTo>
                  <a:close/>
                  <a:moveTo>
                    <a:pt x="35" y="14"/>
                  </a:moveTo>
                  <a:cubicBezTo>
                    <a:pt x="35" y="13"/>
                    <a:pt x="35" y="13"/>
                    <a:pt x="35" y="13"/>
                  </a:cubicBezTo>
                  <a:cubicBezTo>
                    <a:pt x="35" y="13"/>
                    <a:pt x="40" y="11"/>
                    <a:pt x="41" y="11"/>
                  </a:cubicBezTo>
                  <a:cubicBezTo>
                    <a:pt x="41" y="11"/>
                    <a:pt x="46" y="17"/>
                    <a:pt x="46" y="17"/>
                  </a:cubicBezTo>
                  <a:cubicBezTo>
                    <a:pt x="47" y="17"/>
                    <a:pt x="47" y="18"/>
                    <a:pt x="47" y="19"/>
                  </a:cubicBezTo>
                  <a:cubicBezTo>
                    <a:pt x="47" y="19"/>
                    <a:pt x="47" y="19"/>
                    <a:pt x="47" y="19"/>
                  </a:cubicBezTo>
                  <a:cubicBezTo>
                    <a:pt x="45" y="23"/>
                    <a:pt x="30" y="28"/>
                    <a:pt x="12" y="25"/>
                  </a:cubicBezTo>
                  <a:cubicBezTo>
                    <a:pt x="12" y="25"/>
                    <a:pt x="12" y="25"/>
                    <a:pt x="11" y="25"/>
                  </a:cubicBezTo>
                  <a:cubicBezTo>
                    <a:pt x="15" y="22"/>
                    <a:pt x="25" y="17"/>
                    <a:pt x="35"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02" name="Freeform 2056">
              <a:extLst>
                <a:ext uri="{FF2B5EF4-FFF2-40B4-BE49-F238E27FC236}">
                  <a16:creationId xmlns:a16="http://schemas.microsoft.com/office/drawing/2014/main" id="{F7503F52-21CE-69B3-5D14-29475EBCEA78}"/>
                </a:ext>
              </a:extLst>
            </p:cNvPr>
            <p:cNvSpPr>
              <a:spLocks/>
            </p:cNvSpPr>
            <p:nvPr/>
          </p:nvSpPr>
          <p:spPr bwMode="auto">
            <a:xfrm>
              <a:off x="2582" y="3078"/>
              <a:ext cx="12" cy="9"/>
            </a:xfrm>
            <a:custGeom>
              <a:avLst/>
              <a:gdLst>
                <a:gd name="T0" fmla="*/ 14 w 58"/>
                <a:gd name="T1" fmla="*/ 7 h 40"/>
                <a:gd name="T2" fmla="*/ 11 w 58"/>
                <a:gd name="T3" fmla="*/ 30 h 40"/>
                <a:gd name="T4" fmla="*/ 34 w 58"/>
                <a:gd name="T5" fmla="*/ 20 h 40"/>
                <a:gd name="T6" fmla="*/ 14 w 58"/>
                <a:gd name="T7" fmla="*/ 7 h 40"/>
              </a:gdLst>
              <a:ahLst/>
              <a:cxnLst>
                <a:cxn ang="0">
                  <a:pos x="T0" y="T1"/>
                </a:cxn>
                <a:cxn ang="0">
                  <a:pos x="T2" y="T3"/>
                </a:cxn>
                <a:cxn ang="0">
                  <a:pos x="T4" y="T5"/>
                </a:cxn>
                <a:cxn ang="0">
                  <a:pos x="T6" y="T7"/>
                </a:cxn>
              </a:cxnLst>
              <a:rect l="0" t="0" r="r" b="b"/>
              <a:pathLst>
                <a:path w="58" h="40">
                  <a:moveTo>
                    <a:pt x="14" y="7"/>
                  </a:moveTo>
                  <a:cubicBezTo>
                    <a:pt x="14" y="7"/>
                    <a:pt x="0" y="23"/>
                    <a:pt x="11" y="30"/>
                  </a:cubicBezTo>
                  <a:cubicBezTo>
                    <a:pt x="23" y="37"/>
                    <a:pt x="58" y="40"/>
                    <a:pt x="34" y="20"/>
                  </a:cubicBezTo>
                  <a:cubicBezTo>
                    <a:pt x="11" y="0"/>
                    <a:pt x="14" y="7"/>
                    <a:pt x="14"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03" name="Freeform 2057">
              <a:extLst>
                <a:ext uri="{FF2B5EF4-FFF2-40B4-BE49-F238E27FC236}">
                  <a16:creationId xmlns:a16="http://schemas.microsoft.com/office/drawing/2014/main" id="{9FC6303B-906C-914B-1812-14D1D4F0DA2D}"/>
                </a:ext>
              </a:extLst>
            </p:cNvPr>
            <p:cNvSpPr>
              <a:spLocks noEditPoints="1"/>
            </p:cNvSpPr>
            <p:nvPr/>
          </p:nvSpPr>
          <p:spPr bwMode="auto">
            <a:xfrm>
              <a:off x="2582" y="3078"/>
              <a:ext cx="10" cy="10"/>
            </a:xfrm>
            <a:custGeom>
              <a:avLst/>
              <a:gdLst>
                <a:gd name="T0" fmla="*/ 9 w 46"/>
                <a:gd name="T1" fmla="*/ 2 h 43"/>
                <a:gd name="T2" fmla="*/ 8 w 46"/>
                <a:gd name="T3" fmla="*/ 4 h 43"/>
                <a:gd name="T4" fmla="*/ 0 w 46"/>
                <a:gd name="T5" fmla="*/ 22 h 43"/>
                <a:gd name="T6" fmla="*/ 0 w 46"/>
                <a:gd name="T7" fmla="*/ 24 h 43"/>
                <a:gd name="T8" fmla="*/ 6 w 46"/>
                <a:gd name="T9" fmla="*/ 34 h 43"/>
                <a:gd name="T10" fmla="*/ 42 w 46"/>
                <a:gd name="T11" fmla="*/ 35 h 43"/>
                <a:gd name="T12" fmla="*/ 34 w 46"/>
                <a:gd name="T13" fmla="*/ 17 h 43"/>
                <a:gd name="T14" fmla="*/ 9 w 46"/>
                <a:gd name="T15" fmla="*/ 2 h 43"/>
                <a:gd name="T16" fmla="*/ 11 w 46"/>
                <a:gd name="T17" fmla="*/ 26 h 43"/>
                <a:gd name="T18" fmla="*/ 8 w 46"/>
                <a:gd name="T19" fmla="*/ 23 h 43"/>
                <a:gd name="T20" fmla="*/ 8 w 46"/>
                <a:gd name="T21" fmla="*/ 22 h 43"/>
                <a:gd name="T22" fmla="*/ 14 w 46"/>
                <a:gd name="T23" fmla="*/ 11 h 43"/>
                <a:gd name="T24" fmla="*/ 29 w 46"/>
                <a:gd name="T25" fmla="*/ 23 h 43"/>
                <a:gd name="T26" fmla="*/ 35 w 46"/>
                <a:gd name="T27" fmla="*/ 31 h 43"/>
                <a:gd name="T28" fmla="*/ 11 w 46"/>
                <a:gd name="T29" fmla="*/ 26 h 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6" h="43">
                  <a:moveTo>
                    <a:pt x="9" y="2"/>
                  </a:moveTo>
                  <a:cubicBezTo>
                    <a:pt x="8" y="3"/>
                    <a:pt x="8" y="3"/>
                    <a:pt x="8" y="4"/>
                  </a:cubicBezTo>
                  <a:cubicBezTo>
                    <a:pt x="7" y="6"/>
                    <a:pt x="0" y="14"/>
                    <a:pt x="0" y="22"/>
                  </a:cubicBezTo>
                  <a:cubicBezTo>
                    <a:pt x="0" y="23"/>
                    <a:pt x="0" y="24"/>
                    <a:pt x="0" y="24"/>
                  </a:cubicBezTo>
                  <a:cubicBezTo>
                    <a:pt x="0" y="28"/>
                    <a:pt x="2" y="31"/>
                    <a:pt x="6" y="34"/>
                  </a:cubicBezTo>
                  <a:cubicBezTo>
                    <a:pt x="15" y="39"/>
                    <a:pt x="36" y="43"/>
                    <a:pt x="42" y="35"/>
                  </a:cubicBezTo>
                  <a:cubicBezTo>
                    <a:pt x="46" y="31"/>
                    <a:pt x="43" y="24"/>
                    <a:pt x="34" y="17"/>
                  </a:cubicBezTo>
                  <a:cubicBezTo>
                    <a:pt x="15" y="0"/>
                    <a:pt x="12" y="0"/>
                    <a:pt x="9" y="2"/>
                  </a:cubicBezTo>
                  <a:close/>
                  <a:moveTo>
                    <a:pt x="11" y="26"/>
                  </a:moveTo>
                  <a:cubicBezTo>
                    <a:pt x="9" y="25"/>
                    <a:pt x="8" y="24"/>
                    <a:pt x="8" y="23"/>
                  </a:cubicBezTo>
                  <a:cubicBezTo>
                    <a:pt x="8" y="23"/>
                    <a:pt x="8" y="22"/>
                    <a:pt x="8" y="22"/>
                  </a:cubicBezTo>
                  <a:cubicBezTo>
                    <a:pt x="8" y="19"/>
                    <a:pt x="11" y="14"/>
                    <a:pt x="14" y="11"/>
                  </a:cubicBezTo>
                  <a:cubicBezTo>
                    <a:pt x="16" y="13"/>
                    <a:pt x="20" y="16"/>
                    <a:pt x="29" y="23"/>
                  </a:cubicBezTo>
                  <a:cubicBezTo>
                    <a:pt x="35" y="28"/>
                    <a:pt x="35" y="31"/>
                    <a:pt x="35" y="31"/>
                  </a:cubicBezTo>
                  <a:cubicBezTo>
                    <a:pt x="33" y="32"/>
                    <a:pt x="18" y="31"/>
                    <a:pt x="11" y="2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04" name="Freeform 2058">
              <a:extLst>
                <a:ext uri="{FF2B5EF4-FFF2-40B4-BE49-F238E27FC236}">
                  <a16:creationId xmlns:a16="http://schemas.microsoft.com/office/drawing/2014/main" id="{BE0CD4E8-A263-AF1A-3B49-7A9049CDE430}"/>
                </a:ext>
              </a:extLst>
            </p:cNvPr>
            <p:cNvSpPr>
              <a:spLocks/>
            </p:cNvSpPr>
            <p:nvPr/>
          </p:nvSpPr>
          <p:spPr bwMode="auto">
            <a:xfrm>
              <a:off x="2552" y="3152"/>
              <a:ext cx="33" cy="22"/>
            </a:xfrm>
            <a:custGeom>
              <a:avLst/>
              <a:gdLst>
                <a:gd name="T0" fmla="*/ 39 w 150"/>
                <a:gd name="T1" fmla="*/ 13 h 99"/>
                <a:gd name="T2" fmla="*/ 10 w 150"/>
                <a:gd name="T3" fmla="*/ 16 h 99"/>
                <a:gd name="T4" fmla="*/ 55 w 150"/>
                <a:gd name="T5" fmla="*/ 75 h 99"/>
                <a:gd name="T6" fmla="*/ 77 w 150"/>
                <a:gd name="T7" fmla="*/ 79 h 99"/>
                <a:gd name="T8" fmla="*/ 92 w 150"/>
                <a:gd name="T9" fmla="*/ 65 h 99"/>
                <a:gd name="T10" fmla="*/ 116 w 150"/>
                <a:gd name="T11" fmla="*/ 94 h 99"/>
                <a:gd name="T12" fmla="*/ 143 w 150"/>
                <a:gd name="T13" fmla="*/ 68 h 99"/>
                <a:gd name="T14" fmla="*/ 126 w 150"/>
                <a:gd name="T15" fmla="*/ 33 h 99"/>
                <a:gd name="T16" fmla="*/ 77 w 150"/>
                <a:gd name="T17" fmla="*/ 20 h 99"/>
                <a:gd name="T18" fmla="*/ 39 w 150"/>
                <a:gd name="T19" fmla="*/ 13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0" h="99">
                  <a:moveTo>
                    <a:pt x="39" y="13"/>
                  </a:moveTo>
                  <a:cubicBezTo>
                    <a:pt x="39" y="13"/>
                    <a:pt x="0" y="0"/>
                    <a:pt x="10" y="16"/>
                  </a:cubicBezTo>
                  <a:cubicBezTo>
                    <a:pt x="20" y="32"/>
                    <a:pt x="54" y="69"/>
                    <a:pt x="55" y="75"/>
                  </a:cubicBezTo>
                  <a:cubicBezTo>
                    <a:pt x="56" y="81"/>
                    <a:pt x="74" y="99"/>
                    <a:pt x="77" y="79"/>
                  </a:cubicBezTo>
                  <a:cubicBezTo>
                    <a:pt x="79" y="59"/>
                    <a:pt x="87" y="58"/>
                    <a:pt x="92" y="65"/>
                  </a:cubicBezTo>
                  <a:cubicBezTo>
                    <a:pt x="98" y="72"/>
                    <a:pt x="98" y="92"/>
                    <a:pt x="116" y="94"/>
                  </a:cubicBezTo>
                  <a:cubicBezTo>
                    <a:pt x="133" y="95"/>
                    <a:pt x="143" y="76"/>
                    <a:pt x="143" y="68"/>
                  </a:cubicBezTo>
                  <a:cubicBezTo>
                    <a:pt x="143" y="59"/>
                    <a:pt x="150" y="36"/>
                    <a:pt x="126" y="33"/>
                  </a:cubicBezTo>
                  <a:cubicBezTo>
                    <a:pt x="101" y="30"/>
                    <a:pt x="84" y="20"/>
                    <a:pt x="77" y="20"/>
                  </a:cubicBezTo>
                  <a:cubicBezTo>
                    <a:pt x="69" y="20"/>
                    <a:pt x="39" y="13"/>
                    <a:pt x="3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05" name="Freeform 2059">
              <a:extLst>
                <a:ext uri="{FF2B5EF4-FFF2-40B4-BE49-F238E27FC236}">
                  <a16:creationId xmlns:a16="http://schemas.microsoft.com/office/drawing/2014/main" id="{FE2D4F33-1913-A8B0-0348-A2734F98993A}"/>
                </a:ext>
              </a:extLst>
            </p:cNvPr>
            <p:cNvSpPr>
              <a:spLocks noEditPoints="1"/>
            </p:cNvSpPr>
            <p:nvPr/>
          </p:nvSpPr>
          <p:spPr bwMode="auto">
            <a:xfrm>
              <a:off x="2553" y="3152"/>
              <a:ext cx="33" cy="22"/>
            </a:xfrm>
            <a:custGeom>
              <a:avLst/>
              <a:gdLst>
                <a:gd name="T0" fmla="*/ 3 w 148"/>
                <a:gd name="T1" fmla="*/ 6 h 98"/>
                <a:gd name="T2" fmla="*/ 4 w 148"/>
                <a:gd name="T3" fmla="*/ 17 h 98"/>
                <a:gd name="T4" fmla="*/ 28 w 148"/>
                <a:gd name="T5" fmla="*/ 49 h 98"/>
                <a:gd name="T6" fmla="*/ 48 w 148"/>
                <a:gd name="T7" fmla="*/ 75 h 98"/>
                <a:gd name="T8" fmla="*/ 68 w 148"/>
                <a:gd name="T9" fmla="*/ 92 h 98"/>
                <a:gd name="T10" fmla="*/ 78 w 148"/>
                <a:gd name="T11" fmla="*/ 79 h 98"/>
                <a:gd name="T12" fmla="*/ 83 w 148"/>
                <a:gd name="T13" fmla="*/ 64 h 98"/>
                <a:gd name="T14" fmla="*/ 86 w 148"/>
                <a:gd name="T15" fmla="*/ 66 h 98"/>
                <a:gd name="T16" fmla="*/ 90 w 148"/>
                <a:gd name="T17" fmla="*/ 74 h 98"/>
                <a:gd name="T18" fmla="*/ 112 w 148"/>
                <a:gd name="T19" fmla="*/ 97 h 98"/>
                <a:gd name="T20" fmla="*/ 133 w 148"/>
                <a:gd name="T21" fmla="*/ 89 h 98"/>
                <a:gd name="T22" fmla="*/ 144 w 148"/>
                <a:gd name="T23" fmla="*/ 67 h 98"/>
                <a:gd name="T24" fmla="*/ 145 w 148"/>
                <a:gd name="T25" fmla="*/ 62 h 98"/>
                <a:gd name="T26" fmla="*/ 123 w 148"/>
                <a:gd name="T27" fmla="*/ 28 h 98"/>
                <a:gd name="T28" fmla="*/ 88 w 148"/>
                <a:gd name="T29" fmla="*/ 19 h 98"/>
                <a:gd name="T30" fmla="*/ 74 w 148"/>
                <a:gd name="T31" fmla="*/ 15 h 98"/>
                <a:gd name="T32" fmla="*/ 37 w 148"/>
                <a:gd name="T33" fmla="*/ 8 h 98"/>
                <a:gd name="T34" fmla="*/ 37 w 148"/>
                <a:gd name="T35" fmla="*/ 8 h 98"/>
                <a:gd name="T36" fmla="*/ 3 w 148"/>
                <a:gd name="T37" fmla="*/ 6 h 98"/>
                <a:gd name="T38" fmla="*/ 35 w 148"/>
                <a:gd name="T39" fmla="*/ 16 h 98"/>
                <a:gd name="T40" fmla="*/ 35 w 148"/>
                <a:gd name="T41" fmla="*/ 16 h 98"/>
                <a:gd name="T42" fmla="*/ 74 w 148"/>
                <a:gd name="T43" fmla="*/ 23 h 98"/>
                <a:gd name="T44" fmla="*/ 85 w 148"/>
                <a:gd name="T45" fmla="*/ 27 h 98"/>
                <a:gd name="T46" fmla="*/ 122 w 148"/>
                <a:gd name="T47" fmla="*/ 36 h 98"/>
                <a:gd name="T48" fmla="*/ 136 w 148"/>
                <a:gd name="T49" fmla="*/ 61 h 98"/>
                <a:gd name="T50" fmla="*/ 136 w 148"/>
                <a:gd name="T51" fmla="*/ 67 h 98"/>
                <a:gd name="T52" fmla="*/ 127 w 148"/>
                <a:gd name="T53" fmla="*/ 83 h 98"/>
                <a:gd name="T54" fmla="*/ 113 w 148"/>
                <a:gd name="T55" fmla="*/ 88 h 98"/>
                <a:gd name="T56" fmla="*/ 98 w 148"/>
                <a:gd name="T57" fmla="*/ 72 h 98"/>
                <a:gd name="T58" fmla="*/ 93 w 148"/>
                <a:gd name="T59" fmla="*/ 61 h 98"/>
                <a:gd name="T60" fmla="*/ 81 w 148"/>
                <a:gd name="T61" fmla="*/ 56 h 98"/>
                <a:gd name="T62" fmla="*/ 69 w 148"/>
                <a:gd name="T63" fmla="*/ 78 h 98"/>
                <a:gd name="T64" fmla="*/ 67 w 148"/>
                <a:gd name="T65" fmla="*/ 83 h 98"/>
                <a:gd name="T66" fmla="*/ 56 w 148"/>
                <a:gd name="T67" fmla="*/ 73 h 98"/>
                <a:gd name="T68" fmla="*/ 35 w 148"/>
                <a:gd name="T69" fmla="*/ 44 h 98"/>
                <a:gd name="T70" fmla="*/ 11 w 148"/>
                <a:gd name="T71" fmla="*/ 12 h 98"/>
                <a:gd name="T72" fmla="*/ 10 w 148"/>
                <a:gd name="T73" fmla="*/ 11 h 98"/>
                <a:gd name="T74" fmla="*/ 35 w 148"/>
                <a:gd name="T75" fmla="*/ 16 h 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Lst>
              <a:rect l="0" t="0" r="r" b="b"/>
              <a:pathLst>
                <a:path w="148" h="98">
                  <a:moveTo>
                    <a:pt x="3" y="6"/>
                  </a:moveTo>
                  <a:cubicBezTo>
                    <a:pt x="1" y="8"/>
                    <a:pt x="0" y="11"/>
                    <a:pt x="4" y="17"/>
                  </a:cubicBezTo>
                  <a:cubicBezTo>
                    <a:pt x="9" y="25"/>
                    <a:pt x="19" y="37"/>
                    <a:pt x="28" y="49"/>
                  </a:cubicBezTo>
                  <a:cubicBezTo>
                    <a:pt x="36" y="59"/>
                    <a:pt x="47" y="72"/>
                    <a:pt x="48" y="75"/>
                  </a:cubicBezTo>
                  <a:cubicBezTo>
                    <a:pt x="49" y="80"/>
                    <a:pt x="59" y="92"/>
                    <a:pt x="68" y="92"/>
                  </a:cubicBezTo>
                  <a:cubicBezTo>
                    <a:pt x="71" y="91"/>
                    <a:pt x="76" y="90"/>
                    <a:pt x="78" y="79"/>
                  </a:cubicBezTo>
                  <a:cubicBezTo>
                    <a:pt x="79" y="68"/>
                    <a:pt x="82" y="64"/>
                    <a:pt x="83" y="64"/>
                  </a:cubicBezTo>
                  <a:cubicBezTo>
                    <a:pt x="83" y="64"/>
                    <a:pt x="84" y="64"/>
                    <a:pt x="86" y="66"/>
                  </a:cubicBezTo>
                  <a:cubicBezTo>
                    <a:pt x="90" y="74"/>
                    <a:pt x="90" y="74"/>
                    <a:pt x="90" y="74"/>
                  </a:cubicBezTo>
                  <a:cubicBezTo>
                    <a:pt x="93" y="83"/>
                    <a:pt x="97" y="96"/>
                    <a:pt x="112" y="97"/>
                  </a:cubicBezTo>
                  <a:cubicBezTo>
                    <a:pt x="120" y="98"/>
                    <a:pt x="127" y="95"/>
                    <a:pt x="133" y="89"/>
                  </a:cubicBezTo>
                  <a:cubicBezTo>
                    <a:pt x="140" y="83"/>
                    <a:pt x="144" y="73"/>
                    <a:pt x="144" y="67"/>
                  </a:cubicBezTo>
                  <a:cubicBezTo>
                    <a:pt x="145" y="62"/>
                    <a:pt x="145" y="62"/>
                    <a:pt x="145" y="62"/>
                  </a:cubicBezTo>
                  <a:cubicBezTo>
                    <a:pt x="146" y="52"/>
                    <a:pt x="148" y="31"/>
                    <a:pt x="123" y="28"/>
                  </a:cubicBezTo>
                  <a:cubicBezTo>
                    <a:pt x="109" y="26"/>
                    <a:pt x="97" y="22"/>
                    <a:pt x="88" y="19"/>
                  </a:cubicBezTo>
                  <a:cubicBezTo>
                    <a:pt x="82" y="16"/>
                    <a:pt x="77" y="15"/>
                    <a:pt x="74" y="15"/>
                  </a:cubicBezTo>
                  <a:cubicBezTo>
                    <a:pt x="69" y="15"/>
                    <a:pt x="49" y="10"/>
                    <a:pt x="37" y="8"/>
                  </a:cubicBezTo>
                  <a:cubicBezTo>
                    <a:pt x="37" y="8"/>
                    <a:pt x="37" y="8"/>
                    <a:pt x="37" y="8"/>
                  </a:cubicBezTo>
                  <a:cubicBezTo>
                    <a:pt x="24" y="3"/>
                    <a:pt x="8" y="0"/>
                    <a:pt x="3" y="6"/>
                  </a:cubicBezTo>
                  <a:close/>
                  <a:moveTo>
                    <a:pt x="35" y="16"/>
                  </a:moveTo>
                  <a:cubicBezTo>
                    <a:pt x="35" y="16"/>
                    <a:pt x="35" y="16"/>
                    <a:pt x="35" y="16"/>
                  </a:cubicBezTo>
                  <a:cubicBezTo>
                    <a:pt x="38" y="17"/>
                    <a:pt x="66" y="23"/>
                    <a:pt x="74" y="23"/>
                  </a:cubicBezTo>
                  <a:cubicBezTo>
                    <a:pt x="76" y="23"/>
                    <a:pt x="80" y="25"/>
                    <a:pt x="85" y="27"/>
                  </a:cubicBezTo>
                  <a:cubicBezTo>
                    <a:pt x="94" y="30"/>
                    <a:pt x="107" y="35"/>
                    <a:pt x="122" y="36"/>
                  </a:cubicBezTo>
                  <a:cubicBezTo>
                    <a:pt x="137" y="38"/>
                    <a:pt x="137" y="48"/>
                    <a:pt x="136" y="61"/>
                  </a:cubicBezTo>
                  <a:cubicBezTo>
                    <a:pt x="136" y="67"/>
                    <a:pt x="136" y="67"/>
                    <a:pt x="136" y="67"/>
                  </a:cubicBezTo>
                  <a:cubicBezTo>
                    <a:pt x="136" y="70"/>
                    <a:pt x="133" y="78"/>
                    <a:pt x="127" y="83"/>
                  </a:cubicBezTo>
                  <a:cubicBezTo>
                    <a:pt x="123" y="87"/>
                    <a:pt x="118" y="89"/>
                    <a:pt x="113" y="88"/>
                  </a:cubicBezTo>
                  <a:cubicBezTo>
                    <a:pt x="104" y="88"/>
                    <a:pt x="101" y="81"/>
                    <a:pt x="98" y="72"/>
                  </a:cubicBezTo>
                  <a:cubicBezTo>
                    <a:pt x="93" y="61"/>
                    <a:pt x="93" y="61"/>
                    <a:pt x="93" y="61"/>
                  </a:cubicBezTo>
                  <a:cubicBezTo>
                    <a:pt x="88" y="55"/>
                    <a:pt x="83" y="55"/>
                    <a:pt x="81" y="56"/>
                  </a:cubicBezTo>
                  <a:cubicBezTo>
                    <a:pt x="75" y="57"/>
                    <a:pt x="71" y="64"/>
                    <a:pt x="69" y="78"/>
                  </a:cubicBezTo>
                  <a:cubicBezTo>
                    <a:pt x="69" y="81"/>
                    <a:pt x="68" y="83"/>
                    <a:pt x="67" y="83"/>
                  </a:cubicBezTo>
                  <a:cubicBezTo>
                    <a:pt x="64" y="83"/>
                    <a:pt x="57" y="75"/>
                    <a:pt x="56" y="73"/>
                  </a:cubicBezTo>
                  <a:cubicBezTo>
                    <a:pt x="55" y="69"/>
                    <a:pt x="50" y="62"/>
                    <a:pt x="35" y="44"/>
                  </a:cubicBezTo>
                  <a:cubicBezTo>
                    <a:pt x="26" y="33"/>
                    <a:pt x="16" y="20"/>
                    <a:pt x="11" y="12"/>
                  </a:cubicBezTo>
                  <a:cubicBezTo>
                    <a:pt x="11" y="12"/>
                    <a:pt x="11" y="12"/>
                    <a:pt x="10" y="11"/>
                  </a:cubicBezTo>
                  <a:cubicBezTo>
                    <a:pt x="14" y="11"/>
                    <a:pt x="25" y="13"/>
                    <a:pt x="35"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06" name="Freeform 2060">
              <a:extLst>
                <a:ext uri="{FF2B5EF4-FFF2-40B4-BE49-F238E27FC236}">
                  <a16:creationId xmlns:a16="http://schemas.microsoft.com/office/drawing/2014/main" id="{E315B350-26B6-0394-8DAA-C7BDDE440C5A}"/>
                </a:ext>
              </a:extLst>
            </p:cNvPr>
            <p:cNvSpPr>
              <a:spLocks/>
            </p:cNvSpPr>
            <p:nvPr/>
          </p:nvSpPr>
          <p:spPr bwMode="auto">
            <a:xfrm>
              <a:off x="2572" y="3202"/>
              <a:ext cx="10" cy="7"/>
            </a:xfrm>
            <a:custGeom>
              <a:avLst/>
              <a:gdLst>
                <a:gd name="T0" fmla="*/ 22 w 41"/>
                <a:gd name="T1" fmla="*/ 3 h 33"/>
                <a:gd name="T2" fmla="*/ 11 w 41"/>
                <a:gd name="T3" fmla="*/ 20 h 33"/>
                <a:gd name="T4" fmla="*/ 41 w 41"/>
                <a:gd name="T5" fmla="*/ 20 h 33"/>
                <a:gd name="T6" fmla="*/ 22 w 41"/>
                <a:gd name="T7" fmla="*/ 3 h 33"/>
              </a:gdLst>
              <a:ahLst/>
              <a:cxnLst>
                <a:cxn ang="0">
                  <a:pos x="T0" y="T1"/>
                </a:cxn>
                <a:cxn ang="0">
                  <a:pos x="T2" y="T3"/>
                </a:cxn>
                <a:cxn ang="0">
                  <a:pos x="T4" y="T5"/>
                </a:cxn>
                <a:cxn ang="0">
                  <a:pos x="T6" y="T7"/>
                </a:cxn>
              </a:cxnLst>
              <a:rect l="0" t="0" r="r" b="b"/>
              <a:pathLst>
                <a:path w="41" h="33">
                  <a:moveTo>
                    <a:pt x="22" y="3"/>
                  </a:moveTo>
                  <a:cubicBezTo>
                    <a:pt x="22" y="3"/>
                    <a:pt x="0" y="10"/>
                    <a:pt x="11" y="20"/>
                  </a:cubicBezTo>
                  <a:cubicBezTo>
                    <a:pt x="21" y="31"/>
                    <a:pt x="41" y="33"/>
                    <a:pt x="41" y="20"/>
                  </a:cubicBezTo>
                  <a:cubicBezTo>
                    <a:pt x="41" y="8"/>
                    <a:pt x="28" y="0"/>
                    <a:pt x="22"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07" name="Freeform 2061">
              <a:extLst>
                <a:ext uri="{FF2B5EF4-FFF2-40B4-BE49-F238E27FC236}">
                  <a16:creationId xmlns:a16="http://schemas.microsoft.com/office/drawing/2014/main" id="{56BEE3D9-A195-4865-BD97-B5CC465CBDED}"/>
                </a:ext>
              </a:extLst>
            </p:cNvPr>
            <p:cNvSpPr>
              <a:spLocks noEditPoints="1"/>
            </p:cNvSpPr>
            <p:nvPr/>
          </p:nvSpPr>
          <p:spPr bwMode="auto">
            <a:xfrm>
              <a:off x="2573" y="3201"/>
              <a:ext cx="9" cy="9"/>
            </a:xfrm>
            <a:custGeom>
              <a:avLst/>
              <a:gdLst>
                <a:gd name="T0" fmla="*/ 17 w 42"/>
                <a:gd name="T1" fmla="*/ 2 h 39"/>
                <a:gd name="T2" fmla="*/ 18 w 42"/>
                <a:gd name="T3" fmla="*/ 2 h 39"/>
                <a:gd name="T4" fmla="*/ 1 w 42"/>
                <a:gd name="T5" fmla="*/ 16 h 39"/>
                <a:gd name="T6" fmla="*/ 4 w 42"/>
                <a:gd name="T7" fmla="*/ 27 h 39"/>
                <a:gd name="T8" fmla="*/ 35 w 42"/>
                <a:gd name="T9" fmla="*/ 35 h 39"/>
                <a:gd name="T10" fmla="*/ 42 w 42"/>
                <a:gd name="T11" fmla="*/ 23 h 39"/>
                <a:gd name="T12" fmla="*/ 31 w 42"/>
                <a:gd name="T13" fmla="*/ 4 h 39"/>
                <a:gd name="T14" fmla="*/ 17 w 42"/>
                <a:gd name="T15" fmla="*/ 2 h 39"/>
                <a:gd name="T16" fmla="*/ 11 w 42"/>
                <a:gd name="T17" fmla="*/ 20 h 39"/>
                <a:gd name="T18" fmla="*/ 9 w 42"/>
                <a:gd name="T19" fmla="*/ 18 h 39"/>
                <a:gd name="T20" fmla="*/ 20 w 42"/>
                <a:gd name="T21" fmla="*/ 10 h 39"/>
                <a:gd name="T22" fmla="*/ 21 w 42"/>
                <a:gd name="T23" fmla="*/ 10 h 39"/>
                <a:gd name="T24" fmla="*/ 21 w 42"/>
                <a:gd name="T25" fmla="*/ 10 h 39"/>
                <a:gd name="T26" fmla="*/ 27 w 42"/>
                <a:gd name="T27" fmla="*/ 11 h 39"/>
                <a:gd name="T28" fmla="*/ 34 w 42"/>
                <a:gd name="T29" fmla="*/ 23 h 39"/>
                <a:gd name="T30" fmla="*/ 31 w 42"/>
                <a:gd name="T31" fmla="*/ 27 h 39"/>
                <a:gd name="T32" fmla="*/ 11 w 42"/>
                <a:gd name="T33" fmla="*/ 2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39">
                  <a:moveTo>
                    <a:pt x="17" y="2"/>
                  </a:moveTo>
                  <a:cubicBezTo>
                    <a:pt x="18" y="2"/>
                    <a:pt x="18" y="2"/>
                    <a:pt x="18" y="2"/>
                  </a:cubicBezTo>
                  <a:cubicBezTo>
                    <a:pt x="15" y="3"/>
                    <a:pt x="3" y="7"/>
                    <a:pt x="1" y="16"/>
                  </a:cubicBezTo>
                  <a:cubicBezTo>
                    <a:pt x="0" y="18"/>
                    <a:pt x="0" y="22"/>
                    <a:pt x="4" y="27"/>
                  </a:cubicBezTo>
                  <a:cubicBezTo>
                    <a:pt x="13" y="35"/>
                    <a:pt x="26" y="39"/>
                    <a:pt x="35" y="35"/>
                  </a:cubicBezTo>
                  <a:cubicBezTo>
                    <a:pt x="39" y="33"/>
                    <a:pt x="42" y="29"/>
                    <a:pt x="42" y="23"/>
                  </a:cubicBezTo>
                  <a:cubicBezTo>
                    <a:pt x="42" y="16"/>
                    <a:pt x="38" y="8"/>
                    <a:pt x="31" y="4"/>
                  </a:cubicBezTo>
                  <a:cubicBezTo>
                    <a:pt x="26" y="1"/>
                    <a:pt x="21" y="0"/>
                    <a:pt x="17" y="2"/>
                  </a:cubicBezTo>
                  <a:close/>
                  <a:moveTo>
                    <a:pt x="11" y="20"/>
                  </a:moveTo>
                  <a:cubicBezTo>
                    <a:pt x="10" y="20"/>
                    <a:pt x="9" y="19"/>
                    <a:pt x="9" y="18"/>
                  </a:cubicBezTo>
                  <a:cubicBezTo>
                    <a:pt x="10" y="15"/>
                    <a:pt x="16" y="12"/>
                    <a:pt x="20" y="10"/>
                  </a:cubicBezTo>
                  <a:cubicBezTo>
                    <a:pt x="21" y="10"/>
                    <a:pt x="21" y="10"/>
                    <a:pt x="21" y="10"/>
                  </a:cubicBezTo>
                  <a:cubicBezTo>
                    <a:pt x="21" y="10"/>
                    <a:pt x="21" y="10"/>
                    <a:pt x="21" y="10"/>
                  </a:cubicBezTo>
                  <a:cubicBezTo>
                    <a:pt x="22" y="10"/>
                    <a:pt x="24" y="10"/>
                    <a:pt x="27" y="11"/>
                  </a:cubicBezTo>
                  <a:cubicBezTo>
                    <a:pt x="28" y="12"/>
                    <a:pt x="34" y="16"/>
                    <a:pt x="34" y="23"/>
                  </a:cubicBezTo>
                  <a:cubicBezTo>
                    <a:pt x="34" y="26"/>
                    <a:pt x="32" y="27"/>
                    <a:pt x="31" y="27"/>
                  </a:cubicBezTo>
                  <a:cubicBezTo>
                    <a:pt x="27" y="29"/>
                    <a:pt x="17" y="27"/>
                    <a:pt x="11"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08" name="Freeform 2062">
              <a:extLst>
                <a:ext uri="{FF2B5EF4-FFF2-40B4-BE49-F238E27FC236}">
                  <a16:creationId xmlns:a16="http://schemas.microsoft.com/office/drawing/2014/main" id="{A86FAA8A-EC21-08C2-E836-BCF7305FF8AF}"/>
                </a:ext>
              </a:extLst>
            </p:cNvPr>
            <p:cNvSpPr>
              <a:spLocks/>
            </p:cNvSpPr>
            <p:nvPr/>
          </p:nvSpPr>
          <p:spPr bwMode="auto">
            <a:xfrm>
              <a:off x="2575" y="3220"/>
              <a:ext cx="18" cy="14"/>
            </a:xfrm>
            <a:custGeom>
              <a:avLst/>
              <a:gdLst>
                <a:gd name="T0" fmla="*/ 37 w 82"/>
                <a:gd name="T1" fmla="*/ 3 h 60"/>
                <a:gd name="T2" fmla="*/ 19 w 82"/>
                <a:gd name="T3" fmla="*/ 36 h 60"/>
                <a:gd name="T4" fmla="*/ 61 w 82"/>
                <a:gd name="T5" fmla="*/ 55 h 60"/>
                <a:gd name="T6" fmla="*/ 74 w 82"/>
                <a:gd name="T7" fmla="*/ 30 h 60"/>
                <a:gd name="T8" fmla="*/ 37 w 82"/>
                <a:gd name="T9" fmla="*/ 3 h 60"/>
              </a:gdLst>
              <a:ahLst/>
              <a:cxnLst>
                <a:cxn ang="0">
                  <a:pos x="T0" y="T1"/>
                </a:cxn>
                <a:cxn ang="0">
                  <a:pos x="T2" y="T3"/>
                </a:cxn>
                <a:cxn ang="0">
                  <a:pos x="T4" y="T5"/>
                </a:cxn>
                <a:cxn ang="0">
                  <a:pos x="T6" y="T7"/>
                </a:cxn>
                <a:cxn ang="0">
                  <a:pos x="T8" y="T9"/>
                </a:cxn>
              </a:cxnLst>
              <a:rect l="0" t="0" r="r" b="b"/>
              <a:pathLst>
                <a:path w="82" h="60">
                  <a:moveTo>
                    <a:pt x="37" y="3"/>
                  </a:moveTo>
                  <a:cubicBezTo>
                    <a:pt x="37" y="3"/>
                    <a:pt x="0" y="19"/>
                    <a:pt x="19" y="36"/>
                  </a:cubicBezTo>
                  <a:cubicBezTo>
                    <a:pt x="37" y="53"/>
                    <a:pt x="58" y="60"/>
                    <a:pt x="61" y="55"/>
                  </a:cubicBezTo>
                  <a:cubicBezTo>
                    <a:pt x="63" y="49"/>
                    <a:pt x="82" y="46"/>
                    <a:pt x="74" y="30"/>
                  </a:cubicBezTo>
                  <a:cubicBezTo>
                    <a:pt x="65" y="14"/>
                    <a:pt x="53" y="0"/>
                    <a:pt x="3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09" name="Freeform 2063">
              <a:extLst>
                <a:ext uri="{FF2B5EF4-FFF2-40B4-BE49-F238E27FC236}">
                  <a16:creationId xmlns:a16="http://schemas.microsoft.com/office/drawing/2014/main" id="{9972BDDA-D906-4C78-CB6D-040F557E147A}"/>
                </a:ext>
              </a:extLst>
            </p:cNvPr>
            <p:cNvSpPr>
              <a:spLocks noEditPoints="1"/>
            </p:cNvSpPr>
            <p:nvPr/>
          </p:nvSpPr>
          <p:spPr bwMode="auto">
            <a:xfrm>
              <a:off x="2577" y="3219"/>
              <a:ext cx="17" cy="15"/>
            </a:xfrm>
            <a:custGeom>
              <a:avLst/>
              <a:gdLst>
                <a:gd name="T0" fmla="*/ 28 w 76"/>
                <a:gd name="T1" fmla="*/ 5 h 69"/>
                <a:gd name="T2" fmla="*/ 27 w 76"/>
                <a:gd name="T3" fmla="*/ 5 h 69"/>
                <a:gd name="T4" fmla="*/ 27 w 76"/>
                <a:gd name="T5" fmla="*/ 5 h 69"/>
                <a:gd name="T6" fmla="*/ 0 w 76"/>
                <a:gd name="T7" fmla="*/ 29 h 69"/>
                <a:gd name="T8" fmla="*/ 7 w 76"/>
                <a:gd name="T9" fmla="*/ 45 h 69"/>
                <a:gd name="T10" fmla="*/ 50 w 76"/>
                <a:gd name="T11" fmla="*/ 67 h 69"/>
                <a:gd name="T12" fmla="*/ 55 w 76"/>
                <a:gd name="T13" fmla="*/ 63 h 69"/>
                <a:gd name="T14" fmla="*/ 60 w 76"/>
                <a:gd name="T15" fmla="*/ 60 h 69"/>
                <a:gd name="T16" fmla="*/ 68 w 76"/>
                <a:gd name="T17" fmla="*/ 34 h 69"/>
                <a:gd name="T18" fmla="*/ 28 w 76"/>
                <a:gd name="T19" fmla="*/ 5 h 69"/>
                <a:gd name="T20" fmla="*/ 61 w 76"/>
                <a:gd name="T21" fmla="*/ 38 h 69"/>
                <a:gd name="T22" fmla="*/ 55 w 76"/>
                <a:gd name="T23" fmla="*/ 52 h 69"/>
                <a:gd name="T24" fmla="*/ 48 w 76"/>
                <a:gd name="T25" fmla="*/ 59 h 69"/>
                <a:gd name="T26" fmla="*/ 13 w 76"/>
                <a:gd name="T27" fmla="*/ 39 h 69"/>
                <a:gd name="T28" fmla="*/ 9 w 76"/>
                <a:gd name="T29" fmla="*/ 32 h 69"/>
                <a:gd name="T30" fmla="*/ 9 w 76"/>
                <a:gd name="T31" fmla="*/ 31 h 69"/>
                <a:gd name="T32" fmla="*/ 30 w 76"/>
                <a:gd name="T33" fmla="*/ 13 h 69"/>
                <a:gd name="T34" fmla="*/ 61 w 76"/>
                <a:gd name="T35" fmla="*/ 38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76" h="69">
                  <a:moveTo>
                    <a:pt x="28" y="5"/>
                  </a:moveTo>
                  <a:cubicBezTo>
                    <a:pt x="27" y="5"/>
                    <a:pt x="27" y="5"/>
                    <a:pt x="27" y="5"/>
                  </a:cubicBezTo>
                  <a:cubicBezTo>
                    <a:pt x="27" y="5"/>
                    <a:pt x="27" y="5"/>
                    <a:pt x="27" y="5"/>
                  </a:cubicBezTo>
                  <a:cubicBezTo>
                    <a:pt x="24" y="6"/>
                    <a:pt x="3" y="15"/>
                    <a:pt x="0" y="29"/>
                  </a:cubicBezTo>
                  <a:cubicBezTo>
                    <a:pt x="0" y="33"/>
                    <a:pt x="0" y="39"/>
                    <a:pt x="7" y="45"/>
                  </a:cubicBezTo>
                  <a:cubicBezTo>
                    <a:pt x="22" y="59"/>
                    <a:pt x="40" y="69"/>
                    <a:pt x="50" y="67"/>
                  </a:cubicBezTo>
                  <a:cubicBezTo>
                    <a:pt x="52" y="66"/>
                    <a:pt x="54" y="65"/>
                    <a:pt x="55" y="63"/>
                  </a:cubicBezTo>
                  <a:cubicBezTo>
                    <a:pt x="60" y="60"/>
                    <a:pt x="60" y="60"/>
                    <a:pt x="60" y="60"/>
                  </a:cubicBezTo>
                  <a:cubicBezTo>
                    <a:pt x="65" y="56"/>
                    <a:pt x="76" y="49"/>
                    <a:pt x="68" y="34"/>
                  </a:cubicBezTo>
                  <a:cubicBezTo>
                    <a:pt x="64" y="26"/>
                    <a:pt x="50" y="0"/>
                    <a:pt x="28" y="5"/>
                  </a:cubicBezTo>
                  <a:close/>
                  <a:moveTo>
                    <a:pt x="61" y="38"/>
                  </a:moveTo>
                  <a:cubicBezTo>
                    <a:pt x="65" y="46"/>
                    <a:pt x="62" y="48"/>
                    <a:pt x="55" y="52"/>
                  </a:cubicBezTo>
                  <a:cubicBezTo>
                    <a:pt x="52" y="54"/>
                    <a:pt x="49" y="56"/>
                    <a:pt x="48" y="59"/>
                  </a:cubicBezTo>
                  <a:cubicBezTo>
                    <a:pt x="45" y="60"/>
                    <a:pt x="30" y="54"/>
                    <a:pt x="13" y="39"/>
                  </a:cubicBezTo>
                  <a:cubicBezTo>
                    <a:pt x="9" y="36"/>
                    <a:pt x="9" y="33"/>
                    <a:pt x="9" y="32"/>
                  </a:cubicBezTo>
                  <a:cubicBezTo>
                    <a:pt x="9" y="31"/>
                    <a:pt x="9" y="31"/>
                    <a:pt x="9" y="31"/>
                  </a:cubicBezTo>
                  <a:cubicBezTo>
                    <a:pt x="10" y="24"/>
                    <a:pt x="22" y="16"/>
                    <a:pt x="30" y="13"/>
                  </a:cubicBezTo>
                  <a:cubicBezTo>
                    <a:pt x="41" y="11"/>
                    <a:pt x="50" y="19"/>
                    <a:pt x="61" y="3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10" name="Freeform 2064">
              <a:extLst>
                <a:ext uri="{FF2B5EF4-FFF2-40B4-BE49-F238E27FC236}">
                  <a16:creationId xmlns:a16="http://schemas.microsoft.com/office/drawing/2014/main" id="{0A7BB441-1404-C3D2-61F1-002A79B4862F}"/>
                </a:ext>
              </a:extLst>
            </p:cNvPr>
            <p:cNvSpPr>
              <a:spLocks/>
            </p:cNvSpPr>
            <p:nvPr/>
          </p:nvSpPr>
          <p:spPr bwMode="auto">
            <a:xfrm>
              <a:off x="2550" y="3266"/>
              <a:ext cx="14" cy="8"/>
            </a:xfrm>
            <a:custGeom>
              <a:avLst/>
              <a:gdLst>
                <a:gd name="T0" fmla="*/ 37 w 63"/>
                <a:gd name="T1" fmla="*/ 0 h 39"/>
                <a:gd name="T2" fmla="*/ 11 w 63"/>
                <a:gd name="T3" fmla="*/ 21 h 39"/>
                <a:gd name="T4" fmla="*/ 44 w 63"/>
                <a:gd name="T5" fmla="*/ 31 h 39"/>
                <a:gd name="T6" fmla="*/ 37 w 63"/>
                <a:gd name="T7" fmla="*/ 0 h 39"/>
              </a:gdLst>
              <a:ahLst/>
              <a:cxnLst>
                <a:cxn ang="0">
                  <a:pos x="T0" y="T1"/>
                </a:cxn>
                <a:cxn ang="0">
                  <a:pos x="T2" y="T3"/>
                </a:cxn>
                <a:cxn ang="0">
                  <a:pos x="T4" y="T5"/>
                </a:cxn>
                <a:cxn ang="0">
                  <a:pos x="T6" y="T7"/>
                </a:cxn>
              </a:cxnLst>
              <a:rect l="0" t="0" r="r" b="b"/>
              <a:pathLst>
                <a:path w="63" h="39">
                  <a:moveTo>
                    <a:pt x="37" y="0"/>
                  </a:moveTo>
                  <a:cubicBezTo>
                    <a:pt x="37" y="0"/>
                    <a:pt x="0" y="7"/>
                    <a:pt x="11" y="21"/>
                  </a:cubicBezTo>
                  <a:cubicBezTo>
                    <a:pt x="23" y="36"/>
                    <a:pt x="41" y="39"/>
                    <a:pt x="44" y="31"/>
                  </a:cubicBezTo>
                  <a:cubicBezTo>
                    <a:pt x="47" y="24"/>
                    <a:pt x="63" y="1"/>
                    <a:pt x="37"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11" name="Freeform 2065">
              <a:extLst>
                <a:ext uri="{FF2B5EF4-FFF2-40B4-BE49-F238E27FC236}">
                  <a16:creationId xmlns:a16="http://schemas.microsoft.com/office/drawing/2014/main" id="{157E4D71-DC14-5A45-4673-2C6814E26196}"/>
                </a:ext>
              </a:extLst>
            </p:cNvPr>
            <p:cNvSpPr>
              <a:spLocks noEditPoints="1"/>
            </p:cNvSpPr>
            <p:nvPr/>
          </p:nvSpPr>
          <p:spPr bwMode="auto">
            <a:xfrm>
              <a:off x="2551" y="3265"/>
              <a:ext cx="12" cy="10"/>
            </a:xfrm>
            <a:custGeom>
              <a:avLst/>
              <a:gdLst>
                <a:gd name="T0" fmla="*/ 32 w 55"/>
                <a:gd name="T1" fmla="*/ 0 h 46"/>
                <a:gd name="T2" fmla="*/ 1 w 55"/>
                <a:gd name="T3" fmla="*/ 17 h 46"/>
                <a:gd name="T4" fmla="*/ 4 w 55"/>
                <a:gd name="T5" fmla="*/ 29 h 46"/>
                <a:gd name="T6" fmla="*/ 35 w 55"/>
                <a:gd name="T7" fmla="*/ 44 h 46"/>
                <a:gd name="T8" fmla="*/ 44 w 55"/>
                <a:gd name="T9" fmla="*/ 38 h 46"/>
                <a:gd name="T10" fmla="*/ 46 w 55"/>
                <a:gd name="T11" fmla="*/ 35 h 46"/>
                <a:gd name="T12" fmla="*/ 50 w 55"/>
                <a:gd name="T13" fmla="*/ 8 h 46"/>
                <a:gd name="T14" fmla="*/ 33 w 55"/>
                <a:gd name="T15" fmla="*/ 0 h 46"/>
                <a:gd name="T16" fmla="*/ 33 w 55"/>
                <a:gd name="T17" fmla="*/ 0 h 46"/>
                <a:gd name="T18" fmla="*/ 32 w 55"/>
                <a:gd name="T19" fmla="*/ 0 h 46"/>
                <a:gd name="T20" fmla="*/ 11 w 55"/>
                <a:gd name="T21" fmla="*/ 24 h 46"/>
                <a:gd name="T22" fmla="*/ 9 w 55"/>
                <a:gd name="T23" fmla="*/ 21 h 46"/>
                <a:gd name="T24" fmla="*/ 9 w 55"/>
                <a:gd name="T25" fmla="*/ 20 h 46"/>
                <a:gd name="T26" fmla="*/ 33 w 55"/>
                <a:gd name="T27" fmla="*/ 9 h 46"/>
                <a:gd name="T28" fmla="*/ 43 w 55"/>
                <a:gd name="T29" fmla="*/ 13 h 46"/>
                <a:gd name="T30" fmla="*/ 43 w 55"/>
                <a:gd name="T31" fmla="*/ 16 h 46"/>
                <a:gd name="T32" fmla="*/ 38 w 55"/>
                <a:gd name="T33" fmla="*/ 31 h 46"/>
                <a:gd name="T34" fmla="*/ 36 w 55"/>
                <a:gd name="T35" fmla="*/ 35 h 46"/>
                <a:gd name="T36" fmla="*/ 34 w 55"/>
                <a:gd name="T37" fmla="*/ 36 h 46"/>
                <a:gd name="T38" fmla="*/ 11 w 55"/>
                <a:gd name="T39" fmla="*/ 24 h 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55" h="46">
                  <a:moveTo>
                    <a:pt x="32" y="0"/>
                  </a:moveTo>
                  <a:cubicBezTo>
                    <a:pt x="28" y="1"/>
                    <a:pt x="5" y="6"/>
                    <a:pt x="1" y="17"/>
                  </a:cubicBezTo>
                  <a:cubicBezTo>
                    <a:pt x="0" y="20"/>
                    <a:pt x="0" y="24"/>
                    <a:pt x="4" y="29"/>
                  </a:cubicBezTo>
                  <a:cubicBezTo>
                    <a:pt x="13" y="41"/>
                    <a:pt x="27" y="46"/>
                    <a:pt x="35" y="44"/>
                  </a:cubicBezTo>
                  <a:cubicBezTo>
                    <a:pt x="40" y="44"/>
                    <a:pt x="43" y="41"/>
                    <a:pt x="44" y="38"/>
                  </a:cubicBezTo>
                  <a:cubicBezTo>
                    <a:pt x="46" y="35"/>
                    <a:pt x="46" y="35"/>
                    <a:pt x="46" y="35"/>
                  </a:cubicBezTo>
                  <a:cubicBezTo>
                    <a:pt x="50" y="27"/>
                    <a:pt x="55" y="17"/>
                    <a:pt x="50" y="8"/>
                  </a:cubicBezTo>
                  <a:cubicBezTo>
                    <a:pt x="47" y="4"/>
                    <a:pt x="42" y="1"/>
                    <a:pt x="33" y="0"/>
                  </a:cubicBezTo>
                  <a:cubicBezTo>
                    <a:pt x="33" y="0"/>
                    <a:pt x="33" y="0"/>
                    <a:pt x="33" y="0"/>
                  </a:cubicBezTo>
                  <a:lnTo>
                    <a:pt x="32" y="0"/>
                  </a:lnTo>
                  <a:close/>
                  <a:moveTo>
                    <a:pt x="11" y="24"/>
                  </a:moveTo>
                  <a:cubicBezTo>
                    <a:pt x="10" y="22"/>
                    <a:pt x="9" y="22"/>
                    <a:pt x="9" y="21"/>
                  </a:cubicBezTo>
                  <a:cubicBezTo>
                    <a:pt x="9" y="21"/>
                    <a:pt x="9" y="20"/>
                    <a:pt x="9" y="20"/>
                  </a:cubicBezTo>
                  <a:cubicBezTo>
                    <a:pt x="11" y="16"/>
                    <a:pt x="24" y="11"/>
                    <a:pt x="33" y="9"/>
                  </a:cubicBezTo>
                  <a:cubicBezTo>
                    <a:pt x="37" y="9"/>
                    <a:pt x="41" y="10"/>
                    <a:pt x="43" y="13"/>
                  </a:cubicBezTo>
                  <a:cubicBezTo>
                    <a:pt x="43" y="14"/>
                    <a:pt x="43" y="15"/>
                    <a:pt x="43" y="16"/>
                  </a:cubicBezTo>
                  <a:cubicBezTo>
                    <a:pt x="43" y="20"/>
                    <a:pt x="40" y="27"/>
                    <a:pt x="38" y="31"/>
                  </a:cubicBezTo>
                  <a:cubicBezTo>
                    <a:pt x="36" y="35"/>
                    <a:pt x="36" y="35"/>
                    <a:pt x="36" y="35"/>
                  </a:cubicBezTo>
                  <a:cubicBezTo>
                    <a:pt x="36" y="35"/>
                    <a:pt x="35" y="36"/>
                    <a:pt x="34" y="36"/>
                  </a:cubicBezTo>
                  <a:cubicBezTo>
                    <a:pt x="29" y="37"/>
                    <a:pt x="18" y="33"/>
                    <a:pt x="11"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12" name="Freeform 2066">
              <a:extLst>
                <a:ext uri="{FF2B5EF4-FFF2-40B4-BE49-F238E27FC236}">
                  <a16:creationId xmlns:a16="http://schemas.microsoft.com/office/drawing/2014/main" id="{DDE51CFB-E39B-73DB-4830-D1A79523F64B}"/>
                </a:ext>
              </a:extLst>
            </p:cNvPr>
            <p:cNvSpPr>
              <a:spLocks/>
            </p:cNvSpPr>
            <p:nvPr/>
          </p:nvSpPr>
          <p:spPr bwMode="auto">
            <a:xfrm>
              <a:off x="2440" y="3427"/>
              <a:ext cx="8" cy="8"/>
            </a:xfrm>
            <a:custGeom>
              <a:avLst/>
              <a:gdLst>
                <a:gd name="T0" fmla="*/ 23 w 36"/>
                <a:gd name="T1" fmla="*/ 0 h 36"/>
                <a:gd name="T2" fmla="*/ 0 w 36"/>
                <a:gd name="T3" fmla="*/ 16 h 36"/>
                <a:gd name="T4" fmla="*/ 22 w 36"/>
                <a:gd name="T5" fmla="*/ 36 h 36"/>
                <a:gd name="T6" fmla="*/ 36 w 36"/>
                <a:gd name="T7" fmla="*/ 17 h 36"/>
                <a:gd name="T8" fmla="*/ 23 w 36"/>
                <a:gd name="T9" fmla="*/ 0 h 36"/>
              </a:gdLst>
              <a:ahLst/>
              <a:cxnLst>
                <a:cxn ang="0">
                  <a:pos x="T0" y="T1"/>
                </a:cxn>
                <a:cxn ang="0">
                  <a:pos x="T2" y="T3"/>
                </a:cxn>
                <a:cxn ang="0">
                  <a:pos x="T4" y="T5"/>
                </a:cxn>
                <a:cxn ang="0">
                  <a:pos x="T6" y="T7"/>
                </a:cxn>
                <a:cxn ang="0">
                  <a:pos x="T8" y="T9"/>
                </a:cxn>
              </a:cxnLst>
              <a:rect l="0" t="0" r="r" b="b"/>
              <a:pathLst>
                <a:path w="36" h="36">
                  <a:moveTo>
                    <a:pt x="23" y="0"/>
                  </a:moveTo>
                  <a:cubicBezTo>
                    <a:pt x="23" y="0"/>
                    <a:pt x="0" y="10"/>
                    <a:pt x="0" y="16"/>
                  </a:cubicBezTo>
                  <a:cubicBezTo>
                    <a:pt x="0" y="22"/>
                    <a:pt x="10" y="36"/>
                    <a:pt x="22" y="36"/>
                  </a:cubicBezTo>
                  <a:cubicBezTo>
                    <a:pt x="33" y="36"/>
                    <a:pt x="36" y="23"/>
                    <a:pt x="36" y="17"/>
                  </a:cubicBezTo>
                  <a:cubicBezTo>
                    <a:pt x="36" y="12"/>
                    <a:pt x="35" y="1"/>
                    <a:pt x="2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13" name="Freeform 2067">
              <a:extLst>
                <a:ext uri="{FF2B5EF4-FFF2-40B4-BE49-F238E27FC236}">
                  <a16:creationId xmlns:a16="http://schemas.microsoft.com/office/drawing/2014/main" id="{44EC2D9C-585D-FD00-DA1C-0A2D0F308CA9}"/>
                </a:ext>
              </a:extLst>
            </p:cNvPr>
            <p:cNvSpPr>
              <a:spLocks noEditPoints="1"/>
            </p:cNvSpPr>
            <p:nvPr/>
          </p:nvSpPr>
          <p:spPr bwMode="auto">
            <a:xfrm>
              <a:off x="2439" y="3426"/>
              <a:ext cx="10" cy="10"/>
            </a:xfrm>
            <a:custGeom>
              <a:avLst/>
              <a:gdLst>
                <a:gd name="T0" fmla="*/ 25 w 44"/>
                <a:gd name="T1" fmla="*/ 0 h 44"/>
                <a:gd name="T2" fmla="*/ 0 w 44"/>
                <a:gd name="T3" fmla="*/ 20 h 44"/>
                <a:gd name="T4" fmla="*/ 26 w 44"/>
                <a:gd name="T5" fmla="*/ 44 h 44"/>
                <a:gd name="T6" fmla="*/ 44 w 44"/>
                <a:gd name="T7" fmla="*/ 21 h 44"/>
                <a:gd name="T8" fmla="*/ 28 w 44"/>
                <a:gd name="T9" fmla="*/ 0 h 44"/>
                <a:gd name="T10" fmla="*/ 26 w 44"/>
                <a:gd name="T11" fmla="*/ 0 h 44"/>
                <a:gd name="T12" fmla="*/ 25 w 44"/>
                <a:gd name="T13" fmla="*/ 0 h 44"/>
                <a:gd name="T14" fmla="*/ 8 w 44"/>
                <a:gd name="T15" fmla="*/ 20 h 44"/>
                <a:gd name="T16" fmla="*/ 28 w 44"/>
                <a:gd name="T17" fmla="*/ 9 h 44"/>
                <a:gd name="T18" fmla="*/ 36 w 44"/>
                <a:gd name="T19" fmla="*/ 21 h 44"/>
                <a:gd name="T20" fmla="*/ 26 w 44"/>
                <a:gd name="T21" fmla="*/ 36 h 44"/>
                <a:gd name="T22" fmla="*/ 8 w 44"/>
                <a:gd name="T23" fmla="*/ 20 h 4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44" h="44">
                  <a:moveTo>
                    <a:pt x="25" y="0"/>
                  </a:moveTo>
                  <a:cubicBezTo>
                    <a:pt x="8" y="7"/>
                    <a:pt x="0" y="14"/>
                    <a:pt x="0" y="20"/>
                  </a:cubicBezTo>
                  <a:cubicBezTo>
                    <a:pt x="0" y="28"/>
                    <a:pt x="12" y="44"/>
                    <a:pt x="26" y="44"/>
                  </a:cubicBezTo>
                  <a:cubicBezTo>
                    <a:pt x="39" y="44"/>
                    <a:pt x="44" y="31"/>
                    <a:pt x="44" y="21"/>
                  </a:cubicBezTo>
                  <a:cubicBezTo>
                    <a:pt x="44" y="9"/>
                    <a:pt x="38" y="1"/>
                    <a:pt x="28" y="0"/>
                  </a:cubicBezTo>
                  <a:cubicBezTo>
                    <a:pt x="26" y="0"/>
                    <a:pt x="26" y="0"/>
                    <a:pt x="26" y="0"/>
                  </a:cubicBezTo>
                  <a:lnTo>
                    <a:pt x="25" y="0"/>
                  </a:lnTo>
                  <a:close/>
                  <a:moveTo>
                    <a:pt x="8" y="20"/>
                  </a:moveTo>
                  <a:cubicBezTo>
                    <a:pt x="9" y="18"/>
                    <a:pt x="18" y="13"/>
                    <a:pt x="28" y="9"/>
                  </a:cubicBezTo>
                  <a:cubicBezTo>
                    <a:pt x="31" y="9"/>
                    <a:pt x="36" y="12"/>
                    <a:pt x="36" y="21"/>
                  </a:cubicBezTo>
                  <a:cubicBezTo>
                    <a:pt x="36" y="21"/>
                    <a:pt x="35" y="36"/>
                    <a:pt x="26" y="36"/>
                  </a:cubicBezTo>
                  <a:cubicBezTo>
                    <a:pt x="17" y="36"/>
                    <a:pt x="8" y="23"/>
                    <a:pt x="8"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14" name="Freeform 2068">
              <a:extLst>
                <a:ext uri="{FF2B5EF4-FFF2-40B4-BE49-F238E27FC236}">
                  <a16:creationId xmlns:a16="http://schemas.microsoft.com/office/drawing/2014/main" id="{4F956BC0-D1A7-43D3-89AD-AB0671454C0B}"/>
                </a:ext>
              </a:extLst>
            </p:cNvPr>
            <p:cNvSpPr>
              <a:spLocks/>
            </p:cNvSpPr>
            <p:nvPr/>
          </p:nvSpPr>
          <p:spPr bwMode="auto">
            <a:xfrm>
              <a:off x="1341" y="4199"/>
              <a:ext cx="14" cy="13"/>
            </a:xfrm>
            <a:custGeom>
              <a:avLst/>
              <a:gdLst>
                <a:gd name="T0" fmla="*/ 43 w 62"/>
                <a:gd name="T1" fmla="*/ 0 h 56"/>
                <a:gd name="T2" fmla="*/ 3 w 62"/>
                <a:gd name="T3" fmla="*/ 39 h 56"/>
                <a:gd name="T4" fmla="*/ 33 w 62"/>
                <a:gd name="T5" fmla="*/ 52 h 56"/>
                <a:gd name="T6" fmla="*/ 43 w 62"/>
                <a:gd name="T7" fmla="*/ 0 h 56"/>
              </a:gdLst>
              <a:ahLst/>
              <a:cxnLst>
                <a:cxn ang="0">
                  <a:pos x="T0" y="T1"/>
                </a:cxn>
                <a:cxn ang="0">
                  <a:pos x="T2" y="T3"/>
                </a:cxn>
                <a:cxn ang="0">
                  <a:pos x="T4" y="T5"/>
                </a:cxn>
                <a:cxn ang="0">
                  <a:pos x="T6" y="T7"/>
                </a:cxn>
              </a:cxnLst>
              <a:rect l="0" t="0" r="r" b="b"/>
              <a:pathLst>
                <a:path w="62" h="56">
                  <a:moveTo>
                    <a:pt x="43" y="0"/>
                  </a:moveTo>
                  <a:cubicBezTo>
                    <a:pt x="43" y="0"/>
                    <a:pt x="0" y="26"/>
                    <a:pt x="3" y="39"/>
                  </a:cubicBezTo>
                  <a:cubicBezTo>
                    <a:pt x="6" y="52"/>
                    <a:pt x="19" y="56"/>
                    <a:pt x="33" y="52"/>
                  </a:cubicBezTo>
                  <a:cubicBezTo>
                    <a:pt x="47" y="48"/>
                    <a:pt x="62" y="4"/>
                    <a:pt x="4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15" name="Freeform 2069">
              <a:extLst>
                <a:ext uri="{FF2B5EF4-FFF2-40B4-BE49-F238E27FC236}">
                  <a16:creationId xmlns:a16="http://schemas.microsoft.com/office/drawing/2014/main" id="{CBE8C6AB-B56F-B9AB-6A2D-0F2083B1D371}"/>
                </a:ext>
              </a:extLst>
            </p:cNvPr>
            <p:cNvSpPr>
              <a:spLocks noEditPoints="1"/>
            </p:cNvSpPr>
            <p:nvPr/>
          </p:nvSpPr>
          <p:spPr bwMode="auto">
            <a:xfrm>
              <a:off x="1340" y="4198"/>
              <a:ext cx="14" cy="14"/>
            </a:xfrm>
            <a:custGeom>
              <a:avLst/>
              <a:gdLst>
                <a:gd name="T0" fmla="*/ 46 w 62"/>
                <a:gd name="T1" fmla="*/ 0 h 63"/>
                <a:gd name="T2" fmla="*/ 4 w 62"/>
                <a:gd name="T3" fmla="*/ 44 h 63"/>
                <a:gd name="T4" fmla="*/ 14 w 62"/>
                <a:gd name="T5" fmla="*/ 59 h 63"/>
                <a:gd name="T6" fmla="*/ 39 w 62"/>
                <a:gd name="T7" fmla="*/ 60 h 63"/>
                <a:gd name="T8" fmla="*/ 61 w 62"/>
                <a:gd name="T9" fmla="*/ 18 h 63"/>
                <a:gd name="T10" fmla="*/ 49 w 62"/>
                <a:gd name="T11" fmla="*/ 0 h 63"/>
                <a:gd name="T12" fmla="*/ 47 w 62"/>
                <a:gd name="T13" fmla="*/ 0 h 63"/>
                <a:gd name="T14" fmla="*/ 46 w 62"/>
                <a:gd name="T15" fmla="*/ 0 h 63"/>
                <a:gd name="T16" fmla="*/ 18 w 62"/>
                <a:gd name="T17" fmla="*/ 51 h 63"/>
                <a:gd name="T18" fmla="*/ 12 w 62"/>
                <a:gd name="T19" fmla="*/ 42 h 63"/>
                <a:gd name="T20" fmla="*/ 12 w 62"/>
                <a:gd name="T21" fmla="*/ 42 h 63"/>
                <a:gd name="T22" fmla="*/ 48 w 62"/>
                <a:gd name="T23" fmla="*/ 9 h 63"/>
                <a:gd name="T24" fmla="*/ 53 w 62"/>
                <a:gd name="T25" fmla="*/ 18 h 63"/>
                <a:gd name="T26" fmla="*/ 53 w 62"/>
                <a:gd name="T27" fmla="*/ 19 h 63"/>
                <a:gd name="T28" fmla="*/ 37 w 62"/>
                <a:gd name="T29" fmla="*/ 52 h 63"/>
                <a:gd name="T30" fmla="*/ 18 w 62"/>
                <a:gd name="T31" fmla="*/ 51 h 6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2" h="63">
                  <a:moveTo>
                    <a:pt x="46" y="0"/>
                  </a:moveTo>
                  <a:cubicBezTo>
                    <a:pt x="35" y="7"/>
                    <a:pt x="0" y="29"/>
                    <a:pt x="4" y="44"/>
                  </a:cubicBezTo>
                  <a:cubicBezTo>
                    <a:pt x="5" y="50"/>
                    <a:pt x="9" y="55"/>
                    <a:pt x="14" y="59"/>
                  </a:cubicBezTo>
                  <a:cubicBezTo>
                    <a:pt x="21" y="63"/>
                    <a:pt x="30" y="63"/>
                    <a:pt x="39" y="60"/>
                  </a:cubicBezTo>
                  <a:cubicBezTo>
                    <a:pt x="52" y="57"/>
                    <a:pt x="62" y="33"/>
                    <a:pt x="61" y="18"/>
                  </a:cubicBezTo>
                  <a:cubicBezTo>
                    <a:pt x="61" y="8"/>
                    <a:pt x="57" y="2"/>
                    <a:pt x="49" y="0"/>
                  </a:cubicBezTo>
                  <a:cubicBezTo>
                    <a:pt x="47" y="0"/>
                    <a:pt x="47" y="0"/>
                    <a:pt x="47" y="0"/>
                  </a:cubicBezTo>
                  <a:lnTo>
                    <a:pt x="46" y="0"/>
                  </a:lnTo>
                  <a:close/>
                  <a:moveTo>
                    <a:pt x="18" y="51"/>
                  </a:moveTo>
                  <a:cubicBezTo>
                    <a:pt x="15" y="49"/>
                    <a:pt x="13" y="46"/>
                    <a:pt x="12" y="42"/>
                  </a:cubicBezTo>
                  <a:cubicBezTo>
                    <a:pt x="12" y="42"/>
                    <a:pt x="12" y="42"/>
                    <a:pt x="12" y="42"/>
                  </a:cubicBezTo>
                  <a:cubicBezTo>
                    <a:pt x="12" y="36"/>
                    <a:pt x="30" y="20"/>
                    <a:pt x="48" y="9"/>
                  </a:cubicBezTo>
                  <a:cubicBezTo>
                    <a:pt x="51" y="11"/>
                    <a:pt x="53" y="13"/>
                    <a:pt x="53" y="18"/>
                  </a:cubicBezTo>
                  <a:cubicBezTo>
                    <a:pt x="53" y="19"/>
                    <a:pt x="53" y="19"/>
                    <a:pt x="53" y="19"/>
                  </a:cubicBezTo>
                  <a:cubicBezTo>
                    <a:pt x="53" y="33"/>
                    <a:pt x="44" y="50"/>
                    <a:pt x="37" y="52"/>
                  </a:cubicBezTo>
                  <a:cubicBezTo>
                    <a:pt x="30" y="54"/>
                    <a:pt x="23" y="54"/>
                    <a:pt x="18" y="5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16" name="Freeform 2070">
              <a:extLst>
                <a:ext uri="{FF2B5EF4-FFF2-40B4-BE49-F238E27FC236}">
                  <a16:creationId xmlns:a16="http://schemas.microsoft.com/office/drawing/2014/main" id="{19E2B319-604D-6D65-6032-467D5C0D10B9}"/>
                </a:ext>
              </a:extLst>
            </p:cNvPr>
            <p:cNvSpPr>
              <a:spLocks/>
            </p:cNvSpPr>
            <p:nvPr/>
          </p:nvSpPr>
          <p:spPr bwMode="auto">
            <a:xfrm>
              <a:off x="1286" y="3820"/>
              <a:ext cx="19" cy="12"/>
            </a:xfrm>
            <a:custGeom>
              <a:avLst/>
              <a:gdLst>
                <a:gd name="T0" fmla="*/ 38 w 87"/>
                <a:gd name="T1" fmla="*/ 1 h 52"/>
                <a:gd name="T2" fmla="*/ 3 w 87"/>
                <a:gd name="T3" fmla="*/ 33 h 52"/>
                <a:gd name="T4" fmla="*/ 25 w 87"/>
                <a:gd name="T5" fmla="*/ 52 h 52"/>
                <a:gd name="T6" fmla="*/ 87 w 87"/>
                <a:gd name="T7" fmla="*/ 30 h 52"/>
                <a:gd name="T8" fmla="*/ 38 w 87"/>
                <a:gd name="T9" fmla="*/ 1 h 52"/>
              </a:gdLst>
              <a:ahLst/>
              <a:cxnLst>
                <a:cxn ang="0">
                  <a:pos x="T0" y="T1"/>
                </a:cxn>
                <a:cxn ang="0">
                  <a:pos x="T2" y="T3"/>
                </a:cxn>
                <a:cxn ang="0">
                  <a:pos x="T4" y="T5"/>
                </a:cxn>
                <a:cxn ang="0">
                  <a:pos x="T6" y="T7"/>
                </a:cxn>
                <a:cxn ang="0">
                  <a:pos x="T8" y="T9"/>
                </a:cxn>
              </a:cxnLst>
              <a:rect l="0" t="0" r="r" b="b"/>
              <a:pathLst>
                <a:path w="87" h="52">
                  <a:moveTo>
                    <a:pt x="38" y="1"/>
                  </a:moveTo>
                  <a:cubicBezTo>
                    <a:pt x="38" y="1"/>
                    <a:pt x="6" y="23"/>
                    <a:pt x="3" y="33"/>
                  </a:cubicBezTo>
                  <a:cubicBezTo>
                    <a:pt x="0" y="43"/>
                    <a:pt x="6" y="52"/>
                    <a:pt x="25" y="52"/>
                  </a:cubicBezTo>
                  <a:cubicBezTo>
                    <a:pt x="44" y="52"/>
                    <a:pt x="87" y="42"/>
                    <a:pt x="87" y="30"/>
                  </a:cubicBezTo>
                  <a:cubicBezTo>
                    <a:pt x="87" y="19"/>
                    <a:pt x="65" y="0"/>
                    <a:pt x="38"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17" name="Freeform 2071">
              <a:extLst>
                <a:ext uri="{FF2B5EF4-FFF2-40B4-BE49-F238E27FC236}">
                  <a16:creationId xmlns:a16="http://schemas.microsoft.com/office/drawing/2014/main" id="{BA3893E9-8146-4BC4-DD03-4E7888CB22C5}"/>
                </a:ext>
              </a:extLst>
            </p:cNvPr>
            <p:cNvSpPr>
              <a:spLocks noEditPoints="1"/>
            </p:cNvSpPr>
            <p:nvPr/>
          </p:nvSpPr>
          <p:spPr bwMode="auto">
            <a:xfrm>
              <a:off x="1286" y="3819"/>
              <a:ext cx="20" cy="14"/>
            </a:xfrm>
            <a:custGeom>
              <a:avLst/>
              <a:gdLst>
                <a:gd name="T0" fmla="*/ 41 w 94"/>
                <a:gd name="T1" fmla="*/ 1 h 60"/>
                <a:gd name="T2" fmla="*/ 39 w 94"/>
                <a:gd name="T3" fmla="*/ 1 h 60"/>
                <a:gd name="T4" fmla="*/ 38 w 94"/>
                <a:gd name="T5" fmla="*/ 2 h 60"/>
                <a:gd name="T6" fmla="*/ 2 w 94"/>
                <a:gd name="T7" fmla="*/ 36 h 60"/>
                <a:gd name="T8" fmla="*/ 4 w 94"/>
                <a:gd name="T9" fmla="*/ 52 h 60"/>
                <a:gd name="T10" fmla="*/ 28 w 94"/>
                <a:gd name="T11" fmla="*/ 60 h 60"/>
                <a:gd name="T12" fmla="*/ 94 w 94"/>
                <a:gd name="T13" fmla="*/ 34 h 60"/>
                <a:gd name="T14" fmla="*/ 85 w 94"/>
                <a:gd name="T15" fmla="*/ 17 h 60"/>
                <a:gd name="T16" fmla="*/ 41 w 94"/>
                <a:gd name="T17" fmla="*/ 1 h 60"/>
                <a:gd name="T18" fmla="*/ 79 w 94"/>
                <a:gd name="T19" fmla="*/ 23 h 60"/>
                <a:gd name="T20" fmla="*/ 86 w 94"/>
                <a:gd name="T21" fmla="*/ 34 h 60"/>
                <a:gd name="T22" fmla="*/ 28 w 94"/>
                <a:gd name="T23" fmla="*/ 51 h 60"/>
                <a:gd name="T24" fmla="*/ 11 w 94"/>
                <a:gd name="T25" fmla="*/ 46 h 60"/>
                <a:gd name="T26" fmla="*/ 10 w 94"/>
                <a:gd name="T27" fmla="*/ 42 h 60"/>
                <a:gd name="T28" fmla="*/ 10 w 94"/>
                <a:gd name="T29" fmla="*/ 38 h 60"/>
                <a:gd name="T30" fmla="*/ 42 w 94"/>
                <a:gd name="T31" fmla="*/ 10 h 60"/>
                <a:gd name="T32" fmla="*/ 79 w 94"/>
                <a:gd name="T33" fmla="*/ 23 h 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4" h="60">
                  <a:moveTo>
                    <a:pt x="41" y="1"/>
                  </a:moveTo>
                  <a:cubicBezTo>
                    <a:pt x="39" y="1"/>
                    <a:pt x="39" y="1"/>
                    <a:pt x="39" y="1"/>
                  </a:cubicBezTo>
                  <a:cubicBezTo>
                    <a:pt x="38" y="2"/>
                    <a:pt x="38" y="2"/>
                    <a:pt x="38" y="2"/>
                  </a:cubicBezTo>
                  <a:cubicBezTo>
                    <a:pt x="33" y="5"/>
                    <a:pt x="5" y="25"/>
                    <a:pt x="2" y="36"/>
                  </a:cubicBezTo>
                  <a:cubicBezTo>
                    <a:pt x="0" y="42"/>
                    <a:pt x="1" y="47"/>
                    <a:pt x="4" y="52"/>
                  </a:cubicBezTo>
                  <a:cubicBezTo>
                    <a:pt x="9" y="57"/>
                    <a:pt x="17" y="60"/>
                    <a:pt x="28" y="60"/>
                  </a:cubicBezTo>
                  <a:cubicBezTo>
                    <a:pt x="44" y="60"/>
                    <a:pt x="94" y="51"/>
                    <a:pt x="94" y="34"/>
                  </a:cubicBezTo>
                  <a:cubicBezTo>
                    <a:pt x="94" y="29"/>
                    <a:pt x="91" y="22"/>
                    <a:pt x="85" y="17"/>
                  </a:cubicBezTo>
                  <a:cubicBezTo>
                    <a:pt x="74" y="6"/>
                    <a:pt x="57" y="0"/>
                    <a:pt x="41" y="1"/>
                  </a:cubicBezTo>
                  <a:close/>
                  <a:moveTo>
                    <a:pt x="79" y="23"/>
                  </a:moveTo>
                  <a:cubicBezTo>
                    <a:pt x="84" y="28"/>
                    <a:pt x="86" y="32"/>
                    <a:pt x="86" y="34"/>
                  </a:cubicBezTo>
                  <a:cubicBezTo>
                    <a:pt x="86" y="40"/>
                    <a:pt x="51" y="51"/>
                    <a:pt x="28" y="51"/>
                  </a:cubicBezTo>
                  <a:cubicBezTo>
                    <a:pt x="20" y="51"/>
                    <a:pt x="14" y="50"/>
                    <a:pt x="11" y="46"/>
                  </a:cubicBezTo>
                  <a:cubicBezTo>
                    <a:pt x="10" y="45"/>
                    <a:pt x="10" y="43"/>
                    <a:pt x="10" y="42"/>
                  </a:cubicBezTo>
                  <a:cubicBezTo>
                    <a:pt x="10" y="41"/>
                    <a:pt x="10" y="39"/>
                    <a:pt x="10" y="38"/>
                  </a:cubicBezTo>
                  <a:cubicBezTo>
                    <a:pt x="12" y="32"/>
                    <a:pt x="30" y="18"/>
                    <a:pt x="42" y="10"/>
                  </a:cubicBezTo>
                  <a:cubicBezTo>
                    <a:pt x="58" y="9"/>
                    <a:pt x="72" y="16"/>
                    <a:pt x="79"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18" name="Freeform 2072">
              <a:extLst>
                <a:ext uri="{FF2B5EF4-FFF2-40B4-BE49-F238E27FC236}">
                  <a16:creationId xmlns:a16="http://schemas.microsoft.com/office/drawing/2014/main" id="{0B6FAEB3-23DD-541E-38BD-72191EDDF28A}"/>
                </a:ext>
              </a:extLst>
            </p:cNvPr>
            <p:cNvSpPr>
              <a:spLocks/>
            </p:cNvSpPr>
            <p:nvPr/>
          </p:nvSpPr>
          <p:spPr bwMode="auto">
            <a:xfrm>
              <a:off x="1207" y="3850"/>
              <a:ext cx="11" cy="29"/>
            </a:xfrm>
            <a:custGeom>
              <a:avLst/>
              <a:gdLst>
                <a:gd name="T0" fmla="*/ 10 w 53"/>
                <a:gd name="T1" fmla="*/ 11 h 130"/>
                <a:gd name="T2" fmla="*/ 10 w 53"/>
                <a:gd name="T3" fmla="*/ 35 h 130"/>
                <a:gd name="T4" fmla="*/ 26 w 53"/>
                <a:gd name="T5" fmla="*/ 53 h 130"/>
                <a:gd name="T6" fmla="*/ 29 w 53"/>
                <a:gd name="T7" fmla="*/ 88 h 130"/>
                <a:gd name="T8" fmla="*/ 45 w 53"/>
                <a:gd name="T9" fmla="*/ 97 h 130"/>
                <a:gd name="T10" fmla="*/ 39 w 53"/>
                <a:gd name="T11" fmla="*/ 26 h 130"/>
                <a:gd name="T12" fmla="*/ 10 w 53"/>
                <a:gd name="T13" fmla="*/ 11 h 130"/>
              </a:gdLst>
              <a:ahLst/>
              <a:cxnLst>
                <a:cxn ang="0">
                  <a:pos x="T0" y="T1"/>
                </a:cxn>
                <a:cxn ang="0">
                  <a:pos x="T2" y="T3"/>
                </a:cxn>
                <a:cxn ang="0">
                  <a:pos x="T4" y="T5"/>
                </a:cxn>
                <a:cxn ang="0">
                  <a:pos x="T6" y="T7"/>
                </a:cxn>
                <a:cxn ang="0">
                  <a:pos x="T8" y="T9"/>
                </a:cxn>
                <a:cxn ang="0">
                  <a:pos x="T10" y="T11"/>
                </a:cxn>
                <a:cxn ang="0">
                  <a:pos x="T12" y="T13"/>
                </a:cxn>
              </a:cxnLst>
              <a:rect l="0" t="0" r="r" b="b"/>
              <a:pathLst>
                <a:path w="53" h="130">
                  <a:moveTo>
                    <a:pt x="10" y="11"/>
                  </a:moveTo>
                  <a:cubicBezTo>
                    <a:pt x="10" y="11"/>
                    <a:pt x="0" y="35"/>
                    <a:pt x="10" y="35"/>
                  </a:cubicBezTo>
                  <a:cubicBezTo>
                    <a:pt x="20" y="35"/>
                    <a:pt x="30" y="49"/>
                    <a:pt x="26" y="53"/>
                  </a:cubicBezTo>
                  <a:cubicBezTo>
                    <a:pt x="21" y="58"/>
                    <a:pt x="24" y="69"/>
                    <a:pt x="29" y="88"/>
                  </a:cubicBezTo>
                  <a:cubicBezTo>
                    <a:pt x="33" y="107"/>
                    <a:pt x="43" y="130"/>
                    <a:pt x="45" y="97"/>
                  </a:cubicBezTo>
                  <a:cubicBezTo>
                    <a:pt x="46" y="63"/>
                    <a:pt x="53" y="40"/>
                    <a:pt x="39" y="26"/>
                  </a:cubicBezTo>
                  <a:cubicBezTo>
                    <a:pt x="24" y="11"/>
                    <a:pt x="14" y="0"/>
                    <a:pt x="10"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19" name="Freeform 2073">
              <a:extLst>
                <a:ext uri="{FF2B5EF4-FFF2-40B4-BE49-F238E27FC236}">
                  <a16:creationId xmlns:a16="http://schemas.microsoft.com/office/drawing/2014/main" id="{98D96328-6BFE-4FE6-9FC7-AAA8592282FA}"/>
                </a:ext>
              </a:extLst>
            </p:cNvPr>
            <p:cNvSpPr>
              <a:spLocks noEditPoints="1"/>
            </p:cNvSpPr>
            <p:nvPr/>
          </p:nvSpPr>
          <p:spPr bwMode="auto">
            <a:xfrm>
              <a:off x="1206" y="3850"/>
              <a:ext cx="13" cy="26"/>
            </a:xfrm>
            <a:custGeom>
              <a:avLst/>
              <a:gdLst>
                <a:gd name="T0" fmla="*/ 15 w 56"/>
                <a:gd name="T1" fmla="*/ 2 h 117"/>
                <a:gd name="T2" fmla="*/ 8 w 56"/>
                <a:gd name="T3" fmla="*/ 9 h 117"/>
                <a:gd name="T4" fmla="*/ 8 w 56"/>
                <a:gd name="T5" fmla="*/ 9 h 117"/>
                <a:gd name="T6" fmla="*/ 5 w 56"/>
                <a:gd name="T7" fmla="*/ 34 h 117"/>
                <a:gd name="T8" fmla="*/ 12 w 56"/>
                <a:gd name="T9" fmla="*/ 38 h 117"/>
                <a:gd name="T10" fmla="*/ 22 w 56"/>
                <a:gd name="T11" fmla="*/ 44 h 117"/>
                <a:gd name="T12" fmla="*/ 24 w 56"/>
                <a:gd name="T13" fmla="*/ 50 h 117"/>
                <a:gd name="T14" fmla="*/ 26 w 56"/>
                <a:gd name="T15" fmla="*/ 86 h 117"/>
                <a:gd name="T16" fmla="*/ 26 w 56"/>
                <a:gd name="T17" fmla="*/ 88 h 117"/>
                <a:gd name="T18" fmla="*/ 43 w 56"/>
                <a:gd name="T19" fmla="*/ 117 h 117"/>
                <a:gd name="T20" fmla="*/ 51 w 56"/>
                <a:gd name="T21" fmla="*/ 96 h 117"/>
                <a:gd name="T22" fmla="*/ 53 w 56"/>
                <a:gd name="T23" fmla="*/ 74 h 117"/>
                <a:gd name="T24" fmla="*/ 44 w 56"/>
                <a:gd name="T25" fmla="*/ 22 h 117"/>
                <a:gd name="T26" fmla="*/ 40 w 56"/>
                <a:gd name="T27" fmla="*/ 19 h 117"/>
                <a:gd name="T28" fmla="*/ 15 w 56"/>
                <a:gd name="T29" fmla="*/ 2 h 117"/>
                <a:gd name="T30" fmla="*/ 35 w 56"/>
                <a:gd name="T31" fmla="*/ 86 h 117"/>
                <a:gd name="T32" fmla="*/ 34 w 56"/>
                <a:gd name="T33" fmla="*/ 84 h 117"/>
                <a:gd name="T34" fmla="*/ 30 w 56"/>
                <a:gd name="T35" fmla="*/ 59 h 117"/>
                <a:gd name="T36" fmla="*/ 31 w 56"/>
                <a:gd name="T37" fmla="*/ 55 h 117"/>
                <a:gd name="T38" fmla="*/ 33 w 56"/>
                <a:gd name="T39" fmla="*/ 49 h 117"/>
                <a:gd name="T40" fmla="*/ 32 w 56"/>
                <a:gd name="T41" fmla="*/ 44 h 117"/>
                <a:gd name="T42" fmla="*/ 12 w 56"/>
                <a:gd name="T43" fmla="*/ 29 h 117"/>
                <a:gd name="T44" fmla="*/ 12 w 56"/>
                <a:gd name="T45" fmla="*/ 28 h 117"/>
                <a:gd name="T46" fmla="*/ 16 w 56"/>
                <a:gd name="T47" fmla="*/ 12 h 117"/>
                <a:gd name="T48" fmla="*/ 16 w 56"/>
                <a:gd name="T49" fmla="*/ 12 h 117"/>
                <a:gd name="T50" fmla="*/ 17 w 56"/>
                <a:gd name="T51" fmla="*/ 10 h 117"/>
                <a:gd name="T52" fmla="*/ 34 w 56"/>
                <a:gd name="T53" fmla="*/ 25 h 117"/>
                <a:gd name="T54" fmla="*/ 38 w 56"/>
                <a:gd name="T55" fmla="*/ 28 h 117"/>
                <a:gd name="T56" fmla="*/ 45 w 56"/>
                <a:gd name="T57" fmla="*/ 52 h 117"/>
                <a:gd name="T58" fmla="*/ 44 w 56"/>
                <a:gd name="T59" fmla="*/ 73 h 117"/>
                <a:gd name="T60" fmla="*/ 42 w 56"/>
                <a:gd name="T61" fmla="*/ 95 h 117"/>
                <a:gd name="T62" fmla="*/ 41 w 56"/>
                <a:gd name="T63" fmla="*/ 105 h 117"/>
                <a:gd name="T64" fmla="*/ 35 w 56"/>
                <a:gd name="T65" fmla="*/ 86 h 11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56" h="117">
                  <a:moveTo>
                    <a:pt x="15" y="2"/>
                  </a:moveTo>
                  <a:cubicBezTo>
                    <a:pt x="12" y="2"/>
                    <a:pt x="9" y="5"/>
                    <a:pt x="8" y="9"/>
                  </a:cubicBezTo>
                  <a:cubicBezTo>
                    <a:pt x="8" y="9"/>
                    <a:pt x="8" y="9"/>
                    <a:pt x="8" y="9"/>
                  </a:cubicBezTo>
                  <a:cubicBezTo>
                    <a:pt x="6" y="13"/>
                    <a:pt x="0" y="27"/>
                    <a:pt x="5" y="34"/>
                  </a:cubicBezTo>
                  <a:cubicBezTo>
                    <a:pt x="6" y="37"/>
                    <a:pt x="9" y="38"/>
                    <a:pt x="12" y="38"/>
                  </a:cubicBezTo>
                  <a:cubicBezTo>
                    <a:pt x="15" y="38"/>
                    <a:pt x="19" y="40"/>
                    <a:pt x="22" y="44"/>
                  </a:cubicBezTo>
                  <a:cubicBezTo>
                    <a:pt x="24" y="47"/>
                    <a:pt x="25" y="49"/>
                    <a:pt x="24" y="50"/>
                  </a:cubicBezTo>
                  <a:cubicBezTo>
                    <a:pt x="19" y="55"/>
                    <a:pt x="21" y="66"/>
                    <a:pt x="26" y="86"/>
                  </a:cubicBezTo>
                  <a:cubicBezTo>
                    <a:pt x="26" y="88"/>
                    <a:pt x="26" y="88"/>
                    <a:pt x="26" y="88"/>
                  </a:cubicBezTo>
                  <a:cubicBezTo>
                    <a:pt x="30" y="101"/>
                    <a:pt x="35" y="117"/>
                    <a:pt x="43" y="117"/>
                  </a:cubicBezTo>
                  <a:cubicBezTo>
                    <a:pt x="49" y="116"/>
                    <a:pt x="50" y="108"/>
                    <a:pt x="51" y="96"/>
                  </a:cubicBezTo>
                  <a:cubicBezTo>
                    <a:pt x="53" y="74"/>
                    <a:pt x="53" y="74"/>
                    <a:pt x="53" y="74"/>
                  </a:cubicBezTo>
                  <a:cubicBezTo>
                    <a:pt x="55" y="52"/>
                    <a:pt x="56" y="34"/>
                    <a:pt x="44" y="22"/>
                  </a:cubicBezTo>
                  <a:cubicBezTo>
                    <a:pt x="40" y="19"/>
                    <a:pt x="40" y="19"/>
                    <a:pt x="40" y="19"/>
                  </a:cubicBezTo>
                  <a:cubicBezTo>
                    <a:pt x="30" y="7"/>
                    <a:pt x="22" y="0"/>
                    <a:pt x="15" y="2"/>
                  </a:cubicBezTo>
                  <a:close/>
                  <a:moveTo>
                    <a:pt x="35" y="86"/>
                  </a:moveTo>
                  <a:cubicBezTo>
                    <a:pt x="34" y="84"/>
                    <a:pt x="34" y="84"/>
                    <a:pt x="34" y="84"/>
                  </a:cubicBezTo>
                  <a:cubicBezTo>
                    <a:pt x="32" y="74"/>
                    <a:pt x="30" y="64"/>
                    <a:pt x="30" y="59"/>
                  </a:cubicBezTo>
                  <a:cubicBezTo>
                    <a:pt x="30" y="57"/>
                    <a:pt x="30" y="56"/>
                    <a:pt x="31" y="55"/>
                  </a:cubicBezTo>
                  <a:cubicBezTo>
                    <a:pt x="32" y="54"/>
                    <a:pt x="33" y="52"/>
                    <a:pt x="33" y="49"/>
                  </a:cubicBezTo>
                  <a:cubicBezTo>
                    <a:pt x="33" y="48"/>
                    <a:pt x="33" y="46"/>
                    <a:pt x="32" y="44"/>
                  </a:cubicBezTo>
                  <a:cubicBezTo>
                    <a:pt x="29" y="37"/>
                    <a:pt x="21" y="29"/>
                    <a:pt x="12" y="29"/>
                  </a:cubicBezTo>
                  <a:cubicBezTo>
                    <a:pt x="12" y="29"/>
                    <a:pt x="12" y="28"/>
                    <a:pt x="12" y="28"/>
                  </a:cubicBezTo>
                  <a:cubicBezTo>
                    <a:pt x="12" y="25"/>
                    <a:pt x="13" y="18"/>
                    <a:pt x="16" y="12"/>
                  </a:cubicBezTo>
                  <a:cubicBezTo>
                    <a:pt x="16" y="12"/>
                    <a:pt x="16" y="12"/>
                    <a:pt x="16" y="12"/>
                  </a:cubicBezTo>
                  <a:cubicBezTo>
                    <a:pt x="17" y="10"/>
                    <a:pt x="17" y="10"/>
                    <a:pt x="17" y="10"/>
                  </a:cubicBezTo>
                  <a:cubicBezTo>
                    <a:pt x="20" y="10"/>
                    <a:pt x="28" y="19"/>
                    <a:pt x="34" y="25"/>
                  </a:cubicBezTo>
                  <a:cubicBezTo>
                    <a:pt x="38" y="28"/>
                    <a:pt x="38" y="28"/>
                    <a:pt x="38" y="28"/>
                  </a:cubicBezTo>
                  <a:cubicBezTo>
                    <a:pt x="44" y="34"/>
                    <a:pt x="45" y="42"/>
                    <a:pt x="45" y="52"/>
                  </a:cubicBezTo>
                  <a:cubicBezTo>
                    <a:pt x="45" y="58"/>
                    <a:pt x="45" y="65"/>
                    <a:pt x="44" y="73"/>
                  </a:cubicBezTo>
                  <a:cubicBezTo>
                    <a:pt x="42" y="95"/>
                    <a:pt x="42" y="95"/>
                    <a:pt x="42" y="95"/>
                  </a:cubicBezTo>
                  <a:cubicBezTo>
                    <a:pt x="42" y="100"/>
                    <a:pt x="42" y="103"/>
                    <a:pt x="41" y="105"/>
                  </a:cubicBezTo>
                  <a:cubicBezTo>
                    <a:pt x="39" y="101"/>
                    <a:pt x="37" y="95"/>
                    <a:pt x="35" y="8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20" name="Freeform 2074">
              <a:extLst>
                <a:ext uri="{FF2B5EF4-FFF2-40B4-BE49-F238E27FC236}">
                  <a16:creationId xmlns:a16="http://schemas.microsoft.com/office/drawing/2014/main" id="{3BF4A839-B6F2-55D8-83B8-E60ACCFFB483}"/>
                </a:ext>
              </a:extLst>
            </p:cNvPr>
            <p:cNvSpPr>
              <a:spLocks/>
            </p:cNvSpPr>
            <p:nvPr/>
          </p:nvSpPr>
          <p:spPr bwMode="auto">
            <a:xfrm>
              <a:off x="1217" y="3846"/>
              <a:ext cx="8" cy="5"/>
            </a:xfrm>
            <a:custGeom>
              <a:avLst/>
              <a:gdLst>
                <a:gd name="T0" fmla="*/ 13 w 34"/>
                <a:gd name="T1" fmla="*/ 0 h 20"/>
                <a:gd name="T2" fmla="*/ 9 w 34"/>
                <a:gd name="T3" fmla="*/ 15 h 20"/>
                <a:gd name="T4" fmla="*/ 13 w 34"/>
                <a:gd name="T5" fmla="*/ 0 h 20"/>
              </a:gdLst>
              <a:ahLst/>
              <a:cxnLst>
                <a:cxn ang="0">
                  <a:pos x="T0" y="T1"/>
                </a:cxn>
                <a:cxn ang="0">
                  <a:pos x="T2" y="T3"/>
                </a:cxn>
                <a:cxn ang="0">
                  <a:pos x="T4" y="T5"/>
                </a:cxn>
              </a:cxnLst>
              <a:rect l="0" t="0" r="r" b="b"/>
              <a:pathLst>
                <a:path w="34" h="20">
                  <a:moveTo>
                    <a:pt x="13" y="0"/>
                  </a:moveTo>
                  <a:cubicBezTo>
                    <a:pt x="13" y="0"/>
                    <a:pt x="0" y="9"/>
                    <a:pt x="9" y="15"/>
                  </a:cubicBezTo>
                  <a:cubicBezTo>
                    <a:pt x="18" y="20"/>
                    <a:pt x="34" y="2"/>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21" name="Freeform 2075">
              <a:extLst>
                <a:ext uri="{FF2B5EF4-FFF2-40B4-BE49-F238E27FC236}">
                  <a16:creationId xmlns:a16="http://schemas.microsoft.com/office/drawing/2014/main" id="{9C2881BC-1EBA-1CF5-4604-EB911AF52F61}"/>
                </a:ext>
              </a:extLst>
            </p:cNvPr>
            <p:cNvSpPr>
              <a:spLocks noEditPoints="1"/>
            </p:cNvSpPr>
            <p:nvPr/>
          </p:nvSpPr>
          <p:spPr bwMode="auto">
            <a:xfrm>
              <a:off x="1218" y="3845"/>
              <a:ext cx="5" cy="6"/>
            </a:xfrm>
            <a:custGeom>
              <a:avLst/>
              <a:gdLst>
                <a:gd name="T0" fmla="*/ 9 w 26"/>
                <a:gd name="T1" fmla="*/ 0 h 25"/>
                <a:gd name="T2" fmla="*/ 0 w 26"/>
                <a:gd name="T3" fmla="*/ 14 h 25"/>
                <a:gd name="T4" fmla="*/ 5 w 26"/>
                <a:gd name="T5" fmla="*/ 22 h 25"/>
                <a:gd name="T6" fmla="*/ 19 w 26"/>
                <a:gd name="T7" fmla="*/ 21 h 25"/>
                <a:gd name="T8" fmla="*/ 25 w 26"/>
                <a:gd name="T9" fmla="*/ 8 h 25"/>
                <a:gd name="T10" fmla="*/ 12 w 26"/>
                <a:gd name="T11" fmla="*/ 0 h 25"/>
                <a:gd name="T12" fmla="*/ 10 w 26"/>
                <a:gd name="T13" fmla="*/ 0 h 25"/>
                <a:gd name="T14" fmla="*/ 9 w 26"/>
                <a:gd name="T15" fmla="*/ 0 h 25"/>
                <a:gd name="T16" fmla="*/ 9 w 26"/>
                <a:gd name="T17" fmla="*/ 15 h 25"/>
                <a:gd name="T18" fmla="*/ 8 w 26"/>
                <a:gd name="T19" fmla="*/ 14 h 25"/>
                <a:gd name="T20" fmla="*/ 8 w 26"/>
                <a:gd name="T21" fmla="*/ 14 h 25"/>
                <a:gd name="T22" fmla="*/ 13 w 26"/>
                <a:gd name="T23" fmla="*/ 9 h 25"/>
                <a:gd name="T24" fmla="*/ 17 w 26"/>
                <a:gd name="T25" fmla="*/ 10 h 25"/>
                <a:gd name="T26" fmla="*/ 17 w 26"/>
                <a:gd name="T27" fmla="*/ 10 h 25"/>
                <a:gd name="T28" fmla="*/ 14 w 26"/>
                <a:gd name="T29" fmla="*/ 14 h 25"/>
                <a:gd name="T30" fmla="*/ 9 w 26"/>
                <a:gd name="T31" fmla="*/ 15 h 2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26" h="25">
                  <a:moveTo>
                    <a:pt x="9" y="0"/>
                  </a:moveTo>
                  <a:cubicBezTo>
                    <a:pt x="7" y="2"/>
                    <a:pt x="0" y="7"/>
                    <a:pt x="0" y="14"/>
                  </a:cubicBezTo>
                  <a:cubicBezTo>
                    <a:pt x="0" y="16"/>
                    <a:pt x="1" y="19"/>
                    <a:pt x="5" y="22"/>
                  </a:cubicBezTo>
                  <a:cubicBezTo>
                    <a:pt x="9" y="25"/>
                    <a:pt x="15" y="24"/>
                    <a:pt x="19" y="21"/>
                  </a:cubicBezTo>
                  <a:cubicBezTo>
                    <a:pt x="24" y="17"/>
                    <a:pt x="26" y="12"/>
                    <a:pt x="25" y="8"/>
                  </a:cubicBezTo>
                  <a:cubicBezTo>
                    <a:pt x="24" y="4"/>
                    <a:pt x="21" y="0"/>
                    <a:pt x="12" y="0"/>
                  </a:cubicBezTo>
                  <a:cubicBezTo>
                    <a:pt x="10" y="0"/>
                    <a:pt x="10" y="0"/>
                    <a:pt x="10" y="0"/>
                  </a:cubicBezTo>
                  <a:lnTo>
                    <a:pt x="9" y="0"/>
                  </a:lnTo>
                  <a:close/>
                  <a:moveTo>
                    <a:pt x="9" y="15"/>
                  </a:moveTo>
                  <a:cubicBezTo>
                    <a:pt x="9" y="14"/>
                    <a:pt x="8" y="14"/>
                    <a:pt x="8" y="14"/>
                  </a:cubicBezTo>
                  <a:cubicBezTo>
                    <a:pt x="8" y="14"/>
                    <a:pt x="8" y="14"/>
                    <a:pt x="8" y="14"/>
                  </a:cubicBezTo>
                  <a:cubicBezTo>
                    <a:pt x="8" y="13"/>
                    <a:pt x="10" y="10"/>
                    <a:pt x="13" y="9"/>
                  </a:cubicBezTo>
                  <a:cubicBezTo>
                    <a:pt x="15" y="9"/>
                    <a:pt x="17" y="10"/>
                    <a:pt x="17" y="10"/>
                  </a:cubicBezTo>
                  <a:cubicBezTo>
                    <a:pt x="17" y="10"/>
                    <a:pt x="17" y="10"/>
                    <a:pt x="17" y="10"/>
                  </a:cubicBezTo>
                  <a:cubicBezTo>
                    <a:pt x="17" y="11"/>
                    <a:pt x="16" y="13"/>
                    <a:pt x="14" y="14"/>
                  </a:cubicBezTo>
                  <a:cubicBezTo>
                    <a:pt x="13" y="15"/>
                    <a:pt x="11" y="16"/>
                    <a:pt x="9"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22" name="Freeform 2076">
              <a:extLst>
                <a:ext uri="{FF2B5EF4-FFF2-40B4-BE49-F238E27FC236}">
                  <a16:creationId xmlns:a16="http://schemas.microsoft.com/office/drawing/2014/main" id="{04C02F1D-DFBB-BAC3-2D07-5149A72D1134}"/>
                </a:ext>
              </a:extLst>
            </p:cNvPr>
            <p:cNvSpPr>
              <a:spLocks/>
            </p:cNvSpPr>
            <p:nvPr/>
          </p:nvSpPr>
          <p:spPr bwMode="auto">
            <a:xfrm>
              <a:off x="1220" y="3855"/>
              <a:ext cx="12" cy="15"/>
            </a:xfrm>
            <a:custGeom>
              <a:avLst/>
              <a:gdLst>
                <a:gd name="T0" fmla="*/ 13 w 53"/>
                <a:gd name="T1" fmla="*/ 4 h 70"/>
                <a:gd name="T2" fmla="*/ 16 w 53"/>
                <a:gd name="T3" fmla="*/ 24 h 70"/>
                <a:gd name="T4" fmla="*/ 33 w 53"/>
                <a:gd name="T5" fmla="*/ 56 h 70"/>
                <a:gd name="T6" fmla="*/ 49 w 53"/>
                <a:gd name="T7" fmla="*/ 50 h 70"/>
                <a:gd name="T8" fmla="*/ 13 w 53"/>
                <a:gd name="T9" fmla="*/ 4 h 70"/>
              </a:gdLst>
              <a:ahLst/>
              <a:cxnLst>
                <a:cxn ang="0">
                  <a:pos x="T0" y="T1"/>
                </a:cxn>
                <a:cxn ang="0">
                  <a:pos x="T2" y="T3"/>
                </a:cxn>
                <a:cxn ang="0">
                  <a:pos x="T4" y="T5"/>
                </a:cxn>
                <a:cxn ang="0">
                  <a:pos x="T6" y="T7"/>
                </a:cxn>
                <a:cxn ang="0">
                  <a:pos x="T8" y="T9"/>
                </a:cxn>
              </a:cxnLst>
              <a:rect l="0" t="0" r="r" b="b"/>
              <a:pathLst>
                <a:path w="53" h="70">
                  <a:moveTo>
                    <a:pt x="13" y="4"/>
                  </a:moveTo>
                  <a:cubicBezTo>
                    <a:pt x="13" y="4"/>
                    <a:pt x="0" y="11"/>
                    <a:pt x="16" y="24"/>
                  </a:cubicBezTo>
                  <a:cubicBezTo>
                    <a:pt x="32" y="37"/>
                    <a:pt x="33" y="46"/>
                    <a:pt x="33" y="56"/>
                  </a:cubicBezTo>
                  <a:cubicBezTo>
                    <a:pt x="33" y="66"/>
                    <a:pt x="53" y="70"/>
                    <a:pt x="49" y="50"/>
                  </a:cubicBezTo>
                  <a:cubicBezTo>
                    <a:pt x="45" y="30"/>
                    <a:pt x="36" y="0"/>
                    <a:pt x="13" y="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23" name="Freeform 2077">
              <a:extLst>
                <a:ext uri="{FF2B5EF4-FFF2-40B4-BE49-F238E27FC236}">
                  <a16:creationId xmlns:a16="http://schemas.microsoft.com/office/drawing/2014/main" id="{ACAE3ACA-976C-C91C-123E-82859DC9550F}"/>
                </a:ext>
              </a:extLst>
            </p:cNvPr>
            <p:cNvSpPr>
              <a:spLocks noEditPoints="1"/>
            </p:cNvSpPr>
            <p:nvPr/>
          </p:nvSpPr>
          <p:spPr bwMode="auto">
            <a:xfrm>
              <a:off x="1221" y="3853"/>
              <a:ext cx="12" cy="17"/>
            </a:xfrm>
            <a:custGeom>
              <a:avLst/>
              <a:gdLst>
                <a:gd name="T0" fmla="*/ 9 w 52"/>
                <a:gd name="T1" fmla="*/ 6 h 75"/>
                <a:gd name="T2" fmla="*/ 8 w 52"/>
                <a:gd name="T3" fmla="*/ 6 h 75"/>
                <a:gd name="T4" fmla="*/ 8 w 52"/>
                <a:gd name="T5" fmla="*/ 6 h 75"/>
                <a:gd name="T6" fmla="*/ 1 w 52"/>
                <a:gd name="T7" fmla="*/ 17 h 75"/>
                <a:gd name="T8" fmla="*/ 10 w 52"/>
                <a:gd name="T9" fmla="*/ 33 h 75"/>
                <a:gd name="T10" fmla="*/ 26 w 52"/>
                <a:gd name="T11" fmla="*/ 62 h 75"/>
                <a:gd name="T12" fmla="*/ 33 w 52"/>
                <a:gd name="T13" fmla="*/ 73 h 75"/>
                <a:gd name="T14" fmla="*/ 46 w 52"/>
                <a:gd name="T15" fmla="*/ 72 h 75"/>
                <a:gd name="T16" fmla="*/ 50 w 52"/>
                <a:gd name="T17" fmla="*/ 55 h 75"/>
                <a:gd name="T18" fmla="*/ 9 w 52"/>
                <a:gd name="T19" fmla="*/ 6 h 75"/>
                <a:gd name="T20" fmla="*/ 42 w 52"/>
                <a:gd name="T21" fmla="*/ 57 h 75"/>
                <a:gd name="T22" fmla="*/ 41 w 52"/>
                <a:gd name="T23" fmla="*/ 66 h 75"/>
                <a:gd name="T24" fmla="*/ 37 w 52"/>
                <a:gd name="T25" fmla="*/ 65 h 75"/>
                <a:gd name="T26" fmla="*/ 34 w 52"/>
                <a:gd name="T27" fmla="*/ 62 h 75"/>
                <a:gd name="T28" fmla="*/ 15 w 52"/>
                <a:gd name="T29" fmla="*/ 27 h 75"/>
                <a:gd name="T30" fmla="*/ 9 w 52"/>
                <a:gd name="T31" fmla="*/ 18 h 75"/>
                <a:gd name="T32" fmla="*/ 9 w 52"/>
                <a:gd name="T33" fmla="*/ 18 h 75"/>
                <a:gd name="T34" fmla="*/ 11 w 52"/>
                <a:gd name="T35" fmla="*/ 14 h 75"/>
                <a:gd name="T36" fmla="*/ 42 w 52"/>
                <a:gd name="T37" fmla="*/ 57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52" h="75">
                  <a:moveTo>
                    <a:pt x="9" y="6"/>
                  </a:moveTo>
                  <a:cubicBezTo>
                    <a:pt x="8" y="6"/>
                    <a:pt x="8" y="6"/>
                    <a:pt x="8" y="6"/>
                  </a:cubicBezTo>
                  <a:cubicBezTo>
                    <a:pt x="8" y="6"/>
                    <a:pt x="8" y="6"/>
                    <a:pt x="8" y="6"/>
                  </a:cubicBezTo>
                  <a:cubicBezTo>
                    <a:pt x="7" y="6"/>
                    <a:pt x="1" y="10"/>
                    <a:pt x="1" y="17"/>
                  </a:cubicBezTo>
                  <a:cubicBezTo>
                    <a:pt x="0" y="22"/>
                    <a:pt x="3" y="28"/>
                    <a:pt x="10" y="33"/>
                  </a:cubicBezTo>
                  <a:cubicBezTo>
                    <a:pt x="25" y="45"/>
                    <a:pt x="26" y="53"/>
                    <a:pt x="26" y="62"/>
                  </a:cubicBezTo>
                  <a:cubicBezTo>
                    <a:pt x="26" y="67"/>
                    <a:pt x="29" y="71"/>
                    <a:pt x="33" y="73"/>
                  </a:cubicBezTo>
                  <a:cubicBezTo>
                    <a:pt x="38" y="75"/>
                    <a:pt x="43" y="75"/>
                    <a:pt x="46" y="72"/>
                  </a:cubicBezTo>
                  <a:cubicBezTo>
                    <a:pt x="49" y="70"/>
                    <a:pt x="52" y="65"/>
                    <a:pt x="50" y="55"/>
                  </a:cubicBezTo>
                  <a:cubicBezTo>
                    <a:pt x="47" y="42"/>
                    <a:pt x="38" y="0"/>
                    <a:pt x="9" y="6"/>
                  </a:cubicBezTo>
                  <a:close/>
                  <a:moveTo>
                    <a:pt x="42" y="57"/>
                  </a:moveTo>
                  <a:cubicBezTo>
                    <a:pt x="43" y="62"/>
                    <a:pt x="42" y="65"/>
                    <a:pt x="41" y="66"/>
                  </a:cubicBezTo>
                  <a:cubicBezTo>
                    <a:pt x="40" y="66"/>
                    <a:pt x="38" y="66"/>
                    <a:pt x="37" y="65"/>
                  </a:cubicBezTo>
                  <a:cubicBezTo>
                    <a:pt x="36" y="65"/>
                    <a:pt x="34" y="64"/>
                    <a:pt x="34" y="62"/>
                  </a:cubicBezTo>
                  <a:cubicBezTo>
                    <a:pt x="34" y="51"/>
                    <a:pt x="33" y="41"/>
                    <a:pt x="15" y="27"/>
                  </a:cubicBezTo>
                  <a:cubicBezTo>
                    <a:pt x="11" y="23"/>
                    <a:pt x="9" y="20"/>
                    <a:pt x="9" y="18"/>
                  </a:cubicBezTo>
                  <a:cubicBezTo>
                    <a:pt x="9" y="18"/>
                    <a:pt x="9" y="18"/>
                    <a:pt x="9" y="18"/>
                  </a:cubicBezTo>
                  <a:cubicBezTo>
                    <a:pt x="9" y="16"/>
                    <a:pt x="11" y="15"/>
                    <a:pt x="11" y="14"/>
                  </a:cubicBezTo>
                  <a:cubicBezTo>
                    <a:pt x="25" y="12"/>
                    <a:pt x="35" y="26"/>
                    <a:pt x="42" y="5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24" name="Freeform 2078">
              <a:extLst>
                <a:ext uri="{FF2B5EF4-FFF2-40B4-BE49-F238E27FC236}">
                  <a16:creationId xmlns:a16="http://schemas.microsoft.com/office/drawing/2014/main" id="{16532225-3EA3-6ED6-2571-453704251536}"/>
                </a:ext>
              </a:extLst>
            </p:cNvPr>
            <p:cNvSpPr>
              <a:spLocks/>
            </p:cNvSpPr>
            <p:nvPr/>
          </p:nvSpPr>
          <p:spPr bwMode="auto">
            <a:xfrm>
              <a:off x="1225" y="3873"/>
              <a:ext cx="7" cy="4"/>
            </a:xfrm>
            <a:custGeom>
              <a:avLst/>
              <a:gdLst>
                <a:gd name="T0" fmla="*/ 12 w 31"/>
                <a:gd name="T1" fmla="*/ 0 h 17"/>
                <a:gd name="T2" fmla="*/ 13 w 31"/>
                <a:gd name="T3" fmla="*/ 17 h 17"/>
                <a:gd name="T4" fmla="*/ 12 w 31"/>
                <a:gd name="T5" fmla="*/ 0 h 17"/>
              </a:gdLst>
              <a:ahLst/>
              <a:cxnLst>
                <a:cxn ang="0">
                  <a:pos x="T0" y="T1"/>
                </a:cxn>
                <a:cxn ang="0">
                  <a:pos x="T2" y="T3"/>
                </a:cxn>
                <a:cxn ang="0">
                  <a:pos x="T4" y="T5"/>
                </a:cxn>
              </a:cxnLst>
              <a:rect l="0" t="0" r="r" b="b"/>
              <a:pathLst>
                <a:path w="31" h="17">
                  <a:moveTo>
                    <a:pt x="12" y="0"/>
                  </a:moveTo>
                  <a:cubicBezTo>
                    <a:pt x="12" y="0"/>
                    <a:pt x="0" y="17"/>
                    <a:pt x="13" y="17"/>
                  </a:cubicBezTo>
                  <a:cubicBezTo>
                    <a:pt x="26" y="17"/>
                    <a:pt x="31" y="1"/>
                    <a:pt x="12"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25" name="Freeform 2079">
              <a:extLst>
                <a:ext uri="{FF2B5EF4-FFF2-40B4-BE49-F238E27FC236}">
                  <a16:creationId xmlns:a16="http://schemas.microsoft.com/office/drawing/2014/main" id="{9680F8DC-6C87-8FFC-AC2B-DE766AE069BE}"/>
                </a:ext>
              </a:extLst>
            </p:cNvPr>
            <p:cNvSpPr>
              <a:spLocks noEditPoints="1"/>
            </p:cNvSpPr>
            <p:nvPr/>
          </p:nvSpPr>
          <p:spPr bwMode="auto">
            <a:xfrm>
              <a:off x="1225" y="3872"/>
              <a:ext cx="6" cy="5"/>
            </a:xfrm>
            <a:custGeom>
              <a:avLst/>
              <a:gdLst>
                <a:gd name="T0" fmla="*/ 7 w 28"/>
                <a:gd name="T1" fmla="*/ 2 h 26"/>
                <a:gd name="T2" fmla="*/ 3 w 28"/>
                <a:gd name="T3" fmla="*/ 22 h 26"/>
                <a:gd name="T4" fmla="*/ 12 w 28"/>
                <a:gd name="T5" fmla="*/ 26 h 26"/>
                <a:gd name="T6" fmla="*/ 28 w 28"/>
                <a:gd name="T7" fmla="*/ 14 h 26"/>
                <a:gd name="T8" fmla="*/ 11 w 28"/>
                <a:gd name="T9" fmla="*/ 0 h 26"/>
                <a:gd name="T10" fmla="*/ 9 w 28"/>
                <a:gd name="T11" fmla="*/ 0 h 26"/>
                <a:gd name="T12" fmla="*/ 7 w 28"/>
                <a:gd name="T13" fmla="*/ 2 h 26"/>
                <a:gd name="T14" fmla="*/ 11 w 28"/>
                <a:gd name="T15" fmla="*/ 17 h 26"/>
                <a:gd name="T16" fmla="*/ 10 w 28"/>
                <a:gd name="T17" fmla="*/ 17 h 26"/>
                <a:gd name="T18" fmla="*/ 13 w 28"/>
                <a:gd name="T19" fmla="*/ 10 h 26"/>
                <a:gd name="T20" fmla="*/ 19 w 28"/>
                <a:gd name="T21" fmla="*/ 13 h 26"/>
                <a:gd name="T22" fmla="*/ 19 w 28"/>
                <a:gd name="T23" fmla="*/ 14 h 26"/>
                <a:gd name="T24" fmla="*/ 12 w 28"/>
                <a:gd name="T25" fmla="*/ 18 h 26"/>
                <a:gd name="T26" fmla="*/ 11 w 28"/>
                <a:gd name="T27" fmla="*/ 17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8" h="26">
                  <a:moveTo>
                    <a:pt x="7" y="2"/>
                  </a:moveTo>
                  <a:cubicBezTo>
                    <a:pt x="5" y="5"/>
                    <a:pt x="0" y="15"/>
                    <a:pt x="3" y="22"/>
                  </a:cubicBezTo>
                  <a:cubicBezTo>
                    <a:pt x="4" y="24"/>
                    <a:pt x="7" y="26"/>
                    <a:pt x="12" y="26"/>
                  </a:cubicBezTo>
                  <a:cubicBezTo>
                    <a:pt x="22" y="26"/>
                    <a:pt x="28" y="20"/>
                    <a:pt x="28" y="14"/>
                  </a:cubicBezTo>
                  <a:cubicBezTo>
                    <a:pt x="28" y="8"/>
                    <a:pt x="24" y="1"/>
                    <a:pt x="11" y="0"/>
                  </a:cubicBezTo>
                  <a:cubicBezTo>
                    <a:pt x="9" y="0"/>
                    <a:pt x="9" y="0"/>
                    <a:pt x="9" y="0"/>
                  </a:cubicBezTo>
                  <a:lnTo>
                    <a:pt x="7" y="2"/>
                  </a:lnTo>
                  <a:close/>
                  <a:moveTo>
                    <a:pt x="11" y="17"/>
                  </a:moveTo>
                  <a:cubicBezTo>
                    <a:pt x="11" y="17"/>
                    <a:pt x="10" y="17"/>
                    <a:pt x="10" y="17"/>
                  </a:cubicBezTo>
                  <a:cubicBezTo>
                    <a:pt x="10" y="16"/>
                    <a:pt x="12" y="13"/>
                    <a:pt x="13" y="10"/>
                  </a:cubicBezTo>
                  <a:cubicBezTo>
                    <a:pt x="17" y="11"/>
                    <a:pt x="19" y="12"/>
                    <a:pt x="19" y="13"/>
                  </a:cubicBezTo>
                  <a:cubicBezTo>
                    <a:pt x="19" y="13"/>
                    <a:pt x="19" y="13"/>
                    <a:pt x="19" y="14"/>
                  </a:cubicBezTo>
                  <a:cubicBezTo>
                    <a:pt x="19" y="15"/>
                    <a:pt x="17" y="18"/>
                    <a:pt x="12" y="18"/>
                  </a:cubicBezTo>
                  <a:lnTo>
                    <a:pt x="11" y="1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26" name="Freeform 2080">
              <a:extLst>
                <a:ext uri="{FF2B5EF4-FFF2-40B4-BE49-F238E27FC236}">
                  <a16:creationId xmlns:a16="http://schemas.microsoft.com/office/drawing/2014/main" id="{BBF41113-87DD-4F29-8636-624D8D4A23CF}"/>
                </a:ext>
              </a:extLst>
            </p:cNvPr>
            <p:cNvSpPr>
              <a:spLocks/>
            </p:cNvSpPr>
            <p:nvPr/>
          </p:nvSpPr>
          <p:spPr bwMode="auto">
            <a:xfrm>
              <a:off x="1348" y="3779"/>
              <a:ext cx="10" cy="11"/>
            </a:xfrm>
            <a:custGeom>
              <a:avLst/>
              <a:gdLst>
                <a:gd name="T0" fmla="*/ 27 w 47"/>
                <a:gd name="T1" fmla="*/ 2 h 51"/>
                <a:gd name="T2" fmla="*/ 0 w 47"/>
                <a:gd name="T3" fmla="*/ 18 h 51"/>
                <a:gd name="T4" fmla="*/ 1 w 47"/>
                <a:gd name="T5" fmla="*/ 51 h 51"/>
                <a:gd name="T6" fmla="*/ 24 w 47"/>
                <a:gd name="T7" fmla="*/ 33 h 51"/>
                <a:gd name="T8" fmla="*/ 27 w 47"/>
                <a:gd name="T9" fmla="*/ 2 h 51"/>
              </a:gdLst>
              <a:ahLst/>
              <a:cxnLst>
                <a:cxn ang="0">
                  <a:pos x="T0" y="T1"/>
                </a:cxn>
                <a:cxn ang="0">
                  <a:pos x="T2" y="T3"/>
                </a:cxn>
                <a:cxn ang="0">
                  <a:pos x="T4" y="T5"/>
                </a:cxn>
                <a:cxn ang="0">
                  <a:pos x="T6" y="T7"/>
                </a:cxn>
                <a:cxn ang="0">
                  <a:pos x="T8" y="T9"/>
                </a:cxn>
              </a:cxnLst>
              <a:rect l="0" t="0" r="r" b="b"/>
              <a:pathLst>
                <a:path w="47" h="51">
                  <a:moveTo>
                    <a:pt x="27" y="2"/>
                  </a:moveTo>
                  <a:cubicBezTo>
                    <a:pt x="27" y="2"/>
                    <a:pt x="0" y="0"/>
                    <a:pt x="0" y="18"/>
                  </a:cubicBezTo>
                  <a:cubicBezTo>
                    <a:pt x="0" y="35"/>
                    <a:pt x="1" y="51"/>
                    <a:pt x="1" y="51"/>
                  </a:cubicBezTo>
                  <a:cubicBezTo>
                    <a:pt x="1" y="51"/>
                    <a:pt x="14" y="45"/>
                    <a:pt x="24" y="33"/>
                  </a:cubicBezTo>
                  <a:cubicBezTo>
                    <a:pt x="34" y="22"/>
                    <a:pt x="47" y="0"/>
                    <a:pt x="27"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27" name="Freeform 2081">
              <a:extLst>
                <a:ext uri="{FF2B5EF4-FFF2-40B4-BE49-F238E27FC236}">
                  <a16:creationId xmlns:a16="http://schemas.microsoft.com/office/drawing/2014/main" id="{BC0832D3-BAB3-FBB2-4B5E-D699A66B2E8D}"/>
                </a:ext>
              </a:extLst>
            </p:cNvPr>
            <p:cNvSpPr>
              <a:spLocks noEditPoints="1"/>
            </p:cNvSpPr>
            <p:nvPr/>
          </p:nvSpPr>
          <p:spPr bwMode="auto">
            <a:xfrm>
              <a:off x="1347" y="3778"/>
              <a:ext cx="11" cy="14"/>
            </a:xfrm>
            <a:custGeom>
              <a:avLst/>
              <a:gdLst>
                <a:gd name="T0" fmla="*/ 32 w 51"/>
                <a:gd name="T1" fmla="*/ 0 h 61"/>
                <a:gd name="T2" fmla="*/ 6 w 51"/>
                <a:gd name="T3" fmla="*/ 8 h 61"/>
                <a:gd name="T4" fmla="*/ 0 w 51"/>
                <a:gd name="T5" fmla="*/ 21 h 61"/>
                <a:gd name="T6" fmla="*/ 2 w 51"/>
                <a:gd name="T7" fmla="*/ 61 h 61"/>
                <a:gd name="T8" fmla="*/ 8 w 51"/>
                <a:gd name="T9" fmla="*/ 58 h 61"/>
                <a:gd name="T10" fmla="*/ 33 w 51"/>
                <a:gd name="T11" fmla="*/ 39 h 61"/>
                <a:gd name="T12" fmla="*/ 46 w 51"/>
                <a:gd name="T13" fmla="*/ 6 h 61"/>
                <a:gd name="T14" fmla="*/ 32 w 51"/>
                <a:gd name="T15" fmla="*/ 0 h 61"/>
                <a:gd name="T16" fmla="*/ 32 w 51"/>
                <a:gd name="T17" fmla="*/ 9 h 61"/>
                <a:gd name="T18" fmla="*/ 38 w 51"/>
                <a:gd name="T19" fmla="*/ 10 h 61"/>
                <a:gd name="T20" fmla="*/ 38 w 51"/>
                <a:gd name="T21" fmla="*/ 11 h 61"/>
                <a:gd name="T22" fmla="*/ 26 w 51"/>
                <a:gd name="T23" fmla="*/ 34 h 61"/>
                <a:gd name="T24" fmla="*/ 10 w 51"/>
                <a:gd name="T25" fmla="*/ 47 h 61"/>
                <a:gd name="T26" fmla="*/ 9 w 51"/>
                <a:gd name="T27" fmla="*/ 21 h 61"/>
                <a:gd name="T28" fmla="*/ 12 w 51"/>
                <a:gd name="T29" fmla="*/ 14 h 61"/>
                <a:gd name="T30" fmla="*/ 32 w 51"/>
                <a:gd name="T31" fmla="*/ 9 h 61"/>
                <a:gd name="T32" fmla="*/ 32 w 51"/>
                <a:gd name="T33" fmla="*/ 9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51" h="61">
                  <a:moveTo>
                    <a:pt x="32" y="0"/>
                  </a:moveTo>
                  <a:cubicBezTo>
                    <a:pt x="30" y="0"/>
                    <a:pt x="14" y="0"/>
                    <a:pt x="6" y="8"/>
                  </a:cubicBezTo>
                  <a:cubicBezTo>
                    <a:pt x="2" y="11"/>
                    <a:pt x="0" y="16"/>
                    <a:pt x="0" y="21"/>
                  </a:cubicBezTo>
                  <a:cubicBezTo>
                    <a:pt x="2" y="61"/>
                    <a:pt x="2" y="61"/>
                    <a:pt x="2" y="61"/>
                  </a:cubicBezTo>
                  <a:cubicBezTo>
                    <a:pt x="8" y="58"/>
                    <a:pt x="8" y="58"/>
                    <a:pt x="8" y="58"/>
                  </a:cubicBezTo>
                  <a:cubicBezTo>
                    <a:pt x="9" y="57"/>
                    <a:pt x="22" y="51"/>
                    <a:pt x="33" y="39"/>
                  </a:cubicBezTo>
                  <a:cubicBezTo>
                    <a:pt x="36" y="36"/>
                    <a:pt x="51" y="17"/>
                    <a:pt x="46" y="6"/>
                  </a:cubicBezTo>
                  <a:cubicBezTo>
                    <a:pt x="44" y="3"/>
                    <a:pt x="41" y="0"/>
                    <a:pt x="32" y="0"/>
                  </a:cubicBezTo>
                  <a:close/>
                  <a:moveTo>
                    <a:pt x="32" y="9"/>
                  </a:moveTo>
                  <a:cubicBezTo>
                    <a:pt x="36" y="9"/>
                    <a:pt x="38" y="9"/>
                    <a:pt x="38" y="10"/>
                  </a:cubicBezTo>
                  <a:cubicBezTo>
                    <a:pt x="38" y="11"/>
                    <a:pt x="38" y="11"/>
                    <a:pt x="38" y="11"/>
                  </a:cubicBezTo>
                  <a:cubicBezTo>
                    <a:pt x="38" y="15"/>
                    <a:pt x="34" y="25"/>
                    <a:pt x="26" y="34"/>
                  </a:cubicBezTo>
                  <a:cubicBezTo>
                    <a:pt x="21" y="40"/>
                    <a:pt x="15" y="44"/>
                    <a:pt x="10" y="47"/>
                  </a:cubicBezTo>
                  <a:cubicBezTo>
                    <a:pt x="10" y="38"/>
                    <a:pt x="9" y="21"/>
                    <a:pt x="9" y="21"/>
                  </a:cubicBezTo>
                  <a:cubicBezTo>
                    <a:pt x="9" y="18"/>
                    <a:pt x="10" y="16"/>
                    <a:pt x="12" y="14"/>
                  </a:cubicBezTo>
                  <a:cubicBezTo>
                    <a:pt x="17" y="9"/>
                    <a:pt x="28" y="9"/>
                    <a:pt x="32" y="9"/>
                  </a:cubicBezTo>
                  <a:cubicBezTo>
                    <a:pt x="32" y="9"/>
                    <a:pt x="32" y="9"/>
                    <a:pt x="32"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28" name="Freeform 2082">
              <a:extLst>
                <a:ext uri="{FF2B5EF4-FFF2-40B4-BE49-F238E27FC236}">
                  <a16:creationId xmlns:a16="http://schemas.microsoft.com/office/drawing/2014/main" id="{34B1CF67-AD54-F808-AC3F-ADD4818C0B2E}"/>
                </a:ext>
              </a:extLst>
            </p:cNvPr>
            <p:cNvSpPr>
              <a:spLocks/>
            </p:cNvSpPr>
            <p:nvPr/>
          </p:nvSpPr>
          <p:spPr bwMode="auto">
            <a:xfrm>
              <a:off x="1269" y="3763"/>
              <a:ext cx="6" cy="11"/>
            </a:xfrm>
            <a:custGeom>
              <a:avLst/>
              <a:gdLst>
                <a:gd name="T0" fmla="*/ 13 w 24"/>
                <a:gd name="T1" fmla="*/ 0 h 51"/>
                <a:gd name="T2" fmla="*/ 1 w 24"/>
                <a:gd name="T3" fmla="*/ 16 h 51"/>
                <a:gd name="T4" fmla="*/ 9 w 24"/>
                <a:gd name="T5" fmla="*/ 43 h 51"/>
                <a:gd name="T6" fmla="*/ 24 w 24"/>
                <a:gd name="T7" fmla="*/ 19 h 51"/>
                <a:gd name="T8" fmla="*/ 13 w 24"/>
                <a:gd name="T9" fmla="*/ 0 h 51"/>
              </a:gdLst>
              <a:ahLst/>
              <a:cxnLst>
                <a:cxn ang="0">
                  <a:pos x="T0" y="T1"/>
                </a:cxn>
                <a:cxn ang="0">
                  <a:pos x="T2" y="T3"/>
                </a:cxn>
                <a:cxn ang="0">
                  <a:pos x="T4" y="T5"/>
                </a:cxn>
                <a:cxn ang="0">
                  <a:pos x="T6" y="T7"/>
                </a:cxn>
                <a:cxn ang="0">
                  <a:pos x="T8" y="T9"/>
                </a:cxn>
              </a:cxnLst>
              <a:rect l="0" t="0" r="r" b="b"/>
              <a:pathLst>
                <a:path w="24" h="51">
                  <a:moveTo>
                    <a:pt x="13" y="0"/>
                  </a:moveTo>
                  <a:cubicBezTo>
                    <a:pt x="13" y="0"/>
                    <a:pt x="1" y="2"/>
                    <a:pt x="1" y="16"/>
                  </a:cubicBezTo>
                  <a:cubicBezTo>
                    <a:pt x="1" y="30"/>
                    <a:pt x="0" y="51"/>
                    <a:pt x="9" y="43"/>
                  </a:cubicBezTo>
                  <a:cubicBezTo>
                    <a:pt x="17" y="36"/>
                    <a:pt x="24" y="32"/>
                    <a:pt x="24" y="19"/>
                  </a:cubicBezTo>
                  <a:cubicBezTo>
                    <a:pt x="24" y="6"/>
                    <a:pt x="23" y="0"/>
                    <a:pt x="13"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29" name="Freeform 2083">
              <a:extLst>
                <a:ext uri="{FF2B5EF4-FFF2-40B4-BE49-F238E27FC236}">
                  <a16:creationId xmlns:a16="http://schemas.microsoft.com/office/drawing/2014/main" id="{08CD2AA5-9813-B593-75F8-F6E61BE93C4E}"/>
                </a:ext>
              </a:extLst>
            </p:cNvPr>
            <p:cNvSpPr>
              <a:spLocks noEditPoints="1"/>
            </p:cNvSpPr>
            <p:nvPr/>
          </p:nvSpPr>
          <p:spPr bwMode="auto">
            <a:xfrm>
              <a:off x="1269" y="3762"/>
              <a:ext cx="7" cy="12"/>
            </a:xfrm>
            <a:custGeom>
              <a:avLst/>
              <a:gdLst>
                <a:gd name="T0" fmla="*/ 16 w 32"/>
                <a:gd name="T1" fmla="*/ 0 h 54"/>
                <a:gd name="T2" fmla="*/ 15 w 32"/>
                <a:gd name="T3" fmla="*/ 0 h 54"/>
                <a:gd name="T4" fmla="*/ 0 w 32"/>
                <a:gd name="T5" fmla="*/ 20 h 54"/>
                <a:gd name="T6" fmla="*/ 0 w 32"/>
                <a:gd name="T7" fmla="*/ 26 h 54"/>
                <a:gd name="T8" fmla="*/ 6 w 32"/>
                <a:gd name="T9" fmla="*/ 53 h 54"/>
                <a:gd name="T10" fmla="*/ 14 w 32"/>
                <a:gd name="T11" fmla="*/ 51 h 54"/>
                <a:gd name="T12" fmla="*/ 17 w 32"/>
                <a:gd name="T13" fmla="*/ 49 h 54"/>
                <a:gd name="T14" fmla="*/ 32 w 32"/>
                <a:gd name="T15" fmla="*/ 23 h 54"/>
                <a:gd name="T16" fmla="*/ 16 w 32"/>
                <a:gd name="T17" fmla="*/ 0 h 54"/>
                <a:gd name="T18" fmla="*/ 9 w 32"/>
                <a:gd name="T19" fmla="*/ 31 h 54"/>
                <a:gd name="T20" fmla="*/ 9 w 32"/>
                <a:gd name="T21" fmla="*/ 26 h 54"/>
                <a:gd name="T22" fmla="*/ 9 w 32"/>
                <a:gd name="T23" fmla="*/ 20 h 54"/>
                <a:gd name="T24" fmla="*/ 16 w 32"/>
                <a:gd name="T25" fmla="*/ 9 h 54"/>
                <a:gd name="T26" fmla="*/ 23 w 32"/>
                <a:gd name="T27" fmla="*/ 23 h 54"/>
                <a:gd name="T28" fmla="*/ 12 w 32"/>
                <a:gd name="T29" fmla="*/ 42 h 54"/>
                <a:gd name="T30" fmla="*/ 10 w 32"/>
                <a:gd name="T31" fmla="*/ 43 h 54"/>
                <a:gd name="T32" fmla="*/ 9 w 32"/>
                <a:gd name="T33" fmla="*/ 3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2" h="54">
                  <a:moveTo>
                    <a:pt x="16" y="0"/>
                  </a:moveTo>
                  <a:cubicBezTo>
                    <a:pt x="15" y="0"/>
                    <a:pt x="15" y="0"/>
                    <a:pt x="15" y="0"/>
                  </a:cubicBezTo>
                  <a:cubicBezTo>
                    <a:pt x="10" y="1"/>
                    <a:pt x="0" y="6"/>
                    <a:pt x="0" y="20"/>
                  </a:cubicBezTo>
                  <a:cubicBezTo>
                    <a:pt x="0" y="26"/>
                    <a:pt x="0" y="26"/>
                    <a:pt x="0" y="26"/>
                  </a:cubicBezTo>
                  <a:cubicBezTo>
                    <a:pt x="0" y="41"/>
                    <a:pt x="0" y="50"/>
                    <a:pt x="6" y="53"/>
                  </a:cubicBezTo>
                  <a:cubicBezTo>
                    <a:pt x="8" y="54"/>
                    <a:pt x="11" y="54"/>
                    <a:pt x="14" y="51"/>
                  </a:cubicBezTo>
                  <a:cubicBezTo>
                    <a:pt x="17" y="49"/>
                    <a:pt x="17" y="49"/>
                    <a:pt x="17" y="49"/>
                  </a:cubicBezTo>
                  <a:cubicBezTo>
                    <a:pt x="25" y="42"/>
                    <a:pt x="32" y="37"/>
                    <a:pt x="32" y="23"/>
                  </a:cubicBezTo>
                  <a:cubicBezTo>
                    <a:pt x="32" y="13"/>
                    <a:pt x="32" y="0"/>
                    <a:pt x="16" y="0"/>
                  </a:cubicBezTo>
                  <a:close/>
                  <a:moveTo>
                    <a:pt x="9" y="31"/>
                  </a:moveTo>
                  <a:cubicBezTo>
                    <a:pt x="9" y="29"/>
                    <a:pt x="9" y="27"/>
                    <a:pt x="9" y="26"/>
                  </a:cubicBezTo>
                  <a:cubicBezTo>
                    <a:pt x="9" y="20"/>
                    <a:pt x="9" y="20"/>
                    <a:pt x="9" y="20"/>
                  </a:cubicBezTo>
                  <a:cubicBezTo>
                    <a:pt x="9" y="11"/>
                    <a:pt x="15" y="9"/>
                    <a:pt x="16" y="9"/>
                  </a:cubicBezTo>
                  <a:cubicBezTo>
                    <a:pt x="21" y="9"/>
                    <a:pt x="23" y="9"/>
                    <a:pt x="23" y="23"/>
                  </a:cubicBezTo>
                  <a:cubicBezTo>
                    <a:pt x="23" y="32"/>
                    <a:pt x="19" y="36"/>
                    <a:pt x="12" y="42"/>
                  </a:cubicBezTo>
                  <a:cubicBezTo>
                    <a:pt x="12" y="42"/>
                    <a:pt x="10" y="43"/>
                    <a:pt x="10" y="43"/>
                  </a:cubicBezTo>
                  <a:cubicBezTo>
                    <a:pt x="9" y="41"/>
                    <a:pt x="9" y="36"/>
                    <a:pt x="9"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30" name="Freeform 2084">
              <a:extLst>
                <a:ext uri="{FF2B5EF4-FFF2-40B4-BE49-F238E27FC236}">
                  <a16:creationId xmlns:a16="http://schemas.microsoft.com/office/drawing/2014/main" id="{4D105000-7AE0-B750-CC3E-72ED8CF61C4D}"/>
                </a:ext>
              </a:extLst>
            </p:cNvPr>
            <p:cNvSpPr>
              <a:spLocks/>
            </p:cNvSpPr>
            <p:nvPr/>
          </p:nvSpPr>
          <p:spPr bwMode="auto">
            <a:xfrm>
              <a:off x="1207" y="3648"/>
              <a:ext cx="11" cy="11"/>
            </a:xfrm>
            <a:custGeom>
              <a:avLst/>
              <a:gdLst>
                <a:gd name="T0" fmla="*/ 37 w 52"/>
                <a:gd name="T1" fmla="*/ 3 h 49"/>
                <a:gd name="T2" fmla="*/ 7 w 52"/>
                <a:gd name="T3" fmla="*/ 29 h 49"/>
                <a:gd name="T4" fmla="*/ 37 w 52"/>
                <a:gd name="T5" fmla="*/ 45 h 49"/>
                <a:gd name="T6" fmla="*/ 37 w 52"/>
                <a:gd name="T7" fmla="*/ 3 h 49"/>
              </a:gdLst>
              <a:ahLst/>
              <a:cxnLst>
                <a:cxn ang="0">
                  <a:pos x="T0" y="T1"/>
                </a:cxn>
                <a:cxn ang="0">
                  <a:pos x="T2" y="T3"/>
                </a:cxn>
                <a:cxn ang="0">
                  <a:pos x="T4" y="T5"/>
                </a:cxn>
                <a:cxn ang="0">
                  <a:pos x="T6" y="T7"/>
                </a:cxn>
              </a:cxnLst>
              <a:rect l="0" t="0" r="r" b="b"/>
              <a:pathLst>
                <a:path w="52" h="49">
                  <a:moveTo>
                    <a:pt x="37" y="3"/>
                  </a:moveTo>
                  <a:cubicBezTo>
                    <a:pt x="37" y="3"/>
                    <a:pt x="0" y="10"/>
                    <a:pt x="7" y="29"/>
                  </a:cubicBezTo>
                  <a:cubicBezTo>
                    <a:pt x="14" y="48"/>
                    <a:pt x="30" y="49"/>
                    <a:pt x="37" y="45"/>
                  </a:cubicBezTo>
                  <a:cubicBezTo>
                    <a:pt x="45" y="41"/>
                    <a:pt x="52" y="0"/>
                    <a:pt x="37"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31" name="Freeform 2085">
              <a:extLst>
                <a:ext uri="{FF2B5EF4-FFF2-40B4-BE49-F238E27FC236}">
                  <a16:creationId xmlns:a16="http://schemas.microsoft.com/office/drawing/2014/main" id="{A53D0F5B-A0DE-72EB-68E1-BD6E24C39A37}"/>
                </a:ext>
              </a:extLst>
            </p:cNvPr>
            <p:cNvSpPr>
              <a:spLocks noEditPoints="1"/>
            </p:cNvSpPr>
            <p:nvPr/>
          </p:nvSpPr>
          <p:spPr bwMode="auto">
            <a:xfrm>
              <a:off x="1207" y="3648"/>
              <a:ext cx="11" cy="12"/>
            </a:xfrm>
            <a:custGeom>
              <a:avLst/>
              <a:gdLst>
                <a:gd name="T0" fmla="*/ 34 w 51"/>
                <a:gd name="T1" fmla="*/ 1 h 54"/>
                <a:gd name="T2" fmla="*/ 2 w 51"/>
                <a:gd name="T3" fmla="*/ 19 h 54"/>
                <a:gd name="T4" fmla="*/ 0 w 51"/>
                <a:gd name="T5" fmla="*/ 27 h 54"/>
                <a:gd name="T6" fmla="*/ 1 w 51"/>
                <a:gd name="T7" fmla="*/ 33 h 54"/>
                <a:gd name="T8" fmla="*/ 19 w 51"/>
                <a:gd name="T9" fmla="*/ 52 h 54"/>
                <a:gd name="T10" fmla="*/ 38 w 51"/>
                <a:gd name="T11" fmla="*/ 51 h 54"/>
                <a:gd name="T12" fmla="*/ 46 w 51"/>
                <a:gd name="T13" fmla="*/ 8 h 54"/>
                <a:gd name="T14" fmla="*/ 34 w 51"/>
                <a:gd name="T15" fmla="*/ 1 h 54"/>
                <a:gd name="T16" fmla="*/ 22 w 51"/>
                <a:gd name="T17" fmla="*/ 44 h 54"/>
                <a:gd name="T18" fmla="*/ 9 w 51"/>
                <a:gd name="T19" fmla="*/ 30 h 54"/>
                <a:gd name="T20" fmla="*/ 9 w 51"/>
                <a:gd name="T21" fmla="*/ 23 h 54"/>
                <a:gd name="T22" fmla="*/ 36 w 51"/>
                <a:gd name="T23" fmla="*/ 10 h 54"/>
                <a:gd name="T24" fmla="*/ 36 w 51"/>
                <a:gd name="T25" fmla="*/ 10 h 54"/>
                <a:gd name="T26" fmla="*/ 38 w 51"/>
                <a:gd name="T27" fmla="*/ 11 h 54"/>
                <a:gd name="T28" fmla="*/ 33 w 51"/>
                <a:gd name="T29" fmla="*/ 43 h 54"/>
                <a:gd name="T30" fmla="*/ 22 w 51"/>
                <a:gd name="T31" fmla="*/ 44 h 54"/>
                <a:gd name="T32" fmla="*/ 34 w 51"/>
                <a:gd name="T33" fmla="*/ 1 h 54"/>
                <a:gd name="T34" fmla="*/ 34 w 51"/>
                <a:gd name="T35" fmla="*/ 1 h 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51" h="54">
                  <a:moveTo>
                    <a:pt x="34" y="1"/>
                  </a:moveTo>
                  <a:cubicBezTo>
                    <a:pt x="32" y="2"/>
                    <a:pt x="9" y="6"/>
                    <a:pt x="2" y="19"/>
                  </a:cubicBezTo>
                  <a:cubicBezTo>
                    <a:pt x="0" y="21"/>
                    <a:pt x="0" y="24"/>
                    <a:pt x="0" y="27"/>
                  </a:cubicBezTo>
                  <a:cubicBezTo>
                    <a:pt x="0" y="29"/>
                    <a:pt x="0" y="31"/>
                    <a:pt x="1" y="33"/>
                  </a:cubicBezTo>
                  <a:cubicBezTo>
                    <a:pt x="6" y="45"/>
                    <a:pt x="14" y="50"/>
                    <a:pt x="19" y="52"/>
                  </a:cubicBezTo>
                  <a:cubicBezTo>
                    <a:pt x="26" y="54"/>
                    <a:pt x="33" y="54"/>
                    <a:pt x="38" y="51"/>
                  </a:cubicBezTo>
                  <a:cubicBezTo>
                    <a:pt x="45" y="46"/>
                    <a:pt x="51" y="20"/>
                    <a:pt x="46" y="8"/>
                  </a:cubicBezTo>
                  <a:cubicBezTo>
                    <a:pt x="44" y="3"/>
                    <a:pt x="40" y="0"/>
                    <a:pt x="34" y="1"/>
                  </a:cubicBezTo>
                  <a:close/>
                  <a:moveTo>
                    <a:pt x="22" y="44"/>
                  </a:moveTo>
                  <a:cubicBezTo>
                    <a:pt x="18" y="43"/>
                    <a:pt x="13" y="39"/>
                    <a:pt x="9" y="30"/>
                  </a:cubicBezTo>
                  <a:cubicBezTo>
                    <a:pt x="8" y="27"/>
                    <a:pt x="8" y="25"/>
                    <a:pt x="9" y="23"/>
                  </a:cubicBezTo>
                  <a:cubicBezTo>
                    <a:pt x="14" y="15"/>
                    <a:pt x="30" y="11"/>
                    <a:pt x="36" y="10"/>
                  </a:cubicBezTo>
                  <a:cubicBezTo>
                    <a:pt x="36" y="10"/>
                    <a:pt x="36" y="10"/>
                    <a:pt x="36" y="10"/>
                  </a:cubicBezTo>
                  <a:cubicBezTo>
                    <a:pt x="37" y="9"/>
                    <a:pt x="37" y="9"/>
                    <a:pt x="38" y="11"/>
                  </a:cubicBezTo>
                  <a:cubicBezTo>
                    <a:pt x="42" y="19"/>
                    <a:pt x="36" y="41"/>
                    <a:pt x="33" y="43"/>
                  </a:cubicBezTo>
                  <a:cubicBezTo>
                    <a:pt x="31" y="45"/>
                    <a:pt x="27" y="46"/>
                    <a:pt x="22" y="44"/>
                  </a:cubicBezTo>
                  <a:close/>
                  <a:moveTo>
                    <a:pt x="34" y="1"/>
                  </a:moveTo>
                  <a:cubicBezTo>
                    <a:pt x="34" y="1"/>
                    <a:pt x="34" y="1"/>
                    <a:pt x="34"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32" name="Freeform 2086">
              <a:extLst>
                <a:ext uri="{FF2B5EF4-FFF2-40B4-BE49-F238E27FC236}">
                  <a16:creationId xmlns:a16="http://schemas.microsoft.com/office/drawing/2014/main" id="{2344A54D-9014-495A-5F32-A29DD5BC87DE}"/>
                </a:ext>
              </a:extLst>
            </p:cNvPr>
            <p:cNvSpPr>
              <a:spLocks/>
            </p:cNvSpPr>
            <p:nvPr/>
          </p:nvSpPr>
          <p:spPr bwMode="auto">
            <a:xfrm>
              <a:off x="1212" y="3689"/>
              <a:ext cx="5" cy="7"/>
            </a:xfrm>
            <a:custGeom>
              <a:avLst/>
              <a:gdLst>
                <a:gd name="T0" fmla="*/ 2 w 23"/>
                <a:gd name="T1" fmla="*/ 1 h 33"/>
                <a:gd name="T2" fmla="*/ 0 w 23"/>
                <a:gd name="T3" fmla="*/ 33 h 33"/>
                <a:gd name="T4" fmla="*/ 21 w 23"/>
                <a:gd name="T5" fmla="*/ 17 h 33"/>
                <a:gd name="T6" fmla="*/ 2 w 23"/>
                <a:gd name="T7" fmla="*/ 1 h 33"/>
              </a:gdLst>
              <a:ahLst/>
              <a:cxnLst>
                <a:cxn ang="0">
                  <a:pos x="T0" y="T1"/>
                </a:cxn>
                <a:cxn ang="0">
                  <a:pos x="T2" y="T3"/>
                </a:cxn>
                <a:cxn ang="0">
                  <a:pos x="T4" y="T5"/>
                </a:cxn>
                <a:cxn ang="0">
                  <a:pos x="T6" y="T7"/>
                </a:cxn>
              </a:cxnLst>
              <a:rect l="0" t="0" r="r" b="b"/>
              <a:pathLst>
                <a:path w="23" h="33">
                  <a:moveTo>
                    <a:pt x="2" y="1"/>
                  </a:moveTo>
                  <a:cubicBezTo>
                    <a:pt x="0" y="33"/>
                    <a:pt x="0" y="33"/>
                    <a:pt x="0" y="33"/>
                  </a:cubicBezTo>
                  <a:cubicBezTo>
                    <a:pt x="0" y="33"/>
                    <a:pt x="18" y="30"/>
                    <a:pt x="21" y="17"/>
                  </a:cubicBezTo>
                  <a:cubicBezTo>
                    <a:pt x="23" y="4"/>
                    <a:pt x="15" y="0"/>
                    <a:pt x="2" y="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33" name="Freeform 2087">
              <a:extLst>
                <a:ext uri="{FF2B5EF4-FFF2-40B4-BE49-F238E27FC236}">
                  <a16:creationId xmlns:a16="http://schemas.microsoft.com/office/drawing/2014/main" id="{63AC7950-B8BD-AE94-02E3-7E596C42B8E4}"/>
                </a:ext>
              </a:extLst>
            </p:cNvPr>
            <p:cNvSpPr>
              <a:spLocks noEditPoints="1"/>
            </p:cNvSpPr>
            <p:nvPr/>
          </p:nvSpPr>
          <p:spPr bwMode="auto">
            <a:xfrm>
              <a:off x="1211" y="3688"/>
              <a:ext cx="7" cy="9"/>
            </a:xfrm>
            <a:custGeom>
              <a:avLst/>
              <a:gdLst>
                <a:gd name="T0" fmla="*/ 5 w 30"/>
                <a:gd name="T1" fmla="*/ 1 h 42"/>
                <a:gd name="T2" fmla="*/ 2 w 30"/>
                <a:gd name="T3" fmla="*/ 1 h 42"/>
                <a:gd name="T4" fmla="*/ 0 w 30"/>
                <a:gd name="T5" fmla="*/ 42 h 42"/>
                <a:gd name="T6" fmla="*/ 5 w 30"/>
                <a:gd name="T7" fmla="*/ 41 h 42"/>
                <a:gd name="T8" fmla="*/ 29 w 30"/>
                <a:gd name="T9" fmla="*/ 22 h 42"/>
                <a:gd name="T10" fmla="*/ 26 w 30"/>
                <a:gd name="T11" fmla="*/ 6 h 42"/>
                <a:gd name="T12" fmla="*/ 5 w 30"/>
                <a:gd name="T13" fmla="*/ 1 h 42"/>
                <a:gd name="T14" fmla="*/ 19 w 30"/>
                <a:gd name="T15" fmla="*/ 12 h 42"/>
                <a:gd name="T16" fmla="*/ 21 w 30"/>
                <a:gd name="T17" fmla="*/ 16 h 42"/>
                <a:gd name="T18" fmla="*/ 20 w 30"/>
                <a:gd name="T19" fmla="*/ 20 h 42"/>
                <a:gd name="T20" fmla="*/ 9 w 30"/>
                <a:gd name="T21" fmla="*/ 31 h 42"/>
                <a:gd name="T22" fmla="*/ 10 w 30"/>
                <a:gd name="T23" fmla="*/ 9 h 42"/>
                <a:gd name="T24" fmla="*/ 19 w 30"/>
                <a:gd name="T25" fmla="*/ 12 h 4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30" h="42">
                  <a:moveTo>
                    <a:pt x="5" y="1"/>
                  </a:moveTo>
                  <a:cubicBezTo>
                    <a:pt x="2" y="1"/>
                    <a:pt x="2" y="1"/>
                    <a:pt x="2" y="1"/>
                  </a:cubicBezTo>
                  <a:cubicBezTo>
                    <a:pt x="0" y="42"/>
                    <a:pt x="0" y="42"/>
                    <a:pt x="0" y="42"/>
                  </a:cubicBezTo>
                  <a:cubicBezTo>
                    <a:pt x="5" y="41"/>
                    <a:pt x="5" y="41"/>
                    <a:pt x="5" y="41"/>
                  </a:cubicBezTo>
                  <a:cubicBezTo>
                    <a:pt x="6" y="41"/>
                    <a:pt x="25" y="37"/>
                    <a:pt x="29" y="22"/>
                  </a:cubicBezTo>
                  <a:cubicBezTo>
                    <a:pt x="30" y="15"/>
                    <a:pt x="29" y="10"/>
                    <a:pt x="26" y="6"/>
                  </a:cubicBezTo>
                  <a:cubicBezTo>
                    <a:pt x="22" y="2"/>
                    <a:pt x="15" y="0"/>
                    <a:pt x="5" y="1"/>
                  </a:cubicBezTo>
                  <a:close/>
                  <a:moveTo>
                    <a:pt x="19" y="12"/>
                  </a:moveTo>
                  <a:cubicBezTo>
                    <a:pt x="20" y="13"/>
                    <a:pt x="21" y="14"/>
                    <a:pt x="21" y="16"/>
                  </a:cubicBezTo>
                  <a:cubicBezTo>
                    <a:pt x="21" y="17"/>
                    <a:pt x="21" y="19"/>
                    <a:pt x="20" y="20"/>
                  </a:cubicBezTo>
                  <a:cubicBezTo>
                    <a:pt x="19" y="26"/>
                    <a:pt x="13" y="29"/>
                    <a:pt x="9" y="31"/>
                  </a:cubicBezTo>
                  <a:cubicBezTo>
                    <a:pt x="9" y="24"/>
                    <a:pt x="10" y="14"/>
                    <a:pt x="10" y="9"/>
                  </a:cubicBezTo>
                  <a:cubicBezTo>
                    <a:pt x="14" y="9"/>
                    <a:pt x="18" y="10"/>
                    <a:pt x="19"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34" name="Freeform 2088">
              <a:extLst>
                <a:ext uri="{FF2B5EF4-FFF2-40B4-BE49-F238E27FC236}">
                  <a16:creationId xmlns:a16="http://schemas.microsoft.com/office/drawing/2014/main" id="{E638B7CC-D572-8177-89C2-D5769BD552DC}"/>
                </a:ext>
              </a:extLst>
            </p:cNvPr>
            <p:cNvSpPr>
              <a:spLocks/>
            </p:cNvSpPr>
            <p:nvPr/>
          </p:nvSpPr>
          <p:spPr bwMode="auto">
            <a:xfrm>
              <a:off x="1073" y="3647"/>
              <a:ext cx="77" cy="122"/>
            </a:xfrm>
            <a:custGeom>
              <a:avLst/>
              <a:gdLst>
                <a:gd name="T0" fmla="*/ 214 w 352"/>
                <a:gd name="T1" fmla="*/ 0 h 555"/>
                <a:gd name="T2" fmla="*/ 127 w 352"/>
                <a:gd name="T3" fmla="*/ 91 h 555"/>
                <a:gd name="T4" fmla="*/ 86 w 352"/>
                <a:gd name="T5" fmla="*/ 94 h 555"/>
                <a:gd name="T6" fmla="*/ 27 w 352"/>
                <a:gd name="T7" fmla="*/ 84 h 555"/>
                <a:gd name="T8" fmla="*/ 10 w 352"/>
                <a:gd name="T9" fmla="*/ 124 h 555"/>
                <a:gd name="T10" fmla="*/ 59 w 352"/>
                <a:gd name="T11" fmla="*/ 206 h 555"/>
                <a:gd name="T12" fmla="*/ 95 w 352"/>
                <a:gd name="T13" fmla="*/ 217 h 555"/>
                <a:gd name="T14" fmla="*/ 138 w 352"/>
                <a:gd name="T15" fmla="*/ 247 h 555"/>
                <a:gd name="T16" fmla="*/ 176 w 352"/>
                <a:gd name="T17" fmla="*/ 374 h 555"/>
                <a:gd name="T18" fmla="*/ 212 w 352"/>
                <a:gd name="T19" fmla="*/ 488 h 555"/>
                <a:gd name="T20" fmla="*/ 235 w 352"/>
                <a:gd name="T21" fmla="*/ 547 h 555"/>
                <a:gd name="T22" fmla="*/ 281 w 352"/>
                <a:gd name="T23" fmla="*/ 555 h 555"/>
                <a:gd name="T24" fmla="*/ 304 w 352"/>
                <a:gd name="T25" fmla="*/ 541 h 555"/>
                <a:gd name="T26" fmla="*/ 292 w 352"/>
                <a:gd name="T27" fmla="*/ 512 h 555"/>
                <a:gd name="T28" fmla="*/ 304 w 352"/>
                <a:gd name="T29" fmla="*/ 485 h 555"/>
                <a:gd name="T30" fmla="*/ 281 w 352"/>
                <a:gd name="T31" fmla="*/ 452 h 555"/>
                <a:gd name="T32" fmla="*/ 281 w 352"/>
                <a:gd name="T33" fmla="*/ 418 h 555"/>
                <a:gd name="T34" fmla="*/ 294 w 352"/>
                <a:gd name="T35" fmla="*/ 355 h 555"/>
                <a:gd name="T36" fmla="*/ 318 w 352"/>
                <a:gd name="T37" fmla="*/ 309 h 555"/>
                <a:gd name="T38" fmla="*/ 344 w 352"/>
                <a:gd name="T39" fmla="*/ 240 h 555"/>
                <a:gd name="T40" fmla="*/ 324 w 352"/>
                <a:gd name="T41" fmla="*/ 114 h 555"/>
                <a:gd name="T42" fmla="*/ 214 w 352"/>
                <a:gd name="T43" fmla="*/ 0 h 55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52" h="555">
                  <a:moveTo>
                    <a:pt x="214" y="0"/>
                  </a:moveTo>
                  <a:cubicBezTo>
                    <a:pt x="127" y="91"/>
                    <a:pt x="127" y="91"/>
                    <a:pt x="127" y="91"/>
                  </a:cubicBezTo>
                  <a:cubicBezTo>
                    <a:pt x="86" y="94"/>
                    <a:pt x="86" y="94"/>
                    <a:pt x="86" y="94"/>
                  </a:cubicBezTo>
                  <a:cubicBezTo>
                    <a:pt x="86" y="94"/>
                    <a:pt x="36" y="84"/>
                    <a:pt x="27" y="84"/>
                  </a:cubicBezTo>
                  <a:cubicBezTo>
                    <a:pt x="18" y="84"/>
                    <a:pt x="0" y="97"/>
                    <a:pt x="10" y="124"/>
                  </a:cubicBezTo>
                  <a:cubicBezTo>
                    <a:pt x="20" y="152"/>
                    <a:pt x="59" y="206"/>
                    <a:pt x="59" y="206"/>
                  </a:cubicBezTo>
                  <a:cubicBezTo>
                    <a:pt x="59" y="206"/>
                    <a:pt x="77" y="209"/>
                    <a:pt x="95" y="217"/>
                  </a:cubicBezTo>
                  <a:cubicBezTo>
                    <a:pt x="112" y="224"/>
                    <a:pt x="135" y="228"/>
                    <a:pt x="138" y="247"/>
                  </a:cubicBezTo>
                  <a:cubicBezTo>
                    <a:pt x="141" y="266"/>
                    <a:pt x="160" y="315"/>
                    <a:pt x="176" y="374"/>
                  </a:cubicBezTo>
                  <a:cubicBezTo>
                    <a:pt x="191" y="433"/>
                    <a:pt x="210" y="460"/>
                    <a:pt x="212" y="488"/>
                  </a:cubicBezTo>
                  <a:cubicBezTo>
                    <a:pt x="213" y="515"/>
                    <a:pt x="212" y="547"/>
                    <a:pt x="235" y="547"/>
                  </a:cubicBezTo>
                  <a:cubicBezTo>
                    <a:pt x="258" y="547"/>
                    <a:pt x="277" y="555"/>
                    <a:pt x="281" y="555"/>
                  </a:cubicBezTo>
                  <a:cubicBezTo>
                    <a:pt x="285" y="555"/>
                    <a:pt x="317" y="550"/>
                    <a:pt x="304" y="541"/>
                  </a:cubicBezTo>
                  <a:cubicBezTo>
                    <a:pt x="291" y="532"/>
                    <a:pt x="291" y="535"/>
                    <a:pt x="292" y="512"/>
                  </a:cubicBezTo>
                  <a:cubicBezTo>
                    <a:pt x="294" y="489"/>
                    <a:pt x="308" y="491"/>
                    <a:pt x="304" y="485"/>
                  </a:cubicBezTo>
                  <a:cubicBezTo>
                    <a:pt x="300" y="479"/>
                    <a:pt x="281" y="452"/>
                    <a:pt x="281" y="452"/>
                  </a:cubicBezTo>
                  <a:cubicBezTo>
                    <a:pt x="281" y="452"/>
                    <a:pt x="277" y="439"/>
                    <a:pt x="281" y="418"/>
                  </a:cubicBezTo>
                  <a:cubicBezTo>
                    <a:pt x="285" y="398"/>
                    <a:pt x="294" y="355"/>
                    <a:pt x="294" y="355"/>
                  </a:cubicBezTo>
                  <a:cubicBezTo>
                    <a:pt x="294" y="355"/>
                    <a:pt x="304" y="323"/>
                    <a:pt x="318" y="309"/>
                  </a:cubicBezTo>
                  <a:cubicBezTo>
                    <a:pt x="333" y="294"/>
                    <a:pt x="352" y="268"/>
                    <a:pt x="344" y="240"/>
                  </a:cubicBezTo>
                  <a:cubicBezTo>
                    <a:pt x="337" y="211"/>
                    <a:pt x="324" y="129"/>
                    <a:pt x="324" y="114"/>
                  </a:cubicBezTo>
                  <a:cubicBezTo>
                    <a:pt x="324" y="100"/>
                    <a:pt x="297" y="32"/>
                    <a:pt x="2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35" name="Freeform 2089">
              <a:extLst>
                <a:ext uri="{FF2B5EF4-FFF2-40B4-BE49-F238E27FC236}">
                  <a16:creationId xmlns:a16="http://schemas.microsoft.com/office/drawing/2014/main" id="{016D4ECC-4DC6-3DA7-8BB8-3C217BD19E01}"/>
                </a:ext>
              </a:extLst>
            </p:cNvPr>
            <p:cNvSpPr>
              <a:spLocks noEditPoints="1"/>
            </p:cNvSpPr>
            <p:nvPr/>
          </p:nvSpPr>
          <p:spPr bwMode="auto">
            <a:xfrm>
              <a:off x="1072" y="3646"/>
              <a:ext cx="79" cy="125"/>
            </a:xfrm>
            <a:custGeom>
              <a:avLst/>
              <a:gdLst>
                <a:gd name="T0" fmla="*/ 87 w 358"/>
                <a:gd name="T1" fmla="*/ 95 h 565"/>
                <a:gd name="T2" fmla="*/ 9 w 358"/>
                <a:gd name="T3" fmla="*/ 96 h 565"/>
                <a:gd name="T4" fmla="*/ 56 w 358"/>
                <a:gd name="T5" fmla="*/ 214 h 565"/>
                <a:gd name="T6" fmla="*/ 59 w 358"/>
                <a:gd name="T7" fmla="*/ 216 h 565"/>
                <a:gd name="T8" fmla="*/ 104 w 358"/>
                <a:gd name="T9" fmla="*/ 229 h 565"/>
                <a:gd name="T10" fmla="*/ 149 w 358"/>
                <a:gd name="T11" fmla="*/ 302 h 565"/>
                <a:gd name="T12" fmla="*/ 195 w 358"/>
                <a:gd name="T13" fmla="*/ 446 h 565"/>
                <a:gd name="T14" fmla="*/ 209 w 358"/>
                <a:gd name="T15" fmla="*/ 502 h 565"/>
                <a:gd name="T16" fmla="*/ 273 w 358"/>
                <a:gd name="T17" fmla="*/ 563 h 565"/>
                <a:gd name="T18" fmla="*/ 312 w 358"/>
                <a:gd name="T19" fmla="*/ 552 h 565"/>
                <a:gd name="T20" fmla="*/ 307 w 358"/>
                <a:gd name="T21" fmla="*/ 542 h 565"/>
                <a:gd name="T22" fmla="*/ 297 w 358"/>
                <a:gd name="T23" fmla="*/ 529 h 565"/>
                <a:gd name="T24" fmla="*/ 306 w 358"/>
                <a:gd name="T25" fmla="*/ 499 h 565"/>
                <a:gd name="T26" fmla="*/ 308 w 358"/>
                <a:gd name="T27" fmla="*/ 487 h 565"/>
                <a:gd name="T28" fmla="*/ 284 w 358"/>
                <a:gd name="T29" fmla="*/ 441 h 565"/>
                <a:gd name="T30" fmla="*/ 299 w 358"/>
                <a:gd name="T31" fmla="*/ 361 h 565"/>
                <a:gd name="T32" fmla="*/ 350 w 358"/>
                <a:gd name="T33" fmla="*/ 244 h 565"/>
                <a:gd name="T34" fmla="*/ 217 w 358"/>
                <a:gd name="T35" fmla="*/ 1 h 565"/>
                <a:gd name="T36" fmla="*/ 126 w 358"/>
                <a:gd name="T37" fmla="*/ 92 h 565"/>
                <a:gd name="T38" fmla="*/ 216 w 358"/>
                <a:gd name="T39" fmla="*/ 10 h 565"/>
                <a:gd name="T40" fmla="*/ 341 w 358"/>
                <a:gd name="T41" fmla="*/ 246 h 565"/>
                <a:gd name="T42" fmla="*/ 316 w 358"/>
                <a:gd name="T43" fmla="*/ 311 h 565"/>
                <a:gd name="T44" fmla="*/ 278 w 358"/>
                <a:gd name="T45" fmla="*/ 423 h 565"/>
                <a:gd name="T46" fmla="*/ 278 w 358"/>
                <a:gd name="T47" fmla="*/ 458 h 565"/>
                <a:gd name="T48" fmla="*/ 301 w 358"/>
                <a:gd name="T49" fmla="*/ 492 h 565"/>
                <a:gd name="T50" fmla="*/ 289 w 358"/>
                <a:gd name="T51" fmla="*/ 517 h 565"/>
                <a:gd name="T52" fmla="*/ 299 w 358"/>
                <a:gd name="T53" fmla="*/ 547 h 565"/>
                <a:gd name="T54" fmla="*/ 303 w 358"/>
                <a:gd name="T55" fmla="*/ 550 h 565"/>
                <a:gd name="T56" fmla="*/ 275 w 358"/>
                <a:gd name="T57" fmla="*/ 554 h 565"/>
                <a:gd name="T58" fmla="*/ 217 w 358"/>
                <a:gd name="T59" fmla="*/ 501 h 565"/>
                <a:gd name="T60" fmla="*/ 203 w 358"/>
                <a:gd name="T61" fmla="*/ 443 h 565"/>
                <a:gd name="T62" fmla="*/ 157 w 358"/>
                <a:gd name="T63" fmla="*/ 299 h 565"/>
                <a:gd name="T64" fmla="*/ 107 w 358"/>
                <a:gd name="T65" fmla="*/ 221 h 565"/>
                <a:gd name="T66" fmla="*/ 62 w 358"/>
                <a:gd name="T67" fmla="*/ 207 h 565"/>
                <a:gd name="T68" fmla="*/ 12 w 358"/>
                <a:gd name="T69" fmla="*/ 114 h 565"/>
                <a:gd name="T70" fmla="*/ 28 w 358"/>
                <a:gd name="T71" fmla="*/ 93 h 565"/>
                <a:gd name="T72" fmla="*/ 87 w 358"/>
                <a:gd name="T73" fmla="*/ 103 h 56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358" h="565">
                  <a:moveTo>
                    <a:pt x="126" y="92"/>
                  </a:moveTo>
                  <a:cubicBezTo>
                    <a:pt x="123" y="92"/>
                    <a:pt x="88" y="95"/>
                    <a:pt x="87" y="95"/>
                  </a:cubicBezTo>
                  <a:cubicBezTo>
                    <a:pt x="81" y="93"/>
                    <a:pt x="37" y="85"/>
                    <a:pt x="28" y="85"/>
                  </a:cubicBezTo>
                  <a:cubicBezTo>
                    <a:pt x="23" y="85"/>
                    <a:pt x="14" y="88"/>
                    <a:pt x="9" y="96"/>
                  </a:cubicBezTo>
                  <a:cubicBezTo>
                    <a:pt x="4" y="102"/>
                    <a:pt x="0" y="114"/>
                    <a:pt x="7" y="131"/>
                  </a:cubicBezTo>
                  <a:cubicBezTo>
                    <a:pt x="17" y="158"/>
                    <a:pt x="55" y="212"/>
                    <a:pt x="56" y="214"/>
                  </a:cubicBezTo>
                  <a:cubicBezTo>
                    <a:pt x="57" y="215"/>
                    <a:pt x="57" y="215"/>
                    <a:pt x="57" y="215"/>
                  </a:cubicBezTo>
                  <a:cubicBezTo>
                    <a:pt x="59" y="216"/>
                    <a:pt x="59" y="216"/>
                    <a:pt x="59" y="216"/>
                  </a:cubicBezTo>
                  <a:cubicBezTo>
                    <a:pt x="59" y="216"/>
                    <a:pt x="78" y="219"/>
                    <a:pt x="94" y="226"/>
                  </a:cubicBezTo>
                  <a:cubicBezTo>
                    <a:pt x="104" y="229"/>
                    <a:pt x="104" y="229"/>
                    <a:pt x="104" y="229"/>
                  </a:cubicBezTo>
                  <a:cubicBezTo>
                    <a:pt x="119" y="235"/>
                    <a:pt x="133" y="240"/>
                    <a:pt x="135" y="252"/>
                  </a:cubicBezTo>
                  <a:cubicBezTo>
                    <a:pt x="136" y="262"/>
                    <a:pt x="142" y="280"/>
                    <a:pt x="149" y="302"/>
                  </a:cubicBezTo>
                  <a:cubicBezTo>
                    <a:pt x="156" y="324"/>
                    <a:pt x="165" y="351"/>
                    <a:pt x="172" y="380"/>
                  </a:cubicBezTo>
                  <a:cubicBezTo>
                    <a:pt x="180" y="408"/>
                    <a:pt x="188" y="429"/>
                    <a:pt x="195" y="446"/>
                  </a:cubicBezTo>
                  <a:cubicBezTo>
                    <a:pt x="202" y="465"/>
                    <a:pt x="208" y="479"/>
                    <a:pt x="208" y="493"/>
                  </a:cubicBezTo>
                  <a:cubicBezTo>
                    <a:pt x="209" y="502"/>
                    <a:pt x="209" y="502"/>
                    <a:pt x="209" y="502"/>
                  </a:cubicBezTo>
                  <a:cubicBezTo>
                    <a:pt x="210" y="527"/>
                    <a:pt x="211" y="556"/>
                    <a:pt x="236" y="556"/>
                  </a:cubicBezTo>
                  <a:cubicBezTo>
                    <a:pt x="251" y="556"/>
                    <a:pt x="265" y="560"/>
                    <a:pt x="273" y="563"/>
                  </a:cubicBezTo>
                  <a:cubicBezTo>
                    <a:pt x="282" y="565"/>
                    <a:pt x="282" y="565"/>
                    <a:pt x="282" y="565"/>
                  </a:cubicBezTo>
                  <a:cubicBezTo>
                    <a:pt x="282" y="565"/>
                    <a:pt x="309" y="562"/>
                    <a:pt x="312" y="552"/>
                  </a:cubicBezTo>
                  <a:cubicBezTo>
                    <a:pt x="312" y="552"/>
                    <a:pt x="312" y="551"/>
                    <a:pt x="312" y="550"/>
                  </a:cubicBezTo>
                  <a:cubicBezTo>
                    <a:pt x="312" y="548"/>
                    <a:pt x="311" y="545"/>
                    <a:pt x="307" y="542"/>
                  </a:cubicBezTo>
                  <a:cubicBezTo>
                    <a:pt x="303" y="540"/>
                    <a:pt x="303" y="540"/>
                    <a:pt x="303" y="540"/>
                  </a:cubicBezTo>
                  <a:cubicBezTo>
                    <a:pt x="299" y="537"/>
                    <a:pt x="297" y="536"/>
                    <a:pt x="297" y="529"/>
                  </a:cubicBezTo>
                  <a:cubicBezTo>
                    <a:pt x="297" y="527"/>
                    <a:pt x="297" y="523"/>
                    <a:pt x="298" y="518"/>
                  </a:cubicBezTo>
                  <a:cubicBezTo>
                    <a:pt x="298" y="505"/>
                    <a:pt x="303" y="501"/>
                    <a:pt x="306" y="499"/>
                  </a:cubicBezTo>
                  <a:cubicBezTo>
                    <a:pt x="308" y="497"/>
                    <a:pt x="310" y="495"/>
                    <a:pt x="310" y="492"/>
                  </a:cubicBezTo>
                  <a:cubicBezTo>
                    <a:pt x="310" y="490"/>
                    <a:pt x="310" y="489"/>
                    <a:pt x="308" y="487"/>
                  </a:cubicBezTo>
                  <a:cubicBezTo>
                    <a:pt x="308" y="487"/>
                    <a:pt x="287" y="456"/>
                    <a:pt x="286" y="455"/>
                  </a:cubicBezTo>
                  <a:cubicBezTo>
                    <a:pt x="286" y="454"/>
                    <a:pt x="284" y="449"/>
                    <a:pt x="284" y="441"/>
                  </a:cubicBezTo>
                  <a:cubicBezTo>
                    <a:pt x="284" y="436"/>
                    <a:pt x="285" y="431"/>
                    <a:pt x="286" y="424"/>
                  </a:cubicBezTo>
                  <a:cubicBezTo>
                    <a:pt x="299" y="361"/>
                    <a:pt x="299" y="361"/>
                    <a:pt x="299" y="361"/>
                  </a:cubicBezTo>
                  <a:cubicBezTo>
                    <a:pt x="299" y="361"/>
                    <a:pt x="309" y="330"/>
                    <a:pt x="322" y="317"/>
                  </a:cubicBezTo>
                  <a:cubicBezTo>
                    <a:pt x="336" y="303"/>
                    <a:pt x="358" y="276"/>
                    <a:pt x="350" y="244"/>
                  </a:cubicBezTo>
                  <a:cubicBezTo>
                    <a:pt x="342" y="215"/>
                    <a:pt x="329" y="133"/>
                    <a:pt x="329" y="119"/>
                  </a:cubicBezTo>
                  <a:cubicBezTo>
                    <a:pt x="329" y="103"/>
                    <a:pt x="301" y="34"/>
                    <a:pt x="217" y="1"/>
                  </a:cubicBezTo>
                  <a:cubicBezTo>
                    <a:pt x="214" y="0"/>
                    <a:pt x="214" y="0"/>
                    <a:pt x="214" y="0"/>
                  </a:cubicBezTo>
                  <a:cubicBezTo>
                    <a:pt x="214" y="0"/>
                    <a:pt x="128" y="90"/>
                    <a:pt x="126" y="92"/>
                  </a:cubicBezTo>
                  <a:close/>
                  <a:moveTo>
                    <a:pt x="129" y="100"/>
                  </a:moveTo>
                  <a:cubicBezTo>
                    <a:pt x="129" y="100"/>
                    <a:pt x="212" y="15"/>
                    <a:pt x="216" y="10"/>
                  </a:cubicBezTo>
                  <a:cubicBezTo>
                    <a:pt x="293" y="41"/>
                    <a:pt x="321" y="105"/>
                    <a:pt x="321" y="119"/>
                  </a:cubicBezTo>
                  <a:cubicBezTo>
                    <a:pt x="321" y="135"/>
                    <a:pt x="334" y="218"/>
                    <a:pt x="341" y="246"/>
                  </a:cubicBezTo>
                  <a:cubicBezTo>
                    <a:pt x="342" y="250"/>
                    <a:pt x="343" y="254"/>
                    <a:pt x="343" y="258"/>
                  </a:cubicBezTo>
                  <a:cubicBezTo>
                    <a:pt x="343" y="281"/>
                    <a:pt x="327" y="300"/>
                    <a:pt x="316" y="311"/>
                  </a:cubicBezTo>
                  <a:cubicBezTo>
                    <a:pt x="301" y="326"/>
                    <a:pt x="291" y="357"/>
                    <a:pt x="291" y="359"/>
                  </a:cubicBezTo>
                  <a:cubicBezTo>
                    <a:pt x="291" y="359"/>
                    <a:pt x="278" y="423"/>
                    <a:pt x="278" y="423"/>
                  </a:cubicBezTo>
                  <a:cubicBezTo>
                    <a:pt x="276" y="430"/>
                    <a:pt x="276" y="436"/>
                    <a:pt x="276" y="441"/>
                  </a:cubicBezTo>
                  <a:cubicBezTo>
                    <a:pt x="276" y="451"/>
                    <a:pt x="278" y="458"/>
                    <a:pt x="278" y="458"/>
                  </a:cubicBezTo>
                  <a:cubicBezTo>
                    <a:pt x="278" y="459"/>
                    <a:pt x="278" y="459"/>
                    <a:pt x="278" y="459"/>
                  </a:cubicBezTo>
                  <a:cubicBezTo>
                    <a:pt x="278" y="459"/>
                    <a:pt x="300" y="490"/>
                    <a:pt x="301" y="492"/>
                  </a:cubicBezTo>
                  <a:cubicBezTo>
                    <a:pt x="301" y="492"/>
                    <a:pt x="300" y="492"/>
                    <a:pt x="300" y="492"/>
                  </a:cubicBezTo>
                  <a:cubicBezTo>
                    <a:pt x="297" y="495"/>
                    <a:pt x="290" y="501"/>
                    <a:pt x="289" y="517"/>
                  </a:cubicBezTo>
                  <a:cubicBezTo>
                    <a:pt x="289" y="522"/>
                    <a:pt x="288" y="527"/>
                    <a:pt x="288" y="530"/>
                  </a:cubicBezTo>
                  <a:cubicBezTo>
                    <a:pt x="288" y="539"/>
                    <a:pt x="291" y="542"/>
                    <a:pt x="299" y="547"/>
                  </a:cubicBezTo>
                  <a:cubicBezTo>
                    <a:pt x="303" y="550"/>
                    <a:pt x="303" y="550"/>
                    <a:pt x="303" y="550"/>
                  </a:cubicBezTo>
                  <a:cubicBezTo>
                    <a:pt x="303" y="550"/>
                    <a:pt x="303" y="550"/>
                    <a:pt x="303" y="550"/>
                  </a:cubicBezTo>
                  <a:cubicBezTo>
                    <a:pt x="300" y="553"/>
                    <a:pt x="286" y="556"/>
                    <a:pt x="282" y="556"/>
                  </a:cubicBezTo>
                  <a:cubicBezTo>
                    <a:pt x="282" y="556"/>
                    <a:pt x="275" y="554"/>
                    <a:pt x="275" y="554"/>
                  </a:cubicBezTo>
                  <a:cubicBezTo>
                    <a:pt x="267" y="552"/>
                    <a:pt x="252" y="548"/>
                    <a:pt x="236" y="548"/>
                  </a:cubicBezTo>
                  <a:cubicBezTo>
                    <a:pt x="220" y="548"/>
                    <a:pt x="218" y="529"/>
                    <a:pt x="217" y="501"/>
                  </a:cubicBezTo>
                  <a:cubicBezTo>
                    <a:pt x="217" y="492"/>
                    <a:pt x="217" y="492"/>
                    <a:pt x="217" y="492"/>
                  </a:cubicBezTo>
                  <a:cubicBezTo>
                    <a:pt x="216" y="477"/>
                    <a:pt x="210" y="462"/>
                    <a:pt x="203" y="443"/>
                  </a:cubicBezTo>
                  <a:cubicBezTo>
                    <a:pt x="196" y="426"/>
                    <a:pt x="188" y="405"/>
                    <a:pt x="181" y="378"/>
                  </a:cubicBezTo>
                  <a:cubicBezTo>
                    <a:pt x="173" y="348"/>
                    <a:pt x="164" y="321"/>
                    <a:pt x="157" y="299"/>
                  </a:cubicBezTo>
                  <a:cubicBezTo>
                    <a:pt x="150" y="277"/>
                    <a:pt x="145" y="260"/>
                    <a:pt x="143" y="251"/>
                  </a:cubicBezTo>
                  <a:cubicBezTo>
                    <a:pt x="141" y="233"/>
                    <a:pt x="123" y="227"/>
                    <a:pt x="107" y="221"/>
                  </a:cubicBezTo>
                  <a:cubicBezTo>
                    <a:pt x="97" y="218"/>
                    <a:pt x="97" y="218"/>
                    <a:pt x="97" y="218"/>
                  </a:cubicBezTo>
                  <a:cubicBezTo>
                    <a:pt x="82" y="211"/>
                    <a:pt x="67" y="208"/>
                    <a:pt x="62" y="207"/>
                  </a:cubicBezTo>
                  <a:cubicBezTo>
                    <a:pt x="57" y="200"/>
                    <a:pt x="24" y="152"/>
                    <a:pt x="15" y="128"/>
                  </a:cubicBezTo>
                  <a:cubicBezTo>
                    <a:pt x="13" y="123"/>
                    <a:pt x="12" y="118"/>
                    <a:pt x="12" y="114"/>
                  </a:cubicBezTo>
                  <a:cubicBezTo>
                    <a:pt x="12" y="108"/>
                    <a:pt x="14" y="104"/>
                    <a:pt x="16" y="101"/>
                  </a:cubicBezTo>
                  <a:cubicBezTo>
                    <a:pt x="20" y="95"/>
                    <a:pt x="25" y="93"/>
                    <a:pt x="28" y="93"/>
                  </a:cubicBezTo>
                  <a:cubicBezTo>
                    <a:pt x="34" y="93"/>
                    <a:pt x="66" y="99"/>
                    <a:pt x="86" y="103"/>
                  </a:cubicBezTo>
                  <a:cubicBezTo>
                    <a:pt x="87" y="103"/>
                    <a:pt x="87" y="103"/>
                    <a:pt x="87" y="103"/>
                  </a:cubicBezTo>
                  <a:lnTo>
                    <a:pt x="129" y="10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36" name="Freeform 2090">
              <a:extLst>
                <a:ext uri="{FF2B5EF4-FFF2-40B4-BE49-F238E27FC236}">
                  <a16:creationId xmlns:a16="http://schemas.microsoft.com/office/drawing/2014/main" id="{4D2CC785-A30C-F8D7-3A77-73536F90F34F}"/>
                </a:ext>
              </a:extLst>
            </p:cNvPr>
            <p:cNvSpPr>
              <a:spLocks/>
            </p:cNvSpPr>
            <p:nvPr/>
          </p:nvSpPr>
          <p:spPr bwMode="auto">
            <a:xfrm>
              <a:off x="1120" y="3773"/>
              <a:ext cx="11" cy="6"/>
            </a:xfrm>
            <a:custGeom>
              <a:avLst/>
              <a:gdLst>
                <a:gd name="T0" fmla="*/ 19 w 50"/>
                <a:gd name="T1" fmla="*/ 0 h 26"/>
                <a:gd name="T2" fmla="*/ 16 w 50"/>
                <a:gd name="T3" fmla="*/ 19 h 26"/>
                <a:gd name="T4" fmla="*/ 19 w 50"/>
                <a:gd name="T5" fmla="*/ 0 h 26"/>
              </a:gdLst>
              <a:ahLst/>
              <a:cxnLst>
                <a:cxn ang="0">
                  <a:pos x="T0" y="T1"/>
                </a:cxn>
                <a:cxn ang="0">
                  <a:pos x="T2" y="T3"/>
                </a:cxn>
                <a:cxn ang="0">
                  <a:pos x="T4" y="T5"/>
                </a:cxn>
              </a:cxnLst>
              <a:rect l="0" t="0" r="r" b="b"/>
              <a:pathLst>
                <a:path w="50" h="26">
                  <a:moveTo>
                    <a:pt x="19" y="0"/>
                  </a:moveTo>
                  <a:cubicBezTo>
                    <a:pt x="19" y="0"/>
                    <a:pt x="0" y="12"/>
                    <a:pt x="16" y="19"/>
                  </a:cubicBezTo>
                  <a:cubicBezTo>
                    <a:pt x="32" y="26"/>
                    <a:pt x="50" y="8"/>
                    <a:pt x="19"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37" name="Freeform 2091">
              <a:extLst>
                <a:ext uri="{FF2B5EF4-FFF2-40B4-BE49-F238E27FC236}">
                  <a16:creationId xmlns:a16="http://schemas.microsoft.com/office/drawing/2014/main" id="{FDFDA9AF-DECE-2EC9-5D41-44A8C27046AA}"/>
                </a:ext>
              </a:extLst>
            </p:cNvPr>
            <p:cNvSpPr>
              <a:spLocks noEditPoints="1"/>
            </p:cNvSpPr>
            <p:nvPr/>
          </p:nvSpPr>
          <p:spPr bwMode="auto">
            <a:xfrm>
              <a:off x="1121" y="3772"/>
              <a:ext cx="8" cy="7"/>
            </a:xfrm>
            <a:custGeom>
              <a:avLst/>
              <a:gdLst>
                <a:gd name="T0" fmla="*/ 11 w 36"/>
                <a:gd name="T1" fmla="*/ 1 h 31"/>
                <a:gd name="T2" fmla="*/ 0 w 36"/>
                <a:gd name="T3" fmla="*/ 17 h 31"/>
                <a:gd name="T4" fmla="*/ 9 w 36"/>
                <a:gd name="T5" fmla="*/ 27 h 31"/>
                <a:gd name="T6" fmla="*/ 31 w 36"/>
                <a:gd name="T7" fmla="*/ 25 h 31"/>
                <a:gd name="T8" fmla="*/ 35 w 36"/>
                <a:gd name="T9" fmla="*/ 14 h 31"/>
                <a:gd name="T10" fmla="*/ 15 w 36"/>
                <a:gd name="T11" fmla="*/ 0 h 31"/>
                <a:gd name="T12" fmla="*/ 13 w 36"/>
                <a:gd name="T13" fmla="*/ 0 h 31"/>
                <a:gd name="T14" fmla="*/ 11 w 36"/>
                <a:gd name="T15" fmla="*/ 1 h 31"/>
                <a:gd name="T16" fmla="*/ 13 w 36"/>
                <a:gd name="T17" fmla="*/ 19 h 31"/>
                <a:gd name="T18" fmla="*/ 9 w 36"/>
                <a:gd name="T19" fmla="*/ 16 h 31"/>
                <a:gd name="T20" fmla="*/ 9 w 36"/>
                <a:gd name="T21" fmla="*/ 16 h 31"/>
                <a:gd name="T22" fmla="*/ 15 w 36"/>
                <a:gd name="T23" fmla="*/ 9 h 31"/>
                <a:gd name="T24" fmla="*/ 27 w 36"/>
                <a:gd name="T25" fmla="*/ 16 h 31"/>
                <a:gd name="T26" fmla="*/ 27 w 36"/>
                <a:gd name="T27" fmla="*/ 16 h 31"/>
                <a:gd name="T28" fmla="*/ 25 w 36"/>
                <a:gd name="T29" fmla="*/ 18 h 31"/>
                <a:gd name="T30" fmla="*/ 13 w 36"/>
                <a:gd name="T31" fmla="*/ 19 h 3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6" h="31">
                  <a:moveTo>
                    <a:pt x="11" y="1"/>
                  </a:moveTo>
                  <a:cubicBezTo>
                    <a:pt x="9" y="2"/>
                    <a:pt x="0" y="8"/>
                    <a:pt x="0" y="17"/>
                  </a:cubicBezTo>
                  <a:cubicBezTo>
                    <a:pt x="0" y="20"/>
                    <a:pt x="2" y="24"/>
                    <a:pt x="9" y="27"/>
                  </a:cubicBezTo>
                  <a:cubicBezTo>
                    <a:pt x="18" y="31"/>
                    <a:pt x="26" y="29"/>
                    <a:pt x="31" y="25"/>
                  </a:cubicBezTo>
                  <a:cubicBezTo>
                    <a:pt x="34" y="22"/>
                    <a:pt x="36" y="18"/>
                    <a:pt x="35" y="14"/>
                  </a:cubicBezTo>
                  <a:cubicBezTo>
                    <a:pt x="34" y="9"/>
                    <a:pt x="30" y="4"/>
                    <a:pt x="15" y="0"/>
                  </a:cubicBezTo>
                  <a:cubicBezTo>
                    <a:pt x="13" y="0"/>
                    <a:pt x="13" y="0"/>
                    <a:pt x="13" y="0"/>
                  </a:cubicBezTo>
                  <a:lnTo>
                    <a:pt x="11" y="1"/>
                  </a:lnTo>
                  <a:close/>
                  <a:moveTo>
                    <a:pt x="13" y="19"/>
                  </a:moveTo>
                  <a:cubicBezTo>
                    <a:pt x="10" y="18"/>
                    <a:pt x="9" y="17"/>
                    <a:pt x="9" y="16"/>
                  </a:cubicBezTo>
                  <a:cubicBezTo>
                    <a:pt x="9" y="16"/>
                    <a:pt x="9" y="16"/>
                    <a:pt x="9" y="16"/>
                  </a:cubicBezTo>
                  <a:cubicBezTo>
                    <a:pt x="9" y="14"/>
                    <a:pt x="12" y="11"/>
                    <a:pt x="15" y="9"/>
                  </a:cubicBezTo>
                  <a:cubicBezTo>
                    <a:pt x="23" y="11"/>
                    <a:pt x="26" y="14"/>
                    <a:pt x="27" y="16"/>
                  </a:cubicBezTo>
                  <a:cubicBezTo>
                    <a:pt x="27" y="16"/>
                    <a:pt x="27" y="16"/>
                    <a:pt x="27" y="16"/>
                  </a:cubicBezTo>
                  <a:cubicBezTo>
                    <a:pt x="27" y="17"/>
                    <a:pt x="26" y="18"/>
                    <a:pt x="25" y="18"/>
                  </a:cubicBezTo>
                  <a:cubicBezTo>
                    <a:pt x="23" y="20"/>
                    <a:pt x="17" y="21"/>
                    <a:pt x="13" y="1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38" name="Freeform 2092">
              <a:extLst>
                <a:ext uri="{FF2B5EF4-FFF2-40B4-BE49-F238E27FC236}">
                  <a16:creationId xmlns:a16="http://schemas.microsoft.com/office/drawing/2014/main" id="{FDAEC8E5-42E9-91CB-2FF6-B3AEFA7323F5}"/>
                </a:ext>
              </a:extLst>
            </p:cNvPr>
            <p:cNvSpPr>
              <a:spLocks/>
            </p:cNvSpPr>
            <p:nvPr/>
          </p:nvSpPr>
          <p:spPr bwMode="auto">
            <a:xfrm>
              <a:off x="1123" y="3781"/>
              <a:ext cx="9" cy="7"/>
            </a:xfrm>
            <a:custGeom>
              <a:avLst/>
              <a:gdLst>
                <a:gd name="T0" fmla="*/ 14 w 39"/>
                <a:gd name="T1" fmla="*/ 0 h 32"/>
                <a:gd name="T2" fmla="*/ 11 w 39"/>
                <a:gd name="T3" fmla="*/ 29 h 32"/>
                <a:gd name="T4" fmla="*/ 14 w 39"/>
                <a:gd name="T5" fmla="*/ 0 h 32"/>
              </a:gdLst>
              <a:ahLst/>
              <a:cxnLst>
                <a:cxn ang="0">
                  <a:pos x="T0" y="T1"/>
                </a:cxn>
                <a:cxn ang="0">
                  <a:pos x="T2" y="T3"/>
                </a:cxn>
                <a:cxn ang="0">
                  <a:pos x="T4" y="T5"/>
                </a:cxn>
              </a:cxnLst>
              <a:rect l="0" t="0" r="r" b="b"/>
              <a:pathLst>
                <a:path w="39" h="32">
                  <a:moveTo>
                    <a:pt x="14" y="0"/>
                  </a:moveTo>
                  <a:cubicBezTo>
                    <a:pt x="14" y="0"/>
                    <a:pt x="0" y="26"/>
                    <a:pt x="11" y="29"/>
                  </a:cubicBezTo>
                  <a:cubicBezTo>
                    <a:pt x="23" y="32"/>
                    <a:pt x="39" y="1"/>
                    <a:pt x="1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39" name="Freeform 2093">
              <a:extLst>
                <a:ext uri="{FF2B5EF4-FFF2-40B4-BE49-F238E27FC236}">
                  <a16:creationId xmlns:a16="http://schemas.microsoft.com/office/drawing/2014/main" id="{55B88126-DB97-42FB-80C2-161998E075F3}"/>
                </a:ext>
              </a:extLst>
            </p:cNvPr>
            <p:cNvSpPr>
              <a:spLocks noEditPoints="1"/>
            </p:cNvSpPr>
            <p:nvPr/>
          </p:nvSpPr>
          <p:spPr bwMode="auto">
            <a:xfrm>
              <a:off x="1123" y="3780"/>
              <a:ext cx="8" cy="9"/>
            </a:xfrm>
            <a:custGeom>
              <a:avLst/>
              <a:gdLst>
                <a:gd name="T0" fmla="*/ 11 w 34"/>
                <a:gd name="T1" fmla="*/ 3 h 39"/>
                <a:gd name="T2" fmla="*/ 4 w 34"/>
                <a:gd name="T3" fmla="*/ 32 h 39"/>
                <a:gd name="T4" fmla="*/ 10 w 34"/>
                <a:gd name="T5" fmla="*/ 38 h 39"/>
                <a:gd name="T6" fmla="*/ 25 w 34"/>
                <a:gd name="T7" fmla="*/ 32 h 39"/>
                <a:gd name="T8" fmla="*/ 30 w 34"/>
                <a:gd name="T9" fmla="*/ 10 h 39"/>
                <a:gd name="T10" fmla="*/ 15 w 34"/>
                <a:gd name="T11" fmla="*/ 1 h 39"/>
                <a:gd name="T12" fmla="*/ 12 w 34"/>
                <a:gd name="T13" fmla="*/ 0 h 39"/>
                <a:gd name="T14" fmla="*/ 11 w 34"/>
                <a:gd name="T15" fmla="*/ 3 h 39"/>
                <a:gd name="T16" fmla="*/ 13 w 34"/>
                <a:gd name="T17" fmla="*/ 29 h 39"/>
                <a:gd name="T18" fmla="*/ 12 w 34"/>
                <a:gd name="T19" fmla="*/ 29 h 39"/>
                <a:gd name="T20" fmla="*/ 11 w 34"/>
                <a:gd name="T21" fmla="*/ 27 h 39"/>
                <a:gd name="T22" fmla="*/ 17 w 34"/>
                <a:gd name="T23" fmla="*/ 10 h 39"/>
                <a:gd name="T24" fmla="*/ 22 w 34"/>
                <a:gd name="T25" fmla="*/ 13 h 39"/>
                <a:gd name="T26" fmla="*/ 23 w 34"/>
                <a:gd name="T27" fmla="*/ 16 h 39"/>
                <a:gd name="T28" fmla="*/ 19 w 34"/>
                <a:gd name="T29" fmla="*/ 26 h 39"/>
                <a:gd name="T30" fmla="*/ 13 w 34"/>
                <a:gd name="T31" fmla="*/ 29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34" h="39">
                  <a:moveTo>
                    <a:pt x="11" y="3"/>
                  </a:moveTo>
                  <a:cubicBezTo>
                    <a:pt x="9" y="6"/>
                    <a:pt x="0" y="23"/>
                    <a:pt x="4" y="32"/>
                  </a:cubicBezTo>
                  <a:cubicBezTo>
                    <a:pt x="5" y="35"/>
                    <a:pt x="7" y="37"/>
                    <a:pt x="10" y="38"/>
                  </a:cubicBezTo>
                  <a:cubicBezTo>
                    <a:pt x="15" y="39"/>
                    <a:pt x="21" y="37"/>
                    <a:pt x="25" y="32"/>
                  </a:cubicBezTo>
                  <a:cubicBezTo>
                    <a:pt x="30" y="26"/>
                    <a:pt x="34" y="17"/>
                    <a:pt x="30" y="10"/>
                  </a:cubicBezTo>
                  <a:cubicBezTo>
                    <a:pt x="29" y="6"/>
                    <a:pt x="25" y="1"/>
                    <a:pt x="15" y="1"/>
                  </a:cubicBezTo>
                  <a:cubicBezTo>
                    <a:pt x="12" y="0"/>
                    <a:pt x="12" y="0"/>
                    <a:pt x="12" y="0"/>
                  </a:cubicBezTo>
                  <a:lnTo>
                    <a:pt x="11" y="3"/>
                  </a:lnTo>
                  <a:close/>
                  <a:moveTo>
                    <a:pt x="13" y="29"/>
                  </a:moveTo>
                  <a:cubicBezTo>
                    <a:pt x="12" y="29"/>
                    <a:pt x="12" y="29"/>
                    <a:pt x="12" y="29"/>
                  </a:cubicBezTo>
                  <a:cubicBezTo>
                    <a:pt x="11" y="28"/>
                    <a:pt x="11" y="28"/>
                    <a:pt x="11" y="27"/>
                  </a:cubicBezTo>
                  <a:cubicBezTo>
                    <a:pt x="11" y="23"/>
                    <a:pt x="14" y="16"/>
                    <a:pt x="17" y="10"/>
                  </a:cubicBezTo>
                  <a:cubicBezTo>
                    <a:pt x="20" y="10"/>
                    <a:pt x="22" y="11"/>
                    <a:pt x="22" y="13"/>
                  </a:cubicBezTo>
                  <a:cubicBezTo>
                    <a:pt x="23" y="14"/>
                    <a:pt x="23" y="15"/>
                    <a:pt x="23" y="16"/>
                  </a:cubicBezTo>
                  <a:cubicBezTo>
                    <a:pt x="23" y="19"/>
                    <a:pt x="21" y="23"/>
                    <a:pt x="19" y="26"/>
                  </a:cubicBezTo>
                  <a:cubicBezTo>
                    <a:pt x="17" y="28"/>
                    <a:pt x="14" y="30"/>
                    <a:pt x="13"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40" name="Freeform 2094">
              <a:extLst>
                <a:ext uri="{FF2B5EF4-FFF2-40B4-BE49-F238E27FC236}">
                  <a16:creationId xmlns:a16="http://schemas.microsoft.com/office/drawing/2014/main" id="{612F7540-DC7D-4DA8-5FBD-8239358C2729}"/>
                </a:ext>
              </a:extLst>
            </p:cNvPr>
            <p:cNvSpPr>
              <a:spLocks/>
            </p:cNvSpPr>
            <p:nvPr/>
          </p:nvSpPr>
          <p:spPr bwMode="auto">
            <a:xfrm>
              <a:off x="1125" y="3795"/>
              <a:ext cx="9" cy="4"/>
            </a:xfrm>
            <a:custGeom>
              <a:avLst/>
              <a:gdLst>
                <a:gd name="T0" fmla="*/ 10 w 38"/>
                <a:gd name="T1" fmla="*/ 0 h 21"/>
                <a:gd name="T2" fmla="*/ 9 w 38"/>
                <a:gd name="T3" fmla="*/ 18 h 21"/>
                <a:gd name="T4" fmla="*/ 10 w 38"/>
                <a:gd name="T5" fmla="*/ 0 h 21"/>
              </a:gdLst>
              <a:ahLst/>
              <a:cxnLst>
                <a:cxn ang="0">
                  <a:pos x="T0" y="T1"/>
                </a:cxn>
                <a:cxn ang="0">
                  <a:pos x="T2" y="T3"/>
                </a:cxn>
                <a:cxn ang="0">
                  <a:pos x="T4" y="T5"/>
                </a:cxn>
              </a:cxnLst>
              <a:rect l="0" t="0" r="r" b="b"/>
              <a:pathLst>
                <a:path w="38" h="21">
                  <a:moveTo>
                    <a:pt x="10" y="0"/>
                  </a:moveTo>
                  <a:cubicBezTo>
                    <a:pt x="10" y="0"/>
                    <a:pt x="0" y="15"/>
                    <a:pt x="9" y="18"/>
                  </a:cubicBezTo>
                  <a:cubicBezTo>
                    <a:pt x="17" y="21"/>
                    <a:pt x="38" y="0"/>
                    <a:pt x="1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41" name="Freeform 2095">
              <a:extLst>
                <a:ext uri="{FF2B5EF4-FFF2-40B4-BE49-F238E27FC236}">
                  <a16:creationId xmlns:a16="http://schemas.microsoft.com/office/drawing/2014/main" id="{F2F92C00-8529-5DD7-4A58-E4C3C81CDCBD}"/>
                </a:ext>
              </a:extLst>
            </p:cNvPr>
            <p:cNvSpPr>
              <a:spLocks noEditPoints="1"/>
            </p:cNvSpPr>
            <p:nvPr/>
          </p:nvSpPr>
          <p:spPr bwMode="auto">
            <a:xfrm>
              <a:off x="1125" y="3794"/>
              <a:ext cx="7" cy="6"/>
            </a:xfrm>
            <a:custGeom>
              <a:avLst/>
              <a:gdLst>
                <a:gd name="T0" fmla="*/ 9 w 30"/>
                <a:gd name="T1" fmla="*/ 0 h 28"/>
                <a:gd name="T2" fmla="*/ 8 w 30"/>
                <a:gd name="T3" fmla="*/ 2 h 28"/>
                <a:gd name="T4" fmla="*/ 2 w 30"/>
                <a:gd name="T5" fmla="*/ 20 h 28"/>
                <a:gd name="T6" fmla="*/ 8 w 30"/>
                <a:gd name="T7" fmla="*/ 26 h 28"/>
                <a:gd name="T8" fmla="*/ 25 w 30"/>
                <a:gd name="T9" fmla="*/ 19 h 28"/>
                <a:gd name="T10" fmla="*/ 29 w 30"/>
                <a:gd name="T11" fmla="*/ 7 h 28"/>
                <a:gd name="T12" fmla="*/ 11 w 30"/>
                <a:gd name="T13" fmla="*/ 0 h 28"/>
                <a:gd name="T14" fmla="*/ 9 w 30"/>
                <a:gd name="T15" fmla="*/ 0 h 28"/>
                <a:gd name="T16" fmla="*/ 11 w 30"/>
                <a:gd name="T17" fmla="*/ 18 h 28"/>
                <a:gd name="T18" fmla="*/ 11 w 30"/>
                <a:gd name="T19" fmla="*/ 16 h 28"/>
                <a:gd name="T20" fmla="*/ 14 w 30"/>
                <a:gd name="T21" fmla="*/ 9 h 28"/>
                <a:gd name="T22" fmla="*/ 21 w 30"/>
                <a:gd name="T23" fmla="*/ 11 h 28"/>
                <a:gd name="T24" fmla="*/ 21 w 30"/>
                <a:gd name="T25" fmla="*/ 11 h 28"/>
                <a:gd name="T26" fmla="*/ 18 w 30"/>
                <a:gd name="T27" fmla="*/ 15 h 28"/>
                <a:gd name="T28" fmla="*/ 11 w 30"/>
                <a:gd name="T29" fmla="*/ 18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28">
                  <a:moveTo>
                    <a:pt x="9" y="0"/>
                  </a:moveTo>
                  <a:cubicBezTo>
                    <a:pt x="8" y="2"/>
                    <a:pt x="8" y="2"/>
                    <a:pt x="8" y="2"/>
                  </a:cubicBezTo>
                  <a:cubicBezTo>
                    <a:pt x="6" y="4"/>
                    <a:pt x="0" y="13"/>
                    <a:pt x="2" y="20"/>
                  </a:cubicBezTo>
                  <a:cubicBezTo>
                    <a:pt x="3" y="23"/>
                    <a:pt x="5" y="25"/>
                    <a:pt x="8" y="26"/>
                  </a:cubicBezTo>
                  <a:cubicBezTo>
                    <a:pt x="14" y="28"/>
                    <a:pt x="21" y="24"/>
                    <a:pt x="25" y="19"/>
                  </a:cubicBezTo>
                  <a:cubicBezTo>
                    <a:pt x="29" y="15"/>
                    <a:pt x="30" y="11"/>
                    <a:pt x="29" y="7"/>
                  </a:cubicBezTo>
                  <a:cubicBezTo>
                    <a:pt x="26" y="2"/>
                    <a:pt x="21" y="0"/>
                    <a:pt x="11" y="0"/>
                  </a:cubicBezTo>
                  <a:lnTo>
                    <a:pt x="9" y="0"/>
                  </a:lnTo>
                  <a:close/>
                  <a:moveTo>
                    <a:pt x="11" y="18"/>
                  </a:moveTo>
                  <a:cubicBezTo>
                    <a:pt x="11" y="17"/>
                    <a:pt x="11" y="17"/>
                    <a:pt x="11" y="16"/>
                  </a:cubicBezTo>
                  <a:cubicBezTo>
                    <a:pt x="11" y="15"/>
                    <a:pt x="12" y="12"/>
                    <a:pt x="14" y="9"/>
                  </a:cubicBezTo>
                  <a:cubicBezTo>
                    <a:pt x="19" y="9"/>
                    <a:pt x="21" y="11"/>
                    <a:pt x="21" y="11"/>
                  </a:cubicBezTo>
                  <a:cubicBezTo>
                    <a:pt x="21" y="11"/>
                    <a:pt x="21" y="11"/>
                    <a:pt x="21" y="11"/>
                  </a:cubicBezTo>
                  <a:cubicBezTo>
                    <a:pt x="21" y="11"/>
                    <a:pt x="20" y="13"/>
                    <a:pt x="18" y="15"/>
                  </a:cubicBezTo>
                  <a:cubicBezTo>
                    <a:pt x="15" y="17"/>
                    <a:pt x="12" y="18"/>
                    <a:pt x="11"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42" name="Freeform 2096">
              <a:extLst>
                <a:ext uri="{FF2B5EF4-FFF2-40B4-BE49-F238E27FC236}">
                  <a16:creationId xmlns:a16="http://schemas.microsoft.com/office/drawing/2014/main" id="{7E3BBAA5-A3DA-630B-CA31-7A23A604C82E}"/>
                </a:ext>
              </a:extLst>
            </p:cNvPr>
            <p:cNvSpPr>
              <a:spLocks/>
            </p:cNvSpPr>
            <p:nvPr/>
          </p:nvSpPr>
          <p:spPr bwMode="auto">
            <a:xfrm>
              <a:off x="1815" y="4116"/>
              <a:ext cx="36" cy="45"/>
            </a:xfrm>
            <a:custGeom>
              <a:avLst/>
              <a:gdLst>
                <a:gd name="T0" fmla="*/ 133 w 165"/>
                <a:gd name="T1" fmla="*/ 2 h 201"/>
                <a:gd name="T2" fmla="*/ 50 w 165"/>
                <a:gd name="T3" fmla="*/ 71 h 201"/>
                <a:gd name="T4" fmla="*/ 2 w 165"/>
                <a:gd name="T5" fmla="*/ 137 h 201"/>
                <a:gd name="T6" fmla="*/ 33 w 165"/>
                <a:gd name="T7" fmla="*/ 178 h 201"/>
                <a:gd name="T8" fmla="*/ 77 w 165"/>
                <a:gd name="T9" fmla="*/ 195 h 201"/>
                <a:gd name="T10" fmla="*/ 80 w 165"/>
                <a:gd name="T11" fmla="*/ 144 h 201"/>
                <a:gd name="T12" fmla="*/ 95 w 165"/>
                <a:gd name="T13" fmla="*/ 135 h 201"/>
                <a:gd name="T14" fmla="*/ 99 w 165"/>
                <a:gd name="T15" fmla="*/ 126 h 201"/>
                <a:gd name="T16" fmla="*/ 131 w 165"/>
                <a:gd name="T17" fmla="*/ 126 h 201"/>
                <a:gd name="T18" fmla="*/ 141 w 165"/>
                <a:gd name="T19" fmla="*/ 97 h 201"/>
                <a:gd name="T20" fmla="*/ 141 w 165"/>
                <a:gd name="T21" fmla="*/ 71 h 201"/>
                <a:gd name="T22" fmla="*/ 165 w 165"/>
                <a:gd name="T23" fmla="*/ 52 h 201"/>
                <a:gd name="T24" fmla="*/ 133 w 165"/>
                <a:gd name="T25" fmla="*/ 2 h 2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65" h="201">
                  <a:moveTo>
                    <a:pt x="133" y="2"/>
                  </a:moveTo>
                  <a:cubicBezTo>
                    <a:pt x="133" y="2"/>
                    <a:pt x="67" y="52"/>
                    <a:pt x="50" y="71"/>
                  </a:cubicBezTo>
                  <a:cubicBezTo>
                    <a:pt x="33" y="90"/>
                    <a:pt x="0" y="124"/>
                    <a:pt x="2" y="137"/>
                  </a:cubicBezTo>
                  <a:cubicBezTo>
                    <a:pt x="3" y="150"/>
                    <a:pt x="24" y="172"/>
                    <a:pt x="33" y="178"/>
                  </a:cubicBezTo>
                  <a:cubicBezTo>
                    <a:pt x="43" y="184"/>
                    <a:pt x="71" y="201"/>
                    <a:pt x="77" y="195"/>
                  </a:cubicBezTo>
                  <a:cubicBezTo>
                    <a:pt x="82" y="189"/>
                    <a:pt x="80" y="144"/>
                    <a:pt x="80" y="144"/>
                  </a:cubicBezTo>
                  <a:cubicBezTo>
                    <a:pt x="95" y="135"/>
                    <a:pt x="95" y="135"/>
                    <a:pt x="95" y="135"/>
                  </a:cubicBezTo>
                  <a:cubicBezTo>
                    <a:pt x="95" y="135"/>
                    <a:pt x="92" y="126"/>
                    <a:pt x="99" y="126"/>
                  </a:cubicBezTo>
                  <a:cubicBezTo>
                    <a:pt x="107" y="126"/>
                    <a:pt x="131" y="126"/>
                    <a:pt x="131" y="126"/>
                  </a:cubicBezTo>
                  <a:cubicBezTo>
                    <a:pt x="131" y="126"/>
                    <a:pt x="148" y="112"/>
                    <a:pt x="141" y="97"/>
                  </a:cubicBezTo>
                  <a:cubicBezTo>
                    <a:pt x="133" y="82"/>
                    <a:pt x="127" y="73"/>
                    <a:pt x="141" y="71"/>
                  </a:cubicBezTo>
                  <a:cubicBezTo>
                    <a:pt x="154" y="69"/>
                    <a:pt x="165" y="71"/>
                    <a:pt x="165" y="52"/>
                  </a:cubicBezTo>
                  <a:cubicBezTo>
                    <a:pt x="165" y="34"/>
                    <a:pt x="161" y="0"/>
                    <a:pt x="133"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43" name="Freeform 2097">
              <a:extLst>
                <a:ext uri="{FF2B5EF4-FFF2-40B4-BE49-F238E27FC236}">
                  <a16:creationId xmlns:a16="http://schemas.microsoft.com/office/drawing/2014/main" id="{A797832C-979E-08E2-C2D5-1207B081A0A5}"/>
                </a:ext>
              </a:extLst>
            </p:cNvPr>
            <p:cNvSpPr>
              <a:spLocks noEditPoints="1"/>
            </p:cNvSpPr>
            <p:nvPr/>
          </p:nvSpPr>
          <p:spPr bwMode="auto">
            <a:xfrm>
              <a:off x="1814" y="4116"/>
              <a:ext cx="38" cy="46"/>
            </a:xfrm>
            <a:custGeom>
              <a:avLst/>
              <a:gdLst>
                <a:gd name="T0" fmla="*/ 137 w 173"/>
                <a:gd name="T1" fmla="*/ 0 h 207"/>
                <a:gd name="T2" fmla="*/ 135 w 173"/>
                <a:gd name="T3" fmla="*/ 0 h 207"/>
                <a:gd name="T4" fmla="*/ 134 w 173"/>
                <a:gd name="T5" fmla="*/ 1 h 207"/>
                <a:gd name="T6" fmla="*/ 51 w 173"/>
                <a:gd name="T7" fmla="*/ 71 h 207"/>
                <a:gd name="T8" fmla="*/ 42 w 173"/>
                <a:gd name="T9" fmla="*/ 81 h 207"/>
                <a:gd name="T10" fmla="*/ 1 w 173"/>
                <a:gd name="T11" fmla="*/ 140 h 207"/>
                <a:gd name="T12" fmla="*/ 35 w 173"/>
                <a:gd name="T13" fmla="*/ 185 h 207"/>
                <a:gd name="T14" fmla="*/ 84 w 173"/>
                <a:gd name="T15" fmla="*/ 201 h 207"/>
                <a:gd name="T16" fmla="*/ 89 w 173"/>
                <a:gd name="T17" fmla="*/ 165 h 207"/>
                <a:gd name="T18" fmla="*/ 89 w 173"/>
                <a:gd name="T19" fmla="*/ 150 h 207"/>
                <a:gd name="T20" fmla="*/ 105 w 173"/>
                <a:gd name="T21" fmla="*/ 140 h 207"/>
                <a:gd name="T22" fmla="*/ 103 w 173"/>
                <a:gd name="T23" fmla="*/ 136 h 207"/>
                <a:gd name="T24" fmla="*/ 103 w 173"/>
                <a:gd name="T25" fmla="*/ 133 h 207"/>
                <a:gd name="T26" fmla="*/ 103 w 173"/>
                <a:gd name="T27" fmla="*/ 133 h 207"/>
                <a:gd name="T28" fmla="*/ 137 w 173"/>
                <a:gd name="T29" fmla="*/ 133 h 207"/>
                <a:gd name="T30" fmla="*/ 138 w 173"/>
                <a:gd name="T31" fmla="*/ 132 h 207"/>
                <a:gd name="T32" fmla="*/ 148 w 173"/>
                <a:gd name="T33" fmla="*/ 98 h 207"/>
                <a:gd name="T34" fmla="*/ 147 w 173"/>
                <a:gd name="T35" fmla="*/ 96 h 207"/>
                <a:gd name="T36" fmla="*/ 141 w 173"/>
                <a:gd name="T37" fmla="*/ 80 h 207"/>
                <a:gd name="T38" fmla="*/ 145 w 173"/>
                <a:gd name="T39" fmla="*/ 78 h 207"/>
                <a:gd name="T40" fmla="*/ 150 w 173"/>
                <a:gd name="T41" fmla="*/ 78 h 207"/>
                <a:gd name="T42" fmla="*/ 173 w 173"/>
                <a:gd name="T43" fmla="*/ 55 h 207"/>
                <a:gd name="T44" fmla="*/ 159 w 173"/>
                <a:gd name="T45" fmla="*/ 8 h 207"/>
                <a:gd name="T46" fmla="*/ 137 w 173"/>
                <a:gd name="T47" fmla="*/ 0 h 207"/>
                <a:gd name="T48" fmla="*/ 153 w 173"/>
                <a:gd name="T49" fmla="*/ 14 h 207"/>
                <a:gd name="T50" fmla="*/ 165 w 173"/>
                <a:gd name="T51" fmla="*/ 55 h 207"/>
                <a:gd name="T52" fmla="*/ 149 w 173"/>
                <a:gd name="T53" fmla="*/ 69 h 207"/>
                <a:gd name="T54" fmla="*/ 144 w 173"/>
                <a:gd name="T55" fmla="*/ 70 h 207"/>
                <a:gd name="T56" fmla="*/ 133 w 173"/>
                <a:gd name="T57" fmla="*/ 76 h 207"/>
                <a:gd name="T58" fmla="*/ 132 w 173"/>
                <a:gd name="T59" fmla="*/ 81 h 207"/>
                <a:gd name="T60" fmla="*/ 139 w 173"/>
                <a:gd name="T61" fmla="*/ 100 h 207"/>
                <a:gd name="T62" fmla="*/ 141 w 173"/>
                <a:gd name="T63" fmla="*/ 102 h 207"/>
                <a:gd name="T64" fmla="*/ 142 w 173"/>
                <a:gd name="T65" fmla="*/ 108 h 207"/>
                <a:gd name="T66" fmla="*/ 133 w 173"/>
                <a:gd name="T67" fmla="*/ 124 h 207"/>
                <a:gd name="T68" fmla="*/ 103 w 173"/>
                <a:gd name="T69" fmla="*/ 124 h 207"/>
                <a:gd name="T70" fmla="*/ 96 w 173"/>
                <a:gd name="T71" fmla="*/ 128 h 207"/>
                <a:gd name="T72" fmla="*/ 94 w 173"/>
                <a:gd name="T73" fmla="*/ 133 h 207"/>
                <a:gd name="T74" fmla="*/ 95 w 173"/>
                <a:gd name="T75" fmla="*/ 136 h 207"/>
                <a:gd name="T76" fmla="*/ 80 w 173"/>
                <a:gd name="T77" fmla="*/ 145 h 207"/>
                <a:gd name="T78" fmla="*/ 80 w 173"/>
                <a:gd name="T79" fmla="*/ 147 h 207"/>
                <a:gd name="T80" fmla="*/ 80 w 173"/>
                <a:gd name="T81" fmla="*/ 163 h 207"/>
                <a:gd name="T82" fmla="*/ 78 w 173"/>
                <a:gd name="T83" fmla="*/ 195 h 207"/>
                <a:gd name="T84" fmla="*/ 40 w 173"/>
                <a:gd name="T85" fmla="*/ 177 h 207"/>
                <a:gd name="T86" fmla="*/ 10 w 173"/>
                <a:gd name="T87" fmla="*/ 139 h 207"/>
                <a:gd name="T88" fmla="*/ 10 w 173"/>
                <a:gd name="T89" fmla="*/ 139 h 207"/>
                <a:gd name="T90" fmla="*/ 49 w 173"/>
                <a:gd name="T91" fmla="*/ 87 h 207"/>
                <a:gd name="T92" fmla="*/ 58 w 173"/>
                <a:gd name="T93" fmla="*/ 77 h 207"/>
                <a:gd name="T94" fmla="*/ 139 w 173"/>
                <a:gd name="T95" fmla="*/ 9 h 207"/>
                <a:gd name="T96" fmla="*/ 153 w 173"/>
                <a:gd name="T97" fmla="*/ 14 h 2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173" h="207">
                  <a:moveTo>
                    <a:pt x="137" y="0"/>
                  </a:moveTo>
                  <a:cubicBezTo>
                    <a:pt x="135" y="0"/>
                    <a:pt x="135" y="0"/>
                    <a:pt x="135" y="0"/>
                  </a:cubicBezTo>
                  <a:cubicBezTo>
                    <a:pt x="134" y="1"/>
                    <a:pt x="134" y="1"/>
                    <a:pt x="134" y="1"/>
                  </a:cubicBezTo>
                  <a:cubicBezTo>
                    <a:pt x="132" y="3"/>
                    <a:pt x="68" y="52"/>
                    <a:pt x="51" y="71"/>
                  </a:cubicBezTo>
                  <a:cubicBezTo>
                    <a:pt x="42" y="81"/>
                    <a:pt x="42" y="81"/>
                    <a:pt x="42" y="81"/>
                  </a:cubicBezTo>
                  <a:cubicBezTo>
                    <a:pt x="18" y="107"/>
                    <a:pt x="0" y="128"/>
                    <a:pt x="1" y="140"/>
                  </a:cubicBezTo>
                  <a:cubicBezTo>
                    <a:pt x="3" y="155"/>
                    <a:pt x="25" y="179"/>
                    <a:pt x="35" y="185"/>
                  </a:cubicBezTo>
                  <a:cubicBezTo>
                    <a:pt x="64" y="202"/>
                    <a:pt x="78" y="207"/>
                    <a:pt x="84" y="201"/>
                  </a:cubicBezTo>
                  <a:cubicBezTo>
                    <a:pt x="88" y="197"/>
                    <a:pt x="89" y="180"/>
                    <a:pt x="89" y="165"/>
                  </a:cubicBezTo>
                  <a:cubicBezTo>
                    <a:pt x="89" y="159"/>
                    <a:pt x="89" y="154"/>
                    <a:pt x="89" y="150"/>
                  </a:cubicBezTo>
                  <a:cubicBezTo>
                    <a:pt x="92" y="148"/>
                    <a:pt x="105" y="140"/>
                    <a:pt x="105" y="140"/>
                  </a:cubicBezTo>
                  <a:cubicBezTo>
                    <a:pt x="103" y="136"/>
                    <a:pt x="103" y="136"/>
                    <a:pt x="103" y="136"/>
                  </a:cubicBezTo>
                  <a:cubicBezTo>
                    <a:pt x="103" y="135"/>
                    <a:pt x="103" y="134"/>
                    <a:pt x="103" y="133"/>
                  </a:cubicBezTo>
                  <a:cubicBezTo>
                    <a:pt x="103" y="133"/>
                    <a:pt x="103" y="133"/>
                    <a:pt x="103" y="133"/>
                  </a:cubicBezTo>
                  <a:cubicBezTo>
                    <a:pt x="137" y="133"/>
                    <a:pt x="137" y="133"/>
                    <a:pt x="137" y="133"/>
                  </a:cubicBezTo>
                  <a:cubicBezTo>
                    <a:pt x="138" y="132"/>
                    <a:pt x="138" y="132"/>
                    <a:pt x="138" y="132"/>
                  </a:cubicBezTo>
                  <a:cubicBezTo>
                    <a:pt x="145" y="127"/>
                    <a:pt x="156" y="113"/>
                    <a:pt x="148" y="98"/>
                  </a:cubicBezTo>
                  <a:cubicBezTo>
                    <a:pt x="147" y="96"/>
                    <a:pt x="147" y="96"/>
                    <a:pt x="147" y="96"/>
                  </a:cubicBezTo>
                  <a:cubicBezTo>
                    <a:pt x="144" y="90"/>
                    <a:pt x="140" y="82"/>
                    <a:pt x="141" y="80"/>
                  </a:cubicBezTo>
                  <a:cubicBezTo>
                    <a:pt x="141" y="79"/>
                    <a:pt x="142" y="79"/>
                    <a:pt x="145" y="78"/>
                  </a:cubicBezTo>
                  <a:cubicBezTo>
                    <a:pt x="150" y="78"/>
                    <a:pt x="150" y="78"/>
                    <a:pt x="150" y="78"/>
                  </a:cubicBezTo>
                  <a:cubicBezTo>
                    <a:pt x="161" y="77"/>
                    <a:pt x="173" y="75"/>
                    <a:pt x="173" y="55"/>
                  </a:cubicBezTo>
                  <a:cubicBezTo>
                    <a:pt x="173" y="40"/>
                    <a:pt x="171" y="19"/>
                    <a:pt x="159" y="8"/>
                  </a:cubicBezTo>
                  <a:cubicBezTo>
                    <a:pt x="153" y="2"/>
                    <a:pt x="146" y="0"/>
                    <a:pt x="137" y="0"/>
                  </a:cubicBezTo>
                  <a:close/>
                  <a:moveTo>
                    <a:pt x="153" y="14"/>
                  </a:moveTo>
                  <a:cubicBezTo>
                    <a:pt x="163" y="23"/>
                    <a:pt x="165" y="44"/>
                    <a:pt x="165" y="55"/>
                  </a:cubicBezTo>
                  <a:cubicBezTo>
                    <a:pt x="165" y="68"/>
                    <a:pt x="160" y="68"/>
                    <a:pt x="149" y="69"/>
                  </a:cubicBezTo>
                  <a:cubicBezTo>
                    <a:pt x="144" y="70"/>
                    <a:pt x="144" y="70"/>
                    <a:pt x="144" y="70"/>
                  </a:cubicBezTo>
                  <a:cubicBezTo>
                    <a:pt x="139" y="71"/>
                    <a:pt x="135" y="73"/>
                    <a:pt x="133" y="76"/>
                  </a:cubicBezTo>
                  <a:cubicBezTo>
                    <a:pt x="133" y="77"/>
                    <a:pt x="132" y="79"/>
                    <a:pt x="132" y="81"/>
                  </a:cubicBezTo>
                  <a:cubicBezTo>
                    <a:pt x="132" y="86"/>
                    <a:pt x="135" y="92"/>
                    <a:pt x="139" y="100"/>
                  </a:cubicBezTo>
                  <a:cubicBezTo>
                    <a:pt x="141" y="102"/>
                    <a:pt x="141" y="102"/>
                    <a:pt x="141" y="102"/>
                  </a:cubicBezTo>
                  <a:cubicBezTo>
                    <a:pt x="142" y="104"/>
                    <a:pt x="142" y="106"/>
                    <a:pt x="142" y="108"/>
                  </a:cubicBezTo>
                  <a:cubicBezTo>
                    <a:pt x="142" y="116"/>
                    <a:pt x="136" y="122"/>
                    <a:pt x="133" y="124"/>
                  </a:cubicBezTo>
                  <a:cubicBezTo>
                    <a:pt x="131" y="124"/>
                    <a:pt x="103" y="124"/>
                    <a:pt x="103" y="124"/>
                  </a:cubicBezTo>
                  <a:cubicBezTo>
                    <a:pt x="99" y="124"/>
                    <a:pt x="97" y="126"/>
                    <a:pt x="96" y="128"/>
                  </a:cubicBezTo>
                  <a:cubicBezTo>
                    <a:pt x="95" y="129"/>
                    <a:pt x="94" y="131"/>
                    <a:pt x="94" y="133"/>
                  </a:cubicBezTo>
                  <a:cubicBezTo>
                    <a:pt x="94" y="134"/>
                    <a:pt x="94" y="135"/>
                    <a:pt x="95" y="136"/>
                  </a:cubicBezTo>
                  <a:cubicBezTo>
                    <a:pt x="91" y="138"/>
                    <a:pt x="80" y="145"/>
                    <a:pt x="80" y="145"/>
                  </a:cubicBezTo>
                  <a:cubicBezTo>
                    <a:pt x="80" y="147"/>
                    <a:pt x="80" y="147"/>
                    <a:pt x="80" y="147"/>
                  </a:cubicBezTo>
                  <a:cubicBezTo>
                    <a:pt x="80" y="152"/>
                    <a:pt x="80" y="158"/>
                    <a:pt x="80" y="163"/>
                  </a:cubicBezTo>
                  <a:cubicBezTo>
                    <a:pt x="80" y="178"/>
                    <a:pt x="79" y="192"/>
                    <a:pt x="78" y="195"/>
                  </a:cubicBezTo>
                  <a:cubicBezTo>
                    <a:pt x="77" y="195"/>
                    <a:pt x="70" y="195"/>
                    <a:pt x="40" y="177"/>
                  </a:cubicBezTo>
                  <a:cubicBezTo>
                    <a:pt x="31" y="172"/>
                    <a:pt x="12" y="151"/>
                    <a:pt x="10" y="139"/>
                  </a:cubicBezTo>
                  <a:cubicBezTo>
                    <a:pt x="10" y="139"/>
                    <a:pt x="10" y="139"/>
                    <a:pt x="10" y="139"/>
                  </a:cubicBezTo>
                  <a:cubicBezTo>
                    <a:pt x="10" y="129"/>
                    <a:pt x="35" y="101"/>
                    <a:pt x="49" y="87"/>
                  </a:cubicBezTo>
                  <a:cubicBezTo>
                    <a:pt x="58" y="77"/>
                    <a:pt x="58" y="77"/>
                    <a:pt x="58" y="77"/>
                  </a:cubicBezTo>
                  <a:cubicBezTo>
                    <a:pt x="73" y="60"/>
                    <a:pt x="133" y="13"/>
                    <a:pt x="139" y="9"/>
                  </a:cubicBezTo>
                  <a:cubicBezTo>
                    <a:pt x="144" y="9"/>
                    <a:pt x="149" y="10"/>
                    <a:pt x="153"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44" name="Freeform 2098">
              <a:extLst>
                <a:ext uri="{FF2B5EF4-FFF2-40B4-BE49-F238E27FC236}">
                  <a16:creationId xmlns:a16="http://schemas.microsoft.com/office/drawing/2014/main" id="{6626B4A0-B23F-C4A2-E27E-A16D5AA109B4}"/>
                </a:ext>
              </a:extLst>
            </p:cNvPr>
            <p:cNvSpPr>
              <a:spLocks/>
            </p:cNvSpPr>
            <p:nvPr/>
          </p:nvSpPr>
          <p:spPr bwMode="auto">
            <a:xfrm>
              <a:off x="1845" y="4143"/>
              <a:ext cx="14" cy="9"/>
            </a:xfrm>
            <a:custGeom>
              <a:avLst/>
              <a:gdLst>
                <a:gd name="T0" fmla="*/ 26 w 63"/>
                <a:gd name="T1" fmla="*/ 0 h 37"/>
                <a:gd name="T2" fmla="*/ 13 w 63"/>
                <a:gd name="T3" fmla="*/ 30 h 37"/>
                <a:gd name="T4" fmla="*/ 52 w 63"/>
                <a:gd name="T5" fmla="*/ 28 h 37"/>
                <a:gd name="T6" fmla="*/ 54 w 63"/>
                <a:gd name="T7" fmla="*/ 4 h 37"/>
                <a:gd name="T8" fmla="*/ 26 w 63"/>
                <a:gd name="T9" fmla="*/ 0 h 37"/>
              </a:gdLst>
              <a:ahLst/>
              <a:cxnLst>
                <a:cxn ang="0">
                  <a:pos x="T0" y="T1"/>
                </a:cxn>
                <a:cxn ang="0">
                  <a:pos x="T2" y="T3"/>
                </a:cxn>
                <a:cxn ang="0">
                  <a:pos x="T4" y="T5"/>
                </a:cxn>
                <a:cxn ang="0">
                  <a:pos x="T6" y="T7"/>
                </a:cxn>
                <a:cxn ang="0">
                  <a:pos x="T8" y="T9"/>
                </a:cxn>
              </a:cxnLst>
              <a:rect l="0" t="0" r="r" b="b"/>
              <a:pathLst>
                <a:path w="63" h="37">
                  <a:moveTo>
                    <a:pt x="26" y="0"/>
                  </a:moveTo>
                  <a:cubicBezTo>
                    <a:pt x="26" y="0"/>
                    <a:pt x="0" y="22"/>
                    <a:pt x="13" y="30"/>
                  </a:cubicBezTo>
                  <a:cubicBezTo>
                    <a:pt x="26" y="37"/>
                    <a:pt x="52" y="28"/>
                    <a:pt x="52" y="28"/>
                  </a:cubicBezTo>
                  <a:cubicBezTo>
                    <a:pt x="52" y="28"/>
                    <a:pt x="63" y="5"/>
                    <a:pt x="54" y="4"/>
                  </a:cubicBezTo>
                  <a:cubicBezTo>
                    <a:pt x="45" y="2"/>
                    <a:pt x="26" y="0"/>
                    <a:pt x="26"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45" name="Freeform 2099">
              <a:extLst>
                <a:ext uri="{FF2B5EF4-FFF2-40B4-BE49-F238E27FC236}">
                  <a16:creationId xmlns:a16="http://schemas.microsoft.com/office/drawing/2014/main" id="{A67E023F-F134-B962-A976-F250C8BD6C26}"/>
                </a:ext>
              </a:extLst>
            </p:cNvPr>
            <p:cNvSpPr>
              <a:spLocks noEditPoints="1"/>
            </p:cNvSpPr>
            <p:nvPr/>
          </p:nvSpPr>
          <p:spPr bwMode="auto">
            <a:xfrm>
              <a:off x="1846" y="4142"/>
              <a:ext cx="14" cy="11"/>
            </a:xfrm>
            <a:custGeom>
              <a:avLst/>
              <a:gdLst>
                <a:gd name="T0" fmla="*/ 19 w 61"/>
                <a:gd name="T1" fmla="*/ 2 h 47"/>
                <a:gd name="T2" fmla="*/ 1 w 61"/>
                <a:gd name="T3" fmla="*/ 30 h 47"/>
                <a:gd name="T4" fmla="*/ 7 w 61"/>
                <a:gd name="T5" fmla="*/ 39 h 47"/>
                <a:gd name="T6" fmla="*/ 50 w 61"/>
                <a:gd name="T7" fmla="*/ 37 h 47"/>
                <a:gd name="T8" fmla="*/ 51 w 61"/>
                <a:gd name="T9" fmla="*/ 36 h 47"/>
                <a:gd name="T10" fmla="*/ 52 w 61"/>
                <a:gd name="T11" fmla="*/ 35 h 47"/>
                <a:gd name="T12" fmla="*/ 57 w 61"/>
                <a:gd name="T13" fmla="*/ 9 h 47"/>
                <a:gd name="T14" fmla="*/ 51 w 61"/>
                <a:gd name="T15" fmla="*/ 4 h 47"/>
                <a:gd name="T16" fmla="*/ 20 w 61"/>
                <a:gd name="T17" fmla="*/ 0 h 47"/>
                <a:gd name="T18" fmla="*/ 19 w 61"/>
                <a:gd name="T19" fmla="*/ 2 h 47"/>
                <a:gd name="T20" fmla="*/ 11 w 61"/>
                <a:gd name="T21" fmla="*/ 31 h 47"/>
                <a:gd name="T22" fmla="*/ 9 w 61"/>
                <a:gd name="T23" fmla="*/ 29 h 47"/>
                <a:gd name="T24" fmla="*/ 9 w 61"/>
                <a:gd name="T25" fmla="*/ 29 h 47"/>
                <a:gd name="T26" fmla="*/ 23 w 61"/>
                <a:gd name="T27" fmla="*/ 9 h 47"/>
                <a:gd name="T28" fmla="*/ 49 w 61"/>
                <a:gd name="T29" fmla="*/ 13 h 47"/>
                <a:gd name="T30" fmla="*/ 50 w 61"/>
                <a:gd name="T31" fmla="*/ 14 h 47"/>
                <a:gd name="T32" fmla="*/ 45 w 61"/>
                <a:gd name="T33" fmla="*/ 29 h 47"/>
                <a:gd name="T34" fmla="*/ 11 w 61"/>
                <a:gd name="T35" fmla="*/ 31 h 4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61" h="47">
                  <a:moveTo>
                    <a:pt x="19" y="2"/>
                  </a:moveTo>
                  <a:cubicBezTo>
                    <a:pt x="16" y="4"/>
                    <a:pt x="0" y="19"/>
                    <a:pt x="1" y="30"/>
                  </a:cubicBezTo>
                  <a:cubicBezTo>
                    <a:pt x="1" y="33"/>
                    <a:pt x="2" y="36"/>
                    <a:pt x="7" y="39"/>
                  </a:cubicBezTo>
                  <a:cubicBezTo>
                    <a:pt x="21" y="47"/>
                    <a:pt x="47" y="38"/>
                    <a:pt x="50" y="37"/>
                  </a:cubicBezTo>
                  <a:cubicBezTo>
                    <a:pt x="51" y="36"/>
                    <a:pt x="51" y="36"/>
                    <a:pt x="51" y="36"/>
                  </a:cubicBezTo>
                  <a:cubicBezTo>
                    <a:pt x="52" y="35"/>
                    <a:pt x="52" y="35"/>
                    <a:pt x="52" y="35"/>
                  </a:cubicBezTo>
                  <a:cubicBezTo>
                    <a:pt x="54" y="31"/>
                    <a:pt x="61" y="16"/>
                    <a:pt x="57" y="9"/>
                  </a:cubicBezTo>
                  <a:cubicBezTo>
                    <a:pt x="56" y="6"/>
                    <a:pt x="54" y="5"/>
                    <a:pt x="51" y="4"/>
                  </a:cubicBezTo>
                  <a:cubicBezTo>
                    <a:pt x="20" y="0"/>
                    <a:pt x="20" y="0"/>
                    <a:pt x="20" y="0"/>
                  </a:cubicBezTo>
                  <a:lnTo>
                    <a:pt x="19" y="2"/>
                  </a:lnTo>
                  <a:close/>
                  <a:moveTo>
                    <a:pt x="11" y="31"/>
                  </a:moveTo>
                  <a:cubicBezTo>
                    <a:pt x="10" y="30"/>
                    <a:pt x="9" y="30"/>
                    <a:pt x="9" y="29"/>
                  </a:cubicBezTo>
                  <a:cubicBezTo>
                    <a:pt x="9" y="29"/>
                    <a:pt x="9" y="29"/>
                    <a:pt x="9" y="29"/>
                  </a:cubicBezTo>
                  <a:cubicBezTo>
                    <a:pt x="9" y="24"/>
                    <a:pt x="17" y="15"/>
                    <a:pt x="23" y="9"/>
                  </a:cubicBezTo>
                  <a:cubicBezTo>
                    <a:pt x="27" y="10"/>
                    <a:pt x="49" y="13"/>
                    <a:pt x="49" y="13"/>
                  </a:cubicBezTo>
                  <a:cubicBezTo>
                    <a:pt x="49" y="13"/>
                    <a:pt x="50" y="14"/>
                    <a:pt x="50" y="14"/>
                  </a:cubicBezTo>
                  <a:cubicBezTo>
                    <a:pt x="50" y="17"/>
                    <a:pt x="48" y="24"/>
                    <a:pt x="45" y="29"/>
                  </a:cubicBezTo>
                  <a:cubicBezTo>
                    <a:pt x="37" y="32"/>
                    <a:pt x="20" y="36"/>
                    <a:pt x="11" y="3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46" name="Freeform 2100">
              <a:extLst>
                <a:ext uri="{FF2B5EF4-FFF2-40B4-BE49-F238E27FC236}">
                  <a16:creationId xmlns:a16="http://schemas.microsoft.com/office/drawing/2014/main" id="{567A71CF-0DA5-EF9D-8E16-79EEAABBEB0A}"/>
                </a:ext>
              </a:extLst>
            </p:cNvPr>
            <p:cNvSpPr>
              <a:spLocks/>
            </p:cNvSpPr>
            <p:nvPr/>
          </p:nvSpPr>
          <p:spPr bwMode="auto">
            <a:xfrm>
              <a:off x="1810" y="4150"/>
              <a:ext cx="7" cy="9"/>
            </a:xfrm>
            <a:custGeom>
              <a:avLst/>
              <a:gdLst>
                <a:gd name="T0" fmla="*/ 8 w 34"/>
                <a:gd name="T1" fmla="*/ 15 h 37"/>
                <a:gd name="T2" fmla="*/ 13 w 34"/>
                <a:gd name="T3" fmla="*/ 32 h 37"/>
                <a:gd name="T4" fmla="*/ 34 w 34"/>
                <a:gd name="T5" fmla="*/ 26 h 37"/>
                <a:gd name="T6" fmla="*/ 8 w 34"/>
                <a:gd name="T7" fmla="*/ 15 h 37"/>
              </a:gdLst>
              <a:ahLst/>
              <a:cxnLst>
                <a:cxn ang="0">
                  <a:pos x="T0" y="T1"/>
                </a:cxn>
                <a:cxn ang="0">
                  <a:pos x="T2" y="T3"/>
                </a:cxn>
                <a:cxn ang="0">
                  <a:pos x="T4" y="T5"/>
                </a:cxn>
                <a:cxn ang="0">
                  <a:pos x="T6" y="T7"/>
                </a:cxn>
              </a:cxnLst>
              <a:rect l="0" t="0" r="r" b="b"/>
              <a:pathLst>
                <a:path w="34" h="37">
                  <a:moveTo>
                    <a:pt x="8" y="15"/>
                  </a:moveTo>
                  <a:cubicBezTo>
                    <a:pt x="8" y="15"/>
                    <a:pt x="0" y="26"/>
                    <a:pt x="13" y="32"/>
                  </a:cubicBezTo>
                  <a:cubicBezTo>
                    <a:pt x="26" y="37"/>
                    <a:pt x="34" y="26"/>
                    <a:pt x="34" y="26"/>
                  </a:cubicBezTo>
                  <a:cubicBezTo>
                    <a:pt x="34" y="26"/>
                    <a:pt x="25" y="0"/>
                    <a:pt x="8"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47" name="Freeform 2101">
              <a:extLst>
                <a:ext uri="{FF2B5EF4-FFF2-40B4-BE49-F238E27FC236}">
                  <a16:creationId xmlns:a16="http://schemas.microsoft.com/office/drawing/2014/main" id="{9C32168D-2B81-3BB1-C60F-31C721CA6A92}"/>
                </a:ext>
              </a:extLst>
            </p:cNvPr>
            <p:cNvSpPr>
              <a:spLocks noEditPoints="1"/>
            </p:cNvSpPr>
            <p:nvPr/>
          </p:nvSpPr>
          <p:spPr bwMode="auto">
            <a:xfrm>
              <a:off x="1810" y="4152"/>
              <a:ext cx="8" cy="8"/>
            </a:xfrm>
            <a:custGeom>
              <a:avLst/>
              <a:gdLst>
                <a:gd name="T0" fmla="*/ 5 w 39"/>
                <a:gd name="T1" fmla="*/ 6 h 36"/>
                <a:gd name="T2" fmla="*/ 4 w 39"/>
                <a:gd name="T3" fmla="*/ 7 h 36"/>
                <a:gd name="T4" fmla="*/ 4 w 39"/>
                <a:gd name="T5" fmla="*/ 7 h 36"/>
                <a:gd name="T6" fmla="*/ 2 w 39"/>
                <a:gd name="T7" fmla="*/ 21 h 36"/>
                <a:gd name="T8" fmla="*/ 12 w 39"/>
                <a:gd name="T9" fmla="*/ 31 h 36"/>
                <a:gd name="T10" fmla="*/ 38 w 39"/>
                <a:gd name="T11" fmla="*/ 23 h 36"/>
                <a:gd name="T12" fmla="*/ 39 w 39"/>
                <a:gd name="T13" fmla="*/ 22 h 36"/>
                <a:gd name="T14" fmla="*/ 38 w 39"/>
                <a:gd name="T15" fmla="*/ 20 h 36"/>
                <a:gd name="T16" fmla="*/ 21 w 39"/>
                <a:gd name="T17" fmla="*/ 1 h 36"/>
                <a:gd name="T18" fmla="*/ 5 w 39"/>
                <a:gd name="T19" fmla="*/ 6 h 36"/>
                <a:gd name="T20" fmla="*/ 19 w 39"/>
                <a:gd name="T21" fmla="*/ 10 h 36"/>
                <a:gd name="T22" fmla="*/ 29 w 39"/>
                <a:gd name="T23" fmla="*/ 20 h 36"/>
                <a:gd name="T24" fmla="*/ 15 w 39"/>
                <a:gd name="T25" fmla="*/ 23 h 36"/>
                <a:gd name="T26" fmla="*/ 10 w 39"/>
                <a:gd name="T27" fmla="*/ 18 h 36"/>
                <a:gd name="T28" fmla="*/ 10 w 39"/>
                <a:gd name="T29" fmla="*/ 17 h 36"/>
                <a:gd name="T30" fmla="*/ 11 w 39"/>
                <a:gd name="T31" fmla="*/ 13 h 36"/>
                <a:gd name="T32" fmla="*/ 19 w 39"/>
                <a:gd name="T33" fmla="*/ 10 h 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9" h="36">
                  <a:moveTo>
                    <a:pt x="5" y="6"/>
                  </a:moveTo>
                  <a:cubicBezTo>
                    <a:pt x="4" y="7"/>
                    <a:pt x="4" y="7"/>
                    <a:pt x="4" y="7"/>
                  </a:cubicBezTo>
                  <a:cubicBezTo>
                    <a:pt x="4" y="7"/>
                    <a:pt x="4" y="7"/>
                    <a:pt x="4" y="7"/>
                  </a:cubicBezTo>
                  <a:cubicBezTo>
                    <a:pt x="4" y="8"/>
                    <a:pt x="0" y="14"/>
                    <a:pt x="2" y="21"/>
                  </a:cubicBezTo>
                  <a:cubicBezTo>
                    <a:pt x="3" y="25"/>
                    <a:pt x="6" y="28"/>
                    <a:pt x="12" y="31"/>
                  </a:cubicBezTo>
                  <a:cubicBezTo>
                    <a:pt x="25" y="36"/>
                    <a:pt x="34" y="28"/>
                    <a:pt x="38" y="23"/>
                  </a:cubicBezTo>
                  <a:cubicBezTo>
                    <a:pt x="39" y="22"/>
                    <a:pt x="39" y="22"/>
                    <a:pt x="39" y="22"/>
                  </a:cubicBezTo>
                  <a:cubicBezTo>
                    <a:pt x="38" y="20"/>
                    <a:pt x="38" y="20"/>
                    <a:pt x="38" y="20"/>
                  </a:cubicBezTo>
                  <a:cubicBezTo>
                    <a:pt x="37" y="18"/>
                    <a:pt x="32" y="4"/>
                    <a:pt x="21" y="1"/>
                  </a:cubicBezTo>
                  <a:cubicBezTo>
                    <a:pt x="16" y="0"/>
                    <a:pt x="10" y="2"/>
                    <a:pt x="5" y="6"/>
                  </a:cubicBezTo>
                  <a:close/>
                  <a:moveTo>
                    <a:pt x="19" y="10"/>
                  </a:moveTo>
                  <a:cubicBezTo>
                    <a:pt x="24" y="11"/>
                    <a:pt x="27" y="16"/>
                    <a:pt x="29" y="20"/>
                  </a:cubicBezTo>
                  <a:cubicBezTo>
                    <a:pt x="27" y="22"/>
                    <a:pt x="22" y="26"/>
                    <a:pt x="15" y="23"/>
                  </a:cubicBezTo>
                  <a:cubicBezTo>
                    <a:pt x="12" y="21"/>
                    <a:pt x="11" y="20"/>
                    <a:pt x="10" y="18"/>
                  </a:cubicBezTo>
                  <a:cubicBezTo>
                    <a:pt x="10" y="18"/>
                    <a:pt x="10" y="17"/>
                    <a:pt x="10" y="17"/>
                  </a:cubicBezTo>
                  <a:cubicBezTo>
                    <a:pt x="10" y="15"/>
                    <a:pt x="11" y="14"/>
                    <a:pt x="11" y="13"/>
                  </a:cubicBezTo>
                  <a:cubicBezTo>
                    <a:pt x="14" y="10"/>
                    <a:pt x="17" y="9"/>
                    <a:pt x="19"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48" name="Freeform 2102">
              <a:extLst>
                <a:ext uri="{FF2B5EF4-FFF2-40B4-BE49-F238E27FC236}">
                  <a16:creationId xmlns:a16="http://schemas.microsoft.com/office/drawing/2014/main" id="{4DC1607D-4E7E-E05D-D538-F3DF29FB9E63}"/>
                </a:ext>
              </a:extLst>
            </p:cNvPr>
            <p:cNvSpPr>
              <a:spLocks/>
            </p:cNvSpPr>
            <p:nvPr/>
          </p:nvSpPr>
          <p:spPr bwMode="auto">
            <a:xfrm>
              <a:off x="1839" y="4153"/>
              <a:ext cx="8" cy="5"/>
            </a:xfrm>
            <a:custGeom>
              <a:avLst/>
              <a:gdLst>
                <a:gd name="T0" fmla="*/ 4 w 38"/>
                <a:gd name="T1" fmla="*/ 0 h 22"/>
                <a:gd name="T2" fmla="*/ 3 w 38"/>
                <a:gd name="T3" fmla="*/ 6 h 22"/>
                <a:gd name="T4" fmla="*/ 6 w 38"/>
                <a:gd name="T5" fmla="*/ 22 h 22"/>
                <a:gd name="T6" fmla="*/ 4 w 38"/>
                <a:gd name="T7" fmla="*/ 0 h 22"/>
              </a:gdLst>
              <a:ahLst/>
              <a:cxnLst>
                <a:cxn ang="0">
                  <a:pos x="T0" y="T1"/>
                </a:cxn>
                <a:cxn ang="0">
                  <a:pos x="T2" y="T3"/>
                </a:cxn>
                <a:cxn ang="0">
                  <a:pos x="T4" y="T5"/>
                </a:cxn>
                <a:cxn ang="0">
                  <a:pos x="T6" y="T7"/>
                </a:cxn>
              </a:cxnLst>
              <a:rect l="0" t="0" r="r" b="b"/>
              <a:pathLst>
                <a:path w="38" h="22">
                  <a:moveTo>
                    <a:pt x="4" y="0"/>
                  </a:moveTo>
                  <a:cubicBezTo>
                    <a:pt x="4" y="0"/>
                    <a:pt x="3" y="3"/>
                    <a:pt x="3" y="6"/>
                  </a:cubicBezTo>
                  <a:cubicBezTo>
                    <a:pt x="1" y="13"/>
                    <a:pt x="0" y="22"/>
                    <a:pt x="6" y="22"/>
                  </a:cubicBezTo>
                  <a:cubicBezTo>
                    <a:pt x="16" y="22"/>
                    <a:pt x="38" y="4"/>
                    <a:pt x="4"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49" name="Freeform 2103">
              <a:extLst>
                <a:ext uri="{FF2B5EF4-FFF2-40B4-BE49-F238E27FC236}">
                  <a16:creationId xmlns:a16="http://schemas.microsoft.com/office/drawing/2014/main" id="{03A6B2D2-045C-30B5-9EB0-18708ADB4B86}"/>
                </a:ext>
              </a:extLst>
            </p:cNvPr>
            <p:cNvSpPr>
              <a:spLocks noEditPoints="1"/>
            </p:cNvSpPr>
            <p:nvPr/>
          </p:nvSpPr>
          <p:spPr bwMode="auto">
            <a:xfrm>
              <a:off x="1838" y="4152"/>
              <a:ext cx="7" cy="7"/>
            </a:xfrm>
            <a:custGeom>
              <a:avLst/>
              <a:gdLst>
                <a:gd name="T0" fmla="*/ 2 w 31"/>
                <a:gd name="T1" fmla="*/ 10 h 32"/>
                <a:gd name="T2" fmla="*/ 4 w 31"/>
                <a:gd name="T3" fmla="*/ 29 h 32"/>
                <a:gd name="T4" fmla="*/ 10 w 31"/>
                <a:gd name="T5" fmla="*/ 32 h 32"/>
                <a:gd name="T6" fmla="*/ 31 w 31"/>
                <a:gd name="T7" fmla="*/ 15 h 32"/>
                <a:gd name="T8" fmla="*/ 9 w 31"/>
                <a:gd name="T9" fmla="*/ 1 h 32"/>
                <a:gd name="T10" fmla="*/ 5 w 31"/>
                <a:gd name="T11" fmla="*/ 0 h 32"/>
                <a:gd name="T12" fmla="*/ 2 w 31"/>
                <a:gd name="T13" fmla="*/ 10 h 32"/>
                <a:gd name="T14" fmla="*/ 10 w 31"/>
                <a:gd name="T15" fmla="*/ 20 h 32"/>
                <a:gd name="T16" fmla="*/ 11 w 31"/>
                <a:gd name="T17" fmla="*/ 12 h 32"/>
                <a:gd name="T18" fmla="*/ 11 w 31"/>
                <a:gd name="T19" fmla="*/ 10 h 32"/>
                <a:gd name="T20" fmla="*/ 22 w 31"/>
                <a:gd name="T21" fmla="*/ 14 h 32"/>
                <a:gd name="T22" fmla="*/ 22 w 31"/>
                <a:gd name="T23" fmla="*/ 14 h 32"/>
                <a:gd name="T24" fmla="*/ 10 w 31"/>
                <a:gd name="T25" fmla="*/ 23 h 32"/>
                <a:gd name="T26" fmla="*/ 10 w 31"/>
                <a:gd name="T27" fmla="*/ 20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31" h="32">
                  <a:moveTo>
                    <a:pt x="2" y="10"/>
                  </a:moveTo>
                  <a:cubicBezTo>
                    <a:pt x="0" y="19"/>
                    <a:pt x="1" y="25"/>
                    <a:pt x="4" y="29"/>
                  </a:cubicBezTo>
                  <a:cubicBezTo>
                    <a:pt x="5" y="31"/>
                    <a:pt x="8" y="32"/>
                    <a:pt x="10" y="32"/>
                  </a:cubicBezTo>
                  <a:cubicBezTo>
                    <a:pt x="18" y="32"/>
                    <a:pt x="30" y="24"/>
                    <a:pt x="31" y="15"/>
                  </a:cubicBezTo>
                  <a:cubicBezTo>
                    <a:pt x="31" y="9"/>
                    <a:pt x="27" y="3"/>
                    <a:pt x="9" y="1"/>
                  </a:cubicBezTo>
                  <a:cubicBezTo>
                    <a:pt x="5" y="0"/>
                    <a:pt x="5" y="0"/>
                    <a:pt x="5" y="0"/>
                  </a:cubicBezTo>
                  <a:lnTo>
                    <a:pt x="2" y="10"/>
                  </a:lnTo>
                  <a:close/>
                  <a:moveTo>
                    <a:pt x="10" y="20"/>
                  </a:moveTo>
                  <a:cubicBezTo>
                    <a:pt x="10" y="18"/>
                    <a:pt x="10" y="16"/>
                    <a:pt x="11" y="12"/>
                  </a:cubicBezTo>
                  <a:cubicBezTo>
                    <a:pt x="11" y="12"/>
                    <a:pt x="11" y="11"/>
                    <a:pt x="11" y="10"/>
                  </a:cubicBezTo>
                  <a:cubicBezTo>
                    <a:pt x="20" y="11"/>
                    <a:pt x="22" y="13"/>
                    <a:pt x="22" y="14"/>
                  </a:cubicBezTo>
                  <a:cubicBezTo>
                    <a:pt x="22" y="14"/>
                    <a:pt x="22" y="14"/>
                    <a:pt x="22" y="14"/>
                  </a:cubicBezTo>
                  <a:cubicBezTo>
                    <a:pt x="22" y="18"/>
                    <a:pt x="14" y="23"/>
                    <a:pt x="10" y="23"/>
                  </a:cubicBezTo>
                  <a:cubicBezTo>
                    <a:pt x="10" y="23"/>
                    <a:pt x="10" y="22"/>
                    <a:pt x="10"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50" name="Freeform 2104">
              <a:extLst>
                <a:ext uri="{FF2B5EF4-FFF2-40B4-BE49-F238E27FC236}">
                  <a16:creationId xmlns:a16="http://schemas.microsoft.com/office/drawing/2014/main" id="{5131E914-DC9E-BCFE-2CCE-AEA1483E1890}"/>
                </a:ext>
              </a:extLst>
            </p:cNvPr>
            <p:cNvSpPr>
              <a:spLocks/>
            </p:cNvSpPr>
            <p:nvPr/>
          </p:nvSpPr>
          <p:spPr bwMode="auto">
            <a:xfrm>
              <a:off x="1862" y="4138"/>
              <a:ext cx="8" cy="6"/>
            </a:xfrm>
            <a:custGeom>
              <a:avLst/>
              <a:gdLst>
                <a:gd name="T0" fmla="*/ 20 w 34"/>
                <a:gd name="T1" fmla="*/ 0 h 27"/>
                <a:gd name="T2" fmla="*/ 15 w 34"/>
                <a:gd name="T3" fmla="*/ 23 h 27"/>
                <a:gd name="T4" fmla="*/ 34 w 34"/>
                <a:gd name="T5" fmla="*/ 13 h 27"/>
                <a:gd name="T6" fmla="*/ 20 w 34"/>
                <a:gd name="T7" fmla="*/ 0 h 27"/>
              </a:gdLst>
              <a:ahLst/>
              <a:cxnLst>
                <a:cxn ang="0">
                  <a:pos x="T0" y="T1"/>
                </a:cxn>
                <a:cxn ang="0">
                  <a:pos x="T2" y="T3"/>
                </a:cxn>
                <a:cxn ang="0">
                  <a:pos x="T4" y="T5"/>
                </a:cxn>
                <a:cxn ang="0">
                  <a:pos x="T6" y="T7"/>
                </a:cxn>
              </a:cxnLst>
              <a:rect l="0" t="0" r="r" b="b"/>
              <a:pathLst>
                <a:path w="34" h="27">
                  <a:moveTo>
                    <a:pt x="20" y="0"/>
                  </a:moveTo>
                  <a:cubicBezTo>
                    <a:pt x="20" y="0"/>
                    <a:pt x="0" y="19"/>
                    <a:pt x="15" y="23"/>
                  </a:cubicBezTo>
                  <a:cubicBezTo>
                    <a:pt x="30" y="27"/>
                    <a:pt x="34" y="13"/>
                    <a:pt x="34" y="13"/>
                  </a:cubicBezTo>
                  <a:cubicBezTo>
                    <a:pt x="34" y="13"/>
                    <a:pt x="32" y="0"/>
                    <a:pt x="20"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51" name="Freeform 2105">
              <a:extLst>
                <a:ext uri="{FF2B5EF4-FFF2-40B4-BE49-F238E27FC236}">
                  <a16:creationId xmlns:a16="http://schemas.microsoft.com/office/drawing/2014/main" id="{49CB1E33-B4A2-69B3-6680-4CCDD75DE871}"/>
                </a:ext>
              </a:extLst>
            </p:cNvPr>
            <p:cNvSpPr>
              <a:spLocks noEditPoints="1"/>
            </p:cNvSpPr>
            <p:nvPr/>
          </p:nvSpPr>
          <p:spPr bwMode="auto">
            <a:xfrm>
              <a:off x="1863" y="4137"/>
              <a:ext cx="7" cy="8"/>
            </a:xfrm>
            <a:custGeom>
              <a:avLst/>
              <a:gdLst>
                <a:gd name="T0" fmla="*/ 16 w 35"/>
                <a:gd name="T1" fmla="*/ 0 h 35"/>
                <a:gd name="T2" fmla="*/ 14 w 35"/>
                <a:gd name="T3" fmla="*/ 1 h 35"/>
                <a:gd name="T4" fmla="*/ 2 w 35"/>
                <a:gd name="T5" fmla="*/ 24 h 35"/>
                <a:gd name="T6" fmla="*/ 11 w 35"/>
                <a:gd name="T7" fmla="*/ 31 h 35"/>
                <a:gd name="T8" fmla="*/ 35 w 35"/>
                <a:gd name="T9" fmla="*/ 19 h 35"/>
                <a:gd name="T10" fmla="*/ 35 w 35"/>
                <a:gd name="T11" fmla="*/ 18 h 35"/>
                <a:gd name="T12" fmla="*/ 35 w 35"/>
                <a:gd name="T13" fmla="*/ 17 h 35"/>
                <a:gd name="T14" fmla="*/ 17 w 35"/>
                <a:gd name="T15" fmla="*/ 0 h 35"/>
                <a:gd name="T16" fmla="*/ 16 w 35"/>
                <a:gd name="T17" fmla="*/ 0 h 35"/>
                <a:gd name="T18" fmla="*/ 13 w 35"/>
                <a:gd name="T19" fmla="*/ 23 h 35"/>
                <a:gd name="T20" fmla="*/ 11 w 35"/>
                <a:gd name="T21" fmla="*/ 21 h 35"/>
                <a:gd name="T22" fmla="*/ 11 w 35"/>
                <a:gd name="T23" fmla="*/ 21 h 35"/>
                <a:gd name="T24" fmla="*/ 19 w 35"/>
                <a:gd name="T25" fmla="*/ 9 h 35"/>
                <a:gd name="T26" fmla="*/ 26 w 35"/>
                <a:gd name="T27" fmla="*/ 17 h 35"/>
                <a:gd name="T28" fmla="*/ 13 w 35"/>
                <a:gd name="T29" fmla="*/ 23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5" h="35">
                  <a:moveTo>
                    <a:pt x="16" y="0"/>
                  </a:moveTo>
                  <a:cubicBezTo>
                    <a:pt x="14" y="1"/>
                    <a:pt x="14" y="1"/>
                    <a:pt x="14" y="1"/>
                  </a:cubicBezTo>
                  <a:cubicBezTo>
                    <a:pt x="11" y="4"/>
                    <a:pt x="0" y="15"/>
                    <a:pt x="2" y="24"/>
                  </a:cubicBezTo>
                  <a:cubicBezTo>
                    <a:pt x="3" y="26"/>
                    <a:pt x="5" y="30"/>
                    <a:pt x="11" y="31"/>
                  </a:cubicBezTo>
                  <a:cubicBezTo>
                    <a:pt x="26" y="35"/>
                    <a:pt x="33" y="25"/>
                    <a:pt x="35" y="19"/>
                  </a:cubicBezTo>
                  <a:cubicBezTo>
                    <a:pt x="35" y="18"/>
                    <a:pt x="35" y="18"/>
                    <a:pt x="35" y="18"/>
                  </a:cubicBezTo>
                  <a:cubicBezTo>
                    <a:pt x="35" y="17"/>
                    <a:pt x="35" y="17"/>
                    <a:pt x="35" y="17"/>
                  </a:cubicBezTo>
                  <a:cubicBezTo>
                    <a:pt x="34" y="11"/>
                    <a:pt x="29" y="0"/>
                    <a:pt x="17" y="0"/>
                  </a:cubicBezTo>
                  <a:lnTo>
                    <a:pt x="16" y="0"/>
                  </a:lnTo>
                  <a:close/>
                  <a:moveTo>
                    <a:pt x="13" y="23"/>
                  </a:moveTo>
                  <a:cubicBezTo>
                    <a:pt x="11" y="22"/>
                    <a:pt x="11" y="22"/>
                    <a:pt x="11" y="21"/>
                  </a:cubicBezTo>
                  <a:cubicBezTo>
                    <a:pt x="11" y="21"/>
                    <a:pt x="11" y="21"/>
                    <a:pt x="11" y="21"/>
                  </a:cubicBezTo>
                  <a:cubicBezTo>
                    <a:pt x="11" y="19"/>
                    <a:pt x="14" y="14"/>
                    <a:pt x="19" y="9"/>
                  </a:cubicBezTo>
                  <a:cubicBezTo>
                    <a:pt x="24" y="10"/>
                    <a:pt x="26" y="15"/>
                    <a:pt x="26" y="17"/>
                  </a:cubicBezTo>
                  <a:cubicBezTo>
                    <a:pt x="25" y="19"/>
                    <a:pt x="22" y="25"/>
                    <a:pt x="13" y="2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52" name="Freeform 2106">
              <a:extLst>
                <a:ext uri="{FF2B5EF4-FFF2-40B4-BE49-F238E27FC236}">
                  <a16:creationId xmlns:a16="http://schemas.microsoft.com/office/drawing/2014/main" id="{3CD7F21F-FC86-F40E-0557-CFFFC2D77235}"/>
                </a:ext>
              </a:extLst>
            </p:cNvPr>
            <p:cNvSpPr>
              <a:spLocks/>
            </p:cNvSpPr>
            <p:nvPr/>
          </p:nvSpPr>
          <p:spPr bwMode="auto">
            <a:xfrm>
              <a:off x="1864" y="4109"/>
              <a:ext cx="8" cy="5"/>
            </a:xfrm>
            <a:custGeom>
              <a:avLst/>
              <a:gdLst>
                <a:gd name="T0" fmla="*/ 15 w 34"/>
                <a:gd name="T1" fmla="*/ 0 h 19"/>
                <a:gd name="T2" fmla="*/ 17 w 34"/>
                <a:gd name="T3" fmla="*/ 17 h 19"/>
                <a:gd name="T4" fmla="*/ 32 w 34"/>
                <a:gd name="T5" fmla="*/ 0 h 19"/>
                <a:gd name="T6" fmla="*/ 15 w 34"/>
                <a:gd name="T7" fmla="*/ 0 h 19"/>
              </a:gdLst>
              <a:ahLst/>
              <a:cxnLst>
                <a:cxn ang="0">
                  <a:pos x="T0" y="T1"/>
                </a:cxn>
                <a:cxn ang="0">
                  <a:pos x="T2" y="T3"/>
                </a:cxn>
                <a:cxn ang="0">
                  <a:pos x="T4" y="T5"/>
                </a:cxn>
                <a:cxn ang="0">
                  <a:pos x="T6" y="T7"/>
                </a:cxn>
              </a:cxnLst>
              <a:rect l="0" t="0" r="r" b="b"/>
              <a:pathLst>
                <a:path w="34" h="19">
                  <a:moveTo>
                    <a:pt x="15" y="0"/>
                  </a:moveTo>
                  <a:cubicBezTo>
                    <a:pt x="15" y="0"/>
                    <a:pt x="0" y="15"/>
                    <a:pt x="17" y="17"/>
                  </a:cubicBezTo>
                  <a:cubicBezTo>
                    <a:pt x="34" y="19"/>
                    <a:pt x="32" y="0"/>
                    <a:pt x="32" y="0"/>
                  </a:cubicBezTo>
                  <a:cubicBezTo>
                    <a:pt x="32" y="0"/>
                    <a:pt x="21" y="2"/>
                    <a:pt x="15"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53" name="Freeform 2107">
              <a:extLst>
                <a:ext uri="{FF2B5EF4-FFF2-40B4-BE49-F238E27FC236}">
                  <a16:creationId xmlns:a16="http://schemas.microsoft.com/office/drawing/2014/main" id="{ED2B63A8-D795-269A-1A45-0F9D7EE4CFEF}"/>
                </a:ext>
              </a:extLst>
            </p:cNvPr>
            <p:cNvSpPr>
              <a:spLocks noEditPoints="1"/>
            </p:cNvSpPr>
            <p:nvPr/>
          </p:nvSpPr>
          <p:spPr bwMode="auto">
            <a:xfrm>
              <a:off x="1865" y="4108"/>
              <a:ext cx="7" cy="6"/>
            </a:xfrm>
            <a:custGeom>
              <a:avLst/>
              <a:gdLst>
                <a:gd name="T0" fmla="*/ 28 w 34"/>
                <a:gd name="T1" fmla="*/ 1 h 27"/>
                <a:gd name="T2" fmla="*/ 14 w 34"/>
                <a:gd name="T3" fmla="*/ 1 h 27"/>
                <a:gd name="T4" fmla="*/ 11 w 34"/>
                <a:gd name="T5" fmla="*/ 0 h 27"/>
                <a:gd name="T6" fmla="*/ 9 w 34"/>
                <a:gd name="T7" fmla="*/ 2 h 27"/>
                <a:gd name="T8" fmla="*/ 2 w 34"/>
                <a:gd name="T9" fmla="*/ 19 h 27"/>
                <a:gd name="T10" fmla="*/ 14 w 34"/>
                <a:gd name="T11" fmla="*/ 26 h 27"/>
                <a:gd name="T12" fmla="*/ 28 w 34"/>
                <a:gd name="T13" fmla="*/ 22 h 27"/>
                <a:gd name="T14" fmla="*/ 33 w 34"/>
                <a:gd name="T15" fmla="*/ 4 h 27"/>
                <a:gd name="T16" fmla="*/ 33 w 34"/>
                <a:gd name="T17" fmla="*/ 0 h 27"/>
                <a:gd name="T18" fmla="*/ 28 w 34"/>
                <a:gd name="T19" fmla="*/ 1 h 27"/>
                <a:gd name="T20" fmla="*/ 14 w 34"/>
                <a:gd name="T21" fmla="*/ 17 h 27"/>
                <a:gd name="T22" fmla="*/ 10 w 34"/>
                <a:gd name="T23" fmla="*/ 16 h 27"/>
                <a:gd name="T24" fmla="*/ 10 w 34"/>
                <a:gd name="T25" fmla="*/ 16 h 27"/>
                <a:gd name="T26" fmla="*/ 14 w 34"/>
                <a:gd name="T27" fmla="*/ 9 h 27"/>
                <a:gd name="T28" fmla="*/ 24 w 34"/>
                <a:gd name="T29" fmla="*/ 10 h 27"/>
                <a:gd name="T30" fmla="*/ 22 w 34"/>
                <a:gd name="T31" fmla="*/ 16 h 27"/>
                <a:gd name="T32" fmla="*/ 14 w 34"/>
                <a:gd name="T33" fmla="*/ 17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34" h="27">
                  <a:moveTo>
                    <a:pt x="28" y="1"/>
                  </a:moveTo>
                  <a:cubicBezTo>
                    <a:pt x="24" y="1"/>
                    <a:pt x="17" y="2"/>
                    <a:pt x="14" y="1"/>
                  </a:cubicBezTo>
                  <a:cubicBezTo>
                    <a:pt x="11" y="0"/>
                    <a:pt x="11" y="0"/>
                    <a:pt x="11" y="0"/>
                  </a:cubicBezTo>
                  <a:cubicBezTo>
                    <a:pt x="9" y="2"/>
                    <a:pt x="9" y="2"/>
                    <a:pt x="9" y="2"/>
                  </a:cubicBezTo>
                  <a:cubicBezTo>
                    <a:pt x="7" y="3"/>
                    <a:pt x="0" y="12"/>
                    <a:pt x="2" y="19"/>
                  </a:cubicBezTo>
                  <a:cubicBezTo>
                    <a:pt x="4" y="23"/>
                    <a:pt x="7" y="25"/>
                    <a:pt x="14" y="26"/>
                  </a:cubicBezTo>
                  <a:cubicBezTo>
                    <a:pt x="21" y="27"/>
                    <a:pt x="26" y="24"/>
                    <a:pt x="28" y="22"/>
                  </a:cubicBezTo>
                  <a:cubicBezTo>
                    <a:pt x="34" y="16"/>
                    <a:pt x="33" y="6"/>
                    <a:pt x="33" y="4"/>
                  </a:cubicBezTo>
                  <a:cubicBezTo>
                    <a:pt x="33" y="0"/>
                    <a:pt x="33" y="0"/>
                    <a:pt x="33" y="0"/>
                  </a:cubicBezTo>
                  <a:lnTo>
                    <a:pt x="28" y="1"/>
                  </a:lnTo>
                  <a:close/>
                  <a:moveTo>
                    <a:pt x="14" y="17"/>
                  </a:moveTo>
                  <a:cubicBezTo>
                    <a:pt x="11" y="17"/>
                    <a:pt x="10" y="16"/>
                    <a:pt x="10" y="16"/>
                  </a:cubicBezTo>
                  <a:cubicBezTo>
                    <a:pt x="10" y="16"/>
                    <a:pt x="10" y="16"/>
                    <a:pt x="10" y="16"/>
                  </a:cubicBezTo>
                  <a:cubicBezTo>
                    <a:pt x="10" y="15"/>
                    <a:pt x="12" y="12"/>
                    <a:pt x="14" y="9"/>
                  </a:cubicBezTo>
                  <a:cubicBezTo>
                    <a:pt x="18" y="10"/>
                    <a:pt x="21" y="10"/>
                    <a:pt x="24" y="10"/>
                  </a:cubicBezTo>
                  <a:cubicBezTo>
                    <a:pt x="24" y="12"/>
                    <a:pt x="23" y="14"/>
                    <a:pt x="22" y="16"/>
                  </a:cubicBezTo>
                  <a:cubicBezTo>
                    <a:pt x="20" y="17"/>
                    <a:pt x="18" y="18"/>
                    <a:pt x="14"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54" name="Freeform 2108">
              <a:extLst>
                <a:ext uri="{FF2B5EF4-FFF2-40B4-BE49-F238E27FC236}">
                  <a16:creationId xmlns:a16="http://schemas.microsoft.com/office/drawing/2014/main" id="{74F0060A-995B-F987-2A23-DFA48E5F0A84}"/>
                </a:ext>
              </a:extLst>
            </p:cNvPr>
            <p:cNvSpPr>
              <a:spLocks/>
            </p:cNvSpPr>
            <p:nvPr/>
          </p:nvSpPr>
          <p:spPr bwMode="auto">
            <a:xfrm>
              <a:off x="2471" y="3617"/>
              <a:ext cx="11" cy="20"/>
            </a:xfrm>
            <a:custGeom>
              <a:avLst/>
              <a:gdLst>
                <a:gd name="T0" fmla="*/ 11 w 49"/>
                <a:gd name="T1" fmla="*/ 0 h 90"/>
                <a:gd name="T2" fmla="*/ 2 w 49"/>
                <a:gd name="T3" fmla="*/ 40 h 90"/>
                <a:gd name="T4" fmla="*/ 26 w 49"/>
                <a:gd name="T5" fmla="*/ 72 h 90"/>
                <a:gd name="T6" fmla="*/ 39 w 49"/>
                <a:gd name="T7" fmla="*/ 90 h 90"/>
                <a:gd name="T8" fmla="*/ 49 w 49"/>
                <a:gd name="T9" fmla="*/ 68 h 90"/>
                <a:gd name="T10" fmla="*/ 49 w 49"/>
                <a:gd name="T11" fmla="*/ 60 h 90"/>
                <a:gd name="T12" fmla="*/ 11 w 49"/>
                <a:gd name="T13" fmla="*/ 0 h 90"/>
              </a:gdLst>
              <a:ahLst/>
              <a:cxnLst>
                <a:cxn ang="0">
                  <a:pos x="T0" y="T1"/>
                </a:cxn>
                <a:cxn ang="0">
                  <a:pos x="T2" y="T3"/>
                </a:cxn>
                <a:cxn ang="0">
                  <a:pos x="T4" y="T5"/>
                </a:cxn>
                <a:cxn ang="0">
                  <a:pos x="T6" y="T7"/>
                </a:cxn>
                <a:cxn ang="0">
                  <a:pos x="T8" y="T9"/>
                </a:cxn>
                <a:cxn ang="0">
                  <a:pos x="T10" y="T11"/>
                </a:cxn>
                <a:cxn ang="0">
                  <a:pos x="T12" y="T13"/>
                </a:cxn>
              </a:cxnLst>
              <a:rect l="0" t="0" r="r" b="b"/>
              <a:pathLst>
                <a:path w="49" h="90">
                  <a:moveTo>
                    <a:pt x="11" y="0"/>
                  </a:moveTo>
                  <a:cubicBezTo>
                    <a:pt x="11" y="0"/>
                    <a:pt x="0" y="27"/>
                    <a:pt x="2" y="40"/>
                  </a:cubicBezTo>
                  <a:cubicBezTo>
                    <a:pt x="3" y="53"/>
                    <a:pt x="20" y="64"/>
                    <a:pt x="26" y="72"/>
                  </a:cubicBezTo>
                  <a:cubicBezTo>
                    <a:pt x="32" y="79"/>
                    <a:pt x="32" y="90"/>
                    <a:pt x="39" y="90"/>
                  </a:cubicBezTo>
                  <a:cubicBezTo>
                    <a:pt x="47" y="90"/>
                    <a:pt x="49" y="68"/>
                    <a:pt x="49" y="68"/>
                  </a:cubicBezTo>
                  <a:cubicBezTo>
                    <a:pt x="49" y="60"/>
                    <a:pt x="49" y="60"/>
                    <a:pt x="49" y="60"/>
                  </a:cubicBezTo>
                  <a:cubicBezTo>
                    <a:pt x="49" y="60"/>
                    <a:pt x="41" y="0"/>
                    <a:pt x="11" y="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55" name="Freeform 2109">
              <a:extLst>
                <a:ext uri="{FF2B5EF4-FFF2-40B4-BE49-F238E27FC236}">
                  <a16:creationId xmlns:a16="http://schemas.microsoft.com/office/drawing/2014/main" id="{A3B41238-C719-F954-9DFA-2FF1D2914F4F}"/>
                </a:ext>
              </a:extLst>
            </p:cNvPr>
            <p:cNvSpPr>
              <a:spLocks noEditPoints="1"/>
            </p:cNvSpPr>
            <p:nvPr/>
          </p:nvSpPr>
          <p:spPr bwMode="auto">
            <a:xfrm>
              <a:off x="2470" y="3616"/>
              <a:ext cx="13" cy="22"/>
            </a:xfrm>
            <a:custGeom>
              <a:avLst/>
              <a:gdLst>
                <a:gd name="T0" fmla="*/ 13 w 58"/>
                <a:gd name="T1" fmla="*/ 0 h 99"/>
                <a:gd name="T2" fmla="*/ 12 w 58"/>
                <a:gd name="T3" fmla="*/ 3 h 99"/>
                <a:gd name="T4" fmla="*/ 2 w 58"/>
                <a:gd name="T5" fmla="*/ 44 h 99"/>
                <a:gd name="T6" fmla="*/ 21 w 58"/>
                <a:gd name="T7" fmla="*/ 71 h 99"/>
                <a:gd name="T8" fmla="*/ 28 w 58"/>
                <a:gd name="T9" fmla="*/ 78 h 99"/>
                <a:gd name="T10" fmla="*/ 32 w 58"/>
                <a:gd name="T11" fmla="*/ 86 h 99"/>
                <a:gd name="T12" fmla="*/ 44 w 58"/>
                <a:gd name="T13" fmla="*/ 99 h 99"/>
                <a:gd name="T14" fmla="*/ 58 w 58"/>
                <a:gd name="T15" fmla="*/ 72 h 99"/>
                <a:gd name="T16" fmla="*/ 58 w 58"/>
                <a:gd name="T17" fmla="*/ 64 h 99"/>
                <a:gd name="T18" fmla="*/ 16 w 58"/>
                <a:gd name="T19" fmla="*/ 0 h 99"/>
                <a:gd name="T20" fmla="*/ 13 w 58"/>
                <a:gd name="T21" fmla="*/ 0 h 99"/>
                <a:gd name="T22" fmla="*/ 40 w 58"/>
                <a:gd name="T23" fmla="*/ 83 h 99"/>
                <a:gd name="T24" fmla="*/ 34 w 58"/>
                <a:gd name="T25" fmla="*/ 73 h 99"/>
                <a:gd name="T26" fmla="*/ 27 w 58"/>
                <a:gd name="T27" fmla="*/ 65 h 99"/>
                <a:gd name="T28" fmla="*/ 11 w 58"/>
                <a:gd name="T29" fmla="*/ 43 h 99"/>
                <a:gd name="T30" fmla="*/ 11 w 58"/>
                <a:gd name="T31" fmla="*/ 40 h 99"/>
                <a:gd name="T32" fmla="*/ 19 w 58"/>
                <a:gd name="T33" fmla="*/ 9 h 99"/>
                <a:gd name="T34" fmla="*/ 49 w 58"/>
                <a:gd name="T35" fmla="*/ 65 h 99"/>
                <a:gd name="T36" fmla="*/ 49 w 58"/>
                <a:gd name="T37" fmla="*/ 72 h 99"/>
                <a:gd name="T38" fmla="*/ 44 w 58"/>
                <a:gd name="T39" fmla="*/ 90 h 99"/>
                <a:gd name="T40" fmla="*/ 40 w 58"/>
                <a:gd name="T41" fmla="*/ 83 h 9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58" h="99">
                  <a:moveTo>
                    <a:pt x="13" y="0"/>
                  </a:moveTo>
                  <a:cubicBezTo>
                    <a:pt x="12" y="3"/>
                    <a:pt x="12" y="3"/>
                    <a:pt x="12" y="3"/>
                  </a:cubicBezTo>
                  <a:cubicBezTo>
                    <a:pt x="11" y="5"/>
                    <a:pt x="0" y="30"/>
                    <a:pt x="2" y="44"/>
                  </a:cubicBezTo>
                  <a:cubicBezTo>
                    <a:pt x="4" y="55"/>
                    <a:pt x="13" y="64"/>
                    <a:pt x="21" y="71"/>
                  </a:cubicBezTo>
                  <a:cubicBezTo>
                    <a:pt x="28" y="78"/>
                    <a:pt x="28" y="78"/>
                    <a:pt x="28" y="78"/>
                  </a:cubicBezTo>
                  <a:cubicBezTo>
                    <a:pt x="32" y="86"/>
                    <a:pt x="32" y="86"/>
                    <a:pt x="32" y="86"/>
                  </a:cubicBezTo>
                  <a:cubicBezTo>
                    <a:pt x="34" y="92"/>
                    <a:pt x="36" y="99"/>
                    <a:pt x="44" y="99"/>
                  </a:cubicBezTo>
                  <a:cubicBezTo>
                    <a:pt x="55" y="99"/>
                    <a:pt x="57" y="80"/>
                    <a:pt x="58" y="72"/>
                  </a:cubicBezTo>
                  <a:cubicBezTo>
                    <a:pt x="58" y="64"/>
                    <a:pt x="58" y="64"/>
                    <a:pt x="58" y="64"/>
                  </a:cubicBezTo>
                  <a:cubicBezTo>
                    <a:pt x="57" y="61"/>
                    <a:pt x="49" y="0"/>
                    <a:pt x="16" y="0"/>
                  </a:cubicBezTo>
                  <a:lnTo>
                    <a:pt x="13" y="0"/>
                  </a:lnTo>
                  <a:close/>
                  <a:moveTo>
                    <a:pt x="40" y="83"/>
                  </a:moveTo>
                  <a:cubicBezTo>
                    <a:pt x="34" y="73"/>
                    <a:pt x="34" y="73"/>
                    <a:pt x="34" y="73"/>
                  </a:cubicBezTo>
                  <a:cubicBezTo>
                    <a:pt x="27" y="65"/>
                    <a:pt x="27" y="65"/>
                    <a:pt x="27" y="65"/>
                  </a:cubicBezTo>
                  <a:cubicBezTo>
                    <a:pt x="20" y="59"/>
                    <a:pt x="12" y="51"/>
                    <a:pt x="11" y="43"/>
                  </a:cubicBezTo>
                  <a:cubicBezTo>
                    <a:pt x="11" y="42"/>
                    <a:pt x="11" y="41"/>
                    <a:pt x="11" y="40"/>
                  </a:cubicBezTo>
                  <a:cubicBezTo>
                    <a:pt x="11" y="31"/>
                    <a:pt x="16" y="17"/>
                    <a:pt x="19" y="9"/>
                  </a:cubicBezTo>
                  <a:cubicBezTo>
                    <a:pt x="38" y="13"/>
                    <a:pt x="47" y="50"/>
                    <a:pt x="49" y="65"/>
                  </a:cubicBezTo>
                  <a:cubicBezTo>
                    <a:pt x="49" y="72"/>
                    <a:pt x="49" y="72"/>
                    <a:pt x="49" y="72"/>
                  </a:cubicBezTo>
                  <a:cubicBezTo>
                    <a:pt x="48" y="80"/>
                    <a:pt x="46" y="89"/>
                    <a:pt x="44" y="90"/>
                  </a:cubicBezTo>
                  <a:cubicBezTo>
                    <a:pt x="43" y="90"/>
                    <a:pt x="42" y="88"/>
                    <a:pt x="40" y="8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56" name="Freeform 2110">
              <a:extLst>
                <a:ext uri="{FF2B5EF4-FFF2-40B4-BE49-F238E27FC236}">
                  <a16:creationId xmlns:a16="http://schemas.microsoft.com/office/drawing/2014/main" id="{4B27C121-8069-A539-A565-0B1ED78A7227}"/>
                </a:ext>
              </a:extLst>
            </p:cNvPr>
            <p:cNvSpPr>
              <a:spLocks/>
            </p:cNvSpPr>
            <p:nvPr/>
          </p:nvSpPr>
          <p:spPr bwMode="auto">
            <a:xfrm>
              <a:off x="1111" y="3788"/>
              <a:ext cx="7" cy="11"/>
            </a:xfrm>
            <a:custGeom>
              <a:avLst/>
              <a:gdLst>
                <a:gd name="T0" fmla="*/ 24 w 33"/>
                <a:gd name="T1" fmla="*/ 20 h 48"/>
                <a:gd name="T2" fmla="*/ 30 w 33"/>
                <a:gd name="T3" fmla="*/ 46 h 48"/>
                <a:gd name="T4" fmla="*/ 10 w 33"/>
                <a:gd name="T5" fmla="*/ 28 h 48"/>
                <a:gd name="T6" fmla="*/ 4 w 33"/>
                <a:gd name="T7" fmla="*/ 2 h 48"/>
                <a:gd name="T8" fmla="*/ 24 w 33"/>
                <a:gd name="T9" fmla="*/ 20 h 48"/>
              </a:gdLst>
              <a:ahLst/>
              <a:cxnLst>
                <a:cxn ang="0">
                  <a:pos x="T0" y="T1"/>
                </a:cxn>
                <a:cxn ang="0">
                  <a:pos x="T2" y="T3"/>
                </a:cxn>
                <a:cxn ang="0">
                  <a:pos x="T4" y="T5"/>
                </a:cxn>
                <a:cxn ang="0">
                  <a:pos x="T6" y="T7"/>
                </a:cxn>
                <a:cxn ang="0">
                  <a:pos x="T8" y="T9"/>
                </a:cxn>
              </a:cxnLst>
              <a:rect l="0" t="0" r="r" b="b"/>
              <a:pathLst>
                <a:path w="33" h="48">
                  <a:moveTo>
                    <a:pt x="24" y="20"/>
                  </a:moveTo>
                  <a:cubicBezTo>
                    <a:pt x="31" y="32"/>
                    <a:pt x="33" y="44"/>
                    <a:pt x="30" y="46"/>
                  </a:cubicBezTo>
                  <a:cubicBezTo>
                    <a:pt x="26" y="48"/>
                    <a:pt x="17" y="40"/>
                    <a:pt x="10" y="28"/>
                  </a:cubicBezTo>
                  <a:cubicBezTo>
                    <a:pt x="3" y="16"/>
                    <a:pt x="0" y="4"/>
                    <a:pt x="4" y="2"/>
                  </a:cubicBezTo>
                  <a:cubicBezTo>
                    <a:pt x="8" y="0"/>
                    <a:pt x="16" y="8"/>
                    <a:pt x="24"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57" name="Freeform 2111">
              <a:extLst>
                <a:ext uri="{FF2B5EF4-FFF2-40B4-BE49-F238E27FC236}">
                  <a16:creationId xmlns:a16="http://schemas.microsoft.com/office/drawing/2014/main" id="{D2EFE042-3D00-D9C2-3CC1-315C95CA8F60}"/>
                </a:ext>
              </a:extLst>
            </p:cNvPr>
            <p:cNvSpPr>
              <a:spLocks noEditPoints="1"/>
            </p:cNvSpPr>
            <p:nvPr/>
          </p:nvSpPr>
          <p:spPr bwMode="auto">
            <a:xfrm>
              <a:off x="1109" y="3787"/>
              <a:ext cx="10" cy="12"/>
            </a:xfrm>
            <a:custGeom>
              <a:avLst/>
              <a:gdLst>
                <a:gd name="T0" fmla="*/ 8 w 42"/>
                <a:gd name="T1" fmla="*/ 4 h 57"/>
                <a:gd name="T2" fmla="*/ 12 w 42"/>
                <a:gd name="T3" fmla="*/ 36 h 57"/>
                <a:gd name="T4" fmla="*/ 32 w 42"/>
                <a:gd name="T5" fmla="*/ 57 h 57"/>
                <a:gd name="T6" fmla="*/ 38 w 42"/>
                <a:gd name="T7" fmla="*/ 56 h 57"/>
                <a:gd name="T8" fmla="*/ 42 w 42"/>
                <a:gd name="T9" fmla="*/ 48 h 57"/>
                <a:gd name="T10" fmla="*/ 33 w 42"/>
                <a:gd name="T11" fmla="*/ 24 h 57"/>
                <a:gd name="T12" fmla="*/ 8 w 42"/>
                <a:gd name="T13" fmla="*/ 4 h 57"/>
                <a:gd name="T14" fmla="*/ 20 w 42"/>
                <a:gd name="T15" fmla="*/ 32 h 57"/>
                <a:gd name="T16" fmla="*/ 13 w 42"/>
                <a:gd name="T17" fmla="*/ 13 h 57"/>
                <a:gd name="T18" fmla="*/ 26 w 42"/>
                <a:gd name="T19" fmla="*/ 28 h 57"/>
                <a:gd name="T20" fmla="*/ 26 w 42"/>
                <a:gd name="T21" fmla="*/ 28 h 57"/>
                <a:gd name="T22" fmla="*/ 33 w 42"/>
                <a:gd name="T23" fmla="*/ 48 h 57"/>
                <a:gd name="T24" fmla="*/ 20 w 42"/>
                <a:gd name="T25" fmla="*/ 32 h 57"/>
                <a:gd name="T26" fmla="*/ 33 w 42"/>
                <a:gd name="T27" fmla="*/ 24 h 57"/>
                <a:gd name="T28" fmla="*/ 33 w 42"/>
                <a:gd name="T29" fmla="*/ 24 h 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42" h="57">
                  <a:moveTo>
                    <a:pt x="8" y="4"/>
                  </a:moveTo>
                  <a:cubicBezTo>
                    <a:pt x="0" y="9"/>
                    <a:pt x="5" y="24"/>
                    <a:pt x="12" y="36"/>
                  </a:cubicBezTo>
                  <a:cubicBezTo>
                    <a:pt x="17" y="45"/>
                    <a:pt x="25" y="55"/>
                    <a:pt x="32" y="57"/>
                  </a:cubicBezTo>
                  <a:cubicBezTo>
                    <a:pt x="38" y="56"/>
                    <a:pt x="38" y="56"/>
                    <a:pt x="38" y="56"/>
                  </a:cubicBezTo>
                  <a:cubicBezTo>
                    <a:pt x="41" y="54"/>
                    <a:pt x="42" y="51"/>
                    <a:pt x="42" y="48"/>
                  </a:cubicBezTo>
                  <a:cubicBezTo>
                    <a:pt x="42" y="41"/>
                    <a:pt x="38" y="32"/>
                    <a:pt x="33" y="24"/>
                  </a:cubicBezTo>
                  <a:cubicBezTo>
                    <a:pt x="26" y="12"/>
                    <a:pt x="16" y="0"/>
                    <a:pt x="8" y="4"/>
                  </a:cubicBezTo>
                  <a:close/>
                  <a:moveTo>
                    <a:pt x="20" y="32"/>
                  </a:moveTo>
                  <a:cubicBezTo>
                    <a:pt x="15" y="23"/>
                    <a:pt x="13" y="16"/>
                    <a:pt x="13" y="13"/>
                  </a:cubicBezTo>
                  <a:cubicBezTo>
                    <a:pt x="15" y="14"/>
                    <a:pt x="20" y="19"/>
                    <a:pt x="26" y="28"/>
                  </a:cubicBezTo>
                  <a:cubicBezTo>
                    <a:pt x="26" y="28"/>
                    <a:pt x="26" y="28"/>
                    <a:pt x="26" y="28"/>
                  </a:cubicBezTo>
                  <a:cubicBezTo>
                    <a:pt x="31" y="37"/>
                    <a:pt x="33" y="44"/>
                    <a:pt x="33" y="48"/>
                  </a:cubicBezTo>
                  <a:cubicBezTo>
                    <a:pt x="30" y="46"/>
                    <a:pt x="25" y="41"/>
                    <a:pt x="20" y="32"/>
                  </a:cubicBezTo>
                  <a:close/>
                  <a:moveTo>
                    <a:pt x="33" y="24"/>
                  </a:moveTo>
                  <a:cubicBezTo>
                    <a:pt x="33" y="24"/>
                    <a:pt x="33" y="24"/>
                    <a:pt x="33" y="2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58" name="Freeform 2112">
              <a:extLst>
                <a:ext uri="{FF2B5EF4-FFF2-40B4-BE49-F238E27FC236}">
                  <a16:creationId xmlns:a16="http://schemas.microsoft.com/office/drawing/2014/main" id="{9E61A387-91AD-5C8A-08F7-9851C159D7A1}"/>
                </a:ext>
              </a:extLst>
            </p:cNvPr>
            <p:cNvSpPr>
              <a:spLocks/>
            </p:cNvSpPr>
            <p:nvPr/>
          </p:nvSpPr>
          <p:spPr bwMode="auto">
            <a:xfrm>
              <a:off x="958" y="3951"/>
              <a:ext cx="25" cy="15"/>
            </a:xfrm>
            <a:custGeom>
              <a:avLst/>
              <a:gdLst>
                <a:gd name="T0" fmla="*/ 57 w 109"/>
                <a:gd name="T1" fmla="*/ 14 h 69"/>
                <a:gd name="T2" fmla="*/ 39 w 109"/>
                <a:gd name="T3" fmla="*/ 47 h 69"/>
                <a:gd name="T4" fmla="*/ 90 w 109"/>
                <a:gd name="T5" fmla="*/ 52 h 69"/>
                <a:gd name="T6" fmla="*/ 57 w 109"/>
                <a:gd name="T7" fmla="*/ 14 h 69"/>
              </a:gdLst>
              <a:ahLst/>
              <a:cxnLst>
                <a:cxn ang="0">
                  <a:pos x="T0" y="T1"/>
                </a:cxn>
                <a:cxn ang="0">
                  <a:pos x="T2" y="T3"/>
                </a:cxn>
                <a:cxn ang="0">
                  <a:pos x="T4" y="T5"/>
                </a:cxn>
                <a:cxn ang="0">
                  <a:pos x="T6" y="T7"/>
                </a:cxn>
              </a:cxnLst>
              <a:rect l="0" t="0" r="r" b="b"/>
              <a:pathLst>
                <a:path w="109" h="69">
                  <a:moveTo>
                    <a:pt x="57" y="14"/>
                  </a:moveTo>
                  <a:cubicBezTo>
                    <a:pt x="57" y="14"/>
                    <a:pt x="0" y="0"/>
                    <a:pt x="39" y="47"/>
                  </a:cubicBezTo>
                  <a:cubicBezTo>
                    <a:pt x="57" y="69"/>
                    <a:pt x="79" y="63"/>
                    <a:pt x="90" y="52"/>
                  </a:cubicBezTo>
                  <a:cubicBezTo>
                    <a:pt x="101" y="41"/>
                    <a:pt x="109" y="10"/>
                    <a:pt x="57"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59" name="Freeform 2113">
              <a:extLst>
                <a:ext uri="{FF2B5EF4-FFF2-40B4-BE49-F238E27FC236}">
                  <a16:creationId xmlns:a16="http://schemas.microsoft.com/office/drawing/2014/main" id="{B9A8EA25-3638-2624-A809-F3F34176557D}"/>
                </a:ext>
              </a:extLst>
            </p:cNvPr>
            <p:cNvSpPr>
              <a:spLocks noEditPoints="1"/>
            </p:cNvSpPr>
            <p:nvPr/>
          </p:nvSpPr>
          <p:spPr bwMode="auto">
            <a:xfrm>
              <a:off x="962" y="3952"/>
              <a:ext cx="20" cy="14"/>
            </a:xfrm>
            <a:custGeom>
              <a:avLst/>
              <a:gdLst>
                <a:gd name="T0" fmla="*/ 5 w 87"/>
                <a:gd name="T1" fmla="*/ 11 h 62"/>
                <a:gd name="T2" fmla="*/ 17 w 87"/>
                <a:gd name="T3" fmla="*/ 46 h 62"/>
                <a:gd name="T4" fmla="*/ 47 w 87"/>
                <a:gd name="T5" fmla="*/ 62 h 62"/>
                <a:gd name="T6" fmla="*/ 75 w 87"/>
                <a:gd name="T7" fmla="*/ 51 h 62"/>
                <a:gd name="T8" fmla="*/ 82 w 87"/>
                <a:gd name="T9" fmla="*/ 20 h 62"/>
                <a:gd name="T10" fmla="*/ 40 w 87"/>
                <a:gd name="T11" fmla="*/ 6 h 62"/>
                <a:gd name="T12" fmla="*/ 5 w 87"/>
                <a:gd name="T13" fmla="*/ 11 h 62"/>
                <a:gd name="T14" fmla="*/ 48 w 87"/>
                <a:gd name="T15" fmla="*/ 53 h 62"/>
                <a:gd name="T16" fmla="*/ 24 w 87"/>
                <a:gd name="T17" fmla="*/ 40 h 62"/>
                <a:gd name="T18" fmla="*/ 12 w 87"/>
                <a:gd name="T19" fmla="*/ 16 h 62"/>
                <a:gd name="T20" fmla="*/ 38 w 87"/>
                <a:gd name="T21" fmla="*/ 15 h 62"/>
                <a:gd name="T22" fmla="*/ 39 w 87"/>
                <a:gd name="T23" fmla="*/ 15 h 62"/>
                <a:gd name="T24" fmla="*/ 40 w 87"/>
                <a:gd name="T25" fmla="*/ 15 h 62"/>
                <a:gd name="T26" fmla="*/ 74 w 87"/>
                <a:gd name="T27" fmla="*/ 24 h 62"/>
                <a:gd name="T28" fmla="*/ 69 w 87"/>
                <a:gd name="T29" fmla="*/ 45 h 62"/>
                <a:gd name="T30" fmla="*/ 48 w 87"/>
                <a:gd name="T31" fmla="*/ 53 h 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87" h="62">
                  <a:moveTo>
                    <a:pt x="5" y="11"/>
                  </a:moveTo>
                  <a:cubicBezTo>
                    <a:pt x="0" y="19"/>
                    <a:pt x="4" y="30"/>
                    <a:pt x="17" y="46"/>
                  </a:cubicBezTo>
                  <a:cubicBezTo>
                    <a:pt x="28" y="59"/>
                    <a:pt x="40" y="62"/>
                    <a:pt x="47" y="62"/>
                  </a:cubicBezTo>
                  <a:cubicBezTo>
                    <a:pt x="57" y="62"/>
                    <a:pt x="68" y="58"/>
                    <a:pt x="75" y="51"/>
                  </a:cubicBezTo>
                  <a:cubicBezTo>
                    <a:pt x="82" y="44"/>
                    <a:pt x="87" y="30"/>
                    <a:pt x="82" y="20"/>
                  </a:cubicBezTo>
                  <a:cubicBezTo>
                    <a:pt x="79" y="12"/>
                    <a:pt x="68" y="4"/>
                    <a:pt x="40" y="6"/>
                  </a:cubicBezTo>
                  <a:cubicBezTo>
                    <a:pt x="34" y="5"/>
                    <a:pt x="12" y="0"/>
                    <a:pt x="5" y="11"/>
                  </a:cubicBezTo>
                  <a:close/>
                  <a:moveTo>
                    <a:pt x="48" y="53"/>
                  </a:moveTo>
                  <a:cubicBezTo>
                    <a:pt x="39" y="53"/>
                    <a:pt x="31" y="49"/>
                    <a:pt x="24" y="40"/>
                  </a:cubicBezTo>
                  <a:cubicBezTo>
                    <a:pt x="10" y="23"/>
                    <a:pt x="11" y="17"/>
                    <a:pt x="12" y="16"/>
                  </a:cubicBezTo>
                  <a:cubicBezTo>
                    <a:pt x="15" y="11"/>
                    <a:pt x="29" y="12"/>
                    <a:pt x="38" y="15"/>
                  </a:cubicBezTo>
                  <a:cubicBezTo>
                    <a:pt x="39" y="15"/>
                    <a:pt x="39" y="15"/>
                    <a:pt x="39" y="15"/>
                  </a:cubicBezTo>
                  <a:cubicBezTo>
                    <a:pt x="40" y="15"/>
                    <a:pt x="40" y="15"/>
                    <a:pt x="40" y="15"/>
                  </a:cubicBezTo>
                  <a:cubicBezTo>
                    <a:pt x="59" y="13"/>
                    <a:pt x="71" y="16"/>
                    <a:pt x="74" y="24"/>
                  </a:cubicBezTo>
                  <a:cubicBezTo>
                    <a:pt x="77" y="30"/>
                    <a:pt x="74" y="40"/>
                    <a:pt x="69" y="45"/>
                  </a:cubicBezTo>
                  <a:cubicBezTo>
                    <a:pt x="63" y="50"/>
                    <a:pt x="55" y="54"/>
                    <a:pt x="48" y="5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60" name="Freeform 2114">
              <a:extLst>
                <a:ext uri="{FF2B5EF4-FFF2-40B4-BE49-F238E27FC236}">
                  <a16:creationId xmlns:a16="http://schemas.microsoft.com/office/drawing/2014/main" id="{4909631C-CF17-8903-872E-6A068D66CA1B}"/>
                </a:ext>
              </a:extLst>
            </p:cNvPr>
            <p:cNvSpPr>
              <a:spLocks/>
            </p:cNvSpPr>
            <p:nvPr/>
          </p:nvSpPr>
          <p:spPr bwMode="auto">
            <a:xfrm>
              <a:off x="981" y="3953"/>
              <a:ext cx="12" cy="8"/>
            </a:xfrm>
            <a:custGeom>
              <a:avLst/>
              <a:gdLst>
                <a:gd name="T0" fmla="*/ 51 w 53"/>
                <a:gd name="T1" fmla="*/ 3 h 37"/>
                <a:gd name="T2" fmla="*/ 23 w 53"/>
                <a:gd name="T3" fmla="*/ 14 h 37"/>
                <a:gd name="T4" fmla="*/ 2 w 53"/>
                <a:gd name="T5" fmla="*/ 35 h 37"/>
                <a:gd name="T6" fmla="*/ 29 w 53"/>
                <a:gd name="T7" fmla="*/ 23 h 37"/>
                <a:gd name="T8" fmla="*/ 51 w 53"/>
                <a:gd name="T9" fmla="*/ 3 h 37"/>
              </a:gdLst>
              <a:ahLst/>
              <a:cxnLst>
                <a:cxn ang="0">
                  <a:pos x="T0" y="T1"/>
                </a:cxn>
                <a:cxn ang="0">
                  <a:pos x="T2" y="T3"/>
                </a:cxn>
                <a:cxn ang="0">
                  <a:pos x="T4" y="T5"/>
                </a:cxn>
                <a:cxn ang="0">
                  <a:pos x="T6" y="T7"/>
                </a:cxn>
                <a:cxn ang="0">
                  <a:pos x="T8" y="T9"/>
                </a:cxn>
              </a:cxnLst>
              <a:rect l="0" t="0" r="r" b="b"/>
              <a:pathLst>
                <a:path w="53" h="37">
                  <a:moveTo>
                    <a:pt x="51" y="3"/>
                  </a:moveTo>
                  <a:cubicBezTo>
                    <a:pt x="50" y="0"/>
                    <a:pt x="37" y="5"/>
                    <a:pt x="23" y="14"/>
                  </a:cubicBezTo>
                  <a:cubicBezTo>
                    <a:pt x="10" y="23"/>
                    <a:pt x="0" y="32"/>
                    <a:pt x="2" y="35"/>
                  </a:cubicBezTo>
                  <a:cubicBezTo>
                    <a:pt x="3" y="37"/>
                    <a:pt x="16" y="32"/>
                    <a:pt x="29" y="23"/>
                  </a:cubicBezTo>
                  <a:cubicBezTo>
                    <a:pt x="43" y="14"/>
                    <a:pt x="53" y="5"/>
                    <a:pt x="51" y="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61" name="Freeform 2115">
              <a:extLst>
                <a:ext uri="{FF2B5EF4-FFF2-40B4-BE49-F238E27FC236}">
                  <a16:creationId xmlns:a16="http://schemas.microsoft.com/office/drawing/2014/main" id="{25D99298-B5CE-D4F0-E7B1-9B1316981C17}"/>
                </a:ext>
              </a:extLst>
            </p:cNvPr>
            <p:cNvSpPr>
              <a:spLocks noEditPoints="1"/>
            </p:cNvSpPr>
            <p:nvPr/>
          </p:nvSpPr>
          <p:spPr bwMode="auto">
            <a:xfrm>
              <a:off x="980" y="3951"/>
              <a:ext cx="14" cy="12"/>
            </a:xfrm>
            <a:custGeom>
              <a:avLst/>
              <a:gdLst>
                <a:gd name="T0" fmla="*/ 27 w 64"/>
                <a:gd name="T1" fmla="*/ 17 h 51"/>
                <a:gd name="T2" fmla="*/ 4 w 64"/>
                <a:gd name="T3" fmla="*/ 44 h 51"/>
                <a:gd name="T4" fmla="*/ 38 w 64"/>
                <a:gd name="T5" fmla="*/ 34 h 51"/>
                <a:gd name="T6" fmla="*/ 61 w 64"/>
                <a:gd name="T7" fmla="*/ 7 h 51"/>
                <a:gd name="T8" fmla="*/ 61 w 64"/>
                <a:gd name="T9" fmla="*/ 7 h 51"/>
                <a:gd name="T10" fmla="*/ 27 w 64"/>
                <a:gd name="T11" fmla="*/ 17 h 51"/>
                <a:gd name="T12" fmla="*/ 32 w 64"/>
                <a:gd name="T13" fmla="*/ 25 h 51"/>
                <a:gd name="T14" fmla="*/ 48 w 64"/>
                <a:gd name="T15" fmla="*/ 16 h 51"/>
                <a:gd name="T16" fmla="*/ 33 w 64"/>
                <a:gd name="T17" fmla="*/ 27 h 51"/>
                <a:gd name="T18" fmla="*/ 17 w 64"/>
                <a:gd name="T19" fmla="*/ 35 h 51"/>
                <a:gd name="T20" fmla="*/ 32 w 64"/>
                <a:gd name="T21"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64" h="51">
                  <a:moveTo>
                    <a:pt x="27" y="17"/>
                  </a:moveTo>
                  <a:cubicBezTo>
                    <a:pt x="8" y="30"/>
                    <a:pt x="0" y="38"/>
                    <a:pt x="4" y="44"/>
                  </a:cubicBezTo>
                  <a:cubicBezTo>
                    <a:pt x="8" y="51"/>
                    <a:pt x="25" y="42"/>
                    <a:pt x="38" y="34"/>
                  </a:cubicBezTo>
                  <a:cubicBezTo>
                    <a:pt x="57" y="22"/>
                    <a:pt x="64" y="13"/>
                    <a:pt x="61" y="7"/>
                  </a:cubicBezTo>
                  <a:cubicBezTo>
                    <a:pt x="61" y="7"/>
                    <a:pt x="61" y="7"/>
                    <a:pt x="61" y="7"/>
                  </a:cubicBezTo>
                  <a:cubicBezTo>
                    <a:pt x="56" y="0"/>
                    <a:pt x="40" y="9"/>
                    <a:pt x="27" y="17"/>
                  </a:cubicBezTo>
                  <a:close/>
                  <a:moveTo>
                    <a:pt x="32" y="25"/>
                  </a:moveTo>
                  <a:cubicBezTo>
                    <a:pt x="38" y="21"/>
                    <a:pt x="43" y="18"/>
                    <a:pt x="48" y="16"/>
                  </a:cubicBezTo>
                  <a:cubicBezTo>
                    <a:pt x="44" y="19"/>
                    <a:pt x="39" y="23"/>
                    <a:pt x="33" y="27"/>
                  </a:cubicBezTo>
                  <a:cubicBezTo>
                    <a:pt x="27" y="31"/>
                    <a:pt x="21" y="34"/>
                    <a:pt x="17" y="35"/>
                  </a:cubicBezTo>
                  <a:cubicBezTo>
                    <a:pt x="20" y="32"/>
                    <a:pt x="25" y="29"/>
                    <a:pt x="32" y="2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62" name="Oval 2116">
              <a:extLst>
                <a:ext uri="{FF2B5EF4-FFF2-40B4-BE49-F238E27FC236}">
                  <a16:creationId xmlns:a16="http://schemas.microsoft.com/office/drawing/2014/main" id="{C8EDF092-2313-D5F5-85E6-0067DCA1E902}"/>
                </a:ext>
              </a:extLst>
            </p:cNvPr>
            <p:cNvSpPr>
              <a:spLocks noChangeArrowheads="1"/>
            </p:cNvSpPr>
            <p:nvPr/>
          </p:nvSpPr>
          <p:spPr bwMode="auto">
            <a:xfrm>
              <a:off x="1010" y="3938"/>
              <a:ext cx="5" cy="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63" name="Freeform 2117">
              <a:extLst>
                <a:ext uri="{FF2B5EF4-FFF2-40B4-BE49-F238E27FC236}">
                  <a16:creationId xmlns:a16="http://schemas.microsoft.com/office/drawing/2014/main" id="{2BB21863-32CC-EA46-4355-256E09332973}"/>
                </a:ext>
              </a:extLst>
            </p:cNvPr>
            <p:cNvSpPr>
              <a:spLocks noEditPoints="1"/>
            </p:cNvSpPr>
            <p:nvPr/>
          </p:nvSpPr>
          <p:spPr bwMode="auto">
            <a:xfrm>
              <a:off x="1009" y="3937"/>
              <a:ext cx="7" cy="8"/>
            </a:xfrm>
            <a:custGeom>
              <a:avLst/>
              <a:gdLst>
                <a:gd name="T0" fmla="*/ 0 w 30"/>
                <a:gd name="T1" fmla="*/ 18 h 35"/>
                <a:gd name="T2" fmla="*/ 15 w 30"/>
                <a:gd name="T3" fmla="*/ 35 h 35"/>
                <a:gd name="T4" fmla="*/ 30 w 30"/>
                <a:gd name="T5" fmla="*/ 18 h 35"/>
                <a:gd name="T6" fmla="*/ 15 w 30"/>
                <a:gd name="T7" fmla="*/ 0 h 35"/>
                <a:gd name="T8" fmla="*/ 0 w 30"/>
                <a:gd name="T9" fmla="*/ 18 h 35"/>
                <a:gd name="T10" fmla="*/ 8 w 30"/>
                <a:gd name="T11" fmla="*/ 18 h 35"/>
                <a:gd name="T12" fmla="*/ 15 w 30"/>
                <a:gd name="T13" fmla="*/ 9 h 35"/>
                <a:gd name="T14" fmla="*/ 21 w 30"/>
                <a:gd name="T15" fmla="*/ 18 h 35"/>
                <a:gd name="T16" fmla="*/ 15 w 30"/>
                <a:gd name="T17" fmla="*/ 26 h 35"/>
                <a:gd name="T18" fmla="*/ 8 w 30"/>
                <a:gd name="T19" fmla="*/ 18 h 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0" h="35">
                  <a:moveTo>
                    <a:pt x="0" y="18"/>
                  </a:moveTo>
                  <a:cubicBezTo>
                    <a:pt x="0" y="27"/>
                    <a:pt x="6" y="35"/>
                    <a:pt x="15" y="35"/>
                  </a:cubicBezTo>
                  <a:cubicBezTo>
                    <a:pt x="23" y="35"/>
                    <a:pt x="30" y="27"/>
                    <a:pt x="30" y="18"/>
                  </a:cubicBezTo>
                  <a:cubicBezTo>
                    <a:pt x="30" y="8"/>
                    <a:pt x="23" y="0"/>
                    <a:pt x="15" y="0"/>
                  </a:cubicBezTo>
                  <a:cubicBezTo>
                    <a:pt x="6" y="0"/>
                    <a:pt x="0" y="8"/>
                    <a:pt x="0" y="18"/>
                  </a:cubicBezTo>
                  <a:close/>
                  <a:moveTo>
                    <a:pt x="8" y="18"/>
                  </a:moveTo>
                  <a:cubicBezTo>
                    <a:pt x="8" y="13"/>
                    <a:pt x="11" y="9"/>
                    <a:pt x="15" y="9"/>
                  </a:cubicBezTo>
                  <a:cubicBezTo>
                    <a:pt x="18" y="9"/>
                    <a:pt x="21" y="13"/>
                    <a:pt x="21" y="18"/>
                  </a:cubicBezTo>
                  <a:cubicBezTo>
                    <a:pt x="21" y="22"/>
                    <a:pt x="18" y="26"/>
                    <a:pt x="15" y="26"/>
                  </a:cubicBezTo>
                  <a:cubicBezTo>
                    <a:pt x="11" y="26"/>
                    <a:pt x="8" y="22"/>
                    <a:pt x="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64" name="Oval 2118">
              <a:extLst>
                <a:ext uri="{FF2B5EF4-FFF2-40B4-BE49-F238E27FC236}">
                  <a16:creationId xmlns:a16="http://schemas.microsoft.com/office/drawing/2014/main" id="{49D3EED5-598B-0572-082B-4396628E7F4F}"/>
                </a:ext>
              </a:extLst>
            </p:cNvPr>
            <p:cNvSpPr>
              <a:spLocks noChangeArrowheads="1"/>
            </p:cNvSpPr>
            <p:nvPr/>
          </p:nvSpPr>
          <p:spPr bwMode="auto">
            <a:xfrm>
              <a:off x="970" y="3968"/>
              <a:ext cx="5" cy="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65" name="Freeform 2119">
              <a:extLst>
                <a:ext uri="{FF2B5EF4-FFF2-40B4-BE49-F238E27FC236}">
                  <a16:creationId xmlns:a16="http://schemas.microsoft.com/office/drawing/2014/main" id="{D90BA4C2-47DD-B963-2DC2-6F4401250CB3}"/>
                </a:ext>
              </a:extLst>
            </p:cNvPr>
            <p:cNvSpPr>
              <a:spLocks noEditPoints="1"/>
            </p:cNvSpPr>
            <p:nvPr/>
          </p:nvSpPr>
          <p:spPr bwMode="auto">
            <a:xfrm>
              <a:off x="969" y="3967"/>
              <a:ext cx="6" cy="6"/>
            </a:xfrm>
            <a:custGeom>
              <a:avLst/>
              <a:gdLst>
                <a:gd name="T0" fmla="*/ 0 w 27"/>
                <a:gd name="T1" fmla="*/ 13 h 26"/>
                <a:gd name="T2" fmla="*/ 14 w 27"/>
                <a:gd name="T3" fmla="*/ 26 h 26"/>
                <a:gd name="T4" fmla="*/ 27 w 27"/>
                <a:gd name="T5" fmla="*/ 13 h 26"/>
                <a:gd name="T6" fmla="*/ 14 w 27"/>
                <a:gd name="T7" fmla="*/ 0 h 26"/>
                <a:gd name="T8" fmla="*/ 0 w 27"/>
                <a:gd name="T9" fmla="*/ 13 h 26"/>
                <a:gd name="T10" fmla="*/ 8 w 27"/>
                <a:gd name="T11" fmla="*/ 13 h 26"/>
                <a:gd name="T12" fmla="*/ 14 w 27"/>
                <a:gd name="T13" fmla="*/ 9 h 26"/>
                <a:gd name="T14" fmla="*/ 18 w 27"/>
                <a:gd name="T15" fmla="*/ 13 h 26"/>
                <a:gd name="T16" fmla="*/ 14 w 27"/>
                <a:gd name="T17" fmla="*/ 17 h 26"/>
                <a:gd name="T18" fmla="*/ 8 w 27"/>
                <a:gd name="T19"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7" h="26">
                  <a:moveTo>
                    <a:pt x="0" y="13"/>
                  </a:moveTo>
                  <a:cubicBezTo>
                    <a:pt x="0" y="20"/>
                    <a:pt x="6" y="26"/>
                    <a:pt x="14" y="26"/>
                  </a:cubicBezTo>
                  <a:cubicBezTo>
                    <a:pt x="21" y="26"/>
                    <a:pt x="27" y="20"/>
                    <a:pt x="27" y="13"/>
                  </a:cubicBezTo>
                  <a:cubicBezTo>
                    <a:pt x="27" y="6"/>
                    <a:pt x="21" y="0"/>
                    <a:pt x="14" y="0"/>
                  </a:cubicBezTo>
                  <a:cubicBezTo>
                    <a:pt x="6" y="0"/>
                    <a:pt x="0" y="6"/>
                    <a:pt x="0" y="13"/>
                  </a:cubicBezTo>
                  <a:close/>
                  <a:moveTo>
                    <a:pt x="8" y="13"/>
                  </a:moveTo>
                  <a:cubicBezTo>
                    <a:pt x="8" y="10"/>
                    <a:pt x="11" y="9"/>
                    <a:pt x="14" y="9"/>
                  </a:cubicBezTo>
                  <a:cubicBezTo>
                    <a:pt x="16" y="9"/>
                    <a:pt x="18" y="10"/>
                    <a:pt x="18" y="13"/>
                  </a:cubicBezTo>
                  <a:cubicBezTo>
                    <a:pt x="18" y="15"/>
                    <a:pt x="16" y="17"/>
                    <a:pt x="14" y="17"/>
                  </a:cubicBezTo>
                  <a:cubicBezTo>
                    <a:pt x="11" y="17"/>
                    <a:pt x="8" y="15"/>
                    <a:pt x="8"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66" name="Oval 2120">
              <a:extLst>
                <a:ext uri="{FF2B5EF4-FFF2-40B4-BE49-F238E27FC236}">
                  <a16:creationId xmlns:a16="http://schemas.microsoft.com/office/drawing/2014/main" id="{CE78719E-17CB-1682-1886-9A37ED67A770}"/>
                </a:ext>
              </a:extLst>
            </p:cNvPr>
            <p:cNvSpPr>
              <a:spLocks noChangeArrowheads="1"/>
            </p:cNvSpPr>
            <p:nvPr/>
          </p:nvSpPr>
          <p:spPr bwMode="auto">
            <a:xfrm>
              <a:off x="969" y="3977"/>
              <a:ext cx="4" cy="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67" name="Freeform 2121">
              <a:extLst>
                <a:ext uri="{FF2B5EF4-FFF2-40B4-BE49-F238E27FC236}">
                  <a16:creationId xmlns:a16="http://schemas.microsoft.com/office/drawing/2014/main" id="{BC1AB1DE-6D5B-F11C-7B88-F8B5B30CC3EF}"/>
                </a:ext>
              </a:extLst>
            </p:cNvPr>
            <p:cNvSpPr>
              <a:spLocks noEditPoints="1"/>
            </p:cNvSpPr>
            <p:nvPr/>
          </p:nvSpPr>
          <p:spPr bwMode="auto">
            <a:xfrm>
              <a:off x="968" y="3976"/>
              <a:ext cx="6" cy="6"/>
            </a:xfrm>
            <a:custGeom>
              <a:avLst/>
              <a:gdLst>
                <a:gd name="T0" fmla="*/ 0 w 29"/>
                <a:gd name="T1" fmla="*/ 13 h 26"/>
                <a:gd name="T2" fmla="*/ 14 w 29"/>
                <a:gd name="T3" fmla="*/ 26 h 26"/>
                <a:gd name="T4" fmla="*/ 29 w 29"/>
                <a:gd name="T5" fmla="*/ 13 h 26"/>
                <a:gd name="T6" fmla="*/ 14 w 29"/>
                <a:gd name="T7" fmla="*/ 0 h 26"/>
                <a:gd name="T8" fmla="*/ 0 w 29"/>
                <a:gd name="T9" fmla="*/ 13 h 26"/>
                <a:gd name="T10" fmla="*/ 9 w 29"/>
                <a:gd name="T11" fmla="*/ 13 h 26"/>
                <a:gd name="T12" fmla="*/ 14 w 29"/>
                <a:gd name="T13" fmla="*/ 9 h 26"/>
                <a:gd name="T14" fmla="*/ 20 w 29"/>
                <a:gd name="T15" fmla="*/ 13 h 26"/>
                <a:gd name="T16" fmla="*/ 14 w 29"/>
                <a:gd name="T17" fmla="*/ 17 h 26"/>
                <a:gd name="T18" fmla="*/ 9 w 29"/>
                <a:gd name="T19" fmla="*/ 13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6">
                  <a:moveTo>
                    <a:pt x="0" y="13"/>
                  </a:moveTo>
                  <a:cubicBezTo>
                    <a:pt x="0" y="20"/>
                    <a:pt x="7" y="26"/>
                    <a:pt x="14" y="26"/>
                  </a:cubicBezTo>
                  <a:cubicBezTo>
                    <a:pt x="22" y="26"/>
                    <a:pt x="29" y="20"/>
                    <a:pt x="29" y="13"/>
                  </a:cubicBezTo>
                  <a:cubicBezTo>
                    <a:pt x="29" y="6"/>
                    <a:pt x="22" y="0"/>
                    <a:pt x="14" y="0"/>
                  </a:cubicBezTo>
                  <a:cubicBezTo>
                    <a:pt x="7" y="0"/>
                    <a:pt x="0" y="6"/>
                    <a:pt x="0" y="13"/>
                  </a:cubicBezTo>
                  <a:close/>
                  <a:moveTo>
                    <a:pt x="9" y="13"/>
                  </a:moveTo>
                  <a:cubicBezTo>
                    <a:pt x="9" y="11"/>
                    <a:pt x="11" y="9"/>
                    <a:pt x="14" y="9"/>
                  </a:cubicBezTo>
                  <a:cubicBezTo>
                    <a:pt x="18" y="9"/>
                    <a:pt x="20" y="11"/>
                    <a:pt x="20" y="13"/>
                  </a:cubicBezTo>
                  <a:cubicBezTo>
                    <a:pt x="20" y="15"/>
                    <a:pt x="18" y="17"/>
                    <a:pt x="14" y="17"/>
                  </a:cubicBezTo>
                  <a:cubicBezTo>
                    <a:pt x="11" y="17"/>
                    <a:pt x="9" y="15"/>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68" name="Oval 2122">
              <a:extLst>
                <a:ext uri="{FF2B5EF4-FFF2-40B4-BE49-F238E27FC236}">
                  <a16:creationId xmlns:a16="http://schemas.microsoft.com/office/drawing/2014/main" id="{CFCB63DB-AD68-0C65-D62B-1A257AF994ED}"/>
                </a:ext>
              </a:extLst>
            </p:cNvPr>
            <p:cNvSpPr>
              <a:spLocks noChangeArrowheads="1"/>
            </p:cNvSpPr>
            <p:nvPr/>
          </p:nvSpPr>
          <p:spPr bwMode="auto">
            <a:xfrm>
              <a:off x="2458" y="3604"/>
              <a:ext cx="8" cy="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69" name="Freeform 2123">
              <a:extLst>
                <a:ext uri="{FF2B5EF4-FFF2-40B4-BE49-F238E27FC236}">
                  <a16:creationId xmlns:a16="http://schemas.microsoft.com/office/drawing/2014/main" id="{8D9E21B7-291B-1C00-D63A-F4A1735FDC21}"/>
                </a:ext>
              </a:extLst>
            </p:cNvPr>
            <p:cNvSpPr>
              <a:spLocks noEditPoints="1"/>
            </p:cNvSpPr>
            <p:nvPr/>
          </p:nvSpPr>
          <p:spPr bwMode="auto">
            <a:xfrm>
              <a:off x="2457" y="3603"/>
              <a:ext cx="10" cy="7"/>
            </a:xfrm>
            <a:custGeom>
              <a:avLst/>
              <a:gdLst>
                <a:gd name="T0" fmla="*/ 0 w 46"/>
                <a:gd name="T1" fmla="*/ 17 h 34"/>
                <a:gd name="T2" fmla="*/ 23 w 46"/>
                <a:gd name="T3" fmla="*/ 34 h 34"/>
                <a:gd name="T4" fmla="*/ 46 w 46"/>
                <a:gd name="T5" fmla="*/ 17 h 34"/>
                <a:gd name="T6" fmla="*/ 23 w 46"/>
                <a:gd name="T7" fmla="*/ 0 h 34"/>
                <a:gd name="T8" fmla="*/ 0 w 46"/>
                <a:gd name="T9" fmla="*/ 17 h 34"/>
                <a:gd name="T10" fmla="*/ 9 w 46"/>
                <a:gd name="T11" fmla="*/ 17 h 34"/>
                <a:gd name="T12" fmla="*/ 23 w 46"/>
                <a:gd name="T13" fmla="*/ 9 h 34"/>
                <a:gd name="T14" fmla="*/ 37 w 46"/>
                <a:gd name="T15" fmla="*/ 17 h 34"/>
                <a:gd name="T16" fmla="*/ 23 w 46"/>
                <a:gd name="T17" fmla="*/ 25 h 34"/>
                <a:gd name="T18" fmla="*/ 9 w 46"/>
                <a:gd name="T19" fmla="*/ 1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6" h="34">
                  <a:moveTo>
                    <a:pt x="0" y="17"/>
                  </a:moveTo>
                  <a:cubicBezTo>
                    <a:pt x="0" y="26"/>
                    <a:pt x="10" y="34"/>
                    <a:pt x="23" y="34"/>
                  </a:cubicBezTo>
                  <a:cubicBezTo>
                    <a:pt x="36" y="34"/>
                    <a:pt x="46" y="26"/>
                    <a:pt x="46" y="17"/>
                  </a:cubicBezTo>
                  <a:cubicBezTo>
                    <a:pt x="46" y="7"/>
                    <a:pt x="36" y="0"/>
                    <a:pt x="23" y="0"/>
                  </a:cubicBezTo>
                  <a:cubicBezTo>
                    <a:pt x="10" y="0"/>
                    <a:pt x="0" y="7"/>
                    <a:pt x="0" y="17"/>
                  </a:cubicBezTo>
                  <a:close/>
                  <a:moveTo>
                    <a:pt x="9" y="17"/>
                  </a:moveTo>
                  <a:cubicBezTo>
                    <a:pt x="9" y="13"/>
                    <a:pt x="15" y="9"/>
                    <a:pt x="23" y="9"/>
                  </a:cubicBezTo>
                  <a:cubicBezTo>
                    <a:pt x="31" y="9"/>
                    <a:pt x="37" y="13"/>
                    <a:pt x="37" y="17"/>
                  </a:cubicBezTo>
                  <a:cubicBezTo>
                    <a:pt x="37" y="21"/>
                    <a:pt x="31" y="25"/>
                    <a:pt x="23" y="25"/>
                  </a:cubicBezTo>
                  <a:cubicBezTo>
                    <a:pt x="15" y="25"/>
                    <a:pt x="9" y="21"/>
                    <a:pt x="9"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70" name="Oval 2124">
              <a:extLst>
                <a:ext uri="{FF2B5EF4-FFF2-40B4-BE49-F238E27FC236}">
                  <a16:creationId xmlns:a16="http://schemas.microsoft.com/office/drawing/2014/main" id="{D7A918F3-E0DD-7036-A2B5-BAD5BF3AF177}"/>
                </a:ext>
              </a:extLst>
            </p:cNvPr>
            <p:cNvSpPr>
              <a:spLocks noChangeArrowheads="1"/>
            </p:cNvSpPr>
            <p:nvPr/>
          </p:nvSpPr>
          <p:spPr bwMode="auto">
            <a:xfrm>
              <a:off x="2501" y="3698"/>
              <a:ext cx="6" cy="1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71" name="Freeform 2125">
              <a:extLst>
                <a:ext uri="{FF2B5EF4-FFF2-40B4-BE49-F238E27FC236}">
                  <a16:creationId xmlns:a16="http://schemas.microsoft.com/office/drawing/2014/main" id="{E8AD443C-4A5F-2AEE-6D9E-ACEC60B884F9}"/>
                </a:ext>
              </a:extLst>
            </p:cNvPr>
            <p:cNvSpPr>
              <a:spLocks noEditPoints="1"/>
            </p:cNvSpPr>
            <p:nvPr/>
          </p:nvSpPr>
          <p:spPr bwMode="auto">
            <a:xfrm>
              <a:off x="2500" y="3697"/>
              <a:ext cx="8" cy="15"/>
            </a:xfrm>
            <a:custGeom>
              <a:avLst/>
              <a:gdLst>
                <a:gd name="T0" fmla="*/ 0 w 37"/>
                <a:gd name="T1" fmla="*/ 33 h 66"/>
                <a:gd name="T2" fmla="*/ 19 w 37"/>
                <a:gd name="T3" fmla="*/ 66 h 66"/>
                <a:gd name="T4" fmla="*/ 37 w 37"/>
                <a:gd name="T5" fmla="*/ 33 h 66"/>
                <a:gd name="T6" fmla="*/ 19 w 37"/>
                <a:gd name="T7" fmla="*/ 0 h 66"/>
                <a:gd name="T8" fmla="*/ 0 w 37"/>
                <a:gd name="T9" fmla="*/ 33 h 66"/>
                <a:gd name="T10" fmla="*/ 9 w 37"/>
                <a:gd name="T11" fmla="*/ 33 h 66"/>
                <a:gd name="T12" fmla="*/ 19 w 37"/>
                <a:gd name="T13" fmla="*/ 9 h 66"/>
                <a:gd name="T14" fmla="*/ 28 w 37"/>
                <a:gd name="T15" fmla="*/ 33 h 66"/>
                <a:gd name="T16" fmla="*/ 19 w 37"/>
                <a:gd name="T17" fmla="*/ 58 h 66"/>
                <a:gd name="T18" fmla="*/ 9 w 37"/>
                <a:gd name="T19" fmla="*/ 33 h 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66">
                  <a:moveTo>
                    <a:pt x="0" y="33"/>
                  </a:moveTo>
                  <a:cubicBezTo>
                    <a:pt x="0" y="52"/>
                    <a:pt x="8" y="66"/>
                    <a:pt x="19" y="66"/>
                  </a:cubicBezTo>
                  <a:cubicBezTo>
                    <a:pt x="29" y="66"/>
                    <a:pt x="37" y="52"/>
                    <a:pt x="37" y="33"/>
                  </a:cubicBezTo>
                  <a:cubicBezTo>
                    <a:pt x="37" y="14"/>
                    <a:pt x="29" y="0"/>
                    <a:pt x="19" y="0"/>
                  </a:cubicBezTo>
                  <a:cubicBezTo>
                    <a:pt x="8" y="0"/>
                    <a:pt x="0" y="14"/>
                    <a:pt x="0" y="33"/>
                  </a:cubicBezTo>
                  <a:close/>
                  <a:moveTo>
                    <a:pt x="9" y="33"/>
                  </a:moveTo>
                  <a:cubicBezTo>
                    <a:pt x="9" y="18"/>
                    <a:pt x="15" y="9"/>
                    <a:pt x="19" y="9"/>
                  </a:cubicBezTo>
                  <a:cubicBezTo>
                    <a:pt x="22" y="9"/>
                    <a:pt x="28" y="18"/>
                    <a:pt x="28" y="33"/>
                  </a:cubicBezTo>
                  <a:cubicBezTo>
                    <a:pt x="28" y="48"/>
                    <a:pt x="22" y="58"/>
                    <a:pt x="19" y="58"/>
                  </a:cubicBezTo>
                  <a:cubicBezTo>
                    <a:pt x="15" y="58"/>
                    <a:pt x="9" y="48"/>
                    <a:pt x="9" y="3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72" name="Oval 2126">
              <a:extLst>
                <a:ext uri="{FF2B5EF4-FFF2-40B4-BE49-F238E27FC236}">
                  <a16:creationId xmlns:a16="http://schemas.microsoft.com/office/drawing/2014/main" id="{7D163363-8B8E-2DA0-138F-1627AE58794F}"/>
                </a:ext>
              </a:extLst>
            </p:cNvPr>
            <p:cNvSpPr>
              <a:spLocks noChangeArrowheads="1"/>
            </p:cNvSpPr>
            <p:nvPr/>
          </p:nvSpPr>
          <p:spPr bwMode="auto">
            <a:xfrm>
              <a:off x="2464" y="3759"/>
              <a:ext cx="8" cy="6"/>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73" name="Freeform 2127">
              <a:extLst>
                <a:ext uri="{FF2B5EF4-FFF2-40B4-BE49-F238E27FC236}">
                  <a16:creationId xmlns:a16="http://schemas.microsoft.com/office/drawing/2014/main" id="{018BA612-BBDF-F215-8F71-3B6EB60CBEA7}"/>
                </a:ext>
              </a:extLst>
            </p:cNvPr>
            <p:cNvSpPr>
              <a:spLocks noEditPoints="1"/>
            </p:cNvSpPr>
            <p:nvPr/>
          </p:nvSpPr>
          <p:spPr bwMode="auto">
            <a:xfrm>
              <a:off x="2463" y="3758"/>
              <a:ext cx="10" cy="8"/>
            </a:xfrm>
            <a:custGeom>
              <a:avLst/>
              <a:gdLst>
                <a:gd name="T0" fmla="*/ 0 w 45"/>
                <a:gd name="T1" fmla="*/ 17 h 34"/>
                <a:gd name="T2" fmla="*/ 22 w 45"/>
                <a:gd name="T3" fmla="*/ 34 h 34"/>
                <a:gd name="T4" fmla="*/ 45 w 45"/>
                <a:gd name="T5" fmla="*/ 17 h 34"/>
                <a:gd name="T6" fmla="*/ 22 w 45"/>
                <a:gd name="T7" fmla="*/ 0 h 34"/>
                <a:gd name="T8" fmla="*/ 0 w 45"/>
                <a:gd name="T9" fmla="*/ 17 h 34"/>
                <a:gd name="T10" fmla="*/ 8 w 45"/>
                <a:gd name="T11" fmla="*/ 17 h 34"/>
                <a:gd name="T12" fmla="*/ 22 w 45"/>
                <a:gd name="T13" fmla="*/ 9 h 34"/>
                <a:gd name="T14" fmla="*/ 37 w 45"/>
                <a:gd name="T15" fmla="*/ 17 h 34"/>
                <a:gd name="T16" fmla="*/ 22 w 45"/>
                <a:gd name="T17" fmla="*/ 25 h 34"/>
                <a:gd name="T18" fmla="*/ 8 w 45"/>
                <a:gd name="T19" fmla="*/ 17 h 3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5" h="34">
                  <a:moveTo>
                    <a:pt x="0" y="17"/>
                  </a:moveTo>
                  <a:cubicBezTo>
                    <a:pt x="0" y="26"/>
                    <a:pt x="10" y="34"/>
                    <a:pt x="22" y="34"/>
                  </a:cubicBezTo>
                  <a:cubicBezTo>
                    <a:pt x="35" y="34"/>
                    <a:pt x="45" y="26"/>
                    <a:pt x="45" y="17"/>
                  </a:cubicBezTo>
                  <a:cubicBezTo>
                    <a:pt x="45" y="7"/>
                    <a:pt x="35" y="0"/>
                    <a:pt x="22" y="0"/>
                  </a:cubicBezTo>
                  <a:cubicBezTo>
                    <a:pt x="10" y="0"/>
                    <a:pt x="0" y="7"/>
                    <a:pt x="0" y="17"/>
                  </a:cubicBezTo>
                  <a:close/>
                  <a:moveTo>
                    <a:pt x="8" y="17"/>
                  </a:moveTo>
                  <a:cubicBezTo>
                    <a:pt x="8" y="13"/>
                    <a:pt x="14" y="9"/>
                    <a:pt x="22" y="9"/>
                  </a:cubicBezTo>
                  <a:cubicBezTo>
                    <a:pt x="31" y="9"/>
                    <a:pt x="37" y="13"/>
                    <a:pt x="37" y="17"/>
                  </a:cubicBezTo>
                  <a:cubicBezTo>
                    <a:pt x="37" y="21"/>
                    <a:pt x="31" y="25"/>
                    <a:pt x="22" y="25"/>
                  </a:cubicBezTo>
                  <a:cubicBezTo>
                    <a:pt x="14" y="25"/>
                    <a:pt x="8" y="21"/>
                    <a:pt x="8" y="1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74" name="Oval 2128">
              <a:extLst>
                <a:ext uri="{FF2B5EF4-FFF2-40B4-BE49-F238E27FC236}">
                  <a16:creationId xmlns:a16="http://schemas.microsoft.com/office/drawing/2014/main" id="{1804C7B8-FB75-47EF-5F83-347FFE6D6031}"/>
                </a:ext>
              </a:extLst>
            </p:cNvPr>
            <p:cNvSpPr>
              <a:spLocks noChangeArrowheads="1"/>
            </p:cNvSpPr>
            <p:nvPr/>
          </p:nvSpPr>
          <p:spPr bwMode="auto">
            <a:xfrm>
              <a:off x="2485" y="3761"/>
              <a:ext cx="4" cy="5"/>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75" name="Freeform 2129">
              <a:extLst>
                <a:ext uri="{FF2B5EF4-FFF2-40B4-BE49-F238E27FC236}">
                  <a16:creationId xmlns:a16="http://schemas.microsoft.com/office/drawing/2014/main" id="{2616D2C4-AD0B-60F0-41BC-C9BC4DB1D275}"/>
                </a:ext>
              </a:extLst>
            </p:cNvPr>
            <p:cNvSpPr>
              <a:spLocks noEditPoints="1"/>
            </p:cNvSpPr>
            <p:nvPr/>
          </p:nvSpPr>
          <p:spPr bwMode="auto">
            <a:xfrm>
              <a:off x="2485" y="3760"/>
              <a:ext cx="4" cy="7"/>
            </a:xfrm>
            <a:custGeom>
              <a:avLst/>
              <a:gdLst>
                <a:gd name="T0" fmla="*/ 0 w 22"/>
                <a:gd name="T1" fmla="*/ 16 h 32"/>
                <a:gd name="T2" fmla="*/ 11 w 22"/>
                <a:gd name="T3" fmla="*/ 32 h 32"/>
                <a:gd name="T4" fmla="*/ 22 w 22"/>
                <a:gd name="T5" fmla="*/ 16 h 32"/>
                <a:gd name="T6" fmla="*/ 11 w 22"/>
                <a:gd name="T7" fmla="*/ 0 h 32"/>
                <a:gd name="T8" fmla="*/ 0 w 22"/>
                <a:gd name="T9" fmla="*/ 16 h 32"/>
                <a:gd name="T10" fmla="*/ 8 w 22"/>
                <a:gd name="T11" fmla="*/ 16 h 32"/>
                <a:gd name="T12" fmla="*/ 11 w 22"/>
                <a:gd name="T13" fmla="*/ 9 h 32"/>
                <a:gd name="T14" fmla="*/ 13 w 22"/>
                <a:gd name="T15" fmla="*/ 16 h 32"/>
                <a:gd name="T16" fmla="*/ 11 w 22"/>
                <a:gd name="T17" fmla="*/ 23 h 32"/>
                <a:gd name="T18" fmla="*/ 8 w 22"/>
                <a:gd name="T19" fmla="*/ 16 h 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2" h="32">
                  <a:moveTo>
                    <a:pt x="0" y="16"/>
                  </a:moveTo>
                  <a:cubicBezTo>
                    <a:pt x="0" y="25"/>
                    <a:pt x="4" y="32"/>
                    <a:pt x="11" y="32"/>
                  </a:cubicBezTo>
                  <a:cubicBezTo>
                    <a:pt x="17" y="32"/>
                    <a:pt x="22" y="25"/>
                    <a:pt x="22" y="16"/>
                  </a:cubicBezTo>
                  <a:cubicBezTo>
                    <a:pt x="22" y="7"/>
                    <a:pt x="17" y="0"/>
                    <a:pt x="11" y="0"/>
                  </a:cubicBezTo>
                  <a:cubicBezTo>
                    <a:pt x="4" y="0"/>
                    <a:pt x="0" y="7"/>
                    <a:pt x="0" y="16"/>
                  </a:cubicBezTo>
                  <a:close/>
                  <a:moveTo>
                    <a:pt x="8" y="16"/>
                  </a:moveTo>
                  <a:cubicBezTo>
                    <a:pt x="8" y="11"/>
                    <a:pt x="10" y="9"/>
                    <a:pt x="11" y="9"/>
                  </a:cubicBezTo>
                  <a:cubicBezTo>
                    <a:pt x="11" y="9"/>
                    <a:pt x="13" y="11"/>
                    <a:pt x="13" y="16"/>
                  </a:cubicBezTo>
                  <a:cubicBezTo>
                    <a:pt x="13" y="20"/>
                    <a:pt x="11" y="23"/>
                    <a:pt x="11" y="23"/>
                  </a:cubicBezTo>
                  <a:cubicBezTo>
                    <a:pt x="10" y="23"/>
                    <a:pt x="8" y="20"/>
                    <a:pt x="8" y="16"/>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76" name="Oval 2130">
              <a:extLst>
                <a:ext uri="{FF2B5EF4-FFF2-40B4-BE49-F238E27FC236}">
                  <a16:creationId xmlns:a16="http://schemas.microsoft.com/office/drawing/2014/main" id="{4C6A8F0A-DD82-9105-CADD-BA26249D8226}"/>
                </a:ext>
              </a:extLst>
            </p:cNvPr>
            <p:cNvSpPr>
              <a:spLocks noChangeArrowheads="1"/>
            </p:cNvSpPr>
            <p:nvPr/>
          </p:nvSpPr>
          <p:spPr bwMode="auto">
            <a:xfrm>
              <a:off x="2518" y="3780"/>
              <a:ext cx="5" cy="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77" name="Freeform 2131">
              <a:extLst>
                <a:ext uri="{FF2B5EF4-FFF2-40B4-BE49-F238E27FC236}">
                  <a16:creationId xmlns:a16="http://schemas.microsoft.com/office/drawing/2014/main" id="{EB163A99-104D-B1B6-9E8B-787535D3E6C5}"/>
                </a:ext>
              </a:extLst>
            </p:cNvPr>
            <p:cNvSpPr>
              <a:spLocks noEditPoints="1"/>
            </p:cNvSpPr>
            <p:nvPr/>
          </p:nvSpPr>
          <p:spPr bwMode="auto">
            <a:xfrm>
              <a:off x="2517" y="3780"/>
              <a:ext cx="7" cy="6"/>
            </a:xfrm>
            <a:custGeom>
              <a:avLst/>
              <a:gdLst>
                <a:gd name="T0" fmla="*/ 0 w 29"/>
                <a:gd name="T1" fmla="*/ 13 h 27"/>
                <a:gd name="T2" fmla="*/ 15 w 29"/>
                <a:gd name="T3" fmla="*/ 27 h 27"/>
                <a:gd name="T4" fmla="*/ 29 w 29"/>
                <a:gd name="T5" fmla="*/ 13 h 27"/>
                <a:gd name="T6" fmla="*/ 15 w 29"/>
                <a:gd name="T7" fmla="*/ 0 h 27"/>
                <a:gd name="T8" fmla="*/ 0 w 29"/>
                <a:gd name="T9" fmla="*/ 13 h 27"/>
                <a:gd name="T10" fmla="*/ 9 w 29"/>
                <a:gd name="T11" fmla="*/ 13 h 27"/>
                <a:gd name="T12" fmla="*/ 15 w 29"/>
                <a:gd name="T13" fmla="*/ 8 h 27"/>
                <a:gd name="T14" fmla="*/ 21 w 29"/>
                <a:gd name="T15" fmla="*/ 13 h 27"/>
                <a:gd name="T16" fmla="*/ 15 w 29"/>
                <a:gd name="T17" fmla="*/ 18 h 27"/>
                <a:gd name="T18" fmla="*/ 9 w 29"/>
                <a:gd name="T19" fmla="*/ 13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9" h="27">
                  <a:moveTo>
                    <a:pt x="0" y="13"/>
                  </a:moveTo>
                  <a:cubicBezTo>
                    <a:pt x="0" y="20"/>
                    <a:pt x="6" y="27"/>
                    <a:pt x="15" y="27"/>
                  </a:cubicBezTo>
                  <a:cubicBezTo>
                    <a:pt x="23" y="27"/>
                    <a:pt x="29" y="20"/>
                    <a:pt x="29" y="13"/>
                  </a:cubicBezTo>
                  <a:cubicBezTo>
                    <a:pt x="29" y="6"/>
                    <a:pt x="23" y="0"/>
                    <a:pt x="15" y="0"/>
                  </a:cubicBezTo>
                  <a:cubicBezTo>
                    <a:pt x="6" y="0"/>
                    <a:pt x="0" y="6"/>
                    <a:pt x="0" y="13"/>
                  </a:cubicBezTo>
                  <a:close/>
                  <a:moveTo>
                    <a:pt x="9" y="13"/>
                  </a:moveTo>
                  <a:cubicBezTo>
                    <a:pt x="9" y="10"/>
                    <a:pt x="11" y="8"/>
                    <a:pt x="15" y="8"/>
                  </a:cubicBezTo>
                  <a:cubicBezTo>
                    <a:pt x="18" y="8"/>
                    <a:pt x="21" y="10"/>
                    <a:pt x="21" y="13"/>
                  </a:cubicBezTo>
                  <a:cubicBezTo>
                    <a:pt x="21" y="16"/>
                    <a:pt x="18" y="18"/>
                    <a:pt x="15" y="18"/>
                  </a:cubicBezTo>
                  <a:cubicBezTo>
                    <a:pt x="11" y="18"/>
                    <a:pt x="9" y="16"/>
                    <a:pt x="9" y="13"/>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78" name="Oval 2132">
              <a:extLst>
                <a:ext uri="{FF2B5EF4-FFF2-40B4-BE49-F238E27FC236}">
                  <a16:creationId xmlns:a16="http://schemas.microsoft.com/office/drawing/2014/main" id="{750F840E-1A88-2E02-3991-6A355ED088F3}"/>
                </a:ext>
              </a:extLst>
            </p:cNvPr>
            <p:cNvSpPr>
              <a:spLocks noChangeArrowheads="1"/>
            </p:cNvSpPr>
            <p:nvPr/>
          </p:nvSpPr>
          <p:spPr bwMode="auto">
            <a:xfrm>
              <a:off x="2535" y="3789"/>
              <a:ext cx="6" cy="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79" name="Freeform 2133">
              <a:extLst>
                <a:ext uri="{FF2B5EF4-FFF2-40B4-BE49-F238E27FC236}">
                  <a16:creationId xmlns:a16="http://schemas.microsoft.com/office/drawing/2014/main" id="{3A8A798F-9865-3020-2C87-DBB5A539F510}"/>
                </a:ext>
              </a:extLst>
            </p:cNvPr>
            <p:cNvSpPr>
              <a:spLocks noEditPoints="1"/>
            </p:cNvSpPr>
            <p:nvPr/>
          </p:nvSpPr>
          <p:spPr bwMode="auto">
            <a:xfrm>
              <a:off x="2534" y="3788"/>
              <a:ext cx="8" cy="6"/>
            </a:xfrm>
            <a:custGeom>
              <a:avLst/>
              <a:gdLst>
                <a:gd name="T0" fmla="*/ 0 w 36"/>
                <a:gd name="T1" fmla="*/ 14 h 27"/>
                <a:gd name="T2" fmla="*/ 18 w 36"/>
                <a:gd name="T3" fmla="*/ 27 h 27"/>
                <a:gd name="T4" fmla="*/ 36 w 36"/>
                <a:gd name="T5" fmla="*/ 14 h 27"/>
                <a:gd name="T6" fmla="*/ 18 w 36"/>
                <a:gd name="T7" fmla="*/ 0 h 27"/>
                <a:gd name="T8" fmla="*/ 0 w 36"/>
                <a:gd name="T9" fmla="*/ 14 h 27"/>
                <a:gd name="T10" fmla="*/ 8 w 36"/>
                <a:gd name="T11" fmla="*/ 14 h 27"/>
                <a:gd name="T12" fmla="*/ 18 w 36"/>
                <a:gd name="T13" fmla="*/ 9 h 27"/>
                <a:gd name="T14" fmla="*/ 27 w 36"/>
                <a:gd name="T15" fmla="*/ 14 h 27"/>
                <a:gd name="T16" fmla="*/ 18 w 36"/>
                <a:gd name="T17" fmla="*/ 19 h 27"/>
                <a:gd name="T18" fmla="*/ 8 w 36"/>
                <a:gd name="T19" fmla="*/ 14 h 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6" h="27">
                  <a:moveTo>
                    <a:pt x="0" y="14"/>
                  </a:moveTo>
                  <a:cubicBezTo>
                    <a:pt x="0" y="21"/>
                    <a:pt x="8" y="27"/>
                    <a:pt x="18" y="27"/>
                  </a:cubicBezTo>
                  <a:cubicBezTo>
                    <a:pt x="28" y="27"/>
                    <a:pt x="36" y="21"/>
                    <a:pt x="36" y="14"/>
                  </a:cubicBezTo>
                  <a:cubicBezTo>
                    <a:pt x="36" y="6"/>
                    <a:pt x="28" y="0"/>
                    <a:pt x="18" y="0"/>
                  </a:cubicBezTo>
                  <a:cubicBezTo>
                    <a:pt x="8" y="0"/>
                    <a:pt x="0" y="6"/>
                    <a:pt x="0" y="14"/>
                  </a:cubicBezTo>
                  <a:close/>
                  <a:moveTo>
                    <a:pt x="8" y="14"/>
                  </a:moveTo>
                  <a:cubicBezTo>
                    <a:pt x="8" y="12"/>
                    <a:pt x="12" y="9"/>
                    <a:pt x="18" y="9"/>
                  </a:cubicBezTo>
                  <a:cubicBezTo>
                    <a:pt x="24" y="9"/>
                    <a:pt x="27" y="12"/>
                    <a:pt x="27" y="14"/>
                  </a:cubicBezTo>
                  <a:cubicBezTo>
                    <a:pt x="27" y="16"/>
                    <a:pt x="24" y="19"/>
                    <a:pt x="18" y="19"/>
                  </a:cubicBezTo>
                  <a:cubicBezTo>
                    <a:pt x="12" y="19"/>
                    <a:pt x="8" y="16"/>
                    <a:pt x="8"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80" name="Freeform 2134">
              <a:extLst>
                <a:ext uri="{FF2B5EF4-FFF2-40B4-BE49-F238E27FC236}">
                  <a16:creationId xmlns:a16="http://schemas.microsoft.com/office/drawing/2014/main" id="{678742E9-4F53-DDEF-D443-2D5FC1BD2087}"/>
                </a:ext>
              </a:extLst>
            </p:cNvPr>
            <p:cNvSpPr>
              <a:spLocks/>
            </p:cNvSpPr>
            <p:nvPr/>
          </p:nvSpPr>
          <p:spPr bwMode="auto">
            <a:xfrm>
              <a:off x="2133" y="1975"/>
              <a:ext cx="77" cy="63"/>
            </a:xfrm>
            <a:custGeom>
              <a:avLst/>
              <a:gdLst>
                <a:gd name="T0" fmla="*/ 0 w 348"/>
                <a:gd name="T1" fmla="*/ 21 h 285"/>
                <a:gd name="T2" fmla="*/ 67 w 348"/>
                <a:gd name="T3" fmla="*/ 88 h 285"/>
                <a:gd name="T4" fmla="*/ 193 w 348"/>
                <a:gd name="T5" fmla="*/ 193 h 285"/>
                <a:gd name="T6" fmla="*/ 268 w 348"/>
                <a:gd name="T7" fmla="*/ 277 h 285"/>
                <a:gd name="T8" fmla="*/ 301 w 348"/>
                <a:gd name="T9" fmla="*/ 243 h 285"/>
                <a:gd name="T10" fmla="*/ 0 w 348"/>
                <a:gd name="T11" fmla="*/ 21 h 285"/>
              </a:gdLst>
              <a:ahLst/>
              <a:cxnLst>
                <a:cxn ang="0">
                  <a:pos x="T0" y="T1"/>
                </a:cxn>
                <a:cxn ang="0">
                  <a:pos x="T2" y="T3"/>
                </a:cxn>
                <a:cxn ang="0">
                  <a:pos x="T4" y="T5"/>
                </a:cxn>
                <a:cxn ang="0">
                  <a:pos x="T6" y="T7"/>
                </a:cxn>
                <a:cxn ang="0">
                  <a:pos x="T8" y="T9"/>
                </a:cxn>
                <a:cxn ang="0">
                  <a:pos x="T10" y="T11"/>
                </a:cxn>
              </a:cxnLst>
              <a:rect l="0" t="0" r="r" b="b"/>
              <a:pathLst>
                <a:path w="348" h="285">
                  <a:moveTo>
                    <a:pt x="0" y="21"/>
                  </a:moveTo>
                  <a:cubicBezTo>
                    <a:pt x="0" y="21"/>
                    <a:pt x="37" y="67"/>
                    <a:pt x="67" y="88"/>
                  </a:cubicBezTo>
                  <a:cubicBezTo>
                    <a:pt x="96" y="109"/>
                    <a:pt x="172" y="172"/>
                    <a:pt x="193" y="193"/>
                  </a:cubicBezTo>
                  <a:cubicBezTo>
                    <a:pt x="213" y="214"/>
                    <a:pt x="243" y="268"/>
                    <a:pt x="268" y="277"/>
                  </a:cubicBezTo>
                  <a:cubicBezTo>
                    <a:pt x="293" y="285"/>
                    <a:pt x="348" y="281"/>
                    <a:pt x="301" y="243"/>
                  </a:cubicBezTo>
                  <a:cubicBezTo>
                    <a:pt x="255" y="206"/>
                    <a:pt x="21" y="0"/>
                    <a:pt x="0" y="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81" name="Freeform 2135">
              <a:extLst>
                <a:ext uri="{FF2B5EF4-FFF2-40B4-BE49-F238E27FC236}">
                  <a16:creationId xmlns:a16="http://schemas.microsoft.com/office/drawing/2014/main" id="{68470CE4-5C1B-DDF6-277C-A8C7DD33CE78}"/>
                </a:ext>
              </a:extLst>
            </p:cNvPr>
            <p:cNvSpPr>
              <a:spLocks noEditPoints="1"/>
            </p:cNvSpPr>
            <p:nvPr/>
          </p:nvSpPr>
          <p:spPr bwMode="auto">
            <a:xfrm>
              <a:off x="2132" y="1976"/>
              <a:ext cx="74" cy="63"/>
            </a:xfrm>
            <a:custGeom>
              <a:avLst/>
              <a:gdLst>
                <a:gd name="T0" fmla="*/ 3 w 333"/>
                <a:gd name="T1" fmla="*/ 15 h 285"/>
                <a:gd name="T2" fmla="*/ 0 w 333"/>
                <a:gd name="T3" fmla="*/ 18 h 285"/>
                <a:gd name="T4" fmla="*/ 2 w 333"/>
                <a:gd name="T5" fmla="*/ 21 h 285"/>
                <a:gd name="T6" fmla="*/ 70 w 333"/>
                <a:gd name="T7" fmla="*/ 89 h 285"/>
                <a:gd name="T8" fmla="*/ 195 w 333"/>
                <a:gd name="T9" fmla="*/ 193 h 285"/>
                <a:gd name="T10" fmla="*/ 220 w 333"/>
                <a:gd name="T11" fmla="*/ 224 h 285"/>
                <a:gd name="T12" fmla="*/ 273 w 333"/>
                <a:gd name="T13" fmla="*/ 278 h 285"/>
                <a:gd name="T14" fmla="*/ 328 w 333"/>
                <a:gd name="T15" fmla="*/ 271 h 285"/>
                <a:gd name="T16" fmla="*/ 310 w 333"/>
                <a:gd name="T17" fmla="*/ 237 h 285"/>
                <a:gd name="T18" fmla="*/ 277 w 333"/>
                <a:gd name="T19" fmla="*/ 209 h 285"/>
                <a:gd name="T20" fmla="*/ 3 w 333"/>
                <a:gd name="T21" fmla="*/ 15 h 285"/>
                <a:gd name="T22" fmla="*/ 275 w 333"/>
                <a:gd name="T23" fmla="*/ 270 h 285"/>
                <a:gd name="T24" fmla="*/ 227 w 333"/>
                <a:gd name="T25" fmla="*/ 219 h 285"/>
                <a:gd name="T26" fmla="*/ 202 w 333"/>
                <a:gd name="T27" fmla="*/ 187 h 285"/>
                <a:gd name="T28" fmla="*/ 75 w 333"/>
                <a:gd name="T29" fmla="*/ 82 h 285"/>
                <a:gd name="T30" fmla="*/ 14 w 333"/>
                <a:gd name="T31" fmla="*/ 21 h 285"/>
                <a:gd name="T32" fmla="*/ 272 w 333"/>
                <a:gd name="T33" fmla="*/ 216 h 285"/>
                <a:gd name="T34" fmla="*/ 305 w 333"/>
                <a:gd name="T35" fmla="*/ 244 h 285"/>
                <a:gd name="T36" fmla="*/ 321 w 333"/>
                <a:gd name="T37" fmla="*/ 264 h 285"/>
                <a:gd name="T38" fmla="*/ 321 w 333"/>
                <a:gd name="T39" fmla="*/ 267 h 285"/>
                <a:gd name="T40" fmla="*/ 275 w 333"/>
                <a:gd name="T41" fmla="*/ 270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333" h="285">
                  <a:moveTo>
                    <a:pt x="3" y="15"/>
                  </a:moveTo>
                  <a:cubicBezTo>
                    <a:pt x="0" y="18"/>
                    <a:pt x="0" y="18"/>
                    <a:pt x="0" y="18"/>
                  </a:cubicBezTo>
                  <a:cubicBezTo>
                    <a:pt x="2" y="21"/>
                    <a:pt x="2" y="21"/>
                    <a:pt x="2" y="21"/>
                  </a:cubicBezTo>
                  <a:cubicBezTo>
                    <a:pt x="4" y="23"/>
                    <a:pt x="41" y="68"/>
                    <a:pt x="70" y="89"/>
                  </a:cubicBezTo>
                  <a:cubicBezTo>
                    <a:pt x="100" y="110"/>
                    <a:pt x="174" y="172"/>
                    <a:pt x="195" y="193"/>
                  </a:cubicBezTo>
                  <a:cubicBezTo>
                    <a:pt x="203" y="200"/>
                    <a:pt x="211" y="212"/>
                    <a:pt x="220" y="224"/>
                  </a:cubicBezTo>
                  <a:cubicBezTo>
                    <a:pt x="237" y="248"/>
                    <a:pt x="255" y="272"/>
                    <a:pt x="273" y="278"/>
                  </a:cubicBezTo>
                  <a:cubicBezTo>
                    <a:pt x="288" y="283"/>
                    <a:pt x="320" y="285"/>
                    <a:pt x="328" y="271"/>
                  </a:cubicBezTo>
                  <a:cubicBezTo>
                    <a:pt x="333" y="262"/>
                    <a:pt x="327" y="251"/>
                    <a:pt x="310" y="237"/>
                  </a:cubicBezTo>
                  <a:cubicBezTo>
                    <a:pt x="277" y="209"/>
                    <a:pt x="277" y="209"/>
                    <a:pt x="277" y="209"/>
                  </a:cubicBezTo>
                  <a:cubicBezTo>
                    <a:pt x="92" y="53"/>
                    <a:pt x="18" y="0"/>
                    <a:pt x="3" y="15"/>
                  </a:cubicBezTo>
                  <a:close/>
                  <a:moveTo>
                    <a:pt x="275" y="270"/>
                  </a:moveTo>
                  <a:cubicBezTo>
                    <a:pt x="260" y="265"/>
                    <a:pt x="243" y="240"/>
                    <a:pt x="227" y="219"/>
                  </a:cubicBezTo>
                  <a:cubicBezTo>
                    <a:pt x="218" y="206"/>
                    <a:pt x="209" y="195"/>
                    <a:pt x="202" y="187"/>
                  </a:cubicBezTo>
                  <a:cubicBezTo>
                    <a:pt x="180" y="166"/>
                    <a:pt x="105" y="103"/>
                    <a:pt x="75" y="82"/>
                  </a:cubicBezTo>
                  <a:cubicBezTo>
                    <a:pt x="52" y="65"/>
                    <a:pt x="24" y="33"/>
                    <a:pt x="14" y="21"/>
                  </a:cubicBezTo>
                  <a:cubicBezTo>
                    <a:pt x="36" y="24"/>
                    <a:pt x="123" y="90"/>
                    <a:pt x="272" y="216"/>
                  </a:cubicBezTo>
                  <a:cubicBezTo>
                    <a:pt x="305" y="244"/>
                    <a:pt x="305" y="244"/>
                    <a:pt x="305" y="244"/>
                  </a:cubicBezTo>
                  <a:cubicBezTo>
                    <a:pt x="315" y="252"/>
                    <a:pt x="321" y="260"/>
                    <a:pt x="321" y="264"/>
                  </a:cubicBezTo>
                  <a:cubicBezTo>
                    <a:pt x="321" y="265"/>
                    <a:pt x="321" y="266"/>
                    <a:pt x="321" y="267"/>
                  </a:cubicBezTo>
                  <a:cubicBezTo>
                    <a:pt x="317" y="274"/>
                    <a:pt x="292" y="275"/>
                    <a:pt x="275" y="27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82" name="Oval 2136">
              <a:extLst>
                <a:ext uri="{FF2B5EF4-FFF2-40B4-BE49-F238E27FC236}">
                  <a16:creationId xmlns:a16="http://schemas.microsoft.com/office/drawing/2014/main" id="{76338F6C-AEFE-4EFB-6DBB-30A7AD6CF5FF}"/>
                </a:ext>
              </a:extLst>
            </p:cNvPr>
            <p:cNvSpPr>
              <a:spLocks noChangeArrowheads="1"/>
            </p:cNvSpPr>
            <p:nvPr/>
          </p:nvSpPr>
          <p:spPr bwMode="auto">
            <a:xfrm>
              <a:off x="1709" y="4159"/>
              <a:ext cx="6" cy="4"/>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83" name="Freeform 2137">
              <a:extLst>
                <a:ext uri="{FF2B5EF4-FFF2-40B4-BE49-F238E27FC236}">
                  <a16:creationId xmlns:a16="http://schemas.microsoft.com/office/drawing/2014/main" id="{4340A6B6-271D-EBEC-FCCB-8602D9D4EFF9}"/>
                </a:ext>
              </a:extLst>
            </p:cNvPr>
            <p:cNvSpPr>
              <a:spLocks noEditPoints="1"/>
            </p:cNvSpPr>
            <p:nvPr/>
          </p:nvSpPr>
          <p:spPr bwMode="auto">
            <a:xfrm>
              <a:off x="1708" y="4158"/>
              <a:ext cx="8" cy="6"/>
            </a:xfrm>
            <a:custGeom>
              <a:avLst/>
              <a:gdLst>
                <a:gd name="T0" fmla="*/ 0 w 37"/>
                <a:gd name="T1" fmla="*/ 14 h 28"/>
                <a:gd name="T2" fmla="*/ 19 w 37"/>
                <a:gd name="T3" fmla="*/ 28 h 28"/>
                <a:gd name="T4" fmla="*/ 37 w 37"/>
                <a:gd name="T5" fmla="*/ 14 h 28"/>
                <a:gd name="T6" fmla="*/ 19 w 37"/>
                <a:gd name="T7" fmla="*/ 0 h 28"/>
                <a:gd name="T8" fmla="*/ 0 w 37"/>
                <a:gd name="T9" fmla="*/ 14 h 28"/>
                <a:gd name="T10" fmla="*/ 9 w 37"/>
                <a:gd name="T11" fmla="*/ 14 h 28"/>
                <a:gd name="T12" fmla="*/ 19 w 37"/>
                <a:gd name="T13" fmla="*/ 9 h 28"/>
                <a:gd name="T14" fmla="*/ 29 w 37"/>
                <a:gd name="T15" fmla="*/ 14 h 28"/>
                <a:gd name="T16" fmla="*/ 19 w 37"/>
                <a:gd name="T17" fmla="*/ 19 h 28"/>
                <a:gd name="T18" fmla="*/ 9 w 37"/>
                <a:gd name="T19" fmla="*/ 14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28">
                  <a:moveTo>
                    <a:pt x="0" y="14"/>
                  </a:moveTo>
                  <a:cubicBezTo>
                    <a:pt x="0" y="22"/>
                    <a:pt x="9" y="28"/>
                    <a:pt x="19" y="28"/>
                  </a:cubicBezTo>
                  <a:cubicBezTo>
                    <a:pt x="29" y="28"/>
                    <a:pt x="37" y="22"/>
                    <a:pt x="37" y="14"/>
                  </a:cubicBezTo>
                  <a:cubicBezTo>
                    <a:pt x="37" y="6"/>
                    <a:pt x="29" y="0"/>
                    <a:pt x="19" y="0"/>
                  </a:cubicBezTo>
                  <a:cubicBezTo>
                    <a:pt x="9" y="0"/>
                    <a:pt x="0" y="6"/>
                    <a:pt x="0" y="14"/>
                  </a:cubicBezTo>
                  <a:close/>
                  <a:moveTo>
                    <a:pt x="9" y="14"/>
                  </a:moveTo>
                  <a:cubicBezTo>
                    <a:pt x="9" y="12"/>
                    <a:pt x="13" y="9"/>
                    <a:pt x="19" y="9"/>
                  </a:cubicBezTo>
                  <a:cubicBezTo>
                    <a:pt x="24" y="9"/>
                    <a:pt x="29" y="12"/>
                    <a:pt x="29" y="14"/>
                  </a:cubicBezTo>
                  <a:cubicBezTo>
                    <a:pt x="29" y="16"/>
                    <a:pt x="24" y="19"/>
                    <a:pt x="19" y="19"/>
                  </a:cubicBezTo>
                  <a:cubicBezTo>
                    <a:pt x="13" y="19"/>
                    <a:pt x="9" y="16"/>
                    <a:pt x="9"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84" name="Oval 2138">
              <a:extLst>
                <a:ext uri="{FF2B5EF4-FFF2-40B4-BE49-F238E27FC236}">
                  <a16:creationId xmlns:a16="http://schemas.microsoft.com/office/drawing/2014/main" id="{3679DC00-089C-AADC-D275-1AF10BD64AEA}"/>
                </a:ext>
              </a:extLst>
            </p:cNvPr>
            <p:cNvSpPr>
              <a:spLocks noChangeArrowheads="1"/>
            </p:cNvSpPr>
            <p:nvPr/>
          </p:nvSpPr>
          <p:spPr bwMode="auto">
            <a:xfrm>
              <a:off x="1699" y="4167"/>
              <a:ext cx="6" cy="3"/>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85" name="Freeform 2139">
              <a:extLst>
                <a:ext uri="{FF2B5EF4-FFF2-40B4-BE49-F238E27FC236}">
                  <a16:creationId xmlns:a16="http://schemas.microsoft.com/office/drawing/2014/main" id="{B8C53728-619A-CD46-6DC2-64F45781053A}"/>
                </a:ext>
              </a:extLst>
            </p:cNvPr>
            <p:cNvSpPr>
              <a:spLocks noEditPoints="1"/>
            </p:cNvSpPr>
            <p:nvPr/>
          </p:nvSpPr>
          <p:spPr bwMode="auto">
            <a:xfrm>
              <a:off x="1698" y="4166"/>
              <a:ext cx="8" cy="5"/>
            </a:xfrm>
            <a:custGeom>
              <a:avLst/>
              <a:gdLst>
                <a:gd name="T0" fmla="*/ 0 w 37"/>
                <a:gd name="T1" fmla="*/ 11 h 23"/>
                <a:gd name="T2" fmla="*/ 19 w 37"/>
                <a:gd name="T3" fmla="*/ 23 h 23"/>
                <a:gd name="T4" fmla="*/ 37 w 37"/>
                <a:gd name="T5" fmla="*/ 11 h 23"/>
                <a:gd name="T6" fmla="*/ 19 w 37"/>
                <a:gd name="T7" fmla="*/ 0 h 23"/>
                <a:gd name="T8" fmla="*/ 0 w 37"/>
                <a:gd name="T9" fmla="*/ 11 h 23"/>
                <a:gd name="T10" fmla="*/ 9 w 37"/>
                <a:gd name="T11" fmla="*/ 11 h 23"/>
                <a:gd name="T12" fmla="*/ 19 w 37"/>
                <a:gd name="T13" fmla="*/ 9 h 23"/>
                <a:gd name="T14" fmla="*/ 28 w 37"/>
                <a:gd name="T15" fmla="*/ 11 h 23"/>
                <a:gd name="T16" fmla="*/ 19 w 37"/>
                <a:gd name="T17" fmla="*/ 14 h 23"/>
                <a:gd name="T18" fmla="*/ 9 w 37"/>
                <a:gd name="T19" fmla="*/ 11 h 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37" h="23">
                  <a:moveTo>
                    <a:pt x="0" y="11"/>
                  </a:moveTo>
                  <a:cubicBezTo>
                    <a:pt x="0" y="18"/>
                    <a:pt x="8" y="23"/>
                    <a:pt x="19" y="23"/>
                  </a:cubicBezTo>
                  <a:cubicBezTo>
                    <a:pt x="29" y="23"/>
                    <a:pt x="37" y="18"/>
                    <a:pt x="37" y="11"/>
                  </a:cubicBezTo>
                  <a:cubicBezTo>
                    <a:pt x="37" y="5"/>
                    <a:pt x="29" y="0"/>
                    <a:pt x="19" y="0"/>
                  </a:cubicBezTo>
                  <a:cubicBezTo>
                    <a:pt x="8" y="0"/>
                    <a:pt x="0" y="5"/>
                    <a:pt x="0" y="11"/>
                  </a:cubicBezTo>
                  <a:close/>
                  <a:moveTo>
                    <a:pt x="9" y="11"/>
                  </a:moveTo>
                  <a:cubicBezTo>
                    <a:pt x="9" y="11"/>
                    <a:pt x="13" y="9"/>
                    <a:pt x="19" y="9"/>
                  </a:cubicBezTo>
                  <a:cubicBezTo>
                    <a:pt x="24" y="9"/>
                    <a:pt x="28" y="10"/>
                    <a:pt x="28" y="11"/>
                  </a:cubicBezTo>
                  <a:cubicBezTo>
                    <a:pt x="28" y="12"/>
                    <a:pt x="24" y="14"/>
                    <a:pt x="19" y="14"/>
                  </a:cubicBezTo>
                  <a:cubicBezTo>
                    <a:pt x="13" y="14"/>
                    <a:pt x="9" y="12"/>
                    <a:pt x="9" y="1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86" name="Freeform 2140">
              <a:extLst>
                <a:ext uri="{FF2B5EF4-FFF2-40B4-BE49-F238E27FC236}">
                  <a16:creationId xmlns:a16="http://schemas.microsoft.com/office/drawing/2014/main" id="{2BAB3764-C26B-C077-81B8-E9FA3533E1AB}"/>
                </a:ext>
              </a:extLst>
            </p:cNvPr>
            <p:cNvSpPr>
              <a:spLocks/>
            </p:cNvSpPr>
            <p:nvPr/>
          </p:nvSpPr>
          <p:spPr bwMode="auto">
            <a:xfrm>
              <a:off x="1841" y="937"/>
              <a:ext cx="2" cy="4"/>
            </a:xfrm>
            <a:custGeom>
              <a:avLst/>
              <a:gdLst>
                <a:gd name="T0" fmla="*/ 0 w 2"/>
                <a:gd name="T1" fmla="*/ 3 h 4"/>
                <a:gd name="T2" fmla="*/ 0 w 2"/>
                <a:gd name="T3" fmla="*/ 3 h 4"/>
                <a:gd name="T4" fmla="*/ 2 w 2"/>
                <a:gd name="T5" fmla="*/ 4 h 4"/>
                <a:gd name="T6" fmla="*/ 2 w 2"/>
                <a:gd name="T7" fmla="*/ 3 h 4"/>
                <a:gd name="T8" fmla="*/ 0 w 2"/>
                <a:gd name="T9" fmla="*/ 0 h 4"/>
                <a:gd name="T10" fmla="*/ 0 w 2"/>
                <a:gd name="T11" fmla="*/ 3 h 4"/>
              </a:gdLst>
              <a:ahLst/>
              <a:cxnLst>
                <a:cxn ang="0">
                  <a:pos x="T0" y="T1"/>
                </a:cxn>
                <a:cxn ang="0">
                  <a:pos x="T2" y="T3"/>
                </a:cxn>
                <a:cxn ang="0">
                  <a:pos x="T4" y="T5"/>
                </a:cxn>
                <a:cxn ang="0">
                  <a:pos x="T6" y="T7"/>
                </a:cxn>
                <a:cxn ang="0">
                  <a:pos x="T8" y="T9"/>
                </a:cxn>
                <a:cxn ang="0">
                  <a:pos x="T10" y="T11"/>
                </a:cxn>
              </a:cxnLst>
              <a:rect l="0" t="0" r="r" b="b"/>
              <a:pathLst>
                <a:path w="2" h="4">
                  <a:moveTo>
                    <a:pt x="0" y="3"/>
                  </a:moveTo>
                  <a:lnTo>
                    <a:pt x="0" y="3"/>
                  </a:lnTo>
                  <a:lnTo>
                    <a:pt x="2" y="4"/>
                  </a:lnTo>
                  <a:lnTo>
                    <a:pt x="2" y="3"/>
                  </a:lnTo>
                  <a:lnTo>
                    <a:pt x="0" y="0"/>
                  </a:lnTo>
                  <a:lnTo>
                    <a:pt x="0" y="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87" name="Freeform 2141">
              <a:extLst>
                <a:ext uri="{FF2B5EF4-FFF2-40B4-BE49-F238E27FC236}">
                  <a16:creationId xmlns:a16="http://schemas.microsoft.com/office/drawing/2014/main" id="{52954908-5D27-62F1-C2CE-FB2A410899CD}"/>
                </a:ext>
              </a:extLst>
            </p:cNvPr>
            <p:cNvSpPr>
              <a:spLocks/>
            </p:cNvSpPr>
            <p:nvPr/>
          </p:nvSpPr>
          <p:spPr bwMode="auto">
            <a:xfrm>
              <a:off x="1478" y="3549"/>
              <a:ext cx="10" cy="8"/>
            </a:xfrm>
            <a:custGeom>
              <a:avLst/>
              <a:gdLst>
                <a:gd name="T0" fmla="*/ 0 w 45"/>
                <a:gd name="T1" fmla="*/ 12 h 35"/>
                <a:gd name="T2" fmla="*/ 25 w 45"/>
                <a:gd name="T3" fmla="*/ 34 h 35"/>
                <a:gd name="T4" fmla="*/ 42 w 45"/>
                <a:gd name="T5" fmla="*/ 13 h 35"/>
                <a:gd name="T6" fmla="*/ 0 w 45"/>
                <a:gd name="T7" fmla="*/ 12 h 35"/>
              </a:gdLst>
              <a:ahLst/>
              <a:cxnLst>
                <a:cxn ang="0">
                  <a:pos x="T0" y="T1"/>
                </a:cxn>
                <a:cxn ang="0">
                  <a:pos x="T2" y="T3"/>
                </a:cxn>
                <a:cxn ang="0">
                  <a:pos x="T4" y="T5"/>
                </a:cxn>
                <a:cxn ang="0">
                  <a:pos x="T6" y="T7"/>
                </a:cxn>
              </a:cxnLst>
              <a:rect l="0" t="0" r="r" b="b"/>
              <a:pathLst>
                <a:path w="45" h="35">
                  <a:moveTo>
                    <a:pt x="0" y="12"/>
                  </a:moveTo>
                  <a:cubicBezTo>
                    <a:pt x="0" y="12"/>
                    <a:pt x="6" y="35"/>
                    <a:pt x="25" y="34"/>
                  </a:cubicBezTo>
                  <a:cubicBezTo>
                    <a:pt x="45" y="32"/>
                    <a:pt x="44" y="17"/>
                    <a:pt x="42" y="13"/>
                  </a:cubicBezTo>
                  <a:cubicBezTo>
                    <a:pt x="39" y="9"/>
                    <a:pt x="0" y="0"/>
                    <a:pt x="0" y="1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88" name="Freeform 2142">
              <a:extLst>
                <a:ext uri="{FF2B5EF4-FFF2-40B4-BE49-F238E27FC236}">
                  <a16:creationId xmlns:a16="http://schemas.microsoft.com/office/drawing/2014/main" id="{023AB280-6849-5D1D-9604-5F33C9CE5747}"/>
                </a:ext>
              </a:extLst>
            </p:cNvPr>
            <p:cNvSpPr>
              <a:spLocks noEditPoints="1"/>
            </p:cNvSpPr>
            <p:nvPr/>
          </p:nvSpPr>
          <p:spPr bwMode="auto">
            <a:xfrm>
              <a:off x="1477" y="3549"/>
              <a:ext cx="12" cy="9"/>
            </a:xfrm>
            <a:custGeom>
              <a:avLst/>
              <a:gdLst>
                <a:gd name="T0" fmla="*/ 9 w 52"/>
                <a:gd name="T1" fmla="*/ 2 h 39"/>
                <a:gd name="T2" fmla="*/ 0 w 52"/>
                <a:gd name="T3" fmla="*/ 12 h 39"/>
                <a:gd name="T4" fmla="*/ 0 w 52"/>
                <a:gd name="T5" fmla="*/ 12 h 39"/>
                <a:gd name="T6" fmla="*/ 0 w 52"/>
                <a:gd name="T7" fmla="*/ 13 h 39"/>
                <a:gd name="T8" fmla="*/ 30 w 52"/>
                <a:gd name="T9" fmla="*/ 38 h 39"/>
                <a:gd name="T10" fmla="*/ 49 w 52"/>
                <a:gd name="T11" fmla="*/ 28 h 39"/>
                <a:gd name="T12" fmla="*/ 49 w 52"/>
                <a:gd name="T13" fmla="*/ 11 h 39"/>
                <a:gd name="T14" fmla="*/ 9 w 52"/>
                <a:gd name="T15" fmla="*/ 2 h 39"/>
                <a:gd name="T16" fmla="*/ 12 w 52"/>
                <a:gd name="T17" fmla="*/ 10 h 39"/>
                <a:gd name="T18" fmla="*/ 42 w 52"/>
                <a:gd name="T19" fmla="*/ 16 h 39"/>
                <a:gd name="T20" fmla="*/ 41 w 52"/>
                <a:gd name="T21" fmla="*/ 24 h 39"/>
                <a:gd name="T22" fmla="*/ 29 w 52"/>
                <a:gd name="T23" fmla="*/ 29 h 39"/>
                <a:gd name="T24" fmla="*/ 9 w 52"/>
                <a:gd name="T25" fmla="*/ 12 h 39"/>
                <a:gd name="T26" fmla="*/ 12 w 52"/>
                <a:gd name="T27" fmla="*/ 10 h 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52" h="39">
                  <a:moveTo>
                    <a:pt x="9" y="2"/>
                  </a:moveTo>
                  <a:cubicBezTo>
                    <a:pt x="1" y="4"/>
                    <a:pt x="0" y="10"/>
                    <a:pt x="0" y="12"/>
                  </a:cubicBezTo>
                  <a:cubicBezTo>
                    <a:pt x="0" y="12"/>
                    <a:pt x="0" y="12"/>
                    <a:pt x="0" y="12"/>
                  </a:cubicBezTo>
                  <a:cubicBezTo>
                    <a:pt x="0" y="13"/>
                    <a:pt x="0" y="13"/>
                    <a:pt x="0" y="13"/>
                  </a:cubicBezTo>
                  <a:cubicBezTo>
                    <a:pt x="2" y="22"/>
                    <a:pt x="11" y="39"/>
                    <a:pt x="30" y="38"/>
                  </a:cubicBezTo>
                  <a:cubicBezTo>
                    <a:pt x="41" y="37"/>
                    <a:pt x="46" y="32"/>
                    <a:pt x="49" y="28"/>
                  </a:cubicBezTo>
                  <a:cubicBezTo>
                    <a:pt x="52" y="22"/>
                    <a:pt x="51" y="14"/>
                    <a:pt x="49" y="11"/>
                  </a:cubicBezTo>
                  <a:cubicBezTo>
                    <a:pt x="46" y="5"/>
                    <a:pt x="20" y="0"/>
                    <a:pt x="9" y="2"/>
                  </a:cubicBezTo>
                  <a:close/>
                  <a:moveTo>
                    <a:pt x="12" y="10"/>
                  </a:moveTo>
                  <a:cubicBezTo>
                    <a:pt x="22" y="9"/>
                    <a:pt x="40" y="13"/>
                    <a:pt x="42" y="16"/>
                  </a:cubicBezTo>
                  <a:cubicBezTo>
                    <a:pt x="42" y="16"/>
                    <a:pt x="43" y="20"/>
                    <a:pt x="41" y="24"/>
                  </a:cubicBezTo>
                  <a:cubicBezTo>
                    <a:pt x="39" y="27"/>
                    <a:pt x="35" y="29"/>
                    <a:pt x="29" y="29"/>
                  </a:cubicBezTo>
                  <a:cubicBezTo>
                    <a:pt x="14" y="30"/>
                    <a:pt x="9" y="14"/>
                    <a:pt x="9" y="12"/>
                  </a:cubicBezTo>
                  <a:cubicBezTo>
                    <a:pt x="9" y="11"/>
                    <a:pt x="9" y="11"/>
                    <a:pt x="12"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89" name="Freeform 2143">
              <a:extLst>
                <a:ext uri="{FF2B5EF4-FFF2-40B4-BE49-F238E27FC236}">
                  <a16:creationId xmlns:a16="http://schemas.microsoft.com/office/drawing/2014/main" id="{0975D2EA-0CEA-E23D-3206-BA188AEA3CE2}"/>
                </a:ext>
              </a:extLst>
            </p:cNvPr>
            <p:cNvSpPr>
              <a:spLocks/>
            </p:cNvSpPr>
            <p:nvPr/>
          </p:nvSpPr>
          <p:spPr bwMode="auto">
            <a:xfrm>
              <a:off x="1479" y="3561"/>
              <a:ext cx="15" cy="12"/>
            </a:xfrm>
            <a:custGeom>
              <a:avLst/>
              <a:gdLst>
                <a:gd name="T0" fmla="*/ 0 w 68"/>
                <a:gd name="T1" fmla="*/ 7 h 53"/>
                <a:gd name="T2" fmla="*/ 18 w 68"/>
                <a:gd name="T3" fmla="*/ 38 h 53"/>
                <a:gd name="T4" fmla="*/ 57 w 68"/>
                <a:gd name="T5" fmla="*/ 45 h 53"/>
                <a:gd name="T6" fmla="*/ 50 w 68"/>
                <a:gd name="T7" fmla="*/ 13 h 53"/>
                <a:gd name="T8" fmla="*/ 0 w 68"/>
                <a:gd name="T9" fmla="*/ 7 h 53"/>
              </a:gdLst>
              <a:ahLst/>
              <a:cxnLst>
                <a:cxn ang="0">
                  <a:pos x="T0" y="T1"/>
                </a:cxn>
                <a:cxn ang="0">
                  <a:pos x="T2" y="T3"/>
                </a:cxn>
                <a:cxn ang="0">
                  <a:pos x="T4" y="T5"/>
                </a:cxn>
                <a:cxn ang="0">
                  <a:pos x="T6" y="T7"/>
                </a:cxn>
                <a:cxn ang="0">
                  <a:pos x="T8" y="T9"/>
                </a:cxn>
              </a:cxnLst>
              <a:rect l="0" t="0" r="r" b="b"/>
              <a:pathLst>
                <a:path w="68" h="53">
                  <a:moveTo>
                    <a:pt x="0" y="7"/>
                  </a:moveTo>
                  <a:cubicBezTo>
                    <a:pt x="0" y="7"/>
                    <a:pt x="4" y="30"/>
                    <a:pt x="18" y="38"/>
                  </a:cubicBezTo>
                  <a:cubicBezTo>
                    <a:pt x="32" y="47"/>
                    <a:pt x="51" y="53"/>
                    <a:pt x="57" y="45"/>
                  </a:cubicBezTo>
                  <a:cubicBezTo>
                    <a:pt x="64" y="36"/>
                    <a:pt x="68" y="15"/>
                    <a:pt x="50" y="13"/>
                  </a:cubicBezTo>
                  <a:cubicBezTo>
                    <a:pt x="31" y="11"/>
                    <a:pt x="7" y="0"/>
                    <a:pt x="0" y="7"/>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90" name="Freeform 2144">
              <a:extLst>
                <a:ext uri="{FF2B5EF4-FFF2-40B4-BE49-F238E27FC236}">
                  <a16:creationId xmlns:a16="http://schemas.microsoft.com/office/drawing/2014/main" id="{A53B15B3-A640-811E-15C9-2059C89A59D5}"/>
                </a:ext>
              </a:extLst>
            </p:cNvPr>
            <p:cNvSpPr>
              <a:spLocks noEditPoints="1"/>
            </p:cNvSpPr>
            <p:nvPr/>
          </p:nvSpPr>
          <p:spPr bwMode="auto">
            <a:xfrm>
              <a:off x="1478" y="3560"/>
              <a:ext cx="16" cy="14"/>
            </a:xfrm>
            <a:custGeom>
              <a:avLst/>
              <a:gdLst>
                <a:gd name="T0" fmla="*/ 2 w 74"/>
                <a:gd name="T1" fmla="*/ 5 h 61"/>
                <a:gd name="T2" fmla="*/ 0 w 74"/>
                <a:gd name="T3" fmla="*/ 7 h 61"/>
                <a:gd name="T4" fmla="*/ 0 w 74"/>
                <a:gd name="T5" fmla="*/ 9 h 61"/>
                <a:gd name="T6" fmla="*/ 21 w 74"/>
                <a:gd name="T7" fmla="*/ 44 h 61"/>
                <a:gd name="T8" fmla="*/ 66 w 74"/>
                <a:gd name="T9" fmla="*/ 49 h 61"/>
                <a:gd name="T10" fmla="*/ 71 w 74"/>
                <a:gd name="T11" fmla="*/ 21 h 61"/>
                <a:gd name="T12" fmla="*/ 55 w 74"/>
                <a:gd name="T13" fmla="*/ 11 h 61"/>
                <a:gd name="T14" fmla="*/ 35 w 74"/>
                <a:gd name="T15" fmla="*/ 7 h 61"/>
                <a:gd name="T16" fmla="*/ 2 w 74"/>
                <a:gd name="T17" fmla="*/ 5 h 61"/>
                <a:gd name="T18" fmla="*/ 33 w 74"/>
                <a:gd name="T19" fmla="*/ 15 h 61"/>
                <a:gd name="T20" fmla="*/ 54 w 74"/>
                <a:gd name="T21" fmla="*/ 19 h 61"/>
                <a:gd name="T22" fmla="*/ 63 w 74"/>
                <a:gd name="T23" fmla="*/ 25 h 61"/>
                <a:gd name="T24" fmla="*/ 59 w 74"/>
                <a:gd name="T25" fmla="*/ 44 h 61"/>
                <a:gd name="T26" fmla="*/ 25 w 74"/>
                <a:gd name="T27" fmla="*/ 37 h 61"/>
                <a:gd name="T28" fmla="*/ 10 w 74"/>
                <a:gd name="T29" fmla="*/ 11 h 61"/>
                <a:gd name="T30" fmla="*/ 33 w 74"/>
                <a:gd name="T31" fmla="*/ 15 h 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74" h="61">
                  <a:moveTo>
                    <a:pt x="2" y="5"/>
                  </a:moveTo>
                  <a:cubicBezTo>
                    <a:pt x="0" y="7"/>
                    <a:pt x="0" y="7"/>
                    <a:pt x="0" y="7"/>
                  </a:cubicBezTo>
                  <a:cubicBezTo>
                    <a:pt x="0" y="9"/>
                    <a:pt x="0" y="9"/>
                    <a:pt x="0" y="9"/>
                  </a:cubicBezTo>
                  <a:cubicBezTo>
                    <a:pt x="1" y="10"/>
                    <a:pt x="5" y="34"/>
                    <a:pt x="21" y="44"/>
                  </a:cubicBezTo>
                  <a:cubicBezTo>
                    <a:pt x="37" y="54"/>
                    <a:pt x="57" y="61"/>
                    <a:pt x="66" y="49"/>
                  </a:cubicBezTo>
                  <a:cubicBezTo>
                    <a:pt x="71" y="42"/>
                    <a:pt x="74" y="30"/>
                    <a:pt x="71" y="21"/>
                  </a:cubicBezTo>
                  <a:cubicBezTo>
                    <a:pt x="69" y="17"/>
                    <a:pt x="65" y="12"/>
                    <a:pt x="55" y="11"/>
                  </a:cubicBezTo>
                  <a:cubicBezTo>
                    <a:pt x="35" y="7"/>
                    <a:pt x="35" y="7"/>
                    <a:pt x="35" y="7"/>
                  </a:cubicBezTo>
                  <a:cubicBezTo>
                    <a:pt x="21" y="3"/>
                    <a:pt x="8" y="0"/>
                    <a:pt x="2" y="5"/>
                  </a:cubicBezTo>
                  <a:close/>
                  <a:moveTo>
                    <a:pt x="33" y="15"/>
                  </a:moveTo>
                  <a:cubicBezTo>
                    <a:pt x="54" y="19"/>
                    <a:pt x="54" y="19"/>
                    <a:pt x="54" y="19"/>
                  </a:cubicBezTo>
                  <a:cubicBezTo>
                    <a:pt x="59" y="20"/>
                    <a:pt x="61" y="22"/>
                    <a:pt x="63" y="25"/>
                  </a:cubicBezTo>
                  <a:cubicBezTo>
                    <a:pt x="65" y="30"/>
                    <a:pt x="63" y="39"/>
                    <a:pt x="59" y="44"/>
                  </a:cubicBezTo>
                  <a:cubicBezTo>
                    <a:pt x="55" y="49"/>
                    <a:pt x="41" y="46"/>
                    <a:pt x="25" y="37"/>
                  </a:cubicBezTo>
                  <a:cubicBezTo>
                    <a:pt x="16" y="31"/>
                    <a:pt x="11" y="18"/>
                    <a:pt x="10" y="11"/>
                  </a:cubicBezTo>
                  <a:cubicBezTo>
                    <a:pt x="14" y="10"/>
                    <a:pt x="24" y="13"/>
                    <a:pt x="33"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91" name="Freeform 2145">
              <a:extLst>
                <a:ext uri="{FF2B5EF4-FFF2-40B4-BE49-F238E27FC236}">
                  <a16:creationId xmlns:a16="http://schemas.microsoft.com/office/drawing/2014/main" id="{50635143-474B-A148-6859-7B6B881036CB}"/>
                </a:ext>
              </a:extLst>
            </p:cNvPr>
            <p:cNvSpPr>
              <a:spLocks/>
            </p:cNvSpPr>
            <p:nvPr/>
          </p:nvSpPr>
          <p:spPr bwMode="auto">
            <a:xfrm>
              <a:off x="1494" y="3574"/>
              <a:ext cx="19" cy="46"/>
            </a:xfrm>
            <a:custGeom>
              <a:avLst/>
              <a:gdLst>
                <a:gd name="T0" fmla="*/ 1 w 84"/>
                <a:gd name="T1" fmla="*/ 18 h 212"/>
                <a:gd name="T2" fmla="*/ 6 w 84"/>
                <a:gd name="T3" fmla="*/ 88 h 212"/>
                <a:gd name="T4" fmla="*/ 31 w 84"/>
                <a:gd name="T5" fmla="*/ 150 h 212"/>
                <a:gd name="T6" fmla="*/ 51 w 84"/>
                <a:gd name="T7" fmla="*/ 191 h 212"/>
                <a:gd name="T8" fmla="*/ 69 w 84"/>
                <a:gd name="T9" fmla="*/ 168 h 212"/>
                <a:gd name="T10" fmla="*/ 41 w 84"/>
                <a:gd name="T11" fmla="*/ 90 h 212"/>
                <a:gd name="T12" fmla="*/ 1 w 84"/>
                <a:gd name="T13" fmla="*/ 18 h 212"/>
              </a:gdLst>
              <a:ahLst/>
              <a:cxnLst>
                <a:cxn ang="0">
                  <a:pos x="T0" y="T1"/>
                </a:cxn>
                <a:cxn ang="0">
                  <a:pos x="T2" y="T3"/>
                </a:cxn>
                <a:cxn ang="0">
                  <a:pos x="T4" y="T5"/>
                </a:cxn>
                <a:cxn ang="0">
                  <a:pos x="T6" y="T7"/>
                </a:cxn>
                <a:cxn ang="0">
                  <a:pos x="T8" y="T9"/>
                </a:cxn>
                <a:cxn ang="0">
                  <a:pos x="T10" y="T11"/>
                </a:cxn>
                <a:cxn ang="0">
                  <a:pos x="T12" y="T13"/>
                </a:cxn>
              </a:cxnLst>
              <a:rect l="0" t="0" r="r" b="b"/>
              <a:pathLst>
                <a:path w="84" h="212">
                  <a:moveTo>
                    <a:pt x="1" y="18"/>
                  </a:moveTo>
                  <a:cubicBezTo>
                    <a:pt x="1" y="18"/>
                    <a:pt x="0" y="75"/>
                    <a:pt x="6" y="88"/>
                  </a:cubicBezTo>
                  <a:cubicBezTo>
                    <a:pt x="11" y="101"/>
                    <a:pt x="10" y="121"/>
                    <a:pt x="31" y="150"/>
                  </a:cubicBezTo>
                  <a:cubicBezTo>
                    <a:pt x="51" y="179"/>
                    <a:pt x="46" y="187"/>
                    <a:pt x="51" y="191"/>
                  </a:cubicBezTo>
                  <a:cubicBezTo>
                    <a:pt x="57" y="196"/>
                    <a:pt x="84" y="212"/>
                    <a:pt x="69" y="168"/>
                  </a:cubicBezTo>
                  <a:cubicBezTo>
                    <a:pt x="53" y="125"/>
                    <a:pt x="41" y="90"/>
                    <a:pt x="41" y="90"/>
                  </a:cubicBezTo>
                  <a:cubicBezTo>
                    <a:pt x="41" y="90"/>
                    <a:pt x="24" y="0"/>
                    <a:pt x="1"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92" name="Freeform 2146">
              <a:extLst>
                <a:ext uri="{FF2B5EF4-FFF2-40B4-BE49-F238E27FC236}">
                  <a16:creationId xmlns:a16="http://schemas.microsoft.com/office/drawing/2014/main" id="{F45FCF28-C051-CD90-CD00-CE56713BFCF2}"/>
                </a:ext>
              </a:extLst>
            </p:cNvPr>
            <p:cNvSpPr>
              <a:spLocks noEditPoints="1"/>
            </p:cNvSpPr>
            <p:nvPr/>
          </p:nvSpPr>
          <p:spPr bwMode="auto">
            <a:xfrm>
              <a:off x="1493" y="3576"/>
              <a:ext cx="18" cy="43"/>
            </a:xfrm>
            <a:custGeom>
              <a:avLst/>
              <a:gdLst>
                <a:gd name="T0" fmla="*/ 2 w 83"/>
                <a:gd name="T1" fmla="*/ 4 h 196"/>
                <a:gd name="T2" fmla="*/ 1 w 83"/>
                <a:gd name="T3" fmla="*/ 5 h 196"/>
                <a:gd name="T4" fmla="*/ 1 w 83"/>
                <a:gd name="T5" fmla="*/ 7 h 196"/>
                <a:gd name="T6" fmla="*/ 6 w 83"/>
                <a:gd name="T7" fmla="*/ 79 h 196"/>
                <a:gd name="T8" fmla="*/ 9 w 83"/>
                <a:gd name="T9" fmla="*/ 91 h 196"/>
                <a:gd name="T10" fmla="*/ 31 w 83"/>
                <a:gd name="T11" fmla="*/ 141 h 196"/>
                <a:gd name="T12" fmla="*/ 48 w 83"/>
                <a:gd name="T13" fmla="*/ 174 h 196"/>
                <a:gd name="T14" fmla="*/ 53 w 83"/>
                <a:gd name="T15" fmla="*/ 184 h 196"/>
                <a:gd name="T16" fmla="*/ 77 w 83"/>
                <a:gd name="T17" fmla="*/ 189 h 196"/>
                <a:gd name="T18" fmla="*/ 77 w 83"/>
                <a:gd name="T19" fmla="*/ 156 h 196"/>
                <a:gd name="T20" fmla="*/ 50 w 83"/>
                <a:gd name="T21" fmla="*/ 78 h 196"/>
                <a:gd name="T22" fmla="*/ 16 w 83"/>
                <a:gd name="T23" fmla="*/ 1 h 196"/>
                <a:gd name="T24" fmla="*/ 2 w 83"/>
                <a:gd name="T25" fmla="*/ 4 h 196"/>
                <a:gd name="T26" fmla="*/ 13 w 83"/>
                <a:gd name="T27" fmla="*/ 9 h 196"/>
                <a:gd name="T28" fmla="*/ 41 w 83"/>
                <a:gd name="T29" fmla="*/ 80 h 196"/>
                <a:gd name="T30" fmla="*/ 69 w 83"/>
                <a:gd name="T31" fmla="*/ 159 h 196"/>
                <a:gd name="T32" fmla="*/ 72 w 83"/>
                <a:gd name="T33" fmla="*/ 182 h 196"/>
                <a:gd name="T34" fmla="*/ 58 w 83"/>
                <a:gd name="T35" fmla="*/ 177 h 196"/>
                <a:gd name="T36" fmla="*/ 56 w 83"/>
                <a:gd name="T37" fmla="*/ 172 h 196"/>
                <a:gd name="T38" fmla="*/ 38 w 83"/>
                <a:gd name="T39" fmla="*/ 136 h 196"/>
                <a:gd name="T40" fmla="*/ 18 w 83"/>
                <a:gd name="T41" fmla="*/ 89 h 196"/>
                <a:gd name="T42" fmla="*/ 14 w 83"/>
                <a:gd name="T43" fmla="*/ 75 h 196"/>
                <a:gd name="T44" fmla="*/ 9 w 83"/>
                <a:gd name="T45" fmla="*/ 19 h 196"/>
                <a:gd name="T46" fmla="*/ 9 w 83"/>
                <a:gd name="T47" fmla="*/ 10 h 196"/>
                <a:gd name="T48" fmla="*/ 13 w 83"/>
                <a:gd name="T49" fmla="*/ 9 h 1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83" h="196">
                  <a:moveTo>
                    <a:pt x="2" y="4"/>
                  </a:moveTo>
                  <a:cubicBezTo>
                    <a:pt x="1" y="5"/>
                    <a:pt x="1" y="5"/>
                    <a:pt x="1" y="5"/>
                  </a:cubicBezTo>
                  <a:cubicBezTo>
                    <a:pt x="1" y="7"/>
                    <a:pt x="1" y="7"/>
                    <a:pt x="1" y="7"/>
                  </a:cubicBezTo>
                  <a:cubicBezTo>
                    <a:pt x="1" y="13"/>
                    <a:pt x="0" y="65"/>
                    <a:pt x="6" y="79"/>
                  </a:cubicBezTo>
                  <a:cubicBezTo>
                    <a:pt x="9" y="91"/>
                    <a:pt x="9" y="91"/>
                    <a:pt x="9" y="91"/>
                  </a:cubicBezTo>
                  <a:cubicBezTo>
                    <a:pt x="12" y="103"/>
                    <a:pt x="16" y="120"/>
                    <a:pt x="31" y="141"/>
                  </a:cubicBezTo>
                  <a:cubicBezTo>
                    <a:pt x="44" y="159"/>
                    <a:pt x="46" y="169"/>
                    <a:pt x="48" y="174"/>
                  </a:cubicBezTo>
                  <a:cubicBezTo>
                    <a:pt x="49" y="178"/>
                    <a:pt x="49" y="181"/>
                    <a:pt x="53" y="184"/>
                  </a:cubicBezTo>
                  <a:cubicBezTo>
                    <a:pt x="53" y="184"/>
                    <a:pt x="68" y="196"/>
                    <a:pt x="77" y="189"/>
                  </a:cubicBezTo>
                  <a:cubicBezTo>
                    <a:pt x="83" y="185"/>
                    <a:pt x="83" y="174"/>
                    <a:pt x="77" y="156"/>
                  </a:cubicBezTo>
                  <a:cubicBezTo>
                    <a:pt x="50" y="78"/>
                    <a:pt x="50" y="78"/>
                    <a:pt x="50" y="78"/>
                  </a:cubicBezTo>
                  <a:cubicBezTo>
                    <a:pt x="47" y="67"/>
                    <a:pt x="35" y="8"/>
                    <a:pt x="16" y="1"/>
                  </a:cubicBezTo>
                  <a:cubicBezTo>
                    <a:pt x="13" y="0"/>
                    <a:pt x="8" y="0"/>
                    <a:pt x="2" y="4"/>
                  </a:cubicBezTo>
                  <a:close/>
                  <a:moveTo>
                    <a:pt x="13" y="9"/>
                  </a:moveTo>
                  <a:cubicBezTo>
                    <a:pt x="24" y="14"/>
                    <a:pt x="36" y="55"/>
                    <a:pt x="41" y="80"/>
                  </a:cubicBezTo>
                  <a:cubicBezTo>
                    <a:pt x="41" y="80"/>
                    <a:pt x="69" y="159"/>
                    <a:pt x="69" y="159"/>
                  </a:cubicBezTo>
                  <a:cubicBezTo>
                    <a:pt x="76" y="179"/>
                    <a:pt x="72" y="182"/>
                    <a:pt x="72" y="182"/>
                  </a:cubicBezTo>
                  <a:cubicBezTo>
                    <a:pt x="70" y="184"/>
                    <a:pt x="62" y="180"/>
                    <a:pt x="58" y="177"/>
                  </a:cubicBezTo>
                  <a:cubicBezTo>
                    <a:pt x="57" y="176"/>
                    <a:pt x="57" y="175"/>
                    <a:pt x="56" y="172"/>
                  </a:cubicBezTo>
                  <a:cubicBezTo>
                    <a:pt x="54" y="166"/>
                    <a:pt x="52" y="156"/>
                    <a:pt x="38" y="136"/>
                  </a:cubicBezTo>
                  <a:cubicBezTo>
                    <a:pt x="24" y="116"/>
                    <a:pt x="20" y="101"/>
                    <a:pt x="18" y="89"/>
                  </a:cubicBezTo>
                  <a:cubicBezTo>
                    <a:pt x="14" y="75"/>
                    <a:pt x="14" y="75"/>
                    <a:pt x="14" y="75"/>
                  </a:cubicBezTo>
                  <a:cubicBezTo>
                    <a:pt x="10" y="67"/>
                    <a:pt x="9" y="38"/>
                    <a:pt x="9" y="19"/>
                  </a:cubicBezTo>
                  <a:cubicBezTo>
                    <a:pt x="9" y="15"/>
                    <a:pt x="9" y="13"/>
                    <a:pt x="9" y="10"/>
                  </a:cubicBezTo>
                  <a:cubicBezTo>
                    <a:pt x="11" y="9"/>
                    <a:pt x="12" y="9"/>
                    <a:pt x="13" y="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93" name="Freeform 2147">
              <a:extLst>
                <a:ext uri="{FF2B5EF4-FFF2-40B4-BE49-F238E27FC236}">
                  <a16:creationId xmlns:a16="http://schemas.microsoft.com/office/drawing/2014/main" id="{0C3B0A0E-5BB4-EDBD-13A3-B3188C9C04D5}"/>
                </a:ext>
              </a:extLst>
            </p:cNvPr>
            <p:cNvSpPr>
              <a:spLocks/>
            </p:cNvSpPr>
            <p:nvPr/>
          </p:nvSpPr>
          <p:spPr bwMode="auto">
            <a:xfrm>
              <a:off x="1712" y="3689"/>
              <a:ext cx="192" cy="101"/>
            </a:xfrm>
            <a:custGeom>
              <a:avLst/>
              <a:gdLst>
                <a:gd name="T0" fmla="*/ 97 w 869"/>
                <a:gd name="T1" fmla="*/ 34 h 454"/>
                <a:gd name="T2" fmla="*/ 81 w 869"/>
                <a:gd name="T3" fmla="*/ 85 h 454"/>
                <a:gd name="T4" fmla="*/ 191 w 869"/>
                <a:gd name="T5" fmla="*/ 69 h 454"/>
                <a:gd name="T6" fmla="*/ 314 w 869"/>
                <a:gd name="T7" fmla="*/ 154 h 454"/>
                <a:gd name="T8" fmla="*/ 432 w 869"/>
                <a:gd name="T9" fmla="*/ 323 h 454"/>
                <a:gd name="T10" fmla="*/ 568 w 869"/>
                <a:gd name="T11" fmla="*/ 417 h 454"/>
                <a:gd name="T12" fmla="*/ 650 w 869"/>
                <a:gd name="T13" fmla="*/ 423 h 454"/>
                <a:gd name="T14" fmla="*/ 682 w 869"/>
                <a:gd name="T15" fmla="*/ 303 h 454"/>
                <a:gd name="T16" fmla="*/ 793 w 869"/>
                <a:gd name="T17" fmla="*/ 310 h 454"/>
                <a:gd name="T18" fmla="*/ 762 w 869"/>
                <a:gd name="T19" fmla="*/ 172 h 454"/>
                <a:gd name="T20" fmla="*/ 528 w 869"/>
                <a:gd name="T21" fmla="*/ 105 h 454"/>
                <a:gd name="T22" fmla="*/ 337 w 869"/>
                <a:gd name="T23" fmla="*/ 20 h 454"/>
                <a:gd name="T24" fmla="*/ 97 w 869"/>
                <a:gd name="T25" fmla="*/ 34 h 4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869" h="454">
                  <a:moveTo>
                    <a:pt x="97" y="34"/>
                  </a:moveTo>
                  <a:cubicBezTo>
                    <a:pt x="97" y="34"/>
                    <a:pt x="0" y="81"/>
                    <a:pt x="81" y="85"/>
                  </a:cubicBezTo>
                  <a:cubicBezTo>
                    <a:pt x="162" y="89"/>
                    <a:pt x="137" y="60"/>
                    <a:pt x="191" y="69"/>
                  </a:cubicBezTo>
                  <a:cubicBezTo>
                    <a:pt x="245" y="78"/>
                    <a:pt x="287" y="93"/>
                    <a:pt x="314" y="154"/>
                  </a:cubicBezTo>
                  <a:cubicBezTo>
                    <a:pt x="314" y="154"/>
                    <a:pt x="362" y="275"/>
                    <a:pt x="432" y="323"/>
                  </a:cubicBezTo>
                  <a:cubicBezTo>
                    <a:pt x="502" y="372"/>
                    <a:pt x="537" y="398"/>
                    <a:pt x="568" y="417"/>
                  </a:cubicBezTo>
                  <a:cubicBezTo>
                    <a:pt x="599" y="436"/>
                    <a:pt x="635" y="454"/>
                    <a:pt x="650" y="423"/>
                  </a:cubicBezTo>
                  <a:cubicBezTo>
                    <a:pt x="665" y="392"/>
                    <a:pt x="700" y="334"/>
                    <a:pt x="682" y="303"/>
                  </a:cubicBezTo>
                  <a:cubicBezTo>
                    <a:pt x="665" y="272"/>
                    <a:pt x="755" y="370"/>
                    <a:pt x="793" y="310"/>
                  </a:cubicBezTo>
                  <a:cubicBezTo>
                    <a:pt x="830" y="249"/>
                    <a:pt x="869" y="216"/>
                    <a:pt x="762" y="172"/>
                  </a:cubicBezTo>
                  <a:cubicBezTo>
                    <a:pt x="654" y="129"/>
                    <a:pt x="591" y="133"/>
                    <a:pt x="528" y="105"/>
                  </a:cubicBezTo>
                  <a:cubicBezTo>
                    <a:pt x="464" y="77"/>
                    <a:pt x="361" y="30"/>
                    <a:pt x="337" y="20"/>
                  </a:cubicBezTo>
                  <a:cubicBezTo>
                    <a:pt x="299" y="6"/>
                    <a:pt x="170" y="0"/>
                    <a:pt x="97" y="3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94" name="Freeform 2148">
              <a:extLst>
                <a:ext uri="{FF2B5EF4-FFF2-40B4-BE49-F238E27FC236}">
                  <a16:creationId xmlns:a16="http://schemas.microsoft.com/office/drawing/2014/main" id="{A9FB8197-7B93-F310-67CB-E6F08DFFD558}"/>
                </a:ext>
              </a:extLst>
            </p:cNvPr>
            <p:cNvSpPr>
              <a:spLocks noEditPoints="1"/>
            </p:cNvSpPr>
            <p:nvPr/>
          </p:nvSpPr>
          <p:spPr bwMode="auto">
            <a:xfrm>
              <a:off x="1720" y="3687"/>
              <a:ext cx="178" cy="102"/>
            </a:xfrm>
            <a:custGeom>
              <a:avLst/>
              <a:gdLst>
                <a:gd name="T0" fmla="*/ 57 w 808"/>
                <a:gd name="T1" fmla="*/ 35 h 460"/>
                <a:gd name="T2" fmla="*/ 57 w 808"/>
                <a:gd name="T3" fmla="*/ 35 h 460"/>
                <a:gd name="T4" fmla="*/ 4 w 808"/>
                <a:gd name="T5" fmla="*/ 84 h 460"/>
                <a:gd name="T6" fmla="*/ 44 w 808"/>
                <a:gd name="T7" fmla="*/ 101 h 460"/>
                <a:gd name="T8" fmla="*/ 115 w 808"/>
                <a:gd name="T9" fmla="*/ 89 h 460"/>
                <a:gd name="T10" fmla="*/ 153 w 808"/>
                <a:gd name="T11" fmla="*/ 85 h 460"/>
                <a:gd name="T12" fmla="*/ 269 w 808"/>
                <a:gd name="T13" fmla="*/ 165 h 460"/>
                <a:gd name="T14" fmla="*/ 390 w 808"/>
                <a:gd name="T15" fmla="*/ 338 h 460"/>
                <a:gd name="T16" fmla="*/ 458 w 808"/>
                <a:gd name="T17" fmla="*/ 385 h 460"/>
                <a:gd name="T18" fmla="*/ 527 w 808"/>
                <a:gd name="T19" fmla="*/ 432 h 460"/>
                <a:gd name="T20" fmla="*/ 598 w 808"/>
                <a:gd name="T21" fmla="*/ 454 h 460"/>
                <a:gd name="T22" fmla="*/ 620 w 808"/>
                <a:gd name="T23" fmla="*/ 434 h 460"/>
                <a:gd name="T24" fmla="*/ 628 w 808"/>
                <a:gd name="T25" fmla="*/ 419 h 460"/>
                <a:gd name="T26" fmla="*/ 658 w 808"/>
                <a:gd name="T27" fmla="*/ 331 h 460"/>
                <a:gd name="T28" fmla="*/ 656 w 808"/>
                <a:gd name="T29" fmla="*/ 321 h 460"/>
                <a:gd name="T30" fmla="*/ 732 w 808"/>
                <a:gd name="T31" fmla="*/ 345 h 460"/>
                <a:gd name="T32" fmla="*/ 762 w 808"/>
                <a:gd name="T33" fmla="*/ 322 h 460"/>
                <a:gd name="T34" fmla="*/ 775 w 808"/>
                <a:gd name="T35" fmla="*/ 303 h 460"/>
                <a:gd name="T36" fmla="*/ 801 w 808"/>
                <a:gd name="T37" fmla="*/ 228 h 460"/>
                <a:gd name="T38" fmla="*/ 728 w 808"/>
                <a:gd name="T39" fmla="*/ 173 h 460"/>
                <a:gd name="T40" fmla="*/ 584 w 808"/>
                <a:gd name="T41" fmla="*/ 132 h 460"/>
                <a:gd name="T42" fmla="*/ 494 w 808"/>
                <a:gd name="T43" fmla="*/ 106 h 460"/>
                <a:gd name="T44" fmla="*/ 439 w 808"/>
                <a:gd name="T45" fmla="*/ 81 h 460"/>
                <a:gd name="T46" fmla="*/ 302 w 808"/>
                <a:gd name="T47" fmla="*/ 21 h 460"/>
                <a:gd name="T48" fmla="*/ 57 w 808"/>
                <a:gd name="T49" fmla="*/ 35 h 460"/>
                <a:gd name="T50" fmla="*/ 44 w 808"/>
                <a:gd name="T51" fmla="*/ 85 h 460"/>
                <a:gd name="T52" fmla="*/ 20 w 808"/>
                <a:gd name="T53" fmla="*/ 80 h 460"/>
                <a:gd name="T54" fmla="*/ 64 w 808"/>
                <a:gd name="T55" fmla="*/ 49 h 460"/>
                <a:gd name="T56" fmla="*/ 297 w 808"/>
                <a:gd name="T57" fmla="*/ 36 h 460"/>
                <a:gd name="T58" fmla="*/ 432 w 808"/>
                <a:gd name="T59" fmla="*/ 96 h 460"/>
                <a:gd name="T60" fmla="*/ 487 w 808"/>
                <a:gd name="T61" fmla="*/ 121 h 460"/>
                <a:gd name="T62" fmla="*/ 581 w 808"/>
                <a:gd name="T63" fmla="*/ 147 h 460"/>
                <a:gd name="T64" fmla="*/ 722 w 808"/>
                <a:gd name="T65" fmla="*/ 188 h 460"/>
                <a:gd name="T66" fmla="*/ 785 w 808"/>
                <a:gd name="T67" fmla="*/ 233 h 460"/>
                <a:gd name="T68" fmla="*/ 761 w 808"/>
                <a:gd name="T69" fmla="*/ 294 h 460"/>
                <a:gd name="T70" fmla="*/ 749 w 808"/>
                <a:gd name="T71" fmla="*/ 313 h 460"/>
                <a:gd name="T72" fmla="*/ 729 w 808"/>
                <a:gd name="T73" fmla="*/ 329 h 460"/>
                <a:gd name="T74" fmla="*/ 661 w 808"/>
                <a:gd name="T75" fmla="*/ 305 h 460"/>
                <a:gd name="T76" fmla="*/ 638 w 808"/>
                <a:gd name="T77" fmla="*/ 299 h 460"/>
                <a:gd name="T78" fmla="*/ 638 w 808"/>
                <a:gd name="T79" fmla="*/ 315 h 460"/>
                <a:gd name="T80" fmla="*/ 613 w 808"/>
                <a:gd name="T81" fmla="*/ 412 h 460"/>
                <a:gd name="T82" fmla="*/ 606 w 808"/>
                <a:gd name="T83" fmla="*/ 427 h 460"/>
                <a:gd name="T84" fmla="*/ 594 w 808"/>
                <a:gd name="T85" fmla="*/ 439 h 460"/>
                <a:gd name="T86" fmla="*/ 535 w 808"/>
                <a:gd name="T87" fmla="*/ 418 h 460"/>
                <a:gd name="T88" fmla="*/ 468 w 808"/>
                <a:gd name="T89" fmla="*/ 373 h 460"/>
                <a:gd name="T90" fmla="*/ 400 w 808"/>
                <a:gd name="T91" fmla="*/ 325 h 460"/>
                <a:gd name="T92" fmla="*/ 284 w 808"/>
                <a:gd name="T93" fmla="*/ 159 h 460"/>
                <a:gd name="T94" fmla="*/ 156 w 808"/>
                <a:gd name="T95" fmla="*/ 69 h 460"/>
                <a:gd name="T96" fmla="*/ 107 w 808"/>
                <a:gd name="T97" fmla="*/ 75 h 460"/>
                <a:gd name="T98" fmla="*/ 44 w 808"/>
                <a:gd name="T99" fmla="*/ 85 h 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808" h="460">
                  <a:moveTo>
                    <a:pt x="57" y="35"/>
                  </a:moveTo>
                  <a:cubicBezTo>
                    <a:pt x="57" y="35"/>
                    <a:pt x="57" y="35"/>
                    <a:pt x="57" y="35"/>
                  </a:cubicBezTo>
                  <a:cubicBezTo>
                    <a:pt x="35" y="45"/>
                    <a:pt x="0" y="65"/>
                    <a:pt x="4" y="84"/>
                  </a:cubicBezTo>
                  <a:cubicBezTo>
                    <a:pt x="7" y="97"/>
                    <a:pt x="27" y="100"/>
                    <a:pt x="44" y="101"/>
                  </a:cubicBezTo>
                  <a:cubicBezTo>
                    <a:pt x="88" y="103"/>
                    <a:pt x="103" y="95"/>
                    <a:pt x="115" y="89"/>
                  </a:cubicBezTo>
                  <a:cubicBezTo>
                    <a:pt x="124" y="84"/>
                    <a:pt x="130" y="81"/>
                    <a:pt x="153" y="85"/>
                  </a:cubicBezTo>
                  <a:cubicBezTo>
                    <a:pt x="210" y="95"/>
                    <a:pt x="245" y="110"/>
                    <a:pt x="269" y="165"/>
                  </a:cubicBezTo>
                  <a:cubicBezTo>
                    <a:pt x="271" y="170"/>
                    <a:pt x="319" y="288"/>
                    <a:pt x="390" y="338"/>
                  </a:cubicBezTo>
                  <a:cubicBezTo>
                    <a:pt x="458" y="385"/>
                    <a:pt x="458" y="385"/>
                    <a:pt x="458" y="385"/>
                  </a:cubicBezTo>
                  <a:cubicBezTo>
                    <a:pt x="487" y="406"/>
                    <a:pt x="508" y="421"/>
                    <a:pt x="527" y="432"/>
                  </a:cubicBezTo>
                  <a:cubicBezTo>
                    <a:pt x="550" y="446"/>
                    <a:pt x="577" y="460"/>
                    <a:pt x="598" y="454"/>
                  </a:cubicBezTo>
                  <a:cubicBezTo>
                    <a:pt x="608" y="451"/>
                    <a:pt x="615" y="444"/>
                    <a:pt x="620" y="434"/>
                  </a:cubicBezTo>
                  <a:cubicBezTo>
                    <a:pt x="628" y="419"/>
                    <a:pt x="628" y="419"/>
                    <a:pt x="628" y="419"/>
                  </a:cubicBezTo>
                  <a:cubicBezTo>
                    <a:pt x="641" y="393"/>
                    <a:pt x="658" y="359"/>
                    <a:pt x="658" y="331"/>
                  </a:cubicBezTo>
                  <a:cubicBezTo>
                    <a:pt x="658" y="328"/>
                    <a:pt x="657" y="324"/>
                    <a:pt x="656" y="321"/>
                  </a:cubicBezTo>
                  <a:cubicBezTo>
                    <a:pt x="675" y="333"/>
                    <a:pt x="705" y="351"/>
                    <a:pt x="732" y="345"/>
                  </a:cubicBezTo>
                  <a:cubicBezTo>
                    <a:pt x="745" y="342"/>
                    <a:pt x="755" y="334"/>
                    <a:pt x="762" y="322"/>
                  </a:cubicBezTo>
                  <a:cubicBezTo>
                    <a:pt x="775" y="303"/>
                    <a:pt x="775" y="303"/>
                    <a:pt x="775" y="303"/>
                  </a:cubicBezTo>
                  <a:cubicBezTo>
                    <a:pt x="793" y="274"/>
                    <a:pt x="808" y="252"/>
                    <a:pt x="801" y="228"/>
                  </a:cubicBezTo>
                  <a:cubicBezTo>
                    <a:pt x="794" y="208"/>
                    <a:pt x="772" y="191"/>
                    <a:pt x="728" y="173"/>
                  </a:cubicBezTo>
                  <a:cubicBezTo>
                    <a:pt x="669" y="150"/>
                    <a:pt x="624" y="140"/>
                    <a:pt x="584" y="132"/>
                  </a:cubicBezTo>
                  <a:cubicBezTo>
                    <a:pt x="551" y="125"/>
                    <a:pt x="522" y="119"/>
                    <a:pt x="494" y="106"/>
                  </a:cubicBezTo>
                  <a:cubicBezTo>
                    <a:pt x="439" y="81"/>
                    <a:pt x="439" y="81"/>
                    <a:pt x="439" y="81"/>
                  </a:cubicBezTo>
                  <a:cubicBezTo>
                    <a:pt x="383" y="56"/>
                    <a:pt x="321" y="28"/>
                    <a:pt x="302" y="21"/>
                  </a:cubicBezTo>
                  <a:cubicBezTo>
                    <a:pt x="262" y="5"/>
                    <a:pt x="131" y="0"/>
                    <a:pt x="57" y="35"/>
                  </a:cubicBezTo>
                  <a:close/>
                  <a:moveTo>
                    <a:pt x="44" y="85"/>
                  </a:moveTo>
                  <a:cubicBezTo>
                    <a:pt x="23" y="84"/>
                    <a:pt x="20" y="80"/>
                    <a:pt x="20" y="80"/>
                  </a:cubicBezTo>
                  <a:cubicBezTo>
                    <a:pt x="20" y="76"/>
                    <a:pt x="37" y="62"/>
                    <a:pt x="64" y="49"/>
                  </a:cubicBezTo>
                  <a:cubicBezTo>
                    <a:pt x="133" y="17"/>
                    <a:pt x="260" y="22"/>
                    <a:pt x="297" y="36"/>
                  </a:cubicBezTo>
                  <a:cubicBezTo>
                    <a:pt x="314" y="43"/>
                    <a:pt x="377" y="71"/>
                    <a:pt x="432" y="96"/>
                  </a:cubicBezTo>
                  <a:cubicBezTo>
                    <a:pt x="487" y="121"/>
                    <a:pt x="487" y="121"/>
                    <a:pt x="487" y="121"/>
                  </a:cubicBezTo>
                  <a:cubicBezTo>
                    <a:pt x="517" y="134"/>
                    <a:pt x="547" y="140"/>
                    <a:pt x="581" y="147"/>
                  </a:cubicBezTo>
                  <a:cubicBezTo>
                    <a:pt x="620" y="156"/>
                    <a:pt x="664" y="165"/>
                    <a:pt x="722" y="188"/>
                  </a:cubicBezTo>
                  <a:cubicBezTo>
                    <a:pt x="760" y="203"/>
                    <a:pt x="781" y="218"/>
                    <a:pt x="785" y="233"/>
                  </a:cubicBezTo>
                  <a:cubicBezTo>
                    <a:pt x="791" y="249"/>
                    <a:pt x="778" y="269"/>
                    <a:pt x="761" y="294"/>
                  </a:cubicBezTo>
                  <a:cubicBezTo>
                    <a:pt x="749" y="313"/>
                    <a:pt x="749" y="313"/>
                    <a:pt x="749" y="313"/>
                  </a:cubicBezTo>
                  <a:cubicBezTo>
                    <a:pt x="743" y="322"/>
                    <a:pt x="737" y="327"/>
                    <a:pt x="729" y="329"/>
                  </a:cubicBezTo>
                  <a:cubicBezTo>
                    <a:pt x="707" y="334"/>
                    <a:pt x="677" y="315"/>
                    <a:pt x="661" y="305"/>
                  </a:cubicBezTo>
                  <a:cubicBezTo>
                    <a:pt x="649" y="298"/>
                    <a:pt x="643" y="294"/>
                    <a:pt x="638" y="299"/>
                  </a:cubicBezTo>
                  <a:cubicBezTo>
                    <a:pt x="632" y="304"/>
                    <a:pt x="636" y="311"/>
                    <a:pt x="638" y="315"/>
                  </a:cubicBezTo>
                  <a:cubicBezTo>
                    <a:pt x="651" y="338"/>
                    <a:pt x="628" y="382"/>
                    <a:pt x="613" y="412"/>
                  </a:cubicBezTo>
                  <a:cubicBezTo>
                    <a:pt x="606" y="427"/>
                    <a:pt x="606" y="427"/>
                    <a:pt x="606" y="427"/>
                  </a:cubicBezTo>
                  <a:cubicBezTo>
                    <a:pt x="603" y="433"/>
                    <a:pt x="599" y="437"/>
                    <a:pt x="594" y="439"/>
                  </a:cubicBezTo>
                  <a:cubicBezTo>
                    <a:pt x="578" y="443"/>
                    <a:pt x="553" y="429"/>
                    <a:pt x="535" y="418"/>
                  </a:cubicBezTo>
                  <a:cubicBezTo>
                    <a:pt x="517" y="407"/>
                    <a:pt x="496" y="393"/>
                    <a:pt x="468" y="373"/>
                  </a:cubicBezTo>
                  <a:cubicBezTo>
                    <a:pt x="400" y="325"/>
                    <a:pt x="400" y="325"/>
                    <a:pt x="400" y="325"/>
                  </a:cubicBezTo>
                  <a:cubicBezTo>
                    <a:pt x="332" y="278"/>
                    <a:pt x="285" y="160"/>
                    <a:pt x="284" y="159"/>
                  </a:cubicBezTo>
                  <a:cubicBezTo>
                    <a:pt x="254" y="91"/>
                    <a:pt x="206" y="78"/>
                    <a:pt x="156" y="69"/>
                  </a:cubicBezTo>
                  <a:cubicBezTo>
                    <a:pt x="127" y="64"/>
                    <a:pt x="118" y="69"/>
                    <a:pt x="107" y="75"/>
                  </a:cubicBezTo>
                  <a:cubicBezTo>
                    <a:pt x="97" y="80"/>
                    <a:pt x="85" y="87"/>
                    <a:pt x="44" y="8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95" name="Freeform 2149">
              <a:extLst>
                <a:ext uri="{FF2B5EF4-FFF2-40B4-BE49-F238E27FC236}">
                  <a16:creationId xmlns:a16="http://schemas.microsoft.com/office/drawing/2014/main" id="{14D64261-8F8F-B639-296A-F25F6C9107E8}"/>
                </a:ext>
              </a:extLst>
            </p:cNvPr>
            <p:cNvSpPr>
              <a:spLocks noEditPoints="1"/>
            </p:cNvSpPr>
            <p:nvPr/>
          </p:nvSpPr>
          <p:spPr bwMode="auto">
            <a:xfrm>
              <a:off x="1721" y="3688"/>
              <a:ext cx="176" cy="100"/>
            </a:xfrm>
            <a:custGeom>
              <a:avLst/>
              <a:gdLst>
                <a:gd name="T0" fmla="*/ 54 w 800"/>
                <a:gd name="T1" fmla="*/ 34 h 452"/>
                <a:gd name="T2" fmla="*/ 54 w 800"/>
                <a:gd name="T3" fmla="*/ 34 h 452"/>
                <a:gd name="T4" fmla="*/ 4 w 800"/>
                <a:gd name="T5" fmla="*/ 79 h 452"/>
                <a:gd name="T6" fmla="*/ 40 w 800"/>
                <a:gd name="T7" fmla="*/ 93 h 452"/>
                <a:gd name="T8" fmla="*/ 109 w 800"/>
                <a:gd name="T9" fmla="*/ 82 h 452"/>
                <a:gd name="T10" fmla="*/ 149 w 800"/>
                <a:gd name="T11" fmla="*/ 77 h 452"/>
                <a:gd name="T12" fmla="*/ 269 w 800"/>
                <a:gd name="T13" fmla="*/ 159 h 452"/>
                <a:gd name="T14" fmla="*/ 389 w 800"/>
                <a:gd name="T15" fmla="*/ 331 h 452"/>
                <a:gd name="T16" fmla="*/ 456 w 800"/>
                <a:gd name="T17" fmla="*/ 378 h 452"/>
                <a:gd name="T18" fmla="*/ 525 w 800"/>
                <a:gd name="T19" fmla="*/ 425 h 452"/>
                <a:gd name="T20" fmla="*/ 593 w 800"/>
                <a:gd name="T21" fmla="*/ 447 h 452"/>
                <a:gd name="T22" fmla="*/ 613 w 800"/>
                <a:gd name="T23" fmla="*/ 429 h 452"/>
                <a:gd name="T24" fmla="*/ 620 w 800"/>
                <a:gd name="T25" fmla="*/ 414 h 452"/>
                <a:gd name="T26" fmla="*/ 650 w 800"/>
                <a:gd name="T27" fmla="*/ 327 h 452"/>
                <a:gd name="T28" fmla="*/ 647 w 800"/>
                <a:gd name="T29" fmla="*/ 309 h 452"/>
                <a:gd name="T30" fmla="*/ 651 w 800"/>
                <a:gd name="T31" fmla="*/ 312 h 452"/>
                <a:gd name="T32" fmla="*/ 727 w 800"/>
                <a:gd name="T33" fmla="*/ 337 h 452"/>
                <a:gd name="T34" fmla="*/ 755 w 800"/>
                <a:gd name="T35" fmla="*/ 316 h 452"/>
                <a:gd name="T36" fmla="*/ 768 w 800"/>
                <a:gd name="T37" fmla="*/ 297 h 452"/>
                <a:gd name="T38" fmla="*/ 793 w 800"/>
                <a:gd name="T39" fmla="*/ 225 h 452"/>
                <a:gd name="T40" fmla="*/ 722 w 800"/>
                <a:gd name="T41" fmla="*/ 172 h 452"/>
                <a:gd name="T42" fmla="*/ 579 w 800"/>
                <a:gd name="T43" fmla="*/ 131 h 452"/>
                <a:gd name="T44" fmla="*/ 488 w 800"/>
                <a:gd name="T45" fmla="*/ 105 h 452"/>
                <a:gd name="T46" fmla="*/ 434 w 800"/>
                <a:gd name="T47" fmla="*/ 81 h 452"/>
                <a:gd name="T48" fmla="*/ 297 w 800"/>
                <a:gd name="T49" fmla="*/ 20 h 452"/>
                <a:gd name="T50" fmla="*/ 54 w 800"/>
                <a:gd name="T51" fmla="*/ 34 h 452"/>
                <a:gd name="T52" fmla="*/ 294 w 800"/>
                <a:gd name="T53" fmla="*/ 29 h 452"/>
                <a:gd name="T54" fmla="*/ 430 w 800"/>
                <a:gd name="T55" fmla="*/ 89 h 452"/>
                <a:gd name="T56" fmla="*/ 485 w 800"/>
                <a:gd name="T57" fmla="*/ 113 h 452"/>
                <a:gd name="T58" fmla="*/ 577 w 800"/>
                <a:gd name="T59" fmla="*/ 140 h 452"/>
                <a:gd name="T60" fmla="*/ 719 w 800"/>
                <a:gd name="T61" fmla="*/ 181 h 452"/>
                <a:gd name="T62" fmla="*/ 785 w 800"/>
                <a:gd name="T63" fmla="*/ 228 h 452"/>
                <a:gd name="T64" fmla="*/ 760 w 800"/>
                <a:gd name="T65" fmla="*/ 292 h 452"/>
                <a:gd name="T66" fmla="*/ 748 w 800"/>
                <a:gd name="T67" fmla="*/ 311 h 452"/>
                <a:gd name="T68" fmla="*/ 725 w 800"/>
                <a:gd name="T69" fmla="*/ 329 h 452"/>
                <a:gd name="T70" fmla="*/ 655 w 800"/>
                <a:gd name="T71" fmla="*/ 304 h 452"/>
                <a:gd name="T72" fmla="*/ 636 w 800"/>
                <a:gd name="T73" fmla="*/ 298 h 452"/>
                <a:gd name="T74" fmla="*/ 637 w 800"/>
                <a:gd name="T75" fmla="*/ 309 h 452"/>
                <a:gd name="T76" fmla="*/ 612 w 800"/>
                <a:gd name="T77" fmla="*/ 410 h 452"/>
                <a:gd name="T78" fmla="*/ 605 w 800"/>
                <a:gd name="T79" fmla="*/ 425 h 452"/>
                <a:gd name="T80" fmla="*/ 591 w 800"/>
                <a:gd name="T81" fmla="*/ 438 h 452"/>
                <a:gd name="T82" fmla="*/ 529 w 800"/>
                <a:gd name="T83" fmla="*/ 418 h 452"/>
                <a:gd name="T84" fmla="*/ 461 w 800"/>
                <a:gd name="T85" fmla="*/ 371 h 452"/>
                <a:gd name="T86" fmla="*/ 393 w 800"/>
                <a:gd name="T87" fmla="*/ 324 h 452"/>
                <a:gd name="T88" fmla="*/ 277 w 800"/>
                <a:gd name="T89" fmla="*/ 156 h 452"/>
                <a:gd name="T90" fmla="*/ 151 w 800"/>
                <a:gd name="T91" fmla="*/ 69 h 452"/>
                <a:gd name="T92" fmla="*/ 105 w 800"/>
                <a:gd name="T93" fmla="*/ 74 h 452"/>
                <a:gd name="T94" fmla="*/ 40 w 800"/>
                <a:gd name="T95" fmla="*/ 85 h 452"/>
                <a:gd name="T96" fmla="*/ 12 w 800"/>
                <a:gd name="T97" fmla="*/ 77 h 452"/>
                <a:gd name="T98" fmla="*/ 12 w 800"/>
                <a:gd name="T99" fmla="*/ 76 h 452"/>
                <a:gd name="T100" fmla="*/ 58 w 800"/>
                <a:gd name="T101" fmla="*/ 42 h 452"/>
                <a:gd name="T102" fmla="*/ 294 w 800"/>
                <a:gd name="T103" fmla="*/ 29 h 4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800" h="452">
                  <a:moveTo>
                    <a:pt x="54" y="34"/>
                  </a:moveTo>
                  <a:cubicBezTo>
                    <a:pt x="54" y="34"/>
                    <a:pt x="54" y="34"/>
                    <a:pt x="54" y="34"/>
                  </a:cubicBezTo>
                  <a:cubicBezTo>
                    <a:pt x="41" y="40"/>
                    <a:pt x="0" y="62"/>
                    <a:pt x="4" y="79"/>
                  </a:cubicBezTo>
                  <a:cubicBezTo>
                    <a:pt x="5" y="88"/>
                    <a:pt x="17" y="92"/>
                    <a:pt x="40" y="93"/>
                  </a:cubicBezTo>
                  <a:cubicBezTo>
                    <a:pt x="83" y="96"/>
                    <a:pt x="98" y="88"/>
                    <a:pt x="109" y="82"/>
                  </a:cubicBezTo>
                  <a:cubicBezTo>
                    <a:pt x="119" y="77"/>
                    <a:pt x="125" y="73"/>
                    <a:pt x="149" y="77"/>
                  </a:cubicBezTo>
                  <a:cubicBezTo>
                    <a:pt x="208" y="87"/>
                    <a:pt x="244" y="103"/>
                    <a:pt x="269" y="159"/>
                  </a:cubicBezTo>
                  <a:cubicBezTo>
                    <a:pt x="271" y="164"/>
                    <a:pt x="318" y="282"/>
                    <a:pt x="389" y="331"/>
                  </a:cubicBezTo>
                  <a:cubicBezTo>
                    <a:pt x="456" y="378"/>
                    <a:pt x="456" y="378"/>
                    <a:pt x="456" y="378"/>
                  </a:cubicBezTo>
                  <a:cubicBezTo>
                    <a:pt x="485" y="399"/>
                    <a:pt x="506" y="413"/>
                    <a:pt x="525" y="425"/>
                  </a:cubicBezTo>
                  <a:cubicBezTo>
                    <a:pt x="547" y="439"/>
                    <a:pt x="573" y="452"/>
                    <a:pt x="593" y="447"/>
                  </a:cubicBezTo>
                  <a:cubicBezTo>
                    <a:pt x="602" y="444"/>
                    <a:pt x="608" y="438"/>
                    <a:pt x="613" y="429"/>
                  </a:cubicBezTo>
                  <a:cubicBezTo>
                    <a:pt x="620" y="414"/>
                    <a:pt x="620" y="414"/>
                    <a:pt x="620" y="414"/>
                  </a:cubicBezTo>
                  <a:cubicBezTo>
                    <a:pt x="633" y="388"/>
                    <a:pt x="650" y="355"/>
                    <a:pt x="650" y="327"/>
                  </a:cubicBezTo>
                  <a:cubicBezTo>
                    <a:pt x="650" y="321"/>
                    <a:pt x="649" y="315"/>
                    <a:pt x="647" y="309"/>
                  </a:cubicBezTo>
                  <a:cubicBezTo>
                    <a:pt x="648" y="310"/>
                    <a:pt x="649" y="311"/>
                    <a:pt x="651" y="312"/>
                  </a:cubicBezTo>
                  <a:cubicBezTo>
                    <a:pt x="669" y="323"/>
                    <a:pt x="700" y="343"/>
                    <a:pt x="727" y="337"/>
                  </a:cubicBezTo>
                  <a:cubicBezTo>
                    <a:pt x="739" y="334"/>
                    <a:pt x="748" y="327"/>
                    <a:pt x="755" y="316"/>
                  </a:cubicBezTo>
                  <a:cubicBezTo>
                    <a:pt x="768" y="297"/>
                    <a:pt x="768" y="297"/>
                    <a:pt x="768" y="297"/>
                  </a:cubicBezTo>
                  <a:cubicBezTo>
                    <a:pt x="786" y="269"/>
                    <a:pt x="800" y="247"/>
                    <a:pt x="793" y="225"/>
                  </a:cubicBezTo>
                  <a:cubicBezTo>
                    <a:pt x="787" y="206"/>
                    <a:pt x="765" y="190"/>
                    <a:pt x="722" y="172"/>
                  </a:cubicBezTo>
                  <a:cubicBezTo>
                    <a:pt x="664" y="149"/>
                    <a:pt x="619" y="140"/>
                    <a:pt x="579" y="131"/>
                  </a:cubicBezTo>
                  <a:cubicBezTo>
                    <a:pt x="546" y="124"/>
                    <a:pt x="517" y="118"/>
                    <a:pt x="488" y="105"/>
                  </a:cubicBezTo>
                  <a:cubicBezTo>
                    <a:pt x="434" y="81"/>
                    <a:pt x="434" y="81"/>
                    <a:pt x="434" y="81"/>
                  </a:cubicBezTo>
                  <a:cubicBezTo>
                    <a:pt x="378" y="56"/>
                    <a:pt x="315" y="27"/>
                    <a:pt x="297" y="20"/>
                  </a:cubicBezTo>
                  <a:cubicBezTo>
                    <a:pt x="257" y="5"/>
                    <a:pt x="127" y="0"/>
                    <a:pt x="54" y="34"/>
                  </a:cubicBezTo>
                  <a:close/>
                  <a:moveTo>
                    <a:pt x="294" y="29"/>
                  </a:moveTo>
                  <a:cubicBezTo>
                    <a:pt x="312" y="35"/>
                    <a:pt x="375" y="64"/>
                    <a:pt x="430" y="89"/>
                  </a:cubicBezTo>
                  <a:cubicBezTo>
                    <a:pt x="485" y="113"/>
                    <a:pt x="485" y="113"/>
                    <a:pt x="485" y="113"/>
                  </a:cubicBezTo>
                  <a:cubicBezTo>
                    <a:pt x="514" y="126"/>
                    <a:pt x="544" y="133"/>
                    <a:pt x="577" y="140"/>
                  </a:cubicBezTo>
                  <a:cubicBezTo>
                    <a:pt x="617" y="148"/>
                    <a:pt x="661" y="157"/>
                    <a:pt x="719" y="181"/>
                  </a:cubicBezTo>
                  <a:cubicBezTo>
                    <a:pt x="759" y="196"/>
                    <a:pt x="780" y="212"/>
                    <a:pt x="785" y="228"/>
                  </a:cubicBezTo>
                  <a:cubicBezTo>
                    <a:pt x="791" y="246"/>
                    <a:pt x="777" y="266"/>
                    <a:pt x="760" y="292"/>
                  </a:cubicBezTo>
                  <a:cubicBezTo>
                    <a:pt x="748" y="311"/>
                    <a:pt x="748" y="311"/>
                    <a:pt x="748" y="311"/>
                  </a:cubicBezTo>
                  <a:cubicBezTo>
                    <a:pt x="742" y="321"/>
                    <a:pt x="735" y="326"/>
                    <a:pt x="725" y="329"/>
                  </a:cubicBezTo>
                  <a:cubicBezTo>
                    <a:pt x="702" y="334"/>
                    <a:pt x="672" y="315"/>
                    <a:pt x="655" y="304"/>
                  </a:cubicBezTo>
                  <a:cubicBezTo>
                    <a:pt x="644" y="297"/>
                    <a:pt x="640" y="294"/>
                    <a:pt x="636" y="298"/>
                  </a:cubicBezTo>
                  <a:cubicBezTo>
                    <a:pt x="633" y="301"/>
                    <a:pt x="636" y="306"/>
                    <a:pt x="637" y="309"/>
                  </a:cubicBezTo>
                  <a:cubicBezTo>
                    <a:pt x="651" y="334"/>
                    <a:pt x="628" y="380"/>
                    <a:pt x="612" y="410"/>
                  </a:cubicBezTo>
                  <a:cubicBezTo>
                    <a:pt x="605" y="425"/>
                    <a:pt x="605" y="425"/>
                    <a:pt x="605" y="425"/>
                  </a:cubicBezTo>
                  <a:cubicBezTo>
                    <a:pt x="602" y="432"/>
                    <a:pt x="597" y="436"/>
                    <a:pt x="591" y="438"/>
                  </a:cubicBezTo>
                  <a:cubicBezTo>
                    <a:pt x="574" y="443"/>
                    <a:pt x="549" y="430"/>
                    <a:pt x="529" y="418"/>
                  </a:cubicBezTo>
                  <a:cubicBezTo>
                    <a:pt x="510" y="406"/>
                    <a:pt x="490" y="392"/>
                    <a:pt x="461" y="371"/>
                  </a:cubicBezTo>
                  <a:cubicBezTo>
                    <a:pt x="393" y="324"/>
                    <a:pt x="393" y="324"/>
                    <a:pt x="393" y="324"/>
                  </a:cubicBezTo>
                  <a:cubicBezTo>
                    <a:pt x="325" y="276"/>
                    <a:pt x="277" y="157"/>
                    <a:pt x="277" y="156"/>
                  </a:cubicBezTo>
                  <a:cubicBezTo>
                    <a:pt x="248" y="91"/>
                    <a:pt x="201" y="77"/>
                    <a:pt x="151" y="69"/>
                  </a:cubicBezTo>
                  <a:cubicBezTo>
                    <a:pt x="124" y="64"/>
                    <a:pt x="115" y="69"/>
                    <a:pt x="105" y="74"/>
                  </a:cubicBezTo>
                  <a:cubicBezTo>
                    <a:pt x="94" y="80"/>
                    <a:pt x="81" y="87"/>
                    <a:pt x="40" y="85"/>
                  </a:cubicBezTo>
                  <a:cubicBezTo>
                    <a:pt x="15" y="83"/>
                    <a:pt x="12" y="78"/>
                    <a:pt x="12" y="77"/>
                  </a:cubicBezTo>
                  <a:cubicBezTo>
                    <a:pt x="12" y="77"/>
                    <a:pt x="12" y="77"/>
                    <a:pt x="12" y="76"/>
                  </a:cubicBezTo>
                  <a:cubicBezTo>
                    <a:pt x="12" y="69"/>
                    <a:pt x="35" y="53"/>
                    <a:pt x="58" y="42"/>
                  </a:cubicBezTo>
                  <a:cubicBezTo>
                    <a:pt x="128" y="9"/>
                    <a:pt x="256" y="14"/>
                    <a:pt x="294" y="2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96" name="Freeform 2150">
              <a:extLst>
                <a:ext uri="{FF2B5EF4-FFF2-40B4-BE49-F238E27FC236}">
                  <a16:creationId xmlns:a16="http://schemas.microsoft.com/office/drawing/2014/main" id="{74103D05-5740-3A11-7426-7AAD61E54EBA}"/>
                </a:ext>
              </a:extLst>
            </p:cNvPr>
            <p:cNvSpPr>
              <a:spLocks/>
            </p:cNvSpPr>
            <p:nvPr/>
          </p:nvSpPr>
          <p:spPr bwMode="auto">
            <a:xfrm>
              <a:off x="1683" y="3697"/>
              <a:ext cx="180" cy="140"/>
            </a:xfrm>
            <a:custGeom>
              <a:avLst/>
              <a:gdLst>
                <a:gd name="T0" fmla="*/ 756 w 814"/>
                <a:gd name="T1" fmla="*/ 449 h 636"/>
                <a:gd name="T2" fmla="*/ 560 w 814"/>
                <a:gd name="T3" fmla="*/ 338 h 636"/>
                <a:gd name="T4" fmla="*/ 446 w 814"/>
                <a:gd name="T5" fmla="*/ 201 h 636"/>
                <a:gd name="T6" fmla="*/ 362 w 814"/>
                <a:gd name="T7" fmla="*/ 68 h 636"/>
                <a:gd name="T8" fmla="*/ 257 w 814"/>
                <a:gd name="T9" fmla="*/ 78 h 636"/>
                <a:gd name="T10" fmla="*/ 216 w 814"/>
                <a:gd name="T11" fmla="*/ 85 h 636"/>
                <a:gd name="T12" fmla="*/ 185 w 814"/>
                <a:gd name="T13" fmla="*/ 74 h 636"/>
                <a:gd name="T14" fmla="*/ 108 w 814"/>
                <a:gd name="T15" fmla="*/ 25 h 636"/>
                <a:gd name="T16" fmla="*/ 56 w 814"/>
                <a:gd name="T17" fmla="*/ 13 h 636"/>
                <a:gd name="T18" fmla="*/ 51 w 814"/>
                <a:gd name="T19" fmla="*/ 10 h 636"/>
                <a:gd name="T20" fmla="*/ 37 w 814"/>
                <a:gd name="T21" fmla="*/ 0 h 636"/>
                <a:gd name="T22" fmla="*/ 0 w 814"/>
                <a:gd name="T23" fmla="*/ 22 h 636"/>
                <a:gd name="T24" fmla="*/ 51 w 814"/>
                <a:gd name="T25" fmla="*/ 33 h 636"/>
                <a:gd name="T26" fmla="*/ 55 w 814"/>
                <a:gd name="T27" fmla="*/ 36 h 636"/>
                <a:gd name="T28" fmla="*/ 173 w 814"/>
                <a:gd name="T29" fmla="*/ 120 h 636"/>
                <a:gd name="T30" fmla="*/ 330 w 814"/>
                <a:gd name="T31" fmla="*/ 296 h 636"/>
                <a:gd name="T32" fmla="*/ 512 w 814"/>
                <a:gd name="T33" fmla="*/ 437 h 636"/>
                <a:gd name="T34" fmla="*/ 689 w 814"/>
                <a:gd name="T35" fmla="*/ 581 h 636"/>
                <a:gd name="T36" fmla="*/ 754 w 814"/>
                <a:gd name="T37" fmla="*/ 596 h 636"/>
                <a:gd name="T38" fmla="*/ 806 w 814"/>
                <a:gd name="T39" fmla="*/ 551 h 636"/>
                <a:gd name="T40" fmla="*/ 756 w 814"/>
                <a:gd name="T41" fmla="*/ 449 h 6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814" h="636">
                  <a:moveTo>
                    <a:pt x="756" y="449"/>
                  </a:moveTo>
                  <a:cubicBezTo>
                    <a:pt x="698" y="417"/>
                    <a:pt x="600" y="367"/>
                    <a:pt x="560" y="338"/>
                  </a:cubicBezTo>
                  <a:cubicBezTo>
                    <a:pt x="519" y="309"/>
                    <a:pt x="464" y="235"/>
                    <a:pt x="446" y="201"/>
                  </a:cubicBezTo>
                  <a:cubicBezTo>
                    <a:pt x="427" y="166"/>
                    <a:pt x="384" y="75"/>
                    <a:pt x="362" y="68"/>
                  </a:cubicBezTo>
                  <a:cubicBezTo>
                    <a:pt x="340" y="61"/>
                    <a:pt x="296" y="65"/>
                    <a:pt x="257" y="78"/>
                  </a:cubicBezTo>
                  <a:cubicBezTo>
                    <a:pt x="234" y="87"/>
                    <a:pt x="216" y="85"/>
                    <a:pt x="216" y="85"/>
                  </a:cubicBezTo>
                  <a:cubicBezTo>
                    <a:pt x="216" y="85"/>
                    <a:pt x="202" y="91"/>
                    <a:pt x="185" y="74"/>
                  </a:cubicBezTo>
                  <a:cubicBezTo>
                    <a:pt x="167" y="56"/>
                    <a:pt x="124" y="25"/>
                    <a:pt x="108" y="25"/>
                  </a:cubicBezTo>
                  <a:cubicBezTo>
                    <a:pt x="95" y="25"/>
                    <a:pt x="70" y="18"/>
                    <a:pt x="56" y="13"/>
                  </a:cubicBezTo>
                  <a:cubicBezTo>
                    <a:pt x="54" y="12"/>
                    <a:pt x="52" y="11"/>
                    <a:pt x="51" y="10"/>
                  </a:cubicBezTo>
                  <a:cubicBezTo>
                    <a:pt x="48" y="9"/>
                    <a:pt x="43" y="5"/>
                    <a:pt x="37" y="0"/>
                  </a:cubicBezTo>
                  <a:cubicBezTo>
                    <a:pt x="26" y="4"/>
                    <a:pt x="12" y="12"/>
                    <a:pt x="0" y="22"/>
                  </a:cubicBezTo>
                  <a:cubicBezTo>
                    <a:pt x="20" y="24"/>
                    <a:pt x="37" y="27"/>
                    <a:pt x="51" y="33"/>
                  </a:cubicBezTo>
                  <a:cubicBezTo>
                    <a:pt x="52" y="34"/>
                    <a:pt x="54" y="35"/>
                    <a:pt x="55" y="36"/>
                  </a:cubicBezTo>
                  <a:cubicBezTo>
                    <a:pt x="88" y="51"/>
                    <a:pt x="154" y="99"/>
                    <a:pt x="173" y="120"/>
                  </a:cubicBezTo>
                  <a:cubicBezTo>
                    <a:pt x="193" y="142"/>
                    <a:pt x="310" y="274"/>
                    <a:pt x="330" y="296"/>
                  </a:cubicBezTo>
                  <a:cubicBezTo>
                    <a:pt x="351" y="317"/>
                    <a:pt x="477" y="417"/>
                    <a:pt x="512" y="437"/>
                  </a:cubicBezTo>
                  <a:cubicBezTo>
                    <a:pt x="547" y="457"/>
                    <a:pt x="679" y="560"/>
                    <a:pt x="689" y="581"/>
                  </a:cubicBezTo>
                  <a:cubicBezTo>
                    <a:pt x="700" y="603"/>
                    <a:pt x="721" y="636"/>
                    <a:pt x="754" y="596"/>
                  </a:cubicBezTo>
                  <a:cubicBezTo>
                    <a:pt x="788" y="555"/>
                    <a:pt x="803" y="561"/>
                    <a:pt x="806" y="551"/>
                  </a:cubicBezTo>
                  <a:cubicBezTo>
                    <a:pt x="809" y="541"/>
                    <a:pt x="814" y="480"/>
                    <a:pt x="756" y="449"/>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97" name="Freeform 2151">
              <a:extLst>
                <a:ext uri="{FF2B5EF4-FFF2-40B4-BE49-F238E27FC236}">
                  <a16:creationId xmlns:a16="http://schemas.microsoft.com/office/drawing/2014/main" id="{23AA188E-4555-CFF6-3316-0CCAC8A95B44}"/>
                </a:ext>
              </a:extLst>
            </p:cNvPr>
            <p:cNvSpPr>
              <a:spLocks noEditPoints="1"/>
            </p:cNvSpPr>
            <p:nvPr/>
          </p:nvSpPr>
          <p:spPr bwMode="auto">
            <a:xfrm>
              <a:off x="1679" y="3695"/>
              <a:ext cx="185" cy="139"/>
            </a:xfrm>
            <a:custGeom>
              <a:avLst/>
              <a:gdLst>
                <a:gd name="T0" fmla="*/ 53 w 839"/>
                <a:gd name="T1" fmla="*/ 1 h 633"/>
                <a:gd name="T2" fmla="*/ 13 w 839"/>
                <a:gd name="T3" fmla="*/ 25 h 633"/>
                <a:gd name="T4" fmla="*/ 0 w 839"/>
                <a:gd name="T5" fmla="*/ 37 h 633"/>
                <a:gd name="T6" fmla="*/ 17 w 839"/>
                <a:gd name="T7" fmla="*/ 39 h 633"/>
                <a:gd name="T8" fmla="*/ 65 w 839"/>
                <a:gd name="T9" fmla="*/ 50 h 633"/>
                <a:gd name="T10" fmla="*/ 70 w 839"/>
                <a:gd name="T11" fmla="*/ 52 h 633"/>
                <a:gd name="T12" fmla="*/ 185 w 839"/>
                <a:gd name="T13" fmla="*/ 134 h 633"/>
                <a:gd name="T14" fmla="*/ 342 w 839"/>
                <a:gd name="T15" fmla="*/ 310 h 633"/>
                <a:gd name="T16" fmla="*/ 526 w 839"/>
                <a:gd name="T17" fmla="*/ 453 h 633"/>
                <a:gd name="T18" fmla="*/ 700 w 839"/>
                <a:gd name="T19" fmla="*/ 594 h 633"/>
                <a:gd name="T20" fmla="*/ 739 w 839"/>
                <a:gd name="T21" fmla="*/ 632 h 633"/>
                <a:gd name="T22" fmla="*/ 779 w 839"/>
                <a:gd name="T23" fmla="*/ 610 h 633"/>
                <a:gd name="T24" fmla="*/ 819 w 839"/>
                <a:gd name="T25" fmla="*/ 575 h 633"/>
                <a:gd name="T26" fmla="*/ 832 w 839"/>
                <a:gd name="T27" fmla="*/ 562 h 633"/>
                <a:gd name="T28" fmla="*/ 778 w 839"/>
                <a:gd name="T29" fmla="*/ 451 h 633"/>
                <a:gd name="T30" fmla="*/ 730 w 839"/>
                <a:gd name="T31" fmla="*/ 425 h 633"/>
                <a:gd name="T32" fmla="*/ 582 w 839"/>
                <a:gd name="T33" fmla="*/ 340 h 633"/>
                <a:gd name="T34" fmla="*/ 471 w 839"/>
                <a:gd name="T35" fmla="*/ 206 h 633"/>
                <a:gd name="T36" fmla="*/ 459 w 839"/>
                <a:gd name="T37" fmla="*/ 183 h 633"/>
                <a:gd name="T38" fmla="*/ 383 w 839"/>
                <a:gd name="T39" fmla="*/ 69 h 633"/>
                <a:gd name="T40" fmla="*/ 272 w 839"/>
                <a:gd name="T41" fmla="*/ 79 h 633"/>
                <a:gd name="T42" fmla="*/ 235 w 839"/>
                <a:gd name="T43" fmla="*/ 86 h 633"/>
                <a:gd name="T44" fmla="*/ 234 w 839"/>
                <a:gd name="T45" fmla="*/ 86 h 633"/>
                <a:gd name="T46" fmla="*/ 233 w 839"/>
                <a:gd name="T47" fmla="*/ 86 h 633"/>
                <a:gd name="T48" fmla="*/ 232 w 839"/>
                <a:gd name="T49" fmla="*/ 87 h 633"/>
                <a:gd name="T50" fmla="*/ 208 w 839"/>
                <a:gd name="T51" fmla="*/ 77 h 633"/>
                <a:gd name="T52" fmla="*/ 126 w 839"/>
                <a:gd name="T53" fmla="*/ 26 h 633"/>
                <a:gd name="T54" fmla="*/ 77 w 839"/>
                <a:gd name="T55" fmla="*/ 15 h 633"/>
                <a:gd name="T56" fmla="*/ 72 w 839"/>
                <a:gd name="T57" fmla="*/ 12 h 633"/>
                <a:gd name="T58" fmla="*/ 72 w 839"/>
                <a:gd name="T59" fmla="*/ 12 h 633"/>
                <a:gd name="T60" fmla="*/ 61 w 839"/>
                <a:gd name="T61" fmla="*/ 4 h 633"/>
                <a:gd name="T62" fmla="*/ 57 w 839"/>
                <a:gd name="T63" fmla="*/ 0 h 633"/>
                <a:gd name="T64" fmla="*/ 53 w 839"/>
                <a:gd name="T65" fmla="*/ 1 h 633"/>
                <a:gd name="T66" fmla="*/ 54 w 839"/>
                <a:gd name="T67" fmla="*/ 18 h 633"/>
                <a:gd name="T68" fmla="*/ 64 w 839"/>
                <a:gd name="T69" fmla="*/ 26 h 633"/>
                <a:gd name="T70" fmla="*/ 71 w 839"/>
                <a:gd name="T71" fmla="*/ 29 h 633"/>
                <a:gd name="T72" fmla="*/ 126 w 839"/>
                <a:gd name="T73" fmla="*/ 42 h 633"/>
                <a:gd name="T74" fmla="*/ 197 w 839"/>
                <a:gd name="T75" fmla="*/ 88 h 633"/>
                <a:gd name="T76" fmla="*/ 235 w 839"/>
                <a:gd name="T77" fmla="*/ 102 h 633"/>
                <a:gd name="T78" fmla="*/ 278 w 839"/>
                <a:gd name="T79" fmla="*/ 95 h 633"/>
                <a:gd name="T80" fmla="*/ 378 w 839"/>
                <a:gd name="T81" fmla="*/ 85 h 633"/>
                <a:gd name="T82" fmla="*/ 445 w 839"/>
                <a:gd name="T83" fmla="*/ 191 h 633"/>
                <a:gd name="T84" fmla="*/ 457 w 839"/>
                <a:gd name="T85" fmla="*/ 213 h 633"/>
                <a:gd name="T86" fmla="*/ 573 w 839"/>
                <a:gd name="T87" fmla="*/ 353 h 633"/>
                <a:gd name="T88" fmla="*/ 723 w 839"/>
                <a:gd name="T89" fmla="*/ 439 h 633"/>
                <a:gd name="T90" fmla="*/ 770 w 839"/>
                <a:gd name="T91" fmla="*/ 465 h 633"/>
                <a:gd name="T92" fmla="*/ 817 w 839"/>
                <a:gd name="T93" fmla="*/ 558 h 633"/>
                <a:gd name="T94" fmla="*/ 812 w 839"/>
                <a:gd name="T95" fmla="*/ 561 h 633"/>
                <a:gd name="T96" fmla="*/ 766 w 839"/>
                <a:gd name="T97" fmla="*/ 600 h 633"/>
                <a:gd name="T98" fmla="*/ 741 w 839"/>
                <a:gd name="T99" fmla="*/ 616 h 633"/>
                <a:gd name="T100" fmla="*/ 741 w 839"/>
                <a:gd name="T101" fmla="*/ 616 h 633"/>
                <a:gd name="T102" fmla="*/ 715 w 839"/>
                <a:gd name="T103" fmla="*/ 587 h 633"/>
                <a:gd name="T104" fmla="*/ 534 w 839"/>
                <a:gd name="T105" fmla="*/ 439 h 633"/>
                <a:gd name="T106" fmla="*/ 354 w 839"/>
                <a:gd name="T107" fmla="*/ 299 h 633"/>
                <a:gd name="T108" fmla="*/ 197 w 839"/>
                <a:gd name="T109" fmla="*/ 124 h 633"/>
                <a:gd name="T110" fmla="*/ 77 w 839"/>
                <a:gd name="T111" fmla="*/ 37 h 633"/>
                <a:gd name="T112" fmla="*/ 72 w 839"/>
                <a:gd name="T113" fmla="*/ 35 h 633"/>
                <a:gd name="T114" fmla="*/ 39 w 839"/>
                <a:gd name="T115" fmla="*/ 26 h 633"/>
                <a:gd name="T116" fmla="*/ 54 w 839"/>
                <a:gd name="T117" fmla="*/ 18 h 63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839" h="633">
                  <a:moveTo>
                    <a:pt x="53" y="1"/>
                  </a:moveTo>
                  <a:cubicBezTo>
                    <a:pt x="39" y="5"/>
                    <a:pt x="25" y="14"/>
                    <a:pt x="13" y="25"/>
                  </a:cubicBezTo>
                  <a:cubicBezTo>
                    <a:pt x="0" y="37"/>
                    <a:pt x="0" y="37"/>
                    <a:pt x="0" y="37"/>
                  </a:cubicBezTo>
                  <a:cubicBezTo>
                    <a:pt x="17" y="39"/>
                    <a:pt x="17" y="39"/>
                    <a:pt x="17" y="39"/>
                  </a:cubicBezTo>
                  <a:cubicBezTo>
                    <a:pt x="34" y="41"/>
                    <a:pt x="52" y="44"/>
                    <a:pt x="65" y="50"/>
                  </a:cubicBezTo>
                  <a:cubicBezTo>
                    <a:pt x="70" y="52"/>
                    <a:pt x="70" y="52"/>
                    <a:pt x="70" y="52"/>
                  </a:cubicBezTo>
                  <a:cubicBezTo>
                    <a:pt x="102" y="68"/>
                    <a:pt x="167" y="115"/>
                    <a:pt x="185" y="134"/>
                  </a:cubicBezTo>
                  <a:cubicBezTo>
                    <a:pt x="342" y="310"/>
                    <a:pt x="342" y="310"/>
                    <a:pt x="342" y="310"/>
                  </a:cubicBezTo>
                  <a:cubicBezTo>
                    <a:pt x="362" y="332"/>
                    <a:pt x="490" y="432"/>
                    <a:pt x="526" y="453"/>
                  </a:cubicBezTo>
                  <a:cubicBezTo>
                    <a:pt x="567" y="477"/>
                    <a:pt x="692" y="576"/>
                    <a:pt x="700" y="594"/>
                  </a:cubicBezTo>
                  <a:cubicBezTo>
                    <a:pt x="711" y="617"/>
                    <a:pt x="724" y="630"/>
                    <a:pt x="739" y="632"/>
                  </a:cubicBezTo>
                  <a:cubicBezTo>
                    <a:pt x="752" y="633"/>
                    <a:pt x="765" y="626"/>
                    <a:pt x="779" y="610"/>
                  </a:cubicBezTo>
                  <a:cubicBezTo>
                    <a:pt x="798" y="586"/>
                    <a:pt x="811" y="579"/>
                    <a:pt x="819" y="575"/>
                  </a:cubicBezTo>
                  <a:cubicBezTo>
                    <a:pt x="825" y="572"/>
                    <a:pt x="830" y="569"/>
                    <a:pt x="832" y="562"/>
                  </a:cubicBezTo>
                  <a:cubicBezTo>
                    <a:pt x="836" y="548"/>
                    <a:pt x="839" y="484"/>
                    <a:pt x="778" y="451"/>
                  </a:cubicBezTo>
                  <a:cubicBezTo>
                    <a:pt x="730" y="425"/>
                    <a:pt x="730" y="425"/>
                    <a:pt x="730" y="425"/>
                  </a:cubicBezTo>
                  <a:cubicBezTo>
                    <a:pt x="675" y="395"/>
                    <a:pt x="613" y="362"/>
                    <a:pt x="582" y="340"/>
                  </a:cubicBezTo>
                  <a:cubicBezTo>
                    <a:pt x="544" y="313"/>
                    <a:pt x="490" y="241"/>
                    <a:pt x="471" y="206"/>
                  </a:cubicBezTo>
                  <a:cubicBezTo>
                    <a:pt x="459" y="183"/>
                    <a:pt x="459" y="183"/>
                    <a:pt x="459" y="183"/>
                  </a:cubicBezTo>
                  <a:cubicBezTo>
                    <a:pt x="429" y="125"/>
                    <a:pt x="402" y="76"/>
                    <a:pt x="383" y="69"/>
                  </a:cubicBezTo>
                  <a:cubicBezTo>
                    <a:pt x="359" y="62"/>
                    <a:pt x="313" y="66"/>
                    <a:pt x="272" y="79"/>
                  </a:cubicBezTo>
                  <a:cubicBezTo>
                    <a:pt x="252" y="87"/>
                    <a:pt x="236" y="86"/>
                    <a:pt x="235" y="86"/>
                  </a:cubicBezTo>
                  <a:cubicBezTo>
                    <a:pt x="234" y="86"/>
                    <a:pt x="234" y="86"/>
                    <a:pt x="234" y="86"/>
                  </a:cubicBezTo>
                  <a:cubicBezTo>
                    <a:pt x="233" y="86"/>
                    <a:pt x="233" y="86"/>
                    <a:pt x="233" y="86"/>
                  </a:cubicBezTo>
                  <a:cubicBezTo>
                    <a:pt x="232" y="87"/>
                    <a:pt x="232" y="87"/>
                    <a:pt x="232" y="87"/>
                  </a:cubicBezTo>
                  <a:cubicBezTo>
                    <a:pt x="231" y="87"/>
                    <a:pt x="221" y="90"/>
                    <a:pt x="208" y="77"/>
                  </a:cubicBezTo>
                  <a:cubicBezTo>
                    <a:pt x="193" y="62"/>
                    <a:pt x="147" y="26"/>
                    <a:pt x="126" y="26"/>
                  </a:cubicBezTo>
                  <a:cubicBezTo>
                    <a:pt x="114" y="26"/>
                    <a:pt x="90" y="20"/>
                    <a:pt x="77" y="15"/>
                  </a:cubicBezTo>
                  <a:cubicBezTo>
                    <a:pt x="77" y="15"/>
                    <a:pt x="72" y="12"/>
                    <a:pt x="72" y="12"/>
                  </a:cubicBezTo>
                  <a:cubicBezTo>
                    <a:pt x="72" y="12"/>
                    <a:pt x="72" y="12"/>
                    <a:pt x="72" y="12"/>
                  </a:cubicBezTo>
                  <a:cubicBezTo>
                    <a:pt x="72" y="12"/>
                    <a:pt x="61" y="4"/>
                    <a:pt x="61" y="4"/>
                  </a:cubicBezTo>
                  <a:cubicBezTo>
                    <a:pt x="57" y="0"/>
                    <a:pt x="57" y="0"/>
                    <a:pt x="57" y="0"/>
                  </a:cubicBezTo>
                  <a:lnTo>
                    <a:pt x="53" y="1"/>
                  </a:lnTo>
                  <a:close/>
                  <a:moveTo>
                    <a:pt x="54" y="18"/>
                  </a:moveTo>
                  <a:cubicBezTo>
                    <a:pt x="57" y="20"/>
                    <a:pt x="64" y="26"/>
                    <a:pt x="64" y="26"/>
                  </a:cubicBezTo>
                  <a:cubicBezTo>
                    <a:pt x="71" y="29"/>
                    <a:pt x="71" y="29"/>
                    <a:pt x="71" y="29"/>
                  </a:cubicBezTo>
                  <a:cubicBezTo>
                    <a:pt x="86" y="35"/>
                    <a:pt x="112" y="42"/>
                    <a:pt x="126" y="42"/>
                  </a:cubicBezTo>
                  <a:cubicBezTo>
                    <a:pt x="138" y="42"/>
                    <a:pt x="178" y="70"/>
                    <a:pt x="197" y="88"/>
                  </a:cubicBezTo>
                  <a:cubicBezTo>
                    <a:pt x="214" y="106"/>
                    <a:pt x="229" y="104"/>
                    <a:pt x="235" y="102"/>
                  </a:cubicBezTo>
                  <a:cubicBezTo>
                    <a:pt x="238" y="103"/>
                    <a:pt x="255" y="103"/>
                    <a:pt x="278" y="95"/>
                  </a:cubicBezTo>
                  <a:cubicBezTo>
                    <a:pt x="315" y="82"/>
                    <a:pt x="358" y="78"/>
                    <a:pt x="378" y="85"/>
                  </a:cubicBezTo>
                  <a:cubicBezTo>
                    <a:pt x="392" y="89"/>
                    <a:pt x="429" y="160"/>
                    <a:pt x="445" y="191"/>
                  </a:cubicBezTo>
                  <a:cubicBezTo>
                    <a:pt x="457" y="213"/>
                    <a:pt x="457" y="213"/>
                    <a:pt x="457" y="213"/>
                  </a:cubicBezTo>
                  <a:cubicBezTo>
                    <a:pt x="477" y="251"/>
                    <a:pt x="533" y="324"/>
                    <a:pt x="573" y="353"/>
                  </a:cubicBezTo>
                  <a:cubicBezTo>
                    <a:pt x="604" y="375"/>
                    <a:pt x="667" y="409"/>
                    <a:pt x="723" y="439"/>
                  </a:cubicBezTo>
                  <a:cubicBezTo>
                    <a:pt x="770" y="465"/>
                    <a:pt x="770" y="465"/>
                    <a:pt x="770" y="465"/>
                  </a:cubicBezTo>
                  <a:cubicBezTo>
                    <a:pt x="822" y="494"/>
                    <a:pt x="819" y="548"/>
                    <a:pt x="817" y="558"/>
                  </a:cubicBezTo>
                  <a:cubicBezTo>
                    <a:pt x="816" y="559"/>
                    <a:pt x="813" y="560"/>
                    <a:pt x="812" y="561"/>
                  </a:cubicBezTo>
                  <a:cubicBezTo>
                    <a:pt x="803" y="566"/>
                    <a:pt x="788" y="573"/>
                    <a:pt x="766" y="600"/>
                  </a:cubicBezTo>
                  <a:cubicBezTo>
                    <a:pt x="757" y="611"/>
                    <a:pt x="748" y="617"/>
                    <a:pt x="741" y="616"/>
                  </a:cubicBezTo>
                  <a:cubicBezTo>
                    <a:pt x="741" y="616"/>
                    <a:pt x="741" y="616"/>
                    <a:pt x="741" y="616"/>
                  </a:cubicBezTo>
                  <a:cubicBezTo>
                    <a:pt x="732" y="615"/>
                    <a:pt x="723" y="604"/>
                    <a:pt x="715" y="587"/>
                  </a:cubicBezTo>
                  <a:cubicBezTo>
                    <a:pt x="703" y="562"/>
                    <a:pt x="566" y="458"/>
                    <a:pt x="534" y="439"/>
                  </a:cubicBezTo>
                  <a:cubicBezTo>
                    <a:pt x="499" y="419"/>
                    <a:pt x="374" y="320"/>
                    <a:pt x="354" y="299"/>
                  </a:cubicBezTo>
                  <a:cubicBezTo>
                    <a:pt x="197" y="124"/>
                    <a:pt x="197" y="124"/>
                    <a:pt x="197" y="124"/>
                  </a:cubicBezTo>
                  <a:cubicBezTo>
                    <a:pt x="176" y="101"/>
                    <a:pt x="109" y="53"/>
                    <a:pt x="77" y="37"/>
                  </a:cubicBezTo>
                  <a:cubicBezTo>
                    <a:pt x="77" y="37"/>
                    <a:pt x="72" y="35"/>
                    <a:pt x="72" y="35"/>
                  </a:cubicBezTo>
                  <a:cubicBezTo>
                    <a:pt x="61" y="31"/>
                    <a:pt x="50" y="28"/>
                    <a:pt x="39" y="26"/>
                  </a:cubicBezTo>
                  <a:cubicBezTo>
                    <a:pt x="44" y="23"/>
                    <a:pt x="49" y="20"/>
                    <a:pt x="54"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98" name="Freeform 2152">
              <a:extLst>
                <a:ext uri="{FF2B5EF4-FFF2-40B4-BE49-F238E27FC236}">
                  <a16:creationId xmlns:a16="http://schemas.microsoft.com/office/drawing/2014/main" id="{5E006733-34C1-4C76-F078-68F369FFDA44}"/>
                </a:ext>
              </a:extLst>
            </p:cNvPr>
            <p:cNvSpPr>
              <a:spLocks noEditPoints="1"/>
            </p:cNvSpPr>
            <p:nvPr/>
          </p:nvSpPr>
          <p:spPr bwMode="auto">
            <a:xfrm>
              <a:off x="1681" y="3695"/>
              <a:ext cx="182" cy="139"/>
            </a:xfrm>
            <a:custGeom>
              <a:avLst/>
              <a:gdLst>
                <a:gd name="T0" fmla="*/ 45 w 826"/>
                <a:gd name="T1" fmla="*/ 1 h 626"/>
                <a:gd name="T2" fmla="*/ 6 w 826"/>
                <a:gd name="T3" fmla="*/ 24 h 626"/>
                <a:gd name="T4" fmla="*/ 0 w 826"/>
                <a:gd name="T5" fmla="*/ 30 h 626"/>
                <a:gd name="T6" fmla="*/ 9 w 826"/>
                <a:gd name="T7" fmla="*/ 31 h 626"/>
                <a:gd name="T8" fmla="*/ 58 w 826"/>
                <a:gd name="T9" fmla="*/ 42 h 626"/>
                <a:gd name="T10" fmla="*/ 62 w 826"/>
                <a:gd name="T11" fmla="*/ 44 h 626"/>
                <a:gd name="T12" fmla="*/ 179 w 826"/>
                <a:gd name="T13" fmla="*/ 128 h 626"/>
                <a:gd name="T14" fmla="*/ 336 w 826"/>
                <a:gd name="T15" fmla="*/ 304 h 626"/>
                <a:gd name="T16" fmla="*/ 519 w 826"/>
                <a:gd name="T17" fmla="*/ 446 h 626"/>
                <a:gd name="T18" fmla="*/ 695 w 826"/>
                <a:gd name="T19" fmla="*/ 588 h 626"/>
                <a:gd name="T20" fmla="*/ 730 w 826"/>
                <a:gd name="T21" fmla="*/ 624 h 626"/>
                <a:gd name="T22" fmla="*/ 767 w 826"/>
                <a:gd name="T23" fmla="*/ 604 h 626"/>
                <a:gd name="T24" fmla="*/ 808 w 826"/>
                <a:gd name="T25" fmla="*/ 568 h 626"/>
                <a:gd name="T26" fmla="*/ 819 w 826"/>
                <a:gd name="T27" fmla="*/ 557 h 626"/>
                <a:gd name="T28" fmla="*/ 767 w 826"/>
                <a:gd name="T29" fmla="*/ 450 h 626"/>
                <a:gd name="T30" fmla="*/ 720 w 826"/>
                <a:gd name="T31" fmla="*/ 424 h 626"/>
                <a:gd name="T32" fmla="*/ 571 w 826"/>
                <a:gd name="T33" fmla="*/ 339 h 626"/>
                <a:gd name="T34" fmla="*/ 459 w 826"/>
                <a:gd name="T35" fmla="*/ 204 h 626"/>
                <a:gd name="T36" fmla="*/ 447 w 826"/>
                <a:gd name="T37" fmla="*/ 181 h 626"/>
                <a:gd name="T38" fmla="*/ 372 w 826"/>
                <a:gd name="T39" fmla="*/ 69 h 626"/>
                <a:gd name="T40" fmla="*/ 264 w 826"/>
                <a:gd name="T41" fmla="*/ 79 h 626"/>
                <a:gd name="T42" fmla="*/ 226 w 826"/>
                <a:gd name="T43" fmla="*/ 86 h 626"/>
                <a:gd name="T44" fmla="*/ 225 w 826"/>
                <a:gd name="T45" fmla="*/ 86 h 626"/>
                <a:gd name="T46" fmla="*/ 224 w 826"/>
                <a:gd name="T47" fmla="*/ 86 h 626"/>
                <a:gd name="T48" fmla="*/ 197 w 826"/>
                <a:gd name="T49" fmla="*/ 76 h 626"/>
                <a:gd name="T50" fmla="*/ 117 w 826"/>
                <a:gd name="T51" fmla="*/ 25 h 626"/>
                <a:gd name="T52" fmla="*/ 67 w 826"/>
                <a:gd name="T53" fmla="*/ 14 h 626"/>
                <a:gd name="T54" fmla="*/ 62 w 826"/>
                <a:gd name="T55" fmla="*/ 12 h 626"/>
                <a:gd name="T56" fmla="*/ 50 w 826"/>
                <a:gd name="T57" fmla="*/ 3 h 626"/>
                <a:gd name="T58" fmla="*/ 47 w 826"/>
                <a:gd name="T59" fmla="*/ 0 h 626"/>
                <a:gd name="T60" fmla="*/ 45 w 826"/>
                <a:gd name="T61" fmla="*/ 1 h 626"/>
                <a:gd name="T62" fmla="*/ 45 w 826"/>
                <a:gd name="T63" fmla="*/ 10 h 626"/>
                <a:gd name="T64" fmla="*/ 57 w 826"/>
                <a:gd name="T65" fmla="*/ 19 h 626"/>
                <a:gd name="T66" fmla="*/ 64 w 826"/>
                <a:gd name="T67" fmla="*/ 22 h 626"/>
                <a:gd name="T68" fmla="*/ 117 w 826"/>
                <a:gd name="T69" fmla="*/ 34 h 626"/>
                <a:gd name="T70" fmla="*/ 191 w 826"/>
                <a:gd name="T71" fmla="*/ 82 h 626"/>
                <a:gd name="T72" fmla="*/ 226 w 826"/>
                <a:gd name="T73" fmla="*/ 95 h 626"/>
                <a:gd name="T74" fmla="*/ 267 w 826"/>
                <a:gd name="T75" fmla="*/ 87 h 626"/>
                <a:gd name="T76" fmla="*/ 370 w 826"/>
                <a:gd name="T77" fmla="*/ 77 h 626"/>
                <a:gd name="T78" fmla="*/ 439 w 826"/>
                <a:gd name="T79" fmla="*/ 185 h 626"/>
                <a:gd name="T80" fmla="*/ 451 w 826"/>
                <a:gd name="T81" fmla="*/ 208 h 626"/>
                <a:gd name="T82" fmla="*/ 566 w 826"/>
                <a:gd name="T83" fmla="*/ 346 h 626"/>
                <a:gd name="T84" fmla="*/ 716 w 826"/>
                <a:gd name="T85" fmla="*/ 432 h 626"/>
                <a:gd name="T86" fmla="*/ 763 w 826"/>
                <a:gd name="T87" fmla="*/ 458 h 626"/>
                <a:gd name="T88" fmla="*/ 811 w 826"/>
                <a:gd name="T89" fmla="*/ 555 h 626"/>
                <a:gd name="T90" fmla="*/ 804 w 826"/>
                <a:gd name="T91" fmla="*/ 560 h 626"/>
                <a:gd name="T92" fmla="*/ 760 w 826"/>
                <a:gd name="T93" fmla="*/ 598 h 626"/>
                <a:gd name="T94" fmla="*/ 731 w 826"/>
                <a:gd name="T95" fmla="*/ 615 h 626"/>
                <a:gd name="T96" fmla="*/ 702 w 826"/>
                <a:gd name="T97" fmla="*/ 585 h 626"/>
                <a:gd name="T98" fmla="*/ 523 w 826"/>
                <a:gd name="T99" fmla="*/ 438 h 626"/>
                <a:gd name="T100" fmla="*/ 343 w 826"/>
                <a:gd name="T101" fmla="*/ 298 h 626"/>
                <a:gd name="T102" fmla="*/ 185 w 826"/>
                <a:gd name="T103" fmla="*/ 122 h 626"/>
                <a:gd name="T104" fmla="*/ 66 w 826"/>
                <a:gd name="T105" fmla="*/ 37 h 626"/>
                <a:gd name="T106" fmla="*/ 61 w 826"/>
                <a:gd name="T107" fmla="*/ 34 h 626"/>
                <a:gd name="T108" fmla="*/ 20 w 826"/>
                <a:gd name="T109" fmla="*/ 24 h 626"/>
                <a:gd name="T110" fmla="*/ 45 w 826"/>
                <a:gd name="T111" fmla="*/ 10 h 6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826" h="626">
                  <a:moveTo>
                    <a:pt x="45" y="1"/>
                  </a:moveTo>
                  <a:cubicBezTo>
                    <a:pt x="32" y="5"/>
                    <a:pt x="18" y="14"/>
                    <a:pt x="6" y="24"/>
                  </a:cubicBezTo>
                  <a:cubicBezTo>
                    <a:pt x="0" y="30"/>
                    <a:pt x="0" y="30"/>
                    <a:pt x="0" y="30"/>
                  </a:cubicBezTo>
                  <a:cubicBezTo>
                    <a:pt x="9" y="31"/>
                    <a:pt x="9" y="31"/>
                    <a:pt x="9" y="31"/>
                  </a:cubicBezTo>
                  <a:cubicBezTo>
                    <a:pt x="26" y="33"/>
                    <a:pt x="44" y="36"/>
                    <a:pt x="58" y="42"/>
                  </a:cubicBezTo>
                  <a:cubicBezTo>
                    <a:pt x="62" y="44"/>
                    <a:pt x="62" y="44"/>
                    <a:pt x="62" y="44"/>
                  </a:cubicBezTo>
                  <a:cubicBezTo>
                    <a:pt x="95" y="60"/>
                    <a:pt x="161" y="108"/>
                    <a:pt x="179" y="128"/>
                  </a:cubicBezTo>
                  <a:cubicBezTo>
                    <a:pt x="336" y="304"/>
                    <a:pt x="336" y="304"/>
                    <a:pt x="336" y="304"/>
                  </a:cubicBezTo>
                  <a:cubicBezTo>
                    <a:pt x="356" y="325"/>
                    <a:pt x="483" y="425"/>
                    <a:pt x="519" y="446"/>
                  </a:cubicBezTo>
                  <a:cubicBezTo>
                    <a:pt x="557" y="468"/>
                    <a:pt x="685" y="569"/>
                    <a:pt x="695" y="588"/>
                  </a:cubicBezTo>
                  <a:cubicBezTo>
                    <a:pt x="705" y="610"/>
                    <a:pt x="717" y="622"/>
                    <a:pt x="730" y="624"/>
                  </a:cubicBezTo>
                  <a:cubicBezTo>
                    <a:pt x="742" y="626"/>
                    <a:pt x="754" y="619"/>
                    <a:pt x="767" y="604"/>
                  </a:cubicBezTo>
                  <a:cubicBezTo>
                    <a:pt x="787" y="579"/>
                    <a:pt x="800" y="572"/>
                    <a:pt x="808" y="568"/>
                  </a:cubicBezTo>
                  <a:cubicBezTo>
                    <a:pt x="814" y="565"/>
                    <a:pt x="818" y="563"/>
                    <a:pt x="819" y="557"/>
                  </a:cubicBezTo>
                  <a:cubicBezTo>
                    <a:pt x="823" y="544"/>
                    <a:pt x="826" y="482"/>
                    <a:pt x="767" y="450"/>
                  </a:cubicBezTo>
                  <a:cubicBezTo>
                    <a:pt x="720" y="424"/>
                    <a:pt x="720" y="424"/>
                    <a:pt x="720" y="424"/>
                  </a:cubicBezTo>
                  <a:cubicBezTo>
                    <a:pt x="664" y="395"/>
                    <a:pt x="602" y="361"/>
                    <a:pt x="571" y="339"/>
                  </a:cubicBezTo>
                  <a:cubicBezTo>
                    <a:pt x="533" y="312"/>
                    <a:pt x="478" y="239"/>
                    <a:pt x="459" y="204"/>
                  </a:cubicBezTo>
                  <a:cubicBezTo>
                    <a:pt x="447" y="181"/>
                    <a:pt x="447" y="181"/>
                    <a:pt x="447" y="181"/>
                  </a:cubicBezTo>
                  <a:cubicBezTo>
                    <a:pt x="418" y="125"/>
                    <a:pt x="390" y="75"/>
                    <a:pt x="372" y="69"/>
                  </a:cubicBezTo>
                  <a:cubicBezTo>
                    <a:pt x="350" y="61"/>
                    <a:pt x="304" y="66"/>
                    <a:pt x="264" y="79"/>
                  </a:cubicBezTo>
                  <a:cubicBezTo>
                    <a:pt x="243" y="87"/>
                    <a:pt x="226" y="86"/>
                    <a:pt x="226" y="86"/>
                  </a:cubicBezTo>
                  <a:cubicBezTo>
                    <a:pt x="225" y="86"/>
                    <a:pt x="225" y="86"/>
                    <a:pt x="225" y="86"/>
                  </a:cubicBezTo>
                  <a:cubicBezTo>
                    <a:pt x="224" y="86"/>
                    <a:pt x="224" y="86"/>
                    <a:pt x="224" y="86"/>
                  </a:cubicBezTo>
                  <a:cubicBezTo>
                    <a:pt x="223" y="86"/>
                    <a:pt x="212" y="91"/>
                    <a:pt x="197" y="76"/>
                  </a:cubicBezTo>
                  <a:cubicBezTo>
                    <a:pt x="179" y="58"/>
                    <a:pt x="135" y="25"/>
                    <a:pt x="117" y="25"/>
                  </a:cubicBezTo>
                  <a:cubicBezTo>
                    <a:pt x="105" y="25"/>
                    <a:pt x="80" y="19"/>
                    <a:pt x="67" y="14"/>
                  </a:cubicBezTo>
                  <a:cubicBezTo>
                    <a:pt x="62" y="12"/>
                    <a:pt x="62" y="12"/>
                    <a:pt x="62" y="12"/>
                  </a:cubicBezTo>
                  <a:cubicBezTo>
                    <a:pt x="62" y="12"/>
                    <a:pt x="50" y="3"/>
                    <a:pt x="50" y="3"/>
                  </a:cubicBezTo>
                  <a:cubicBezTo>
                    <a:pt x="47" y="0"/>
                    <a:pt x="47" y="0"/>
                    <a:pt x="47" y="0"/>
                  </a:cubicBezTo>
                  <a:lnTo>
                    <a:pt x="45" y="1"/>
                  </a:lnTo>
                  <a:close/>
                  <a:moveTo>
                    <a:pt x="45" y="10"/>
                  </a:moveTo>
                  <a:cubicBezTo>
                    <a:pt x="47" y="11"/>
                    <a:pt x="57" y="19"/>
                    <a:pt x="57" y="19"/>
                  </a:cubicBezTo>
                  <a:cubicBezTo>
                    <a:pt x="64" y="22"/>
                    <a:pt x="64" y="22"/>
                    <a:pt x="64" y="22"/>
                  </a:cubicBezTo>
                  <a:cubicBezTo>
                    <a:pt x="78" y="28"/>
                    <a:pt x="103" y="34"/>
                    <a:pt x="117" y="34"/>
                  </a:cubicBezTo>
                  <a:cubicBezTo>
                    <a:pt x="131" y="34"/>
                    <a:pt x="173" y="64"/>
                    <a:pt x="191" y="82"/>
                  </a:cubicBezTo>
                  <a:cubicBezTo>
                    <a:pt x="208" y="99"/>
                    <a:pt x="223" y="96"/>
                    <a:pt x="226" y="95"/>
                  </a:cubicBezTo>
                  <a:cubicBezTo>
                    <a:pt x="228" y="95"/>
                    <a:pt x="245" y="96"/>
                    <a:pt x="267" y="87"/>
                  </a:cubicBezTo>
                  <a:cubicBezTo>
                    <a:pt x="305" y="75"/>
                    <a:pt x="349" y="70"/>
                    <a:pt x="370" y="77"/>
                  </a:cubicBezTo>
                  <a:cubicBezTo>
                    <a:pt x="386" y="82"/>
                    <a:pt x="420" y="149"/>
                    <a:pt x="439" y="185"/>
                  </a:cubicBezTo>
                  <a:cubicBezTo>
                    <a:pt x="451" y="208"/>
                    <a:pt x="451" y="208"/>
                    <a:pt x="451" y="208"/>
                  </a:cubicBezTo>
                  <a:cubicBezTo>
                    <a:pt x="471" y="245"/>
                    <a:pt x="526" y="318"/>
                    <a:pt x="566" y="346"/>
                  </a:cubicBezTo>
                  <a:cubicBezTo>
                    <a:pt x="597" y="368"/>
                    <a:pt x="660" y="402"/>
                    <a:pt x="716" y="432"/>
                  </a:cubicBezTo>
                  <a:cubicBezTo>
                    <a:pt x="763" y="458"/>
                    <a:pt x="763" y="458"/>
                    <a:pt x="763" y="458"/>
                  </a:cubicBezTo>
                  <a:cubicBezTo>
                    <a:pt x="817" y="487"/>
                    <a:pt x="814" y="545"/>
                    <a:pt x="811" y="555"/>
                  </a:cubicBezTo>
                  <a:cubicBezTo>
                    <a:pt x="811" y="557"/>
                    <a:pt x="809" y="558"/>
                    <a:pt x="804" y="560"/>
                  </a:cubicBezTo>
                  <a:cubicBezTo>
                    <a:pt x="796" y="565"/>
                    <a:pt x="781" y="572"/>
                    <a:pt x="760" y="598"/>
                  </a:cubicBezTo>
                  <a:cubicBezTo>
                    <a:pt x="750" y="611"/>
                    <a:pt x="740" y="617"/>
                    <a:pt x="731" y="615"/>
                  </a:cubicBezTo>
                  <a:cubicBezTo>
                    <a:pt x="721" y="614"/>
                    <a:pt x="711" y="604"/>
                    <a:pt x="702" y="585"/>
                  </a:cubicBezTo>
                  <a:cubicBezTo>
                    <a:pt x="691" y="561"/>
                    <a:pt x="554" y="457"/>
                    <a:pt x="523" y="438"/>
                  </a:cubicBezTo>
                  <a:cubicBezTo>
                    <a:pt x="488" y="418"/>
                    <a:pt x="362" y="319"/>
                    <a:pt x="343" y="298"/>
                  </a:cubicBezTo>
                  <a:cubicBezTo>
                    <a:pt x="185" y="122"/>
                    <a:pt x="185" y="122"/>
                    <a:pt x="185" y="122"/>
                  </a:cubicBezTo>
                  <a:cubicBezTo>
                    <a:pt x="165" y="100"/>
                    <a:pt x="98" y="52"/>
                    <a:pt x="66" y="37"/>
                  </a:cubicBezTo>
                  <a:cubicBezTo>
                    <a:pt x="66" y="37"/>
                    <a:pt x="61" y="34"/>
                    <a:pt x="61" y="34"/>
                  </a:cubicBezTo>
                  <a:cubicBezTo>
                    <a:pt x="49" y="29"/>
                    <a:pt x="35" y="26"/>
                    <a:pt x="20" y="24"/>
                  </a:cubicBezTo>
                  <a:cubicBezTo>
                    <a:pt x="28" y="18"/>
                    <a:pt x="37" y="13"/>
                    <a:pt x="45" y="1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199" name="Freeform 2153">
              <a:extLst>
                <a:ext uri="{FF2B5EF4-FFF2-40B4-BE49-F238E27FC236}">
                  <a16:creationId xmlns:a16="http://schemas.microsoft.com/office/drawing/2014/main" id="{32A47382-96AD-E4DD-76D0-75899F46417C}"/>
                </a:ext>
              </a:extLst>
            </p:cNvPr>
            <p:cNvSpPr>
              <a:spLocks/>
            </p:cNvSpPr>
            <p:nvPr/>
          </p:nvSpPr>
          <p:spPr bwMode="auto">
            <a:xfrm>
              <a:off x="1694" y="3846"/>
              <a:ext cx="61" cy="76"/>
            </a:xfrm>
            <a:custGeom>
              <a:avLst/>
              <a:gdLst>
                <a:gd name="T0" fmla="*/ 0 w 275"/>
                <a:gd name="T1" fmla="*/ 14 h 343"/>
                <a:gd name="T2" fmla="*/ 50 w 275"/>
                <a:gd name="T3" fmla="*/ 108 h 343"/>
                <a:gd name="T4" fmla="*/ 133 w 275"/>
                <a:gd name="T5" fmla="*/ 200 h 343"/>
                <a:gd name="T6" fmla="*/ 193 w 275"/>
                <a:gd name="T7" fmla="*/ 292 h 343"/>
                <a:gd name="T8" fmla="*/ 223 w 275"/>
                <a:gd name="T9" fmla="*/ 331 h 343"/>
                <a:gd name="T10" fmla="*/ 273 w 275"/>
                <a:gd name="T11" fmla="*/ 262 h 343"/>
                <a:gd name="T12" fmla="*/ 232 w 275"/>
                <a:gd name="T13" fmla="*/ 218 h 343"/>
                <a:gd name="T14" fmla="*/ 98 w 275"/>
                <a:gd name="T15" fmla="*/ 104 h 343"/>
                <a:gd name="T16" fmla="*/ 0 w 275"/>
                <a:gd name="T17" fmla="*/ 14 h 3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75" h="343">
                  <a:moveTo>
                    <a:pt x="0" y="14"/>
                  </a:moveTo>
                  <a:cubicBezTo>
                    <a:pt x="0" y="14"/>
                    <a:pt x="13" y="48"/>
                    <a:pt x="50" y="108"/>
                  </a:cubicBezTo>
                  <a:cubicBezTo>
                    <a:pt x="87" y="168"/>
                    <a:pt x="101" y="170"/>
                    <a:pt x="133" y="200"/>
                  </a:cubicBezTo>
                  <a:cubicBezTo>
                    <a:pt x="165" y="230"/>
                    <a:pt x="193" y="264"/>
                    <a:pt x="193" y="292"/>
                  </a:cubicBezTo>
                  <a:cubicBezTo>
                    <a:pt x="193" y="320"/>
                    <a:pt x="200" y="343"/>
                    <a:pt x="223" y="331"/>
                  </a:cubicBezTo>
                  <a:cubicBezTo>
                    <a:pt x="245" y="320"/>
                    <a:pt x="275" y="294"/>
                    <a:pt x="273" y="262"/>
                  </a:cubicBezTo>
                  <a:cubicBezTo>
                    <a:pt x="271" y="230"/>
                    <a:pt x="257" y="223"/>
                    <a:pt x="232" y="218"/>
                  </a:cubicBezTo>
                  <a:cubicBezTo>
                    <a:pt x="206" y="214"/>
                    <a:pt x="112" y="124"/>
                    <a:pt x="98" y="104"/>
                  </a:cubicBezTo>
                  <a:cubicBezTo>
                    <a:pt x="85" y="83"/>
                    <a:pt x="13" y="0"/>
                    <a:pt x="0" y="14"/>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00" name="Freeform 2154">
              <a:extLst>
                <a:ext uri="{FF2B5EF4-FFF2-40B4-BE49-F238E27FC236}">
                  <a16:creationId xmlns:a16="http://schemas.microsoft.com/office/drawing/2014/main" id="{48637F28-8C17-8569-5E1A-E2165B232592}"/>
                </a:ext>
              </a:extLst>
            </p:cNvPr>
            <p:cNvSpPr>
              <a:spLocks noEditPoints="1"/>
            </p:cNvSpPr>
            <p:nvPr/>
          </p:nvSpPr>
          <p:spPr bwMode="auto">
            <a:xfrm>
              <a:off x="1692" y="3847"/>
              <a:ext cx="65" cy="75"/>
            </a:xfrm>
            <a:custGeom>
              <a:avLst/>
              <a:gdLst>
                <a:gd name="T0" fmla="*/ 4 w 294"/>
                <a:gd name="T1" fmla="*/ 4 h 339"/>
                <a:gd name="T2" fmla="*/ 0 w 294"/>
                <a:gd name="T3" fmla="*/ 8 h 339"/>
                <a:gd name="T4" fmla="*/ 2 w 294"/>
                <a:gd name="T5" fmla="*/ 13 h 339"/>
                <a:gd name="T6" fmla="*/ 53 w 294"/>
                <a:gd name="T7" fmla="*/ 108 h 339"/>
                <a:gd name="T8" fmla="*/ 117 w 294"/>
                <a:gd name="T9" fmla="*/ 184 h 339"/>
                <a:gd name="T10" fmla="*/ 138 w 294"/>
                <a:gd name="T11" fmla="*/ 202 h 339"/>
                <a:gd name="T12" fmla="*/ 195 w 294"/>
                <a:gd name="T13" fmla="*/ 288 h 339"/>
                <a:gd name="T14" fmla="*/ 210 w 294"/>
                <a:gd name="T15" fmla="*/ 335 h 339"/>
                <a:gd name="T16" fmla="*/ 236 w 294"/>
                <a:gd name="T17" fmla="*/ 334 h 339"/>
                <a:gd name="T18" fmla="*/ 291 w 294"/>
                <a:gd name="T19" fmla="*/ 258 h 339"/>
                <a:gd name="T20" fmla="*/ 243 w 294"/>
                <a:gd name="T21" fmla="*/ 207 h 339"/>
                <a:gd name="T22" fmla="*/ 115 w 294"/>
                <a:gd name="T23" fmla="*/ 95 h 339"/>
                <a:gd name="T24" fmla="*/ 15 w 294"/>
                <a:gd name="T25" fmla="*/ 1 h 339"/>
                <a:gd name="T26" fmla="*/ 4 w 294"/>
                <a:gd name="T27" fmla="*/ 4 h 339"/>
                <a:gd name="T28" fmla="*/ 211 w 294"/>
                <a:gd name="T29" fmla="*/ 288 h 339"/>
                <a:gd name="T30" fmla="*/ 148 w 294"/>
                <a:gd name="T31" fmla="*/ 190 h 339"/>
                <a:gd name="T32" fmla="*/ 127 w 294"/>
                <a:gd name="T33" fmla="*/ 172 h 339"/>
                <a:gd name="T34" fmla="*/ 67 w 294"/>
                <a:gd name="T35" fmla="*/ 100 h 339"/>
                <a:gd name="T36" fmla="*/ 24 w 294"/>
                <a:gd name="T37" fmla="*/ 21 h 339"/>
                <a:gd name="T38" fmla="*/ 102 w 294"/>
                <a:gd name="T39" fmla="*/ 104 h 339"/>
                <a:gd name="T40" fmla="*/ 240 w 294"/>
                <a:gd name="T41" fmla="*/ 222 h 339"/>
                <a:gd name="T42" fmla="*/ 275 w 294"/>
                <a:gd name="T43" fmla="*/ 259 h 339"/>
                <a:gd name="T44" fmla="*/ 275 w 294"/>
                <a:gd name="T45" fmla="*/ 262 h 339"/>
                <a:gd name="T46" fmla="*/ 229 w 294"/>
                <a:gd name="T47" fmla="*/ 320 h 339"/>
                <a:gd name="T48" fmla="*/ 219 w 294"/>
                <a:gd name="T49" fmla="*/ 321 h 339"/>
                <a:gd name="T50" fmla="*/ 211 w 294"/>
                <a:gd name="T51" fmla="*/ 288 h 33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94" h="339">
                  <a:moveTo>
                    <a:pt x="4" y="4"/>
                  </a:moveTo>
                  <a:cubicBezTo>
                    <a:pt x="0" y="8"/>
                    <a:pt x="0" y="8"/>
                    <a:pt x="0" y="8"/>
                  </a:cubicBezTo>
                  <a:cubicBezTo>
                    <a:pt x="2" y="13"/>
                    <a:pt x="2" y="13"/>
                    <a:pt x="2" y="13"/>
                  </a:cubicBezTo>
                  <a:cubicBezTo>
                    <a:pt x="3" y="14"/>
                    <a:pt x="17" y="49"/>
                    <a:pt x="53" y="108"/>
                  </a:cubicBezTo>
                  <a:cubicBezTo>
                    <a:pt x="82" y="155"/>
                    <a:pt x="97" y="168"/>
                    <a:pt x="117" y="184"/>
                  </a:cubicBezTo>
                  <a:cubicBezTo>
                    <a:pt x="138" y="202"/>
                    <a:pt x="138" y="202"/>
                    <a:pt x="138" y="202"/>
                  </a:cubicBezTo>
                  <a:cubicBezTo>
                    <a:pt x="174" y="236"/>
                    <a:pt x="195" y="267"/>
                    <a:pt x="195" y="288"/>
                  </a:cubicBezTo>
                  <a:cubicBezTo>
                    <a:pt x="195" y="313"/>
                    <a:pt x="200" y="329"/>
                    <a:pt x="210" y="335"/>
                  </a:cubicBezTo>
                  <a:cubicBezTo>
                    <a:pt x="218" y="339"/>
                    <a:pt x="226" y="339"/>
                    <a:pt x="236" y="334"/>
                  </a:cubicBezTo>
                  <a:cubicBezTo>
                    <a:pt x="263" y="321"/>
                    <a:pt x="294" y="293"/>
                    <a:pt x="291" y="258"/>
                  </a:cubicBezTo>
                  <a:cubicBezTo>
                    <a:pt x="288" y="222"/>
                    <a:pt x="272" y="212"/>
                    <a:pt x="243" y="207"/>
                  </a:cubicBezTo>
                  <a:cubicBezTo>
                    <a:pt x="222" y="203"/>
                    <a:pt x="129" y="115"/>
                    <a:pt x="115" y="95"/>
                  </a:cubicBezTo>
                  <a:cubicBezTo>
                    <a:pt x="108" y="84"/>
                    <a:pt x="43" y="3"/>
                    <a:pt x="15" y="1"/>
                  </a:cubicBezTo>
                  <a:cubicBezTo>
                    <a:pt x="11" y="0"/>
                    <a:pt x="7" y="1"/>
                    <a:pt x="4" y="4"/>
                  </a:cubicBezTo>
                  <a:close/>
                  <a:moveTo>
                    <a:pt x="211" y="288"/>
                  </a:moveTo>
                  <a:cubicBezTo>
                    <a:pt x="211" y="255"/>
                    <a:pt x="177" y="217"/>
                    <a:pt x="148" y="190"/>
                  </a:cubicBezTo>
                  <a:cubicBezTo>
                    <a:pt x="127" y="172"/>
                    <a:pt x="127" y="172"/>
                    <a:pt x="127" y="172"/>
                  </a:cubicBezTo>
                  <a:cubicBezTo>
                    <a:pt x="108" y="156"/>
                    <a:pt x="94" y="144"/>
                    <a:pt x="67" y="100"/>
                  </a:cubicBezTo>
                  <a:cubicBezTo>
                    <a:pt x="44" y="63"/>
                    <a:pt x="31" y="36"/>
                    <a:pt x="24" y="21"/>
                  </a:cubicBezTo>
                  <a:cubicBezTo>
                    <a:pt x="46" y="37"/>
                    <a:pt x="89" y="85"/>
                    <a:pt x="102" y="104"/>
                  </a:cubicBezTo>
                  <a:cubicBezTo>
                    <a:pt x="116" y="126"/>
                    <a:pt x="211" y="217"/>
                    <a:pt x="240" y="222"/>
                  </a:cubicBezTo>
                  <a:cubicBezTo>
                    <a:pt x="265" y="227"/>
                    <a:pt x="273" y="233"/>
                    <a:pt x="275" y="259"/>
                  </a:cubicBezTo>
                  <a:cubicBezTo>
                    <a:pt x="275" y="262"/>
                    <a:pt x="275" y="262"/>
                    <a:pt x="275" y="262"/>
                  </a:cubicBezTo>
                  <a:cubicBezTo>
                    <a:pt x="275" y="288"/>
                    <a:pt x="250" y="309"/>
                    <a:pt x="229" y="320"/>
                  </a:cubicBezTo>
                  <a:cubicBezTo>
                    <a:pt x="226" y="322"/>
                    <a:pt x="221" y="323"/>
                    <a:pt x="219" y="321"/>
                  </a:cubicBezTo>
                  <a:cubicBezTo>
                    <a:pt x="215" y="319"/>
                    <a:pt x="211" y="309"/>
                    <a:pt x="211" y="28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sp>
          <p:nvSpPr>
            <p:cNvPr id="201" name="Freeform 2155">
              <a:extLst>
                <a:ext uri="{FF2B5EF4-FFF2-40B4-BE49-F238E27FC236}">
                  <a16:creationId xmlns:a16="http://schemas.microsoft.com/office/drawing/2014/main" id="{5B94D94E-B3BD-6E98-690A-52C72F50DF7D}"/>
                </a:ext>
              </a:extLst>
            </p:cNvPr>
            <p:cNvSpPr>
              <a:spLocks noEditPoints="1"/>
            </p:cNvSpPr>
            <p:nvPr/>
          </p:nvSpPr>
          <p:spPr bwMode="auto">
            <a:xfrm>
              <a:off x="1693" y="3848"/>
              <a:ext cx="63" cy="73"/>
            </a:xfrm>
            <a:custGeom>
              <a:avLst/>
              <a:gdLst>
                <a:gd name="T0" fmla="*/ 2 w 285"/>
                <a:gd name="T1" fmla="*/ 3 h 332"/>
                <a:gd name="T2" fmla="*/ 0 w 285"/>
                <a:gd name="T3" fmla="*/ 5 h 332"/>
                <a:gd name="T4" fmla="*/ 1 w 285"/>
                <a:gd name="T5" fmla="*/ 8 h 332"/>
                <a:gd name="T6" fmla="*/ 51 w 285"/>
                <a:gd name="T7" fmla="*/ 102 h 332"/>
                <a:gd name="T8" fmla="*/ 114 w 285"/>
                <a:gd name="T9" fmla="*/ 177 h 332"/>
                <a:gd name="T10" fmla="*/ 135 w 285"/>
                <a:gd name="T11" fmla="*/ 195 h 332"/>
                <a:gd name="T12" fmla="*/ 193 w 285"/>
                <a:gd name="T13" fmla="*/ 284 h 332"/>
                <a:gd name="T14" fmla="*/ 207 w 285"/>
                <a:gd name="T15" fmla="*/ 328 h 332"/>
                <a:gd name="T16" fmla="*/ 229 w 285"/>
                <a:gd name="T17" fmla="*/ 327 h 332"/>
                <a:gd name="T18" fmla="*/ 282 w 285"/>
                <a:gd name="T19" fmla="*/ 254 h 332"/>
                <a:gd name="T20" fmla="*/ 237 w 285"/>
                <a:gd name="T21" fmla="*/ 206 h 332"/>
                <a:gd name="T22" fmla="*/ 107 w 285"/>
                <a:gd name="T23" fmla="*/ 93 h 332"/>
                <a:gd name="T24" fmla="*/ 10 w 285"/>
                <a:gd name="T25" fmla="*/ 0 h 332"/>
                <a:gd name="T26" fmla="*/ 2 w 285"/>
                <a:gd name="T27" fmla="*/ 3 h 332"/>
                <a:gd name="T28" fmla="*/ 212 w 285"/>
                <a:gd name="T29" fmla="*/ 321 h 332"/>
                <a:gd name="T30" fmla="*/ 202 w 285"/>
                <a:gd name="T31" fmla="*/ 284 h 332"/>
                <a:gd name="T32" fmla="*/ 141 w 285"/>
                <a:gd name="T33" fmla="*/ 189 h 332"/>
                <a:gd name="T34" fmla="*/ 120 w 285"/>
                <a:gd name="T35" fmla="*/ 171 h 332"/>
                <a:gd name="T36" fmla="*/ 59 w 285"/>
                <a:gd name="T37" fmla="*/ 98 h 332"/>
                <a:gd name="T38" fmla="*/ 11 w 285"/>
                <a:gd name="T39" fmla="*/ 9 h 332"/>
                <a:gd name="T40" fmla="*/ 100 w 285"/>
                <a:gd name="T41" fmla="*/ 98 h 332"/>
                <a:gd name="T42" fmla="*/ 236 w 285"/>
                <a:gd name="T43" fmla="*/ 215 h 332"/>
                <a:gd name="T44" fmla="*/ 274 w 285"/>
                <a:gd name="T45" fmla="*/ 254 h 332"/>
                <a:gd name="T46" fmla="*/ 274 w 285"/>
                <a:gd name="T47" fmla="*/ 258 h 332"/>
                <a:gd name="T48" fmla="*/ 226 w 285"/>
                <a:gd name="T49" fmla="*/ 319 h 332"/>
                <a:gd name="T50" fmla="*/ 212 w 285"/>
                <a:gd name="T51" fmla="*/ 321 h 33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285" h="332">
                  <a:moveTo>
                    <a:pt x="2" y="3"/>
                  </a:moveTo>
                  <a:cubicBezTo>
                    <a:pt x="0" y="5"/>
                    <a:pt x="0" y="5"/>
                    <a:pt x="0" y="5"/>
                  </a:cubicBezTo>
                  <a:cubicBezTo>
                    <a:pt x="1" y="8"/>
                    <a:pt x="1" y="8"/>
                    <a:pt x="1" y="8"/>
                  </a:cubicBezTo>
                  <a:cubicBezTo>
                    <a:pt x="1" y="9"/>
                    <a:pt x="15" y="43"/>
                    <a:pt x="51" y="102"/>
                  </a:cubicBezTo>
                  <a:cubicBezTo>
                    <a:pt x="80" y="148"/>
                    <a:pt x="95" y="161"/>
                    <a:pt x="114" y="177"/>
                  </a:cubicBezTo>
                  <a:cubicBezTo>
                    <a:pt x="135" y="195"/>
                    <a:pt x="135" y="195"/>
                    <a:pt x="135" y="195"/>
                  </a:cubicBezTo>
                  <a:cubicBezTo>
                    <a:pt x="173" y="230"/>
                    <a:pt x="193" y="262"/>
                    <a:pt x="193" y="284"/>
                  </a:cubicBezTo>
                  <a:cubicBezTo>
                    <a:pt x="193" y="307"/>
                    <a:pt x="198" y="322"/>
                    <a:pt x="207" y="328"/>
                  </a:cubicBezTo>
                  <a:cubicBezTo>
                    <a:pt x="213" y="332"/>
                    <a:pt x="221" y="331"/>
                    <a:pt x="229" y="327"/>
                  </a:cubicBezTo>
                  <a:cubicBezTo>
                    <a:pt x="255" y="314"/>
                    <a:pt x="285" y="287"/>
                    <a:pt x="282" y="254"/>
                  </a:cubicBezTo>
                  <a:cubicBezTo>
                    <a:pt x="280" y="220"/>
                    <a:pt x="265" y="211"/>
                    <a:pt x="237" y="206"/>
                  </a:cubicBezTo>
                  <a:cubicBezTo>
                    <a:pt x="215" y="202"/>
                    <a:pt x="121" y="114"/>
                    <a:pt x="107" y="93"/>
                  </a:cubicBezTo>
                  <a:cubicBezTo>
                    <a:pt x="97" y="79"/>
                    <a:pt x="34" y="3"/>
                    <a:pt x="10" y="0"/>
                  </a:cubicBezTo>
                  <a:cubicBezTo>
                    <a:pt x="6" y="0"/>
                    <a:pt x="3" y="1"/>
                    <a:pt x="2" y="3"/>
                  </a:cubicBezTo>
                  <a:close/>
                  <a:moveTo>
                    <a:pt x="212" y="321"/>
                  </a:moveTo>
                  <a:cubicBezTo>
                    <a:pt x="206" y="317"/>
                    <a:pt x="202" y="303"/>
                    <a:pt x="202" y="284"/>
                  </a:cubicBezTo>
                  <a:cubicBezTo>
                    <a:pt x="202" y="252"/>
                    <a:pt x="169" y="215"/>
                    <a:pt x="141" y="189"/>
                  </a:cubicBezTo>
                  <a:cubicBezTo>
                    <a:pt x="120" y="171"/>
                    <a:pt x="120" y="171"/>
                    <a:pt x="120" y="171"/>
                  </a:cubicBezTo>
                  <a:cubicBezTo>
                    <a:pt x="100" y="154"/>
                    <a:pt x="86" y="143"/>
                    <a:pt x="59" y="98"/>
                  </a:cubicBezTo>
                  <a:cubicBezTo>
                    <a:pt x="30" y="52"/>
                    <a:pt x="16" y="21"/>
                    <a:pt x="11" y="9"/>
                  </a:cubicBezTo>
                  <a:cubicBezTo>
                    <a:pt x="31" y="14"/>
                    <a:pt x="86" y="77"/>
                    <a:pt x="100" y="98"/>
                  </a:cubicBezTo>
                  <a:cubicBezTo>
                    <a:pt x="114" y="119"/>
                    <a:pt x="208" y="210"/>
                    <a:pt x="236" y="215"/>
                  </a:cubicBezTo>
                  <a:cubicBezTo>
                    <a:pt x="261" y="219"/>
                    <a:pt x="272" y="226"/>
                    <a:pt x="274" y="254"/>
                  </a:cubicBezTo>
                  <a:cubicBezTo>
                    <a:pt x="274" y="256"/>
                    <a:pt x="274" y="257"/>
                    <a:pt x="274" y="258"/>
                  </a:cubicBezTo>
                  <a:cubicBezTo>
                    <a:pt x="274" y="285"/>
                    <a:pt x="248" y="308"/>
                    <a:pt x="226" y="319"/>
                  </a:cubicBezTo>
                  <a:cubicBezTo>
                    <a:pt x="220" y="322"/>
                    <a:pt x="215" y="323"/>
                    <a:pt x="212" y="321"/>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41475" tIns="20738" rIns="41475" bIns="20738" numCol="1" anchor="t" anchorCtr="0" compatLnSpc="1">
              <a:prstTxWarp prst="textNoShape">
                <a:avLst/>
              </a:prstTxWarp>
            </a:bodyPr>
            <a:lstStyle/>
            <a:p>
              <a:pPr defTabSz="414772">
                <a:buClrTx/>
                <a:buFontTx/>
                <a:buNone/>
                <a:defRPr/>
              </a:pPr>
              <a:endParaRPr lang="en-US" sz="998">
                <a:solidFill>
                  <a:srgbClr val="44546A"/>
                </a:solidFill>
                <a:latin typeface="Segoe UI Black"/>
                <a:ea typeface="+mn-ea"/>
                <a:cs typeface="+mn-cs"/>
              </a:endParaRPr>
            </a:p>
          </p:txBody>
        </p:sp>
      </p:grpSp>
      <p:sp>
        <p:nvSpPr>
          <p:cNvPr id="402" name="Freeform: Shape 673">
            <a:extLst>
              <a:ext uri="{FF2B5EF4-FFF2-40B4-BE49-F238E27FC236}">
                <a16:creationId xmlns:a16="http://schemas.microsoft.com/office/drawing/2014/main" id="{485E7DEF-F388-FB81-E9AC-F223D02E31AE}"/>
              </a:ext>
            </a:extLst>
          </p:cNvPr>
          <p:cNvSpPr/>
          <p:nvPr/>
        </p:nvSpPr>
        <p:spPr>
          <a:xfrm flipH="1" flipV="1">
            <a:off x="1101157" y="4050813"/>
            <a:ext cx="1744495" cy="533298"/>
          </a:xfrm>
          <a:custGeom>
            <a:avLst/>
            <a:gdLst>
              <a:gd name="connsiteX0" fmla="*/ 0 w 1378634"/>
              <a:gd name="connsiteY0" fmla="*/ 604911 h 604911"/>
              <a:gd name="connsiteX1" fmla="*/ 323557 w 1378634"/>
              <a:gd name="connsiteY1" fmla="*/ 0 h 604911"/>
              <a:gd name="connsiteX2" fmla="*/ 1378634 w 1378634"/>
              <a:gd name="connsiteY2" fmla="*/ 0 h 604911"/>
            </a:gdLst>
            <a:ahLst/>
            <a:cxnLst>
              <a:cxn ang="0">
                <a:pos x="connsiteX0" y="connsiteY0"/>
              </a:cxn>
              <a:cxn ang="0">
                <a:pos x="connsiteX1" y="connsiteY1"/>
              </a:cxn>
              <a:cxn ang="0">
                <a:pos x="connsiteX2" y="connsiteY2"/>
              </a:cxn>
            </a:cxnLst>
            <a:rect l="l" t="t" r="r" b="b"/>
            <a:pathLst>
              <a:path w="1378634" h="604911">
                <a:moveTo>
                  <a:pt x="0" y="604911"/>
                </a:moveTo>
                <a:lnTo>
                  <a:pt x="323557" y="0"/>
                </a:lnTo>
                <a:lnTo>
                  <a:pt x="1378634" y="0"/>
                </a:lnTo>
              </a:path>
            </a:pathLst>
          </a:custGeom>
          <a:noFill/>
          <a:ln w="12700" cap="flat" cmpd="sng" algn="ctr">
            <a:solidFill>
              <a:sysClr val="window" lastClr="FFFFFF">
                <a:lumMod val="85000"/>
              </a:sysClr>
            </a:solidFill>
            <a:prstDash val="solid"/>
            <a:miter lim="800000"/>
          </a:ln>
          <a:effectLst/>
        </p:spPr>
        <p:txBody>
          <a:bodyPr rtlCol="0" anchor="ctr"/>
          <a:lstStyle/>
          <a:p>
            <a:pPr algn="ctr" defTabSz="414772">
              <a:buClrTx/>
              <a:buFontTx/>
              <a:buNone/>
              <a:defRPr/>
            </a:pPr>
            <a:endParaRPr lang="en-US" sz="998">
              <a:solidFill>
                <a:srgbClr val="44546A"/>
              </a:solidFill>
              <a:latin typeface="Segoe UI Black"/>
              <a:ea typeface="Meiryo UI"/>
              <a:cs typeface="Meiryo UI"/>
            </a:endParaRPr>
          </a:p>
        </p:txBody>
      </p:sp>
      <p:sp>
        <p:nvSpPr>
          <p:cNvPr id="403" name="Arc 402">
            <a:extLst>
              <a:ext uri="{FF2B5EF4-FFF2-40B4-BE49-F238E27FC236}">
                <a16:creationId xmlns:a16="http://schemas.microsoft.com/office/drawing/2014/main" id="{45A1B3CA-2739-5149-9C4D-6FDDEAA58073}"/>
              </a:ext>
            </a:extLst>
          </p:cNvPr>
          <p:cNvSpPr/>
          <p:nvPr/>
        </p:nvSpPr>
        <p:spPr>
          <a:xfrm>
            <a:off x="2645603" y="3717762"/>
            <a:ext cx="436629" cy="432193"/>
          </a:xfrm>
          <a:prstGeom prst="arc">
            <a:avLst>
              <a:gd name="adj1" fmla="val 16200000"/>
              <a:gd name="adj2" fmla="val 9853823"/>
            </a:avLst>
          </a:prstGeom>
          <a:noFill/>
          <a:ln w="25400" cap="flat" cmpd="sng" algn="ctr">
            <a:solidFill>
              <a:srgbClr val="4F127F"/>
            </a:solidFill>
            <a:prstDash val="solid"/>
            <a:miter lim="800000"/>
          </a:ln>
          <a:effectLst/>
        </p:spPr>
        <p:txBody>
          <a:bodyPr rtlCol="0" anchor="ctr"/>
          <a:lstStyle/>
          <a:p>
            <a:pPr algn="ctr" defTabSz="414772">
              <a:buClrTx/>
              <a:buFontTx/>
              <a:buNone/>
              <a:defRPr/>
            </a:pPr>
            <a:endParaRPr lang="vi-VN" sz="998">
              <a:solidFill>
                <a:srgbClr val="44546A"/>
              </a:solidFill>
              <a:latin typeface="Segoe UI Black"/>
              <a:ea typeface="Meiryo UI"/>
              <a:cs typeface="Meiryo UI"/>
            </a:endParaRPr>
          </a:p>
        </p:txBody>
      </p:sp>
      <p:sp>
        <p:nvSpPr>
          <p:cNvPr id="404" name="TextBox 403">
            <a:extLst>
              <a:ext uri="{FF2B5EF4-FFF2-40B4-BE49-F238E27FC236}">
                <a16:creationId xmlns:a16="http://schemas.microsoft.com/office/drawing/2014/main" id="{778E7558-DE8B-AD47-BAFA-A212E0FF5A8E}"/>
              </a:ext>
            </a:extLst>
          </p:cNvPr>
          <p:cNvSpPr txBox="1"/>
          <p:nvPr/>
        </p:nvSpPr>
        <p:spPr>
          <a:xfrm>
            <a:off x="1346159" y="4287344"/>
            <a:ext cx="1349850" cy="245901"/>
          </a:xfrm>
          <a:prstGeom prst="rect">
            <a:avLst/>
          </a:prstGeom>
          <a:noFill/>
        </p:spPr>
        <p:txBody>
          <a:bodyPr wrap="square" rtlCol="0">
            <a:spAutoFit/>
          </a:bodyPr>
          <a:lstStyle/>
          <a:p>
            <a:pPr>
              <a:buClrTx/>
              <a:buFontTx/>
              <a:buNone/>
              <a:defRPr/>
            </a:pPr>
            <a:r>
              <a:rPr lang="en-SG" sz="998" b="1" kern="1200">
                <a:solidFill>
                  <a:srgbClr val="44546A"/>
                </a:solidFill>
                <a:latin typeface="Segoe UI Black"/>
                <a:ea typeface="+mn-ea"/>
                <a:cs typeface="Meiryo UI" panose="020B0502040204020203" pitchFamily="34" charset="0"/>
              </a:rPr>
              <a:t>DA NANG</a:t>
            </a:r>
          </a:p>
        </p:txBody>
      </p:sp>
      <p:sp>
        <p:nvSpPr>
          <p:cNvPr id="405" name="Rectangle 404">
            <a:extLst>
              <a:ext uri="{FF2B5EF4-FFF2-40B4-BE49-F238E27FC236}">
                <a16:creationId xmlns:a16="http://schemas.microsoft.com/office/drawing/2014/main" id="{0659F3BE-EF14-7035-E078-FEEF4A459813}"/>
              </a:ext>
            </a:extLst>
          </p:cNvPr>
          <p:cNvSpPr/>
          <p:nvPr/>
        </p:nvSpPr>
        <p:spPr>
          <a:xfrm>
            <a:off x="3855358" y="1311370"/>
            <a:ext cx="2030327" cy="667101"/>
          </a:xfrm>
          <a:prstGeom prst="rect">
            <a:avLst/>
          </a:prstGeom>
          <a:solidFill>
            <a:sysClr val="window" lastClr="FFFFFF"/>
          </a:solidFill>
          <a:ln w="22225" cap="flat" cmpd="sng" algn="ctr">
            <a:noFill/>
            <a:prstDash val="solid"/>
            <a:miter lim="800000"/>
          </a:ln>
          <a:effectLst/>
        </p:spPr>
        <p:txBody>
          <a:bodyPr rtlCol="0" anchor="ctr"/>
          <a:lstStyle/>
          <a:p>
            <a:pPr algn="ctr" defTabSz="414772">
              <a:buClrTx/>
              <a:buFontTx/>
              <a:buNone/>
              <a:defRPr/>
            </a:pPr>
            <a:endParaRPr lang="en-US" sz="998">
              <a:solidFill>
                <a:srgbClr val="44546A"/>
              </a:solidFill>
              <a:latin typeface="Segoe UI Black"/>
              <a:ea typeface="Meiryo UI" panose="020B0604030504040204" pitchFamily="34" charset="-128"/>
              <a:cs typeface="Meiryo UI"/>
            </a:endParaRPr>
          </a:p>
        </p:txBody>
      </p:sp>
      <p:cxnSp>
        <p:nvCxnSpPr>
          <p:cNvPr id="406" name="Straight Connector 405">
            <a:extLst>
              <a:ext uri="{FF2B5EF4-FFF2-40B4-BE49-F238E27FC236}">
                <a16:creationId xmlns:a16="http://schemas.microsoft.com/office/drawing/2014/main" id="{F74EA9D8-ADCE-16B7-A892-2CAF585672D9}"/>
              </a:ext>
            </a:extLst>
          </p:cNvPr>
          <p:cNvCxnSpPr>
            <a:cxnSpLocks/>
          </p:cNvCxnSpPr>
          <p:nvPr/>
        </p:nvCxnSpPr>
        <p:spPr>
          <a:xfrm>
            <a:off x="3881743" y="1507657"/>
            <a:ext cx="7064193" cy="0"/>
          </a:xfrm>
          <a:prstGeom prst="line">
            <a:avLst/>
          </a:prstGeom>
          <a:noFill/>
          <a:ln w="28575" cap="flat" cmpd="sng" algn="ctr">
            <a:gradFill>
              <a:gsLst>
                <a:gs pos="100000">
                  <a:srgbClr val="010673"/>
                </a:gs>
                <a:gs pos="0">
                  <a:srgbClr val="4F127F"/>
                </a:gs>
              </a:gsLst>
              <a:lin ang="8400000" scaled="0"/>
            </a:gradFill>
            <a:prstDash val="solid"/>
            <a:miter lim="800000"/>
          </a:ln>
          <a:effectLst/>
        </p:spPr>
      </p:cxnSp>
      <p:sp>
        <p:nvSpPr>
          <p:cNvPr id="407" name="TextBox 406">
            <a:extLst>
              <a:ext uri="{FF2B5EF4-FFF2-40B4-BE49-F238E27FC236}">
                <a16:creationId xmlns:a16="http://schemas.microsoft.com/office/drawing/2014/main" id="{807BA79E-D09E-EF28-C8B8-FE70D1FC61F2}"/>
              </a:ext>
            </a:extLst>
          </p:cNvPr>
          <p:cNvSpPr txBox="1"/>
          <p:nvPr/>
        </p:nvSpPr>
        <p:spPr>
          <a:xfrm>
            <a:off x="3936705" y="1719490"/>
            <a:ext cx="1757054" cy="245901"/>
          </a:xfrm>
          <a:prstGeom prst="rect">
            <a:avLst/>
          </a:prstGeom>
          <a:noFill/>
        </p:spPr>
        <p:txBody>
          <a:bodyPr wrap="square" rtlCol="0" anchor="ctr">
            <a:spAutoFit/>
          </a:bodyPr>
          <a:lstStyle/>
          <a:p>
            <a:pPr>
              <a:buClrTx/>
              <a:buFontTx/>
              <a:buNone/>
              <a:defRPr/>
            </a:pPr>
            <a:r>
              <a:rPr lang="en-SG" sz="998" b="1" kern="1200" dirty="0">
                <a:solidFill>
                  <a:srgbClr val="44546A"/>
                </a:solidFill>
                <a:uFill>
                  <a:solidFill>
                    <a:srgbClr val="FFFFFF"/>
                  </a:solidFill>
                </a:uFill>
                <a:latin typeface="Segoe UI"/>
                <a:ea typeface="Meiryo UI" panose="020B0604030504040204" pitchFamily="34" charset="-128"/>
                <a:cs typeface="Meiryo UI" panose="020B0502040204020203" pitchFamily="34" charset="0"/>
              </a:rPr>
              <a:t>FPT Complex </a:t>
            </a:r>
            <a:r>
              <a:rPr lang="en-SG" sz="998" b="1" kern="1200" dirty="0" err="1">
                <a:solidFill>
                  <a:srgbClr val="44546A"/>
                </a:solidFill>
                <a:uFill>
                  <a:solidFill>
                    <a:srgbClr val="FFFFFF"/>
                  </a:solidFill>
                </a:uFill>
                <a:latin typeface="Segoe UI"/>
                <a:ea typeface="Meiryo UI" panose="020B0604030504040204" pitchFamily="34" charset="-128"/>
                <a:cs typeface="Meiryo UI" panose="020B0502040204020203" pitchFamily="34" charset="0"/>
              </a:rPr>
              <a:t>Danang</a:t>
            </a:r>
            <a:endParaRPr lang="en-SG" sz="998" b="1" kern="1200" dirty="0">
              <a:solidFill>
                <a:srgbClr val="44546A"/>
              </a:solidFill>
              <a:uFill>
                <a:solidFill>
                  <a:srgbClr val="FFFFFF"/>
                </a:solidFill>
              </a:uFill>
              <a:latin typeface="Segoe UI"/>
              <a:ea typeface="Meiryo UI" panose="020B0604030504040204" pitchFamily="34" charset="-128"/>
              <a:cs typeface="Meiryo UI" panose="020B0502040204020203" pitchFamily="34" charset="0"/>
            </a:endParaRPr>
          </a:p>
        </p:txBody>
      </p:sp>
      <p:grpSp>
        <p:nvGrpSpPr>
          <p:cNvPr id="408" name="Group 407">
            <a:extLst>
              <a:ext uri="{FF2B5EF4-FFF2-40B4-BE49-F238E27FC236}">
                <a16:creationId xmlns:a16="http://schemas.microsoft.com/office/drawing/2014/main" id="{8468AB0A-AF49-890C-315D-2BBB7CF92D6C}"/>
              </a:ext>
            </a:extLst>
          </p:cNvPr>
          <p:cNvGrpSpPr/>
          <p:nvPr/>
        </p:nvGrpSpPr>
        <p:grpSpPr>
          <a:xfrm>
            <a:off x="5994991" y="1629530"/>
            <a:ext cx="827498" cy="427330"/>
            <a:chOff x="5048767" y="1474829"/>
            <a:chExt cx="910632" cy="475088"/>
          </a:xfrm>
        </p:grpSpPr>
        <p:sp>
          <p:nvSpPr>
            <p:cNvPr id="409" name="Rectangle 408">
              <a:extLst>
                <a:ext uri="{FF2B5EF4-FFF2-40B4-BE49-F238E27FC236}">
                  <a16:creationId xmlns:a16="http://schemas.microsoft.com/office/drawing/2014/main" id="{73056914-C703-9D3B-0213-CBB43EC6F892}"/>
                </a:ext>
              </a:extLst>
            </p:cNvPr>
            <p:cNvSpPr/>
            <p:nvPr/>
          </p:nvSpPr>
          <p:spPr>
            <a:xfrm>
              <a:off x="5071731" y="1474829"/>
              <a:ext cx="887668" cy="444112"/>
            </a:xfrm>
            <a:prstGeom prst="rect">
              <a:avLst/>
            </a:prstGeom>
          </p:spPr>
          <p:txBody>
            <a:bodyPr wrap="none">
              <a:spAutoFit/>
            </a:bodyPr>
            <a:lstStyle/>
            <a:p>
              <a:pPr defTabSz="414772">
                <a:buClrTx/>
                <a:buFontTx/>
                <a:buNone/>
                <a:defRPr/>
              </a:pPr>
              <a:r>
                <a:rPr lang="en-US" sz="998" b="1">
                  <a:solidFill>
                    <a:srgbClr val="44546A"/>
                  </a:solidFill>
                  <a:latin typeface="Segoe UI"/>
                  <a:ea typeface="Meiryo UI" panose="020B0604030504040204" pitchFamily="34" charset="-128"/>
                  <a:cs typeface="+mn-cs"/>
                </a:rPr>
                <a:t>Area</a:t>
              </a:r>
            </a:p>
            <a:p>
              <a:pPr defTabSz="414772">
                <a:buClrTx/>
                <a:buFontTx/>
                <a:buNone/>
                <a:defRPr/>
              </a:pPr>
              <a:r>
                <a:rPr lang="en-US" sz="998">
                  <a:solidFill>
                    <a:srgbClr val="44546A"/>
                  </a:solidFill>
                  <a:latin typeface="Segoe UI"/>
                  <a:ea typeface="Meiryo UI" panose="020B0604030504040204" pitchFamily="34" charset="-128"/>
                  <a:cs typeface="Meiryo UI" panose="020B0502040204020203" pitchFamily="34" charset="0"/>
                </a:rPr>
                <a:t>59、000 m</a:t>
              </a:r>
              <a:r>
                <a:rPr lang="en-US" sz="998" baseline="30000">
                  <a:solidFill>
                    <a:srgbClr val="44546A"/>
                  </a:solidFill>
                  <a:latin typeface="Segoe UI"/>
                  <a:ea typeface="Meiryo UI" panose="020B0604030504040204" pitchFamily="34" charset="-128"/>
                  <a:cs typeface="Meiryo UI" panose="020B0502040204020203" pitchFamily="34" charset="0"/>
                </a:rPr>
                <a:t>2</a:t>
              </a:r>
            </a:p>
          </p:txBody>
        </p:sp>
        <p:cxnSp>
          <p:nvCxnSpPr>
            <p:cNvPr id="410" name="Straight Connector 409">
              <a:extLst>
                <a:ext uri="{FF2B5EF4-FFF2-40B4-BE49-F238E27FC236}">
                  <a16:creationId xmlns:a16="http://schemas.microsoft.com/office/drawing/2014/main" id="{5474C913-7029-2FC4-B738-EC41A2DCD38E}"/>
                </a:ext>
              </a:extLst>
            </p:cNvPr>
            <p:cNvCxnSpPr>
              <a:cxnSpLocks/>
            </p:cNvCxnSpPr>
            <p:nvPr/>
          </p:nvCxnSpPr>
          <p:spPr>
            <a:xfrm>
              <a:off x="5048767" y="1492183"/>
              <a:ext cx="0" cy="457734"/>
            </a:xfrm>
            <a:prstGeom prst="line">
              <a:avLst/>
            </a:prstGeom>
            <a:noFill/>
            <a:ln w="6350" cap="flat" cmpd="sng" algn="ctr">
              <a:solidFill>
                <a:sysClr val="window" lastClr="FFFFFF">
                  <a:lumMod val="85000"/>
                </a:sysClr>
              </a:solidFill>
              <a:prstDash val="solid"/>
              <a:miter lim="800000"/>
            </a:ln>
            <a:effectLst/>
          </p:spPr>
        </p:cxnSp>
      </p:grpSp>
      <p:grpSp>
        <p:nvGrpSpPr>
          <p:cNvPr id="411" name="Group 410">
            <a:extLst>
              <a:ext uri="{FF2B5EF4-FFF2-40B4-BE49-F238E27FC236}">
                <a16:creationId xmlns:a16="http://schemas.microsoft.com/office/drawing/2014/main" id="{E7B0ADCC-7163-AC1E-9A5D-D2136EE475FA}"/>
              </a:ext>
            </a:extLst>
          </p:cNvPr>
          <p:cNvGrpSpPr/>
          <p:nvPr/>
        </p:nvGrpSpPr>
        <p:grpSpPr>
          <a:xfrm>
            <a:off x="7122482" y="1629530"/>
            <a:ext cx="1281148" cy="427330"/>
            <a:chOff x="6405221" y="1474829"/>
            <a:chExt cx="1409858" cy="475088"/>
          </a:xfrm>
        </p:grpSpPr>
        <p:sp>
          <p:nvSpPr>
            <p:cNvPr id="412" name="Rectangle 411">
              <a:extLst>
                <a:ext uri="{FF2B5EF4-FFF2-40B4-BE49-F238E27FC236}">
                  <a16:creationId xmlns:a16="http://schemas.microsoft.com/office/drawing/2014/main" id="{252D9EFD-14B6-FF31-6E44-54D8D51455B1}"/>
                </a:ext>
              </a:extLst>
            </p:cNvPr>
            <p:cNvSpPr/>
            <p:nvPr/>
          </p:nvSpPr>
          <p:spPr>
            <a:xfrm>
              <a:off x="6428185" y="1474829"/>
              <a:ext cx="1386894" cy="444112"/>
            </a:xfrm>
            <a:prstGeom prst="rect">
              <a:avLst/>
            </a:prstGeom>
          </p:spPr>
          <p:txBody>
            <a:bodyPr wrap="none">
              <a:spAutoFit/>
            </a:bodyPr>
            <a:lstStyle/>
            <a:p>
              <a:pPr defTabSz="414772">
                <a:buClrTx/>
                <a:buFontTx/>
                <a:buNone/>
                <a:defRPr/>
              </a:pPr>
              <a:r>
                <a:rPr lang="en-US" sz="998" b="1">
                  <a:solidFill>
                    <a:srgbClr val="44546A"/>
                  </a:solidFill>
                  <a:latin typeface="Segoe UI"/>
                  <a:ea typeface="Meiryo UI" panose="020B0604030504040204" pitchFamily="34" charset="-128"/>
                  <a:cs typeface="+mn-cs"/>
                </a:rPr>
                <a:t>Total capacity</a:t>
              </a:r>
            </a:p>
            <a:p>
              <a:pPr defTabSz="414772">
                <a:buClrTx/>
                <a:buFontTx/>
                <a:buNone/>
                <a:defRPr/>
              </a:pPr>
              <a:r>
                <a:rPr lang="en-US" sz="998">
                  <a:solidFill>
                    <a:srgbClr val="44546A"/>
                  </a:solidFill>
                  <a:latin typeface="Segoe UI"/>
                  <a:ea typeface="Meiryo UI" panose="020B0604030504040204" pitchFamily="34" charset="-128"/>
                  <a:cs typeface="Meiryo UI" panose="020B0502040204020203" pitchFamily="34" charset="0"/>
                </a:rPr>
                <a:t>10、000 employees</a:t>
              </a:r>
            </a:p>
          </p:txBody>
        </p:sp>
        <p:cxnSp>
          <p:nvCxnSpPr>
            <p:cNvPr id="413" name="Straight Connector 412">
              <a:extLst>
                <a:ext uri="{FF2B5EF4-FFF2-40B4-BE49-F238E27FC236}">
                  <a16:creationId xmlns:a16="http://schemas.microsoft.com/office/drawing/2014/main" id="{F9DF10F1-B7B1-BF75-9C07-7AC240D98F34}"/>
                </a:ext>
              </a:extLst>
            </p:cNvPr>
            <p:cNvCxnSpPr>
              <a:cxnSpLocks/>
            </p:cNvCxnSpPr>
            <p:nvPr/>
          </p:nvCxnSpPr>
          <p:spPr>
            <a:xfrm>
              <a:off x="6405221" y="1492183"/>
              <a:ext cx="0" cy="457734"/>
            </a:xfrm>
            <a:prstGeom prst="line">
              <a:avLst/>
            </a:prstGeom>
            <a:noFill/>
            <a:ln w="6350" cap="flat" cmpd="sng" algn="ctr">
              <a:solidFill>
                <a:sysClr val="window" lastClr="FFFFFF">
                  <a:lumMod val="85000"/>
                </a:sysClr>
              </a:solidFill>
              <a:prstDash val="solid"/>
              <a:miter lim="800000"/>
            </a:ln>
            <a:effectLst/>
          </p:spPr>
        </p:cxnSp>
      </p:grpSp>
      <p:grpSp>
        <p:nvGrpSpPr>
          <p:cNvPr id="414" name="Group 413">
            <a:extLst>
              <a:ext uri="{FF2B5EF4-FFF2-40B4-BE49-F238E27FC236}">
                <a16:creationId xmlns:a16="http://schemas.microsoft.com/office/drawing/2014/main" id="{02E377DC-CBFD-635E-79E5-BFA450120EB8}"/>
              </a:ext>
            </a:extLst>
          </p:cNvPr>
          <p:cNvGrpSpPr/>
          <p:nvPr/>
        </p:nvGrpSpPr>
        <p:grpSpPr>
          <a:xfrm>
            <a:off x="8824539" y="1629530"/>
            <a:ext cx="1577704" cy="427330"/>
            <a:chOff x="8162583" y="1474829"/>
            <a:chExt cx="1736207" cy="475088"/>
          </a:xfrm>
        </p:grpSpPr>
        <p:sp>
          <p:nvSpPr>
            <p:cNvPr id="415" name="Rectangle 414">
              <a:extLst>
                <a:ext uri="{FF2B5EF4-FFF2-40B4-BE49-F238E27FC236}">
                  <a16:creationId xmlns:a16="http://schemas.microsoft.com/office/drawing/2014/main" id="{BFD3E3EA-9DCE-977F-B5C7-B241B7E70D59}"/>
                </a:ext>
              </a:extLst>
            </p:cNvPr>
            <p:cNvSpPr/>
            <p:nvPr/>
          </p:nvSpPr>
          <p:spPr>
            <a:xfrm>
              <a:off x="8185547" y="1474829"/>
              <a:ext cx="1713243" cy="444112"/>
            </a:xfrm>
            <a:prstGeom prst="rect">
              <a:avLst/>
            </a:prstGeom>
          </p:spPr>
          <p:txBody>
            <a:bodyPr wrap="none">
              <a:spAutoFit/>
            </a:bodyPr>
            <a:lstStyle/>
            <a:p>
              <a:pPr defTabSz="414772">
                <a:buClrTx/>
                <a:buFontTx/>
                <a:buNone/>
                <a:defRPr/>
              </a:pPr>
              <a:r>
                <a:rPr lang="en-US" sz="998" b="1">
                  <a:solidFill>
                    <a:srgbClr val="44546A"/>
                  </a:solidFill>
                  <a:latin typeface="Segoe UI"/>
                  <a:ea typeface="Meiryo UI" panose="020B0604030504040204" pitchFamily="34" charset="-128"/>
                  <a:cs typeface="+mn-cs"/>
                </a:rPr>
                <a:t>Phase 2 of 6、000 seats</a:t>
              </a:r>
            </a:p>
            <a:p>
              <a:pPr defTabSz="414772">
                <a:buClrTx/>
                <a:buFontTx/>
                <a:buNone/>
                <a:defRPr/>
              </a:pPr>
              <a:r>
                <a:rPr lang="en-US" sz="998">
                  <a:solidFill>
                    <a:srgbClr val="44546A"/>
                  </a:solidFill>
                  <a:latin typeface="Segoe UI"/>
                  <a:ea typeface="Meiryo UI" panose="020B0604030504040204" pitchFamily="34" charset="-128"/>
                  <a:cs typeface="Meiryo UI" panose="020B0502040204020203" pitchFamily="34" charset="0"/>
                </a:rPr>
                <a:t>completed in 2021 </a:t>
              </a:r>
            </a:p>
          </p:txBody>
        </p:sp>
        <p:cxnSp>
          <p:nvCxnSpPr>
            <p:cNvPr id="416" name="Straight Connector 415">
              <a:extLst>
                <a:ext uri="{FF2B5EF4-FFF2-40B4-BE49-F238E27FC236}">
                  <a16:creationId xmlns:a16="http://schemas.microsoft.com/office/drawing/2014/main" id="{6DEA5BF8-2A12-DCB8-C476-0F52C62A6F23}"/>
                </a:ext>
              </a:extLst>
            </p:cNvPr>
            <p:cNvCxnSpPr>
              <a:cxnSpLocks/>
            </p:cNvCxnSpPr>
            <p:nvPr/>
          </p:nvCxnSpPr>
          <p:spPr>
            <a:xfrm>
              <a:off x="8162583" y="1492183"/>
              <a:ext cx="0" cy="457734"/>
            </a:xfrm>
            <a:prstGeom prst="line">
              <a:avLst/>
            </a:prstGeom>
            <a:noFill/>
            <a:ln w="6350" cap="flat" cmpd="sng" algn="ctr">
              <a:solidFill>
                <a:sysClr val="window" lastClr="FFFFFF">
                  <a:lumMod val="85000"/>
                </a:sysClr>
              </a:solidFill>
              <a:prstDash val="solid"/>
              <a:miter lim="800000"/>
            </a:ln>
            <a:effectLst/>
          </p:spPr>
        </p:cxnSp>
      </p:grpSp>
      <p:pic>
        <p:nvPicPr>
          <p:cNvPr id="417" name="Picture 416">
            <a:extLst>
              <a:ext uri="{FF2B5EF4-FFF2-40B4-BE49-F238E27FC236}">
                <a16:creationId xmlns:a16="http://schemas.microsoft.com/office/drawing/2014/main" id="{98FEE257-9CCA-22FD-956E-585314D48DF0}"/>
              </a:ext>
            </a:extLst>
          </p:cNvPr>
          <p:cNvPicPr>
            <a:picLocks noChangeAspect="1"/>
          </p:cNvPicPr>
          <p:nvPr/>
        </p:nvPicPr>
        <p:blipFill>
          <a:blip r:embed="rId2">
            <a:extLst>
              <a:ext uri="{28A0092B-C50C-407E-A947-70E740481C1C}">
                <a14:useLocalDpi xmlns:a14="http://schemas.microsoft.com/office/drawing/2010/main"/>
              </a:ext>
            </a:extLst>
          </a:blip>
          <a:stretch>
            <a:fillRect/>
          </a:stretch>
        </p:blipFill>
        <p:spPr>
          <a:xfrm>
            <a:off x="8766595" y="2209437"/>
            <a:ext cx="2431268" cy="1441396"/>
          </a:xfrm>
          <a:prstGeom prst="rect">
            <a:avLst/>
          </a:prstGeom>
        </p:spPr>
      </p:pic>
      <p:pic>
        <p:nvPicPr>
          <p:cNvPr id="418" name="Picture 417">
            <a:extLst>
              <a:ext uri="{FF2B5EF4-FFF2-40B4-BE49-F238E27FC236}">
                <a16:creationId xmlns:a16="http://schemas.microsoft.com/office/drawing/2014/main" id="{7676F993-D97E-A1F9-FFE3-4D4F2B1DBFB5}"/>
              </a:ext>
            </a:extLst>
          </p:cNvPr>
          <p:cNvPicPr>
            <a:picLocks noChangeAspect="1"/>
          </p:cNvPicPr>
          <p:nvPr/>
        </p:nvPicPr>
        <p:blipFill>
          <a:blip r:embed="rId3">
            <a:extLst>
              <a:ext uri="{28A0092B-C50C-407E-A947-70E740481C1C}">
                <a14:useLocalDpi xmlns:a14="http://schemas.microsoft.com/office/drawing/2010/main"/>
              </a:ext>
            </a:extLst>
          </a:blip>
          <a:stretch>
            <a:fillRect/>
          </a:stretch>
        </p:blipFill>
        <p:spPr>
          <a:xfrm>
            <a:off x="3892423" y="2222368"/>
            <a:ext cx="2312413" cy="1437674"/>
          </a:xfrm>
          <a:prstGeom prst="rect">
            <a:avLst/>
          </a:prstGeom>
        </p:spPr>
      </p:pic>
      <p:pic>
        <p:nvPicPr>
          <p:cNvPr id="419" name="Picture 418">
            <a:extLst>
              <a:ext uri="{FF2B5EF4-FFF2-40B4-BE49-F238E27FC236}">
                <a16:creationId xmlns:a16="http://schemas.microsoft.com/office/drawing/2014/main" id="{1BD42EAD-5259-6C55-7705-394B94C8CF80}"/>
              </a:ext>
            </a:extLst>
          </p:cNvPr>
          <p:cNvPicPr>
            <a:picLocks noChangeAspect="1"/>
          </p:cNvPicPr>
          <p:nvPr/>
        </p:nvPicPr>
        <p:blipFill>
          <a:blip r:embed="rId4" cstate="email">
            <a:extLst>
              <a:ext uri="{28A0092B-C50C-407E-A947-70E740481C1C}">
                <a14:useLocalDpi xmlns:a14="http://schemas.microsoft.com/office/drawing/2010/main"/>
              </a:ext>
            </a:extLst>
          </a:blip>
          <a:stretch>
            <a:fillRect/>
          </a:stretch>
        </p:blipFill>
        <p:spPr>
          <a:xfrm>
            <a:off x="6282418" y="2225342"/>
            <a:ext cx="2347731" cy="1417548"/>
          </a:xfrm>
          <a:prstGeom prst="rect">
            <a:avLst/>
          </a:prstGeom>
        </p:spPr>
      </p:pic>
      <p:pic>
        <p:nvPicPr>
          <p:cNvPr id="420" name="Picture 419">
            <a:extLst>
              <a:ext uri="{FF2B5EF4-FFF2-40B4-BE49-F238E27FC236}">
                <a16:creationId xmlns:a16="http://schemas.microsoft.com/office/drawing/2014/main" id="{F5290323-A5C9-AAF8-BEC8-5239C1A0925E}"/>
              </a:ext>
            </a:extLst>
          </p:cNvPr>
          <p:cNvPicPr>
            <a:picLocks noChangeAspect="1"/>
          </p:cNvPicPr>
          <p:nvPr/>
        </p:nvPicPr>
        <p:blipFill>
          <a:blip r:embed="rId5" cstate="email">
            <a:extLst>
              <a:ext uri="{28A0092B-C50C-407E-A947-70E740481C1C}">
                <a14:useLocalDpi xmlns:a14="http://schemas.microsoft.com/office/drawing/2010/main"/>
              </a:ext>
            </a:extLst>
          </a:blip>
          <a:stretch>
            <a:fillRect/>
          </a:stretch>
        </p:blipFill>
        <p:spPr>
          <a:xfrm>
            <a:off x="8766595" y="3938306"/>
            <a:ext cx="2458706" cy="1853987"/>
          </a:xfrm>
          <a:prstGeom prst="rect">
            <a:avLst/>
          </a:prstGeom>
        </p:spPr>
      </p:pic>
      <p:sp>
        <p:nvSpPr>
          <p:cNvPr id="421" name="TextBox 420">
            <a:extLst>
              <a:ext uri="{FF2B5EF4-FFF2-40B4-BE49-F238E27FC236}">
                <a16:creationId xmlns:a16="http://schemas.microsoft.com/office/drawing/2014/main" id="{BFBCC40C-927F-FBBF-FA69-8DD35ADCD08C}"/>
              </a:ext>
            </a:extLst>
          </p:cNvPr>
          <p:cNvSpPr txBox="1"/>
          <p:nvPr/>
        </p:nvSpPr>
        <p:spPr>
          <a:xfrm>
            <a:off x="3718010" y="5881117"/>
            <a:ext cx="7681389" cy="461665"/>
          </a:xfrm>
          <a:prstGeom prst="rect">
            <a:avLst/>
          </a:prstGeom>
          <a:noFill/>
        </p:spPr>
        <p:txBody>
          <a:bodyPr wrap="square" rtlCol="0">
            <a:spAutoFit/>
          </a:bodyPr>
          <a:lstStyle/>
          <a:p>
            <a:pPr marL="129616" indent="-129616">
              <a:buClrTx/>
              <a:buFont typeface="Arial" panose="020B0604020202020204" pitchFamily="34" charset="0"/>
              <a:buChar char="•"/>
              <a:defRPr/>
            </a:pPr>
            <a:r>
              <a:rPr lang="en-US" altLang="ja-JP" sz="1200" kern="1200" dirty="0">
                <a:solidFill>
                  <a:srgbClr val="44546A"/>
                </a:solidFill>
                <a:latin typeface="Segoe UI"/>
                <a:ea typeface="Meiryo UI" panose="020B0604030504040204" pitchFamily="34" charset="-128"/>
                <a:cs typeface="+mn-cs"/>
              </a:rPr>
              <a:t>The workspaces are equipped with magnetic doors and permissions are set for individuals and groups.</a:t>
            </a:r>
          </a:p>
          <a:p>
            <a:pPr marL="129616" indent="-129616">
              <a:buClrTx/>
              <a:buFont typeface="Arial" panose="020B0604020202020204" pitchFamily="34" charset="0"/>
              <a:buChar char="•"/>
              <a:defRPr/>
            </a:pPr>
            <a:r>
              <a:rPr lang="en-US" altLang="ja-JP" sz="1200" kern="1200" dirty="0">
                <a:solidFill>
                  <a:srgbClr val="44546A"/>
                </a:solidFill>
                <a:latin typeface="Segoe UI"/>
                <a:ea typeface="Meiryo UI" panose="020B0604030504040204" pitchFamily="34" charset="-128"/>
                <a:cs typeface="+mn-cs"/>
              </a:rPr>
              <a:t>The meeting rooms and workspaces are equipped with 24-hour surveillance cameras.</a:t>
            </a:r>
            <a:endParaRPr lang="ja-JP" altLang="ja-JP" sz="1200" kern="1200" dirty="0">
              <a:solidFill>
                <a:srgbClr val="44546A"/>
              </a:solidFill>
              <a:latin typeface="Segoe UI"/>
              <a:ea typeface="Meiryo UI" panose="020B0604030504040204" pitchFamily="34" charset="-128"/>
              <a:cs typeface="+mn-cs"/>
            </a:endParaRPr>
          </a:p>
        </p:txBody>
      </p:sp>
      <p:pic>
        <p:nvPicPr>
          <p:cNvPr id="422" name="Picture 421" descr="MicrosoftTeams-image (5)">
            <a:extLst>
              <a:ext uri="{FF2B5EF4-FFF2-40B4-BE49-F238E27FC236}">
                <a16:creationId xmlns:a16="http://schemas.microsoft.com/office/drawing/2014/main" id="{2FD340AB-2D9B-B533-EE75-70CF0FFA571E}"/>
              </a:ext>
            </a:extLst>
          </p:cNvPr>
          <p:cNvPicPr>
            <a:picLocks noGrp="1" noChangeAspect="1"/>
          </p:cNvPicPr>
          <p:nvPr isPhoto="1"/>
        </p:nvPicPr>
        <p:blipFill rotWithShape="1">
          <a:blip r:embed="rId6" cstate="screen">
            <a:lum/>
            <a:extLst>
              <a:ext uri="{28A0092B-C50C-407E-A947-70E740481C1C}">
                <a14:useLocalDpi xmlns:a14="http://schemas.microsoft.com/office/drawing/2010/main"/>
              </a:ext>
            </a:extLst>
          </a:blip>
          <a:srcRect/>
          <a:stretch/>
        </p:blipFill>
        <p:spPr>
          <a:xfrm>
            <a:off x="6324384" y="3943613"/>
            <a:ext cx="2309062" cy="1845794"/>
          </a:xfrm>
          <a:prstGeom prst="rect">
            <a:avLst/>
          </a:prstGeom>
        </p:spPr>
      </p:pic>
      <p:sp>
        <p:nvSpPr>
          <p:cNvPr id="423" name="正方形/長方形 61">
            <a:extLst>
              <a:ext uri="{FF2B5EF4-FFF2-40B4-BE49-F238E27FC236}">
                <a16:creationId xmlns:a16="http://schemas.microsoft.com/office/drawing/2014/main" id="{52ED8FB1-8D08-39DB-B009-749164943FA5}"/>
              </a:ext>
            </a:extLst>
          </p:cNvPr>
          <p:cNvSpPr/>
          <p:nvPr/>
        </p:nvSpPr>
        <p:spPr>
          <a:xfrm>
            <a:off x="1124051" y="979046"/>
            <a:ext cx="10101250" cy="461665"/>
          </a:xfrm>
          <a:prstGeom prst="rect">
            <a:avLst/>
          </a:prstGeom>
        </p:spPr>
        <p:txBody>
          <a:bodyPr wrap="square" lIns="91440" tIns="45720" rIns="91440" bIns="45720" anchor="t">
            <a:spAutoFit/>
          </a:bodyPr>
          <a:lstStyle/>
          <a:p>
            <a:pPr>
              <a:buClrTx/>
              <a:buFontTx/>
              <a:buNone/>
              <a:defRPr/>
            </a:pPr>
            <a:r>
              <a:rPr kumimoji="1" lang="en-US" sz="1200" kern="1200" dirty="0">
                <a:solidFill>
                  <a:srgbClr val="36365C"/>
                </a:solidFill>
                <a:latin typeface="Segoe UI"/>
                <a:ea typeface="Meiryo UI"/>
                <a:cs typeface="Times New Roman"/>
              </a:rPr>
              <a:t>This project will be developed at FPT Offshore Da Nang, Vietnam. The workplace is equipped with sufficient capacity and meets the security standards as described in the RFP.</a:t>
            </a:r>
            <a:endParaRPr lang="en-US" altLang="ja" sz="1200" kern="1200" dirty="0">
              <a:solidFill>
                <a:srgbClr val="36365C"/>
              </a:solidFill>
              <a:latin typeface="Segoe UI"/>
              <a:ea typeface="+mn-ea"/>
              <a:cs typeface="+mn-cs"/>
            </a:endParaRPr>
          </a:p>
        </p:txBody>
      </p:sp>
      <p:pic>
        <p:nvPicPr>
          <p:cNvPr id="424" name="Picture 423">
            <a:extLst>
              <a:ext uri="{FF2B5EF4-FFF2-40B4-BE49-F238E27FC236}">
                <a16:creationId xmlns:a16="http://schemas.microsoft.com/office/drawing/2014/main" id="{622BB910-8250-BD32-C4DA-4EDB24DD764E}"/>
              </a:ext>
            </a:extLst>
          </p:cNvPr>
          <p:cNvPicPr>
            <a:picLocks noChangeAspect="1"/>
          </p:cNvPicPr>
          <p:nvPr/>
        </p:nvPicPr>
        <p:blipFill rotWithShape="1">
          <a:blip r:embed="rId7" cstate="screen">
            <a:extLst>
              <a:ext uri="{28A0092B-C50C-407E-A947-70E740481C1C}">
                <a14:useLocalDpi xmlns:a14="http://schemas.microsoft.com/office/drawing/2010/main"/>
              </a:ext>
            </a:extLst>
          </a:blip>
          <a:srcRect/>
          <a:stretch/>
        </p:blipFill>
        <p:spPr>
          <a:xfrm rot="5400000">
            <a:off x="4169127" y="3753694"/>
            <a:ext cx="1845046" cy="2202154"/>
          </a:xfrm>
          <a:prstGeom prst="rect">
            <a:avLst/>
          </a:prstGeom>
        </p:spPr>
      </p:pic>
    </p:spTree>
    <p:extLst>
      <p:ext uri="{BB962C8B-B14F-4D97-AF65-F5344CB8AC3E}">
        <p14:creationId xmlns:p14="http://schemas.microsoft.com/office/powerpoint/2010/main" val="129809427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23</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9601553" cy="584775"/>
            <a:chOff x="479425" y="461520"/>
            <a:chExt cx="9601553"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4" y="461520"/>
              <a:ext cx="9544714"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12. Working space – FPT Software Da Nang</a:t>
              </a:r>
            </a:p>
          </p:txBody>
        </p:sp>
      </p:grpSp>
      <p:pic>
        <p:nvPicPr>
          <p:cNvPr id="3" name="Picture 2" descr="MicrosoftTeams-image (6)">
            <a:extLst>
              <a:ext uri="{FF2B5EF4-FFF2-40B4-BE49-F238E27FC236}">
                <a16:creationId xmlns:a16="http://schemas.microsoft.com/office/drawing/2014/main" id="{D1FE7496-C10E-0AFB-56F8-C0C4D3761B24}"/>
              </a:ext>
            </a:extLst>
          </p:cNvPr>
          <p:cNvPicPr>
            <a:picLocks noGrp="1" noChangeAspect="1"/>
          </p:cNvPicPr>
          <p:nvPr isPhoto="1"/>
        </p:nvPicPr>
        <p:blipFill rotWithShape="1">
          <a:blip r:embed="rId2" cstate="screen">
            <a:lum/>
            <a:extLst>
              <a:ext uri="{28A0092B-C50C-407E-A947-70E740481C1C}">
                <a14:useLocalDpi xmlns:a14="http://schemas.microsoft.com/office/drawing/2010/main"/>
              </a:ext>
            </a:extLst>
          </a:blip>
          <a:srcRect/>
          <a:stretch/>
        </p:blipFill>
        <p:spPr>
          <a:xfrm>
            <a:off x="8861434" y="936453"/>
            <a:ext cx="2444319" cy="2703422"/>
          </a:xfrm>
          <a:prstGeom prst="rect">
            <a:avLst/>
          </a:prstGeom>
        </p:spPr>
      </p:pic>
      <p:sp>
        <p:nvSpPr>
          <p:cNvPr id="7" name="Title 1">
            <a:extLst>
              <a:ext uri="{FF2B5EF4-FFF2-40B4-BE49-F238E27FC236}">
                <a16:creationId xmlns:a16="http://schemas.microsoft.com/office/drawing/2014/main" id="{5239C311-0A6C-29E6-A04E-4595CF031CBD}"/>
              </a:ext>
            </a:extLst>
          </p:cNvPr>
          <p:cNvSpPr txBox="1">
            <a:spLocks/>
          </p:cNvSpPr>
          <p:nvPr/>
        </p:nvSpPr>
        <p:spPr>
          <a:xfrm>
            <a:off x="838200" y="2392707"/>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2800" b="1" kern="1200" baseline="0">
                <a:solidFill>
                  <a:schemeClr val="bg1"/>
                </a:solidFill>
                <a:latin typeface="BR Omega VN" pitchFamily="2" charset="77"/>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altLang="ja-JP" sz="3266" b="1" i="0" u="none" strike="noStrike" kern="1200" cap="none" spc="0" normalizeH="0" baseline="0" noProof="0">
                <a:ln>
                  <a:noFill/>
                </a:ln>
                <a:solidFill>
                  <a:prstClr val="white"/>
                </a:solidFill>
                <a:effectLst/>
                <a:uLnTx/>
                <a:uFillTx/>
                <a:latin typeface="BR Omega VN" pitchFamily="2" charset="77"/>
                <a:ea typeface="+mj-ea"/>
                <a:cs typeface="+mj-cs"/>
              </a:rPr>
              <a:t>4.4. </a:t>
            </a:r>
            <a:r>
              <a:rPr kumimoji="0" lang="ja-JP" altLang="en-US" sz="3266" b="1" i="0" u="none" strike="noStrike" kern="1200" cap="none" spc="0" normalizeH="0" baseline="0" noProof="0">
                <a:ln>
                  <a:noFill/>
                </a:ln>
                <a:solidFill>
                  <a:prstClr val="white"/>
                </a:solidFill>
                <a:effectLst/>
                <a:uLnTx/>
                <a:uFillTx/>
                <a:latin typeface="BR Omega VN" pitchFamily="2" charset="77"/>
                <a:ea typeface="+mj-ea"/>
                <a:cs typeface="+mj-cs"/>
              </a:rPr>
              <a:t>オフショア開発のセキュリティ対策</a:t>
            </a:r>
            <a:endParaRPr kumimoji="1" lang="ja-JP" altLang="en-US" sz="3266" b="1" i="0" u="none" strike="noStrike" kern="1200" cap="none" spc="0" normalizeH="0" baseline="0" noProof="0">
              <a:ln>
                <a:noFill/>
              </a:ln>
              <a:solidFill>
                <a:prstClr val="white"/>
              </a:solidFill>
              <a:effectLst/>
              <a:uLnTx/>
              <a:uFillTx/>
              <a:latin typeface="BR Omega VN" pitchFamily="2" charset="77"/>
              <a:ea typeface="+mj-ea"/>
              <a:cs typeface="+mj-cs"/>
            </a:endParaRPr>
          </a:p>
        </p:txBody>
      </p:sp>
      <p:sp>
        <p:nvSpPr>
          <p:cNvPr id="8" name="TextBox 7">
            <a:extLst>
              <a:ext uri="{FF2B5EF4-FFF2-40B4-BE49-F238E27FC236}">
                <a16:creationId xmlns:a16="http://schemas.microsoft.com/office/drawing/2014/main" id="{124A9807-6F92-0BB4-0176-51BA364E899D}"/>
              </a:ext>
            </a:extLst>
          </p:cNvPr>
          <p:cNvSpPr txBox="1"/>
          <p:nvPr/>
        </p:nvSpPr>
        <p:spPr>
          <a:xfrm>
            <a:off x="577745" y="6009717"/>
            <a:ext cx="8134470" cy="276999"/>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1" lang="en-US" altLang="ja" sz="1200" b="0" i="0" u="none" strike="noStrike" kern="1200" cap="none" spc="0" normalizeH="0" baseline="0" noProof="0" dirty="0">
                <a:ln>
                  <a:noFill/>
                </a:ln>
                <a:solidFill>
                  <a:srgbClr val="44546A"/>
                </a:solidFill>
                <a:effectLst/>
                <a:uLnTx/>
                <a:uFillTx/>
                <a:latin typeface="Meiryo UI" panose="020B0604030504040204" pitchFamily="34" charset="-128"/>
                <a:ea typeface="Meiryo UI" panose="020B0604030504040204" pitchFamily="34" charset="-128"/>
                <a:cs typeface="Meiryo UI" panose="020B0604020202020204" pitchFamily="50" charset="-128"/>
              </a:rPr>
              <a:t>※ FPT's security regulations will be provided separately and explained during the project planning phase.</a:t>
            </a:r>
            <a:endParaRPr kumimoji="1" lang="ja" altLang="ja-JP" sz="1200" b="0" i="0" u="none" strike="noStrike" kern="1200" cap="none" spc="0" normalizeH="0" baseline="0" noProof="0" dirty="0">
              <a:ln>
                <a:noFill/>
              </a:ln>
              <a:solidFill>
                <a:srgbClr val="44546A"/>
              </a:solidFill>
              <a:effectLst/>
              <a:uLnTx/>
              <a:uFillTx/>
              <a:latin typeface="Meiryo UI" panose="020B0604030504040204" pitchFamily="34" charset="-128"/>
              <a:ea typeface="Meiryo UI" panose="020B0604030504040204" pitchFamily="34" charset="-128"/>
              <a:cs typeface="Meiryo UI" panose="020B0604020202020204" pitchFamily="50" charset="-128"/>
            </a:endParaRPr>
          </a:p>
        </p:txBody>
      </p:sp>
      <p:sp>
        <p:nvSpPr>
          <p:cNvPr id="9" name="Content Placeholder 2">
            <a:extLst>
              <a:ext uri="{FF2B5EF4-FFF2-40B4-BE49-F238E27FC236}">
                <a16:creationId xmlns:a16="http://schemas.microsoft.com/office/drawing/2014/main" id="{8288ABB2-98AF-FE8B-0D85-B57B4CC3BC8A}"/>
              </a:ext>
            </a:extLst>
          </p:cNvPr>
          <p:cNvSpPr txBox="1">
            <a:spLocks/>
          </p:cNvSpPr>
          <p:nvPr/>
        </p:nvSpPr>
        <p:spPr>
          <a:xfrm>
            <a:off x="1138687" y="1009923"/>
            <a:ext cx="7424308" cy="5405580"/>
          </a:xfr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ClrTx/>
              <a:buFont typeface="Wingdings" panose="05000000000000000000" pitchFamily="2" charset="2"/>
              <a:buChar char="n"/>
              <a:defRPr/>
            </a:pPr>
            <a:r>
              <a:rPr lang="en-US" altLang="ja-JP" sz="1200" b="1" dirty="0">
                <a:solidFill>
                  <a:srgbClr val="44546A"/>
                </a:solidFill>
                <a:latin typeface="Segoe UI"/>
                <a:cs typeface="Meiryo UI" panose="020B0604030504040204" pitchFamily="50" charset="-128"/>
              </a:rPr>
              <a:t>Security Standards </a:t>
            </a:r>
            <a:r>
              <a:rPr lang="en-US" altLang="ja-JP" sz="1200" dirty="0">
                <a:solidFill>
                  <a:srgbClr val="44546A"/>
                </a:solidFill>
                <a:latin typeface="Segoe UI"/>
                <a:cs typeface="Meiryo UI" panose="020B0604030504040204" pitchFamily="50" charset="-128"/>
              </a:rPr>
              <a:t>(BS7799, ISO27001:2013)</a:t>
            </a:r>
          </a:p>
          <a:p>
            <a:pPr>
              <a:buClrTx/>
              <a:buFont typeface="Wingdings" panose="05000000000000000000" pitchFamily="2" charset="2"/>
              <a:buChar char="n"/>
              <a:defRPr/>
            </a:pPr>
            <a:r>
              <a:rPr lang="en-US" altLang="ja-JP" sz="1200" b="1" dirty="0">
                <a:solidFill>
                  <a:srgbClr val="44546A"/>
                </a:solidFill>
                <a:latin typeface="Segoe UI"/>
                <a:cs typeface="Meiryo UI" panose="020B0604030504040204" pitchFamily="50" charset="-128"/>
              </a:rPr>
              <a:t>Security Development Room</a:t>
            </a:r>
          </a:p>
          <a:p>
            <a:pPr marL="568325" indent="-122238">
              <a:buClrTx/>
              <a:buFont typeface="Wingdings" panose="05000000000000000000" pitchFamily="2" charset="2"/>
              <a:buChar char="ü"/>
              <a:defRPr/>
            </a:pPr>
            <a:r>
              <a:rPr lang="en-US" altLang="ja-JP" sz="1200" dirty="0">
                <a:solidFill>
                  <a:srgbClr val="44546A"/>
                </a:solidFill>
                <a:latin typeface="Segoe UI"/>
                <a:cs typeface="Meiryo UI" panose="020B0604030504040204" pitchFamily="50" charset="-128"/>
              </a:rPr>
              <a:t> 24x7 Surveillance Cameras (Data retention period: 3 months)</a:t>
            </a:r>
            <a:endParaRPr lang="ja-JP" altLang="en-US" sz="1200" dirty="0">
              <a:solidFill>
                <a:srgbClr val="44546A"/>
              </a:solidFill>
              <a:latin typeface="Segoe UI"/>
              <a:cs typeface="Meiryo UI" panose="020B0604030504040204" pitchFamily="50" charset="-128"/>
            </a:endParaRPr>
          </a:p>
          <a:p>
            <a:pPr lvl="1">
              <a:buClrTx/>
              <a:buFont typeface="Wingdings" panose="05000000000000000000" pitchFamily="2" charset="2"/>
              <a:buChar char="ü"/>
              <a:defRPr/>
            </a:pPr>
            <a:r>
              <a:rPr lang="en-US" altLang="ja-JP" sz="1200" dirty="0">
                <a:solidFill>
                  <a:srgbClr val="44546A"/>
                </a:solidFill>
                <a:latin typeface="Segoe UI"/>
                <a:cs typeface="Meiryo UI" panose="020B0604030504040204" pitchFamily="50" charset="-128"/>
              </a:rPr>
              <a:t>PC chain locking, HDD encryption</a:t>
            </a:r>
          </a:p>
          <a:p>
            <a:pPr lvl="1">
              <a:buClrTx/>
              <a:buFont typeface="Wingdings" panose="05000000000000000000" pitchFamily="2" charset="2"/>
              <a:buChar char="ü"/>
              <a:defRPr/>
            </a:pPr>
            <a:r>
              <a:rPr lang="en-US" altLang="ja-JP" sz="1200" dirty="0">
                <a:solidFill>
                  <a:srgbClr val="44546A"/>
                </a:solidFill>
                <a:latin typeface="Segoe UI"/>
                <a:cs typeface="Meiryo UI" panose="020B0604030504040204" pitchFamily="50" charset="-128"/>
              </a:rPr>
              <a:t>Magnetic card system (Log monitoring), Access control log</a:t>
            </a:r>
          </a:p>
          <a:p>
            <a:pPr lvl="1">
              <a:buClrTx/>
              <a:buFont typeface="Wingdings" panose="05000000000000000000" pitchFamily="2" charset="2"/>
              <a:buChar char="ü"/>
              <a:defRPr/>
            </a:pPr>
            <a:r>
              <a:rPr lang="en-US" altLang="ja-JP" sz="1200" dirty="0">
                <a:solidFill>
                  <a:srgbClr val="44546A"/>
                </a:solidFill>
                <a:latin typeface="Segoe UI"/>
                <a:cs typeface="Meiryo UI" panose="020B0604030504040204" pitchFamily="50" charset="-128"/>
              </a:rPr>
              <a:t>All project documents are destroyed using a shredder machine.</a:t>
            </a:r>
          </a:p>
          <a:p>
            <a:pPr lvl="1">
              <a:buClrTx/>
              <a:buFont typeface="Wingdings" panose="05000000000000000000" pitchFamily="2" charset="2"/>
              <a:buChar char="ü"/>
              <a:defRPr/>
            </a:pPr>
            <a:r>
              <a:rPr lang="en-US" altLang="ja-JP" sz="1200" dirty="0">
                <a:solidFill>
                  <a:srgbClr val="44546A"/>
                </a:solidFill>
                <a:latin typeface="Segoe UI"/>
                <a:cs typeface="Meiryo UI" panose="020B0604030504040204" pitchFamily="50" charset="-128"/>
              </a:rPr>
              <a:t>All customer assets (test devices, </a:t>
            </a:r>
            <a:r>
              <a:rPr lang="en-US" altLang="ja-JP" sz="1200" dirty="0" err="1">
                <a:solidFill>
                  <a:srgbClr val="44546A"/>
                </a:solidFill>
                <a:latin typeface="Segoe UI"/>
                <a:cs typeface="Meiryo UI" panose="020B0604030504040204" pitchFamily="50" charset="-128"/>
              </a:rPr>
              <a:t>usb</a:t>
            </a:r>
            <a:r>
              <a:rPr lang="en-US" altLang="ja-JP" sz="1200" dirty="0">
                <a:solidFill>
                  <a:srgbClr val="44546A"/>
                </a:solidFill>
                <a:latin typeface="Segoe UI"/>
                <a:cs typeface="Meiryo UI" panose="020B0604030504040204" pitchFamily="50" charset="-128"/>
              </a:rPr>
              <a:t> tokens) are managed in a locker cabinet with personnel tracking their usage.</a:t>
            </a:r>
          </a:p>
          <a:p>
            <a:pPr>
              <a:buClrTx/>
              <a:buFont typeface="Wingdings" panose="05000000000000000000" pitchFamily="2" charset="2"/>
              <a:buChar char="n"/>
              <a:defRPr/>
            </a:pPr>
            <a:r>
              <a:rPr lang="en-US" altLang="ja-JP" sz="1200" b="1" dirty="0">
                <a:solidFill>
                  <a:srgbClr val="44546A"/>
                </a:solidFill>
                <a:latin typeface="Segoe UI"/>
                <a:cs typeface="Meiryo UI" panose="020B0604030504040204" pitchFamily="50" charset="-128"/>
              </a:rPr>
              <a:t>Security regulations</a:t>
            </a:r>
          </a:p>
          <a:p>
            <a:pPr lvl="1">
              <a:buClrTx/>
              <a:buFont typeface="Wingdings" panose="05000000000000000000" pitchFamily="2" charset="2"/>
              <a:buChar char="ü"/>
              <a:defRPr/>
            </a:pPr>
            <a:r>
              <a:rPr lang="en-US" altLang="ja-JP" sz="1200" dirty="0">
                <a:solidFill>
                  <a:srgbClr val="44546A"/>
                </a:solidFill>
                <a:latin typeface="Segoe UI"/>
                <a:cs typeface="Meiryo UI" panose="020B0604030504040204" pitchFamily="50" charset="-128"/>
              </a:rPr>
              <a:t>Restriction on email recipients</a:t>
            </a:r>
          </a:p>
          <a:p>
            <a:pPr lvl="1">
              <a:buClrTx/>
              <a:buFont typeface="Wingdings" panose="05000000000000000000" pitchFamily="2" charset="2"/>
              <a:buChar char="ü"/>
              <a:defRPr/>
            </a:pPr>
            <a:r>
              <a:rPr lang="en-US" altLang="ja-JP" sz="1200" dirty="0">
                <a:solidFill>
                  <a:srgbClr val="44546A"/>
                </a:solidFill>
                <a:latin typeface="Segoe UI"/>
                <a:cs typeface="Meiryo UI" panose="020B0604030504040204" pitchFamily="50" charset="-128"/>
              </a:rPr>
              <a:t>Prohibition of document removal (use of paper shredder)</a:t>
            </a:r>
          </a:p>
          <a:p>
            <a:pPr lvl="1">
              <a:buClrTx/>
              <a:buFont typeface="Wingdings" panose="05000000000000000000" pitchFamily="2" charset="2"/>
              <a:buChar char="ü"/>
              <a:defRPr/>
            </a:pPr>
            <a:r>
              <a:rPr lang="en-US" altLang="ja-JP" sz="1200" dirty="0">
                <a:solidFill>
                  <a:srgbClr val="44546A"/>
                </a:solidFill>
                <a:latin typeface="Segoe UI"/>
                <a:cs typeface="Meiryo UI" panose="020B0604030504040204" pitchFamily="50" charset="-128"/>
              </a:rPr>
              <a:t>Prohibition of writing to USB memory or CD/DVD</a:t>
            </a:r>
          </a:p>
          <a:p>
            <a:pPr lvl="1">
              <a:buClrTx/>
              <a:buFont typeface="Wingdings" panose="05000000000000000000" pitchFamily="2" charset="2"/>
              <a:buChar char="ü"/>
              <a:defRPr/>
            </a:pPr>
            <a:r>
              <a:rPr lang="en-US" altLang="ja-JP" sz="1200" dirty="0">
                <a:solidFill>
                  <a:srgbClr val="44546A"/>
                </a:solidFill>
                <a:latin typeface="Segoe UI"/>
                <a:cs typeface="Meiryo UI" panose="020B0604030504040204" pitchFamily="50" charset="-128"/>
              </a:rPr>
              <a:t>Prohibition of photography, audio, and video recording</a:t>
            </a:r>
          </a:p>
          <a:p>
            <a:pPr>
              <a:buClrTx/>
              <a:buFont typeface="Wingdings" panose="05000000000000000000" pitchFamily="2" charset="2"/>
              <a:buChar char="n"/>
              <a:defRPr/>
            </a:pPr>
            <a:r>
              <a:rPr lang="en-US" altLang="ja-JP" sz="1200" b="1" dirty="0">
                <a:solidFill>
                  <a:srgbClr val="44546A"/>
                </a:solidFill>
                <a:latin typeface="Segoe UI"/>
                <a:cs typeface="Meiryo UI" panose="020B0604030504040204" pitchFamily="50" charset="-128"/>
              </a:rPr>
              <a:t>Security network</a:t>
            </a:r>
            <a:r>
              <a:rPr lang="ja-JP" altLang="en-US" sz="1200" dirty="0">
                <a:solidFill>
                  <a:srgbClr val="44546A"/>
                </a:solidFill>
                <a:latin typeface="Segoe UI"/>
                <a:cs typeface="Meiryo UI" panose="020B0604030504040204" pitchFamily="50" charset="-128"/>
              </a:rPr>
              <a:t> </a:t>
            </a:r>
            <a:endParaRPr lang="en-US" altLang="ja-JP" sz="1200" dirty="0">
              <a:solidFill>
                <a:srgbClr val="44546A"/>
              </a:solidFill>
              <a:latin typeface="Segoe UI"/>
              <a:cs typeface="Meiryo UI" panose="020B0604030504040204" pitchFamily="50" charset="-128"/>
            </a:endParaRPr>
          </a:p>
          <a:p>
            <a:pPr lvl="1">
              <a:buClrTx/>
              <a:buFont typeface="Wingdings" panose="05000000000000000000" pitchFamily="2" charset="2"/>
              <a:buChar char="ü"/>
              <a:defRPr/>
            </a:pPr>
            <a:r>
              <a:rPr lang="en-US" altLang="ja-JP" sz="1200" dirty="0">
                <a:solidFill>
                  <a:srgbClr val="44546A"/>
                </a:solidFill>
                <a:latin typeface="Segoe UI"/>
                <a:cs typeface="Meiryo UI" panose="020B0604030504040204" pitchFamily="50" charset="-128"/>
              </a:rPr>
              <a:t>Firewall</a:t>
            </a:r>
          </a:p>
          <a:p>
            <a:pPr lvl="1">
              <a:buClrTx/>
              <a:buFont typeface="Wingdings" panose="05000000000000000000" pitchFamily="2" charset="2"/>
              <a:buChar char="ü"/>
              <a:defRPr/>
            </a:pPr>
            <a:r>
              <a:rPr lang="en-US" altLang="ja-JP" sz="1200" dirty="0">
                <a:solidFill>
                  <a:srgbClr val="44546A"/>
                </a:solidFill>
                <a:latin typeface="Segoe UI"/>
                <a:cs typeface="Meiryo UI" panose="020B0604030504040204" pitchFamily="50" charset="-128"/>
              </a:rPr>
              <a:t>Antivirus</a:t>
            </a:r>
          </a:p>
          <a:p>
            <a:pPr>
              <a:buClrTx/>
              <a:buFont typeface="Wingdings" panose="05000000000000000000" pitchFamily="2" charset="2"/>
              <a:buChar char="n"/>
              <a:defRPr/>
            </a:pPr>
            <a:r>
              <a:rPr lang="en-US" altLang="ja-JP" sz="1200" b="1" dirty="0">
                <a:solidFill>
                  <a:srgbClr val="44546A"/>
                </a:solidFill>
                <a:latin typeface="Segoe UI"/>
                <a:cs typeface="Meiryo UI" panose="020B0604030504040204" pitchFamily="50" charset="-128"/>
              </a:rPr>
              <a:t>Regular checks by customers</a:t>
            </a:r>
            <a:r>
              <a:rPr lang="ja-JP" altLang="en-US" sz="1200" dirty="0">
                <a:solidFill>
                  <a:srgbClr val="44546A"/>
                </a:solidFill>
                <a:latin typeface="Segoe UI"/>
                <a:cs typeface="Meiryo UI" panose="020B0604030504040204" pitchFamily="50" charset="-128"/>
              </a:rPr>
              <a:t> </a:t>
            </a:r>
            <a:endParaRPr lang="en-US" altLang="ja-JP" sz="1200" dirty="0">
              <a:solidFill>
                <a:srgbClr val="44546A"/>
              </a:solidFill>
              <a:latin typeface="Segoe UI"/>
              <a:cs typeface="Meiryo UI" panose="020B0604030504040204" pitchFamily="50" charset="-128"/>
            </a:endParaRPr>
          </a:p>
          <a:p>
            <a:pPr lvl="1">
              <a:buClrTx/>
              <a:buFont typeface="Wingdings" panose="05000000000000000000" pitchFamily="2" charset="2"/>
              <a:buChar char="ü"/>
              <a:defRPr/>
            </a:pPr>
            <a:r>
              <a:rPr lang="en-US" altLang="ja-JP" sz="1200" dirty="0">
                <a:solidFill>
                  <a:srgbClr val="44546A"/>
                </a:solidFill>
                <a:latin typeface="Segoe UI"/>
                <a:cs typeface="Meiryo UI" panose="020B0604030504040204" pitchFamily="50" charset="-128"/>
              </a:rPr>
              <a:t>Monthly confirmation through security check sheets provided by customers</a:t>
            </a:r>
          </a:p>
          <a:p>
            <a:pPr lvl="1">
              <a:buClrTx/>
              <a:buFont typeface="Wingdings" panose="05000000000000000000" pitchFamily="2" charset="2"/>
              <a:buChar char="ü"/>
              <a:defRPr/>
            </a:pPr>
            <a:r>
              <a:rPr lang="en-US" altLang="ja-JP" sz="1200" dirty="0">
                <a:solidFill>
                  <a:srgbClr val="44546A"/>
                </a:solidFill>
                <a:latin typeface="Segoe UI"/>
                <a:cs typeface="Meiryo UI" panose="020B0604030504040204" pitchFamily="50" charset="-128"/>
              </a:rPr>
              <a:t>Annual visit by customers for direct verification (the timing of security audits by customers can be discussed separately)</a:t>
            </a:r>
          </a:p>
        </p:txBody>
      </p:sp>
      <p:pic>
        <p:nvPicPr>
          <p:cNvPr id="10" name="Picture 9" descr="MicrosoftTeams-image (4)">
            <a:extLst>
              <a:ext uri="{FF2B5EF4-FFF2-40B4-BE49-F238E27FC236}">
                <a16:creationId xmlns:a16="http://schemas.microsoft.com/office/drawing/2014/main" id="{A0EC39D3-D061-DEE1-70F0-61EDAF0EB5E7}"/>
              </a:ext>
            </a:extLst>
          </p:cNvPr>
          <p:cNvPicPr>
            <a:picLocks noGrp="1" noChangeAspect="1"/>
          </p:cNvPicPr>
          <p:nvPr isPhoto="1"/>
        </p:nvPicPr>
        <p:blipFill rotWithShape="1">
          <a:blip r:embed="rId3" cstate="screen">
            <a:lum/>
            <a:extLst>
              <a:ext uri="{28A0092B-C50C-407E-A947-70E740481C1C}">
                <a14:useLocalDpi xmlns:a14="http://schemas.microsoft.com/office/drawing/2010/main"/>
              </a:ext>
            </a:extLst>
          </a:blip>
          <a:srcRect/>
          <a:stretch/>
        </p:blipFill>
        <p:spPr>
          <a:xfrm>
            <a:off x="8861434" y="3964164"/>
            <a:ext cx="2573290" cy="2394735"/>
          </a:xfrm>
          <a:prstGeom prst="rect">
            <a:avLst/>
          </a:prstGeom>
        </p:spPr>
      </p:pic>
    </p:spTree>
    <p:extLst>
      <p:ext uri="{BB962C8B-B14F-4D97-AF65-F5344CB8AC3E}">
        <p14:creationId xmlns:p14="http://schemas.microsoft.com/office/powerpoint/2010/main" val="400216059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24</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9601553" cy="584775"/>
            <a:chOff x="479425" y="461520"/>
            <a:chExt cx="9601553"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4" y="461520"/>
              <a:ext cx="9544714"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13. Standard Process </a:t>
              </a:r>
              <a:r>
                <a:rPr lang="en-US" sz="2400" b="1" dirty="0">
                  <a:solidFill>
                    <a:srgbClr val="212967"/>
                  </a:solidFill>
                  <a:latin typeface="Segoe UI" panose="020B0502040204020203" pitchFamily="34" charset="0"/>
                  <a:cs typeface="Segoe UI" panose="020B0502040204020203" pitchFamily="34" charset="0"/>
                </a:rPr>
                <a:t>- Overtime Process</a:t>
              </a:r>
            </a:p>
          </p:txBody>
        </p:sp>
      </p:grpSp>
      <p:sp>
        <p:nvSpPr>
          <p:cNvPr id="55" name="Rectangle 54">
            <a:extLst>
              <a:ext uri="{FF2B5EF4-FFF2-40B4-BE49-F238E27FC236}">
                <a16:creationId xmlns:a16="http://schemas.microsoft.com/office/drawing/2014/main" id="{BCE2AC5A-42AC-A6D3-E223-096E8ED47C26}"/>
              </a:ext>
            </a:extLst>
          </p:cNvPr>
          <p:cNvSpPr/>
          <p:nvPr/>
        </p:nvSpPr>
        <p:spPr>
          <a:xfrm>
            <a:off x="1267416" y="1814691"/>
            <a:ext cx="2235981" cy="460519"/>
          </a:xfrm>
          <a:prstGeom prst="rect">
            <a:avLst/>
          </a:prstGeom>
          <a:solidFill>
            <a:srgbClr val="FFFFFF">
              <a:lumMod val="95000"/>
            </a:srgbClr>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ysClr val="windowText" lastClr="000000"/>
                </a:solidFill>
                <a:effectLst/>
                <a:uLnTx/>
                <a:uFillTx/>
                <a:ea typeface="+mn-ea"/>
                <a:cs typeface="+mn-cs"/>
              </a:rPr>
              <a:t>Apply for all contract type</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GB" sz="1000" b="0" i="0" u="none" strike="noStrike" kern="0" cap="none" spc="0" normalizeH="0" baseline="0" noProof="0" dirty="0">
                <a:ln>
                  <a:noFill/>
                </a:ln>
                <a:solidFill>
                  <a:sysClr val="windowText" lastClr="000000"/>
                </a:solidFill>
                <a:effectLst/>
                <a:uLnTx/>
                <a:uFillTx/>
                <a:ea typeface="+mn-ea"/>
                <a:cs typeface="+mn-cs"/>
              </a:rPr>
              <a:t>(Turnkey, T&amp;M, Operation contract)</a:t>
            </a:r>
          </a:p>
        </p:txBody>
      </p:sp>
      <p:cxnSp>
        <p:nvCxnSpPr>
          <p:cNvPr id="56" name="Straight Connector 55">
            <a:extLst>
              <a:ext uri="{FF2B5EF4-FFF2-40B4-BE49-F238E27FC236}">
                <a16:creationId xmlns:a16="http://schemas.microsoft.com/office/drawing/2014/main" id="{DF101865-848A-79CE-49EB-38C13BE9D4B5}"/>
              </a:ext>
            </a:extLst>
          </p:cNvPr>
          <p:cNvCxnSpPr>
            <a:cxnSpLocks/>
          </p:cNvCxnSpPr>
          <p:nvPr/>
        </p:nvCxnSpPr>
        <p:spPr>
          <a:xfrm flipV="1">
            <a:off x="6146844" y="943447"/>
            <a:ext cx="23180" cy="5771583"/>
          </a:xfrm>
          <a:prstGeom prst="line">
            <a:avLst/>
          </a:prstGeom>
          <a:noFill/>
          <a:ln w="25400" cap="flat" cmpd="sng" algn="ctr">
            <a:solidFill>
              <a:srgbClr val="4472C4"/>
            </a:solidFill>
            <a:prstDash val="sysDot"/>
            <a:miter lim="800000"/>
          </a:ln>
          <a:effectLst/>
        </p:spPr>
      </p:cxnSp>
      <p:cxnSp>
        <p:nvCxnSpPr>
          <p:cNvPr id="57" name="Straight Connector 56">
            <a:extLst>
              <a:ext uri="{FF2B5EF4-FFF2-40B4-BE49-F238E27FC236}">
                <a16:creationId xmlns:a16="http://schemas.microsoft.com/office/drawing/2014/main" id="{C08B4B30-32C8-46E9-F161-35DB8CA0F2DC}"/>
              </a:ext>
            </a:extLst>
          </p:cNvPr>
          <p:cNvCxnSpPr>
            <a:cxnSpLocks/>
          </p:cNvCxnSpPr>
          <p:nvPr/>
        </p:nvCxnSpPr>
        <p:spPr>
          <a:xfrm flipV="1">
            <a:off x="8848738" y="965417"/>
            <a:ext cx="23145" cy="5762865"/>
          </a:xfrm>
          <a:prstGeom prst="line">
            <a:avLst/>
          </a:prstGeom>
          <a:noFill/>
          <a:ln w="25400" cap="flat" cmpd="sng" algn="ctr">
            <a:solidFill>
              <a:srgbClr val="4472C4"/>
            </a:solidFill>
            <a:prstDash val="sysDot"/>
            <a:miter lim="800000"/>
          </a:ln>
          <a:effectLst/>
        </p:spPr>
      </p:cxnSp>
      <p:sp>
        <p:nvSpPr>
          <p:cNvPr id="59" name="Rectangle 58">
            <a:extLst>
              <a:ext uri="{FF2B5EF4-FFF2-40B4-BE49-F238E27FC236}">
                <a16:creationId xmlns:a16="http://schemas.microsoft.com/office/drawing/2014/main" id="{29BE3A18-D9D1-B6C2-301D-474217E72B1B}"/>
              </a:ext>
            </a:extLst>
          </p:cNvPr>
          <p:cNvSpPr/>
          <p:nvPr/>
        </p:nvSpPr>
        <p:spPr>
          <a:xfrm>
            <a:off x="4007970" y="1037244"/>
            <a:ext cx="1989597"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800" b="1">
                <a:solidFill>
                  <a:prstClr val="white"/>
                </a:solidFill>
                <a:latin typeface="Segoe UI"/>
                <a:ea typeface="+mn-ea"/>
              </a:rPr>
              <a:t>GDC Governance Team</a:t>
            </a:r>
          </a:p>
          <a:p>
            <a:pPr algn="ctr">
              <a:buClrTx/>
              <a:buFontTx/>
              <a:buNone/>
              <a:defRPr/>
            </a:pPr>
            <a:r>
              <a:rPr lang="en-US" sz="800" b="1">
                <a:solidFill>
                  <a:prstClr val="white"/>
                </a:solidFill>
                <a:latin typeface="Segoe UI"/>
                <a:ea typeface="+mn-ea"/>
              </a:rPr>
              <a:t>GDC leader of each divisions</a:t>
            </a:r>
          </a:p>
        </p:txBody>
      </p:sp>
      <p:sp>
        <p:nvSpPr>
          <p:cNvPr id="60" name="Rectangle 59">
            <a:extLst>
              <a:ext uri="{FF2B5EF4-FFF2-40B4-BE49-F238E27FC236}">
                <a16:creationId xmlns:a16="http://schemas.microsoft.com/office/drawing/2014/main" id="{57DEB99E-EF9B-9BFE-ECE0-366FCAF6ED51}"/>
              </a:ext>
            </a:extLst>
          </p:cNvPr>
          <p:cNvSpPr/>
          <p:nvPr/>
        </p:nvSpPr>
        <p:spPr>
          <a:xfrm>
            <a:off x="6526063" y="1037244"/>
            <a:ext cx="1989597"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FPT DM/BrSE Leader</a:t>
            </a:r>
          </a:p>
        </p:txBody>
      </p:sp>
      <p:sp>
        <p:nvSpPr>
          <p:cNvPr id="61" name="Rectangle 60">
            <a:extLst>
              <a:ext uri="{FF2B5EF4-FFF2-40B4-BE49-F238E27FC236}">
                <a16:creationId xmlns:a16="http://schemas.microsoft.com/office/drawing/2014/main" id="{ECDE61F7-BAB8-A2BD-95C2-143FA4FE518B}"/>
              </a:ext>
            </a:extLst>
          </p:cNvPr>
          <p:cNvSpPr/>
          <p:nvPr/>
        </p:nvSpPr>
        <p:spPr>
          <a:xfrm>
            <a:off x="9249893" y="1037244"/>
            <a:ext cx="1989597"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BrSE/Offshore PM</a:t>
            </a:r>
          </a:p>
        </p:txBody>
      </p:sp>
      <p:sp>
        <p:nvSpPr>
          <p:cNvPr id="62" name="Rounded Rectangle 32">
            <a:extLst>
              <a:ext uri="{FF2B5EF4-FFF2-40B4-BE49-F238E27FC236}">
                <a16:creationId xmlns:a16="http://schemas.microsoft.com/office/drawing/2014/main" id="{02D1EBA0-FA50-A9A9-6CB6-7EE85657230C}"/>
              </a:ext>
            </a:extLst>
          </p:cNvPr>
          <p:cNvSpPr/>
          <p:nvPr/>
        </p:nvSpPr>
        <p:spPr>
          <a:xfrm>
            <a:off x="1497759" y="1478050"/>
            <a:ext cx="1652723" cy="375820"/>
          </a:xfrm>
          <a:prstGeom prst="round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algn="ctr">
              <a:buClrTx/>
              <a:buFontTx/>
              <a:buNone/>
              <a:defRPr/>
            </a:pPr>
            <a:r>
              <a:rPr lang="en-US" sz="1100" b="1" dirty="0">
                <a:solidFill>
                  <a:srgbClr val="36365C"/>
                </a:solidFill>
                <a:latin typeface="Segoe UI"/>
                <a:ea typeface="+mn-ea"/>
              </a:rPr>
              <a:t>Send overtime request </a:t>
            </a:r>
          </a:p>
        </p:txBody>
      </p:sp>
      <p:cxnSp>
        <p:nvCxnSpPr>
          <p:cNvPr id="63" name="Straight Connector 62">
            <a:extLst>
              <a:ext uri="{FF2B5EF4-FFF2-40B4-BE49-F238E27FC236}">
                <a16:creationId xmlns:a16="http://schemas.microsoft.com/office/drawing/2014/main" id="{2E00D710-704E-E0C8-F4DA-80F9D3E8C31C}"/>
              </a:ext>
            </a:extLst>
          </p:cNvPr>
          <p:cNvCxnSpPr>
            <a:cxnSpLocks/>
          </p:cNvCxnSpPr>
          <p:nvPr/>
        </p:nvCxnSpPr>
        <p:spPr>
          <a:xfrm flipV="1">
            <a:off x="3733041" y="952165"/>
            <a:ext cx="23180" cy="5771583"/>
          </a:xfrm>
          <a:prstGeom prst="line">
            <a:avLst/>
          </a:prstGeom>
          <a:noFill/>
          <a:ln w="25400" cap="flat" cmpd="sng" algn="ctr">
            <a:solidFill>
              <a:srgbClr val="4472C4"/>
            </a:solidFill>
            <a:prstDash val="sysDot"/>
            <a:miter lim="800000"/>
          </a:ln>
          <a:effectLst/>
        </p:spPr>
      </p:cxnSp>
      <p:sp>
        <p:nvSpPr>
          <p:cNvPr id="64" name="Rectangle 63">
            <a:extLst>
              <a:ext uri="{FF2B5EF4-FFF2-40B4-BE49-F238E27FC236}">
                <a16:creationId xmlns:a16="http://schemas.microsoft.com/office/drawing/2014/main" id="{69E30429-9FE8-A1B2-337C-CE0B64863CA4}"/>
              </a:ext>
            </a:extLst>
          </p:cNvPr>
          <p:cNvSpPr/>
          <p:nvPr/>
        </p:nvSpPr>
        <p:spPr>
          <a:xfrm>
            <a:off x="1497759" y="1034417"/>
            <a:ext cx="1766095" cy="391095"/>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LGCNS PM</a:t>
            </a:r>
          </a:p>
        </p:txBody>
      </p:sp>
      <p:sp>
        <p:nvSpPr>
          <p:cNvPr id="65" name="Rectangle 64">
            <a:extLst>
              <a:ext uri="{FF2B5EF4-FFF2-40B4-BE49-F238E27FC236}">
                <a16:creationId xmlns:a16="http://schemas.microsoft.com/office/drawing/2014/main" id="{3D04471A-DA9E-C236-E509-6C0A59E5D341}"/>
              </a:ext>
            </a:extLst>
          </p:cNvPr>
          <p:cNvSpPr/>
          <p:nvPr/>
        </p:nvSpPr>
        <p:spPr>
          <a:xfrm>
            <a:off x="9390824" y="4824676"/>
            <a:ext cx="1849137" cy="41270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Send OT Data</a:t>
            </a:r>
          </a:p>
        </p:txBody>
      </p:sp>
      <p:cxnSp>
        <p:nvCxnSpPr>
          <p:cNvPr id="66" name="Connector: Elbow 66">
            <a:extLst>
              <a:ext uri="{FF2B5EF4-FFF2-40B4-BE49-F238E27FC236}">
                <a16:creationId xmlns:a16="http://schemas.microsoft.com/office/drawing/2014/main" id="{3563D3FF-BAB4-8D60-B53B-0C413209A4D9}"/>
              </a:ext>
            </a:extLst>
          </p:cNvPr>
          <p:cNvCxnSpPr>
            <a:cxnSpLocks/>
            <a:stCxn id="80" idx="2"/>
            <a:endCxn id="87" idx="0"/>
          </p:cNvCxnSpPr>
          <p:nvPr/>
        </p:nvCxnSpPr>
        <p:spPr>
          <a:xfrm rot="16200000" flipH="1">
            <a:off x="8714116" y="1841157"/>
            <a:ext cx="309866" cy="2891744"/>
          </a:xfrm>
          <a:prstGeom prst="bentConnector3">
            <a:avLst>
              <a:gd name="adj1" fmla="val 50000"/>
            </a:avLst>
          </a:prstGeom>
          <a:noFill/>
          <a:ln w="6350" cap="flat" cmpd="sng" algn="ctr">
            <a:solidFill>
              <a:srgbClr val="36365C"/>
            </a:solidFill>
            <a:prstDash val="solid"/>
            <a:miter lim="800000"/>
            <a:tailEnd type="triangle"/>
          </a:ln>
          <a:effectLst/>
        </p:spPr>
      </p:cxnSp>
      <p:sp>
        <p:nvSpPr>
          <p:cNvPr id="67" name="Rectangle 66">
            <a:extLst>
              <a:ext uri="{FF2B5EF4-FFF2-40B4-BE49-F238E27FC236}">
                <a16:creationId xmlns:a16="http://schemas.microsoft.com/office/drawing/2014/main" id="{33B129E7-C12E-901C-5FEC-98A82804BA45}"/>
              </a:ext>
            </a:extLst>
          </p:cNvPr>
          <p:cNvSpPr/>
          <p:nvPr/>
        </p:nvSpPr>
        <p:spPr>
          <a:xfrm>
            <a:off x="9349335" y="2597690"/>
            <a:ext cx="1849137" cy="412704"/>
          </a:xfrm>
          <a:prstGeom prst="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algn="ctr">
              <a:buClrTx/>
              <a:buFontTx/>
              <a:buNone/>
              <a:defRPr/>
            </a:pPr>
            <a:r>
              <a:rPr lang="en-US" sz="1100" b="1">
                <a:solidFill>
                  <a:srgbClr val="36365C"/>
                </a:solidFill>
                <a:latin typeface="Segoe UI"/>
                <a:ea typeface="+mn-ea"/>
              </a:rPr>
              <a:t>Feedback the reason to customer</a:t>
            </a:r>
          </a:p>
        </p:txBody>
      </p:sp>
      <p:cxnSp>
        <p:nvCxnSpPr>
          <p:cNvPr id="68" name="Straight Arrow Connector 67">
            <a:extLst>
              <a:ext uri="{FF2B5EF4-FFF2-40B4-BE49-F238E27FC236}">
                <a16:creationId xmlns:a16="http://schemas.microsoft.com/office/drawing/2014/main" id="{AEC651F5-0ECB-CEF7-C268-4A7E5B7E381F}"/>
              </a:ext>
            </a:extLst>
          </p:cNvPr>
          <p:cNvCxnSpPr>
            <a:cxnSpLocks/>
            <a:stCxn id="62" idx="3"/>
            <a:endCxn id="69" idx="1"/>
          </p:cNvCxnSpPr>
          <p:nvPr/>
        </p:nvCxnSpPr>
        <p:spPr>
          <a:xfrm>
            <a:off x="3150482" y="1665960"/>
            <a:ext cx="6199651" cy="19254"/>
          </a:xfrm>
          <a:prstGeom prst="straightConnector1">
            <a:avLst/>
          </a:prstGeom>
          <a:noFill/>
          <a:ln w="6350" cap="flat" cmpd="sng" algn="ctr">
            <a:solidFill>
              <a:srgbClr val="36365C"/>
            </a:solidFill>
            <a:prstDash val="solid"/>
            <a:miter lim="800000"/>
            <a:tailEnd type="triangle"/>
          </a:ln>
          <a:effectLst/>
        </p:spPr>
      </p:cxnSp>
      <p:sp>
        <p:nvSpPr>
          <p:cNvPr id="69" name="Rectangle 68">
            <a:extLst>
              <a:ext uri="{FF2B5EF4-FFF2-40B4-BE49-F238E27FC236}">
                <a16:creationId xmlns:a16="http://schemas.microsoft.com/office/drawing/2014/main" id="{C3F2AC21-A171-F2BE-9065-FCAC58E7DB13}"/>
              </a:ext>
            </a:extLst>
          </p:cNvPr>
          <p:cNvSpPr/>
          <p:nvPr/>
        </p:nvSpPr>
        <p:spPr>
          <a:xfrm>
            <a:off x="9350133" y="1478862"/>
            <a:ext cx="1849137" cy="41270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Inform to related stakeholders</a:t>
            </a:r>
          </a:p>
        </p:txBody>
      </p:sp>
      <p:sp>
        <p:nvSpPr>
          <p:cNvPr id="70" name="Rectangle 69">
            <a:extLst>
              <a:ext uri="{FF2B5EF4-FFF2-40B4-BE49-F238E27FC236}">
                <a16:creationId xmlns:a16="http://schemas.microsoft.com/office/drawing/2014/main" id="{51E3705C-2DD6-4232-CE5F-92EEF31B3CED}"/>
              </a:ext>
            </a:extLst>
          </p:cNvPr>
          <p:cNvSpPr/>
          <p:nvPr/>
        </p:nvSpPr>
        <p:spPr>
          <a:xfrm>
            <a:off x="6499357" y="1855644"/>
            <a:ext cx="1849137" cy="41270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Review OT reasons</a:t>
            </a:r>
          </a:p>
        </p:txBody>
      </p:sp>
      <p:cxnSp>
        <p:nvCxnSpPr>
          <p:cNvPr id="71" name="Straight Arrow Connector 70">
            <a:extLst>
              <a:ext uri="{FF2B5EF4-FFF2-40B4-BE49-F238E27FC236}">
                <a16:creationId xmlns:a16="http://schemas.microsoft.com/office/drawing/2014/main" id="{EEA60FCA-DB02-28F5-9880-5ACAE1CB5612}"/>
              </a:ext>
            </a:extLst>
          </p:cNvPr>
          <p:cNvCxnSpPr>
            <a:cxnSpLocks/>
            <a:stCxn id="70" idx="2"/>
            <a:endCxn id="80" idx="0"/>
          </p:cNvCxnSpPr>
          <p:nvPr/>
        </p:nvCxnSpPr>
        <p:spPr>
          <a:xfrm flipH="1">
            <a:off x="7423177" y="2268348"/>
            <a:ext cx="749" cy="214746"/>
          </a:xfrm>
          <a:prstGeom prst="straightConnector1">
            <a:avLst/>
          </a:prstGeom>
          <a:noFill/>
          <a:ln w="6350" cap="flat" cmpd="sng" algn="ctr">
            <a:solidFill>
              <a:srgbClr val="36365C"/>
            </a:solidFill>
            <a:prstDash val="solid"/>
            <a:miter lim="800000"/>
            <a:tailEnd type="triangle"/>
          </a:ln>
          <a:effectLst/>
        </p:spPr>
      </p:cxnSp>
      <p:cxnSp>
        <p:nvCxnSpPr>
          <p:cNvPr id="72" name="Straight Arrow Connector 71">
            <a:extLst>
              <a:ext uri="{FF2B5EF4-FFF2-40B4-BE49-F238E27FC236}">
                <a16:creationId xmlns:a16="http://schemas.microsoft.com/office/drawing/2014/main" id="{96181A30-6EC7-0437-C587-3212F98DAB98}"/>
              </a:ext>
            </a:extLst>
          </p:cNvPr>
          <p:cNvCxnSpPr>
            <a:cxnSpLocks/>
            <a:stCxn id="80" idx="3"/>
            <a:endCxn id="67" idx="1"/>
          </p:cNvCxnSpPr>
          <p:nvPr/>
        </p:nvCxnSpPr>
        <p:spPr>
          <a:xfrm flipV="1">
            <a:off x="8306463" y="2804042"/>
            <a:ext cx="1042872" cy="3553"/>
          </a:xfrm>
          <a:prstGeom prst="straightConnector1">
            <a:avLst/>
          </a:prstGeom>
          <a:noFill/>
          <a:ln w="6350" cap="flat" cmpd="sng" algn="ctr">
            <a:solidFill>
              <a:srgbClr val="36365C"/>
            </a:solidFill>
            <a:prstDash val="solid"/>
            <a:miter lim="800000"/>
            <a:tailEnd type="triangle"/>
          </a:ln>
          <a:effectLst/>
        </p:spPr>
      </p:cxnSp>
      <p:cxnSp>
        <p:nvCxnSpPr>
          <p:cNvPr id="73" name="Straight Arrow Connector 72">
            <a:extLst>
              <a:ext uri="{FF2B5EF4-FFF2-40B4-BE49-F238E27FC236}">
                <a16:creationId xmlns:a16="http://schemas.microsoft.com/office/drawing/2014/main" id="{C50B56B6-5D63-871D-C836-5B14269EFE4A}"/>
              </a:ext>
            </a:extLst>
          </p:cNvPr>
          <p:cNvCxnSpPr>
            <a:cxnSpLocks/>
            <a:stCxn id="74" idx="2"/>
            <a:endCxn id="65" idx="0"/>
          </p:cNvCxnSpPr>
          <p:nvPr/>
        </p:nvCxnSpPr>
        <p:spPr>
          <a:xfrm>
            <a:off x="10315393" y="4586823"/>
            <a:ext cx="0" cy="237853"/>
          </a:xfrm>
          <a:prstGeom prst="straightConnector1">
            <a:avLst/>
          </a:prstGeom>
          <a:noFill/>
          <a:ln w="6350" cap="flat" cmpd="sng" algn="ctr">
            <a:solidFill>
              <a:srgbClr val="36365C"/>
            </a:solidFill>
            <a:prstDash val="solid"/>
            <a:miter lim="800000"/>
            <a:tailEnd type="triangle"/>
          </a:ln>
          <a:effectLst/>
        </p:spPr>
      </p:cxnSp>
      <p:sp>
        <p:nvSpPr>
          <p:cNvPr id="74" name="Rectangle 73">
            <a:extLst>
              <a:ext uri="{FF2B5EF4-FFF2-40B4-BE49-F238E27FC236}">
                <a16:creationId xmlns:a16="http://schemas.microsoft.com/office/drawing/2014/main" id="{5AFFA628-E44C-6687-6F71-6589AE295FAB}"/>
              </a:ext>
            </a:extLst>
          </p:cNvPr>
          <p:cNvSpPr/>
          <p:nvPr/>
        </p:nvSpPr>
        <p:spPr>
          <a:xfrm>
            <a:off x="9390824" y="4174119"/>
            <a:ext cx="1849137" cy="41270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Do the OT tasks</a:t>
            </a:r>
          </a:p>
        </p:txBody>
      </p:sp>
      <p:sp>
        <p:nvSpPr>
          <p:cNvPr id="75" name="Rectangle 74">
            <a:extLst>
              <a:ext uri="{FF2B5EF4-FFF2-40B4-BE49-F238E27FC236}">
                <a16:creationId xmlns:a16="http://schemas.microsoft.com/office/drawing/2014/main" id="{10230F06-FC91-53DF-AFAF-259C1CE25CFC}"/>
              </a:ext>
            </a:extLst>
          </p:cNvPr>
          <p:cNvSpPr/>
          <p:nvPr/>
        </p:nvSpPr>
        <p:spPr>
          <a:xfrm>
            <a:off x="9390353" y="5698784"/>
            <a:ext cx="1849137" cy="41270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Report OT Data to related stakeholders</a:t>
            </a:r>
          </a:p>
        </p:txBody>
      </p:sp>
      <p:sp>
        <p:nvSpPr>
          <p:cNvPr id="76" name="Rectangle 75">
            <a:extLst>
              <a:ext uri="{FF2B5EF4-FFF2-40B4-BE49-F238E27FC236}">
                <a16:creationId xmlns:a16="http://schemas.microsoft.com/office/drawing/2014/main" id="{17201FF0-2EBC-4BEE-8D81-EEBF040AEE1D}"/>
              </a:ext>
            </a:extLst>
          </p:cNvPr>
          <p:cNvSpPr/>
          <p:nvPr/>
        </p:nvSpPr>
        <p:spPr>
          <a:xfrm>
            <a:off x="1651385" y="4820994"/>
            <a:ext cx="1849137" cy="41270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Verify OT Data</a:t>
            </a:r>
          </a:p>
        </p:txBody>
      </p:sp>
      <p:cxnSp>
        <p:nvCxnSpPr>
          <p:cNvPr id="77" name="Straight Arrow Connector 76">
            <a:extLst>
              <a:ext uri="{FF2B5EF4-FFF2-40B4-BE49-F238E27FC236}">
                <a16:creationId xmlns:a16="http://schemas.microsoft.com/office/drawing/2014/main" id="{F729ADD0-BEBC-AF89-F006-1D9EED5C1B34}"/>
              </a:ext>
            </a:extLst>
          </p:cNvPr>
          <p:cNvCxnSpPr>
            <a:cxnSpLocks/>
            <a:stCxn id="65" idx="1"/>
            <a:endCxn id="76" idx="3"/>
          </p:cNvCxnSpPr>
          <p:nvPr/>
        </p:nvCxnSpPr>
        <p:spPr>
          <a:xfrm flipH="1" flipV="1">
            <a:off x="3500522" y="5027346"/>
            <a:ext cx="5890302" cy="3682"/>
          </a:xfrm>
          <a:prstGeom prst="straightConnector1">
            <a:avLst/>
          </a:prstGeom>
          <a:noFill/>
          <a:ln w="6350" cap="flat" cmpd="sng" algn="ctr">
            <a:solidFill>
              <a:srgbClr val="36365C"/>
            </a:solidFill>
            <a:prstDash val="solid"/>
            <a:miter lim="800000"/>
            <a:tailEnd type="triangle"/>
          </a:ln>
          <a:effectLst/>
        </p:spPr>
      </p:cxnSp>
      <p:cxnSp>
        <p:nvCxnSpPr>
          <p:cNvPr id="78" name="Connector: Elbow 86">
            <a:extLst>
              <a:ext uri="{FF2B5EF4-FFF2-40B4-BE49-F238E27FC236}">
                <a16:creationId xmlns:a16="http://schemas.microsoft.com/office/drawing/2014/main" id="{ACE979E7-04CC-14F6-92CB-C553B10E4137}"/>
              </a:ext>
            </a:extLst>
          </p:cNvPr>
          <p:cNvCxnSpPr>
            <a:cxnSpLocks/>
            <a:stCxn id="76" idx="2"/>
            <a:endCxn id="75" idx="0"/>
          </p:cNvCxnSpPr>
          <p:nvPr/>
        </p:nvCxnSpPr>
        <p:spPr>
          <a:xfrm rot="16200000" flipH="1">
            <a:off x="6212895" y="1596757"/>
            <a:ext cx="465086" cy="7738968"/>
          </a:xfrm>
          <a:prstGeom prst="bentConnector3">
            <a:avLst>
              <a:gd name="adj1" fmla="val 50000"/>
            </a:avLst>
          </a:prstGeom>
          <a:noFill/>
          <a:ln w="6350" cap="flat" cmpd="sng" algn="ctr">
            <a:solidFill>
              <a:srgbClr val="36365C"/>
            </a:solidFill>
            <a:prstDash val="solid"/>
            <a:miter lim="800000"/>
            <a:tailEnd type="triangle"/>
          </a:ln>
          <a:effectLst/>
        </p:spPr>
      </p:cxnSp>
      <p:grpSp>
        <p:nvGrpSpPr>
          <p:cNvPr id="79" name="Group 78">
            <a:extLst>
              <a:ext uri="{FF2B5EF4-FFF2-40B4-BE49-F238E27FC236}">
                <a16:creationId xmlns:a16="http://schemas.microsoft.com/office/drawing/2014/main" id="{8F6280C7-3FC8-D1B2-DC30-4F3F5D29430E}"/>
              </a:ext>
            </a:extLst>
          </p:cNvPr>
          <p:cNvGrpSpPr/>
          <p:nvPr/>
        </p:nvGrpSpPr>
        <p:grpSpPr>
          <a:xfrm>
            <a:off x="6539890" y="2483094"/>
            <a:ext cx="2101887" cy="904385"/>
            <a:chOff x="6495148" y="3095639"/>
            <a:chExt cx="2101887" cy="904385"/>
          </a:xfrm>
        </p:grpSpPr>
        <p:sp>
          <p:nvSpPr>
            <p:cNvPr id="80" name="Diamond 79">
              <a:extLst>
                <a:ext uri="{FF2B5EF4-FFF2-40B4-BE49-F238E27FC236}">
                  <a16:creationId xmlns:a16="http://schemas.microsoft.com/office/drawing/2014/main" id="{BC46728C-70CF-B8FB-5DE3-11140C476052}"/>
                </a:ext>
              </a:extLst>
            </p:cNvPr>
            <p:cNvSpPr/>
            <p:nvPr/>
          </p:nvSpPr>
          <p:spPr>
            <a:xfrm>
              <a:off x="6495148" y="3095639"/>
              <a:ext cx="1766573" cy="649002"/>
            </a:xfrm>
            <a:prstGeom prst="diamond">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Confirm</a:t>
              </a:r>
            </a:p>
          </p:txBody>
        </p:sp>
        <p:sp>
          <p:nvSpPr>
            <p:cNvPr id="81" name="TextBox 80">
              <a:extLst>
                <a:ext uri="{FF2B5EF4-FFF2-40B4-BE49-F238E27FC236}">
                  <a16:creationId xmlns:a16="http://schemas.microsoft.com/office/drawing/2014/main" id="{69CA2940-7ACA-3CE7-F2A5-AA894092F35C}"/>
                </a:ext>
              </a:extLst>
            </p:cNvPr>
            <p:cNvSpPr txBox="1"/>
            <p:nvPr/>
          </p:nvSpPr>
          <p:spPr>
            <a:xfrm>
              <a:off x="8205197" y="3451585"/>
              <a:ext cx="391838"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No</a:t>
              </a:r>
            </a:p>
          </p:txBody>
        </p:sp>
        <p:sp>
          <p:nvSpPr>
            <p:cNvPr id="82" name="TextBox 81">
              <a:extLst>
                <a:ext uri="{FF2B5EF4-FFF2-40B4-BE49-F238E27FC236}">
                  <a16:creationId xmlns:a16="http://schemas.microsoft.com/office/drawing/2014/main" id="{5CE5E123-D40D-57EA-1F6F-BF22B9C1E7CD}"/>
                </a:ext>
              </a:extLst>
            </p:cNvPr>
            <p:cNvSpPr txBox="1"/>
            <p:nvPr/>
          </p:nvSpPr>
          <p:spPr>
            <a:xfrm>
              <a:off x="6836160" y="3738414"/>
              <a:ext cx="488072"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Yes</a:t>
              </a:r>
            </a:p>
          </p:txBody>
        </p:sp>
      </p:grpSp>
      <p:sp>
        <p:nvSpPr>
          <p:cNvPr id="83" name="Flowchart: Punched Tape 90">
            <a:extLst>
              <a:ext uri="{FF2B5EF4-FFF2-40B4-BE49-F238E27FC236}">
                <a16:creationId xmlns:a16="http://schemas.microsoft.com/office/drawing/2014/main" id="{EA6AA042-9AE7-6662-70B7-60D1A4EAF082}"/>
              </a:ext>
            </a:extLst>
          </p:cNvPr>
          <p:cNvSpPr/>
          <p:nvPr/>
        </p:nvSpPr>
        <p:spPr>
          <a:xfrm>
            <a:off x="4102518" y="1651895"/>
            <a:ext cx="1582041" cy="723918"/>
          </a:xfrm>
          <a:prstGeom prst="flowChartPunchedTape">
            <a:avLst/>
          </a:prstGeom>
          <a:solidFill>
            <a:srgbClr val="FFFF00"/>
          </a:solidFill>
          <a:ln w="12700" cap="flat" cmpd="sng" algn="ctr">
            <a:no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Catch up OT request information</a:t>
            </a:r>
          </a:p>
        </p:txBody>
      </p:sp>
      <p:sp>
        <p:nvSpPr>
          <p:cNvPr id="84" name="Rectangle 83">
            <a:extLst>
              <a:ext uri="{FF2B5EF4-FFF2-40B4-BE49-F238E27FC236}">
                <a16:creationId xmlns:a16="http://schemas.microsoft.com/office/drawing/2014/main" id="{32672E6C-D619-BEE9-AEA4-99CAFC47F9CC}"/>
              </a:ext>
            </a:extLst>
          </p:cNvPr>
          <p:cNvSpPr/>
          <p:nvPr/>
        </p:nvSpPr>
        <p:spPr>
          <a:xfrm>
            <a:off x="2546382" y="6120621"/>
            <a:ext cx="3993508" cy="412704"/>
          </a:xfrm>
          <a:prstGeom prst="rect">
            <a:avLst/>
          </a:prstGeom>
          <a:solidFill>
            <a:srgbClr val="4F127F">
              <a:lumMod val="20000"/>
              <a:lumOff val="80000"/>
            </a:srgbClr>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Save OT Data Report</a:t>
            </a:r>
          </a:p>
        </p:txBody>
      </p:sp>
      <p:cxnSp>
        <p:nvCxnSpPr>
          <p:cNvPr id="85" name="Connector: Elbow 102">
            <a:extLst>
              <a:ext uri="{FF2B5EF4-FFF2-40B4-BE49-F238E27FC236}">
                <a16:creationId xmlns:a16="http://schemas.microsoft.com/office/drawing/2014/main" id="{F96EA5A0-0079-2855-5B3F-0D311945004B}"/>
              </a:ext>
            </a:extLst>
          </p:cNvPr>
          <p:cNvCxnSpPr>
            <a:cxnSpLocks/>
            <a:stCxn id="75" idx="2"/>
            <a:endCxn id="84" idx="3"/>
          </p:cNvCxnSpPr>
          <p:nvPr/>
        </p:nvCxnSpPr>
        <p:spPr>
          <a:xfrm rot="5400000">
            <a:off x="8319664" y="4331714"/>
            <a:ext cx="215485" cy="3775032"/>
          </a:xfrm>
          <a:prstGeom prst="bentConnector2">
            <a:avLst/>
          </a:prstGeom>
          <a:noFill/>
          <a:ln w="6350" cap="flat" cmpd="sng" algn="ctr">
            <a:solidFill>
              <a:srgbClr val="36365C"/>
            </a:solidFill>
            <a:prstDash val="solid"/>
            <a:miter lim="800000"/>
            <a:tailEnd type="triangle"/>
          </a:ln>
          <a:effectLst/>
        </p:spPr>
      </p:cxnSp>
      <p:sp>
        <p:nvSpPr>
          <p:cNvPr id="86" name="Flowchart: Punched Tape 37">
            <a:extLst>
              <a:ext uri="{FF2B5EF4-FFF2-40B4-BE49-F238E27FC236}">
                <a16:creationId xmlns:a16="http://schemas.microsoft.com/office/drawing/2014/main" id="{730F3A14-11EF-5E37-C682-FA9F98C635FB}"/>
              </a:ext>
            </a:extLst>
          </p:cNvPr>
          <p:cNvSpPr/>
          <p:nvPr/>
        </p:nvSpPr>
        <p:spPr>
          <a:xfrm>
            <a:off x="10677554" y="2754874"/>
            <a:ext cx="1309078" cy="532155"/>
          </a:xfrm>
          <a:prstGeom prst="flowChartPunchedTape">
            <a:avLst/>
          </a:prstGeom>
          <a:solidFill>
            <a:srgbClr val="FFFF00"/>
          </a:solidFill>
          <a:ln w="12700" cap="flat" cmpd="sng" algn="ctr">
            <a:noFill/>
            <a:prstDash val="solid"/>
            <a:miter lim="800000"/>
          </a:ln>
          <a:effectLst/>
        </p:spPr>
        <p:txBody>
          <a:bodyPr rtlCol="0" anchor="ctr"/>
          <a:lstStyle/>
          <a:p>
            <a:pPr algn="ctr">
              <a:buClrTx/>
              <a:buFontTx/>
              <a:buNone/>
              <a:defRPr/>
            </a:pPr>
            <a:r>
              <a:rPr lang="en-US" sz="1100">
                <a:solidFill>
                  <a:srgbClr val="36365C"/>
                </a:solidFill>
                <a:latin typeface="Segoe UI"/>
                <a:ea typeface="+mn-ea"/>
              </a:rPr>
              <a:t>CC: LGCNS GDC</a:t>
            </a:r>
          </a:p>
        </p:txBody>
      </p:sp>
      <p:sp>
        <p:nvSpPr>
          <p:cNvPr id="87" name="Rectangle 86">
            <a:extLst>
              <a:ext uri="{FF2B5EF4-FFF2-40B4-BE49-F238E27FC236}">
                <a16:creationId xmlns:a16="http://schemas.microsoft.com/office/drawing/2014/main" id="{DE2FAA19-F787-3C07-21EB-D2534C128A12}"/>
              </a:ext>
            </a:extLst>
          </p:cNvPr>
          <p:cNvSpPr/>
          <p:nvPr/>
        </p:nvSpPr>
        <p:spPr>
          <a:xfrm>
            <a:off x="9390352" y="3441962"/>
            <a:ext cx="1849137" cy="41270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Estimate OT effort</a:t>
            </a:r>
          </a:p>
        </p:txBody>
      </p:sp>
      <p:cxnSp>
        <p:nvCxnSpPr>
          <p:cNvPr id="88" name="Straight Arrow Connector 87">
            <a:extLst>
              <a:ext uri="{FF2B5EF4-FFF2-40B4-BE49-F238E27FC236}">
                <a16:creationId xmlns:a16="http://schemas.microsoft.com/office/drawing/2014/main" id="{B4127622-C882-318E-5C51-1F066CEB1FED}"/>
              </a:ext>
            </a:extLst>
          </p:cNvPr>
          <p:cNvCxnSpPr>
            <a:cxnSpLocks/>
            <a:stCxn id="87" idx="2"/>
            <a:endCxn id="74" idx="0"/>
          </p:cNvCxnSpPr>
          <p:nvPr/>
        </p:nvCxnSpPr>
        <p:spPr>
          <a:xfrm>
            <a:off x="10314921" y="3854666"/>
            <a:ext cx="472" cy="319453"/>
          </a:xfrm>
          <a:prstGeom prst="straightConnector1">
            <a:avLst/>
          </a:prstGeom>
          <a:noFill/>
          <a:ln w="6350" cap="flat" cmpd="sng" algn="ctr">
            <a:solidFill>
              <a:srgbClr val="36365C"/>
            </a:solidFill>
            <a:prstDash val="solid"/>
            <a:miter lim="800000"/>
            <a:tailEnd type="triangle"/>
          </a:ln>
          <a:effectLst/>
        </p:spPr>
      </p:cxnSp>
      <p:sp>
        <p:nvSpPr>
          <p:cNvPr id="89" name="Rectangle 88">
            <a:extLst>
              <a:ext uri="{FF2B5EF4-FFF2-40B4-BE49-F238E27FC236}">
                <a16:creationId xmlns:a16="http://schemas.microsoft.com/office/drawing/2014/main" id="{1BD8E715-1047-0963-86FB-0956F2CFBE88}"/>
              </a:ext>
            </a:extLst>
          </p:cNvPr>
          <p:cNvSpPr/>
          <p:nvPr/>
        </p:nvSpPr>
        <p:spPr>
          <a:xfrm>
            <a:off x="1621812" y="3405449"/>
            <a:ext cx="1849137" cy="41270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Review OT effort</a:t>
            </a:r>
          </a:p>
        </p:txBody>
      </p:sp>
      <p:grpSp>
        <p:nvGrpSpPr>
          <p:cNvPr id="90" name="Group 89">
            <a:extLst>
              <a:ext uri="{FF2B5EF4-FFF2-40B4-BE49-F238E27FC236}">
                <a16:creationId xmlns:a16="http://schemas.microsoft.com/office/drawing/2014/main" id="{DBB7DAB8-4AF6-6DE1-EDE4-7D749494AC53}"/>
              </a:ext>
            </a:extLst>
          </p:cNvPr>
          <p:cNvGrpSpPr/>
          <p:nvPr/>
        </p:nvGrpSpPr>
        <p:grpSpPr>
          <a:xfrm>
            <a:off x="1599268" y="4030475"/>
            <a:ext cx="2182483" cy="720263"/>
            <a:chOff x="6430464" y="3094634"/>
            <a:chExt cx="2182483" cy="720263"/>
          </a:xfrm>
        </p:grpSpPr>
        <p:sp>
          <p:nvSpPr>
            <p:cNvPr id="91" name="Diamond 90">
              <a:extLst>
                <a:ext uri="{FF2B5EF4-FFF2-40B4-BE49-F238E27FC236}">
                  <a16:creationId xmlns:a16="http://schemas.microsoft.com/office/drawing/2014/main" id="{36A7965C-177C-92DD-D253-082A926E07B2}"/>
                </a:ext>
              </a:extLst>
            </p:cNvPr>
            <p:cNvSpPr/>
            <p:nvPr/>
          </p:nvSpPr>
          <p:spPr>
            <a:xfrm>
              <a:off x="6495148" y="3095639"/>
              <a:ext cx="1766573" cy="649002"/>
            </a:xfrm>
            <a:prstGeom prst="diamond">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Confirm</a:t>
              </a:r>
            </a:p>
          </p:txBody>
        </p:sp>
        <p:sp>
          <p:nvSpPr>
            <p:cNvPr id="92" name="TextBox 91">
              <a:extLst>
                <a:ext uri="{FF2B5EF4-FFF2-40B4-BE49-F238E27FC236}">
                  <a16:creationId xmlns:a16="http://schemas.microsoft.com/office/drawing/2014/main" id="{FFECDE96-7F88-9F6E-02CF-47FC87A3981F}"/>
                </a:ext>
              </a:extLst>
            </p:cNvPr>
            <p:cNvSpPr txBox="1"/>
            <p:nvPr/>
          </p:nvSpPr>
          <p:spPr>
            <a:xfrm>
              <a:off x="6430464" y="3553287"/>
              <a:ext cx="391838"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No</a:t>
              </a:r>
            </a:p>
          </p:txBody>
        </p:sp>
        <p:sp>
          <p:nvSpPr>
            <p:cNvPr id="93" name="TextBox 92">
              <a:extLst>
                <a:ext uri="{FF2B5EF4-FFF2-40B4-BE49-F238E27FC236}">
                  <a16:creationId xmlns:a16="http://schemas.microsoft.com/office/drawing/2014/main" id="{2B06DDC9-5377-7039-AEE3-B470B75332BA}"/>
                </a:ext>
              </a:extLst>
            </p:cNvPr>
            <p:cNvSpPr txBox="1"/>
            <p:nvPr/>
          </p:nvSpPr>
          <p:spPr>
            <a:xfrm>
              <a:off x="8124875" y="3094634"/>
              <a:ext cx="488072"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Yes</a:t>
              </a:r>
            </a:p>
          </p:txBody>
        </p:sp>
      </p:grpSp>
      <p:cxnSp>
        <p:nvCxnSpPr>
          <p:cNvPr id="94" name="Straight Arrow Connector 93">
            <a:extLst>
              <a:ext uri="{FF2B5EF4-FFF2-40B4-BE49-F238E27FC236}">
                <a16:creationId xmlns:a16="http://schemas.microsoft.com/office/drawing/2014/main" id="{C3609684-60CE-C488-6523-F68C16E3D15D}"/>
              </a:ext>
            </a:extLst>
          </p:cNvPr>
          <p:cNvCxnSpPr>
            <a:cxnSpLocks/>
            <a:stCxn id="87" idx="1"/>
            <a:endCxn id="89" idx="3"/>
          </p:cNvCxnSpPr>
          <p:nvPr/>
        </p:nvCxnSpPr>
        <p:spPr>
          <a:xfrm flipH="1" flipV="1">
            <a:off x="3470949" y="3611801"/>
            <a:ext cx="5919403" cy="36513"/>
          </a:xfrm>
          <a:prstGeom prst="straightConnector1">
            <a:avLst/>
          </a:prstGeom>
          <a:noFill/>
          <a:ln w="6350" cap="flat" cmpd="sng" algn="ctr">
            <a:solidFill>
              <a:srgbClr val="36365C"/>
            </a:solidFill>
            <a:prstDash val="solid"/>
            <a:miter lim="800000"/>
            <a:tailEnd type="triangle"/>
          </a:ln>
          <a:effectLst/>
        </p:spPr>
      </p:cxnSp>
      <p:cxnSp>
        <p:nvCxnSpPr>
          <p:cNvPr id="95" name="Straight Arrow Connector 94">
            <a:extLst>
              <a:ext uri="{FF2B5EF4-FFF2-40B4-BE49-F238E27FC236}">
                <a16:creationId xmlns:a16="http://schemas.microsoft.com/office/drawing/2014/main" id="{2E6B1BC4-B644-07F4-8D47-9EC61B5CC0DF}"/>
              </a:ext>
            </a:extLst>
          </p:cNvPr>
          <p:cNvCxnSpPr>
            <a:cxnSpLocks/>
            <a:stCxn id="89" idx="2"/>
            <a:endCxn id="91" idx="0"/>
          </p:cNvCxnSpPr>
          <p:nvPr/>
        </p:nvCxnSpPr>
        <p:spPr>
          <a:xfrm>
            <a:off x="2546381" y="3818153"/>
            <a:ext cx="858" cy="213327"/>
          </a:xfrm>
          <a:prstGeom prst="straightConnector1">
            <a:avLst/>
          </a:prstGeom>
          <a:noFill/>
          <a:ln w="6350" cap="flat" cmpd="sng" algn="ctr">
            <a:solidFill>
              <a:srgbClr val="36365C"/>
            </a:solidFill>
            <a:prstDash val="solid"/>
            <a:miter lim="800000"/>
            <a:tailEnd type="triangle"/>
          </a:ln>
          <a:effectLst/>
        </p:spPr>
      </p:cxnSp>
      <p:cxnSp>
        <p:nvCxnSpPr>
          <p:cNvPr id="96" name="Straight Arrow Connector 95">
            <a:extLst>
              <a:ext uri="{FF2B5EF4-FFF2-40B4-BE49-F238E27FC236}">
                <a16:creationId xmlns:a16="http://schemas.microsoft.com/office/drawing/2014/main" id="{37F5D34A-6CE4-F521-919B-D9836D17E969}"/>
              </a:ext>
            </a:extLst>
          </p:cNvPr>
          <p:cNvCxnSpPr>
            <a:cxnSpLocks/>
            <a:stCxn id="91" idx="3"/>
            <a:endCxn id="74" idx="1"/>
          </p:cNvCxnSpPr>
          <p:nvPr/>
        </p:nvCxnSpPr>
        <p:spPr>
          <a:xfrm>
            <a:off x="3430525" y="4355981"/>
            <a:ext cx="5960299" cy="24490"/>
          </a:xfrm>
          <a:prstGeom prst="straightConnector1">
            <a:avLst/>
          </a:prstGeom>
          <a:noFill/>
          <a:ln w="6350" cap="flat" cmpd="sng" algn="ctr">
            <a:solidFill>
              <a:srgbClr val="36365C"/>
            </a:solidFill>
            <a:prstDash val="solid"/>
            <a:miter lim="800000"/>
            <a:tailEnd type="triangle"/>
          </a:ln>
          <a:effectLst/>
        </p:spPr>
      </p:cxnSp>
      <p:sp>
        <p:nvSpPr>
          <p:cNvPr id="97" name="Rectangle 96">
            <a:extLst>
              <a:ext uri="{FF2B5EF4-FFF2-40B4-BE49-F238E27FC236}">
                <a16:creationId xmlns:a16="http://schemas.microsoft.com/office/drawing/2014/main" id="{F02ABCD2-10DF-297F-B5F5-31ED7303E3E8}"/>
              </a:ext>
            </a:extLst>
          </p:cNvPr>
          <p:cNvSpPr/>
          <p:nvPr/>
        </p:nvSpPr>
        <p:spPr>
          <a:xfrm>
            <a:off x="618493" y="6111486"/>
            <a:ext cx="1449639" cy="471023"/>
          </a:xfrm>
          <a:prstGeom prst="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algn="ctr">
              <a:buClrTx/>
              <a:buFontTx/>
              <a:buNone/>
              <a:defRPr/>
            </a:pPr>
            <a:r>
              <a:rPr lang="en-US" sz="1100" b="1">
                <a:solidFill>
                  <a:srgbClr val="36365C"/>
                </a:solidFill>
                <a:latin typeface="Segoe UI"/>
                <a:ea typeface="+mn-ea"/>
              </a:rPr>
              <a:t>Discuss with Offshore team</a:t>
            </a:r>
          </a:p>
        </p:txBody>
      </p:sp>
      <p:cxnSp>
        <p:nvCxnSpPr>
          <p:cNvPr id="98" name="Connector: Elbow 35">
            <a:extLst>
              <a:ext uri="{FF2B5EF4-FFF2-40B4-BE49-F238E27FC236}">
                <a16:creationId xmlns:a16="http://schemas.microsoft.com/office/drawing/2014/main" id="{41C4CA09-475C-1CFB-FCE3-E158500B8582}"/>
              </a:ext>
            </a:extLst>
          </p:cNvPr>
          <p:cNvCxnSpPr>
            <a:cxnSpLocks/>
            <a:stCxn id="69" idx="2"/>
            <a:endCxn id="70" idx="3"/>
          </p:cNvCxnSpPr>
          <p:nvPr/>
        </p:nvCxnSpPr>
        <p:spPr>
          <a:xfrm rot="5400000">
            <a:off x="9226383" y="1013677"/>
            <a:ext cx="170430" cy="1926208"/>
          </a:xfrm>
          <a:prstGeom prst="bentConnector2">
            <a:avLst/>
          </a:prstGeom>
          <a:noFill/>
          <a:ln w="6350" cap="flat" cmpd="sng" algn="ctr">
            <a:solidFill>
              <a:srgbClr val="36365C"/>
            </a:solidFill>
            <a:prstDash val="solid"/>
            <a:miter lim="800000"/>
            <a:tailEnd type="triangle"/>
          </a:ln>
          <a:effectLst/>
        </p:spPr>
      </p:cxnSp>
      <p:sp>
        <p:nvSpPr>
          <p:cNvPr id="99" name="Flowchart: Punched Tape 40">
            <a:extLst>
              <a:ext uri="{FF2B5EF4-FFF2-40B4-BE49-F238E27FC236}">
                <a16:creationId xmlns:a16="http://schemas.microsoft.com/office/drawing/2014/main" id="{8F9B4C0B-5286-5037-8F5C-B027F29EEDF1}"/>
              </a:ext>
            </a:extLst>
          </p:cNvPr>
          <p:cNvSpPr/>
          <p:nvPr/>
        </p:nvSpPr>
        <p:spPr>
          <a:xfrm>
            <a:off x="10648552" y="3791479"/>
            <a:ext cx="1309078" cy="532155"/>
          </a:xfrm>
          <a:prstGeom prst="flowChartPunchedTape">
            <a:avLst/>
          </a:prstGeom>
          <a:solidFill>
            <a:srgbClr val="FFFF00"/>
          </a:solidFill>
          <a:ln w="12700" cap="flat" cmpd="sng" algn="ctr">
            <a:noFill/>
            <a:prstDash val="solid"/>
            <a:miter lim="800000"/>
          </a:ln>
          <a:effectLst/>
        </p:spPr>
        <p:txBody>
          <a:bodyPr rtlCol="0" anchor="ctr"/>
          <a:lstStyle/>
          <a:p>
            <a:pPr algn="ctr">
              <a:buClrTx/>
              <a:buFontTx/>
              <a:buNone/>
              <a:defRPr/>
            </a:pPr>
            <a:r>
              <a:rPr lang="en-US" sz="1100">
                <a:solidFill>
                  <a:srgbClr val="36365C"/>
                </a:solidFill>
                <a:latin typeface="Segoe UI"/>
                <a:ea typeface="+mn-ea"/>
              </a:rPr>
              <a:t>Record OT Data</a:t>
            </a:r>
          </a:p>
        </p:txBody>
      </p:sp>
      <p:sp>
        <p:nvSpPr>
          <p:cNvPr id="100" name="Flowchart: Punched Tape 44">
            <a:extLst>
              <a:ext uri="{FF2B5EF4-FFF2-40B4-BE49-F238E27FC236}">
                <a16:creationId xmlns:a16="http://schemas.microsoft.com/office/drawing/2014/main" id="{94B84A3D-2182-18A7-E807-2AAAE9EDF83E}"/>
              </a:ext>
            </a:extLst>
          </p:cNvPr>
          <p:cNvSpPr/>
          <p:nvPr/>
        </p:nvSpPr>
        <p:spPr>
          <a:xfrm>
            <a:off x="6854842" y="4836974"/>
            <a:ext cx="1309078" cy="532155"/>
          </a:xfrm>
          <a:prstGeom prst="flowChartPunchedTape">
            <a:avLst/>
          </a:prstGeom>
          <a:solidFill>
            <a:srgbClr val="FFFF00"/>
          </a:solidFill>
          <a:ln w="12700" cap="flat" cmpd="sng" algn="ctr">
            <a:noFill/>
            <a:prstDash val="solid"/>
            <a:miter lim="800000"/>
          </a:ln>
          <a:effectLst/>
        </p:spPr>
        <p:txBody>
          <a:bodyPr rtlCol="0" anchor="ctr"/>
          <a:lstStyle/>
          <a:p>
            <a:pPr algn="ctr">
              <a:buClrTx/>
              <a:buFontTx/>
              <a:buNone/>
              <a:defRPr/>
            </a:pPr>
            <a:r>
              <a:rPr lang="en-US" sz="1100">
                <a:solidFill>
                  <a:srgbClr val="36365C"/>
                </a:solidFill>
                <a:latin typeface="Segoe UI"/>
                <a:ea typeface="+mn-ea"/>
              </a:rPr>
              <a:t>CC: DM/BrSE Leader</a:t>
            </a:r>
          </a:p>
        </p:txBody>
      </p:sp>
      <p:cxnSp>
        <p:nvCxnSpPr>
          <p:cNvPr id="101" name="Connector: Elbow 46">
            <a:extLst>
              <a:ext uri="{FF2B5EF4-FFF2-40B4-BE49-F238E27FC236}">
                <a16:creationId xmlns:a16="http://schemas.microsoft.com/office/drawing/2014/main" id="{998B3FE0-E62E-6CFE-FBAF-1B41F2EA3AC5}"/>
              </a:ext>
            </a:extLst>
          </p:cNvPr>
          <p:cNvCxnSpPr>
            <a:cxnSpLocks/>
            <a:stCxn id="91" idx="1"/>
            <a:endCxn id="97" idx="0"/>
          </p:cNvCxnSpPr>
          <p:nvPr/>
        </p:nvCxnSpPr>
        <p:spPr>
          <a:xfrm rot="10800000" flipV="1">
            <a:off x="1343314" y="4355980"/>
            <a:ext cx="320639" cy="1755505"/>
          </a:xfrm>
          <a:prstGeom prst="bentConnector2">
            <a:avLst/>
          </a:prstGeom>
          <a:noFill/>
          <a:ln w="6350" cap="flat" cmpd="sng" algn="ctr">
            <a:solidFill>
              <a:srgbClr val="36365C"/>
            </a:solidFill>
            <a:prstDash val="solid"/>
            <a:miter lim="800000"/>
            <a:tailEnd type="triangle"/>
          </a:ln>
          <a:effectLst/>
        </p:spPr>
      </p:cxnSp>
      <p:sp>
        <p:nvSpPr>
          <p:cNvPr id="102" name="Callout: Bent Line 3">
            <a:extLst>
              <a:ext uri="{FF2B5EF4-FFF2-40B4-BE49-F238E27FC236}">
                <a16:creationId xmlns:a16="http://schemas.microsoft.com/office/drawing/2014/main" id="{2280BA15-CA37-FCAE-7970-CFB2015F3687}"/>
              </a:ext>
            </a:extLst>
          </p:cNvPr>
          <p:cNvSpPr/>
          <p:nvPr/>
        </p:nvSpPr>
        <p:spPr>
          <a:xfrm>
            <a:off x="1256848" y="2587322"/>
            <a:ext cx="1652723" cy="723574"/>
          </a:xfrm>
          <a:prstGeom prst="borderCallout2">
            <a:avLst>
              <a:gd name="adj1" fmla="val -5388"/>
              <a:gd name="adj2" fmla="val 17776"/>
              <a:gd name="adj3" fmla="val -65025"/>
              <a:gd name="adj4" fmla="val 1361"/>
              <a:gd name="adj5" fmla="val -108283"/>
              <a:gd name="adj6" fmla="val 25522"/>
            </a:avLst>
          </a:prstGeom>
          <a:solidFill>
            <a:srgbClr val="FFFF00"/>
          </a:solidFill>
          <a:ln w="19050" cap="flat" cmpd="sng" algn="ctr">
            <a:solidFill>
              <a:srgbClr val="C00000"/>
            </a:solidFill>
            <a:prstDash val="solid"/>
            <a:miter lim="800000"/>
            <a:tailEnd type="oval" w="lg" len="lg"/>
          </a:ln>
          <a:effectLst/>
        </p:spPr>
        <p:txBody>
          <a:bodyPr rtlCol="0" anchor="ctr"/>
          <a:lstStyle/>
          <a:p>
            <a:pPr>
              <a:buClrTx/>
              <a:buFontTx/>
              <a:buNone/>
              <a:defRPr/>
            </a:pPr>
            <a:r>
              <a:rPr lang="en-US" sz="1100" dirty="0">
                <a:solidFill>
                  <a:srgbClr val="36365C"/>
                </a:solidFill>
                <a:latin typeface="Segoe UI"/>
                <a:ea typeface="+mn-ea"/>
              </a:rPr>
              <a:t>Except for urgent cases, the OT request needs to be requested at least 1 day</a:t>
            </a:r>
          </a:p>
        </p:txBody>
      </p:sp>
      <p:sp>
        <p:nvSpPr>
          <p:cNvPr id="103" name="Right Brace 102">
            <a:extLst>
              <a:ext uri="{FF2B5EF4-FFF2-40B4-BE49-F238E27FC236}">
                <a16:creationId xmlns:a16="http://schemas.microsoft.com/office/drawing/2014/main" id="{A77C9C84-3ED1-5E9B-B131-2472F7E92218}"/>
              </a:ext>
            </a:extLst>
          </p:cNvPr>
          <p:cNvSpPr/>
          <p:nvPr/>
        </p:nvSpPr>
        <p:spPr>
          <a:xfrm>
            <a:off x="1052454" y="1175771"/>
            <a:ext cx="392326" cy="1092577"/>
          </a:xfrm>
          <a:prstGeom prst="rightBrace">
            <a:avLst/>
          </a:prstGeom>
          <a:noFill/>
          <a:ln w="19050" cap="flat" cmpd="sng" algn="ctr">
            <a:solidFill>
              <a:srgbClr val="5B9BD5">
                <a:shade val="95000"/>
                <a:satMod val="105000"/>
              </a:srgbClr>
            </a:solid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GB" sz="1800" b="0" i="0" u="none" strike="noStrike" kern="0" cap="none" spc="0" normalizeH="0" baseline="0" noProof="0">
              <a:ln>
                <a:noFill/>
              </a:ln>
              <a:solidFill>
                <a:sysClr val="windowText" lastClr="000000"/>
              </a:solidFill>
              <a:effectLst/>
              <a:uLnTx/>
              <a:uFillTx/>
              <a:ea typeface="+mn-ea"/>
              <a:cs typeface="+mn-cs"/>
            </a:endParaRPr>
          </a:p>
        </p:txBody>
      </p:sp>
      <p:sp>
        <p:nvSpPr>
          <p:cNvPr id="104" name="Rectangle 103">
            <a:extLst>
              <a:ext uri="{FF2B5EF4-FFF2-40B4-BE49-F238E27FC236}">
                <a16:creationId xmlns:a16="http://schemas.microsoft.com/office/drawing/2014/main" id="{D9ED317F-854D-F4B1-B34F-4A9145E37D30}"/>
              </a:ext>
            </a:extLst>
          </p:cNvPr>
          <p:cNvSpPr/>
          <p:nvPr/>
        </p:nvSpPr>
        <p:spPr>
          <a:xfrm>
            <a:off x="-7542" y="1034417"/>
            <a:ext cx="1350856" cy="1412338"/>
          </a:xfrm>
          <a:prstGeom prst="rect">
            <a:avLst/>
          </a:prstGeom>
          <a:noFill/>
          <a:ln w="25400" cap="flat" cmpd="sng" algn="ctr">
            <a:noFill/>
            <a:prstDash val="solid"/>
          </a:ln>
          <a:effectLst/>
        </p:spPr>
        <p:txBody>
          <a:bodyPr rtlCol="0" anchor="ctr"/>
          <a:lstStyle/>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000"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mn-cs"/>
              </a:rPr>
              <a:t>Request OT with additional fee</a:t>
            </a:r>
          </a:p>
          <a:p>
            <a:pPr marL="171450" marR="0" lvl="0" indent="-171450" defTabSz="914400" eaLnBrk="1" fontAlgn="auto" latinLnBrk="0" hangingPunct="1">
              <a:lnSpc>
                <a:spcPct val="100000"/>
              </a:lnSpc>
              <a:spcBef>
                <a:spcPts val="0"/>
              </a:spcBef>
              <a:spcAft>
                <a:spcPts val="0"/>
              </a:spcAft>
              <a:buClrTx/>
              <a:buSzTx/>
              <a:buFont typeface="Wingdings" panose="05000000000000000000" pitchFamily="2" charset="2"/>
              <a:buChar char="§"/>
              <a:tabLst/>
              <a:defRPr/>
            </a:pPr>
            <a:r>
              <a:rPr kumimoji="0" lang="vi-VN" sz="1000"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mn-cs"/>
              </a:rPr>
              <a:t>Request OT by updated working time agreed by all parties (</a:t>
            </a:r>
            <a:r>
              <a:rPr kumimoji="0" lang="en-US" sz="1000"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mn-cs"/>
              </a:rPr>
              <a:t>no </a:t>
            </a:r>
            <a:r>
              <a:rPr kumimoji="0" lang="vi-VN" altLang="ko-KR" sz="1000" b="0" i="0" u="none" strike="noStrike" kern="0" cap="none" spc="0" normalizeH="0" baseline="0" noProof="0" dirty="0">
                <a:ln>
                  <a:noFill/>
                </a:ln>
                <a:solidFill>
                  <a:sysClr val="windowText" lastClr="000000"/>
                </a:solidFill>
                <a:effectLst/>
                <a:uLnTx/>
                <a:uFillTx/>
                <a:latin typeface="Arial" panose="020B0604020202020204" pitchFamily="34" charset="0"/>
                <a:ea typeface="+mn-ea"/>
                <a:cs typeface="+mn-cs"/>
              </a:rPr>
              <a:t>additional fee)</a:t>
            </a:r>
            <a:endParaRPr kumimoji="0" lang="en-GB" sz="1000" b="0" i="0" u="none" strike="noStrike" kern="0" cap="none" spc="0" normalizeH="0" baseline="0" noProof="0" dirty="0">
              <a:ln>
                <a:noFill/>
              </a:ln>
              <a:solidFill>
                <a:sysClr val="windowText" lastClr="000000"/>
              </a:solidFill>
              <a:effectLst/>
              <a:uLnTx/>
              <a:uFillTx/>
              <a:ea typeface="+mn-ea"/>
              <a:cs typeface="+mn-cs"/>
            </a:endParaRPr>
          </a:p>
        </p:txBody>
      </p:sp>
    </p:spTree>
    <p:extLst>
      <p:ext uri="{BB962C8B-B14F-4D97-AF65-F5344CB8AC3E}">
        <p14:creationId xmlns:p14="http://schemas.microsoft.com/office/powerpoint/2010/main" val="252563727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25</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11571625" cy="584775"/>
            <a:chOff x="479425" y="461520"/>
            <a:chExt cx="11571625"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3" y="461520"/>
              <a:ext cx="11514787"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13. Standard Process </a:t>
              </a:r>
              <a:r>
                <a:rPr lang="en-US" sz="2400" b="1" dirty="0">
                  <a:solidFill>
                    <a:srgbClr val="212967"/>
                  </a:solidFill>
                  <a:latin typeface="Segoe UI" panose="020B0502040204020203" pitchFamily="34" charset="0"/>
                  <a:cs typeface="Segoe UI" panose="020B0502040204020203" pitchFamily="34" charset="0"/>
                </a:rPr>
                <a:t>- Replacement Process (From FPT)</a:t>
              </a:r>
            </a:p>
          </p:txBody>
        </p:sp>
      </p:grpSp>
      <p:sp>
        <p:nvSpPr>
          <p:cNvPr id="94" name="TextBox 93">
            <a:extLst>
              <a:ext uri="{FF2B5EF4-FFF2-40B4-BE49-F238E27FC236}">
                <a16:creationId xmlns:a16="http://schemas.microsoft.com/office/drawing/2014/main" id="{D352F6C0-5F78-5739-F24A-E7E693608159}"/>
              </a:ext>
            </a:extLst>
          </p:cNvPr>
          <p:cNvSpPr txBox="1"/>
          <p:nvPr/>
        </p:nvSpPr>
        <p:spPr>
          <a:xfrm>
            <a:off x="479425" y="2265325"/>
            <a:ext cx="6282266" cy="369332"/>
          </a:xfrm>
          <a:prstGeom prst="rect">
            <a:avLst/>
          </a:prstGeom>
          <a:noFill/>
        </p:spPr>
        <p:txBody>
          <a:bodyPr wrap="square">
            <a:spAutoFit/>
          </a:bodyPr>
          <a:lstStyle/>
          <a:p>
            <a:pPr>
              <a:buClrTx/>
              <a:buFontTx/>
              <a:buNone/>
            </a:pPr>
            <a:r>
              <a:rPr lang="en-US" sz="1800" b="1" kern="1200" dirty="0">
                <a:solidFill>
                  <a:srgbClr val="FF0000"/>
                </a:solidFill>
                <a:latin typeface="Segoe UI"/>
                <a:ea typeface="+mn-ea"/>
                <a:cs typeface="+mn-cs"/>
              </a:rPr>
              <a:t>Resignation</a:t>
            </a:r>
            <a:endParaRPr lang="en-VN" sz="1800" b="1" kern="1200" dirty="0">
              <a:solidFill>
                <a:srgbClr val="FF0000"/>
              </a:solidFill>
              <a:latin typeface="Segoe UI"/>
              <a:ea typeface="+mn-ea"/>
              <a:cs typeface="+mn-cs"/>
            </a:endParaRPr>
          </a:p>
        </p:txBody>
      </p:sp>
      <p:cxnSp>
        <p:nvCxnSpPr>
          <p:cNvPr id="12" name="Straight Connector 11">
            <a:extLst>
              <a:ext uri="{FF2B5EF4-FFF2-40B4-BE49-F238E27FC236}">
                <a16:creationId xmlns:a16="http://schemas.microsoft.com/office/drawing/2014/main" id="{896B32D4-7E11-B88F-83FC-0A8C9C52C9AB}"/>
              </a:ext>
            </a:extLst>
          </p:cNvPr>
          <p:cNvCxnSpPr>
            <a:cxnSpLocks/>
          </p:cNvCxnSpPr>
          <p:nvPr/>
        </p:nvCxnSpPr>
        <p:spPr>
          <a:xfrm flipV="1">
            <a:off x="6800642" y="1080683"/>
            <a:ext cx="23145" cy="5762865"/>
          </a:xfrm>
          <a:prstGeom prst="line">
            <a:avLst/>
          </a:prstGeom>
          <a:noFill/>
          <a:ln w="25400" cap="flat" cmpd="sng" algn="ctr">
            <a:solidFill>
              <a:srgbClr val="33B2C1"/>
            </a:solidFill>
            <a:prstDash val="sysDot"/>
            <a:miter lim="800000"/>
          </a:ln>
          <a:effectLst/>
        </p:spPr>
      </p:cxnSp>
      <p:cxnSp>
        <p:nvCxnSpPr>
          <p:cNvPr id="13" name="Straight Connector 12">
            <a:extLst>
              <a:ext uri="{FF2B5EF4-FFF2-40B4-BE49-F238E27FC236}">
                <a16:creationId xmlns:a16="http://schemas.microsoft.com/office/drawing/2014/main" id="{800714BD-6C7B-ABF5-9900-73D844D1CD95}"/>
              </a:ext>
            </a:extLst>
          </p:cNvPr>
          <p:cNvCxnSpPr>
            <a:cxnSpLocks/>
          </p:cNvCxnSpPr>
          <p:nvPr/>
        </p:nvCxnSpPr>
        <p:spPr>
          <a:xfrm flipV="1">
            <a:off x="2760528" y="1117582"/>
            <a:ext cx="23145" cy="5762865"/>
          </a:xfrm>
          <a:prstGeom prst="line">
            <a:avLst/>
          </a:prstGeom>
          <a:noFill/>
          <a:ln w="25400" cap="flat" cmpd="sng" algn="ctr">
            <a:solidFill>
              <a:srgbClr val="33B2C1"/>
            </a:solidFill>
            <a:prstDash val="sysDot"/>
            <a:miter lim="800000"/>
          </a:ln>
          <a:effectLst/>
        </p:spPr>
      </p:cxnSp>
      <p:cxnSp>
        <p:nvCxnSpPr>
          <p:cNvPr id="14" name="Straight Connector 13">
            <a:extLst>
              <a:ext uri="{FF2B5EF4-FFF2-40B4-BE49-F238E27FC236}">
                <a16:creationId xmlns:a16="http://schemas.microsoft.com/office/drawing/2014/main" id="{8BF57DFB-AE51-FD1D-3F63-2E5BC37ADE5E}"/>
              </a:ext>
            </a:extLst>
          </p:cNvPr>
          <p:cNvCxnSpPr>
            <a:cxnSpLocks/>
          </p:cNvCxnSpPr>
          <p:nvPr/>
        </p:nvCxnSpPr>
        <p:spPr>
          <a:xfrm flipV="1">
            <a:off x="4742598" y="1072059"/>
            <a:ext cx="23145" cy="5762865"/>
          </a:xfrm>
          <a:prstGeom prst="line">
            <a:avLst/>
          </a:prstGeom>
          <a:noFill/>
          <a:ln w="25400" cap="flat" cmpd="sng" algn="ctr">
            <a:solidFill>
              <a:srgbClr val="33B2C1"/>
            </a:solidFill>
            <a:prstDash val="sysDot"/>
            <a:miter lim="800000"/>
          </a:ln>
          <a:effectLst/>
        </p:spPr>
      </p:cxnSp>
      <p:sp>
        <p:nvSpPr>
          <p:cNvPr id="15" name="Rectangle 14">
            <a:extLst>
              <a:ext uri="{FF2B5EF4-FFF2-40B4-BE49-F238E27FC236}">
                <a16:creationId xmlns:a16="http://schemas.microsoft.com/office/drawing/2014/main" id="{AE59A03C-8019-D415-8BEC-F4624CDB829C}"/>
              </a:ext>
            </a:extLst>
          </p:cNvPr>
          <p:cNvSpPr/>
          <p:nvPr/>
        </p:nvSpPr>
        <p:spPr>
          <a:xfrm>
            <a:off x="4938693" y="1139258"/>
            <a:ext cx="1664547"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FPT DM/BrSE Leader</a:t>
            </a:r>
          </a:p>
        </p:txBody>
      </p:sp>
      <p:sp>
        <p:nvSpPr>
          <p:cNvPr id="16" name="Rectangle 15">
            <a:extLst>
              <a:ext uri="{FF2B5EF4-FFF2-40B4-BE49-F238E27FC236}">
                <a16:creationId xmlns:a16="http://schemas.microsoft.com/office/drawing/2014/main" id="{4BC6DEB1-CC6D-00BD-CA82-EE31B1957572}"/>
              </a:ext>
            </a:extLst>
          </p:cNvPr>
          <p:cNvSpPr/>
          <p:nvPr/>
        </p:nvSpPr>
        <p:spPr>
          <a:xfrm>
            <a:off x="7056061" y="1139258"/>
            <a:ext cx="1358068"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Offshore PM </a:t>
            </a:r>
          </a:p>
        </p:txBody>
      </p:sp>
      <p:sp>
        <p:nvSpPr>
          <p:cNvPr id="17" name="Rectangle 16">
            <a:extLst>
              <a:ext uri="{FF2B5EF4-FFF2-40B4-BE49-F238E27FC236}">
                <a16:creationId xmlns:a16="http://schemas.microsoft.com/office/drawing/2014/main" id="{DA91D373-B4BA-2E9A-5693-E494E871C347}"/>
              </a:ext>
            </a:extLst>
          </p:cNvPr>
          <p:cNvSpPr/>
          <p:nvPr/>
        </p:nvSpPr>
        <p:spPr>
          <a:xfrm>
            <a:off x="7056062" y="2238480"/>
            <a:ext cx="1334924" cy="480108"/>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Create  Handover Plan + Propose New Candidate</a:t>
            </a:r>
          </a:p>
        </p:txBody>
      </p:sp>
      <p:sp>
        <p:nvSpPr>
          <p:cNvPr id="18" name="Rectangle 17">
            <a:extLst>
              <a:ext uri="{FF2B5EF4-FFF2-40B4-BE49-F238E27FC236}">
                <a16:creationId xmlns:a16="http://schemas.microsoft.com/office/drawing/2014/main" id="{E3C5AEDF-A784-437C-96F0-776DFC3A5226}"/>
              </a:ext>
            </a:extLst>
          </p:cNvPr>
          <p:cNvSpPr/>
          <p:nvPr/>
        </p:nvSpPr>
        <p:spPr>
          <a:xfrm>
            <a:off x="1079699" y="1120180"/>
            <a:ext cx="1474383" cy="373222"/>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800" b="1" dirty="0">
                <a:solidFill>
                  <a:prstClr val="white"/>
                </a:solidFill>
                <a:latin typeface="Segoe UI"/>
                <a:ea typeface="+mn-ea"/>
              </a:rPr>
              <a:t>GDC Governance Team</a:t>
            </a:r>
          </a:p>
          <a:p>
            <a:pPr algn="ctr">
              <a:buClrTx/>
              <a:buFontTx/>
              <a:buNone/>
              <a:defRPr/>
            </a:pPr>
            <a:r>
              <a:rPr lang="en-US" sz="800" b="1" dirty="0">
                <a:solidFill>
                  <a:prstClr val="white"/>
                </a:solidFill>
                <a:latin typeface="Segoe UI"/>
                <a:ea typeface="+mn-ea"/>
              </a:rPr>
              <a:t>GDC leader of each divisions</a:t>
            </a:r>
          </a:p>
        </p:txBody>
      </p:sp>
      <p:sp>
        <p:nvSpPr>
          <p:cNvPr id="19" name="Diamond 18">
            <a:extLst>
              <a:ext uri="{FF2B5EF4-FFF2-40B4-BE49-F238E27FC236}">
                <a16:creationId xmlns:a16="http://schemas.microsoft.com/office/drawing/2014/main" id="{516B8E54-F6D2-0D65-C6A8-50EAFD156B9A}"/>
              </a:ext>
            </a:extLst>
          </p:cNvPr>
          <p:cNvSpPr/>
          <p:nvPr/>
        </p:nvSpPr>
        <p:spPr>
          <a:xfrm>
            <a:off x="4899520" y="3620539"/>
            <a:ext cx="1766573" cy="649002"/>
          </a:xfrm>
          <a:prstGeom prst="diamond">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Approve</a:t>
            </a:r>
          </a:p>
        </p:txBody>
      </p:sp>
      <p:sp>
        <p:nvSpPr>
          <p:cNvPr id="20" name="Rectangle 19">
            <a:extLst>
              <a:ext uri="{FF2B5EF4-FFF2-40B4-BE49-F238E27FC236}">
                <a16:creationId xmlns:a16="http://schemas.microsoft.com/office/drawing/2014/main" id="{131393DA-6571-1668-6F7D-74F4C8EDA8FA}"/>
              </a:ext>
            </a:extLst>
          </p:cNvPr>
          <p:cNvSpPr/>
          <p:nvPr/>
        </p:nvSpPr>
        <p:spPr>
          <a:xfrm>
            <a:off x="7019960" y="3737314"/>
            <a:ext cx="1394170" cy="412704"/>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Update</a:t>
            </a:r>
          </a:p>
        </p:txBody>
      </p:sp>
      <p:cxnSp>
        <p:nvCxnSpPr>
          <p:cNvPr id="21" name="Straight Arrow Connector 20">
            <a:extLst>
              <a:ext uri="{FF2B5EF4-FFF2-40B4-BE49-F238E27FC236}">
                <a16:creationId xmlns:a16="http://schemas.microsoft.com/office/drawing/2014/main" id="{4AA2FF76-60E6-A549-7F64-3FF0C2DED8F2}"/>
              </a:ext>
            </a:extLst>
          </p:cNvPr>
          <p:cNvCxnSpPr>
            <a:cxnSpLocks/>
            <a:stCxn id="19" idx="3"/>
            <a:endCxn id="20" idx="1"/>
          </p:cNvCxnSpPr>
          <p:nvPr/>
        </p:nvCxnSpPr>
        <p:spPr>
          <a:xfrm flipV="1">
            <a:off x="6666093" y="3943666"/>
            <a:ext cx="353867" cy="1374"/>
          </a:xfrm>
          <a:prstGeom prst="straightConnector1">
            <a:avLst/>
          </a:prstGeom>
          <a:noFill/>
          <a:ln w="6350" cap="flat" cmpd="sng" algn="ctr">
            <a:solidFill>
              <a:srgbClr val="36365C"/>
            </a:solidFill>
            <a:prstDash val="solid"/>
            <a:miter lim="800000"/>
            <a:tailEnd type="triangle"/>
          </a:ln>
          <a:effectLst/>
        </p:spPr>
      </p:cxnSp>
      <p:sp>
        <p:nvSpPr>
          <p:cNvPr id="22" name="TextBox 21">
            <a:extLst>
              <a:ext uri="{FF2B5EF4-FFF2-40B4-BE49-F238E27FC236}">
                <a16:creationId xmlns:a16="http://schemas.microsoft.com/office/drawing/2014/main" id="{CC10892E-FE6A-34F5-0D86-6AD58A2ACB1C}"/>
              </a:ext>
            </a:extLst>
          </p:cNvPr>
          <p:cNvSpPr txBox="1"/>
          <p:nvPr/>
        </p:nvSpPr>
        <p:spPr>
          <a:xfrm>
            <a:off x="6518060" y="3631827"/>
            <a:ext cx="734733" cy="261610"/>
          </a:xfrm>
          <a:prstGeom prst="rect">
            <a:avLst/>
          </a:prstGeom>
          <a:noFill/>
        </p:spPr>
        <p:txBody>
          <a:bodyPr wrap="square" rtlCol="0">
            <a:spAutoFit/>
          </a:bodyPr>
          <a:lstStyle/>
          <a:p>
            <a:pPr>
              <a:buClrTx/>
              <a:buFontTx/>
              <a:buNone/>
              <a:defRPr/>
            </a:pPr>
            <a:r>
              <a:rPr lang="en-US" sz="1100">
                <a:solidFill>
                  <a:srgbClr val="034EA2"/>
                </a:solidFill>
                <a:latin typeface="Segoe UI"/>
                <a:ea typeface="+mn-ea"/>
              </a:rPr>
              <a:t>No</a:t>
            </a:r>
          </a:p>
        </p:txBody>
      </p:sp>
      <p:sp>
        <p:nvSpPr>
          <p:cNvPr id="23" name="TextBox 22">
            <a:extLst>
              <a:ext uri="{FF2B5EF4-FFF2-40B4-BE49-F238E27FC236}">
                <a16:creationId xmlns:a16="http://schemas.microsoft.com/office/drawing/2014/main" id="{155A03FE-CEE4-5CC9-1797-74488F17D4F6}"/>
              </a:ext>
            </a:extLst>
          </p:cNvPr>
          <p:cNvSpPr txBox="1"/>
          <p:nvPr/>
        </p:nvSpPr>
        <p:spPr>
          <a:xfrm>
            <a:off x="4271008" y="3711980"/>
            <a:ext cx="734733" cy="261610"/>
          </a:xfrm>
          <a:prstGeom prst="rect">
            <a:avLst/>
          </a:prstGeom>
          <a:noFill/>
        </p:spPr>
        <p:txBody>
          <a:bodyPr wrap="square" rtlCol="0">
            <a:spAutoFit/>
          </a:bodyPr>
          <a:lstStyle/>
          <a:p>
            <a:pPr>
              <a:buClrTx/>
              <a:buFontTx/>
              <a:buNone/>
              <a:defRPr/>
            </a:pPr>
            <a:r>
              <a:rPr lang="en-US" sz="1100">
                <a:solidFill>
                  <a:srgbClr val="034EA2"/>
                </a:solidFill>
                <a:latin typeface="Segoe UI"/>
                <a:ea typeface="+mn-ea"/>
              </a:rPr>
              <a:t>Yes</a:t>
            </a:r>
          </a:p>
        </p:txBody>
      </p:sp>
      <p:cxnSp>
        <p:nvCxnSpPr>
          <p:cNvPr id="24" name="Connector: Elbow 14">
            <a:extLst>
              <a:ext uri="{FF2B5EF4-FFF2-40B4-BE49-F238E27FC236}">
                <a16:creationId xmlns:a16="http://schemas.microsoft.com/office/drawing/2014/main" id="{2EA565CC-1721-FBC9-8DDD-B462EDDFAC9D}"/>
              </a:ext>
            </a:extLst>
          </p:cNvPr>
          <p:cNvCxnSpPr>
            <a:cxnSpLocks/>
            <a:stCxn id="32" idx="3"/>
            <a:endCxn id="20" idx="2"/>
          </p:cNvCxnSpPr>
          <p:nvPr/>
        </p:nvCxnSpPr>
        <p:spPr>
          <a:xfrm flipV="1">
            <a:off x="4646290" y="4150018"/>
            <a:ext cx="3070755" cy="1084919"/>
          </a:xfrm>
          <a:prstGeom prst="bentConnector2">
            <a:avLst/>
          </a:prstGeom>
          <a:noFill/>
          <a:ln w="6350" cap="flat" cmpd="sng" algn="ctr">
            <a:solidFill>
              <a:srgbClr val="36365C"/>
            </a:solidFill>
            <a:prstDash val="solid"/>
            <a:miter lim="800000"/>
            <a:tailEnd type="triangle"/>
          </a:ln>
          <a:effectLst/>
        </p:spPr>
      </p:cxnSp>
      <p:sp>
        <p:nvSpPr>
          <p:cNvPr id="25" name="Rectangle 24">
            <a:extLst>
              <a:ext uri="{FF2B5EF4-FFF2-40B4-BE49-F238E27FC236}">
                <a16:creationId xmlns:a16="http://schemas.microsoft.com/office/drawing/2014/main" id="{68CEFB45-0980-5879-A50C-73B34E8F016D}"/>
              </a:ext>
            </a:extLst>
          </p:cNvPr>
          <p:cNvSpPr/>
          <p:nvPr/>
        </p:nvSpPr>
        <p:spPr>
          <a:xfrm>
            <a:off x="8728805" y="1133900"/>
            <a:ext cx="1176916" cy="374521"/>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New Member</a:t>
            </a:r>
          </a:p>
        </p:txBody>
      </p:sp>
      <p:sp>
        <p:nvSpPr>
          <p:cNvPr id="26" name="Rectangle 25">
            <a:extLst>
              <a:ext uri="{FF2B5EF4-FFF2-40B4-BE49-F238E27FC236}">
                <a16:creationId xmlns:a16="http://schemas.microsoft.com/office/drawing/2014/main" id="{458933C5-BD22-D7F3-BDC5-13CEAAFFE89C}"/>
              </a:ext>
            </a:extLst>
          </p:cNvPr>
          <p:cNvSpPr/>
          <p:nvPr/>
        </p:nvSpPr>
        <p:spPr>
          <a:xfrm>
            <a:off x="10198949" y="1139258"/>
            <a:ext cx="1176916" cy="374521"/>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Old Member</a:t>
            </a:r>
          </a:p>
        </p:txBody>
      </p:sp>
      <p:sp>
        <p:nvSpPr>
          <p:cNvPr id="27" name="Rectangle 26">
            <a:extLst>
              <a:ext uri="{FF2B5EF4-FFF2-40B4-BE49-F238E27FC236}">
                <a16:creationId xmlns:a16="http://schemas.microsoft.com/office/drawing/2014/main" id="{7EA4DEE9-0BEE-5FCB-0031-38413A2C98F0}"/>
              </a:ext>
            </a:extLst>
          </p:cNvPr>
          <p:cNvSpPr/>
          <p:nvPr/>
        </p:nvSpPr>
        <p:spPr>
          <a:xfrm>
            <a:off x="3131159" y="1140557"/>
            <a:ext cx="1474383" cy="373222"/>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LGCNS PM</a:t>
            </a:r>
          </a:p>
        </p:txBody>
      </p:sp>
      <p:sp>
        <p:nvSpPr>
          <p:cNvPr id="28" name="Rectangle 27">
            <a:extLst>
              <a:ext uri="{FF2B5EF4-FFF2-40B4-BE49-F238E27FC236}">
                <a16:creationId xmlns:a16="http://schemas.microsoft.com/office/drawing/2014/main" id="{3535B2AB-6704-3744-2158-AF53D086F554}"/>
              </a:ext>
            </a:extLst>
          </p:cNvPr>
          <p:cNvSpPr/>
          <p:nvPr/>
        </p:nvSpPr>
        <p:spPr>
          <a:xfrm>
            <a:off x="5102292" y="3040520"/>
            <a:ext cx="1334924" cy="360260"/>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Review</a:t>
            </a:r>
          </a:p>
        </p:txBody>
      </p:sp>
      <p:cxnSp>
        <p:nvCxnSpPr>
          <p:cNvPr id="29" name="Straight Arrow Connector 28">
            <a:extLst>
              <a:ext uri="{FF2B5EF4-FFF2-40B4-BE49-F238E27FC236}">
                <a16:creationId xmlns:a16="http://schemas.microsoft.com/office/drawing/2014/main" id="{213F11B3-5E95-4A59-193C-C469CE642E84}"/>
              </a:ext>
            </a:extLst>
          </p:cNvPr>
          <p:cNvCxnSpPr>
            <a:cxnSpLocks/>
            <a:stCxn id="28" idx="2"/>
            <a:endCxn id="19" idx="0"/>
          </p:cNvCxnSpPr>
          <p:nvPr/>
        </p:nvCxnSpPr>
        <p:spPr>
          <a:xfrm>
            <a:off x="5769754" y="3400780"/>
            <a:ext cx="13053" cy="219759"/>
          </a:xfrm>
          <a:prstGeom prst="straightConnector1">
            <a:avLst/>
          </a:prstGeom>
          <a:noFill/>
          <a:ln w="6350" cap="flat" cmpd="sng" algn="ctr">
            <a:solidFill>
              <a:srgbClr val="36365C"/>
            </a:solidFill>
            <a:prstDash val="solid"/>
            <a:miter lim="800000"/>
            <a:tailEnd type="triangle"/>
          </a:ln>
          <a:effectLst/>
        </p:spPr>
      </p:cxnSp>
      <p:cxnSp>
        <p:nvCxnSpPr>
          <p:cNvPr id="30" name="Connector: Elbow 20">
            <a:extLst>
              <a:ext uri="{FF2B5EF4-FFF2-40B4-BE49-F238E27FC236}">
                <a16:creationId xmlns:a16="http://schemas.microsoft.com/office/drawing/2014/main" id="{5C45CA74-206E-C88E-7895-19466CC3174D}"/>
              </a:ext>
            </a:extLst>
          </p:cNvPr>
          <p:cNvCxnSpPr>
            <a:cxnSpLocks/>
            <a:stCxn id="20" idx="0"/>
            <a:endCxn id="28" idx="3"/>
          </p:cNvCxnSpPr>
          <p:nvPr/>
        </p:nvCxnSpPr>
        <p:spPr>
          <a:xfrm rot="16200000" flipV="1">
            <a:off x="6818799" y="2839067"/>
            <a:ext cx="516664" cy="1279829"/>
          </a:xfrm>
          <a:prstGeom prst="bentConnector2">
            <a:avLst/>
          </a:prstGeom>
          <a:noFill/>
          <a:ln w="6350" cap="flat" cmpd="sng" algn="ctr">
            <a:solidFill>
              <a:srgbClr val="36365C"/>
            </a:solidFill>
            <a:prstDash val="solid"/>
            <a:miter lim="800000"/>
            <a:tailEnd type="triangle"/>
          </a:ln>
          <a:effectLst/>
        </p:spPr>
      </p:cxnSp>
      <p:cxnSp>
        <p:nvCxnSpPr>
          <p:cNvPr id="31" name="Connector: Elbow 21">
            <a:extLst>
              <a:ext uri="{FF2B5EF4-FFF2-40B4-BE49-F238E27FC236}">
                <a16:creationId xmlns:a16="http://schemas.microsoft.com/office/drawing/2014/main" id="{11241317-BA68-026D-D841-B00C46307B3C}"/>
              </a:ext>
            </a:extLst>
          </p:cNvPr>
          <p:cNvCxnSpPr>
            <a:cxnSpLocks/>
            <a:stCxn id="17" idx="2"/>
            <a:endCxn id="28" idx="0"/>
          </p:cNvCxnSpPr>
          <p:nvPr/>
        </p:nvCxnSpPr>
        <p:spPr>
          <a:xfrm rot="5400000">
            <a:off x="6585673" y="1902669"/>
            <a:ext cx="321932" cy="1953770"/>
          </a:xfrm>
          <a:prstGeom prst="bentConnector3">
            <a:avLst>
              <a:gd name="adj1" fmla="val 50000"/>
            </a:avLst>
          </a:prstGeom>
          <a:noFill/>
          <a:ln w="6350" cap="flat" cmpd="sng" algn="ctr">
            <a:solidFill>
              <a:srgbClr val="36365C"/>
            </a:solidFill>
            <a:prstDash val="solid"/>
            <a:miter lim="800000"/>
            <a:tailEnd type="triangle"/>
          </a:ln>
          <a:effectLst/>
        </p:spPr>
      </p:cxnSp>
      <p:sp>
        <p:nvSpPr>
          <p:cNvPr id="32" name="Diamond 31">
            <a:extLst>
              <a:ext uri="{FF2B5EF4-FFF2-40B4-BE49-F238E27FC236}">
                <a16:creationId xmlns:a16="http://schemas.microsoft.com/office/drawing/2014/main" id="{F0463086-3291-F754-A44C-6E8198A964BD}"/>
              </a:ext>
            </a:extLst>
          </p:cNvPr>
          <p:cNvSpPr/>
          <p:nvPr/>
        </p:nvSpPr>
        <p:spPr>
          <a:xfrm>
            <a:off x="2879717" y="4910436"/>
            <a:ext cx="1766573" cy="649002"/>
          </a:xfrm>
          <a:prstGeom prst="diamond">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Approve</a:t>
            </a:r>
          </a:p>
        </p:txBody>
      </p:sp>
      <p:sp>
        <p:nvSpPr>
          <p:cNvPr id="33" name="TextBox 32">
            <a:extLst>
              <a:ext uri="{FF2B5EF4-FFF2-40B4-BE49-F238E27FC236}">
                <a16:creationId xmlns:a16="http://schemas.microsoft.com/office/drawing/2014/main" id="{9B412F4B-2B8A-9777-A446-DACAB7106851}"/>
              </a:ext>
            </a:extLst>
          </p:cNvPr>
          <p:cNvSpPr txBox="1"/>
          <p:nvPr/>
        </p:nvSpPr>
        <p:spPr>
          <a:xfrm>
            <a:off x="4353199" y="4909000"/>
            <a:ext cx="734733" cy="261610"/>
          </a:xfrm>
          <a:prstGeom prst="rect">
            <a:avLst/>
          </a:prstGeom>
          <a:noFill/>
        </p:spPr>
        <p:txBody>
          <a:bodyPr wrap="square" rtlCol="0">
            <a:spAutoFit/>
          </a:bodyPr>
          <a:lstStyle/>
          <a:p>
            <a:pPr>
              <a:buClrTx/>
              <a:buFontTx/>
              <a:buNone/>
              <a:defRPr/>
            </a:pPr>
            <a:r>
              <a:rPr lang="en-US" sz="1100" dirty="0">
                <a:solidFill>
                  <a:srgbClr val="034EA2"/>
                </a:solidFill>
                <a:latin typeface="Segoe UI"/>
                <a:ea typeface="+mn-ea"/>
              </a:rPr>
              <a:t>No</a:t>
            </a:r>
          </a:p>
        </p:txBody>
      </p:sp>
      <p:cxnSp>
        <p:nvCxnSpPr>
          <p:cNvPr id="34" name="Connector: Elbow 24">
            <a:extLst>
              <a:ext uri="{FF2B5EF4-FFF2-40B4-BE49-F238E27FC236}">
                <a16:creationId xmlns:a16="http://schemas.microsoft.com/office/drawing/2014/main" id="{555617B6-1B0D-BD6E-BF77-CFDD1CD2AE40}"/>
              </a:ext>
            </a:extLst>
          </p:cNvPr>
          <p:cNvCxnSpPr>
            <a:cxnSpLocks/>
            <a:stCxn id="19" idx="1"/>
            <a:endCxn id="43" idx="0"/>
          </p:cNvCxnSpPr>
          <p:nvPr/>
        </p:nvCxnSpPr>
        <p:spPr>
          <a:xfrm rot="10800000" flipV="1">
            <a:off x="3755810" y="3945040"/>
            <a:ext cx="1143711" cy="309908"/>
          </a:xfrm>
          <a:prstGeom prst="bentConnector2">
            <a:avLst/>
          </a:prstGeom>
          <a:noFill/>
          <a:ln w="6350" cap="flat" cmpd="sng" algn="ctr">
            <a:solidFill>
              <a:srgbClr val="36365C"/>
            </a:solidFill>
            <a:prstDash val="solid"/>
            <a:miter lim="800000"/>
            <a:tailEnd type="triangle"/>
          </a:ln>
          <a:effectLst/>
        </p:spPr>
      </p:cxnSp>
      <p:cxnSp>
        <p:nvCxnSpPr>
          <p:cNvPr id="35" name="Straight Connector 34">
            <a:extLst>
              <a:ext uri="{FF2B5EF4-FFF2-40B4-BE49-F238E27FC236}">
                <a16:creationId xmlns:a16="http://schemas.microsoft.com/office/drawing/2014/main" id="{319E50EC-3A94-6853-5385-F57006D13F5B}"/>
              </a:ext>
            </a:extLst>
          </p:cNvPr>
          <p:cNvCxnSpPr>
            <a:cxnSpLocks/>
          </p:cNvCxnSpPr>
          <p:nvPr/>
        </p:nvCxnSpPr>
        <p:spPr>
          <a:xfrm flipV="1">
            <a:off x="8537635" y="1096044"/>
            <a:ext cx="23145" cy="5762865"/>
          </a:xfrm>
          <a:prstGeom prst="line">
            <a:avLst/>
          </a:prstGeom>
          <a:noFill/>
          <a:ln w="25400" cap="flat" cmpd="sng" algn="ctr">
            <a:solidFill>
              <a:srgbClr val="33B2C1"/>
            </a:solidFill>
            <a:prstDash val="sysDot"/>
            <a:miter lim="800000"/>
          </a:ln>
          <a:effectLst/>
        </p:spPr>
      </p:cxnSp>
      <p:cxnSp>
        <p:nvCxnSpPr>
          <p:cNvPr id="36" name="Straight Connector 35">
            <a:extLst>
              <a:ext uri="{FF2B5EF4-FFF2-40B4-BE49-F238E27FC236}">
                <a16:creationId xmlns:a16="http://schemas.microsoft.com/office/drawing/2014/main" id="{793F147F-5F5D-C800-CECF-8DFD2921B31D}"/>
              </a:ext>
            </a:extLst>
          </p:cNvPr>
          <p:cNvCxnSpPr>
            <a:cxnSpLocks/>
          </p:cNvCxnSpPr>
          <p:nvPr/>
        </p:nvCxnSpPr>
        <p:spPr>
          <a:xfrm flipV="1">
            <a:off x="10054350" y="1072059"/>
            <a:ext cx="23145" cy="5762865"/>
          </a:xfrm>
          <a:prstGeom prst="line">
            <a:avLst/>
          </a:prstGeom>
          <a:noFill/>
          <a:ln w="25400" cap="flat" cmpd="sng" algn="ctr">
            <a:solidFill>
              <a:srgbClr val="33B2C1"/>
            </a:solidFill>
            <a:prstDash val="sysDot"/>
            <a:miter lim="800000"/>
          </a:ln>
          <a:effectLst/>
        </p:spPr>
      </p:cxnSp>
      <p:sp>
        <p:nvSpPr>
          <p:cNvPr id="37" name="TextBox 36">
            <a:extLst>
              <a:ext uri="{FF2B5EF4-FFF2-40B4-BE49-F238E27FC236}">
                <a16:creationId xmlns:a16="http://schemas.microsoft.com/office/drawing/2014/main" id="{B92EEB07-5795-5380-2153-39CEADD71E56}"/>
              </a:ext>
            </a:extLst>
          </p:cNvPr>
          <p:cNvSpPr txBox="1"/>
          <p:nvPr/>
        </p:nvSpPr>
        <p:spPr>
          <a:xfrm>
            <a:off x="3056133" y="5524598"/>
            <a:ext cx="734733" cy="261610"/>
          </a:xfrm>
          <a:prstGeom prst="rect">
            <a:avLst/>
          </a:prstGeom>
          <a:noFill/>
        </p:spPr>
        <p:txBody>
          <a:bodyPr wrap="square" rtlCol="0">
            <a:spAutoFit/>
          </a:bodyPr>
          <a:lstStyle/>
          <a:p>
            <a:pPr>
              <a:buClrTx/>
              <a:buFontTx/>
              <a:buNone/>
              <a:defRPr/>
            </a:pPr>
            <a:r>
              <a:rPr lang="en-US" sz="1100">
                <a:solidFill>
                  <a:srgbClr val="034EA2"/>
                </a:solidFill>
                <a:latin typeface="Segoe UI"/>
                <a:ea typeface="+mn-ea"/>
              </a:rPr>
              <a:t>Yes</a:t>
            </a:r>
          </a:p>
        </p:txBody>
      </p:sp>
      <p:cxnSp>
        <p:nvCxnSpPr>
          <p:cNvPr id="38" name="Connector: Elbow 29">
            <a:extLst>
              <a:ext uri="{FF2B5EF4-FFF2-40B4-BE49-F238E27FC236}">
                <a16:creationId xmlns:a16="http://schemas.microsoft.com/office/drawing/2014/main" id="{4EE539AA-D13C-63A1-D29F-66927ED919FE}"/>
              </a:ext>
            </a:extLst>
          </p:cNvPr>
          <p:cNvCxnSpPr>
            <a:cxnSpLocks/>
            <a:stCxn id="32" idx="2"/>
            <a:endCxn id="99" idx="1"/>
          </p:cNvCxnSpPr>
          <p:nvPr/>
        </p:nvCxnSpPr>
        <p:spPr>
          <a:xfrm rot="16200000" flipH="1">
            <a:off x="6260909" y="3061532"/>
            <a:ext cx="318842" cy="5314653"/>
          </a:xfrm>
          <a:prstGeom prst="bentConnector2">
            <a:avLst/>
          </a:prstGeom>
          <a:noFill/>
          <a:ln w="6350" cap="flat" cmpd="sng" algn="ctr">
            <a:solidFill>
              <a:srgbClr val="36365C"/>
            </a:solidFill>
            <a:prstDash val="solid"/>
            <a:miter lim="800000"/>
            <a:tailEnd type="triangle"/>
          </a:ln>
          <a:effectLst/>
        </p:spPr>
      </p:cxnSp>
      <p:sp>
        <p:nvSpPr>
          <p:cNvPr id="39" name="Flowchart: Punched Tape 36">
            <a:extLst>
              <a:ext uri="{FF2B5EF4-FFF2-40B4-BE49-F238E27FC236}">
                <a16:creationId xmlns:a16="http://schemas.microsoft.com/office/drawing/2014/main" id="{A5AB88A7-1B21-1C84-A7E5-8E9B5392DAC0}"/>
              </a:ext>
            </a:extLst>
          </p:cNvPr>
          <p:cNvSpPr/>
          <p:nvPr/>
        </p:nvSpPr>
        <p:spPr>
          <a:xfrm>
            <a:off x="896680" y="3589093"/>
            <a:ext cx="1582041" cy="723918"/>
          </a:xfrm>
          <a:prstGeom prst="flowChartPunchedTape">
            <a:avLst/>
          </a:prstGeom>
          <a:solidFill>
            <a:srgbClr val="FFFF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a:ln>
                  <a:noFill/>
                </a:ln>
                <a:solidFill>
                  <a:srgbClr val="36365C"/>
                </a:solidFill>
                <a:effectLst/>
                <a:uLnTx/>
                <a:uFillTx/>
                <a:ea typeface="+mn-ea"/>
              </a:rPr>
              <a:t>Inform: GDC weekly report</a:t>
            </a:r>
            <a:endParaRPr kumimoji="0" lang="en-US" altLang="ko-KR" sz="1100" b="0" i="0" u="none" strike="noStrike" kern="0" cap="none" spc="0" normalizeH="0" baseline="0" noProof="0" dirty="0">
              <a:ln>
                <a:noFill/>
              </a:ln>
              <a:solidFill>
                <a:srgbClr val="034EA2"/>
              </a:solidFill>
              <a:effectLst/>
              <a:uLnTx/>
              <a:uFillTx/>
              <a:ea typeface="+mn-ea"/>
            </a:endParaRPr>
          </a:p>
        </p:txBody>
      </p:sp>
      <p:sp>
        <p:nvSpPr>
          <p:cNvPr id="40" name="Rectangle 39">
            <a:extLst>
              <a:ext uri="{FF2B5EF4-FFF2-40B4-BE49-F238E27FC236}">
                <a16:creationId xmlns:a16="http://schemas.microsoft.com/office/drawing/2014/main" id="{FF8FA6F2-6D65-31E7-02BC-6C19654FE0A4}"/>
              </a:ext>
            </a:extLst>
          </p:cNvPr>
          <p:cNvSpPr/>
          <p:nvPr/>
        </p:nvSpPr>
        <p:spPr>
          <a:xfrm>
            <a:off x="7014667" y="6115081"/>
            <a:ext cx="1394170" cy="412704"/>
          </a:xfrm>
          <a:prstGeom prst="rect">
            <a:avLst/>
          </a:prstGeom>
          <a:solidFill>
            <a:srgbClr val="BFBFBF">
              <a:lumMod val="20000"/>
              <a:lumOff val="80000"/>
            </a:srgbClr>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Report Handover tasks</a:t>
            </a:r>
          </a:p>
        </p:txBody>
      </p:sp>
      <p:cxnSp>
        <p:nvCxnSpPr>
          <p:cNvPr id="41" name="Connector: Elbow 38">
            <a:extLst>
              <a:ext uri="{FF2B5EF4-FFF2-40B4-BE49-F238E27FC236}">
                <a16:creationId xmlns:a16="http://schemas.microsoft.com/office/drawing/2014/main" id="{745C551A-330D-FF17-8597-BB8C9EBAEAEE}"/>
              </a:ext>
            </a:extLst>
          </p:cNvPr>
          <p:cNvCxnSpPr>
            <a:cxnSpLocks/>
            <a:stCxn id="99" idx="2"/>
            <a:endCxn id="40" idx="3"/>
          </p:cNvCxnSpPr>
          <p:nvPr/>
        </p:nvCxnSpPr>
        <p:spPr>
          <a:xfrm rot="5400000">
            <a:off x="9107195" y="5386274"/>
            <a:ext cx="236801" cy="1633516"/>
          </a:xfrm>
          <a:prstGeom prst="bentConnector2">
            <a:avLst/>
          </a:prstGeom>
          <a:noFill/>
          <a:ln w="6350" cap="flat" cmpd="sng" algn="ctr">
            <a:solidFill>
              <a:srgbClr val="36365C"/>
            </a:solidFill>
            <a:prstDash val="solid"/>
            <a:miter lim="800000"/>
            <a:tailEnd type="triangle"/>
          </a:ln>
          <a:effectLst/>
        </p:spPr>
      </p:cxnSp>
      <p:sp>
        <p:nvSpPr>
          <p:cNvPr id="42" name="Flowchart: Punched Tape 39">
            <a:extLst>
              <a:ext uri="{FF2B5EF4-FFF2-40B4-BE49-F238E27FC236}">
                <a16:creationId xmlns:a16="http://schemas.microsoft.com/office/drawing/2014/main" id="{2353F158-D1FB-98AD-E899-4C28ED1E73DA}"/>
              </a:ext>
            </a:extLst>
          </p:cNvPr>
          <p:cNvSpPr/>
          <p:nvPr/>
        </p:nvSpPr>
        <p:spPr>
          <a:xfrm>
            <a:off x="9220060" y="4615208"/>
            <a:ext cx="1582041" cy="723918"/>
          </a:xfrm>
          <a:prstGeom prst="flowChartPunchedTape">
            <a:avLst/>
          </a:prstGeom>
          <a:solidFill>
            <a:srgbClr val="FFFF00"/>
          </a:solidFill>
          <a:ln w="12700" cap="flat" cmpd="sng" algn="ctr">
            <a:noFill/>
            <a:prstDash val="solid"/>
            <a:miter lim="800000"/>
          </a:ln>
          <a:effectLst/>
        </p:spPr>
        <p:txBody>
          <a:bodyPr rtlCol="0" anchor="ctr"/>
          <a:lstStyle/>
          <a:p>
            <a:pPr algn="ctr">
              <a:buClrTx/>
              <a:buFontTx/>
              <a:buNone/>
              <a:defRPr/>
            </a:pPr>
            <a:r>
              <a:rPr lang="en-US" sz="1100">
                <a:solidFill>
                  <a:srgbClr val="034EA2"/>
                </a:solidFill>
                <a:latin typeface="Segoe UI"/>
                <a:ea typeface="+mn-ea"/>
              </a:rPr>
              <a:t>Handover duration: </a:t>
            </a:r>
          </a:p>
          <a:p>
            <a:pPr algn="ctr">
              <a:buClrTx/>
              <a:buFontTx/>
              <a:buNone/>
              <a:defRPr/>
            </a:pPr>
            <a:r>
              <a:rPr lang="en-US" sz="1100">
                <a:solidFill>
                  <a:srgbClr val="034EA2"/>
                </a:solidFill>
                <a:latin typeface="Segoe UI"/>
                <a:ea typeface="+mn-ea"/>
              </a:rPr>
              <a:t>2 - 4 weeks</a:t>
            </a:r>
          </a:p>
        </p:txBody>
      </p:sp>
      <p:sp>
        <p:nvSpPr>
          <p:cNvPr id="43" name="Rectangle 42">
            <a:extLst>
              <a:ext uri="{FF2B5EF4-FFF2-40B4-BE49-F238E27FC236}">
                <a16:creationId xmlns:a16="http://schemas.microsoft.com/office/drawing/2014/main" id="{6E77F1A9-2735-E21B-75DC-6ABB58D17AEE}"/>
              </a:ext>
            </a:extLst>
          </p:cNvPr>
          <p:cNvSpPr/>
          <p:nvPr/>
        </p:nvSpPr>
        <p:spPr>
          <a:xfrm>
            <a:off x="3088347" y="4254948"/>
            <a:ext cx="1334924" cy="360260"/>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Review</a:t>
            </a:r>
          </a:p>
        </p:txBody>
      </p:sp>
      <p:cxnSp>
        <p:nvCxnSpPr>
          <p:cNvPr id="44" name="Straight Arrow Connector 43">
            <a:extLst>
              <a:ext uri="{FF2B5EF4-FFF2-40B4-BE49-F238E27FC236}">
                <a16:creationId xmlns:a16="http://schemas.microsoft.com/office/drawing/2014/main" id="{3349C167-AD22-2348-1138-6FC9D200DD0D}"/>
              </a:ext>
            </a:extLst>
          </p:cNvPr>
          <p:cNvCxnSpPr>
            <a:cxnSpLocks/>
            <a:stCxn id="43" idx="2"/>
            <a:endCxn id="32" idx="0"/>
          </p:cNvCxnSpPr>
          <p:nvPr/>
        </p:nvCxnSpPr>
        <p:spPr>
          <a:xfrm>
            <a:off x="3755809" y="4615208"/>
            <a:ext cx="7195" cy="295228"/>
          </a:xfrm>
          <a:prstGeom prst="straightConnector1">
            <a:avLst/>
          </a:prstGeom>
          <a:noFill/>
          <a:ln w="6350" cap="flat" cmpd="sng" algn="ctr">
            <a:solidFill>
              <a:srgbClr val="36365C"/>
            </a:solidFill>
            <a:prstDash val="solid"/>
            <a:miter lim="800000"/>
            <a:tailEnd type="triangle"/>
          </a:ln>
          <a:effectLst/>
        </p:spPr>
      </p:cxnSp>
      <p:cxnSp>
        <p:nvCxnSpPr>
          <p:cNvPr id="45" name="Straight Arrow Connector 44">
            <a:extLst>
              <a:ext uri="{FF2B5EF4-FFF2-40B4-BE49-F238E27FC236}">
                <a16:creationId xmlns:a16="http://schemas.microsoft.com/office/drawing/2014/main" id="{223D65AA-22B0-9FF4-8D99-C03703AC3053}"/>
              </a:ext>
            </a:extLst>
          </p:cNvPr>
          <p:cNvCxnSpPr>
            <a:cxnSpLocks/>
            <a:stCxn id="50" idx="1"/>
            <a:endCxn id="46" idx="3"/>
          </p:cNvCxnSpPr>
          <p:nvPr/>
        </p:nvCxnSpPr>
        <p:spPr>
          <a:xfrm flipH="1">
            <a:off x="8418701" y="1785998"/>
            <a:ext cx="1879072" cy="19090"/>
          </a:xfrm>
          <a:prstGeom prst="straightConnector1">
            <a:avLst/>
          </a:prstGeom>
          <a:noFill/>
          <a:ln w="6350" cap="flat" cmpd="sng" algn="ctr">
            <a:solidFill>
              <a:srgbClr val="36365C"/>
            </a:solidFill>
            <a:prstDash val="solid"/>
            <a:miter lim="800000"/>
            <a:tailEnd type="triangle"/>
          </a:ln>
          <a:effectLst/>
        </p:spPr>
      </p:cxnSp>
      <p:sp>
        <p:nvSpPr>
          <p:cNvPr id="46" name="Rectangle 45">
            <a:extLst>
              <a:ext uri="{FF2B5EF4-FFF2-40B4-BE49-F238E27FC236}">
                <a16:creationId xmlns:a16="http://schemas.microsoft.com/office/drawing/2014/main" id="{62DDB08F-43BF-327F-90A4-A6A58422A665}"/>
              </a:ext>
            </a:extLst>
          </p:cNvPr>
          <p:cNvSpPr/>
          <p:nvPr/>
        </p:nvSpPr>
        <p:spPr>
          <a:xfrm>
            <a:off x="7024531" y="1598736"/>
            <a:ext cx="1394170" cy="412704"/>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Inform to LGCNS/GDC</a:t>
            </a:r>
          </a:p>
        </p:txBody>
      </p:sp>
      <p:cxnSp>
        <p:nvCxnSpPr>
          <p:cNvPr id="47" name="Straight Arrow Connector 46">
            <a:extLst>
              <a:ext uri="{FF2B5EF4-FFF2-40B4-BE49-F238E27FC236}">
                <a16:creationId xmlns:a16="http://schemas.microsoft.com/office/drawing/2014/main" id="{9E1D6708-648C-A6D6-FD4B-B77D4851F97C}"/>
              </a:ext>
            </a:extLst>
          </p:cNvPr>
          <p:cNvCxnSpPr>
            <a:cxnSpLocks/>
            <a:stCxn id="46" idx="2"/>
            <a:endCxn id="17" idx="0"/>
          </p:cNvCxnSpPr>
          <p:nvPr/>
        </p:nvCxnSpPr>
        <p:spPr>
          <a:xfrm>
            <a:off x="7721616" y="2011440"/>
            <a:ext cx="1908" cy="227040"/>
          </a:xfrm>
          <a:prstGeom prst="straightConnector1">
            <a:avLst/>
          </a:prstGeom>
          <a:noFill/>
          <a:ln w="6350" cap="flat" cmpd="sng" algn="ctr">
            <a:solidFill>
              <a:srgbClr val="36365C"/>
            </a:solidFill>
            <a:prstDash val="solid"/>
            <a:miter lim="800000"/>
            <a:tailEnd type="triangle"/>
          </a:ln>
          <a:effectLst/>
        </p:spPr>
      </p:cxnSp>
      <p:sp>
        <p:nvSpPr>
          <p:cNvPr id="48" name="Rectangle 47">
            <a:extLst>
              <a:ext uri="{FF2B5EF4-FFF2-40B4-BE49-F238E27FC236}">
                <a16:creationId xmlns:a16="http://schemas.microsoft.com/office/drawing/2014/main" id="{8ED65987-9421-68A1-0B98-0A2732A074F4}"/>
              </a:ext>
            </a:extLst>
          </p:cNvPr>
          <p:cNvSpPr/>
          <p:nvPr/>
        </p:nvSpPr>
        <p:spPr>
          <a:xfrm>
            <a:off x="3480757" y="1598736"/>
            <a:ext cx="2747289" cy="409327"/>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dirty="0">
                <a:solidFill>
                  <a:srgbClr val="034EA2"/>
                </a:solidFill>
                <a:latin typeface="Segoe UI"/>
                <a:ea typeface="+mn-ea"/>
              </a:rPr>
              <a:t>Catch-up member resignation information</a:t>
            </a:r>
          </a:p>
        </p:txBody>
      </p:sp>
      <p:cxnSp>
        <p:nvCxnSpPr>
          <p:cNvPr id="49" name="Straight Arrow Connector 48">
            <a:extLst>
              <a:ext uri="{FF2B5EF4-FFF2-40B4-BE49-F238E27FC236}">
                <a16:creationId xmlns:a16="http://schemas.microsoft.com/office/drawing/2014/main" id="{A387DAB0-0CBD-C961-054C-99DD848C5B0A}"/>
              </a:ext>
            </a:extLst>
          </p:cNvPr>
          <p:cNvCxnSpPr>
            <a:cxnSpLocks/>
            <a:stCxn id="46" idx="1"/>
            <a:endCxn id="48" idx="3"/>
          </p:cNvCxnSpPr>
          <p:nvPr/>
        </p:nvCxnSpPr>
        <p:spPr>
          <a:xfrm flipH="1" flipV="1">
            <a:off x="6228046" y="1803400"/>
            <a:ext cx="796485" cy="1688"/>
          </a:xfrm>
          <a:prstGeom prst="straightConnector1">
            <a:avLst/>
          </a:prstGeom>
          <a:noFill/>
          <a:ln w="6350" cap="flat" cmpd="sng" algn="ctr">
            <a:solidFill>
              <a:srgbClr val="36365C"/>
            </a:solidFill>
            <a:prstDash val="solid"/>
            <a:miter lim="800000"/>
            <a:tailEnd type="triangle"/>
          </a:ln>
          <a:effectLst/>
        </p:spPr>
      </p:cxnSp>
      <p:sp>
        <p:nvSpPr>
          <p:cNvPr id="50" name="Rectangle 49">
            <a:extLst>
              <a:ext uri="{FF2B5EF4-FFF2-40B4-BE49-F238E27FC236}">
                <a16:creationId xmlns:a16="http://schemas.microsoft.com/office/drawing/2014/main" id="{BE07AD00-6E57-0F2F-24B6-F3FF312296F9}"/>
              </a:ext>
            </a:extLst>
          </p:cNvPr>
          <p:cNvSpPr/>
          <p:nvPr/>
        </p:nvSpPr>
        <p:spPr>
          <a:xfrm>
            <a:off x="10297773" y="1598737"/>
            <a:ext cx="1008657" cy="374521"/>
          </a:xfrm>
          <a:prstGeom prst="rect">
            <a:avLst/>
          </a:prstGeom>
          <a:gradFill rotWithShape="1">
            <a:gsLst>
              <a:gs pos="0">
                <a:srgbClr val="AEABAB">
                  <a:lumMod val="110000"/>
                  <a:satMod val="105000"/>
                  <a:tint val="67000"/>
                </a:srgbClr>
              </a:gs>
              <a:gs pos="50000">
                <a:srgbClr val="AEABAB">
                  <a:lumMod val="105000"/>
                  <a:satMod val="103000"/>
                  <a:tint val="73000"/>
                </a:srgbClr>
              </a:gs>
              <a:gs pos="100000">
                <a:srgbClr val="AEABAB">
                  <a:lumMod val="105000"/>
                  <a:satMod val="109000"/>
                  <a:tint val="81000"/>
                </a:srgbClr>
              </a:gs>
            </a:gsLst>
            <a:lin ang="5400000" scaled="0"/>
          </a:gradFill>
          <a:ln w="6350" cap="flat" cmpd="sng" algn="ctr">
            <a:solidFill>
              <a:srgbClr val="AEABAB"/>
            </a:solidFill>
            <a:prstDash val="solid"/>
            <a:miter lim="800000"/>
          </a:ln>
          <a:effectLst/>
        </p:spPr>
        <p:txBody>
          <a:bodyPr rtlCol="0" anchor="ctr"/>
          <a:lstStyle/>
          <a:p>
            <a:pPr algn="ctr">
              <a:buClrTx/>
              <a:buFontTx/>
              <a:buNone/>
              <a:defRPr/>
            </a:pPr>
            <a:r>
              <a:rPr lang="en-US" sz="1100" b="1">
                <a:solidFill>
                  <a:srgbClr val="034EA2"/>
                </a:solidFill>
                <a:latin typeface="Segoe UI"/>
                <a:ea typeface="+mn-ea"/>
              </a:rPr>
              <a:t>Request</a:t>
            </a:r>
          </a:p>
        </p:txBody>
      </p:sp>
      <p:sp>
        <p:nvSpPr>
          <p:cNvPr id="51" name="Callout: Bent Line 85">
            <a:extLst>
              <a:ext uri="{FF2B5EF4-FFF2-40B4-BE49-F238E27FC236}">
                <a16:creationId xmlns:a16="http://schemas.microsoft.com/office/drawing/2014/main" id="{6E718E7A-3127-853A-678F-547C0FD1A340}"/>
              </a:ext>
            </a:extLst>
          </p:cNvPr>
          <p:cNvSpPr/>
          <p:nvPr/>
        </p:nvSpPr>
        <p:spPr>
          <a:xfrm>
            <a:off x="9279839" y="2161509"/>
            <a:ext cx="1727209" cy="876510"/>
          </a:xfrm>
          <a:prstGeom prst="borderCallout2">
            <a:avLst>
              <a:gd name="adj1" fmla="val 43690"/>
              <a:gd name="adj2" fmla="val -2054"/>
              <a:gd name="adj3" fmla="val 53524"/>
              <a:gd name="adj4" fmla="val -18493"/>
              <a:gd name="adj5" fmla="val -25804"/>
              <a:gd name="adj6" fmla="val -58283"/>
            </a:avLst>
          </a:prstGeom>
          <a:solidFill>
            <a:srgbClr val="C00000"/>
          </a:solidFill>
          <a:ln w="12700" cap="flat" cmpd="sng" algn="ctr">
            <a:solidFill>
              <a:srgbClr val="33B2C1"/>
            </a:solidFill>
            <a:prstDash val="solid"/>
            <a:miter lim="800000"/>
            <a:tailEnd type="oval" w="lg" len="lg"/>
          </a:ln>
          <a:effectLst/>
        </p:spPr>
        <p:txBody>
          <a:bodyPr rtlCol="0" anchor="ctr"/>
          <a:lstStyle/>
          <a:p>
            <a:pPr>
              <a:buClrTx/>
              <a:buFontTx/>
              <a:buNone/>
              <a:defRPr/>
            </a:pPr>
            <a:r>
              <a:rPr lang="en-US" sz="1100" dirty="0">
                <a:solidFill>
                  <a:prstClr val="white"/>
                </a:solidFill>
                <a:latin typeface="Segoe UI"/>
                <a:ea typeface="+mn-ea"/>
              </a:rPr>
              <a:t>Inform to LGCNS right at the time receive information from member</a:t>
            </a:r>
          </a:p>
        </p:txBody>
      </p:sp>
      <p:cxnSp>
        <p:nvCxnSpPr>
          <p:cNvPr id="52" name="Connector: Elbow 29">
            <a:extLst>
              <a:ext uri="{FF2B5EF4-FFF2-40B4-BE49-F238E27FC236}">
                <a16:creationId xmlns:a16="http://schemas.microsoft.com/office/drawing/2014/main" id="{B187BD79-761D-3D6F-948E-C02FC2C6DD9F}"/>
              </a:ext>
            </a:extLst>
          </p:cNvPr>
          <p:cNvCxnSpPr>
            <a:cxnSpLocks/>
            <a:stCxn id="40" idx="1"/>
            <a:endCxn id="100" idx="3"/>
          </p:cNvCxnSpPr>
          <p:nvPr/>
        </p:nvCxnSpPr>
        <p:spPr>
          <a:xfrm flipH="1" flipV="1">
            <a:off x="4499907" y="6310124"/>
            <a:ext cx="2514760" cy="11309"/>
          </a:xfrm>
          <a:prstGeom prst="straightConnector1">
            <a:avLst/>
          </a:prstGeom>
          <a:noFill/>
          <a:ln w="6350" cap="flat" cmpd="sng" algn="ctr">
            <a:solidFill>
              <a:srgbClr val="36365C"/>
            </a:solidFill>
            <a:prstDash val="solid"/>
            <a:miter lim="800000"/>
            <a:tailEnd type="triangle"/>
          </a:ln>
          <a:effectLst/>
        </p:spPr>
      </p:cxnSp>
      <p:cxnSp>
        <p:nvCxnSpPr>
          <p:cNvPr id="95" name="Connector: Elbow 24">
            <a:extLst>
              <a:ext uri="{FF2B5EF4-FFF2-40B4-BE49-F238E27FC236}">
                <a16:creationId xmlns:a16="http://schemas.microsoft.com/office/drawing/2014/main" id="{F2E41452-BBA4-343A-875E-B58933E8F6BC}"/>
              </a:ext>
            </a:extLst>
          </p:cNvPr>
          <p:cNvCxnSpPr>
            <a:cxnSpLocks/>
            <a:stCxn id="19" idx="1"/>
            <a:endCxn id="39" idx="3"/>
          </p:cNvCxnSpPr>
          <p:nvPr/>
        </p:nvCxnSpPr>
        <p:spPr>
          <a:xfrm flipH="1">
            <a:off x="2478721" y="3945040"/>
            <a:ext cx="2420799" cy="6012"/>
          </a:xfrm>
          <a:prstGeom prst="straightConnector1">
            <a:avLst/>
          </a:prstGeom>
          <a:noFill/>
          <a:ln w="6350" cap="flat" cmpd="sng" algn="ctr">
            <a:solidFill>
              <a:srgbClr val="36365C"/>
            </a:solidFill>
            <a:prstDash val="solid"/>
            <a:miter lim="800000"/>
            <a:tailEnd type="triangle"/>
          </a:ln>
          <a:effectLst/>
        </p:spPr>
      </p:cxnSp>
      <p:sp>
        <p:nvSpPr>
          <p:cNvPr id="96" name="Rectangle 95">
            <a:extLst>
              <a:ext uri="{FF2B5EF4-FFF2-40B4-BE49-F238E27FC236}">
                <a16:creationId xmlns:a16="http://schemas.microsoft.com/office/drawing/2014/main" id="{EF557684-0102-A330-67BD-5C8ECF044627}"/>
              </a:ext>
            </a:extLst>
          </p:cNvPr>
          <p:cNvSpPr/>
          <p:nvPr/>
        </p:nvSpPr>
        <p:spPr>
          <a:xfrm>
            <a:off x="510659" y="5952804"/>
            <a:ext cx="1906263" cy="723918"/>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dirty="0">
                <a:solidFill>
                  <a:srgbClr val="034EA2"/>
                </a:solidFill>
                <a:latin typeface="Segoe UI"/>
                <a:ea typeface="+mn-ea"/>
              </a:rPr>
              <a:t>Evaluate GDC </a:t>
            </a:r>
            <a:r>
              <a:rPr lang="en-GB" sz="1100" dirty="0">
                <a:solidFill>
                  <a:srgbClr val="034EA2"/>
                </a:solidFill>
                <a:latin typeface="Segoe UI"/>
                <a:ea typeface="+mn-ea"/>
              </a:rPr>
              <a:t>stability /strength/performance</a:t>
            </a:r>
          </a:p>
        </p:txBody>
      </p:sp>
      <p:cxnSp>
        <p:nvCxnSpPr>
          <p:cNvPr id="97" name="Connector: Elbow 29">
            <a:extLst>
              <a:ext uri="{FF2B5EF4-FFF2-40B4-BE49-F238E27FC236}">
                <a16:creationId xmlns:a16="http://schemas.microsoft.com/office/drawing/2014/main" id="{BE0DCCCB-11FD-AF33-1923-9C2D57056A3B}"/>
              </a:ext>
            </a:extLst>
          </p:cNvPr>
          <p:cNvCxnSpPr>
            <a:cxnSpLocks/>
            <a:stCxn id="100" idx="1"/>
            <a:endCxn id="96" idx="3"/>
          </p:cNvCxnSpPr>
          <p:nvPr/>
        </p:nvCxnSpPr>
        <p:spPr>
          <a:xfrm flipH="1">
            <a:off x="2416922" y="6310124"/>
            <a:ext cx="748061" cy="4639"/>
          </a:xfrm>
          <a:prstGeom prst="straightConnector1">
            <a:avLst/>
          </a:prstGeom>
          <a:noFill/>
          <a:ln w="6350" cap="flat" cmpd="sng" algn="ctr">
            <a:solidFill>
              <a:srgbClr val="36365C"/>
            </a:solidFill>
            <a:prstDash val="solid"/>
            <a:miter lim="800000"/>
            <a:tailEnd type="triangle"/>
          </a:ln>
          <a:effectLst/>
        </p:spPr>
      </p:cxnSp>
      <p:sp>
        <p:nvSpPr>
          <p:cNvPr id="98" name="TextBox 97">
            <a:extLst>
              <a:ext uri="{FF2B5EF4-FFF2-40B4-BE49-F238E27FC236}">
                <a16:creationId xmlns:a16="http://schemas.microsoft.com/office/drawing/2014/main" id="{D8724E94-5BFD-F480-A5D8-B8CD632B1D5E}"/>
              </a:ext>
            </a:extLst>
          </p:cNvPr>
          <p:cNvSpPr txBox="1"/>
          <p:nvPr/>
        </p:nvSpPr>
        <p:spPr>
          <a:xfrm>
            <a:off x="2463129" y="6020987"/>
            <a:ext cx="734733" cy="261610"/>
          </a:xfrm>
          <a:prstGeom prst="rect">
            <a:avLst/>
          </a:prstGeom>
          <a:noFill/>
        </p:spPr>
        <p:txBody>
          <a:bodyPr wrap="square" rtlCol="0">
            <a:spAutoFit/>
          </a:bodyPr>
          <a:lstStyle/>
          <a:p>
            <a:pPr>
              <a:buClrTx/>
              <a:buFontTx/>
              <a:buNone/>
              <a:defRPr/>
            </a:pPr>
            <a:r>
              <a:rPr lang="en-US" sz="1100" dirty="0">
                <a:solidFill>
                  <a:srgbClr val="034EA2"/>
                </a:solidFill>
                <a:latin typeface="Segoe UI"/>
                <a:ea typeface="+mn-ea"/>
              </a:rPr>
              <a:t>Inform</a:t>
            </a:r>
          </a:p>
        </p:txBody>
      </p:sp>
      <p:sp>
        <p:nvSpPr>
          <p:cNvPr id="99" name="Rectangle 98">
            <a:extLst>
              <a:ext uri="{FF2B5EF4-FFF2-40B4-BE49-F238E27FC236}">
                <a16:creationId xmlns:a16="http://schemas.microsoft.com/office/drawing/2014/main" id="{D4C8DC7B-05FD-7B1A-44D7-469270AA0DA9}"/>
              </a:ext>
            </a:extLst>
          </p:cNvPr>
          <p:cNvSpPr/>
          <p:nvPr/>
        </p:nvSpPr>
        <p:spPr>
          <a:xfrm>
            <a:off x="9077657" y="5671928"/>
            <a:ext cx="1929391" cy="412704"/>
          </a:xfrm>
          <a:prstGeom prst="rect">
            <a:avLst/>
          </a:prstGeom>
          <a:gradFill rotWithShape="1">
            <a:gsLst>
              <a:gs pos="0">
                <a:srgbClr val="AEABAB">
                  <a:lumMod val="110000"/>
                  <a:satMod val="105000"/>
                  <a:tint val="67000"/>
                </a:srgbClr>
              </a:gs>
              <a:gs pos="50000">
                <a:srgbClr val="AEABAB">
                  <a:lumMod val="105000"/>
                  <a:satMod val="103000"/>
                  <a:tint val="73000"/>
                </a:srgbClr>
              </a:gs>
              <a:gs pos="100000">
                <a:srgbClr val="AEABAB">
                  <a:lumMod val="105000"/>
                  <a:satMod val="109000"/>
                  <a:tint val="81000"/>
                </a:srgbClr>
              </a:gs>
            </a:gsLst>
            <a:lin ang="5400000" scaled="0"/>
          </a:gradFill>
          <a:ln w="6350" cap="flat" cmpd="sng" algn="ctr">
            <a:solidFill>
              <a:srgbClr val="AEABAB"/>
            </a:solidFill>
            <a:prstDash val="solid"/>
            <a:miter lim="800000"/>
          </a:ln>
          <a:effectLst/>
        </p:spPr>
        <p:txBody>
          <a:bodyPr rtlCol="0" anchor="ctr"/>
          <a:lstStyle/>
          <a:p>
            <a:pPr algn="ctr">
              <a:buClrTx/>
              <a:buFontTx/>
              <a:buNone/>
              <a:defRPr/>
            </a:pPr>
            <a:r>
              <a:rPr lang="en-US" sz="1100" b="1" dirty="0">
                <a:solidFill>
                  <a:srgbClr val="034EA2"/>
                </a:solidFill>
                <a:latin typeface="Segoe UI"/>
                <a:ea typeface="+mn-ea"/>
              </a:rPr>
              <a:t>Do Handover tasks</a:t>
            </a:r>
          </a:p>
        </p:txBody>
      </p:sp>
      <p:sp>
        <p:nvSpPr>
          <p:cNvPr id="100" name="Rectangle 99">
            <a:extLst>
              <a:ext uri="{FF2B5EF4-FFF2-40B4-BE49-F238E27FC236}">
                <a16:creationId xmlns:a16="http://schemas.microsoft.com/office/drawing/2014/main" id="{B62AB3A3-58FC-0EE5-BE38-600F709E7EA7}"/>
              </a:ext>
            </a:extLst>
          </p:cNvPr>
          <p:cNvSpPr/>
          <p:nvPr/>
        </p:nvSpPr>
        <p:spPr>
          <a:xfrm>
            <a:off x="3164983" y="6129994"/>
            <a:ext cx="1334924" cy="360260"/>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dirty="0">
                <a:solidFill>
                  <a:srgbClr val="034EA2"/>
                </a:solidFill>
                <a:latin typeface="Segoe UI"/>
                <a:ea typeface="+mn-ea"/>
              </a:rPr>
              <a:t>Approve</a:t>
            </a:r>
          </a:p>
        </p:txBody>
      </p:sp>
    </p:spTree>
    <p:extLst>
      <p:ext uri="{BB962C8B-B14F-4D97-AF65-F5344CB8AC3E}">
        <p14:creationId xmlns:p14="http://schemas.microsoft.com/office/powerpoint/2010/main" val="65259914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26</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11233149" cy="584775"/>
            <a:chOff x="479425" y="461520"/>
            <a:chExt cx="11233149"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3" y="461520"/>
              <a:ext cx="11176311"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13. Standard Process </a:t>
              </a:r>
              <a:r>
                <a:rPr lang="en-US" sz="2400" b="1" dirty="0">
                  <a:solidFill>
                    <a:srgbClr val="212967"/>
                  </a:solidFill>
                  <a:latin typeface="Segoe UI" panose="020B0502040204020203" pitchFamily="34" charset="0"/>
                  <a:cs typeface="Segoe UI" panose="020B0502040204020203" pitchFamily="34" charset="0"/>
                </a:rPr>
                <a:t>- Replacement Process (From FPT)</a:t>
              </a:r>
            </a:p>
          </p:txBody>
        </p:sp>
      </p:grpSp>
      <p:sp>
        <p:nvSpPr>
          <p:cNvPr id="11" name="TextBox 10">
            <a:extLst>
              <a:ext uri="{FF2B5EF4-FFF2-40B4-BE49-F238E27FC236}">
                <a16:creationId xmlns:a16="http://schemas.microsoft.com/office/drawing/2014/main" id="{3A401B62-7510-2605-87FC-57A4BD7A50D5}"/>
              </a:ext>
            </a:extLst>
          </p:cNvPr>
          <p:cNvSpPr txBox="1"/>
          <p:nvPr/>
        </p:nvSpPr>
        <p:spPr>
          <a:xfrm>
            <a:off x="506172" y="2263278"/>
            <a:ext cx="2091862" cy="369332"/>
          </a:xfrm>
          <a:prstGeom prst="rect">
            <a:avLst/>
          </a:prstGeom>
          <a:noFill/>
        </p:spPr>
        <p:txBody>
          <a:bodyPr wrap="square">
            <a:spAutoFit/>
          </a:bodyPr>
          <a:lstStyle/>
          <a:p>
            <a:pPr>
              <a:buClrTx/>
              <a:buFontTx/>
              <a:buNone/>
            </a:pPr>
            <a:r>
              <a:rPr lang="en-US" sz="1800" b="1" kern="1200" dirty="0">
                <a:solidFill>
                  <a:srgbClr val="FF0000"/>
                </a:solidFill>
                <a:latin typeface="Segoe UI"/>
                <a:ea typeface="+mn-ea"/>
              </a:rPr>
              <a:t>Changing Project</a:t>
            </a:r>
            <a:endParaRPr lang="en-VN" sz="1800" b="1" kern="1200" dirty="0">
              <a:solidFill>
                <a:srgbClr val="FF0000"/>
              </a:solidFill>
              <a:latin typeface="Segoe UI"/>
              <a:ea typeface="+mn-ea"/>
            </a:endParaRPr>
          </a:p>
        </p:txBody>
      </p:sp>
      <p:cxnSp>
        <p:nvCxnSpPr>
          <p:cNvPr id="12" name="Straight Connector 11">
            <a:extLst>
              <a:ext uri="{FF2B5EF4-FFF2-40B4-BE49-F238E27FC236}">
                <a16:creationId xmlns:a16="http://schemas.microsoft.com/office/drawing/2014/main" id="{BBE5BFDE-F84D-9863-9531-35E01854FD49}"/>
              </a:ext>
            </a:extLst>
          </p:cNvPr>
          <p:cNvCxnSpPr>
            <a:cxnSpLocks/>
          </p:cNvCxnSpPr>
          <p:nvPr/>
        </p:nvCxnSpPr>
        <p:spPr>
          <a:xfrm flipV="1">
            <a:off x="6766775" y="1082116"/>
            <a:ext cx="23145" cy="5762865"/>
          </a:xfrm>
          <a:prstGeom prst="line">
            <a:avLst/>
          </a:prstGeom>
          <a:noFill/>
          <a:ln w="25400" cap="flat" cmpd="sng" algn="ctr">
            <a:solidFill>
              <a:srgbClr val="33B2C1"/>
            </a:solidFill>
            <a:prstDash val="sysDot"/>
            <a:miter lim="800000"/>
          </a:ln>
          <a:effectLst/>
        </p:spPr>
      </p:cxnSp>
      <p:cxnSp>
        <p:nvCxnSpPr>
          <p:cNvPr id="13" name="Straight Connector 12">
            <a:extLst>
              <a:ext uri="{FF2B5EF4-FFF2-40B4-BE49-F238E27FC236}">
                <a16:creationId xmlns:a16="http://schemas.microsoft.com/office/drawing/2014/main" id="{5FDDA9BC-943F-DD7C-B80D-9F8D88B9E993}"/>
              </a:ext>
            </a:extLst>
          </p:cNvPr>
          <p:cNvCxnSpPr>
            <a:cxnSpLocks/>
          </p:cNvCxnSpPr>
          <p:nvPr/>
        </p:nvCxnSpPr>
        <p:spPr>
          <a:xfrm flipV="1">
            <a:off x="2603184" y="1082116"/>
            <a:ext cx="23145" cy="5762865"/>
          </a:xfrm>
          <a:prstGeom prst="line">
            <a:avLst/>
          </a:prstGeom>
          <a:noFill/>
          <a:ln w="25400" cap="flat" cmpd="sng" algn="ctr">
            <a:solidFill>
              <a:srgbClr val="33B2C1"/>
            </a:solidFill>
            <a:prstDash val="sysDot"/>
            <a:miter lim="800000"/>
          </a:ln>
          <a:effectLst/>
        </p:spPr>
      </p:cxnSp>
      <p:cxnSp>
        <p:nvCxnSpPr>
          <p:cNvPr id="14" name="Straight Connector 13">
            <a:extLst>
              <a:ext uri="{FF2B5EF4-FFF2-40B4-BE49-F238E27FC236}">
                <a16:creationId xmlns:a16="http://schemas.microsoft.com/office/drawing/2014/main" id="{065D8466-BF79-9760-557B-7F38A6C43F24}"/>
              </a:ext>
            </a:extLst>
          </p:cNvPr>
          <p:cNvCxnSpPr>
            <a:cxnSpLocks/>
          </p:cNvCxnSpPr>
          <p:nvPr/>
        </p:nvCxnSpPr>
        <p:spPr>
          <a:xfrm flipV="1">
            <a:off x="4651581" y="1073492"/>
            <a:ext cx="23145" cy="5762865"/>
          </a:xfrm>
          <a:prstGeom prst="line">
            <a:avLst/>
          </a:prstGeom>
          <a:noFill/>
          <a:ln w="25400" cap="flat" cmpd="sng" algn="ctr">
            <a:solidFill>
              <a:srgbClr val="33B2C1"/>
            </a:solidFill>
            <a:prstDash val="sysDot"/>
            <a:miter lim="800000"/>
          </a:ln>
          <a:effectLst/>
        </p:spPr>
      </p:cxnSp>
      <p:sp>
        <p:nvSpPr>
          <p:cNvPr id="15" name="Rectangle 14">
            <a:extLst>
              <a:ext uri="{FF2B5EF4-FFF2-40B4-BE49-F238E27FC236}">
                <a16:creationId xmlns:a16="http://schemas.microsoft.com/office/drawing/2014/main" id="{D3EC8806-B41D-727A-40E8-7DFF2C04310C}"/>
              </a:ext>
            </a:extLst>
          </p:cNvPr>
          <p:cNvSpPr/>
          <p:nvPr/>
        </p:nvSpPr>
        <p:spPr>
          <a:xfrm>
            <a:off x="4904826" y="1140691"/>
            <a:ext cx="1664547"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FPT DM/BrSE Leader</a:t>
            </a:r>
          </a:p>
        </p:txBody>
      </p:sp>
      <p:sp>
        <p:nvSpPr>
          <p:cNvPr id="16" name="Rectangle 15">
            <a:extLst>
              <a:ext uri="{FF2B5EF4-FFF2-40B4-BE49-F238E27FC236}">
                <a16:creationId xmlns:a16="http://schemas.microsoft.com/office/drawing/2014/main" id="{C714B0C5-AA6D-2264-1C93-D90FE978EE10}"/>
              </a:ext>
            </a:extLst>
          </p:cNvPr>
          <p:cNvSpPr/>
          <p:nvPr/>
        </p:nvSpPr>
        <p:spPr>
          <a:xfrm>
            <a:off x="7022194" y="1140691"/>
            <a:ext cx="1358068"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Offshore PM </a:t>
            </a:r>
          </a:p>
        </p:txBody>
      </p:sp>
      <p:sp>
        <p:nvSpPr>
          <p:cNvPr id="17" name="Rectangle 16">
            <a:extLst>
              <a:ext uri="{FF2B5EF4-FFF2-40B4-BE49-F238E27FC236}">
                <a16:creationId xmlns:a16="http://schemas.microsoft.com/office/drawing/2014/main" id="{4DC1F4D6-2CBF-98BC-DBF9-F6C214A5373B}"/>
              </a:ext>
            </a:extLst>
          </p:cNvPr>
          <p:cNvSpPr/>
          <p:nvPr/>
        </p:nvSpPr>
        <p:spPr>
          <a:xfrm>
            <a:off x="7022195" y="1567256"/>
            <a:ext cx="1334924" cy="480108"/>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Create  Handover Plan + Propose New Candidate</a:t>
            </a:r>
          </a:p>
        </p:txBody>
      </p:sp>
      <p:sp>
        <p:nvSpPr>
          <p:cNvPr id="18" name="Rectangle 17">
            <a:extLst>
              <a:ext uri="{FF2B5EF4-FFF2-40B4-BE49-F238E27FC236}">
                <a16:creationId xmlns:a16="http://schemas.microsoft.com/office/drawing/2014/main" id="{F378F509-BC9D-A6B1-CA7E-517CA2597658}"/>
              </a:ext>
            </a:extLst>
          </p:cNvPr>
          <p:cNvSpPr/>
          <p:nvPr/>
        </p:nvSpPr>
        <p:spPr>
          <a:xfrm>
            <a:off x="865891" y="1097477"/>
            <a:ext cx="1474383" cy="373222"/>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800" b="1" dirty="0">
                <a:solidFill>
                  <a:prstClr val="white"/>
                </a:solidFill>
                <a:latin typeface="Segoe UI"/>
                <a:ea typeface="+mn-ea"/>
              </a:rPr>
              <a:t>GDC Governance Team</a:t>
            </a:r>
          </a:p>
          <a:p>
            <a:pPr algn="ctr">
              <a:buClrTx/>
              <a:buFontTx/>
              <a:buNone/>
              <a:defRPr/>
            </a:pPr>
            <a:r>
              <a:rPr lang="en-US" sz="800" b="1" dirty="0">
                <a:solidFill>
                  <a:prstClr val="white"/>
                </a:solidFill>
                <a:latin typeface="Segoe UI"/>
                <a:ea typeface="+mn-ea"/>
              </a:rPr>
              <a:t>GDC leader of each divisions</a:t>
            </a:r>
          </a:p>
        </p:txBody>
      </p:sp>
      <p:sp>
        <p:nvSpPr>
          <p:cNvPr id="19" name="Diamond 18">
            <a:extLst>
              <a:ext uri="{FF2B5EF4-FFF2-40B4-BE49-F238E27FC236}">
                <a16:creationId xmlns:a16="http://schemas.microsoft.com/office/drawing/2014/main" id="{76941EE8-C61D-078B-EFDD-B78BFA029786}"/>
              </a:ext>
            </a:extLst>
          </p:cNvPr>
          <p:cNvSpPr/>
          <p:nvPr/>
        </p:nvSpPr>
        <p:spPr>
          <a:xfrm>
            <a:off x="4865653" y="3106967"/>
            <a:ext cx="1766573" cy="649002"/>
          </a:xfrm>
          <a:prstGeom prst="diamond">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Approve</a:t>
            </a:r>
          </a:p>
        </p:txBody>
      </p:sp>
      <p:sp>
        <p:nvSpPr>
          <p:cNvPr id="20" name="Rectangle 19">
            <a:extLst>
              <a:ext uri="{FF2B5EF4-FFF2-40B4-BE49-F238E27FC236}">
                <a16:creationId xmlns:a16="http://schemas.microsoft.com/office/drawing/2014/main" id="{589765ED-9A78-B139-B4B3-3E9E67B7AB78}"/>
              </a:ext>
            </a:extLst>
          </p:cNvPr>
          <p:cNvSpPr/>
          <p:nvPr/>
        </p:nvSpPr>
        <p:spPr>
          <a:xfrm>
            <a:off x="6986093" y="3223742"/>
            <a:ext cx="1394170" cy="412704"/>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Update</a:t>
            </a:r>
          </a:p>
        </p:txBody>
      </p:sp>
      <p:cxnSp>
        <p:nvCxnSpPr>
          <p:cNvPr id="21" name="Straight Arrow Connector 20">
            <a:extLst>
              <a:ext uri="{FF2B5EF4-FFF2-40B4-BE49-F238E27FC236}">
                <a16:creationId xmlns:a16="http://schemas.microsoft.com/office/drawing/2014/main" id="{F8C9AFC1-4542-1C83-7160-B437021474EF}"/>
              </a:ext>
            </a:extLst>
          </p:cNvPr>
          <p:cNvCxnSpPr>
            <a:cxnSpLocks/>
            <a:stCxn id="19" idx="3"/>
            <a:endCxn id="20" idx="1"/>
          </p:cNvCxnSpPr>
          <p:nvPr/>
        </p:nvCxnSpPr>
        <p:spPr>
          <a:xfrm flipV="1">
            <a:off x="6632226" y="3430094"/>
            <a:ext cx="353867" cy="1374"/>
          </a:xfrm>
          <a:prstGeom prst="straightConnector1">
            <a:avLst/>
          </a:prstGeom>
          <a:noFill/>
          <a:ln w="6350" cap="flat" cmpd="sng" algn="ctr">
            <a:solidFill>
              <a:srgbClr val="36365C"/>
            </a:solidFill>
            <a:prstDash val="solid"/>
            <a:miter lim="800000"/>
            <a:tailEnd type="triangle"/>
          </a:ln>
          <a:effectLst/>
        </p:spPr>
      </p:cxnSp>
      <p:sp>
        <p:nvSpPr>
          <p:cNvPr id="22" name="TextBox 21">
            <a:extLst>
              <a:ext uri="{FF2B5EF4-FFF2-40B4-BE49-F238E27FC236}">
                <a16:creationId xmlns:a16="http://schemas.microsoft.com/office/drawing/2014/main" id="{CA8D60A0-84DB-7CB7-74ED-8C50E7425F00}"/>
              </a:ext>
            </a:extLst>
          </p:cNvPr>
          <p:cNvSpPr txBox="1"/>
          <p:nvPr/>
        </p:nvSpPr>
        <p:spPr>
          <a:xfrm>
            <a:off x="6484193" y="3118255"/>
            <a:ext cx="734733" cy="261610"/>
          </a:xfrm>
          <a:prstGeom prst="rect">
            <a:avLst/>
          </a:prstGeom>
          <a:noFill/>
        </p:spPr>
        <p:txBody>
          <a:bodyPr wrap="square" rtlCol="0">
            <a:spAutoFit/>
          </a:bodyPr>
          <a:lstStyle/>
          <a:p>
            <a:pPr>
              <a:buClrTx/>
              <a:buFontTx/>
              <a:buNone/>
              <a:defRPr/>
            </a:pPr>
            <a:r>
              <a:rPr lang="en-US" sz="1100">
                <a:solidFill>
                  <a:srgbClr val="034EA2"/>
                </a:solidFill>
                <a:latin typeface="Segoe UI"/>
                <a:ea typeface="+mn-ea"/>
              </a:rPr>
              <a:t>No</a:t>
            </a:r>
          </a:p>
        </p:txBody>
      </p:sp>
      <p:sp>
        <p:nvSpPr>
          <p:cNvPr id="23" name="TextBox 22">
            <a:extLst>
              <a:ext uri="{FF2B5EF4-FFF2-40B4-BE49-F238E27FC236}">
                <a16:creationId xmlns:a16="http://schemas.microsoft.com/office/drawing/2014/main" id="{0AB983AE-5CBE-F5DF-D816-82C5191C6AF3}"/>
              </a:ext>
            </a:extLst>
          </p:cNvPr>
          <p:cNvSpPr txBox="1"/>
          <p:nvPr/>
        </p:nvSpPr>
        <p:spPr>
          <a:xfrm>
            <a:off x="4590752" y="3122984"/>
            <a:ext cx="734733" cy="261610"/>
          </a:xfrm>
          <a:prstGeom prst="rect">
            <a:avLst/>
          </a:prstGeom>
          <a:noFill/>
        </p:spPr>
        <p:txBody>
          <a:bodyPr wrap="square" rtlCol="0">
            <a:spAutoFit/>
          </a:bodyPr>
          <a:lstStyle/>
          <a:p>
            <a:pPr>
              <a:buClrTx/>
              <a:buFontTx/>
              <a:buNone/>
              <a:defRPr/>
            </a:pPr>
            <a:r>
              <a:rPr lang="en-US" sz="1100">
                <a:solidFill>
                  <a:srgbClr val="034EA2"/>
                </a:solidFill>
                <a:latin typeface="Segoe UI"/>
                <a:ea typeface="+mn-ea"/>
              </a:rPr>
              <a:t>Yes</a:t>
            </a:r>
          </a:p>
        </p:txBody>
      </p:sp>
      <p:cxnSp>
        <p:nvCxnSpPr>
          <p:cNvPr id="24" name="Connector: Elbow 94">
            <a:extLst>
              <a:ext uri="{FF2B5EF4-FFF2-40B4-BE49-F238E27FC236}">
                <a16:creationId xmlns:a16="http://schemas.microsoft.com/office/drawing/2014/main" id="{ED834323-FAF4-709F-6E42-44F7A558723B}"/>
              </a:ext>
            </a:extLst>
          </p:cNvPr>
          <p:cNvCxnSpPr>
            <a:cxnSpLocks/>
            <a:stCxn id="32" idx="3"/>
            <a:endCxn id="20" idx="2"/>
          </p:cNvCxnSpPr>
          <p:nvPr/>
        </p:nvCxnSpPr>
        <p:spPr>
          <a:xfrm flipV="1">
            <a:off x="4555273" y="3636446"/>
            <a:ext cx="3127905" cy="1105939"/>
          </a:xfrm>
          <a:prstGeom prst="bentConnector2">
            <a:avLst/>
          </a:prstGeom>
          <a:noFill/>
          <a:ln w="6350" cap="flat" cmpd="sng" algn="ctr">
            <a:solidFill>
              <a:srgbClr val="36365C"/>
            </a:solidFill>
            <a:prstDash val="solid"/>
            <a:miter lim="800000"/>
            <a:tailEnd type="triangle"/>
          </a:ln>
          <a:effectLst/>
        </p:spPr>
      </p:cxnSp>
      <p:sp>
        <p:nvSpPr>
          <p:cNvPr id="25" name="Rectangle 24">
            <a:extLst>
              <a:ext uri="{FF2B5EF4-FFF2-40B4-BE49-F238E27FC236}">
                <a16:creationId xmlns:a16="http://schemas.microsoft.com/office/drawing/2014/main" id="{B5D48126-A932-2442-B55C-94FC86887122}"/>
              </a:ext>
            </a:extLst>
          </p:cNvPr>
          <p:cNvSpPr/>
          <p:nvPr/>
        </p:nvSpPr>
        <p:spPr>
          <a:xfrm>
            <a:off x="8694938" y="1135333"/>
            <a:ext cx="1176916" cy="374521"/>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New Member</a:t>
            </a:r>
          </a:p>
        </p:txBody>
      </p:sp>
      <p:sp>
        <p:nvSpPr>
          <p:cNvPr id="26" name="Rectangle 25">
            <a:extLst>
              <a:ext uri="{FF2B5EF4-FFF2-40B4-BE49-F238E27FC236}">
                <a16:creationId xmlns:a16="http://schemas.microsoft.com/office/drawing/2014/main" id="{FBBB9120-39D3-0601-B42B-E18DCDBE636D}"/>
              </a:ext>
            </a:extLst>
          </p:cNvPr>
          <p:cNvSpPr/>
          <p:nvPr/>
        </p:nvSpPr>
        <p:spPr>
          <a:xfrm>
            <a:off x="10165082" y="1140691"/>
            <a:ext cx="1176916" cy="374521"/>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Old Member</a:t>
            </a:r>
          </a:p>
        </p:txBody>
      </p:sp>
      <p:sp>
        <p:nvSpPr>
          <p:cNvPr id="27" name="Rectangle 26">
            <a:extLst>
              <a:ext uri="{FF2B5EF4-FFF2-40B4-BE49-F238E27FC236}">
                <a16:creationId xmlns:a16="http://schemas.microsoft.com/office/drawing/2014/main" id="{D60D0645-6D0F-F5F6-3920-9033AE596B9C}"/>
              </a:ext>
            </a:extLst>
          </p:cNvPr>
          <p:cNvSpPr/>
          <p:nvPr/>
        </p:nvSpPr>
        <p:spPr>
          <a:xfrm>
            <a:off x="3040142" y="1141990"/>
            <a:ext cx="1474383" cy="373222"/>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dirty="0">
                <a:solidFill>
                  <a:prstClr val="white"/>
                </a:solidFill>
                <a:latin typeface="Segoe UI"/>
                <a:ea typeface="+mn-ea"/>
              </a:rPr>
              <a:t>LGCNS PM</a:t>
            </a:r>
          </a:p>
        </p:txBody>
      </p:sp>
      <p:sp>
        <p:nvSpPr>
          <p:cNvPr id="28" name="Rectangle 27">
            <a:extLst>
              <a:ext uri="{FF2B5EF4-FFF2-40B4-BE49-F238E27FC236}">
                <a16:creationId xmlns:a16="http://schemas.microsoft.com/office/drawing/2014/main" id="{33617360-8DE4-6E91-F0D1-A36E1D8C95BF}"/>
              </a:ext>
            </a:extLst>
          </p:cNvPr>
          <p:cNvSpPr/>
          <p:nvPr/>
        </p:nvSpPr>
        <p:spPr>
          <a:xfrm>
            <a:off x="5068425" y="2369298"/>
            <a:ext cx="1334924" cy="360260"/>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Review</a:t>
            </a:r>
          </a:p>
        </p:txBody>
      </p:sp>
      <p:cxnSp>
        <p:nvCxnSpPr>
          <p:cNvPr id="29" name="Straight Arrow Connector 28">
            <a:extLst>
              <a:ext uri="{FF2B5EF4-FFF2-40B4-BE49-F238E27FC236}">
                <a16:creationId xmlns:a16="http://schemas.microsoft.com/office/drawing/2014/main" id="{B6087EA5-2450-9456-9A12-91B74AFBD9D0}"/>
              </a:ext>
            </a:extLst>
          </p:cNvPr>
          <p:cNvCxnSpPr>
            <a:cxnSpLocks/>
            <a:stCxn id="28" idx="2"/>
            <a:endCxn id="19" idx="0"/>
          </p:cNvCxnSpPr>
          <p:nvPr/>
        </p:nvCxnSpPr>
        <p:spPr>
          <a:xfrm>
            <a:off x="5735887" y="2729558"/>
            <a:ext cx="13053" cy="377409"/>
          </a:xfrm>
          <a:prstGeom prst="straightConnector1">
            <a:avLst/>
          </a:prstGeom>
          <a:noFill/>
          <a:ln w="6350" cap="flat" cmpd="sng" algn="ctr">
            <a:solidFill>
              <a:srgbClr val="36365C"/>
            </a:solidFill>
            <a:prstDash val="solid"/>
            <a:miter lim="800000"/>
            <a:tailEnd type="triangle"/>
          </a:ln>
          <a:effectLst/>
        </p:spPr>
      </p:cxnSp>
      <p:cxnSp>
        <p:nvCxnSpPr>
          <p:cNvPr id="30" name="Connector: Elbow 100">
            <a:extLst>
              <a:ext uri="{FF2B5EF4-FFF2-40B4-BE49-F238E27FC236}">
                <a16:creationId xmlns:a16="http://schemas.microsoft.com/office/drawing/2014/main" id="{E2107256-86AF-A3C4-E262-67BAFE9638CC}"/>
              </a:ext>
            </a:extLst>
          </p:cNvPr>
          <p:cNvCxnSpPr>
            <a:cxnSpLocks/>
            <a:stCxn id="20" idx="0"/>
            <a:endCxn id="28" idx="3"/>
          </p:cNvCxnSpPr>
          <p:nvPr/>
        </p:nvCxnSpPr>
        <p:spPr>
          <a:xfrm rot="16200000" flipV="1">
            <a:off x="6706107" y="2246670"/>
            <a:ext cx="674314" cy="1279829"/>
          </a:xfrm>
          <a:prstGeom prst="bentConnector2">
            <a:avLst/>
          </a:prstGeom>
          <a:noFill/>
          <a:ln w="6350" cap="flat" cmpd="sng" algn="ctr">
            <a:solidFill>
              <a:srgbClr val="36365C"/>
            </a:solidFill>
            <a:prstDash val="solid"/>
            <a:miter lim="800000"/>
            <a:tailEnd type="triangle"/>
          </a:ln>
          <a:effectLst/>
        </p:spPr>
      </p:cxnSp>
      <p:cxnSp>
        <p:nvCxnSpPr>
          <p:cNvPr id="31" name="Connector: Elbow 101">
            <a:extLst>
              <a:ext uri="{FF2B5EF4-FFF2-40B4-BE49-F238E27FC236}">
                <a16:creationId xmlns:a16="http://schemas.microsoft.com/office/drawing/2014/main" id="{B0254F4A-A044-A953-305B-DA3C87AF118D}"/>
              </a:ext>
            </a:extLst>
          </p:cNvPr>
          <p:cNvCxnSpPr>
            <a:cxnSpLocks/>
            <a:stCxn id="17" idx="2"/>
            <a:endCxn id="28" idx="0"/>
          </p:cNvCxnSpPr>
          <p:nvPr/>
        </p:nvCxnSpPr>
        <p:spPr>
          <a:xfrm rot="5400000">
            <a:off x="6551805" y="1231446"/>
            <a:ext cx="321934" cy="1953770"/>
          </a:xfrm>
          <a:prstGeom prst="bentConnector3">
            <a:avLst>
              <a:gd name="adj1" fmla="val 50000"/>
            </a:avLst>
          </a:prstGeom>
          <a:noFill/>
          <a:ln w="6350" cap="flat" cmpd="sng" algn="ctr">
            <a:solidFill>
              <a:srgbClr val="36365C"/>
            </a:solidFill>
            <a:prstDash val="solid"/>
            <a:miter lim="800000"/>
            <a:tailEnd type="triangle"/>
          </a:ln>
          <a:effectLst/>
        </p:spPr>
      </p:cxnSp>
      <p:sp>
        <p:nvSpPr>
          <p:cNvPr id="32" name="Diamond 31">
            <a:extLst>
              <a:ext uri="{FF2B5EF4-FFF2-40B4-BE49-F238E27FC236}">
                <a16:creationId xmlns:a16="http://schemas.microsoft.com/office/drawing/2014/main" id="{76B42BEE-8921-BEE2-669F-40E9FC001AC5}"/>
              </a:ext>
            </a:extLst>
          </p:cNvPr>
          <p:cNvSpPr/>
          <p:nvPr/>
        </p:nvSpPr>
        <p:spPr>
          <a:xfrm>
            <a:off x="2788700" y="4417884"/>
            <a:ext cx="1766573" cy="649002"/>
          </a:xfrm>
          <a:prstGeom prst="diamond">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Approve</a:t>
            </a:r>
          </a:p>
        </p:txBody>
      </p:sp>
      <p:sp>
        <p:nvSpPr>
          <p:cNvPr id="33" name="TextBox 32">
            <a:extLst>
              <a:ext uri="{FF2B5EF4-FFF2-40B4-BE49-F238E27FC236}">
                <a16:creationId xmlns:a16="http://schemas.microsoft.com/office/drawing/2014/main" id="{D9E574AC-9012-F613-6D8C-0BD4AD0413E2}"/>
              </a:ext>
            </a:extLst>
          </p:cNvPr>
          <p:cNvSpPr txBox="1"/>
          <p:nvPr/>
        </p:nvSpPr>
        <p:spPr>
          <a:xfrm>
            <a:off x="4405736" y="4406323"/>
            <a:ext cx="734733" cy="261610"/>
          </a:xfrm>
          <a:prstGeom prst="rect">
            <a:avLst/>
          </a:prstGeom>
          <a:noFill/>
        </p:spPr>
        <p:txBody>
          <a:bodyPr wrap="square" rtlCol="0">
            <a:spAutoFit/>
          </a:bodyPr>
          <a:lstStyle/>
          <a:p>
            <a:pPr>
              <a:buClrTx/>
              <a:buFontTx/>
              <a:buNone/>
              <a:defRPr/>
            </a:pPr>
            <a:r>
              <a:rPr lang="en-US" sz="1100">
                <a:solidFill>
                  <a:srgbClr val="034EA2"/>
                </a:solidFill>
                <a:latin typeface="Segoe UI"/>
                <a:ea typeface="+mn-ea"/>
              </a:rPr>
              <a:t>No</a:t>
            </a:r>
          </a:p>
        </p:txBody>
      </p:sp>
      <p:cxnSp>
        <p:nvCxnSpPr>
          <p:cNvPr id="34" name="Connector: Elbow 104">
            <a:extLst>
              <a:ext uri="{FF2B5EF4-FFF2-40B4-BE49-F238E27FC236}">
                <a16:creationId xmlns:a16="http://schemas.microsoft.com/office/drawing/2014/main" id="{16399FC0-A3B8-4021-0E81-8C50ECAEE1C3}"/>
              </a:ext>
            </a:extLst>
          </p:cNvPr>
          <p:cNvCxnSpPr>
            <a:cxnSpLocks/>
            <a:stCxn id="19" idx="1"/>
            <a:endCxn id="43" idx="0"/>
          </p:cNvCxnSpPr>
          <p:nvPr/>
        </p:nvCxnSpPr>
        <p:spPr>
          <a:xfrm rot="10800000" flipV="1">
            <a:off x="3664793" y="3431468"/>
            <a:ext cx="1200861" cy="330928"/>
          </a:xfrm>
          <a:prstGeom prst="bentConnector2">
            <a:avLst/>
          </a:prstGeom>
          <a:noFill/>
          <a:ln w="6350" cap="flat" cmpd="sng" algn="ctr">
            <a:solidFill>
              <a:srgbClr val="36365C"/>
            </a:solidFill>
            <a:prstDash val="solid"/>
            <a:miter lim="800000"/>
            <a:tailEnd type="triangle"/>
          </a:ln>
          <a:effectLst/>
        </p:spPr>
      </p:cxnSp>
      <p:cxnSp>
        <p:nvCxnSpPr>
          <p:cNvPr id="35" name="Straight Connector 34">
            <a:extLst>
              <a:ext uri="{FF2B5EF4-FFF2-40B4-BE49-F238E27FC236}">
                <a16:creationId xmlns:a16="http://schemas.microsoft.com/office/drawing/2014/main" id="{0DADB49D-A619-A930-E961-D988F80F0ADF}"/>
              </a:ext>
            </a:extLst>
          </p:cNvPr>
          <p:cNvCxnSpPr>
            <a:cxnSpLocks/>
          </p:cNvCxnSpPr>
          <p:nvPr/>
        </p:nvCxnSpPr>
        <p:spPr>
          <a:xfrm flipV="1">
            <a:off x="8503768" y="1097477"/>
            <a:ext cx="23145" cy="5762865"/>
          </a:xfrm>
          <a:prstGeom prst="line">
            <a:avLst/>
          </a:prstGeom>
          <a:noFill/>
          <a:ln w="25400" cap="flat" cmpd="sng" algn="ctr">
            <a:solidFill>
              <a:srgbClr val="33B2C1"/>
            </a:solidFill>
            <a:prstDash val="sysDot"/>
            <a:miter lim="800000"/>
          </a:ln>
          <a:effectLst/>
        </p:spPr>
      </p:cxnSp>
      <p:cxnSp>
        <p:nvCxnSpPr>
          <p:cNvPr id="36" name="Straight Connector 35">
            <a:extLst>
              <a:ext uri="{FF2B5EF4-FFF2-40B4-BE49-F238E27FC236}">
                <a16:creationId xmlns:a16="http://schemas.microsoft.com/office/drawing/2014/main" id="{13341496-43FE-74BF-2E56-61B839F26C5B}"/>
              </a:ext>
            </a:extLst>
          </p:cNvPr>
          <p:cNvCxnSpPr>
            <a:cxnSpLocks/>
          </p:cNvCxnSpPr>
          <p:nvPr/>
        </p:nvCxnSpPr>
        <p:spPr>
          <a:xfrm flipV="1">
            <a:off x="10020483" y="1073492"/>
            <a:ext cx="23145" cy="5762865"/>
          </a:xfrm>
          <a:prstGeom prst="line">
            <a:avLst/>
          </a:prstGeom>
          <a:noFill/>
          <a:ln w="25400" cap="flat" cmpd="sng" algn="ctr">
            <a:solidFill>
              <a:srgbClr val="33B2C1"/>
            </a:solidFill>
            <a:prstDash val="sysDot"/>
            <a:miter lim="800000"/>
          </a:ln>
          <a:effectLst/>
        </p:spPr>
      </p:cxnSp>
      <p:sp>
        <p:nvSpPr>
          <p:cNvPr id="37" name="TextBox 36">
            <a:extLst>
              <a:ext uri="{FF2B5EF4-FFF2-40B4-BE49-F238E27FC236}">
                <a16:creationId xmlns:a16="http://schemas.microsoft.com/office/drawing/2014/main" id="{06CE6904-1540-37C2-7892-FCE41E424B68}"/>
              </a:ext>
            </a:extLst>
          </p:cNvPr>
          <p:cNvSpPr txBox="1"/>
          <p:nvPr/>
        </p:nvSpPr>
        <p:spPr>
          <a:xfrm>
            <a:off x="2965116" y="5032046"/>
            <a:ext cx="734733" cy="261610"/>
          </a:xfrm>
          <a:prstGeom prst="rect">
            <a:avLst/>
          </a:prstGeom>
          <a:noFill/>
        </p:spPr>
        <p:txBody>
          <a:bodyPr wrap="square" rtlCol="0">
            <a:spAutoFit/>
          </a:bodyPr>
          <a:lstStyle/>
          <a:p>
            <a:pPr>
              <a:buClrTx/>
              <a:buFontTx/>
              <a:buNone/>
              <a:defRPr/>
            </a:pPr>
            <a:r>
              <a:rPr lang="en-US" sz="1100">
                <a:solidFill>
                  <a:srgbClr val="034EA2"/>
                </a:solidFill>
                <a:latin typeface="Segoe UI"/>
                <a:ea typeface="+mn-ea"/>
              </a:rPr>
              <a:t>Yes</a:t>
            </a:r>
          </a:p>
        </p:txBody>
      </p:sp>
      <p:cxnSp>
        <p:nvCxnSpPr>
          <p:cNvPr id="38" name="Connector: Elbow 109">
            <a:extLst>
              <a:ext uri="{FF2B5EF4-FFF2-40B4-BE49-F238E27FC236}">
                <a16:creationId xmlns:a16="http://schemas.microsoft.com/office/drawing/2014/main" id="{F44F7EE8-FCC3-7DB5-6346-D26D4A5D83B1}"/>
              </a:ext>
            </a:extLst>
          </p:cNvPr>
          <p:cNvCxnSpPr>
            <a:cxnSpLocks/>
            <a:stCxn id="32" idx="2"/>
            <a:endCxn id="90" idx="1"/>
          </p:cNvCxnSpPr>
          <p:nvPr/>
        </p:nvCxnSpPr>
        <p:spPr>
          <a:xfrm rot="16200000" flipH="1">
            <a:off x="6107980" y="2630892"/>
            <a:ext cx="499817" cy="5371803"/>
          </a:xfrm>
          <a:prstGeom prst="bentConnector2">
            <a:avLst/>
          </a:prstGeom>
          <a:noFill/>
          <a:ln w="6350" cap="flat" cmpd="sng" algn="ctr">
            <a:solidFill>
              <a:srgbClr val="36365C"/>
            </a:solidFill>
            <a:prstDash val="solid"/>
            <a:miter lim="800000"/>
            <a:tailEnd type="triangle"/>
          </a:ln>
          <a:effectLst/>
        </p:spPr>
      </p:cxnSp>
      <p:sp>
        <p:nvSpPr>
          <p:cNvPr id="39" name="Rectangle 38">
            <a:extLst>
              <a:ext uri="{FF2B5EF4-FFF2-40B4-BE49-F238E27FC236}">
                <a16:creationId xmlns:a16="http://schemas.microsoft.com/office/drawing/2014/main" id="{72F6923F-A3A3-1DCD-1047-85B1499D93E8}"/>
              </a:ext>
            </a:extLst>
          </p:cNvPr>
          <p:cNvSpPr/>
          <p:nvPr/>
        </p:nvSpPr>
        <p:spPr>
          <a:xfrm>
            <a:off x="6949603" y="6100290"/>
            <a:ext cx="1394170" cy="412704"/>
          </a:xfrm>
          <a:prstGeom prst="rect">
            <a:avLst/>
          </a:prstGeom>
          <a:solidFill>
            <a:srgbClr val="BFBFBF">
              <a:lumMod val="20000"/>
              <a:lumOff val="80000"/>
            </a:srgbClr>
          </a:solidFill>
          <a:ln w="12700" cap="flat" cmpd="sng" algn="ctr">
            <a:solidFill>
              <a:srgbClr val="33B2C1"/>
            </a:solidFill>
            <a:prstDash val="solid"/>
            <a:miter lim="800000"/>
          </a:ln>
          <a:effectLst/>
        </p:spPr>
        <p:txBody>
          <a:bodyPr rtlCol="0" anchor="ctr"/>
          <a:lstStyle/>
          <a:p>
            <a:pPr algn="ctr">
              <a:buClrTx/>
              <a:buFontTx/>
              <a:buNone/>
              <a:defRPr/>
            </a:pPr>
            <a:r>
              <a:rPr lang="en-US" sz="1100" dirty="0">
                <a:solidFill>
                  <a:srgbClr val="034EA2"/>
                </a:solidFill>
                <a:latin typeface="Segoe UI"/>
                <a:ea typeface="+mn-ea"/>
              </a:rPr>
              <a:t>Report Handover tasks</a:t>
            </a:r>
          </a:p>
        </p:txBody>
      </p:sp>
      <p:cxnSp>
        <p:nvCxnSpPr>
          <p:cNvPr id="40" name="Connector: Elbow 112">
            <a:extLst>
              <a:ext uri="{FF2B5EF4-FFF2-40B4-BE49-F238E27FC236}">
                <a16:creationId xmlns:a16="http://schemas.microsoft.com/office/drawing/2014/main" id="{9DCCCEAE-4E64-1F30-8A91-91519D891EC3}"/>
              </a:ext>
            </a:extLst>
          </p:cNvPr>
          <p:cNvCxnSpPr>
            <a:cxnSpLocks/>
            <a:stCxn id="90" idx="2"/>
            <a:endCxn id="39" idx="3"/>
          </p:cNvCxnSpPr>
          <p:nvPr/>
        </p:nvCxnSpPr>
        <p:spPr>
          <a:xfrm rot="5400000">
            <a:off x="8909337" y="5207492"/>
            <a:ext cx="533587" cy="1664713"/>
          </a:xfrm>
          <a:prstGeom prst="bentConnector2">
            <a:avLst/>
          </a:prstGeom>
          <a:noFill/>
          <a:ln w="6350" cap="flat" cmpd="sng" algn="ctr">
            <a:solidFill>
              <a:srgbClr val="36365C"/>
            </a:solidFill>
            <a:prstDash val="solid"/>
            <a:miter lim="800000"/>
            <a:tailEnd type="triangle"/>
          </a:ln>
          <a:effectLst/>
        </p:spPr>
      </p:cxnSp>
      <p:sp>
        <p:nvSpPr>
          <p:cNvPr id="41" name="Flowchart: Punched Tape 113">
            <a:extLst>
              <a:ext uri="{FF2B5EF4-FFF2-40B4-BE49-F238E27FC236}">
                <a16:creationId xmlns:a16="http://schemas.microsoft.com/office/drawing/2014/main" id="{2BECDF4C-BB8E-3F72-4710-A450E5E6795C}"/>
              </a:ext>
            </a:extLst>
          </p:cNvPr>
          <p:cNvSpPr/>
          <p:nvPr/>
        </p:nvSpPr>
        <p:spPr>
          <a:xfrm>
            <a:off x="9183969" y="4556672"/>
            <a:ext cx="1582041" cy="723918"/>
          </a:xfrm>
          <a:prstGeom prst="flowChartPunchedTape">
            <a:avLst/>
          </a:prstGeom>
          <a:solidFill>
            <a:srgbClr val="FFFF00"/>
          </a:solidFill>
          <a:ln w="12700" cap="flat" cmpd="sng" algn="ctr">
            <a:noFill/>
            <a:prstDash val="solid"/>
            <a:miter lim="800000"/>
          </a:ln>
          <a:effectLst/>
        </p:spPr>
        <p:txBody>
          <a:bodyPr rtlCol="0" anchor="ctr"/>
          <a:lstStyle/>
          <a:p>
            <a:pPr algn="ctr">
              <a:buClrTx/>
              <a:buFontTx/>
              <a:buNone/>
              <a:defRPr/>
            </a:pPr>
            <a:r>
              <a:rPr lang="en-US" sz="1100">
                <a:solidFill>
                  <a:srgbClr val="034EA2"/>
                </a:solidFill>
                <a:latin typeface="Segoe UI"/>
                <a:ea typeface="+mn-ea"/>
              </a:rPr>
              <a:t>Handover duration: </a:t>
            </a:r>
          </a:p>
          <a:p>
            <a:pPr algn="ctr">
              <a:buClrTx/>
              <a:buFontTx/>
              <a:buNone/>
              <a:defRPr/>
            </a:pPr>
            <a:r>
              <a:rPr lang="en-US" sz="1100">
                <a:solidFill>
                  <a:srgbClr val="034EA2"/>
                </a:solidFill>
                <a:latin typeface="Segoe UI"/>
                <a:ea typeface="+mn-ea"/>
              </a:rPr>
              <a:t>2 - 4 weeks</a:t>
            </a:r>
          </a:p>
        </p:txBody>
      </p:sp>
      <p:sp>
        <p:nvSpPr>
          <p:cNvPr id="42" name="Callout: Bent Line 114">
            <a:extLst>
              <a:ext uri="{FF2B5EF4-FFF2-40B4-BE49-F238E27FC236}">
                <a16:creationId xmlns:a16="http://schemas.microsoft.com/office/drawing/2014/main" id="{244468E1-CCAE-FBDF-F112-CACA88E80092}"/>
              </a:ext>
            </a:extLst>
          </p:cNvPr>
          <p:cNvSpPr/>
          <p:nvPr/>
        </p:nvSpPr>
        <p:spPr>
          <a:xfrm>
            <a:off x="9366054" y="1750848"/>
            <a:ext cx="1722220" cy="535531"/>
          </a:xfrm>
          <a:prstGeom prst="borderCallout2">
            <a:avLst>
              <a:gd name="adj1" fmla="val 43690"/>
              <a:gd name="adj2" fmla="val -2054"/>
              <a:gd name="adj3" fmla="val 18750"/>
              <a:gd name="adj4" fmla="val -16667"/>
              <a:gd name="adj5" fmla="val 33842"/>
              <a:gd name="adj6" fmla="val -57656"/>
            </a:avLst>
          </a:prstGeom>
          <a:solidFill>
            <a:srgbClr val="C00000"/>
          </a:solidFill>
          <a:ln w="12700" cap="flat" cmpd="sng" algn="ctr">
            <a:solidFill>
              <a:srgbClr val="33B2C1"/>
            </a:solidFill>
            <a:prstDash val="solid"/>
            <a:miter lim="800000"/>
            <a:tailEnd type="oval" w="lg" len="lg"/>
          </a:ln>
          <a:effectLst/>
        </p:spPr>
        <p:txBody>
          <a:bodyPr rtlCol="0" anchor="ctr"/>
          <a:lstStyle/>
          <a:p>
            <a:pPr algn="ctr">
              <a:buClrTx/>
              <a:buFontTx/>
              <a:buNone/>
              <a:defRPr/>
            </a:pPr>
            <a:r>
              <a:rPr lang="en-US" sz="1100">
                <a:solidFill>
                  <a:prstClr val="white"/>
                </a:solidFill>
                <a:latin typeface="Segoe UI"/>
                <a:ea typeface="+mn-ea"/>
              </a:rPr>
              <a:t>Inform to LGCNS/GDC &gt;=45 days in advance.</a:t>
            </a:r>
          </a:p>
        </p:txBody>
      </p:sp>
      <p:sp>
        <p:nvSpPr>
          <p:cNvPr id="43" name="Rectangle 42">
            <a:extLst>
              <a:ext uri="{FF2B5EF4-FFF2-40B4-BE49-F238E27FC236}">
                <a16:creationId xmlns:a16="http://schemas.microsoft.com/office/drawing/2014/main" id="{BC0FA39A-D49F-873D-4936-3759515EB4B0}"/>
              </a:ext>
            </a:extLst>
          </p:cNvPr>
          <p:cNvSpPr/>
          <p:nvPr/>
        </p:nvSpPr>
        <p:spPr>
          <a:xfrm>
            <a:off x="2997330" y="3762396"/>
            <a:ext cx="1334924" cy="360260"/>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a:solidFill>
                  <a:srgbClr val="034EA2"/>
                </a:solidFill>
                <a:latin typeface="Segoe UI"/>
                <a:ea typeface="+mn-ea"/>
              </a:rPr>
              <a:t>Review</a:t>
            </a:r>
          </a:p>
        </p:txBody>
      </p:sp>
      <p:cxnSp>
        <p:nvCxnSpPr>
          <p:cNvPr id="72" name="Straight Arrow Connector 71">
            <a:extLst>
              <a:ext uri="{FF2B5EF4-FFF2-40B4-BE49-F238E27FC236}">
                <a16:creationId xmlns:a16="http://schemas.microsoft.com/office/drawing/2014/main" id="{24F05DFB-99F6-BF94-78B7-14047F6E85F2}"/>
              </a:ext>
            </a:extLst>
          </p:cNvPr>
          <p:cNvCxnSpPr>
            <a:cxnSpLocks/>
            <a:stCxn id="43" idx="2"/>
            <a:endCxn id="32" idx="0"/>
          </p:cNvCxnSpPr>
          <p:nvPr/>
        </p:nvCxnSpPr>
        <p:spPr>
          <a:xfrm>
            <a:off x="3664792" y="4122656"/>
            <a:ext cx="7195" cy="295228"/>
          </a:xfrm>
          <a:prstGeom prst="straightConnector1">
            <a:avLst/>
          </a:prstGeom>
          <a:noFill/>
          <a:ln w="6350" cap="flat" cmpd="sng" algn="ctr">
            <a:solidFill>
              <a:srgbClr val="36365C"/>
            </a:solidFill>
            <a:prstDash val="solid"/>
            <a:miter lim="800000"/>
            <a:tailEnd type="triangle"/>
          </a:ln>
          <a:effectLst/>
        </p:spPr>
      </p:cxnSp>
      <p:cxnSp>
        <p:nvCxnSpPr>
          <p:cNvPr id="82" name="Straight Arrow Connector 81">
            <a:extLst>
              <a:ext uri="{FF2B5EF4-FFF2-40B4-BE49-F238E27FC236}">
                <a16:creationId xmlns:a16="http://schemas.microsoft.com/office/drawing/2014/main" id="{D857900E-A655-ED69-65D4-A9DF8939580D}"/>
              </a:ext>
            </a:extLst>
          </p:cNvPr>
          <p:cNvCxnSpPr>
            <a:cxnSpLocks/>
            <a:stCxn id="17" idx="1"/>
            <a:endCxn id="83" idx="3"/>
          </p:cNvCxnSpPr>
          <p:nvPr/>
        </p:nvCxnSpPr>
        <p:spPr>
          <a:xfrm flipH="1">
            <a:off x="6225367" y="1807310"/>
            <a:ext cx="796828" cy="6641"/>
          </a:xfrm>
          <a:prstGeom prst="straightConnector1">
            <a:avLst/>
          </a:prstGeom>
          <a:noFill/>
          <a:ln w="6350" cap="flat" cmpd="sng" algn="ctr">
            <a:solidFill>
              <a:srgbClr val="36365C"/>
            </a:solidFill>
            <a:prstDash val="solid"/>
            <a:miter lim="800000"/>
            <a:tailEnd type="triangle"/>
          </a:ln>
          <a:effectLst/>
        </p:spPr>
      </p:cxnSp>
      <p:sp>
        <p:nvSpPr>
          <p:cNvPr id="83" name="Rectangle 82">
            <a:extLst>
              <a:ext uri="{FF2B5EF4-FFF2-40B4-BE49-F238E27FC236}">
                <a16:creationId xmlns:a16="http://schemas.microsoft.com/office/drawing/2014/main" id="{30368347-0C91-18F0-CBB1-312C34114E75}"/>
              </a:ext>
            </a:extLst>
          </p:cNvPr>
          <p:cNvSpPr/>
          <p:nvPr/>
        </p:nvSpPr>
        <p:spPr>
          <a:xfrm>
            <a:off x="3221116" y="1609287"/>
            <a:ext cx="3004251" cy="409327"/>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dirty="0">
                <a:solidFill>
                  <a:srgbClr val="034EA2"/>
                </a:solidFill>
                <a:latin typeface="Segoe UI"/>
                <a:ea typeface="+mn-ea"/>
              </a:rPr>
              <a:t>Catch-up member resignation information</a:t>
            </a:r>
          </a:p>
        </p:txBody>
      </p:sp>
      <p:sp>
        <p:nvSpPr>
          <p:cNvPr id="84" name="Flowchart: Punched Tape 36">
            <a:extLst>
              <a:ext uri="{FF2B5EF4-FFF2-40B4-BE49-F238E27FC236}">
                <a16:creationId xmlns:a16="http://schemas.microsoft.com/office/drawing/2014/main" id="{7F43F315-9273-8885-935F-477E0AD7E834}"/>
              </a:ext>
            </a:extLst>
          </p:cNvPr>
          <p:cNvSpPr/>
          <p:nvPr/>
        </p:nvSpPr>
        <p:spPr>
          <a:xfrm>
            <a:off x="605225" y="3073040"/>
            <a:ext cx="1582041" cy="723918"/>
          </a:xfrm>
          <a:prstGeom prst="flowChartPunchedTape">
            <a:avLst/>
          </a:prstGeom>
          <a:solidFill>
            <a:srgbClr val="FFFF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a:ln>
                  <a:noFill/>
                </a:ln>
                <a:solidFill>
                  <a:srgbClr val="034EA2"/>
                </a:solidFill>
                <a:effectLst/>
                <a:uLnTx/>
                <a:uFillTx/>
                <a:ea typeface="+mn-ea"/>
              </a:rPr>
              <a:t>Inform: GDC weekly report</a:t>
            </a:r>
            <a:endParaRPr kumimoji="0" lang="en-US" sz="1100" b="0" i="0" u="none" strike="noStrike" kern="0" cap="none" spc="0" normalizeH="0" baseline="0" noProof="0" dirty="0">
              <a:ln>
                <a:noFill/>
              </a:ln>
              <a:solidFill>
                <a:srgbClr val="034EA2"/>
              </a:solidFill>
              <a:effectLst/>
              <a:uLnTx/>
              <a:uFillTx/>
              <a:ea typeface="+mn-ea"/>
            </a:endParaRPr>
          </a:p>
        </p:txBody>
      </p:sp>
      <p:cxnSp>
        <p:nvCxnSpPr>
          <p:cNvPr id="85" name="Connector: Elbow 29">
            <a:extLst>
              <a:ext uri="{FF2B5EF4-FFF2-40B4-BE49-F238E27FC236}">
                <a16:creationId xmlns:a16="http://schemas.microsoft.com/office/drawing/2014/main" id="{A3406205-A9E0-5EF4-4C62-7250DAC30248}"/>
              </a:ext>
            </a:extLst>
          </p:cNvPr>
          <p:cNvCxnSpPr>
            <a:cxnSpLocks/>
            <a:stCxn id="39" idx="1"/>
            <a:endCxn id="91" idx="3"/>
          </p:cNvCxnSpPr>
          <p:nvPr/>
        </p:nvCxnSpPr>
        <p:spPr>
          <a:xfrm flipH="1" flipV="1">
            <a:off x="4327721" y="6304914"/>
            <a:ext cx="2621882" cy="1728"/>
          </a:xfrm>
          <a:prstGeom prst="straightConnector1">
            <a:avLst/>
          </a:prstGeom>
          <a:noFill/>
          <a:ln w="6350" cap="flat" cmpd="sng" algn="ctr">
            <a:solidFill>
              <a:srgbClr val="36365C"/>
            </a:solidFill>
            <a:prstDash val="solid"/>
            <a:miter lim="800000"/>
            <a:tailEnd type="triangle"/>
          </a:ln>
          <a:effectLst/>
        </p:spPr>
      </p:cxnSp>
      <p:cxnSp>
        <p:nvCxnSpPr>
          <p:cNvPr id="86" name="Connector: Elbow 104">
            <a:extLst>
              <a:ext uri="{FF2B5EF4-FFF2-40B4-BE49-F238E27FC236}">
                <a16:creationId xmlns:a16="http://schemas.microsoft.com/office/drawing/2014/main" id="{944A1B7F-3C70-294E-5109-015BF873D87A}"/>
              </a:ext>
            </a:extLst>
          </p:cNvPr>
          <p:cNvCxnSpPr>
            <a:cxnSpLocks/>
            <a:stCxn id="19" idx="1"/>
            <a:endCxn id="84" idx="3"/>
          </p:cNvCxnSpPr>
          <p:nvPr/>
        </p:nvCxnSpPr>
        <p:spPr>
          <a:xfrm flipH="1">
            <a:off x="2187266" y="3431468"/>
            <a:ext cx="2678387" cy="3531"/>
          </a:xfrm>
          <a:prstGeom prst="straightConnector1">
            <a:avLst/>
          </a:prstGeom>
          <a:noFill/>
          <a:ln w="6350" cap="flat" cmpd="sng" algn="ctr">
            <a:solidFill>
              <a:srgbClr val="36365C"/>
            </a:solidFill>
            <a:prstDash val="solid"/>
            <a:miter lim="800000"/>
            <a:tailEnd type="triangle"/>
          </a:ln>
          <a:effectLst/>
        </p:spPr>
      </p:cxnSp>
      <p:sp>
        <p:nvSpPr>
          <p:cNvPr id="87" name="Rectangle 86">
            <a:extLst>
              <a:ext uri="{FF2B5EF4-FFF2-40B4-BE49-F238E27FC236}">
                <a16:creationId xmlns:a16="http://schemas.microsoft.com/office/drawing/2014/main" id="{325701E3-47C4-FFC5-03D9-D18B550699E0}"/>
              </a:ext>
            </a:extLst>
          </p:cNvPr>
          <p:cNvSpPr/>
          <p:nvPr/>
        </p:nvSpPr>
        <p:spPr>
          <a:xfrm>
            <a:off x="510659" y="5940772"/>
            <a:ext cx="1906263" cy="723918"/>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dirty="0">
                <a:solidFill>
                  <a:srgbClr val="034EA2"/>
                </a:solidFill>
                <a:latin typeface="Segoe UI"/>
                <a:ea typeface="+mn-ea"/>
              </a:rPr>
              <a:t>Evaluate GDC </a:t>
            </a:r>
            <a:r>
              <a:rPr lang="en-GB" sz="1100" dirty="0">
                <a:solidFill>
                  <a:srgbClr val="034EA2"/>
                </a:solidFill>
                <a:latin typeface="Segoe UI"/>
                <a:ea typeface="+mn-ea"/>
              </a:rPr>
              <a:t>stability /strength/performance</a:t>
            </a:r>
          </a:p>
        </p:txBody>
      </p:sp>
      <p:cxnSp>
        <p:nvCxnSpPr>
          <p:cNvPr id="88" name="Connector: Elbow 29">
            <a:extLst>
              <a:ext uri="{FF2B5EF4-FFF2-40B4-BE49-F238E27FC236}">
                <a16:creationId xmlns:a16="http://schemas.microsoft.com/office/drawing/2014/main" id="{C7C801CE-5C7E-F877-C001-929D7836A46D}"/>
              </a:ext>
            </a:extLst>
          </p:cNvPr>
          <p:cNvCxnSpPr>
            <a:cxnSpLocks/>
            <a:stCxn id="91" idx="1"/>
            <a:endCxn id="87" idx="3"/>
          </p:cNvCxnSpPr>
          <p:nvPr/>
        </p:nvCxnSpPr>
        <p:spPr>
          <a:xfrm flipH="1" flipV="1">
            <a:off x="2416922" y="6302731"/>
            <a:ext cx="575875" cy="2183"/>
          </a:xfrm>
          <a:prstGeom prst="straightConnector1">
            <a:avLst/>
          </a:prstGeom>
          <a:noFill/>
          <a:ln w="6350" cap="flat" cmpd="sng" algn="ctr">
            <a:solidFill>
              <a:srgbClr val="36365C"/>
            </a:solidFill>
            <a:prstDash val="solid"/>
            <a:miter lim="800000"/>
            <a:tailEnd type="triangle"/>
          </a:ln>
          <a:effectLst/>
        </p:spPr>
      </p:cxnSp>
      <p:sp>
        <p:nvSpPr>
          <p:cNvPr id="89" name="TextBox 88">
            <a:extLst>
              <a:ext uri="{FF2B5EF4-FFF2-40B4-BE49-F238E27FC236}">
                <a16:creationId xmlns:a16="http://schemas.microsoft.com/office/drawing/2014/main" id="{CA41BCB6-C3B2-EB15-8627-C89BEC90CB52}"/>
              </a:ext>
            </a:extLst>
          </p:cNvPr>
          <p:cNvSpPr txBox="1"/>
          <p:nvPr/>
        </p:nvSpPr>
        <p:spPr>
          <a:xfrm>
            <a:off x="2457509" y="5985169"/>
            <a:ext cx="734733" cy="261610"/>
          </a:xfrm>
          <a:prstGeom prst="rect">
            <a:avLst/>
          </a:prstGeom>
          <a:noFill/>
        </p:spPr>
        <p:txBody>
          <a:bodyPr wrap="square" rtlCol="0">
            <a:spAutoFit/>
          </a:bodyPr>
          <a:lstStyle/>
          <a:p>
            <a:pPr>
              <a:buClrTx/>
              <a:buFontTx/>
              <a:buNone/>
              <a:defRPr/>
            </a:pPr>
            <a:r>
              <a:rPr lang="en-US" sz="1100" dirty="0">
                <a:solidFill>
                  <a:srgbClr val="034EA2"/>
                </a:solidFill>
                <a:latin typeface="Segoe UI"/>
                <a:ea typeface="+mn-ea"/>
              </a:rPr>
              <a:t>Inform</a:t>
            </a:r>
          </a:p>
        </p:txBody>
      </p:sp>
      <p:sp>
        <p:nvSpPr>
          <p:cNvPr id="90" name="Rectangle 89">
            <a:extLst>
              <a:ext uri="{FF2B5EF4-FFF2-40B4-BE49-F238E27FC236}">
                <a16:creationId xmlns:a16="http://schemas.microsoft.com/office/drawing/2014/main" id="{4BF95F75-EFE8-4AE2-9CAE-979FD4A96E27}"/>
              </a:ext>
            </a:extLst>
          </p:cNvPr>
          <p:cNvSpPr/>
          <p:nvPr/>
        </p:nvSpPr>
        <p:spPr>
          <a:xfrm>
            <a:off x="9043790" y="5360351"/>
            <a:ext cx="1929391" cy="412704"/>
          </a:xfrm>
          <a:prstGeom prst="rect">
            <a:avLst/>
          </a:prstGeom>
          <a:gradFill rotWithShape="1">
            <a:gsLst>
              <a:gs pos="0">
                <a:srgbClr val="AEABAB">
                  <a:lumMod val="110000"/>
                  <a:satMod val="105000"/>
                  <a:tint val="67000"/>
                </a:srgbClr>
              </a:gs>
              <a:gs pos="50000">
                <a:srgbClr val="AEABAB">
                  <a:lumMod val="105000"/>
                  <a:satMod val="103000"/>
                  <a:tint val="73000"/>
                </a:srgbClr>
              </a:gs>
              <a:gs pos="100000">
                <a:srgbClr val="AEABAB">
                  <a:lumMod val="105000"/>
                  <a:satMod val="109000"/>
                  <a:tint val="81000"/>
                </a:srgbClr>
              </a:gs>
            </a:gsLst>
            <a:lin ang="5400000" scaled="0"/>
          </a:gradFill>
          <a:ln w="6350" cap="flat" cmpd="sng" algn="ctr">
            <a:solidFill>
              <a:srgbClr val="AEABAB"/>
            </a:solidFill>
            <a:prstDash val="solid"/>
            <a:miter lim="800000"/>
          </a:ln>
          <a:effectLst/>
        </p:spPr>
        <p:txBody>
          <a:bodyPr rtlCol="0" anchor="ctr"/>
          <a:lstStyle/>
          <a:p>
            <a:pPr algn="ctr">
              <a:buClrTx/>
              <a:buFontTx/>
              <a:buNone/>
              <a:defRPr/>
            </a:pPr>
            <a:r>
              <a:rPr lang="en-US" sz="1100" b="1">
                <a:solidFill>
                  <a:srgbClr val="034EA2"/>
                </a:solidFill>
                <a:latin typeface="Segoe UI"/>
                <a:ea typeface="+mn-ea"/>
              </a:rPr>
              <a:t>Do Handover tasks</a:t>
            </a:r>
          </a:p>
        </p:txBody>
      </p:sp>
      <p:sp>
        <p:nvSpPr>
          <p:cNvPr id="91" name="Rectangle 90">
            <a:extLst>
              <a:ext uri="{FF2B5EF4-FFF2-40B4-BE49-F238E27FC236}">
                <a16:creationId xmlns:a16="http://schemas.microsoft.com/office/drawing/2014/main" id="{2CC74D49-9D87-D01A-E967-509432C0F303}"/>
              </a:ext>
            </a:extLst>
          </p:cNvPr>
          <p:cNvSpPr/>
          <p:nvPr/>
        </p:nvSpPr>
        <p:spPr>
          <a:xfrm>
            <a:off x="2992797" y="6124784"/>
            <a:ext cx="1334924" cy="360260"/>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dirty="0">
                <a:solidFill>
                  <a:srgbClr val="034EA2"/>
                </a:solidFill>
                <a:latin typeface="Segoe UI"/>
                <a:ea typeface="+mn-ea"/>
              </a:rPr>
              <a:t>Approve</a:t>
            </a:r>
          </a:p>
        </p:txBody>
      </p:sp>
    </p:spTree>
    <p:extLst>
      <p:ext uri="{BB962C8B-B14F-4D97-AF65-F5344CB8AC3E}">
        <p14:creationId xmlns:p14="http://schemas.microsoft.com/office/powerpoint/2010/main" val="540625286"/>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27</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11233149" cy="584775"/>
            <a:chOff x="479425" y="461520"/>
            <a:chExt cx="11233149"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3" y="461520"/>
              <a:ext cx="11176311"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13. Standard Process </a:t>
              </a:r>
              <a:r>
                <a:rPr lang="en-US" sz="2400" b="1" dirty="0">
                  <a:solidFill>
                    <a:srgbClr val="212967"/>
                  </a:solidFill>
                  <a:latin typeface="Segoe UI" panose="020B0502040204020203" pitchFamily="34" charset="0"/>
                  <a:cs typeface="Segoe UI" panose="020B0502040204020203" pitchFamily="34" charset="0"/>
                </a:rPr>
                <a:t>- Replacement Process (Request by LG CNS)</a:t>
              </a:r>
            </a:p>
          </p:txBody>
        </p:sp>
      </p:grpSp>
      <p:cxnSp>
        <p:nvCxnSpPr>
          <p:cNvPr id="34" name="Straight Connector 33">
            <a:extLst>
              <a:ext uri="{FF2B5EF4-FFF2-40B4-BE49-F238E27FC236}">
                <a16:creationId xmlns:a16="http://schemas.microsoft.com/office/drawing/2014/main" id="{35CB3115-9F3F-3D24-4129-9541148F9C53}"/>
              </a:ext>
            </a:extLst>
          </p:cNvPr>
          <p:cNvCxnSpPr>
            <a:cxnSpLocks/>
          </p:cNvCxnSpPr>
          <p:nvPr/>
        </p:nvCxnSpPr>
        <p:spPr>
          <a:xfrm flipV="1">
            <a:off x="6913607" y="1054720"/>
            <a:ext cx="23145" cy="5762865"/>
          </a:xfrm>
          <a:prstGeom prst="line">
            <a:avLst/>
          </a:prstGeom>
          <a:noFill/>
          <a:ln w="25400" cap="flat" cmpd="sng" algn="ctr">
            <a:solidFill>
              <a:srgbClr val="4472C4"/>
            </a:solidFill>
            <a:prstDash val="sysDot"/>
            <a:miter lim="800000"/>
          </a:ln>
          <a:effectLst/>
        </p:spPr>
      </p:cxnSp>
      <p:cxnSp>
        <p:nvCxnSpPr>
          <p:cNvPr id="48" name="Straight Connector 47">
            <a:extLst>
              <a:ext uri="{FF2B5EF4-FFF2-40B4-BE49-F238E27FC236}">
                <a16:creationId xmlns:a16="http://schemas.microsoft.com/office/drawing/2014/main" id="{D6CC70C3-C34B-70A2-8ED0-B6F640E4BC83}"/>
              </a:ext>
            </a:extLst>
          </p:cNvPr>
          <p:cNvCxnSpPr>
            <a:cxnSpLocks/>
          </p:cNvCxnSpPr>
          <p:nvPr/>
        </p:nvCxnSpPr>
        <p:spPr>
          <a:xfrm flipV="1">
            <a:off x="2312160" y="1004850"/>
            <a:ext cx="23145" cy="5762865"/>
          </a:xfrm>
          <a:prstGeom prst="line">
            <a:avLst/>
          </a:prstGeom>
          <a:noFill/>
          <a:ln w="25400" cap="flat" cmpd="sng" algn="ctr">
            <a:solidFill>
              <a:srgbClr val="4472C4"/>
            </a:solidFill>
            <a:prstDash val="sysDot"/>
            <a:miter lim="800000"/>
          </a:ln>
          <a:effectLst/>
        </p:spPr>
      </p:cxnSp>
      <p:cxnSp>
        <p:nvCxnSpPr>
          <p:cNvPr id="49" name="Straight Connector 48">
            <a:extLst>
              <a:ext uri="{FF2B5EF4-FFF2-40B4-BE49-F238E27FC236}">
                <a16:creationId xmlns:a16="http://schemas.microsoft.com/office/drawing/2014/main" id="{ED031254-0DAB-7E44-1F75-E89B896BD91A}"/>
              </a:ext>
            </a:extLst>
          </p:cNvPr>
          <p:cNvCxnSpPr>
            <a:cxnSpLocks/>
          </p:cNvCxnSpPr>
          <p:nvPr/>
        </p:nvCxnSpPr>
        <p:spPr>
          <a:xfrm flipV="1">
            <a:off x="4807938" y="1046096"/>
            <a:ext cx="23145" cy="5762865"/>
          </a:xfrm>
          <a:prstGeom prst="line">
            <a:avLst/>
          </a:prstGeom>
          <a:noFill/>
          <a:ln w="25400" cap="flat" cmpd="sng" algn="ctr">
            <a:solidFill>
              <a:srgbClr val="4472C4"/>
            </a:solidFill>
            <a:prstDash val="sysDot"/>
            <a:miter lim="800000"/>
          </a:ln>
          <a:effectLst/>
        </p:spPr>
      </p:cxnSp>
      <p:sp>
        <p:nvSpPr>
          <p:cNvPr id="50" name="Rectangle 49">
            <a:extLst>
              <a:ext uri="{FF2B5EF4-FFF2-40B4-BE49-F238E27FC236}">
                <a16:creationId xmlns:a16="http://schemas.microsoft.com/office/drawing/2014/main" id="{A8C3F84A-AD47-3007-D7EE-9C643BF0E0EB}"/>
              </a:ext>
            </a:extLst>
          </p:cNvPr>
          <p:cNvSpPr/>
          <p:nvPr/>
        </p:nvSpPr>
        <p:spPr>
          <a:xfrm>
            <a:off x="5051658" y="1113295"/>
            <a:ext cx="1664547" cy="397638"/>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FPT DM/BrSE Leader</a:t>
            </a:r>
          </a:p>
        </p:txBody>
      </p:sp>
      <p:sp>
        <p:nvSpPr>
          <p:cNvPr id="51" name="Rectangle 50">
            <a:extLst>
              <a:ext uri="{FF2B5EF4-FFF2-40B4-BE49-F238E27FC236}">
                <a16:creationId xmlns:a16="http://schemas.microsoft.com/office/drawing/2014/main" id="{EC7B3A21-1A2E-7B99-D25A-C29230B4B49D}"/>
              </a:ext>
            </a:extLst>
          </p:cNvPr>
          <p:cNvSpPr/>
          <p:nvPr/>
        </p:nvSpPr>
        <p:spPr>
          <a:xfrm>
            <a:off x="7368719" y="1113295"/>
            <a:ext cx="1358068" cy="323456"/>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Offshore PM </a:t>
            </a:r>
          </a:p>
        </p:txBody>
      </p:sp>
      <p:sp>
        <p:nvSpPr>
          <p:cNvPr id="52" name="Rectangle 51">
            <a:extLst>
              <a:ext uri="{FF2B5EF4-FFF2-40B4-BE49-F238E27FC236}">
                <a16:creationId xmlns:a16="http://schemas.microsoft.com/office/drawing/2014/main" id="{3F1E9281-97C9-ED9E-F255-AAA32D5A9FC1}"/>
              </a:ext>
            </a:extLst>
          </p:cNvPr>
          <p:cNvSpPr/>
          <p:nvPr/>
        </p:nvSpPr>
        <p:spPr>
          <a:xfrm>
            <a:off x="7039803" y="3137394"/>
            <a:ext cx="1766574" cy="392525"/>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Create  Handover Plan + Find New Candidate</a:t>
            </a:r>
          </a:p>
        </p:txBody>
      </p:sp>
      <p:sp>
        <p:nvSpPr>
          <p:cNvPr id="53" name="Rectangle 52">
            <a:extLst>
              <a:ext uri="{FF2B5EF4-FFF2-40B4-BE49-F238E27FC236}">
                <a16:creationId xmlns:a16="http://schemas.microsoft.com/office/drawing/2014/main" id="{62634B58-1841-A516-BD4F-FD2CF75B3985}"/>
              </a:ext>
            </a:extLst>
          </p:cNvPr>
          <p:cNvSpPr/>
          <p:nvPr/>
        </p:nvSpPr>
        <p:spPr>
          <a:xfrm>
            <a:off x="535812" y="1107538"/>
            <a:ext cx="1474383" cy="39504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800" b="1" dirty="0">
                <a:solidFill>
                  <a:prstClr val="white"/>
                </a:solidFill>
                <a:latin typeface="Segoe UI"/>
                <a:ea typeface="+mn-ea"/>
              </a:rPr>
              <a:t>GDC Governance Team</a:t>
            </a:r>
          </a:p>
          <a:p>
            <a:pPr algn="ctr">
              <a:buClrTx/>
              <a:buFontTx/>
              <a:buNone/>
              <a:defRPr/>
            </a:pPr>
            <a:r>
              <a:rPr lang="en-US" sz="800" b="1" dirty="0">
                <a:solidFill>
                  <a:prstClr val="white"/>
                </a:solidFill>
                <a:latin typeface="Segoe UI"/>
                <a:ea typeface="+mn-ea"/>
              </a:rPr>
              <a:t>GDC leader of each divisions</a:t>
            </a:r>
          </a:p>
        </p:txBody>
      </p:sp>
      <p:sp>
        <p:nvSpPr>
          <p:cNvPr id="54" name="Diamond 53">
            <a:extLst>
              <a:ext uri="{FF2B5EF4-FFF2-40B4-BE49-F238E27FC236}">
                <a16:creationId xmlns:a16="http://schemas.microsoft.com/office/drawing/2014/main" id="{C6BFA780-93F0-5DE2-236E-AC1C3E4FB9E7}"/>
              </a:ext>
            </a:extLst>
          </p:cNvPr>
          <p:cNvSpPr/>
          <p:nvPr/>
        </p:nvSpPr>
        <p:spPr>
          <a:xfrm>
            <a:off x="5012485" y="4281870"/>
            <a:ext cx="1766573" cy="413645"/>
          </a:xfrm>
          <a:prstGeom prst="diamond">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Approve</a:t>
            </a:r>
          </a:p>
        </p:txBody>
      </p:sp>
      <p:sp>
        <p:nvSpPr>
          <p:cNvPr id="55" name="Rectangle 54">
            <a:extLst>
              <a:ext uri="{FF2B5EF4-FFF2-40B4-BE49-F238E27FC236}">
                <a16:creationId xmlns:a16="http://schemas.microsoft.com/office/drawing/2014/main" id="{EF807AB6-AF63-56C7-A784-BBEEEFD7FFA2}"/>
              </a:ext>
            </a:extLst>
          </p:cNvPr>
          <p:cNvSpPr/>
          <p:nvPr/>
        </p:nvSpPr>
        <p:spPr>
          <a:xfrm>
            <a:off x="7132925" y="4345121"/>
            <a:ext cx="1394170" cy="283421"/>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Update</a:t>
            </a:r>
          </a:p>
        </p:txBody>
      </p:sp>
      <p:cxnSp>
        <p:nvCxnSpPr>
          <p:cNvPr id="56" name="Straight Arrow Connector 55">
            <a:extLst>
              <a:ext uri="{FF2B5EF4-FFF2-40B4-BE49-F238E27FC236}">
                <a16:creationId xmlns:a16="http://schemas.microsoft.com/office/drawing/2014/main" id="{9FB63447-A941-E048-8B03-576F30E37225}"/>
              </a:ext>
            </a:extLst>
          </p:cNvPr>
          <p:cNvCxnSpPr>
            <a:cxnSpLocks/>
            <a:stCxn id="54" idx="3"/>
            <a:endCxn id="55" idx="1"/>
          </p:cNvCxnSpPr>
          <p:nvPr/>
        </p:nvCxnSpPr>
        <p:spPr>
          <a:xfrm flipV="1">
            <a:off x="6779058" y="4486832"/>
            <a:ext cx="353867" cy="1861"/>
          </a:xfrm>
          <a:prstGeom prst="straightConnector1">
            <a:avLst/>
          </a:prstGeom>
          <a:noFill/>
          <a:ln w="6350" cap="flat" cmpd="sng" algn="ctr">
            <a:solidFill>
              <a:srgbClr val="36365C"/>
            </a:solidFill>
            <a:prstDash val="solid"/>
            <a:miter lim="800000"/>
            <a:tailEnd type="triangle"/>
          </a:ln>
          <a:effectLst/>
        </p:spPr>
      </p:cxnSp>
      <p:sp>
        <p:nvSpPr>
          <p:cNvPr id="57" name="TextBox 56">
            <a:extLst>
              <a:ext uri="{FF2B5EF4-FFF2-40B4-BE49-F238E27FC236}">
                <a16:creationId xmlns:a16="http://schemas.microsoft.com/office/drawing/2014/main" id="{DBD384F0-E74C-83A1-5757-B15AB7461EFB}"/>
              </a:ext>
            </a:extLst>
          </p:cNvPr>
          <p:cNvSpPr txBox="1"/>
          <p:nvPr/>
        </p:nvSpPr>
        <p:spPr>
          <a:xfrm>
            <a:off x="6535539" y="4580966"/>
            <a:ext cx="503660"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No</a:t>
            </a:r>
          </a:p>
        </p:txBody>
      </p:sp>
      <p:sp>
        <p:nvSpPr>
          <p:cNvPr id="58" name="TextBox 57">
            <a:extLst>
              <a:ext uri="{FF2B5EF4-FFF2-40B4-BE49-F238E27FC236}">
                <a16:creationId xmlns:a16="http://schemas.microsoft.com/office/drawing/2014/main" id="{CEEEE25E-E51A-3B3D-66FA-C8B069677111}"/>
              </a:ext>
            </a:extLst>
          </p:cNvPr>
          <p:cNvSpPr txBox="1"/>
          <p:nvPr/>
        </p:nvSpPr>
        <p:spPr>
          <a:xfrm>
            <a:off x="4705846" y="4619527"/>
            <a:ext cx="734733"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Yes</a:t>
            </a:r>
          </a:p>
        </p:txBody>
      </p:sp>
      <p:cxnSp>
        <p:nvCxnSpPr>
          <p:cNvPr id="59" name="Connector: Elbow 50">
            <a:extLst>
              <a:ext uri="{FF2B5EF4-FFF2-40B4-BE49-F238E27FC236}">
                <a16:creationId xmlns:a16="http://schemas.microsoft.com/office/drawing/2014/main" id="{33F2CC90-5D61-9163-5044-84194D3D171F}"/>
              </a:ext>
            </a:extLst>
          </p:cNvPr>
          <p:cNvCxnSpPr>
            <a:cxnSpLocks/>
            <a:stCxn id="67" idx="3"/>
            <a:endCxn id="55" idx="2"/>
          </p:cNvCxnSpPr>
          <p:nvPr/>
        </p:nvCxnSpPr>
        <p:spPr>
          <a:xfrm flipV="1">
            <a:off x="4711630" y="4628542"/>
            <a:ext cx="3118380" cy="978725"/>
          </a:xfrm>
          <a:prstGeom prst="bentConnector2">
            <a:avLst/>
          </a:prstGeom>
          <a:noFill/>
          <a:ln w="6350" cap="flat" cmpd="sng" algn="ctr">
            <a:solidFill>
              <a:srgbClr val="36365C"/>
            </a:solidFill>
            <a:prstDash val="solid"/>
            <a:miter lim="800000"/>
            <a:tailEnd type="triangle"/>
          </a:ln>
          <a:effectLst/>
        </p:spPr>
      </p:cxnSp>
      <p:sp>
        <p:nvSpPr>
          <p:cNvPr id="60" name="Rectangle 59">
            <a:extLst>
              <a:ext uri="{FF2B5EF4-FFF2-40B4-BE49-F238E27FC236}">
                <a16:creationId xmlns:a16="http://schemas.microsoft.com/office/drawing/2014/main" id="{90E80688-E1BE-05E1-1B78-36FEB5E71E71}"/>
              </a:ext>
            </a:extLst>
          </p:cNvPr>
          <p:cNvSpPr/>
          <p:nvPr/>
        </p:nvSpPr>
        <p:spPr>
          <a:xfrm>
            <a:off x="9244357" y="1107938"/>
            <a:ext cx="1176916" cy="322338"/>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New Member</a:t>
            </a:r>
          </a:p>
        </p:txBody>
      </p:sp>
      <p:sp>
        <p:nvSpPr>
          <p:cNvPr id="61" name="Rectangle 60">
            <a:extLst>
              <a:ext uri="{FF2B5EF4-FFF2-40B4-BE49-F238E27FC236}">
                <a16:creationId xmlns:a16="http://schemas.microsoft.com/office/drawing/2014/main" id="{87477900-F813-5443-82DA-FE587D766BEE}"/>
              </a:ext>
            </a:extLst>
          </p:cNvPr>
          <p:cNvSpPr/>
          <p:nvPr/>
        </p:nvSpPr>
        <p:spPr>
          <a:xfrm>
            <a:off x="10648241" y="1113296"/>
            <a:ext cx="1176916" cy="322338"/>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Old Member</a:t>
            </a:r>
          </a:p>
        </p:txBody>
      </p:sp>
      <p:sp>
        <p:nvSpPr>
          <p:cNvPr id="62" name="Rectangle 61">
            <a:extLst>
              <a:ext uri="{FF2B5EF4-FFF2-40B4-BE49-F238E27FC236}">
                <a16:creationId xmlns:a16="http://schemas.microsoft.com/office/drawing/2014/main" id="{81CF67F6-79FF-CCC5-3F5D-323AFC7CD8CB}"/>
              </a:ext>
            </a:extLst>
          </p:cNvPr>
          <p:cNvSpPr/>
          <p:nvPr/>
        </p:nvSpPr>
        <p:spPr>
          <a:xfrm>
            <a:off x="3196499" y="1114593"/>
            <a:ext cx="1474383" cy="389719"/>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dirty="0">
                <a:solidFill>
                  <a:prstClr val="white"/>
                </a:solidFill>
                <a:latin typeface="Segoe UI"/>
                <a:ea typeface="+mn-ea"/>
              </a:rPr>
              <a:t>LGCNS PM</a:t>
            </a:r>
          </a:p>
        </p:txBody>
      </p:sp>
      <p:sp>
        <p:nvSpPr>
          <p:cNvPr id="63" name="Rectangle 62">
            <a:extLst>
              <a:ext uri="{FF2B5EF4-FFF2-40B4-BE49-F238E27FC236}">
                <a16:creationId xmlns:a16="http://schemas.microsoft.com/office/drawing/2014/main" id="{5362ADD7-CEF1-9E37-4489-2D181EB70884}"/>
              </a:ext>
            </a:extLst>
          </p:cNvPr>
          <p:cNvSpPr/>
          <p:nvPr/>
        </p:nvSpPr>
        <p:spPr>
          <a:xfrm>
            <a:off x="5215257" y="3798158"/>
            <a:ext cx="1334924" cy="270338"/>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Review</a:t>
            </a:r>
          </a:p>
        </p:txBody>
      </p:sp>
      <p:cxnSp>
        <p:nvCxnSpPr>
          <p:cNvPr id="64" name="Straight Arrow Connector 63">
            <a:extLst>
              <a:ext uri="{FF2B5EF4-FFF2-40B4-BE49-F238E27FC236}">
                <a16:creationId xmlns:a16="http://schemas.microsoft.com/office/drawing/2014/main" id="{C81E6ADC-3249-FA76-BDCD-FF24BB4C2AD6}"/>
              </a:ext>
            </a:extLst>
          </p:cNvPr>
          <p:cNvCxnSpPr>
            <a:cxnSpLocks/>
            <a:stCxn id="63" idx="2"/>
            <a:endCxn id="54" idx="0"/>
          </p:cNvCxnSpPr>
          <p:nvPr/>
        </p:nvCxnSpPr>
        <p:spPr>
          <a:xfrm>
            <a:off x="5882719" y="4068496"/>
            <a:ext cx="13053" cy="213374"/>
          </a:xfrm>
          <a:prstGeom prst="straightConnector1">
            <a:avLst/>
          </a:prstGeom>
          <a:noFill/>
          <a:ln w="6350" cap="flat" cmpd="sng" algn="ctr">
            <a:solidFill>
              <a:srgbClr val="36365C"/>
            </a:solidFill>
            <a:prstDash val="solid"/>
            <a:miter lim="800000"/>
            <a:tailEnd type="triangle"/>
          </a:ln>
          <a:effectLst/>
        </p:spPr>
      </p:cxnSp>
      <p:cxnSp>
        <p:nvCxnSpPr>
          <p:cNvPr id="65" name="Connector: Elbow 60">
            <a:extLst>
              <a:ext uri="{FF2B5EF4-FFF2-40B4-BE49-F238E27FC236}">
                <a16:creationId xmlns:a16="http://schemas.microsoft.com/office/drawing/2014/main" id="{73E450BF-13F8-E894-EFFA-CC5A662D3BF6}"/>
              </a:ext>
            </a:extLst>
          </p:cNvPr>
          <p:cNvCxnSpPr>
            <a:cxnSpLocks/>
            <a:stCxn id="55" idx="0"/>
            <a:endCxn id="63" idx="3"/>
          </p:cNvCxnSpPr>
          <p:nvPr/>
        </p:nvCxnSpPr>
        <p:spPr>
          <a:xfrm rot="16200000" flipV="1">
            <a:off x="6984199" y="3499309"/>
            <a:ext cx="411794" cy="1279829"/>
          </a:xfrm>
          <a:prstGeom prst="bentConnector2">
            <a:avLst/>
          </a:prstGeom>
          <a:noFill/>
          <a:ln w="6350" cap="flat" cmpd="sng" algn="ctr">
            <a:solidFill>
              <a:srgbClr val="36365C"/>
            </a:solidFill>
            <a:prstDash val="solid"/>
            <a:miter lim="800000"/>
            <a:tailEnd type="triangle"/>
          </a:ln>
          <a:effectLst/>
        </p:spPr>
      </p:cxnSp>
      <p:cxnSp>
        <p:nvCxnSpPr>
          <p:cNvPr id="66" name="Connector: Elbow 64">
            <a:extLst>
              <a:ext uri="{FF2B5EF4-FFF2-40B4-BE49-F238E27FC236}">
                <a16:creationId xmlns:a16="http://schemas.microsoft.com/office/drawing/2014/main" id="{21B0C048-05D9-1354-4279-F299CC43FD2B}"/>
              </a:ext>
            </a:extLst>
          </p:cNvPr>
          <p:cNvCxnSpPr>
            <a:cxnSpLocks/>
            <a:stCxn id="52" idx="2"/>
            <a:endCxn id="63" idx="0"/>
          </p:cNvCxnSpPr>
          <p:nvPr/>
        </p:nvCxnSpPr>
        <p:spPr>
          <a:xfrm rot="5400000">
            <a:off x="6768786" y="2643853"/>
            <a:ext cx="268239" cy="2040371"/>
          </a:xfrm>
          <a:prstGeom prst="bentConnector3">
            <a:avLst>
              <a:gd name="adj1" fmla="val 50000"/>
            </a:avLst>
          </a:prstGeom>
          <a:noFill/>
          <a:ln w="6350" cap="flat" cmpd="sng" algn="ctr">
            <a:solidFill>
              <a:srgbClr val="36365C"/>
            </a:solidFill>
            <a:prstDash val="solid"/>
            <a:miter lim="800000"/>
            <a:tailEnd type="triangle"/>
          </a:ln>
          <a:effectLst/>
        </p:spPr>
      </p:cxnSp>
      <p:sp>
        <p:nvSpPr>
          <p:cNvPr id="67" name="Diamond 66">
            <a:extLst>
              <a:ext uri="{FF2B5EF4-FFF2-40B4-BE49-F238E27FC236}">
                <a16:creationId xmlns:a16="http://schemas.microsoft.com/office/drawing/2014/main" id="{E95E6C99-79FE-8A26-A3AD-E76875273CB9}"/>
              </a:ext>
            </a:extLst>
          </p:cNvPr>
          <p:cNvSpPr/>
          <p:nvPr/>
        </p:nvSpPr>
        <p:spPr>
          <a:xfrm>
            <a:off x="2945057" y="5407790"/>
            <a:ext cx="1766573" cy="398953"/>
          </a:xfrm>
          <a:prstGeom prst="diamond">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Approve</a:t>
            </a:r>
          </a:p>
        </p:txBody>
      </p:sp>
      <p:sp>
        <p:nvSpPr>
          <p:cNvPr id="68" name="TextBox 67">
            <a:extLst>
              <a:ext uri="{FF2B5EF4-FFF2-40B4-BE49-F238E27FC236}">
                <a16:creationId xmlns:a16="http://schemas.microsoft.com/office/drawing/2014/main" id="{37A2EA32-101B-196B-464C-E9731D8FCDA7}"/>
              </a:ext>
            </a:extLst>
          </p:cNvPr>
          <p:cNvSpPr txBox="1"/>
          <p:nvPr/>
        </p:nvSpPr>
        <p:spPr>
          <a:xfrm>
            <a:off x="4488115" y="5682594"/>
            <a:ext cx="734733"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No</a:t>
            </a:r>
          </a:p>
        </p:txBody>
      </p:sp>
      <p:cxnSp>
        <p:nvCxnSpPr>
          <p:cNvPr id="69" name="Connector: Elbow 74">
            <a:extLst>
              <a:ext uri="{FF2B5EF4-FFF2-40B4-BE49-F238E27FC236}">
                <a16:creationId xmlns:a16="http://schemas.microsoft.com/office/drawing/2014/main" id="{A1ACD802-30DC-00E5-CF06-55030CB82D71}"/>
              </a:ext>
            </a:extLst>
          </p:cNvPr>
          <p:cNvCxnSpPr>
            <a:cxnSpLocks/>
            <a:stCxn id="54" idx="1"/>
            <a:endCxn id="81" idx="0"/>
          </p:cNvCxnSpPr>
          <p:nvPr/>
        </p:nvCxnSpPr>
        <p:spPr>
          <a:xfrm rot="10800000" flipV="1">
            <a:off x="3821149" y="4488692"/>
            <a:ext cx="1191336" cy="392443"/>
          </a:xfrm>
          <a:prstGeom prst="bentConnector2">
            <a:avLst/>
          </a:prstGeom>
          <a:noFill/>
          <a:ln w="6350" cap="flat" cmpd="sng" algn="ctr">
            <a:solidFill>
              <a:srgbClr val="36365C"/>
            </a:solidFill>
            <a:prstDash val="solid"/>
            <a:miter lim="800000"/>
            <a:tailEnd type="triangle"/>
          </a:ln>
          <a:effectLst/>
        </p:spPr>
      </p:cxnSp>
      <p:cxnSp>
        <p:nvCxnSpPr>
          <p:cNvPr id="71" name="Straight Connector 70">
            <a:extLst>
              <a:ext uri="{FF2B5EF4-FFF2-40B4-BE49-F238E27FC236}">
                <a16:creationId xmlns:a16="http://schemas.microsoft.com/office/drawing/2014/main" id="{A617CE95-952A-0B03-D7C1-A82432B55900}"/>
              </a:ext>
            </a:extLst>
          </p:cNvPr>
          <p:cNvCxnSpPr>
            <a:cxnSpLocks/>
          </p:cNvCxnSpPr>
          <p:nvPr/>
        </p:nvCxnSpPr>
        <p:spPr>
          <a:xfrm flipV="1">
            <a:off x="9132699" y="1070081"/>
            <a:ext cx="23145" cy="5762865"/>
          </a:xfrm>
          <a:prstGeom prst="line">
            <a:avLst/>
          </a:prstGeom>
          <a:noFill/>
          <a:ln w="25400" cap="flat" cmpd="sng" algn="ctr">
            <a:solidFill>
              <a:srgbClr val="4472C4"/>
            </a:solidFill>
            <a:prstDash val="sysDot"/>
            <a:miter lim="800000"/>
          </a:ln>
          <a:effectLst/>
        </p:spPr>
      </p:cxnSp>
      <p:cxnSp>
        <p:nvCxnSpPr>
          <p:cNvPr id="72" name="Straight Connector 71">
            <a:extLst>
              <a:ext uri="{FF2B5EF4-FFF2-40B4-BE49-F238E27FC236}">
                <a16:creationId xmlns:a16="http://schemas.microsoft.com/office/drawing/2014/main" id="{25E36FD4-AA40-C488-94B6-77B24562A5B3}"/>
              </a:ext>
            </a:extLst>
          </p:cNvPr>
          <p:cNvCxnSpPr>
            <a:cxnSpLocks/>
          </p:cNvCxnSpPr>
          <p:nvPr/>
        </p:nvCxnSpPr>
        <p:spPr>
          <a:xfrm flipV="1">
            <a:off x="10503642" y="1046096"/>
            <a:ext cx="23145" cy="5762865"/>
          </a:xfrm>
          <a:prstGeom prst="line">
            <a:avLst/>
          </a:prstGeom>
          <a:noFill/>
          <a:ln w="25400" cap="flat" cmpd="sng" algn="ctr">
            <a:solidFill>
              <a:srgbClr val="4472C4"/>
            </a:solidFill>
            <a:prstDash val="sysDot"/>
            <a:miter lim="800000"/>
          </a:ln>
          <a:effectLst/>
        </p:spPr>
      </p:cxnSp>
      <p:sp>
        <p:nvSpPr>
          <p:cNvPr id="73" name="TextBox 72">
            <a:extLst>
              <a:ext uri="{FF2B5EF4-FFF2-40B4-BE49-F238E27FC236}">
                <a16:creationId xmlns:a16="http://schemas.microsoft.com/office/drawing/2014/main" id="{C953466B-EA13-22DB-A290-D3B34AB84715}"/>
              </a:ext>
            </a:extLst>
          </p:cNvPr>
          <p:cNvSpPr txBox="1"/>
          <p:nvPr/>
        </p:nvSpPr>
        <p:spPr>
          <a:xfrm>
            <a:off x="3121473" y="5771904"/>
            <a:ext cx="734733"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Yes</a:t>
            </a:r>
          </a:p>
        </p:txBody>
      </p:sp>
      <p:cxnSp>
        <p:nvCxnSpPr>
          <p:cNvPr id="74" name="Connector: Elbow 83">
            <a:extLst>
              <a:ext uri="{FF2B5EF4-FFF2-40B4-BE49-F238E27FC236}">
                <a16:creationId xmlns:a16="http://schemas.microsoft.com/office/drawing/2014/main" id="{B1B75619-2A41-9C11-3D00-D11B9D86050B}"/>
              </a:ext>
            </a:extLst>
          </p:cNvPr>
          <p:cNvCxnSpPr>
            <a:cxnSpLocks/>
            <a:stCxn id="67" idx="2"/>
            <a:endCxn id="70" idx="1"/>
          </p:cNvCxnSpPr>
          <p:nvPr/>
        </p:nvCxnSpPr>
        <p:spPr>
          <a:xfrm rot="16200000" flipH="1">
            <a:off x="6582523" y="3052563"/>
            <a:ext cx="200761" cy="5709119"/>
          </a:xfrm>
          <a:prstGeom prst="bentConnector2">
            <a:avLst/>
          </a:prstGeom>
          <a:noFill/>
          <a:ln w="6350" cap="flat" cmpd="sng" algn="ctr">
            <a:solidFill>
              <a:srgbClr val="36365C"/>
            </a:solidFill>
            <a:prstDash val="solid"/>
            <a:miter lim="800000"/>
            <a:tailEnd type="triangle"/>
          </a:ln>
          <a:effectLst/>
        </p:spPr>
      </p:cxnSp>
      <p:sp>
        <p:nvSpPr>
          <p:cNvPr id="75" name="Rectangle 74">
            <a:extLst>
              <a:ext uri="{FF2B5EF4-FFF2-40B4-BE49-F238E27FC236}">
                <a16:creationId xmlns:a16="http://schemas.microsoft.com/office/drawing/2014/main" id="{7440DC91-1F80-BD52-D05B-801316839B01}"/>
              </a:ext>
            </a:extLst>
          </p:cNvPr>
          <p:cNvSpPr/>
          <p:nvPr/>
        </p:nvSpPr>
        <p:spPr>
          <a:xfrm>
            <a:off x="7127632" y="6234951"/>
            <a:ext cx="1394170" cy="412704"/>
          </a:xfrm>
          <a:prstGeom prst="rect">
            <a:avLst/>
          </a:prstGeom>
          <a:solidFill>
            <a:srgbClr val="4F127F">
              <a:lumMod val="20000"/>
              <a:lumOff val="80000"/>
            </a:srgbClr>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Report Handover tasks</a:t>
            </a:r>
          </a:p>
        </p:txBody>
      </p:sp>
      <p:cxnSp>
        <p:nvCxnSpPr>
          <p:cNvPr id="76" name="Connector: Elbow 87">
            <a:extLst>
              <a:ext uri="{FF2B5EF4-FFF2-40B4-BE49-F238E27FC236}">
                <a16:creationId xmlns:a16="http://schemas.microsoft.com/office/drawing/2014/main" id="{8A73803A-36E2-E17A-9E7C-8799EB921B15}"/>
              </a:ext>
            </a:extLst>
          </p:cNvPr>
          <p:cNvCxnSpPr>
            <a:cxnSpLocks/>
            <a:stCxn id="70" idx="2"/>
            <a:endCxn id="75" idx="3"/>
          </p:cNvCxnSpPr>
          <p:nvPr/>
        </p:nvCxnSpPr>
        <p:spPr>
          <a:xfrm rot="5400000">
            <a:off x="9384876" y="5324019"/>
            <a:ext cx="254211" cy="1980357"/>
          </a:xfrm>
          <a:prstGeom prst="bentConnector2">
            <a:avLst/>
          </a:prstGeom>
          <a:noFill/>
          <a:ln w="6350" cap="flat" cmpd="sng" algn="ctr">
            <a:solidFill>
              <a:srgbClr val="36365C"/>
            </a:solidFill>
            <a:prstDash val="solid"/>
            <a:miter lim="800000"/>
            <a:tailEnd type="triangle"/>
          </a:ln>
          <a:effectLst/>
        </p:spPr>
      </p:cxnSp>
      <p:sp>
        <p:nvSpPr>
          <p:cNvPr id="77" name="Flowchart: Punched Tape 91">
            <a:extLst>
              <a:ext uri="{FF2B5EF4-FFF2-40B4-BE49-F238E27FC236}">
                <a16:creationId xmlns:a16="http://schemas.microsoft.com/office/drawing/2014/main" id="{84DA863A-743E-43DB-F88B-1869D24869FC}"/>
              </a:ext>
            </a:extLst>
          </p:cNvPr>
          <p:cNvSpPr/>
          <p:nvPr/>
        </p:nvSpPr>
        <p:spPr>
          <a:xfrm>
            <a:off x="9606637" y="4992041"/>
            <a:ext cx="1582041" cy="723918"/>
          </a:xfrm>
          <a:prstGeom prst="flowChartPunchedTape">
            <a:avLst/>
          </a:prstGeom>
          <a:solidFill>
            <a:srgbClr val="FFFF00"/>
          </a:solidFill>
          <a:ln w="12700" cap="flat" cmpd="sng" algn="ctr">
            <a:noFill/>
            <a:prstDash val="solid"/>
            <a:miter lim="800000"/>
          </a:ln>
          <a:effectLst/>
        </p:spPr>
        <p:txBody>
          <a:bodyPr rtlCol="0" anchor="ctr"/>
          <a:lstStyle/>
          <a:p>
            <a:pPr algn="ctr">
              <a:buClrTx/>
              <a:buFontTx/>
              <a:buNone/>
              <a:defRPr/>
            </a:pPr>
            <a:r>
              <a:rPr lang="en-US" sz="1100">
                <a:solidFill>
                  <a:srgbClr val="36365C"/>
                </a:solidFill>
                <a:latin typeface="Segoe UI"/>
                <a:ea typeface="+mn-ea"/>
              </a:rPr>
              <a:t>Handover duration: </a:t>
            </a:r>
          </a:p>
          <a:p>
            <a:pPr algn="ctr">
              <a:buClrTx/>
              <a:buFontTx/>
              <a:buNone/>
              <a:defRPr/>
            </a:pPr>
            <a:r>
              <a:rPr lang="en-US" sz="1100">
                <a:solidFill>
                  <a:srgbClr val="36365C"/>
                </a:solidFill>
                <a:latin typeface="Segoe UI"/>
                <a:ea typeface="+mn-ea"/>
              </a:rPr>
              <a:t>2 - 4 weeks</a:t>
            </a:r>
          </a:p>
        </p:txBody>
      </p:sp>
      <p:sp>
        <p:nvSpPr>
          <p:cNvPr id="78" name="Rectangle 77">
            <a:extLst>
              <a:ext uri="{FF2B5EF4-FFF2-40B4-BE49-F238E27FC236}">
                <a16:creationId xmlns:a16="http://schemas.microsoft.com/office/drawing/2014/main" id="{16FF0001-D4E3-9BE9-5B17-ABE7F7BC8BCB}"/>
              </a:ext>
            </a:extLst>
          </p:cNvPr>
          <p:cNvSpPr/>
          <p:nvPr/>
        </p:nvSpPr>
        <p:spPr>
          <a:xfrm>
            <a:off x="3240739" y="1538863"/>
            <a:ext cx="1334924" cy="360260"/>
          </a:xfrm>
          <a:prstGeom prst="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algn="ctr">
              <a:buClrTx/>
            </a:pPr>
            <a:r>
              <a:rPr lang="en-US" sz="1100" b="1" dirty="0">
                <a:solidFill>
                  <a:srgbClr val="36365C"/>
                </a:solidFill>
                <a:latin typeface="Segoe UI"/>
                <a:ea typeface="+mn-ea"/>
              </a:rPr>
              <a:t>Request to replace members</a:t>
            </a:r>
          </a:p>
        </p:txBody>
      </p:sp>
      <p:cxnSp>
        <p:nvCxnSpPr>
          <p:cNvPr id="79" name="Straight Arrow Connector 78">
            <a:extLst>
              <a:ext uri="{FF2B5EF4-FFF2-40B4-BE49-F238E27FC236}">
                <a16:creationId xmlns:a16="http://schemas.microsoft.com/office/drawing/2014/main" id="{A2D5D01E-EEEA-9B94-3742-63C11207ACDB}"/>
              </a:ext>
            </a:extLst>
          </p:cNvPr>
          <p:cNvCxnSpPr>
            <a:cxnSpLocks/>
            <a:stCxn id="78" idx="3"/>
            <a:endCxn id="91" idx="1"/>
          </p:cNvCxnSpPr>
          <p:nvPr/>
        </p:nvCxnSpPr>
        <p:spPr>
          <a:xfrm flipV="1">
            <a:off x="4575663" y="1710407"/>
            <a:ext cx="2464140" cy="8586"/>
          </a:xfrm>
          <a:prstGeom prst="straightConnector1">
            <a:avLst/>
          </a:prstGeom>
          <a:noFill/>
          <a:ln w="6350" cap="flat" cmpd="sng" algn="ctr">
            <a:solidFill>
              <a:srgbClr val="36365C"/>
            </a:solidFill>
            <a:prstDash val="solid"/>
            <a:miter lim="800000"/>
            <a:tailEnd type="triangle"/>
          </a:ln>
          <a:effectLst/>
        </p:spPr>
      </p:cxnSp>
      <p:sp>
        <p:nvSpPr>
          <p:cNvPr id="80" name="Callout: Bent Line 9">
            <a:extLst>
              <a:ext uri="{FF2B5EF4-FFF2-40B4-BE49-F238E27FC236}">
                <a16:creationId xmlns:a16="http://schemas.microsoft.com/office/drawing/2014/main" id="{5D4412AB-732A-A5F4-D6BB-8DA9AA69EF96}"/>
              </a:ext>
            </a:extLst>
          </p:cNvPr>
          <p:cNvSpPr/>
          <p:nvPr/>
        </p:nvSpPr>
        <p:spPr>
          <a:xfrm>
            <a:off x="2364192" y="2598214"/>
            <a:ext cx="1422556" cy="535531"/>
          </a:xfrm>
          <a:prstGeom prst="borderCallout2">
            <a:avLst>
              <a:gd name="adj1" fmla="val -7154"/>
              <a:gd name="adj2" fmla="val 49622"/>
              <a:gd name="adj3" fmla="val -87844"/>
              <a:gd name="adj4" fmla="val 36210"/>
              <a:gd name="adj5" fmla="val -142240"/>
              <a:gd name="adj6" fmla="val 59526"/>
            </a:avLst>
          </a:prstGeom>
          <a:solidFill>
            <a:srgbClr val="C40452"/>
          </a:solidFill>
          <a:ln w="12700" cap="flat" cmpd="sng" algn="ctr">
            <a:solidFill>
              <a:srgbClr val="4472C4"/>
            </a:solidFill>
            <a:prstDash val="solid"/>
            <a:miter lim="800000"/>
            <a:tailEnd type="oval" w="lg" len="lg"/>
          </a:ln>
          <a:effectLst/>
        </p:spPr>
        <p:txBody>
          <a:bodyPr rtlCol="0" anchor="ctr"/>
          <a:lstStyle/>
          <a:p>
            <a:pPr algn="ctr">
              <a:buClrTx/>
              <a:buFontTx/>
              <a:buNone/>
              <a:defRPr/>
            </a:pPr>
            <a:r>
              <a:rPr lang="en-US" sz="1100">
                <a:solidFill>
                  <a:prstClr val="white"/>
                </a:solidFill>
                <a:latin typeface="Segoe UI"/>
                <a:ea typeface="+mn-ea"/>
              </a:rPr>
              <a:t>Inform to GDC/FPT at least 30 days in advance.</a:t>
            </a:r>
          </a:p>
        </p:txBody>
      </p:sp>
      <p:sp>
        <p:nvSpPr>
          <p:cNvPr id="81" name="Rectangle 80">
            <a:extLst>
              <a:ext uri="{FF2B5EF4-FFF2-40B4-BE49-F238E27FC236}">
                <a16:creationId xmlns:a16="http://schemas.microsoft.com/office/drawing/2014/main" id="{4929CF8A-9F27-8D6E-31CB-FEFB4C7CCA60}"/>
              </a:ext>
            </a:extLst>
          </p:cNvPr>
          <p:cNvSpPr/>
          <p:nvPr/>
        </p:nvSpPr>
        <p:spPr>
          <a:xfrm>
            <a:off x="3153687" y="4881136"/>
            <a:ext cx="1334924" cy="265153"/>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Review</a:t>
            </a:r>
          </a:p>
        </p:txBody>
      </p:sp>
      <p:cxnSp>
        <p:nvCxnSpPr>
          <p:cNvPr id="90" name="Straight Arrow Connector 89">
            <a:extLst>
              <a:ext uri="{FF2B5EF4-FFF2-40B4-BE49-F238E27FC236}">
                <a16:creationId xmlns:a16="http://schemas.microsoft.com/office/drawing/2014/main" id="{1BE7778C-85D4-2088-A199-B5933EEDADEB}"/>
              </a:ext>
            </a:extLst>
          </p:cNvPr>
          <p:cNvCxnSpPr>
            <a:cxnSpLocks/>
            <a:stCxn id="81" idx="2"/>
            <a:endCxn id="67" idx="0"/>
          </p:cNvCxnSpPr>
          <p:nvPr/>
        </p:nvCxnSpPr>
        <p:spPr>
          <a:xfrm>
            <a:off x="3821149" y="5146289"/>
            <a:ext cx="7195" cy="261501"/>
          </a:xfrm>
          <a:prstGeom prst="straightConnector1">
            <a:avLst/>
          </a:prstGeom>
          <a:noFill/>
          <a:ln w="6350" cap="flat" cmpd="sng" algn="ctr">
            <a:solidFill>
              <a:srgbClr val="36365C"/>
            </a:solidFill>
            <a:prstDash val="solid"/>
            <a:miter lim="800000"/>
            <a:tailEnd type="triangle"/>
          </a:ln>
          <a:effectLst/>
        </p:spPr>
      </p:cxnSp>
      <p:sp>
        <p:nvSpPr>
          <p:cNvPr id="91" name="Rectangle 90">
            <a:extLst>
              <a:ext uri="{FF2B5EF4-FFF2-40B4-BE49-F238E27FC236}">
                <a16:creationId xmlns:a16="http://schemas.microsoft.com/office/drawing/2014/main" id="{A95C6118-C5D7-573A-B56A-9588249384E1}"/>
              </a:ext>
            </a:extLst>
          </p:cNvPr>
          <p:cNvSpPr/>
          <p:nvPr/>
        </p:nvSpPr>
        <p:spPr>
          <a:xfrm>
            <a:off x="7039803" y="1514144"/>
            <a:ext cx="1766573" cy="392525"/>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Discuss &amp; Find The Root Cause/Countermeasure</a:t>
            </a:r>
          </a:p>
        </p:txBody>
      </p:sp>
      <p:sp>
        <p:nvSpPr>
          <p:cNvPr id="92" name="Diamond 91">
            <a:extLst>
              <a:ext uri="{FF2B5EF4-FFF2-40B4-BE49-F238E27FC236}">
                <a16:creationId xmlns:a16="http://schemas.microsoft.com/office/drawing/2014/main" id="{58547C35-5708-DD5B-7E1F-84662FF3D0DB}"/>
              </a:ext>
            </a:extLst>
          </p:cNvPr>
          <p:cNvSpPr/>
          <p:nvPr/>
        </p:nvSpPr>
        <p:spPr>
          <a:xfrm>
            <a:off x="7039771" y="2020223"/>
            <a:ext cx="1766573" cy="649002"/>
          </a:xfrm>
          <a:prstGeom prst="diamond">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Need to Replace ? </a:t>
            </a:r>
          </a:p>
        </p:txBody>
      </p:sp>
      <p:sp>
        <p:nvSpPr>
          <p:cNvPr id="93" name="Rectangle 92">
            <a:extLst>
              <a:ext uri="{FF2B5EF4-FFF2-40B4-BE49-F238E27FC236}">
                <a16:creationId xmlns:a16="http://schemas.microsoft.com/office/drawing/2014/main" id="{9A888105-0552-81F9-B396-2C3BD01B134A}"/>
              </a:ext>
            </a:extLst>
          </p:cNvPr>
          <p:cNvSpPr/>
          <p:nvPr/>
        </p:nvSpPr>
        <p:spPr>
          <a:xfrm>
            <a:off x="7032192" y="2796707"/>
            <a:ext cx="1786710" cy="26329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Feedback to LGCNS</a:t>
            </a:r>
          </a:p>
        </p:txBody>
      </p:sp>
      <p:cxnSp>
        <p:nvCxnSpPr>
          <p:cNvPr id="94" name="Straight Arrow Connector 93">
            <a:extLst>
              <a:ext uri="{FF2B5EF4-FFF2-40B4-BE49-F238E27FC236}">
                <a16:creationId xmlns:a16="http://schemas.microsoft.com/office/drawing/2014/main" id="{AF360A52-3030-FC45-F975-4A756994F28E}"/>
              </a:ext>
            </a:extLst>
          </p:cNvPr>
          <p:cNvCxnSpPr>
            <a:cxnSpLocks/>
            <a:stCxn id="91" idx="2"/>
            <a:endCxn id="92" idx="0"/>
          </p:cNvCxnSpPr>
          <p:nvPr/>
        </p:nvCxnSpPr>
        <p:spPr>
          <a:xfrm flipH="1">
            <a:off x="7923058" y="1906669"/>
            <a:ext cx="32" cy="113554"/>
          </a:xfrm>
          <a:prstGeom prst="straightConnector1">
            <a:avLst/>
          </a:prstGeom>
          <a:noFill/>
          <a:ln w="6350" cap="flat" cmpd="sng" algn="ctr">
            <a:solidFill>
              <a:srgbClr val="36365C"/>
            </a:solidFill>
            <a:prstDash val="solid"/>
            <a:miter lim="800000"/>
            <a:tailEnd type="triangle"/>
          </a:ln>
          <a:effectLst/>
        </p:spPr>
      </p:cxnSp>
      <p:cxnSp>
        <p:nvCxnSpPr>
          <p:cNvPr id="95" name="Straight Arrow Connector 94">
            <a:extLst>
              <a:ext uri="{FF2B5EF4-FFF2-40B4-BE49-F238E27FC236}">
                <a16:creationId xmlns:a16="http://schemas.microsoft.com/office/drawing/2014/main" id="{D5E77609-C7ED-209B-CDD6-28B873A32383}"/>
              </a:ext>
            </a:extLst>
          </p:cNvPr>
          <p:cNvCxnSpPr>
            <a:cxnSpLocks/>
            <a:stCxn id="92" idx="2"/>
            <a:endCxn id="93" idx="0"/>
          </p:cNvCxnSpPr>
          <p:nvPr/>
        </p:nvCxnSpPr>
        <p:spPr>
          <a:xfrm>
            <a:off x="7923058" y="2669225"/>
            <a:ext cx="2489" cy="127482"/>
          </a:xfrm>
          <a:prstGeom prst="straightConnector1">
            <a:avLst/>
          </a:prstGeom>
          <a:noFill/>
          <a:ln w="6350" cap="flat" cmpd="sng" algn="ctr">
            <a:solidFill>
              <a:srgbClr val="36365C"/>
            </a:solidFill>
            <a:prstDash val="solid"/>
            <a:miter lim="800000"/>
            <a:tailEnd type="triangle"/>
          </a:ln>
          <a:effectLst/>
        </p:spPr>
      </p:cxnSp>
      <p:cxnSp>
        <p:nvCxnSpPr>
          <p:cNvPr id="96" name="Connector: Elbow 69">
            <a:extLst>
              <a:ext uri="{FF2B5EF4-FFF2-40B4-BE49-F238E27FC236}">
                <a16:creationId xmlns:a16="http://schemas.microsoft.com/office/drawing/2014/main" id="{2E0D4D3E-D853-BEB3-7FDF-76F65D4B53A9}"/>
              </a:ext>
            </a:extLst>
          </p:cNvPr>
          <p:cNvCxnSpPr>
            <a:cxnSpLocks/>
            <a:stCxn id="93" idx="1"/>
            <a:endCxn id="78" idx="2"/>
          </p:cNvCxnSpPr>
          <p:nvPr/>
        </p:nvCxnSpPr>
        <p:spPr>
          <a:xfrm rot="10800000">
            <a:off x="3908202" y="1899124"/>
            <a:ext cx="3123991" cy="1029231"/>
          </a:xfrm>
          <a:prstGeom prst="bentConnector2">
            <a:avLst/>
          </a:prstGeom>
          <a:noFill/>
          <a:ln w="6350" cap="flat" cmpd="sng" algn="ctr">
            <a:solidFill>
              <a:srgbClr val="36365C"/>
            </a:solidFill>
            <a:prstDash val="solid"/>
            <a:miter lim="800000"/>
            <a:tailEnd type="triangle"/>
          </a:ln>
          <a:effectLst/>
        </p:spPr>
      </p:cxnSp>
      <p:cxnSp>
        <p:nvCxnSpPr>
          <p:cNvPr id="97" name="Connector: Elbow 76">
            <a:extLst>
              <a:ext uri="{FF2B5EF4-FFF2-40B4-BE49-F238E27FC236}">
                <a16:creationId xmlns:a16="http://schemas.microsoft.com/office/drawing/2014/main" id="{4E784109-DAB8-BF1F-46E7-F6F6838E4F09}"/>
              </a:ext>
            </a:extLst>
          </p:cNvPr>
          <p:cNvCxnSpPr>
            <a:cxnSpLocks/>
            <a:stCxn id="92" idx="3"/>
            <a:endCxn id="52" idx="3"/>
          </p:cNvCxnSpPr>
          <p:nvPr/>
        </p:nvCxnSpPr>
        <p:spPr>
          <a:xfrm>
            <a:off x="8806344" y="2344724"/>
            <a:ext cx="33" cy="988933"/>
          </a:xfrm>
          <a:prstGeom prst="bentConnector3">
            <a:avLst>
              <a:gd name="adj1" fmla="val 692827273"/>
            </a:avLst>
          </a:prstGeom>
          <a:noFill/>
          <a:ln w="6350" cap="flat" cmpd="sng" algn="ctr">
            <a:solidFill>
              <a:srgbClr val="36365C"/>
            </a:solidFill>
            <a:prstDash val="solid"/>
            <a:miter lim="800000"/>
            <a:tailEnd type="triangle"/>
          </a:ln>
          <a:effectLst/>
        </p:spPr>
      </p:cxnSp>
      <p:sp>
        <p:nvSpPr>
          <p:cNvPr id="98" name="TextBox 97">
            <a:extLst>
              <a:ext uri="{FF2B5EF4-FFF2-40B4-BE49-F238E27FC236}">
                <a16:creationId xmlns:a16="http://schemas.microsoft.com/office/drawing/2014/main" id="{6A1F17E2-F742-554C-F2B9-5F616217CFA3}"/>
              </a:ext>
            </a:extLst>
          </p:cNvPr>
          <p:cNvSpPr txBox="1"/>
          <p:nvPr/>
        </p:nvSpPr>
        <p:spPr>
          <a:xfrm>
            <a:off x="7473989" y="2577123"/>
            <a:ext cx="503660"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No</a:t>
            </a:r>
          </a:p>
        </p:txBody>
      </p:sp>
      <p:sp>
        <p:nvSpPr>
          <p:cNvPr id="99" name="TextBox 98">
            <a:extLst>
              <a:ext uri="{FF2B5EF4-FFF2-40B4-BE49-F238E27FC236}">
                <a16:creationId xmlns:a16="http://schemas.microsoft.com/office/drawing/2014/main" id="{B9683DBB-E451-F092-E031-8194AD6A139C}"/>
              </a:ext>
            </a:extLst>
          </p:cNvPr>
          <p:cNvSpPr txBox="1"/>
          <p:nvPr/>
        </p:nvSpPr>
        <p:spPr>
          <a:xfrm>
            <a:off x="8654758" y="2071068"/>
            <a:ext cx="734733"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Yes</a:t>
            </a:r>
          </a:p>
        </p:txBody>
      </p:sp>
      <p:sp>
        <p:nvSpPr>
          <p:cNvPr id="100" name="Flowchart: Punched Tape 36">
            <a:extLst>
              <a:ext uri="{FF2B5EF4-FFF2-40B4-BE49-F238E27FC236}">
                <a16:creationId xmlns:a16="http://schemas.microsoft.com/office/drawing/2014/main" id="{9007B9DA-0019-12E2-6A11-8FB240722E0B}"/>
              </a:ext>
            </a:extLst>
          </p:cNvPr>
          <p:cNvSpPr/>
          <p:nvPr/>
        </p:nvSpPr>
        <p:spPr>
          <a:xfrm>
            <a:off x="357460" y="4121664"/>
            <a:ext cx="1582041" cy="723918"/>
          </a:xfrm>
          <a:prstGeom prst="flowChartPunchedTape">
            <a:avLst/>
          </a:prstGeom>
          <a:solidFill>
            <a:srgbClr val="FFFF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a:ln>
                  <a:noFill/>
                </a:ln>
                <a:solidFill>
                  <a:srgbClr val="034EA2"/>
                </a:solidFill>
                <a:effectLst/>
                <a:uLnTx/>
                <a:uFillTx/>
                <a:ea typeface="+mn-ea"/>
              </a:rPr>
              <a:t>Inform: GDC weekly report</a:t>
            </a:r>
            <a:endParaRPr kumimoji="0" lang="en-US" sz="1100" b="0" i="0" u="none" strike="noStrike" kern="0" cap="none" spc="0" normalizeH="0" baseline="0" noProof="0" dirty="0">
              <a:ln>
                <a:noFill/>
              </a:ln>
              <a:solidFill>
                <a:srgbClr val="034EA2"/>
              </a:solidFill>
              <a:effectLst/>
              <a:uLnTx/>
              <a:uFillTx/>
              <a:ea typeface="+mn-ea"/>
            </a:endParaRPr>
          </a:p>
        </p:txBody>
      </p:sp>
      <p:cxnSp>
        <p:nvCxnSpPr>
          <p:cNvPr id="101" name="Connector: Elbow 29">
            <a:extLst>
              <a:ext uri="{FF2B5EF4-FFF2-40B4-BE49-F238E27FC236}">
                <a16:creationId xmlns:a16="http://schemas.microsoft.com/office/drawing/2014/main" id="{114CB3DD-9A0C-6298-4010-B1E87CBAF45C}"/>
              </a:ext>
            </a:extLst>
          </p:cNvPr>
          <p:cNvCxnSpPr>
            <a:cxnSpLocks/>
            <a:stCxn id="75" idx="1"/>
            <a:endCxn id="106" idx="3"/>
          </p:cNvCxnSpPr>
          <p:nvPr/>
        </p:nvCxnSpPr>
        <p:spPr>
          <a:xfrm flipH="1" flipV="1">
            <a:off x="4347914" y="6407844"/>
            <a:ext cx="2779718" cy="33459"/>
          </a:xfrm>
          <a:prstGeom prst="straightConnector1">
            <a:avLst/>
          </a:prstGeom>
          <a:noFill/>
          <a:ln w="6350" cap="flat" cmpd="sng" algn="ctr">
            <a:solidFill>
              <a:srgbClr val="36365C"/>
            </a:solidFill>
            <a:prstDash val="solid"/>
            <a:miter lim="800000"/>
            <a:tailEnd type="triangle"/>
          </a:ln>
          <a:effectLst/>
        </p:spPr>
      </p:cxnSp>
      <p:cxnSp>
        <p:nvCxnSpPr>
          <p:cNvPr id="102" name="Connector: Elbow 74">
            <a:extLst>
              <a:ext uri="{FF2B5EF4-FFF2-40B4-BE49-F238E27FC236}">
                <a16:creationId xmlns:a16="http://schemas.microsoft.com/office/drawing/2014/main" id="{28AD9ACF-2B3B-DD15-6740-AF38888D2E75}"/>
              </a:ext>
            </a:extLst>
          </p:cNvPr>
          <p:cNvCxnSpPr>
            <a:cxnSpLocks/>
            <a:stCxn id="54" idx="1"/>
            <a:endCxn id="100" idx="3"/>
          </p:cNvCxnSpPr>
          <p:nvPr/>
        </p:nvCxnSpPr>
        <p:spPr>
          <a:xfrm flipH="1" flipV="1">
            <a:off x="1939501" y="4483623"/>
            <a:ext cx="3072984" cy="5070"/>
          </a:xfrm>
          <a:prstGeom prst="straightConnector1">
            <a:avLst/>
          </a:prstGeom>
          <a:noFill/>
          <a:ln w="6350" cap="flat" cmpd="sng" algn="ctr">
            <a:solidFill>
              <a:srgbClr val="36365C"/>
            </a:solidFill>
            <a:prstDash val="solid"/>
            <a:miter lim="800000"/>
            <a:tailEnd type="triangle"/>
          </a:ln>
          <a:effectLst/>
        </p:spPr>
      </p:cxnSp>
      <p:sp>
        <p:nvSpPr>
          <p:cNvPr id="103" name="Rectangle 102">
            <a:extLst>
              <a:ext uri="{FF2B5EF4-FFF2-40B4-BE49-F238E27FC236}">
                <a16:creationId xmlns:a16="http://schemas.microsoft.com/office/drawing/2014/main" id="{A5528A8A-2B20-1B19-CBB6-CDC5CE042CF4}"/>
              </a:ext>
            </a:extLst>
          </p:cNvPr>
          <p:cNvSpPr/>
          <p:nvPr/>
        </p:nvSpPr>
        <p:spPr>
          <a:xfrm>
            <a:off x="174111" y="6129941"/>
            <a:ext cx="1906263" cy="558091"/>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GB" sz="1100" dirty="0">
                <a:solidFill>
                  <a:srgbClr val="034EA2"/>
                </a:solidFill>
                <a:latin typeface="Segoe UI"/>
                <a:ea typeface="+mn-ea"/>
              </a:rPr>
              <a:t>Capture the processing progress </a:t>
            </a:r>
            <a:r>
              <a:rPr lang="en-GB" sz="1100">
                <a:solidFill>
                  <a:srgbClr val="034EA2"/>
                </a:solidFill>
                <a:latin typeface="Segoe UI"/>
                <a:ea typeface="+mn-ea"/>
              </a:rPr>
              <a:t>and perspective </a:t>
            </a:r>
            <a:r>
              <a:rPr lang="en-GB" sz="1100" dirty="0">
                <a:solidFill>
                  <a:srgbClr val="034EA2"/>
                </a:solidFill>
                <a:latin typeface="Segoe UI"/>
                <a:ea typeface="+mn-ea"/>
              </a:rPr>
              <a:t>of LG CNS PM</a:t>
            </a:r>
          </a:p>
        </p:txBody>
      </p:sp>
      <p:cxnSp>
        <p:nvCxnSpPr>
          <p:cNvPr id="104" name="Connector: Elbow 29">
            <a:extLst>
              <a:ext uri="{FF2B5EF4-FFF2-40B4-BE49-F238E27FC236}">
                <a16:creationId xmlns:a16="http://schemas.microsoft.com/office/drawing/2014/main" id="{7E8C474F-FA8A-BFB4-06EB-09963EE198E5}"/>
              </a:ext>
            </a:extLst>
          </p:cNvPr>
          <p:cNvCxnSpPr>
            <a:cxnSpLocks/>
            <a:stCxn id="106" idx="1"/>
            <a:endCxn id="103" idx="3"/>
          </p:cNvCxnSpPr>
          <p:nvPr/>
        </p:nvCxnSpPr>
        <p:spPr>
          <a:xfrm flipH="1">
            <a:off x="2080374" y="6407844"/>
            <a:ext cx="932616" cy="1143"/>
          </a:xfrm>
          <a:prstGeom prst="straightConnector1">
            <a:avLst/>
          </a:prstGeom>
          <a:noFill/>
          <a:ln w="6350" cap="flat" cmpd="sng" algn="ctr">
            <a:solidFill>
              <a:srgbClr val="36365C"/>
            </a:solidFill>
            <a:prstDash val="solid"/>
            <a:miter lim="800000"/>
            <a:tailEnd type="triangle"/>
          </a:ln>
          <a:effectLst/>
        </p:spPr>
      </p:cxnSp>
      <p:sp>
        <p:nvSpPr>
          <p:cNvPr id="105" name="TextBox 104">
            <a:extLst>
              <a:ext uri="{FF2B5EF4-FFF2-40B4-BE49-F238E27FC236}">
                <a16:creationId xmlns:a16="http://schemas.microsoft.com/office/drawing/2014/main" id="{FAC5F63F-2392-0F35-C7F1-C5D2B7E2EA03}"/>
              </a:ext>
            </a:extLst>
          </p:cNvPr>
          <p:cNvSpPr txBox="1"/>
          <p:nvPr/>
        </p:nvSpPr>
        <p:spPr>
          <a:xfrm>
            <a:off x="2286594" y="6164157"/>
            <a:ext cx="734733" cy="261610"/>
          </a:xfrm>
          <a:prstGeom prst="rect">
            <a:avLst/>
          </a:prstGeom>
          <a:noFill/>
        </p:spPr>
        <p:txBody>
          <a:bodyPr wrap="square" rtlCol="0">
            <a:spAutoFit/>
          </a:bodyPr>
          <a:lstStyle/>
          <a:p>
            <a:pPr>
              <a:buClrTx/>
              <a:buFontTx/>
              <a:buNone/>
              <a:defRPr/>
            </a:pPr>
            <a:r>
              <a:rPr lang="en-US" sz="1100" dirty="0">
                <a:solidFill>
                  <a:srgbClr val="034EA2"/>
                </a:solidFill>
                <a:latin typeface="Segoe UI"/>
                <a:ea typeface="+mn-ea"/>
              </a:rPr>
              <a:t>Inform</a:t>
            </a:r>
          </a:p>
        </p:txBody>
      </p:sp>
      <p:sp>
        <p:nvSpPr>
          <p:cNvPr id="106" name="Rectangle 105">
            <a:extLst>
              <a:ext uri="{FF2B5EF4-FFF2-40B4-BE49-F238E27FC236}">
                <a16:creationId xmlns:a16="http://schemas.microsoft.com/office/drawing/2014/main" id="{D887545E-0427-FB9B-31E3-B0781B964CB2}"/>
              </a:ext>
            </a:extLst>
          </p:cNvPr>
          <p:cNvSpPr/>
          <p:nvPr/>
        </p:nvSpPr>
        <p:spPr>
          <a:xfrm>
            <a:off x="3012990" y="6227714"/>
            <a:ext cx="1334924" cy="360260"/>
          </a:xfrm>
          <a:prstGeom prst="rect">
            <a:avLst/>
          </a:prstGeom>
          <a:solidFill>
            <a:sysClr val="window" lastClr="FFFFFF"/>
          </a:solidFill>
          <a:ln w="12700" cap="flat" cmpd="sng" algn="ctr">
            <a:solidFill>
              <a:srgbClr val="33B2C1"/>
            </a:solidFill>
            <a:prstDash val="solid"/>
            <a:miter lim="800000"/>
          </a:ln>
          <a:effectLst/>
        </p:spPr>
        <p:txBody>
          <a:bodyPr rtlCol="0" anchor="ctr"/>
          <a:lstStyle/>
          <a:p>
            <a:pPr algn="ctr">
              <a:buClrTx/>
              <a:buFontTx/>
              <a:buNone/>
              <a:defRPr/>
            </a:pPr>
            <a:r>
              <a:rPr lang="en-US" sz="1100" dirty="0">
                <a:solidFill>
                  <a:srgbClr val="034EA2"/>
                </a:solidFill>
                <a:latin typeface="Segoe UI"/>
                <a:ea typeface="+mn-ea"/>
              </a:rPr>
              <a:t>Approve</a:t>
            </a:r>
          </a:p>
        </p:txBody>
      </p:sp>
      <p:sp>
        <p:nvSpPr>
          <p:cNvPr id="70" name="Rectangle 69">
            <a:extLst>
              <a:ext uri="{FF2B5EF4-FFF2-40B4-BE49-F238E27FC236}">
                <a16:creationId xmlns:a16="http://schemas.microsoft.com/office/drawing/2014/main" id="{248F0139-FF5B-CE95-3D8C-79C6A72A5FDF}"/>
              </a:ext>
            </a:extLst>
          </p:cNvPr>
          <p:cNvSpPr/>
          <p:nvPr/>
        </p:nvSpPr>
        <p:spPr>
          <a:xfrm>
            <a:off x="9537463" y="5827916"/>
            <a:ext cx="1929391" cy="359176"/>
          </a:xfrm>
          <a:prstGeom prst="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algn="ctr">
              <a:buClrTx/>
              <a:buFontTx/>
              <a:buNone/>
              <a:defRPr/>
            </a:pPr>
            <a:r>
              <a:rPr lang="en-US" sz="1100" b="1">
                <a:solidFill>
                  <a:srgbClr val="36365C"/>
                </a:solidFill>
                <a:latin typeface="Segoe UI"/>
                <a:ea typeface="+mn-ea"/>
              </a:rPr>
              <a:t>Do Handover tasks</a:t>
            </a:r>
          </a:p>
        </p:txBody>
      </p:sp>
    </p:spTree>
    <p:extLst>
      <p:ext uri="{BB962C8B-B14F-4D97-AF65-F5344CB8AC3E}">
        <p14:creationId xmlns:p14="http://schemas.microsoft.com/office/powerpoint/2010/main" val="297475980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28</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11233149" cy="584775"/>
            <a:chOff x="479425" y="461520"/>
            <a:chExt cx="11233149"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3" y="461520"/>
              <a:ext cx="11176311"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13. Standard Process </a:t>
              </a:r>
              <a:r>
                <a:rPr lang="en-US" sz="2400" b="1" dirty="0">
                  <a:solidFill>
                    <a:srgbClr val="212967"/>
                  </a:solidFill>
                  <a:latin typeface="Segoe UI" panose="020B0502040204020203" pitchFamily="34" charset="0"/>
                  <a:cs typeface="Segoe UI" panose="020B0502040204020203" pitchFamily="34" charset="0"/>
                </a:rPr>
                <a:t>- WFH (Work From Home) Process</a:t>
              </a:r>
            </a:p>
          </p:txBody>
        </p:sp>
      </p:grpSp>
      <p:cxnSp>
        <p:nvCxnSpPr>
          <p:cNvPr id="3" name="Straight Connector 2">
            <a:extLst>
              <a:ext uri="{FF2B5EF4-FFF2-40B4-BE49-F238E27FC236}">
                <a16:creationId xmlns:a16="http://schemas.microsoft.com/office/drawing/2014/main" id="{6D2F88EC-6779-23C1-A011-21824C92F042}"/>
              </a:ext>
            </a:extLst>
          </p:cNvPr>
          <p:cNvCxnSpPr>
            <a:cxnSpLocks/>
          </p:cNvCxnSpPr>
          <p:nvPr/>
        </p:nvCxnSpPr>
        <p:spPr>
          <a:xfrm flipV="1">
            <a:off x="4725248" y="967988"/>
            <a:ext cx="23180" cy="5771583"/>
          </a:xfrm>
          <a:prstGeom prst="line">
            <a:avLst/>
          </a:prstGeom>
          <a:noFill/>
          <a:ln w="25400" cap="flat" cmpd="sng" algn="ctr">
            <a:solidFill>
              <a:srgbClr val="4472C4"/>
            </a:solidFill>
            <a:prstDash val="sysDot"/>
            <a:miter lim="800000"/>
          </a:ln>
          <a:effectLst/>
        </p:spPr>
      </p:cxnSp>
      <p:cxnSp>
        <p:nvCxnSpPr>
          <p:cNvPr id="7" name="Straight Connector 6">
            <a:extLst>
              <a:ext uri="{FF2B5EF4-FFF2-40B4-BE49-F238E27FC236}">
                <a16:creationId xmlns:a16="http://schemas.microsoft.com/office/drawing/2014/main" id="{6DA216FE-0F49-E118-1FC3-6AFA5F471B00}"/>
              </a:ext>
            </a:extLst>
          </p:cNvPr>
          <p:cNvCxnSpPr>
            <a:cxnSpLocks/>
          </p:cNvCxnSpPr>
          <p:nvPr/>
        </p:nvCxnSpPr>
        <p:spPr>
          <a:xfrm flipV="1">
            <a:off x="7017240" y="963454"/>
            <a:ext cx="23145" cy="5762865"/>
          </a:xfrm>
          <a:prstGeom prst="line">
            <a:avLst/>
          </a:prstGeom>
          <a:noFill/>
          <a:ln w="25400" cap="flat" cmpd="sng" algn="ctr">
            <a:solidFill>
              <a:srgbClr val="4472C4"/>
            </a:solidFill>
            <a:prstDash val="sysDot"/>
            <a:miter lim="800000"/>
          </a:ln>
          <a:effectLst/>
        </p:spPr>
      </p:cxnSp>
      <p:sp>
        <p:nvSpPr>
          <p:cNvPr id="11" name="Diamond 10">
            <a:extLst>
              <a:ext uri="{FF2B5EF4-FFF2-40B4-BE49-F238E27FC236}">
                <a16:creationId xmlns:a16="http://schemas.microsoft.com/office/drawing/2014/main" id="{9FCB33ED-80BE-538A-2852-85754DAE835D}"/>
              </a:ext>
            </a:extLst>
          </p:cNvPr>
          <p:cNvSpPr/>
          <p:nvPr/>
        </p:nvSpPr>
        <p:spPr>
          <a:xfrm>
            <a:off x="681046" y="3634953"/>
            <a:ext cx="1766573" cy="649002"/>
          </a:xfrm>
          <a:prstGeom prst="diamond">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Confirm</a:t>
            </a:r>
          </a:p>
        </p:txBody>
      </p:sp>
      <p:cxnSp>
        <p:nvCxnSpPr>
          <p:cNvPr id="12" name="Straight Connector 11">
            <a:extLst>
              <a:ext uri="{FF2B5EF4-FFF2-40B4-BE49-F238E27FC236}">
                <a16:creationId xmlns:a16="http://schemas.microsoft.com/office/drawing/2014/main" id="{65907337-723A-CBBD-D269-7A48F63F7B3A}"/>
              </a:ext>
            </a:extLst>
          </p:cNvPr>
          <p:cNvCxnSpPr>
            <a:cxnSpLocks/>
          </p:cNvCxnSpPr>
          <p:nvPr/>
        </p:nvCxnSpPr>
        <p:spPr>
          <a:xfrm flipV="1">
            <a:off x="9296975" y="959139"/>
            <a:ext cx="23180" cy="5771583"/>
          </a:xfrm>
          <a:prstGeom prst="line">
            <a:avLst/>
          </a:prstGeom>
          <a:noFill/>
          <a:ln w="25400" cap="flat" cmpd="sng" algn="ctr">
            <a:solidFill>
              <a:srgbClr val="4472C4"/>
            </a:solidFill>
            <a:prstDash val="sysDot"/>
            <a:miter lim="800000"/>
          </a:ln>
          <a:effectLst/>
        </p:spPr>
      </p:cxnSp>
      <p:sp>
        <p:nvSpPr>
          <p:cNvPr id="13" name="Rectangle 12">
            <a:extLst>
              <a:ext uri="{FF2B5EF4-FFF2-40B4-BE49-F238E27FC236}">
                <a16:creationId xmlns:a16="http://schemas.microsoft.com/office/drawing/2014/main" id="{BFB4F696-8EB8-AE10-936B-15AB82B9B111}"/>
              </a:ext>
            </a:extLst>
          </p:cNvPr>
          <p:cNvSpPr/>
          <p:nvPr/>
        </p:nvSpPr>
        <p:spPr>
          <a:xfrm>
            <a:off x="2691481" y="1101541"/>
            <a:ext cx="1989597"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800" b="1">
                <a:solidFill>
                  <a:prstClr val="white"/>
                </a:solidFill>
                <a:latin typeface="Segoe UI"/>
                <a:ea typeface="+mn-ea"/>
              </a:rPr>
              <a:t>GDC Governance Team</a:t>
            </a:r>
          </a:p>
          <a:p>
            <a:pPr algn="ctr">
              <a:buClrTx/>
              <a:buFontTx/>
              <a:buNone/>
              <a:defRPr/>
            </a:pPr>
            <a:r>
              <a:rPr lang="en-US" sz="800" b="1">
                <a:solidFill>
                  <a:prstClr val="white"/>
                </a:solidFill>
                <a:latin typeface="Segoe UI"/>
                <a:ea typeface="+mn-ea"/>
              </a:rPr>
              <a:t>GDC leader of each divisions</a:t>
            </a:r>
          </a:p>
        </p:txBody>
      </p:sp>
      <p:sp>
        <p:nvSpPr>
          <p:cNvPr id="14" name="Rectangle 13">
            <a:extLst>
              <a:ext uri="{FF2B5EF4-FFF2-40B4-BE49-F238E27FC236}">
                <a16:creationId xmlns:a16="http://schemas.microsoft.com/office/drawing/2014/main" id="{D845B8F9-3BC6-7BB2-8019-E2EA862618DB}"/>
              </a:ext>
            </a:extLst>
          </p:cNvPr>
          <p:cNvSpPr/>
          <p:nvPr/>
        </p:nvSpPr>
        <p:spPr>
          <a:xfrm>
            <a:off x="4925793" y="1101541"/>
            <a:ext cx="1989597"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FPT DM/BrSE Leader</a:t>
            </a:r>
          </a:p>
        </p:txBody>
      </p:sp>
      <p:sp>
        <p:nvSpPr>
          <p:cNvPr id="15" name="Rectangle 14">
            <a:extLst>
              <a:ext uri="{FF2B5EF4-FFF2-40B4-BE49-F238E27FC236}">
                <a16:creationId xmlns:a16="http://schemas.microsoft.com/office/drawing/2014/main" id="{C4EAC49E-F529-2278-E6FF-49BD6991F961}"/>
              </a:ext>
            </a:extLst>
          </p:cNvPr>
          <p:cNvSpPr/>
          <p:nvPr/>
        </p:nvSpPr>
        <p:spPr>
          <a:xfrm>
            <a:off x="7175815" y="1094741"/>
            <a:ext cx="1989597"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Offshore PM</a:t>
            </a:r>
          </a:p>
        </p:txBody>
      </p:sp>
      <p:sp>
        <p:nvSpPr>
          <p:cNvPr id="16" name="Rectangle 15">
            <a:extLst>
              <a:ext uri="{FF2B5EF4-FFF2-40B4-BE49-F238E27FC236}">
                <a16:creationId xmlns:a16="http://schemas.microsoft.com/office/drawing/2014/main" id="{5D6ED610-ECB3-F064-9C7B-5A6D2B62FFC5}"/>
              </a:ext>
            </a:extLst>
          </p:cNvPr>
          <p:cNvSpPr/>
          <p:nvPr/>
        </p:nvSpPr>
        <p:spPr>
          <a:xfrm>
            <a:off x="9457398" y="1101541"/>
            <a:ext cx="1989597"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BrSE/Offshore Member</a:t>
            </a:r>
          </a:p>
        </p:txBody>
      </p:sp>
      <p:sp>
        <p:nvSpPr>
          <p:cNvPr id="17" name="Rounded Rectangle 32">
            <a:extLst>
              <a:ext uri="{FF2B5EF4-FFF2-40B4-BE49-F238E27FC236}">
                <a16:creationId xmlns:a16="http://schemas.microsoft.com/office/drawing/2014/main" id="{029650E7-008A-0ECA-FDB3-FD0E23847900}"/>
              </a:ext>
            </a:extLst>
          </p:cNvPr>
          <p:cNvSpPr/>
          <p:nvPr/>
        </p:nvSpPr>
        <p:spPr>
          <a:xfrm>
            <a:off x="9753253" y="1560983"/>
            <a:ext cx="1652723" cy="375820"/>
          </a:xfrm>
          <a:prstGeom prst="round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algn="ctr">
              <a:buClrTx/>
              <a:buFontTx/>
              <a:buNone/>
              <a:defRPr/>
            </a:pPr>
            <a:r>
              <a:rPr lang="en-US" sz="1100" b="1">
                <a:solidFill>
                  <a:srgbClr val="36365C"/>
                </a:solidFill>
                <a:latin typeface="Segoe UI"/>
                <a:ea typeface="+mn-ea"/>
              </a:rPr>
              <a:t>Request </a:t>
            </a:r>
          </a:p>
        </p:txBody>
      </p:sp>
      <p:cxnSp>
        <p:nvCxnSpPr>
          <p:cNvPr id="18" name="Straight Connector 17">
            <a:extLst>
              <a:ext uri="{FF2B5EF4-FFF2-40B4-BE49-F238E27FC236}">
                <a16:creationId xmlns:a16="http://schemas.microsoft.com/office/drawing/2014/main" id="{C556DB31-81FC-EFB1-83C5-5A402C390E13}"/>
              </a:ext>
            </a:extLst>
          </p:cNvPr>
          <p:cNvCxnSpPr>
            <a:cxnSpLocks/>
          </p:cNvCxnSpPr>
          <p:nvPr/>
        </p:nvCxnSpPr>
        <p:spPr>
          <a:xfrm flipV="1">
            <a:off x="2616246" y="950202"/>
            <a:ext cx="23180" cy="5771583"/>
          </a:xfrm>
          <a:prstGeom prst="line">
            <a:avLst/>
          </a:prstGeom>
          <a:noFill/>
          <a:ln w="25400" cap="flat" cmpd="sng" algn="ctr">
            <a:solidFill>
              <a:srgbClr val="4472C4"/>
            </a:solidFill>
            <a:prstDash val="sysDot"/>
            <a:miter lim="800000"/>
          </a:ln>
          <a:effectLst/>
        </p:spPr>
      </p:cxnSp>
      <p:sp>
        <p:nvSpPr>
          <p:cNvPr id="19" name="Rectangle 18">
            <a:extLst>
              <a:ext uri="{FF2B5EF4-FFF2-40B4-BE49-F238E27FC236}">
                <a16:creationId xmlns:a16="http://schemas.microsoft.com/office/drawing/2014/main" id="{1FE33357-36C0-876B-06C9-7507239BD0E1}"/>
              </a:ext>
            </a:extLst>
          </p:cNvPr>
          <p:cNvSpPr/>
          <p:nvPr/>
        </p:nvSpPr>
        <p:spPr>
          <a:xfrm>
            <a:off x="832910" y="1098714"/>
            <a:ext cx="1766095" cy="391095"/>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dirty="0">
                <a:solidFill>
                  <a:prstClr val="white"/>
                </a:solidFill>
                <a:latin typeface="Segoe UI"/>
                <a:ea typeface="+mn-ea"/>
              </a:rPr>
              <a:t>LGCNS PM</a:t>
            </a:r>
          </a:p>
        </p:txBody>
      </p:sp>
      <p:sp>
        <p:nvSpPr>
          <p:cNvPr id="20" name="Diamond 19">
            <a:extLst>
              <a:ext uri="{FF2B5EF4-FFF2-40B4-BE49-F238E27FC236}">
                <a16:creationId xmlns:a16="http://schemas.microsoft.com/office/drawing/2014/main" id="{58492A72-6556-93A8-DAE4-1788875E936A}"/>
              </a:ext>
            </a:extLst>
          </p:cNvPr>
          <p:cNvSpPr/>
          <p:nvPr/>
        </p:nvSpPr>
        <p:spPr>
          <a:xfrm>
            <a:off x="6171259" y="2715203"/>
            <a:ext cx="1766573" cy="649002"/>
          </a:xfrm>
          <a:prstGeom prst="diamond">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Accept backup proposal ?</a:t>
            </a:r>
          </a:p>
        </p:txBody>
      </p:sp>
      <p:sp>
        <p:nvSpPr>
          <p:cNvPr id="21" name="Rounded Rectangle 32">
            <a:extLst>
              <a:ext uri="{FF2B5EF4-FFF2-40B4-BE49-F238E27FC236}">
                <a16:creationId xmlns:a16="http://schemas.microsoft.com/office/drawing/2014/main" id="{D859BD09-120A-544B-AA79-DD8BB2787DBF}"/>
              </a:ext>
            </a:extLst>
          </p:cNvPr>
          <p:cNvSpPr/>
          <p:nvPr/>
        </p:nvSpPr>
        <p:spPr>
          <a:xfrm>
            <a:off x="6096000" y="1952006"/>
            <a:ext cx="3944745" cy="434606"/>
          </a:xfrm>
          <a:prstGeom prst="round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Check backup proposal (method/person) in Onsite/Offshore team in case LGCNS need to contact in urgent case</a:t>
            </a:r>
          </a:p>
        </p:txBody>
      </p:sp>
      <p:cxnSp>
        <p:nvCxnSpPr>
          <p:cNvPr id="22" name="Connector: Elbow 44">
            <a:extLst>
              <a:ext uri="{FF2B5EF4-FFF2-40B4-BE49-F238E27FC236}">
                <a16:creationId xmlns:a16="http://schemas.microsoft.com/office/drawing/2014/main" id="{8C7203C1-42EA-3903-9E1A-27D29729879D}"/>
              </a:ext>
            </a:extLst>
          </p:cNvPr>
          <p:cNvCxnSpPr>
            <a:cxnSpLocks/>
            <a:stCxn id="17" idx="1"/>
            <a:endCxn id="21" idx="0"/>
          </p:cNvCxnSpPr>
          <p:nvPr/>
        </p:nvCxnSpPr>
        <p:spPr>
          <a:xfrm rot="10800000" flipV="1">
            <a:off x="8068373" y="1748892"/>
            <a:ext cx="1684880" cy="203113"/>
          </a:xfrm>
          <a:prstGeom prst="bentConnector2">
            <a:avLst/>
          </a:prstGeom>
          <a:noFill/>
          <a:ln w="6350" cap="flat" cmpd="sng" algn="ctr">
            <a:solidFill>
              <a:srgbClr val="36365C"/>
            </a:solidFill>
            <a:prstDash val="solid"/>
            <a:miter lim="800000"/>
            <a:tailEnd type="triangle"/>
          </a:ln>
          <a:effectLst/>
        </p:spPr>
      </p:cxnSp>
      <p:cxnSp>
        <p:nvCxnSpPr>
          <p:cNvPr id="23" name="Connector: Elbow 55">
            <a:extLst>
              <a:ext uri="{FF2B5EF4-FFF2-40B4-BE49-F238E27FC236}">
                <a16:creationId xmlns:a16="http://schemas.microsoft.com/office/drawing/2014/main" id="{F9C0FE44-574F-8FBE-7D05-DE52517B9172}"/>
              </a:ext>
            </a:extLst>
          </p:cNvPr>
          <p:cNvCxnSpPr>
            <a:cxnSpLocks/>
            <a:stCxn id="21" idx="2"/>
            <a:endCxn id="20" idx="0"/>
          </p:cNvCxnSpPr>
          <p:nvPr/>
        </p:nvCxnSpPr>
        <p:spPr>
          <a:xfrm rot="5400000">
            <a:off x="7397165" y="2043994"/>
            <a:ext cx="328591" cy="1013827"/>
          </a:xfrm>
          <a:prstGeom prst="bentConnector3">
            <a:avLst>
              <a:gd name="adj1" fmla="val 50000"/>
            </a:avLst>
          </a:prstGeom>
          <a:noFill/>
          <a:ln w="6350" cap="flat" cmpd="sng" algn="ctr">
            <a:solidFill>
              <a:srgbClr val="36365C"/>
            </a:solidFill>
            <a:prstDash val="solid"/>
            <a:miter lim="800000"/>
            <a:tailEnd type="triangle"/>
          </a:ln>
          <a:effectLst/>
        </p:spPr>
      </p:cxnSp>
      <p:sp>
        <p:nvSpPr>
          <p:cNvPr id="24" name="Rectangle 23">
            <a:extLst>
              <a:ext uri="{FF2B5EF4-FFF2-40B4-BE49-F238E27FC236}">
                <a16:creationId xmlns:a16="http://schemas.microsoft.com/office/drawing/2014/main" id="{1F7A4FA8-1A9F-23FE-8940-CE5F11E16BC7}"/>
              </a:ext>
            </a:extLst>
          </p:cNvPr>
          <p:cNvSpPr/>
          <p:nvPr/>
        </p:nvSpPr>
        <p:spPr>
          <a:xfrm>
            <a:off x="7135658" y="3773502"/>
            <a:ext cx="1989597" cy="375820"/>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Send WFH request + Backup proposal</a:t>
            </a:r>
          </a:p>
        </p:txBody>
      </p:sp>
      <p:cxnSp>
        <p:nvCxnSpPr>
          <p:cNvPr id="25" name="Connector: Elbow 59">
            <a:extLst>
              <a:ext uri="{FF2B5EF4-FFF2-40B4-BE49-F238E27FC236}">
                <a16:creationId xmlns:a16="http://schemas.microsoft.com/office/drawing/2014/main" id="{A0AFC060-8340-703D-7373-9F1101889EE3}"/>
              </a:ext>
            </a:extLst>
          </p:cNvPr>
          <p:cNvCxnSpPr>
            <a:cxnSpLocks/>
            <a:stCxn id="20" idx="2"/>
            <a:endCxn id="24" idx="0"/>
          </p:cNvCxnSpPr>
          <p:nvPr/>
        </p:nvCxnSpPr>
        <p:spPr>
          <a:xfrm rot="16200000" flipH="1">
            <a:off x="7387853" y="3030897"/>
            <a:ext cx="409297" cy="1075911"/>
          </a:xfrm>
          <a:prstGeom prst="bentConnector3">
            <a:avLst>
              <a:gd name="adj1" fmla="val 50000"/>
            </a:avLst>
          </a:prstGeom>
          <a:noFill/>
          <a:ln w="6350" cap="flat" cmpd="sng" algn="ctr">
            <a:solidFill>
              <a:srgbClr val="36365C"/>
            </a:solidFill>
            <a:prstDash val="solid"/>
            <a:miter lim="800000"/>
            <a:tailEnd type="triangle"/>
          </a:ln>
          <a:effectLst/>
        </p:spPr>
      </p:cxnSp>
      <p:cxnSp>
        <p:nvCxnSpPr>
          <p:cNvPr id="26" name="Straight Arrow Connector 25">
            <a:extLst>
              <a:ext uri="{FF2B5EF4-FFF2-40B4-BE49-F238E27FC236}">
                <a16:creationId xmlns:a16="http://schemas.microsoft.com/office/drawing/2014/main" id="{383B05B2-F0C1-D808-4041-DB3962BEF1A9}"/>
              </a:ext>
            </a:extLst>
          </p:cNvPr>
          <p:cNvCxnSpPr>
            <a:cxnSpLocks/>
            <a:stCxn id="24" idx="1"/>
            <a:endCxn id="11" idx="3"/>
          </p:cNvCxnSpPr>
          <p:nvPr/>
        </p:nvCxnSpPr>
        <p:spPr>
          <a:xfrm flipH="1" flipV="1">
            <a:off x="2447619" y="3959454"/>
            <a:ext cx="4688039" cy="1958"/>
          </a:xfrm>
          <a:prstGeom prst="straightConnector1">
            <a:avLst/>
          </a:prstGeom>
          <a:noFill/>
          <a:ln w="6350" cap="flat" cmpd="sng" algn="ctr">
            <a:solidFill>
              <a:srgbClr val="36365C"/>
            </a:solidFill>
            <a:prstDash val="solid"/>
            <a:miter lim="800000"/>
            <a:tailEnd type="triangle"/>
          </a:ln>
          <a:effectLst/>
        </p:spPr>
      </p:cxnSp>
      <p:cxnSp>
        <p:nvCxnSpPr>
          <p:cNvPr id="27" name="Connector: Elbow 66">
            <a:extLst>
              <a:ext uri="{FF2B5EF4-FFF2-40B4-BE49-F238E27FC236}">
                <a16:creationId xmlns:a16="http://schemas.microsoft.com/office/drawing/2014/main" id="{C8913DFA-AE9A-2AB2-EA7C-EE5CE429D0B7}"/>
              </a:ext>
            </a:extLst>
          </p:cNvPr>
          <p:cNvCxnSpPr>
            <a:cxnSpLocks/>
            <a:stCxn id="11" idx="2"/>
            <a:endCxn id="31" idx="1"/>
          </p:cNvCxnSpPr>
          <p:nvPr/>
        </p:nvCxnSpPr>
        <p:spPr>
          <a:xfrm rot="16200000" flipH="1">
            <a:off x="5474573" y="373715"/>
            <a:ext cx="305427" cy="8125906"/>
          </a:xfrm>
          <a:prstGeom prst="bentConnector2">
            <a:avLst/>
          </a:prstGeom>
          <a:noFill/>
          <a:ln w="6350" cap="flat" cmpd="sng" algn="ctr">
            <a:solidFill>
              <a:srgbClr val="36365C"/>
            </a:solidFill>
            <a:prstDash val="solid"/>
            <a:miter lim="800000"/>
            <a:tailEnd type="triangle"/>
          </a:ln>
          <a:effectLst/>
        </p:spPr>
      </p:cxnSp>
      <p:sp>
        <p:nvSpPr>
          <p:cNvPr id="28" name="TextBox 27">
            <a:extLst>
              <a:ext uri="{FF2B5EF4-FFF2-40B4-BE49-F238E27FC236}">
                <a16:creationId xmlns:a16="http://schemas.microsoft.com/office/drawing/2014/main" id="{9AD2E72C-E679-F305-CAFD-45DC2ACFD718}"/>
              </a:ext>
            </a:extLst>
          </p:cNvPr>
          <p:cNvSpPr txBox="1"/>
          <p:nvPr/>
        </p:nvSpPr>
        <p:spPr>
          <a:xfrm>
            <a:off x="6506605" y="3331393"/>
            <a:ext cx="734733"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Yes</a:t>
            </a:r>
          </a:p>
        </p:txBody>
      </p:sp>
      <p:sp>
        <p:nvSpPr>
          <p:cNvPr id="29" name="TextBox 28">
            <a:extLst>
              <a:ext uri="{FF2B5EF4-FFF2-40B4-BE49-F238E27FC236}">
                <a16:creationId xmlns:a16="http://schemas.microsoft.com/office/drawing/2014/main" id="{10FCF0FD-D7C8-F323-441F-DE01FA3BDCAA}"/>
              </a:ext>
            </a:extLst>
          </p:cNvPr>
          <p:cNvSpPr txBox="1"/>
          <p:nvPr/>
        </p:nvSpPr>
        <p:spPr>
          <a:xfrm>
            <a:off x="7759109" y="3113716"/>
            <a:ext cx="734733"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No</a:t>
            </a:r>
          </a:p>
        </p:txBody>
      </p:sp>
      <p:cxnSp>
        <p:nvCxnSpPr>
          <p:cNvPr id="30" name="Connector: Elbow 74">
            <a:extLst>
              <a:ext uri="{FF2B5EF4-FFF2-40B4-BE49-F238E27FC236}">
                <a16:creationId xmlns:a16="http://schemas.microsoft.com/office/drawing/2014/main" id="{C1CC154A-B38E-6B59-72E9-4D4700F7F600}"/>
              </a:ext>
            </a:extLst>
          </p:cNvPr>
          <p:cNvCxnSpPr>
            <a:cxnSpLocks/>
            <a:stCxn id="20" idx="3"/>
            <a:endCxn id="21" idx="3"/>
          </p:cNvCxnSpPr>
          <p:nvPr/>
        </p:nvCxnSpPr>
        <p:spPr>
          <a:xfrm flipV="1">
            <a:off x="7937832" y="2169309"/>
            <a:ext cx="2102913" cy="870395"/>
          </a:xfrm>
          <a:prstGeom prst="bentConnector3">
            <a:avLst>
              <a:gd name="adj1" fmla="val 110871"/>
            </a:avLst>
          </a:prstGeom>
          <a:noFill/>
          <a:ln w="6350" cap="flat" cmpd="sng" algn="ctr">
            <a:solidFill>
              <a:srgbClr val="C00000"/>
            </a:solidFill>
            <a:prstDash val="solid"/>
            <a:miter lim="800000"/>
            <a:tailEnd type="triangle"/>
          </a:ln>
          <a:effectLst/>
        </p:spPr>
      </p:cxnSp>
      <p:sp>
        <p:nvSpPr>
          <p:cNvPr id="31" name="Rectangle 30">
            <a:extLst>
              <a:ext uri="{FF2B5EF4-FFF2-40B4-BE49-F238E27FC236}">
                <a16:creationId xmlns:a16="http://schemas.microsoft.com/office/drawing/2014/main" id="{07AF7E39-D807-C6E9-1C51-FE656B59EC12}"/>
              </a:ext>
            </a:extLst>
          </p:cNvPr>
          <p:cNvSpPr/>
          <p:nvPr/>
        </p:nvSpPr>
        <p:spPr>
          <a:xfrm>
            <a:off x="9690239" y="4354369"/>
            <a:ext cx="1989597" cy="470025"/>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buClrTx/>
              <a:buFontTx/>
              <a:buNone/>
              <a:defRPr/>
            </a:pPr>
            <a:r>
              <a:rPr lang="en-US" sz="1100">
                <a:solidFill>
                  <a:srgbClr val="36365C"/>
                </a:solidFill>
                <a:latin typeface="Segoe UI"/>
                <a:ea typeface="+mn-ea"/>
              </a:rPr>
              <a:t>Log ticket to get Thin Client + use FSOFT VDI from home</a:t>
            </a:r>
          </a:p>
        </p:txBody>
      </p:sp>
      <p:sp>
        <p:nvSpPr>
          <p:cNvPr id="32" name="Rectangle 31">
            <a:extLst>
              <a:ext uri="{FF2B5EF4-FFF2-40B4-BE49-F238E27FC236}">
                <a16:creationId xmlns:a16="http://schemas.microsoft.com/office/drawing/2014/main" id="{7D2C2C4D-0E2D-E901-96C8-37207652A23F}"/>
              </a:ext>
            </a:extLst>
          </p:cNvPr>
          <p:cNvSpPr/>
          <p:nvPr/>
        </p:nvSpPr>
        <p:spPr>
          <a:xfrm>
            <a:off x="6163574" y="4899700"/>
            <a:ext cx="1711315" cy="41270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Approve</a:t>
            </a:r>
          </a:p>
        </p:txBody>
      </p:sp>
      <p:cxnSp>
        <p:nvCxnSpPr>
          <p:cNvPr id="33" name="Connector: Elbow 84">
            <a:extLst>
              <a:ext uri="{FF2B5EF4-FFF2-40B4-BE49-F238E27FC236}">
                <a16:creationId xmlns:a16="http://schemas.microsoft.com/office/drawing/2014/main" id="{B57792E9-75D4-563E-BDC9-B88C0C1A9D6F}"/>
              </a:ext>
            </a:extLst>
          </p:cNvPr>
          <p:cNvCxnSpPr>
            <a:cxnSpLocks/>
          </p:cNvCxnSpPr>
          <p:nvPr/>
        </p:nvCxnSpPr>
        <p:spPr>
          <a:xfrm rot="5400000">
            <a:off x="9172738" y="3593753"/>
            <a:ext cx="214452" cy="2810149"/>
          </a:xfrm>
          <a:prstGeom prst="bentConnector2">
            <a:avLst/>
          </a:prstGeom>
          <a:noFill/>
          <a:ln w="6350" cap="flat" cmpd="sng" algn="ctr">
            <a:solidFill>
              <a:srgbClr val="36365C"/>
            </a:solidFill>
            <a:prstDash val="solid"/>
            <a:miter lim="800000"/>
            <a:tailEnd type="triangle"/>
          </a:ln>
          <a:effectLst/>
        </p:spPr>
      </p:cxnSp>
      <p:sp>
        <p:nvSpPr>
          <p:cNvPr id="34" name="TextBox 33">
            <a:extLst>
              <a:ext uri="{FF2B5EF4-FFF2-40B4-BE49-F238E27FC236}">
                <a16:creationId xmlns:a16="http://schemas.microsoft.com/office/drawing/2014/main" id="{6A6734DC-C051-2304-5F16-7357DF076447}"/>
              </a:ext>
            </a:extLst>
          </p:cNvPr>
          <p:cNvSpPr txBox="1"/>
          <p:nvPr/>
        </p:nvSpPr>
        <p:spPr>
          <a:xfrm>
            <a:off x="1604305" y="4247651"/>
            <a:ext cx="734733"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Yes</a:t>
            </a:r>
          </a:p>
        </p:txBody>
      </p:sp>
      <p:cxnSp>
        <p:nvCxnSpPr>
          <p:cNvPr id="35" name="Connector: Elbow 91">
            <a:extLst>
              <a:ext uri="{FF2B5EF4-FFF2-40B4-BE49-F238E27FC236}">
                <a16:creationId xmlns:a16="http://schemas.microsoft.com/office/drawing/2014/main" id="{B85B80FE-33DC-321E-40F9-95E5EAAD0156}"/>
              </a:ext>
            </a:extLst>
          </p:cNvPr>
          <p:cNvCxnSpPr>
            <a:cxnSpLocks/>
            <a:stCxn id="11" idx="0"/>
            <a:endCxn id="21" idx="1"/>
          </p:cNvCxnSpPr>
          <p:nvPr/>
        </p:nvCxnSpPr>
        <p:spPr>
          <a:xfrm rot="5400000" flipH="1" flipV="1">
            <a:off x="3097344" y="636298"/>
            <a:ext cx="1465644" cy="4531667"/>
          </a:xfrm>
          <a:prstGeom prst="bentConnector2">
            <a:avLst/>
          </a:prstGeom>
          <a:noFill/>
          <a:ln w="6350" cap="flat" cmpd="sng" algn="ctr">
            <a:solidFill>
              <a:srgbClr val="C00000"/>
            </a:solidFill>
            <a:prstDash val="solid"/>
            <a:miter lim="800000"/>
            <a:tailEnd type="triangle"/>
          </a:ln>
          <a:effectLst/>
        </p:spPr>
      </p:cxnSp>
      <p:sp>
        <p:nvSpPr>
          <p:cNvPr id="36" name="TextBox 35">
            <a:extLst>
              <a:ext uri="{FF2B5EF4-FFF2-40B4-BE49-F238E27FC236}">
                <a16:creationId xmlns:a16="http://schemas.microsoft.com/office/drawing/2014/main" id="{34F8CDCC-C277-9903-7CC8-A67B2702807E}"/>
              </a:ext>
            </a:extLst>
          </p:cNvPr>
          <p:cNvSpPr txBox="1"/>
          <p:nvPr/>
        </p:nvSpPr>
        <p:spPr>
          <a:xfrm>
            <a:off x="1604305" y="3375326"/>
            <a:ext cx="734733"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No</a:t>
            </a:r>
          </a:p>
        </p:txBody>
      </p:sp>
      <p:sp>
        <p:nvSpPr>
          <p:cNvPr id="37" name="Flowchart: Punched Tape 37">
            <a:extLst>
              <a:ext uri="{FF2B5EF4-FFF2-40B4-BE49-F238E27FC236}">
                <a16:creationId xmlns:a16="http://schemas.microsoft.com/office/drawing/2014/main" id="{B8152099-2A0D-E5AA-D9A3-ED78062ECB8B}"/>
              </a:ext>
            </a:extLst>
          </p:cNvPr>
          <p:cNvSpPr/>
          <p:nvPr/>
        </p:nvSpPr>
        <p:spPr>
          <a:xfrm>
            <a:off x="1641510" y="2631330"/>
            <a:ext cx="1582041" cy="723918"/>
          </a:xfrm>
          <a:prstGeom prst="flowChartPunchedTape">
            <a:avLst/>
          </a:prstGeom>
          <a:solidFill>
            <a:srgbClr val="FFFF00"/>
          </a:solidFill>
          <a:ln w="12700" cap="flat" cmpd="sng" algn="ctr">
            <a:noFill/>
            <a:prstDash val="solid"/>
            <a:miter lim="800000"/>
          </a:ln>
          <a:effectLst/>
        </p:spPr>
        <p:txBody>
          <a:bodyPr rtlCol="0" anchor="ctr"/>
          <a:lstStyle/>
          <a:p>
            <a:pPr algn="ctr">
              <a:buClrTx/>
              <a:buFontTx/>
              <a:buNone/>
              <a:defRPr/>
            </a:pPr>
            <a:r>
              <a:rPr lang="en-US" sz="1100">
                <a:solidFill>
                  <a:srgbClr val="36365C"/>
                </a:solidFill>
                <a:latin typeface="Segoe UI"/>
                <a:ea typeface="+mn-ea"/>
              </a:rPr>
              <a:t>In case “No”: Specify the detail of reason</a:t>
            </a:r>
          </a:p>
        </p:txBody>
      </p:sp>
      <p:sp>
        <p:nvSpPr>
          <p:cNvPr id="38" name="Rectangle 37">
            <a:extLst>
              <a:ext uri="{FF2B5EF4-FFF2-40B4-BE49-F238E27FC236}">
                <a16:creationId xmlns:a16="http://schemas.microsoft.com/office/drawing/2014/main" id="{BA39841B-6569-2113-93E3-31E979D396D5}"/>
              </a:ext>
            </a:extLst>
          </p:cNvPr>
          <p:cNvSpPr/>
          <p:nvPr/>
        </p:nvSpPr>
        <p:spPr>
          <a:xfrm>
            <a:off x="6171771" y="6143054"/>
            <a:ext cx="1711315" cy="412704"/>
          </a:xfrm>
          <a:prstGeom prst="rect">
            <a:avLst/>
          </a:prstGeom>
          <a:solidFill>
            <a:srgbClr val="4F127F">
              <a:lumMod val="20000"/>
              <a:lumOff val="80000"/>
            </a:srgbClr>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Record WFH Data</a:t>
            </a:r>
          </a:p>
        </p:txBody>
      </p:sp>
      <p:cxnSp>
        <p:nvCxnSpPr>
          <p:cNvPr id="39" name="Straight Arrow Connector 38">
            <a:extLst>
              <a:ext uri="{FF2B5EF4-FFF2-40B4-BE49-F238E27FC236}">
                <a16:creationId xmlns:a16="http://schemas.microsoft.com/office/drawing/2014/main" id="{D047614A-F988-AA8D-9F80-C072CB739321}"/>
              </a:ext>
            </a:extLst>
          </p:cNvPr>
          <p:cNvCxnSpPr>
            <a:cxnSpLocks/>
            <a:stCxn id="32" idx="2"/>
            <a:endCxn id="38" idx="0"/>
          </p:cNvCxnSpPr>
          <p:nvPr/>
        </p:nvCxnSpPr>
        <p:spPr>
          <a:xfrm>
            <a:off x="7019232" y="5312404"/>
            <a:ext cx="8197" cy="830650"/>
          </a:xfrm>
          <a:prstGeom prst="straightConnector1">
            <a:avLst/>
          </a:prstGeom>
          <a:noFill/>
          <a:ln w="6350" cap="flat" cmpd="sng" algn="ctr">
            <a:solidFill>
              <a:srgbClr val="36365C"/>
            </a:solidFill>
            <a:prstDash val="solid"/>
            <a:miter lim="800000"/>
            <a:tailEnd type="triangle"/>
          </a:ln>
          <a:effectLst/>
        </p:spPr>
      </p:cxnSp>
      <p:sp>
        <p:nvSpPr>
          <p:cNvPr id="40" name="Rectangle 39">
            <a:extLst>
              <a:ext uri="{FF2B5EF4-FFF2-40B4-BE49-F238E27FC236}">
                <a16:creationId xmlns:a16="http://schemas.microsoft.com/office/drawing/2014/main" id="{9AB0D0C2-1925-6747-1018-F700F277880D}"/>
              </a:ext>
            </a:extLst>
          </p:cNvPr>
          <p:cNvSpPr/>
          <p:nvPr/>
        </p:nvSpPr>
        <p:spPr>
          <a:xfrm>
            <a:off x="9690239" y="5747654"/>
            <a:ext cx="1988422" cy="395400"/>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Work from home</a:t>
            </a:r>
          </a:p>
        </p:txBody>
      </p:sp>
      <p:cxnSp>
        <p:nvCxnSpPr>
          <p:cNvPr id="41" name="Connector: Elbow 22">
            <a:extLst>
              <a:ext uri="{FF2B5EF4-FFF2-40B4-BE49-F238E27FC236}">
                <a16:creationId xmlns:a16="http://schemas.microsoft.com/office/drawing/2014/main" id="{C48D6D49-22E7-D097-EB95-B4C3B423242E}"/>
              </a:ext>
            </a:extLst>
          </p:cNvPr>
          <p:cNvCxnSpPr>
            <a:cxnSpLocks/>
            <a:stCxn id="32" idx="2"/>
            <a:endCxn id="40" idx="1"/>
          </p:cNvCxnSpPr>
          <p:nvPr/>
        </p:nvCxnSpPr>
        <p:spPr>
          <a:xfrm rot="16200000" flipH="1">
            <a:off x="8038260" y="4293375"/>
            <a:ext cx="632950" cy="2671007"/>
          </a:xfrm>
          <a:prstGeom prst="bentConnector2">
            <a:avLst/>
          </a:prstGeom>
          <a:noFill/>
          <a:ln w="6350" cap="flat" cmpd="sng" algn="ctr">
            <a:solidFill>
              <a:srgbClr val="36365C"/>
            </a:solidFill>
            <a:prstDash val="solid"/>
            <a:miter lim="800000"/>
            <a:tailEnd type="triangle"/>
          </a:ln>
          <a:effectLst/>
        </p:spPr>
      </p:cxnSp>
      <p:sp>
        <p:nvSpPr>
          <p:cNvPr id="42" name="Flowchart: Punched Tape 5">
            <a:extLst>
              <a:ext uri="{FF2B5EF4-FFF2-40B4-BE49-F238E27FC236}">
                <a16:creationId xmlns:a16="http://schemas.microsoft.com/office/drawing/2014/main" id="{173CCD86-EDA8-EB26-22E3-25648F24D2BC}"/>
              </a:ext>
            </a:extLst>
          </p:cNvPr>
          <p:cNvSpPr/>
          <p:nvPr/>
        </p:nvSpPr>
        <p:spPr>
          <a:xfrm>
            <a:off x="10576461" y="4761334"/>
            <a:ext cx="1582041" cy="723918"/>
          </a:xfrm>
          <a:prstGeom prst="flowChartPunchedTape">
            <a:avLst/>
          </a:prstGeom>
          <a:solidFill>
            <a:srgbClr val="FFFF00"/>
          </a:solidFill>
          <a:ln w="12700" cap="flat" cmpd="sng" algn="ctr">
            <a:noFill/>
            <a:prstDash val="solid"/>
            <a:miter lim="800000"/>
          </a:ln>
          <a:effectLst/>
        </p:spPr>
        <p:txBody>
          <a:bodyPr rtlCol="0" anchor="ctr"/>
          <a:lstStyle/>
          <a:p>
            <a:pPr algn="ctr">
              <a:buClrTx/>
              <a:buFontTx/>
              <a:buNone/>
              <a:defRPr/>
            </a:pPr>
            <a:r>
              <a:rPr lang="en-US" sz="1100">
                <a:solidFill>
                  <a:srgbClr val="36365C"/>
                </a:solidFill>
                <a:latin typeface="Segoe UI"/>
                <a:ea typeface="+mn-ea"/>
              </a:rPr>
              <a:t>Attach approval evidence with Ticket</a:t>
            </a:r>
          </a:p>
        </p:txBody>
      </p:sp>
      <p:sp>
        <p:nvSpPr>
          <p:cNvPr id="43" name="Callout: Bent Line 7">
            <a:extLst>
              <a:ext uri="{FF2B5EF4-FFF2-40B4-BE49-F238E27FC236}">
                <a16:creationId xmlns:a16="http://schemas.microsoft.com/office/drawing/2014/main" id="{593F8308-3CC6-2088-57BA-854847C11114}"/>
              </a:ext>
            </a:extLst>
          </p:cNvPr>
          <p:cNvSpPr/>
          <p:nvPr/>
        </p:nvSpPr>
        <p:spPr>
          <a:xfrm>
            <a:off x="551613" y="5312403"/>
            <a:ext cx="1809694" cy="830651"/>
          </a:xfrm>
          <a:prstGeom prst="borderCallout2">
            <a:avLst>
              <a:gd name="adj1" fmla="val -2760"/>
              <a:gd name="adj2" fmla="val 35806"/>
              <a:gd name="adj3" fmla="val -49577"/>
              <a:gd name="adj4" fmla="val 23988"/>
              <a:gd name="adj5" fmla="val -126605"/>
              <a:gd name="adj6" fmla="val 44988"/>
            </a:avLst>
          </a:prstGeom>
          <a:solidFill>
            <a:srgbClr val="FFFAEB"/>
          </a:solidFill>
          <a:ln w="19050" cap="flat" cmpd="sng" algn="ctr">
            <a:solidFill>
              <a:srgbClr val="ED7D31">
                <a:lumMod val="75000"/>
              </a:srgbClr>
            </a:solidFill>
            <a:prstDash val="dash"/>
            <a:miter lim="800000"/>
            <a:tailEnd type="oval" w="lg" len="lg"/>
          </a:ln>
          <a:effectLst/>
        </p:spPr>
        <p:txBody>
          <a:bodyPr rtlCol="0" anchor="ctr"/>
          <a:lstStyle/>
          <a:p>
            <a:pPr algn="ctr">
              <a:buClrTx/>
              <a:buFontTx/>
              <a:buNone/>
              <a:defRPr/>
            </a:pPr>
            <a:r>
              <a:rPr lang="en-US" sz="1100" dirty="0">
                <a:solidFill>
                  <a:srgbClr val="36365C"/>
                </a:solidFill>
                <a:latin typeface="Segoe UI"/>
                <a:ea typeface="+mn-ea"/>
              </a:rPr>
              <a:t>Get confirmation from LGCNS is enough </a:t>
            </a:r>
          </a:p>
          <a:p>
            <a:pPr algn="ctr">
              <a:buClrTx/>
              <a:buFontTx/>
              <a:buNone/>
              <a:defRPr/>
            </a:pPr>
            <a:r>
              <a:rPr lang="en-US" sz="1100" dirty="0">
                <a:solidFill>
                  <a:srgbClr val="36365C"/>
                </a:solidFill>
                <a:latin typeface="Segoe UI"/>
                <a:ea typeface="+mn-ea"/>
              </a:rPr>
              <a:t>(GDC is used in the backup case only)</a:t>
            </a:r>
          </a:p>
        </p:txBody>
      </p:sp>
      <p:sp>
        <p:nvSpPr>
          <p:cNvPr id="82" name="Flowchart: Punched Tape 12">
            <a:extLst>
              <a:ext uri="{FF2B5EF4-FFF2-40B4-BE49-F238E27FC236}">
                <a16:creationId xmlns:a16="http://schemas.microsoft.com/office/drawing/2014/main" id="{29101365-1529-564C-1CE3-BF0AC9D07438}"/>
              </a:ext>
            </a:extLst>
          </p:cNvPr>
          <p:cNvSpPr/>
          <p:nvPr/>
        </p:nvSpPr>
        <p:spPr>
          <a:xfrm>
            <a:off x="7335454" y="5114154"/>
            <a:ext cx="1984701" cy="1150790"/>
          </a:xfrm>
          <a:prstGeom prst="flowChartPunchedTape">
            <a:avLst/>
          </a:prstGeom>
          <a:solidFill>
            <a:srgbClr val="FFFF00"/>
          </a:solidFill>
          <a:ln w="12700" cap="flat" cmpd="sng" algn="ctr">
            <a:noFill/>
            <a:prstDash val="solid"/>
            <a:miter lim="800000"/>
          </a:ln>
          <a:effectLst/>
        </p:spPr>
        <p:txBody>
          <a:bodyPr rtlCol="0" anchor="ctr"/>
          <a:lstStyle/>
          <a:p>
            <a:pPr algn="ctr">
              <a:buClrTx/>
              <a:buFontTx/>
              <a:buNone/>
              <a:defRPr/>
            </a:pPr>
            <a:r>
              <a:rPr lang="en-US" sz="1100" u="sng">
                <a:solidFill>
                  <a:srgbClr val="FF0000"/>
                </a:solidFill>
                <a:latin typeface="Segoe UI"/>
                <a:ea typeface="+mn-ea"/>
              </a:rPr>
              <a:t>*Important:</a:t>
            </a:r>
            <a:r>
              <a:rPr lang="en-US" sz="1100">
                <a:solidFill>
                  <a:srgbClr val="FF0000"/>
                </a:solidFill>
                <a:latin typeface="Segoe UI"/>
                <a:ea typeface="+mn-ea"/>
              </a:rPr>
              <a:t> Member have to use Thin Client (Laptop) configured by FPT IT to connect to LGCNS</a:t>
            </a:r>
          </a:p>
        </p:txBody>
      </p:sp>
      <p:sp>
        <p:nvSpPr>
          <p:cNvPr id="83" name="Rectangle 82">
            <a:extLst>
              <a:ext uri="{FF2B5EF4-FFF2-40B4-BE49-F238E27FC236}">
                <a16:creationId xmlns:a16="http://schemas.microsoft.com/office/drawing/2014/main" id="{C4F4E86D-C762-EAA2-1357-CED24460A664}"/>
              </a:ext>
            </a:extLst>
          </p:cNvPr>
          <p:cNvSpPr/>
          <p:nvPr/>
        </p:nvSpPr>
        <p:spPr>
          <a:xfrm>
            <a:off x="9744887" y="6198053"/>
            <a:ext cx="1877664" cy="604345"/>
          </a:xfrm>
          <a:prstGeom prst="rect">
            <a:avLst/>
          </a:prstGeom>
          <a:solidFill>
            <a:srgbClr val="FFFAEB"/>
          </a:solidFill>
          <a:ln w="19050" cap="flat" cmpd="sng" algn="ctr">
            <a:solidFill>
              <a:srgbClr val="ED7D31">
                <a:lumMod val="75000"/>
              </a:srgbClr>
            </a:solidFill>
            <a:prstDash val="dash"/>
            <a:miter lim="800000"/>
            <a:tailEnd type="oval" w="lg" len="lg"/>
          </a:ln>
          <a:effectLst/>
        </p:spPr>
        <p:txBody>
          <a:bodyPr rtlCol="0" anchor="ctr"/>
          <a:lstStyle/>
          <a:p>
            <a:pPr algn="ctr">
              <a:buClrTx/>
              <a:buFontTx/>
              <a:buNone/>
              <a:defRPr/>
            </a:pPr>
            <a:r>
              <a:rPr lang="en-US" sz="1100">
                <a:solidFill>
                  <a:srgbClr val="FF0000"/>
                </a:solidFill>
                <a:latin typeface="Segoe UI"/>
                <a:ea typeface="+mn-ea"/>
              </a:rPr>
              <a:t>Must connect to Fsoft VDI before connecting to LGCNS VDI</a:t>
            </a:r>
          </a:p>
        </p:txBody>
      </p:sp>
      <p:sp>
        <p:nvSpPr>
          <p:cNvPr id="84" name="Flowchart: Punched Tape 110">
            <a:extLst>
              <a:ext uri="{FF2B5EF4-FFF2-40B4-BE49-F238E27FC236}">
                <a16:creationId xmlns:a16="http://schemas.microsoft.com/office/drawing/2014/main" id="{645CA7BA-A56E-B3A0-0025-FA9FAFC19A8E}"/>
              </a:ext>
            </a:extLst>
          </p:cNvPr>
          <p:cNvSpPr/>
          <p:nvPr/>
        </p:nvSpPr>
        <p:spPr>
          <a:xfrm>
            <a:off x="2916634" y="3482927"/>
            <a:ext cx="1582041" cy="723918"/>
          </a:xfrm>
          <a:prstGeom prst="flowChartPunchedTape">
            <a:avLst/>
          </a:prstGeom>
          <a:solidFill>
            <a:srgbClr val="FFFF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a:ln>
                  <a:noFill/>
                </a:ln>
                <a:solidFill>
                  <a:srgbClr val="36365C"/>
                </a:solidFill>
                <a:effectLst/>
                <a:uLnTx/>
                <a:uFillTx/>
                <a:ea typeface="+mn-ea"/>
              </a:rPr>
              <a:t>Inform: GDC weekly report</a:t>
            </a:r>
            <a:endParaRPr kumimoji="0" lang="en-US" sz="1100" b="0" i="0" u="none" strike="noStrike" kern="0" cap="none" spc="0" normalizeH="0" baseline="0" noProof="0" dirty="0">
              <a:ln>
                <a:noFill/>
              </a:ln>
              <a:solidFill>
                <a:srgbClr val="034EA2"/>
              </a:solidFill>
              <a:effectLst/>
              <a:uLnTx/>
              <a:uFillTx/>
              <a:ea typeface="+mn-ea"/>
            </a:endParaRPr>
          </a:p>
        </p:txBody>
      </p:sp>
    </p:spTree>
    <p:extLst>
      <p:ext uri="{BB962C8B-B14F-4D97-AF65-F5344CB8AC3E}">
        <p14:creationId xmlns:p14="http://schemas.microsoft.com/office/powerpoint/2010/main" val="272609475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29</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11233149" cy="584775"/>
            <a:chOff x="479425" y="461520"/>
            <a:chExt cx="11233149"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3" y="461520"/>
              <a:ext cx="11176311"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13. Standard Process </a:t>
              </a:r>
              <a:r>
                <a:rPr lang="en-US" sz="2400" b="1" dirty="0">
                  <a:solidFill>
                    <a:srgbClr val="212967"/>
                  </a:solidFill>
                  <a:latin typeface="Segoe UI" panose="020B0502040204020203" pitchFamily="34" charset="0"/>
                  <a:cs typeface="Segoe UI" panose="020B0502040204020203" pitchFamily="34" charset="0"/>
                </a:rPr>
                <a:t>- Issue/Failure Reporting Process</a:t>
              </a:r>
            </a:p>
          </p:txBody>
        </p:sp>
      </p:grpSp>
      <p:graphicFrame>
        <p:nvGraphicFramePr>
          <p:cNvPr id="83" name="Group 91">
            <a:extLst>
              <a:ext uri="{FF2B5EF4-FFF2-40B4-BE49-F238E27FC236}">
                <a16:creationId xmlns:a16="http://schemas.microsoft.com/office/drawing/2014/main" id="{23A53C41-CE02-7D41-A146-2D39CED9823C}"/>
              </a:ext>
            </a:extLst>
          </p:cNvPr>
          <p:cNvGraphicFramePr>
            <a:graphicFrameLocks noGrp="1"/>
          </p:cNvGraphicFramePr>
          <p:nvPr>
            <p:extLst>
              <p:ext uri="{D42A27DB-BD31-4B8C-83A1-F6EECF244321}">
                <p14:modId xmlns:p14="http://schemas.microsoft.com/office/powerpoint/2010/main" val="4024609237"/>
              </p:ext>
            </p:extLst>
          </p:nvPr>
        </p:nvGraphicFramePr>
        <p:xfrm>
          <a:off x="338203" y="1078183"/>
          <a:ext cx="11291096" cy="5549044"/>
        </p:xfrm>
        <a:graphic>
          <a:graphicData uri="http://schemas.openxmlformats.org/drawingml/2006/table">
            <a:tbl>
              <a:tblPr/>
              <a:tblGrid>
                <a:gridCol w="1034596">
                  <a:extLst>
                    <a:ext uri="{9D8B030D-6E8A-4147-A177-3AD203B41FA5}">
                      <a16:colId xmlns:a16="http://schemas.microsoft.com/office/drawing/2014/main" val="20000"/>
                    </a:ext>
                  </a:extLst>
                </a:gridCol>
                <a:gridCol w="2137256">
                  <a:extLst>
                    <a:ext uri="{9D8B030D-6E8A-4147-A177-3AD203B41FA5}">
                      <a16:colId xmlns:a16="http://schemas.microsoft.com/office/drawing/2014/main" val="20001"/>
                    </a:ext>
                  </a:extLst>
                </a:gridCol>
                <a:gridCol w="5545188">
                  <a:extLst>
                    <a:ext uri="{9D8B030D-6E8A-4147-A177-3AD203B41FA5}">
                      <a16:colId xmlns:a16="http://schemas.microsoft.com/office/drawing/2014/main" val="20002"/>
                    </a:ext>
                  </a:extLst>
                </a:gridCol>
                <a:gridCol w="2574056">
                  <a:extLst>
                    <a:ext uri="{9D8B030D-6E8A-4147-A177-3AD203B41FA5}">
                      <a16:colId xmlns:a16="http://schemas.microsoft.com/office/drawing/2014/main" val="1258301054"/>
                    </a:ext>
                  </a:extLst>
                </a:gridCol>
              </a:tblGrid>
              <a:tr h="346947">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bg1"/>
                          </a:solidFill>
                          <a:effectLst/>
                          <a:latin typeface="Arial" panose="020B0604020202020204" pitchFamily="34" charset="0"/>
                          <a:ea typeface="LG스마트체 Regular" panose="020B0600000101010101" pitchFamily="50" charset="-127"/>
                          <a:cs typeface="Arial" panose="020B0604020202020204" pitchFamily="34" charset="0"/>
                        </a:rPr>
                        <a:t>Division</a:t>
                      </a:r>
                      <a:endParaRPr kumimoji="1" lang="ko-KR" altLang="en-US" sz="1200" b="0" i="0" u="none" strike="noStrike" cap="none" normalizeH="0" baseline="0" dirty="0">
                        <a:ln>
                          <a:noFill/>
                        </a:ln>
                        <a:solidFill>
                          <a:schemeClr val="bg1"/>
                        </a:solidFill>
                        <a:effectLst/>
                        <a:latin typeface="Arial" panose="020B0604020202020204" pitchFamily="34" charset="0"/>
                        <a:ea typeface="LG스마트체 Regular" panose="020B0600000101010101" pitchFamily="50" charset="-127"/>
                      </a:endParaRPr>
                    </a:p>
                  </a:txBody>
                  <a:tcPr marL="0" marR="0" marT="0" marB="0" anchor="ctr" horzOverflow="overflow">
                    <a:lnL w="28575" cap="flat" cmpd="sng" algn="ctr">
                      <a:solidFill>
                        <a:srgbClr val="000000"/>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D0D0D"/>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bg1"/>
                          </a:solidFill>
                          <a:effectLst/>
                          <a:latin typeface="Arial" panose="020B0604020202020204" pitchFamily="34" charset="0"/>
                          <a:ea typeface="LG스마트체 Regular" panose="020B0600000101010101" pitchFamily="50" charset="-127"/>
                          <a:cs typeface="Arial" panose="020B0604020202020204" pitchFamily="34" charset="0"/>
                        </a:rPr>
                        <a:t>Disability Awareness/Reception</a:t>
                      </a:r>
                      <a:endParaRPr kumimoji="1" lang="ko-KR" altLang="en-US" sz="1200" b="0" i="0" u="none" strike="noStrike" cap="none" normalizeH="0" baseline="0" dirty="0">
                        <a:ln>
                          <a:noFill/>
                        </a:ln>
                        <a:solidFill>
                          <a:schemeClr val="bg1"/>
                        </a:solidFill>
                        <a:effectLst/>
                        <a:latin typeface="Arial" panose="020B0604020202020204" pitchFamily="34" charset="0"/>
                        <a:ea typeface="LG스마트체 Regular" panose="020B0600000101010101" pitchFamily="50" charset="-127"/>
                      </a:endParaRPr>
                    </a:p>
                  </a:txBody>
                  <a:tcPr marL="0" marR="0" marT="0" marB="0" anchor="ctr" horzOverflow="overflow">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D0D0D"/>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bg1"/>
                          </a:solidFill>
                          <a:effectLst/>
                          <a:latin typeface="Arial" panose="020B0604020202020204" pitchFamily="34" charset="0"/>
                          <a:ea typeface="LG스마트체 Regular" panose="020B0600000101010101" pitchFamily="50" charset="-127"/>
                          <a:cs typeface="Arial" panose="020B0604020202020204" pitchFamily="34" charset="0"/>
                        </a:rPr>
                        <a:t>Report/Action on failure</a:t>
                      </a:r>
                      <a:endParaRPr kumimoji="1" lang="ko-KR" altLang="en-US" sz="1200" b="0" i="0" u="none" strike="noStrike" cap="none" normalizeH="0" baseline="0" dirty="0">
                        <a:ln>
                          <a:noFill/>
                        </a:ln>
                        <a:solidFill>
                          <a:schemeClr val="bg1"/>
                        </a:solidFill>
                        <a:effectLst/>
                        <a:latin typeface="Arial" panose="020B0604020202020204" pitchFamily="34" charset="0"/>
                        <a:ea typeface="LG스마트체 Regular" panose="020B0600000101010101" pitchFamily="50" charset="-127"/>
                      </a:endParaRPr>
                    </a:p>
                  </a:txBody>
                  <a:tcPr marL="0" marR="0" marT="0" marB="0" anchor="ctr" horzOverflow="overflow">
                    <a:lnL w="9525" cap="flat" cmpd="sng" algn="ctr">
                      <a:solidFill>
                        <a:srgbClr val="FFFFFF"/>
                      </a:solidFill>
                      <a:prstDash val="solid"/>
                      <a:round/>
                      <a:headEnd type="none" w="med" len="med"/>
                      <a:tailEnd type="none" w="med" len="med"/>
                    </a:lnL>
                    <a:lnR w="9525" cap="flat" cmpd="sng" algn="ctr">
                      <a:solidFill>
                        <a:srgbClr val="FFFFFF"/>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D0D0D"/>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9pPr>
                    </a:lstStyle>
                    <a:p>
                      <a:pPr marL="0" marR="0" lvl="0" indent="0" algn="ctr"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bg1"/>
                          </a:solidFill>
                          <a:effectLst/>
                          <a:latin typeface="Arial" panose="020B0604020202020204" pitchFamily="34" charset="0"/>
                          <a:ea typeface="LG스마트체 Regular" panose="020B0600000101010101" pitchFamily="50" charset="-127"/>
                          <a:cs typeface="Arial" panose="020B0604020202020204" pitchFamily="34" charset="0"/>
                        </a:rPr>
                        <a:t>Failure end report/post management</a:t>
                      </a:r>
                      <a:endParaRPr kumimoji="1" lang="ko-KR" altLang="en-US" sz="1200" b="0" i="0" u="none" strike="noStrike" cap="none" normalizeH="0" baseline="0" dirty="0">
                        <a:ln>
                          <a:noFill/>
                        </a:ln>
                        <a:solidFill>
                          <a:schemeClr val="bg1"/>
                        </a:solidFill>
                        <a:effectLst/>
                        <a:latin typeface="Arial" panose="020B0604020202020204" pitchFamily="34" charset="0"/>
                        <a:ea typeface="LG스마트체 Regular" panose="020B0600000101010101" pitchFamily="50" charset="-127"/>
                      </a:endParaRPr>
                    </a:p>
                  </a:txBody>
                  <a:tcPr marL="0" marR="0" marT="0" marB="0" anchor="ctr" horzOverflow="overflow">
                    <a:lnL w="9525" cap="flat" cmpd="sng" algn="ctr">
                      <a:solidFill>
                        <a:srgbClr val="FFFFFF"/>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0D0D0D"/>
                    </a:solidFill>
                  </a:tcPr>
                </a:tc>
                <a:extLst>
                  <a:ext uri="{0D108BD9-81ED-4DB2-BD59-A6C34878D82A}">
                    <a16:rowId xmlns:a16="http://schemas.microsoft.com/office/drawing/2014/main" val="10000"/>
                  </a:ext>
                </a:extLst>
              </a:tr>
              <a:tr h="2937566">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Workplace</a:t>
                      </a:r>
                      <a:endParaRPr kumimoji="1" lang="ko-KR" altLang="en-US"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0" marR="0" marT="0" marB="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 </a:t>
                      </a:r>
                      <a:endParaRPr kumimoji="1" lang="ko-KR" altLang="en-US"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ys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 </a:t>
                      </a:r>
                      <a:endParaRPr kumimoji="1" lang="ko-KR" altLang="en-US"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0" marR="0" marT="0" marB="0" anchor="ctr" horzOverflow="overflow">
                    <a:lnL w="12700" cap="flat" cmpd="sng" algn="ctr">
                      <a:solidFill>
                        <a:srgbClr val="000000"/>
                      </a:solidFill>
                      <a:prstDash val="sysDot"/>
                      <a:round/>
                      <a:headEnd type="none" w="med" len="med"/>
                      <a:tailEnd type="none" w="med" len="med"/>
                    </a:lnL>
                    <a:lnR w="12700" cap="flat" cmpd="sng" algn="ctr">
                      <a:solidFill>
                        <a:srgbClr val="000000"/>
                      </a:solidFill>
                      <a:prstDash val="sys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9pPr>
                    </a:lstStyle>
                    <a:p>
                      <a:pPr marL="0" marR="0" lvl="0" indent="0" algn="l"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 </a:t>
                      </a:r>
                      <a:endParaRPr kumimoji="1" lang="ko-KR" altLang="en-US"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0" marR="0" marT="0" marB="0" anchor="ctr" horzOverflow="overflow">
                    <a:lnL w="12700" cap="flat" cmpd="sng" algn="ctr">
                      <a:solidFill>
                        <a:srgbClr val="000000"/>
                      </a:solidFill>
                      <a:prstDash val="sysDot"/>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957607">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Reporting system diagram</a:t>
                      </a:r>
                      <a:endParaRPr kumimoji="1" lang="ko-KR" altLang="en-US"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0" marR="0" marT="0" marB="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 </a:t>
                      </a:r>
                      <a:endParaRPr kumimoji="1" lang="ko-KR" altLang="en-US"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ysDot"/>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gridSpan="2">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 </a:t>
                      </a:r>
                      <a:endParaRPr kumimoji="1" lang="ko-KR" altLang="en-US"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0" marR="0" marT="0" marB="0" anchor="ctr" horzOverflow="overflow">
                    <a:lnL w="12700" cap="flat" cmpd="sng" algn="ctr">
                      <a:solidFill>
                        <a:srgbClr val="000000"/>
                      </a:solidFill>
                      <a:prstDash val="sysDot"/>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endParaRPr lang="en-VN"/>
                    </a:p>
                  </a:txBody>
                  <a:tcPr/>
                </a:tc>
                <a:extLst>
                  <a:ext uri="{0D108BD9-81ED-4DB2-BD59-A6C34878D82A}">
                    <a16:rowId xmlns:a16="http://schemas.microsoft.com/office/drawing/2014/main" val="10002"/>
                  </a:ext>
                </a:extLst>
              </a:tr>
              <a:tr h="1306924">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Code of Conduct</a:t>
                      </a:r>
                      <a:endParaRPr kumimoji="1" lang="ko-KR" altLang="en-US"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0" marR="0" marT="0" marB="0" anchor="ctr"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00"/>
                    </a:solidFill>
                  </a:tcPr>
                </a:tc>
                <a:tc gridSpan="2">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 </a:t>
                      </a:r>
                      <a:endParaRPr kumimoji="1" lang="ko-KR" altLang="en-US"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0" marR="0" marT="0" marB="0" anchor="ctr"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ysDot"/>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tc hMerge="1">
                  <a:txBody>
                    <a:bodyPr/>
                    <a:lstStyle/>
                    <a:p>
                      <a:pPr latinLnBrk="1"/>
                      <a:endParaRPr lang="ko-KR" altLang="en-US"/>
                    </a:p>
                  </a:txBody>
                  <a:tcPr/>
                </a:tc>
                <a:tc>
                  <a:txBody>
                    <a:bodyPr/>
                    <a:lstStyle>
                      <a:lvl1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1pPr>
                      <a:lvl2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2pPr>
                      <a:lvl3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3pPr>
                      <a:lvl4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4pPr>
                      <a:lvl5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5pPr>
                      <a:lvl6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6pPr>
                      <a:lvl7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7pPr>
                      <a:lvl8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8pPr>
                      <a:lvl9pPr marR="0" algn="l" rtl="0" eaLnBrk="1" hangingPunct="1">
                        <a:lnSpc>
                          <a:spcPct val="100000"/>
                        </a:lnSpc>
                        <a:spcBef>
                          <a:spcPts val="0"/>
                        </a:spcBef>
                        <a:spcAft>
                          <a:spcPts val="0"/>
                        </a:spcAft>
                        <a:buClr>
                          <a:srgbClr val="000000"/>
                        </a:buClr>
                        <a:buFont typeface="Arial"/>
                        <a:defRPr sz="1400" b="0" i="0" u="none" strike="noStrike" cap="none">
                          <a:solidFill>
                            <a:schemeClr val="tx1"/>
                          </a:solidFill>
                          <a:latin typeface="Segoe UI"/>
                          <a:sym typeface="Arial"/>
                        </a:defRPr>
                      </a:lvl9pPr>
                    </a:lstStyle>
                    <a:p>
                      <a:pPr marL="0" marR="0" lvl="0" indent="0" algn="l" defTabSz="914400" rtl="0" eaLnBrk="1" fontAlgn="base" latinLnBrk="1" hangingPunct="1">
                        <a:lnSpc>
                          <a:spcPct val="100000"/>
                        </a:lnSpc>
                        <a:spcBef>
                          <a:spcPct val="1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 </a:t>
                      </a:r>
                      <a:endParaRPr kumimoji="1" lang="ko-KR" altLang="en-US" sz="12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endParaRPr>
                    </a:p>
                  </a:txBody>
                  <a:tcPr marL="0" marR="0" marT="0" marB="0" anchor="ctr" horzOverflow="overflow">
                    <a:lnL w="12700" cap="flat" cmpd="sng" algn="ctr">
                      <a:solidFill>
                        <a:srgbClr val="000000"/>
                      </a:solidFill>
                      <a:prstDash val="sysDot"/>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cxnSp>
        <p:nvCxnSpPr>
          <p:cNvPr id="84" name="AutoShape 87">
            <a:extLst>
              <a:ext uri="{FF2B5EF4-FFF2-40B4-BE49-F238E27FC236}">
                <a16:creationId xmlns:a16="http://schemas.microsoft.com/office/drawing/2014/main" id="{F36F792B-125A-BF89-B7B7-167F731C4374}"/>
              </a:ext>
            </a:extLst>
          </p:cNvPr>
          <p:cNvCxnSpPr>
            <a:cxnSpLocks noChangeShapeType="1"/>
            <a:stCxn id="122" idx="2"/>
            <a:endCxn id="121" idx="0"/>
          </p:cNvCxnSpPr>
          <p:nvPr/>
        </p:nvCxnSpPr>
        <p:spPr bwMode="auto">
          <a:xfrm>
            <a:off x="4303278" y="4719907"/>
            <a:ext cx="0" cy="239170"/>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sp>
        <p:nvSpPr>
          <p:cNvPr id="85" name="Text Box 46">
            <a:extLst>
              <a:ext uri="{FF2B5EF4-FFF2-40B4-BE49-F238E27FC236}">
                <a16:creationId xmlns:a16="http://schemas.microsoft.com/office/drawing/2014/main" id="{AC9CB462-C376-3838-0263-CA0EF21A5F3C}"/>
              </a:ext>
            </a:extLst>
          </p:cNvPr>
          <p:cNvSpPr txBox="1">
            <a:spLocks noChangeArrowheads="1"/>
          </p:cNvSpPr>
          <p:nvPr/>
        </p:nvSpPr>
        <p:spPr bwMode="auto">
          <a:xfrm>
            <a:off x="1629340" y="5430042"/>
            <a:ext cx="7140432" cy="1105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52400" indent="-152400">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marL="228600" indent="-228600" fontAlgn="base" latinLnBrk="1">
              <a:lnSpc>
                <a:spcPct val="110000"/>
              </a:lnSpc>
              <a:spcBef>
                <a:spcPct val="0"/>
              </a:spcBef>
              <a:spcAft>
                <a:spcPts val="200"/>
              </a:spcAft>
              <a:buClrTx/>
              <a:buFontTx/>
              <a:buAutoNum type="arabicPeriod"/>
            </a:pPr>
            <a:r>
              <a:rPr lang="en-US" altLang="ko-KR" sz="10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For all failures, </a:t>
            </a:r>
            <a:r>
              <a:rPr lang="en-US" altLang="ko-KR" sz="1000" kern="1200" dirty="0" err="1">
                <a:solidFill>
                  <a:srgbClr val="000000"/>
                </a:solidFill>
                <a:latin typeface="Arial" panose="020B0604020202020204" pitchFamily="34" charset="0"/>
                <a:ea typeface="LG스마트체 Regular" panose="020B0600000101010101" pitchFamily="50" charset="-127"/>
                <a:cs typeface="Arial" panose="020B0604020202020204" pitchFamily="34" charset="0"/>
              </a:rPr>
              <a:t>Br.SE</a:t>
            </a:r>
            <a:r>
              <a:rPr lang="en-US" altLang="ko-KR" sz="10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/Offshore reports the situation to Delivery Manager</a:t>
            </a:r>
          </a:p>
          <a:p>
            <a:pPr marL="228600" indent="-228600" fontAlgn="base" latinLnBrk="1">
              <a:lnSpc>
                <a:spcPct val="110000"/>
              </a:lnSpc>
              <a:spcBef>
                <a:spcPct val="0"/>
              </a:spcBef>
              <a:spcAft>
                <a:spcPts val="200"/>
              </a:spcAft>
              <a:buClrTx/>
              <a:buFontTx/>
              <a:buAutoNum type="arabicPeriod"/>
            </a:pPr>
            <a:r>
              <a:rPr lang="en-US" altLang="ko-KR" sz="10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Delivery Manager reports status based on company-wide failure rating criteria</a:t>
            </a:r>
          </a:p>
          <a:p>
            <a:pPr marL="819150" lvl="1" indent="-228600" fontAlgn="base" latinLnBrk="1">
              <a:lnSpc>
                <a:spcPct val="110000"/>
              </a:lnSpc>
              <a:spcBef>
                <a:spcPct val="0"/>
              </a:spcBef>
              <a:spcAft>
                <a:spcPts val="200"/>
              </a:spcAft>
              <a:buClrTx/>
              <a:buFont typeface="+mj-lt"/>
              <a:buAutoNum type="alphaLcPeriod"/>
            </a:pPr>
            <a:r>
              <a:rPr lang="en-US" altLang="ko-KR" sz="10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After notification of failure by first SMS, select one of SMS/Mail/Phone and report on the status of failure action and recovery completion</a:t>
            </a:r>
          </a:p>
          <a:p>
            <a:pPr marL="819150" lvl="1" indent="-228600" fontAlgn="base" latinLnBrk="1">
              <a:lnSpc>
                <a:spcPct val="110000"/>
              </a:lnSpc>
              <a:spcBef>
                <a:spcPct val="0"/>
              </a:spcBef>
              <a:spcAft>
                <a:spcPts val="200"/>
              </a:spcAft>
              <a:buClrTx/>
              <a:buFont typeface="+mj-lt"/>
              <a:buAutoNum type="alphaLcPeriod"/>
            </a:pPr>
            <a:r>
              <a:rPr lang="en-US" altLang="ko-KR" sz="10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Re-announcement of the status of interim measures regarding the status of measures for obstacles</a:t>
            </a:r>
          </a:p>
          <a:p>
            <a:pPr marL="819150" lvl="1" indent="-228600" fontAlgn="base" latinLnBrk="1">
              <a:lnSpc>
                <a:spcPct val="110000"/>
              </a:lnSpc>
              <a:spcBef>
                <a:spcPct val="0"/>
              </a:spcBef>
              <a:spcAft>
                <a:spcPts val="200"/>
              </a:spcAft>
              <a:buClrTx/>
              <a:buFont typeface="+mj-lt"/>
              <a:buAutoNum type="alphaLcPeriod"/>
            </a:pPr>
            <a:r>
              <a:rPr lang="en-US" altLang="ko-KR" sz="10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Sending SMS to normalize recovery completion</a:t>
            </a:r>
            <a:endParaRPr lang="ko-KR" altLang="en-US" sz="10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endParaRPr>
          </a:p>
        </p:txBody>
      </p:sp>
      <p:sp>
        <p:nvSpPr>
          <p:cNvPr id="86" name="Text Box 47">
            <a:extLst>
              <a:ext uri="{FF2B5EF4-FFF2-40B4-BE49-F238E27FC236}">
                <a16:creationId xmlns:a16="http://schemas.microsoft.com/office/drawing/2014/main" id="{F7C2A49C-E6AC-001B-16AF-BB34823BDA23}"/>
              </a:ext>
            </a:extLst>
          </p:cNvPr>
          <p:cNvSpPr txBox="1">
            <a:spLocks noChangeArrowheads="1"/>
          </p:cNvSpPr>
          <p:nvPr/>
        </p:nvSpPr>
        <p:spPr bwMode="auto">
          <a:xfrm>
            <a:off x="9102087" y="5413665"/>
            <a:ext cx="2515122" cy="107721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marL="171450" indent="-171450">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fontAlgn="base" latinLnBrk="1">
              <a:spcBef>
                <a:spcPts val="300"/>
              </a:spcBef>
              <a:spcAft>
                <a:spcPts val="300"/>
              </a:spcAft>
              <a:buClrTx/>
              <a:buFontTx/>
              <a:buChar char="-"/>
            </a:pPr>
            <a:r>
              <a:rPr lang="en-US" altLang="ko-KR" sz="10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To prevent recurrence of similar disorders</a:t>
            </a:r>
          </a:p>
          <a:p>
            <a:pPr fontAlgn="base" latinLnBrk="1">
              <a:spcBef>
                <a:spcPts val="300"/>
              </a:spcBef>
              <a:spcAft>
                <a:spcPts val="300"/>
              </a:spcAft>
              <a:buClrTx/>
              <a:buFontTx/>
              <a:buChar char="-"/>
            </a:pPr>
            <a:r>
              <a:rPr lang="en-US" altLang="ko-KR" sz="10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Failure reporting management</a:t>
            </a:r>
          </a:p>
          <a:p>
            <a:pPr fontAlgn="base" latinLnBrk="1">
              <a:spcBef>
                <a:spcPts val="300"/>
              </a:spcBef>
              <a:spcAft>
                <a:spcPts val="300"/>
              </a:spcAft>
              <a:buClrTx/>
              <a:buFontTx/>
              <a:buChar char="-"/>
            </a:pPr>
            <a:r>
              <a:rPr lang="en-US" altLang="ko-KR" sz="10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*All disability reports</a:t>
            </a:r>
          </a:p>
          <a:p>
            <a:pPr fontAlgn="base" latinLnBrk="1">
              <a:spcBef>
                <a:spcPts val="300"/>
              </a:spcBef>
              <a:spcAft>
                <a:spcPts val="300"/>
              </a:spcAft>
              <a:buClrTx/>
              <a:buFontTx/>
              <a:buChar char="-"/>
            </a:pPr>
            <a:r>
              <a:rPr lang="en-US" altLang="ko-KR" sz="10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Be sure to contact GDC HQ</a:t>
            </a:r>
          </a:p>
          <a:p>
            <a:pPr fontAlgn="base" latinLnBrk="1">
              <a:spcBef>
                <a:spcPts val="300"/>
              </a:spcBef>
              <a:spcAft>
                <a:spcPts val="300"/>
              </a:spcAft>
              <a:buClrTx/>
              <a:buFontTx/>
              <a:buChar char="-"/>
            </a:pPr>
            <a:r>
              <a:rPr lang="en-US" altLang="ko-KR" sz="10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Must be provided</a:t>
            </a:r>
            <a:endParaRPr lang="ko-KR" altLang="en-US" sz="1000" kern="1200" dirty="0">
              <a:solidFill>
                <a:srgbClr val="000000"/>
              </a:solidFill>
              <a:latin typeface="Arial" panose="020B0604020202020204" pitchFamily="34" charset="0"/>
              <a:ea typeface="LG스마트체 Regular" panose="020B0600000101010101" pitchFamily="50" charset="-127"/>
              <a:cs typeface="+mn-cs"/>
            </a:endParaRPr>
          </a:p>
        </p:txBody>
      </p:sp>
      <p:sp>
        <p:nvSpPr>
          <p:cNvPr id="87" name="오각형 92">
            <a:extLst>
              <a:ext uri="{FF2B5EF4-FFF2-40B4-BE49-F238E27FC236}">
                <a16:creationId xmlns:a16="http://schemas.microsoft.com/office/drawing/2014/main" id="{699E000B-37A6-4F47-25B6-F92487B3A7A9}"/>
              </a:ext>
            </a:extLst>
          </p:cNvPr>
          <p:cNvSpPr/>
          <p:nvPr/>
        </p:nvSpPr>
        <p:spPr bwMode="auto">
          <a:xfrm>
            <a:off x="5681438" y="1488335"/>
            <a:ext cx="1366837" cy="287338"/>
          </a:xfrm>
          <a:prstGeom prst="homePlate">
            <a:avLst>
              <a:gd name="adj" fmla="val 26345"/>
            </a:avLst>
          </a:prstGeom>
          <a:solidFill>
            <a:srgbClr val="FFFFFF">
              <a:lumMod val="95000"/>
            </a:srgbClr>
          </a:solidFill>
          <a:ln w="6350" cap="flat" cmpd="sng" algn="ctr">
            <a:solidFill>
              <a:srgbClr val="000000">
                <a:lumMod val="65000"/>
                <a:lumOff val="35000"/>
              </a:srgbClr>
            </a:solidFill>
            <a:prstDash val="solid"/>
            <a:round/>
            <a:headEnd type="none" w="med" len="med"/>
            <a:tailEnd type="none" w="med" len="med"/>
          </a:ln>
          <a:effectLst/>
        </p:spPr>
        <p:txBody>
          <a:bodyPr lIns="36000" tIns="36000" rIns="36000" bIns="36000" anchor="ctr"/>
          <a:lstStyle>
            <a:lvl1pPr defTabSz="957263">
              <a:defRPr kumimoji="1">
                <a:solidFill>
                  <a:schemeClr val="tx1"/>
                </a:solidFill>
                <a:latin typeface="굴림" panose="020B0600000101010101" pitchFamily="50" charset="-127"/>
                <a:ea typeface="굴림" panose="020B0600000101010101" pitchFamily="50" charset="-127"/>
              </a:defRPr>
            </a:lvl1pPr>
            <a:lvl2pPr marL="742950" indent="-285750" defTabSz="957263">
              <a:defRPr kumimoji="1">
                <a:solidFill>
                  <a:schemeClr val="tx1"/>
                </a:solidFill>
                <a:latin typeface="굴림" panose="020B0600000101010101" pitchFamily="50" charset="-127"/>
                <a:ea typeface="굴림" panose="020B0600000101010101" pitchFamily="50" charset="-127"/>
              </a:defRPr>
            </a:lvl2pPr>
            <a:lvl3pPr marL="1143000" indent="-228600" defTabSz="957263">
              <a:defRPr kumimoji="1">
                <a:solidFill>
                  <a:schemeClr val="tx1"/>
                </a:solidFill>
                <a:latin typeface="굴림" panose="020B0600000101010101" pitchFamily="50" charset="-127"/>
                <a:ea typeface="굴림" panose="020B0600000101010101" pitchFamily="50" charset="-127"/>
              </a:defRPr>
            </a:lvl3pPr>
            <a:lvl4pPr marL="1600200" indent="-228600" defTabSz="957263">
              <a:defRPr kumimoji="1">
                <a:solidFill>
                  <a:schemeClr val="tx1"/>
                </a:solidFill>
                <a:latin typeface="굴림" panose="020B0600000101010101" pitchFamily="50" charset="-127"/>
                <a:ea typeface="굴림" panose="020B0600000101010101" pitchFamily="50" charset="-127"/>
              </a:defRPr>
            </a:lvl4pPr>
            <a:lvl5pPr marL="2057400" indent="-228600" defTabSz="957263">
              <a:defRPr kumimoji="1">
                <a:solidFill>
                  <a:schemeClr val="tx1"/>
                </a:solidFill>
                <a:latin typeface="굴림" panose="020B0600000101010101" pitchFamily="50" charset="-127"/>
                <a:ea typeface="굴림" panose="020B0600000101010101" pitchFamily="50" charset="-127"/>
              </a:defRPr>
            </a:lvl5pPr>
            <a:lvl6pPr marL="25146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0" fontAlgn="base" hangingPunct="0">
              <a:lnSpc>
                <a:spcPct val="120000"/>
              </a:lnSpc>
              <a:spcBef>
                <a:spcPct val="0"/>
              </a:spcBef>
              <a:spcAft>
                <a:spcPct val="0"/>
              </a:spcAft>
              <a:buClrTx/>
              <a:buFont typeface="Wingdings" panose="05000000000000000000" pitchFamily="2" charset="2"/>
              <a:buNone/>
              <a:defRPr/>
            </a:pPr>
            <a:r>
              <a:rPr lang="en-US" altLang="ko-KR" sz="10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Failover</a:t>
            </a:r>
            <a:endParaRPr lang="ko-KR" altLang="en-US" sz="1000" dirty="0">
              <a:solidFill>
                <a:srgbClr val="000000"/>
              </a:solidFill>
              <a:latin typeface="Arial" panose="020B0604020202020204" pitchFamily="34" charset="0"/>
              <a:ea typeface="LG스마트체 Regular" panose="020B0600000101010101" pitchFamily="50" charset="-127"/>
              <a:cs typeface="+mn-cs"/>
            </a:endParaRPr>
          </a:p>
        </p:txBody>
      </p:sp>
      <p:sp>
        <p:nvSpPr>
          <p:cNvPr id="88" name="오각형 93">
            <a:extLst>
              <a:ext uri="{FF2B5EF4-FFF2-40B4-BE49-F238E27FC236}">
                <a16:creationId xmlns:a16="http://schemas.microsoft.com/office/drawing/2014/main" id="{AC75D54D-ED09-F65A-99EB-CA7C77107DF2}"/>
              </a:ext>
            </a:extLst>
          </p:cNvPr>
          <p:cNvSpPr/>
          <p:nvPr/>
        </p:nvSpPr>
        <p:spPr bwMode="auto">
          <a:xfrm>
            <a:off x="3803099" y="1484262"/>
            <a:ext cx="1366837" cy="287338"/>
          </a:xfrm>
          <a:prstGeom prst="homePlate">
            <a:avLst>
              <a:gd name="adj" fmla="val 26345"/>
            </a:avLst>
          </a:prstGeom>
          <a:solidFill>
            <a:srgbClr val="000000">
              <a:lumMod val="50000"/>
              <a:lumOff val="50000"/>
            </a:srgbClr>
          </a:solidFill>
          <a:ln w="6350" cap="flat" cmpd="sng" algn="ctr">
            <a:solidFill>
              <a:srgbClr val="000000">
                <a:lumMod val="65000"/>
                <a:lumOff val="35000"/>
              </a:srgbClr>
            </a:solidFill>
            <a:prstDash val="solid"/>
            <a:round/>
            <a:headEnd type="none" w="med" len="med"/>
            <a:tailEnd type="none" w="med" len="med"/>
          </a:ln>
          <a:effectLst/>
        </p:spPr>
        <p:txBody>
          <a:bodyPr lIns="36000" tIns="36000" rIns="36000" bIns="36000" anchor="ctr"/>
          <a:lstStyle>
            <a:lvl1pPr defTabSz="957263">
              <a:defRPr kumimoji="1">
                <a:solidFill>
                  <a:schemeClr val="tx1"/>
                </a:solidFill>
                <a:latin typeface="굴림" panose="020B0600000101010101" pitchFamily="50" charset="-127"/>
                <a:ea typeface="굴림" panose="020B0600000101010101" pitchFamily="50" charset="-127"/>
              </a:defRPr>
            </a:lvl1pPr>
            <a:lvl2pPr marL="742950" indent="-285750" defTabSz="957263">
              <a:defRPr kumimoji="1">
                <a:solidFill>
                  <a:schemeClr val="tx1"/>
                </a:solidFill>
                <a:latin typeface="굴림" panose="020B0600000101010101" pitchFamily="50" charset="-127"/>
                <a:ea typeface="굴림" panose="020B0600000101010101" pitchFamily="50" charset="-127"/>
              </a:defRPr>
            </a:lvl2pPr>
            <a:lvl3pPr marL="1143000" indent="-228600" defTabSz="957263">
              <a:defRPr kumimoji="1">
                <a:solidFill>
                  <a:schemeClr val="tx1"/>
                </a:solidFill>
                <a:latin typeface="굴림" panose="020B0600000101010101" pitchFamily="50" charset="-127"/>
                <a:ea typeface="굴림" panose="020B0600000101010101" pitchFamily="50" charset="-127"/>
              </a:defRPr>
            </a:lvl3pPr>
            <a:lvl4pPr marL="1600200" indent="-228600" defTabSz="957263">
              <a:defRPr kumimoji="1">
                <a:solidFill>
                  <a:schemeClr val="tx1"/>
                </a:solidFill>
                <a:latin typeface="굴림" panose="020B0600000101010101" pitchFamily="50" charset="-127"/>
                <a:ea typeface="굴림" panose="020B0600000101010101" pitchFamily="50" charset="-127"/>
              </a:defRPr>
            </a:lvl4pPr>
            <a:lvl5pPr marL="2057400" indent="-228600" defTabSz="957263">
              <a:defRPr kumimoji="1">
                <a:solidFill>
                  <a:schemeClr val="tx1"/>
                </a:solidFill>
                <a:latin typeface="굴림" panose="020B0600000101010101" pitchFamily="50" charset="-127"/>
                <a:ea typeface="굴림" panose="020B0600000101010101" pitchFamily="50" charset="-127"/>
              </a:defRPr>
            </a:lvl5pPr>
            <a:lvl6pPr marL="25146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0" fontAlgn="base" hangingPunct="0">
              <a:lnSpc>
                <a:spcPct val="120000"/>
              </a:lnSpc>
              <a:spcBef>
                <a:spcPct val="0"/>
              </a:spcBef>
              <a:spcAft>
                <a:spcPct val="0"/>
              </a:spcAft>
              <a:buClrTx/>
              <a:buFont typeface="Wingdings" panose="05000000000000000000" pitchFamily="2" charset="2"/>
              <a:buNone/>
              <a:defRPr/>
            </a:pPr>
            <a:r>
              <a:rPr lang="en-US" altLang="ko-KR" sz="1000" dirty="0">
                <a:solidFill>
                  <a:srgbClr val="FFFFFF"/>
                </a:solidFill>
                <a:latin typeface="Arial" panose="020B0604020202020204" pitchFamily="34" charset="0"/>
                <a:ea typeface="LG스마트체 Regular" panose="020B0600000101010101" pitchFamily="50" charset="-127"/>
                <a:cs typeface="Arial" panose="020B0604020202020204" pitchFamily="34" charset="0"/>
              </a:rPr>
              <a:t>Disability Report</a:t>
            </a:r>
            <a:endParaRPr lang="ko-KR" altLang="en-US" sz="1000" dirty="0">
              <a:solidFill>
                <a:srgbClr val="FFFFFF"/>
              </a:solidFill>
              <a:latin typeface="Arial" panose="020B0604020202020204" pitchFamily="34" charset="0"/>
              <a:ea typeface="LG스마트체 Regular" panose="020B0600000101010101" pitchFamily="50" charset="-127"/>
              <a:cs typeface="+mn-cs"/>
            </a:endParaRPr>
          </a:p>
        </p:txBody>
      </p:sp>
      <p:sp>
        <p:nvSpPr>
          <p:cNvPr id="89" name="오각형 95">
            <a:extLst>
              <a:ext uri="{FF2B5EF4-FFF2-40B4-BE49-F238E27FC236}">
                <a16:creationId xmlns:a16="http://schemas.microsoft.com/office/drawing/2014/main" id="{B3151C13-A9C6-8603-3D2B-95FEC4B1FC53}"/>
              </a:ext>
            </a:extLst>
          </p:cNvPr>
          <p:cNvSpPr/>
          <p:nvPr/>
        </p:nvSpPr>
        <p:spPr bwMode="auto">
          <a:xfrm>
            <a:off x="7401347" y="1488759"/>
            <a:ext cx="1368425" cy="287337"/>
          </a:xfrm>
          <a:prstGeom prst="homePlate">
            <a:avLst>
              <a:gd name="adj" fmla="val 26345"/>
            </a:avLst>
          </a:prstGeom>
          <a:solidFill>
            <a:srgbClr val="FFFFFF">
              <a:lumMod val="95000"/>
            </a:srgbClr>
          </a:solidFill>
          <a:ln w="6350" cap="flat" cmpd="sng" algn="ctr">
            <a:solidFill>
              <a:srgbClr val="000000">
                <a:lumMod val="65000"/>
                <a:lumOff val="35000"/>
              </a:srgbClr>
            </a:solidFill>
            <a:prstDash val="solid"/>
            <a:round/>
            <a:headEnd type="none" w="med" len="med"/>
            <a:tailEnd type="none" w="med" len="med"/>
          </a:ln>
          <a:effectLst/>
        </p:spPr>
        <p:txBody>
          <a:bodyPr lIns="36000" tIns="36000" rIns="36000" bIns="36000" anchor="ctr"/>
          <a:lstStyle>
            <a:lvl1pPr defTabSz="957263">
              <a:defRPr kumimoji="1">
                <a:solidFill>
                  <a:schemeClr val="tx1"/>
                </a:solidFill>
                <a:latin typeface="굴림" panose="020B0600000101010101" pitchFamily="50" charset="-127"/>
                <a:ea typeface="굴림" panose="020B0600000101010101" pitchFamily="50" charset="-127"/>
              </a:defRPr>
            </a:lvl1pPr>
            <a:lvl2pPr marL="742950" indent="-285750" defTabSz="957263">
              <a:defRPr kumimoji="1">
                <a:solidFill>
                  <a:schemeClr val="tx1"/>
                </a:solidFill>
                <a:latin typeface="굴림" panose="020B0600000101010101" pitchFamily="50" charset="-127"/>
                <a:ea typeface="굴림" panose="020B0600000101010101" pitchFamily="50" charset="-127"/>
              </a:defRPr>
            </a:lvl2pPr>
            <a:lvl3pPr marL="1143000" indent="-228600" defTabSz="957263">
              <a:defRPr kumimoji="1">
                <a:solidFill>
                  <a:schemeClr val="tx1"/>
                </a:solidFill>
                <a:latin typeface="굴림" panose="020B0600000101010101" pitchFamily="50" charset="-127"/>
                <a:ea typeface="굴림" panose="020B0600000101010101" pitchFamily="50" charset="-127"/>
              </a:defRPr>
            </a:lvl3pPr>
            <a:lvl4pPr marL="1600200" indent="-228600" defTabSz="957263">
              <a:defRPr kumimoji="1">
                <a:solidFill>
                  <a:schemeClr val="tx1"/>
                </a:solidFill>
                <a:latin typeface="굴림" panose="020B0600000101010101" pitchFamily="50" charset="-127"/>
                <a:ea typeface="굴림" panose="020B0600000101010101" pitchFamily="50" charset="-127"/>
              </a:defRPr>
            </a:lvl4pPr>
            <a:lvl5pPr marL="2057400" indent="-228600" defTabSz="957263">
              <a:defRPr kumimoji="1">
                <a:solidFill>
                  <a:schemeClr val="tx1"/>
                </a:solidFill>
                <a:latin typeface="굴림" panose="020B0600000101010101" pitchFamily="50" charset="-127"/>
                <a:ea typeface="굴림" panose="020B0600000101010101" pitchFamily="50" charset="-127"/>
              </a:defRPr>
            </a:lvl5pPr>
            <a:lvl6pPr marL="25146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0" fontAlgn="base" hangingPunct="0">
              <a:lnSpc>
                <a:spcPct val="120000"/>
              </a:lnSpc>
              <a:spcBef>
                <a:spcPct val="0"/>
              </a:spcBef>
              <a:spcAft>
                <a:spcPct val="0"/>
              </a:spcAft>
              <a:buClrTx/>
              <a:buFont typeface="Wingdings" panose="05000000000000000000" pitchFamily="2" charset="2"/>
              <a:buNone/>
              <a:defRPr/>
            </a:pPr>
            <a:r>
              <a:rPr lang="en-US" altLang="ko-KR" sz="10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Recovery complete</a:t>
            </a:r>
            <a:endParaRPr lang="ko-KR" altLang="en-US" sz="1000" dirty="0">
              <a:solidFill>
                <a:srgbClr val="000000"/>
              </a:solidFill>
              <a:latin typeface="Arial" panose="020B0604020202020204" pitchFamily="34" charset="0"/>
              <a:ea typeface="LG스마트체 Regular" panose="020B0600000101010101" pitchFamily="50" charset="-127"/>
              <a:cs typeface="+mn-cs"/>
            </a:endParaRPr>
          </a:p>
        </p:txBody>
      </p:sp>
      <p:sp>
        <p:nvSpPr>
          <p:cNvPr id="96" name="모서리가 둥근 직사각형 2">
            <a:extLst>
              <a:ext uri="{FF2B5EF4-FFF2-40B4-BE49-F238E27FC236}">
                <a16:creationId xmlns:a16="http://schemas.microsoft.com/office/drawing/2014/main" id="{5D91CC48-2F88-655D-1705-493816C35F98}"/>
              </a:ext>
            </a:extLst>
          </p:cNvPr>
          <p:cNvSpPr/>
          <p:nvPr/>
        </p:nvSpPr>
        <p:spPr bwMode="auto">
          <a:xfrm>
            <a:off x="3805479" y="1812395"/>
            <a:ext cx="1296987" cy="360362"/>
          </a:xfrm>
          <a:prstGeom prst="roundRect">
            <a:avLst/>
          </a:prstGeom>
          <a:solidFill>
            <a:srgbClr val="FFFFFF"/>
          </a:solidFill>
          <a:ln w="19050" cap="flat" cmpd="sng" algn="ctr">
            <a:solidFill>
              <a:srgbClr val="808080">
                <a:lumMod val="40000"/>
                <a:lumOff val="60000"/>
              </a:srgbClr>
            </a:solidFill>
            <a:prstDash val="solid"/>
          </a:ln>
          <a:effectLst/>
        </p:spPr>
        <p:txBody>
          <a:bodyPr lIns="36000" rIns="36000" anchor="ct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0" fontAlgn="base" hangingPunct="0">
              <a:lnSpc>
                <a:spcPts val="1100"/>
              </a:lnSpc>
              <a:spcBef>
                <a:spcPct val="0"/>
              </a:spcBef>
              <a:spcAft>
                <a:spcPct val="0"/>
              </a:spcAft>
              <a:buClrTx/>
              <a:buFontTx/>
              <a:buNone/>
              <a:defRPr/>
            </a:pPr>
            <a:r>
              <a:rPr lang="en-US" altLang="ko-KR" sz="10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Send SMS in case of failure</a:t>
            </a:r>
            <a:endParaRPr lang="ko-KR" altLang="en-US" sz="1000" dirty="0">
              <a:solidFill>
                <a:srgbClr val="000000"/>
              </a:solidFill>
              <a:latin typeface="Arial" panose="020B0604020202020204" pitchFamily="34" charset="0"/>
              <a:ea typeface="LG스마트체 Regular" panose="020B0600000101010101" pitchFamily="50" charset="-127"/>
              <a:cs typeface="+mn-cs"/>
            </a:endParaRPr>
          </a:p>
        </p:txBody>
      </p:sp>
      <p:sp>
        <p:nvSpPr>
          <p:cNvPr id="97" name="모서리가 둥근 직사각형 97">
            <a:extLst>
              <a:ext uri="{FF2B5EF4-FFF2-40B4-BE49-F238E27FC236}">
                <a16:creationId xmlns:a16="http://schemas.microsoft.com/office/drawing/2014/main" id="{3F78E555-6A09-126D-1AE3-375A0C8ECDF1}"/>
              </a:ext>
            </a:extLst>
          </p:cNvPr>
          <p:cNvSpPr/>
          <p:nvPr/>
        </p:nvSpPr>
        <p:spPr bwMode="auto">
          <a:xfrm>
            <a:off x="5681438" y="1808326"/>
            <a:ext cx="1295400" cy="360363"/>
          </a:xfrm>
          <a:prstGeom prst="roundRect">
            <a:avLst/>
          </a:prstGeom>
          <a:solidFill>
            <a:srgbClr val="FFFFFF"/>
          </a:solidFill>
          <a:ln w="19050" cap="flat" cmpd="sng" algn="ctr">
            <a:solidFill>
              <a:srgbClr val="808080">
                <a:lumMod val="40000"/>
                <a:lumOff val="60000"/>
              </a:srgbClr>
            </a:solidFill>
            <a:prstDash val="solid"/>
          </a:ln>
          <a:effectLst/>
        </p:spPr>
        <p:txBody>
          <a:bodyPr lIns="36000" rIns="36000" anchor="ct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0" fontAlgn="base" hangingPunct="0">
              <a:lnSpc>
                <a:spcPts val="1100"/>
              </a:lnSpc>
              <a:spcBef>
                <a:spcPct val="0"/>
              </a:spcBef>
              <a:spcAft>
                <a:spcPct val="0"/>
              </a:spcAft>
              <a:buClrTx/>
              <a:buFontTx/>
              <a:buNone/>
              <a:defRPr/>
            </a:pPr>
            <a:r>
              <a:rPr lang="en-US" altLang="ko-KR" sz="8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When action is delayed Share action status</a:t>
            </a:r>
            <a:endParaRPr lang="ko-KR" altLang="en-US" sz="800" dirty="0">
              <a:solidFill>
                <a:srgbClr val="000000"/>
              </a:solidFill>
              <a:latin typeface="Arial" panose="020B0604020202020204" pitchFamily="34" charset="0"/>
              <a:ea typeface="LG스마트체 Regular" panose="020B0600000101010101" pitchFamily="50" charset="-127"/>
              <a:cs typeface="+mn-cs"/>
            </a:endParaRPr>
          </a:p>
        </p:txBody>
      </p:sp>
      <p:sp>
        <p:nvSpPr>
          <p:cNvPr id="98" name="모서리가 둥근 직사각형 98">
            <a:extLst>
              <a:ext uri="{FF2B5EF4-FFF2-40B4-BE49-F238E27FC236}">
                <a16:creationId xmlns:a16="http://schemas.microsoft.com/office/drawing/2014/main" id="{F3E96A72-6572-4F1B-3500-A1D5165058A4}"/>
              </a:ext>
            </a:extLst>
          </p:cNvPr>
          <p:cNvSpPr/>
          <p:nvPr/>
        </p:nvSpPr>
        <p:spPr bwMode="auto">
          <a:xfrm>
            <a:off x="7401347" y="1826849"/>
            <a:ext cx="1274763" cy="360363"/>
          </a:xfrm>
          <a:prstGeom prst="roundRect">
            <a:avLst/>
          </a:prstGeom>
          <a:solidFill>
            <a:srgbClr val="FFFFFF"/>
          </a:solidFill>
          <a:ln w="19050" cap="flat" cmpd="sng" algn="ctr">
            <a:solidFill>
              <a:srgbClr val="808080">
                <a:lumMod val="40000"/>
                <a:lumOff val="60000"/>
              </a:srgbClr>
            </a:solidFill>
            <a:prstDash val="solid"/>
          </a:ln>
          <a:effectLst/>
        </p:spPr>
        <p:txBody>
          <a:bodyPr lIns="36000" rIns="36000" anchor="ct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0" fontAlgn="base" hangingPunct="0">
              <a:lnSpc>
                <a:spcPts val="1100"/>
              </a:lnSpc>
              <a:spcBef>
                <a:spcPct val="0"/>
              </a:spcBef>
              <a:spcAft>
                <a:spcPct val="0"/>
              </a:spcAft>
              <a:buClrTx/>
              <a:buFontTx/>
              <a:buNone/>
              <a:defRPr/>
            </a:pPr>
            <a:r>
              <a:rPr lang="en-US" altLang="ko-KR" sz="8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Send SMS when recovery is completed</a:t>
            </a:r>
            <a:endParaRPr lang="ko-KR" altLang="en-US" sz="800" dirty="0">
              <a:solidFill>
                <a:srgbClr val="000000"/>
              </a:solidFill>
              <a:latin typeface="Arial" panose="020B0604020202020204" pitchFamily="34" charset="0"/>
              <a:ea typeface="LG스마트체 Regular" panose="020B0600000101010101" pitchFamily="50" charset="-127"/>
              <a:cs typeface="+mn-cs"/>
            </a:endParaRPr>
          </a:p>
        </p:txBody>
      </p:sp>
      <p:sp>
        <p:nvSpPr>
          <p:cNvPr id="99" name="TextBox 9">
            <a:extLst>
              <a:ext uri="{FF2B5EF4-FFF2-40B4-BE49-F238E27FC236}">
                <a16:creationId xmlns:a16="http://schemas.microsoft.com/office/drawing/2014/main" id="{9420DDB5-CB3C-5B29-5462-4C24FA460F82}"/>
              </a:ext>
            </a:extLst>
          </p:cNvPr>
          <p:cNvSpPr txBox="1">
            <a:spLocks noChangeArrowheads="1"/>
          </p:cNvSpPr>
          <p:nvPr/>
        </p:nvSpPr>
        <p:spPr bwMode="auto">
          <a:xfrm>
            <a:off x="3569502" y="2172757"/>
            <a:ext cx="2359519"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0650" indent="-120650">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0" fontAlgn="base" hangingPunct="0">
              <a:spcBef>
                <a:spcPct val="0"/>
              </a:spcBef>
              <a:spcAft>
                <a:spcPct val="0"/>
              </a:spcAft>
              <a:buClrTx/>
              <a:buFont typeface="Arial" panose="020B0604020202020204" pitchFamily="34" charset="0"/>
              <a:buChar char="•"/>
            </a:pPr>
            <a:r>
              <a:rPr lang="en-US" altLang="ko-KR" sz="9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Immediately upon occurrence</a:t>
            </a:r>
            <a:endParaRPr lang="ko-KR" altLang="en-US" sz="900" kern="1200" dirty="0">
              <a:solidFill>
                <a:srgbClr val="000000"/>
              </a:solidFill>
              <a:latin typeface="Arial" panose="020B0604020202020204" pitchFamily="34" charset="0"/>
              <a:ea typeface="LG스마트체 Regular" panose="020B0600000101010101" pitchFamily="50" charset="-127"/>
              <a:cs typeface="+mn-cs"/>
            </a:endParaRPr>
          </a:p>
          <a:p>
            <a:pPr eaLnBrk="0" fontAlgn="base" hangingPunct="0">
              <a:spcBef>
                <a:spcPct val="0"/>
              </a:spcBef>
              <a:spcAft>
                <a:spcPct val="0"/>
              </a:spcAft>
              <a:buClrTx/>
              <a:buFont typeface="Arial" panose="020B0604020202020204" pitchFamily="34" charset="0"/>
              <a:buChar char="•"/>
            </a:pPr>
            <a:r>
              <a:rPr lang="en-US" altLang="ko-KR" sz="900" kern="1200" dirty="0">
                <a:solidFill>
                  <a:srgbClr val="000000"/>
                </a:solidFill>
                <a:latin typeface="Arial" panose="020B0604020202020204" pitchFamily="34" charset="0"/>
                <a:ea typeface="LG스마트체 Regular" panose="020B0600000101010101" pitchFamily="50" charset="-127"/>
                <a:cs typeface="+mn-cs"/>
              </a:rPr>
              <a:t>Within 30 minutes of occurrence</a:t>
            </a:r>
            <a:endParaRPr lang="ko-KR" altLang="en-US" sz="900" kern="1200" dirty="0">
              <a:solidFill>
                <a:srgbClr val="000000"/>
              </a:solidFill>
              <a:latin typeface="Arial" panose="020B0604020202020204" pitchFamily="34" charset="0"/>
              <a:ea typeface="LG스마트체 Regular" panose="020B0600000101010101" pitchFamily="50" charset="-127"/>
              <a:cs typeface="+mn-cs"/>
            </a:endParaRPr>
          </a:p>
          <a:p>
            <a:pPr eaLnBrk="0" fontAlgn="base" hangingPunct="0">
              <a:spcBef>
                <a:spcPct val="0"/>
              </a:spcBef>
              <a:spcAft>
                <a:spcPct val="0"/>
              </a:spcAft>
              <a:buClrTx/>
              <a:buFont typeface="Arial" panose="020B0604020202020204" pitchFamily="34" charset="0"/>
              <a:buChar char="•"/>
            </a:pPr>
            <a:r>
              <a:rPr lang="en-US" altLang="ko-KR" sz="9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Notice of scheduled action time</a:t>
            </a:r>
            <a:endParaRPr lang="ko-KR" altLang="en-US" sz="900" kern="1200" dirty="0">
              <a:solidFill>
                <a:srgbClr val="000000"/>
              </a:solidFill>
              <a:latin typeface="Arial" panose="020B0604020202020204" pitchFamily="34" charset="0"/>
              <a:ea typeface="LG스마트체 Regular" panose="020B0600000101010101" pitchFamily="50" charset="-127"/>
              <a:cs typeface="+mn-cs"/>
            </a:endParaRPr>
          </a:p>
        </p:txBody>
      </p:sp>
      <p:sp>
        <p:nvSpPr>
          <p:cNvPr id="100" name="TextBox 105">
            <a:extLst>
              <a:ext uri="{FF2B5EF4-FFF2-40B4-BE49-F238E27FC236}">
                <a16:creationId xmlns:a16="http://schemas.microsoft.com/office/drawing/2014/main" id="{DD85AA11-FFE6-277D-A315-BEC69D588943}"/>
              </a:ext>
            </a:extLst>
          </p:cNvPr>
          <p:cNvSpPr txBox="1">
            <a:spLocks noChangeArrowheads="1"/>
          </p:cNvSpPr>
          <p:nvPr/>
        </p:nvSpPr>
        <p:spPr bwMode="auto">
          <a:xfrm>
            <a:off x="5603254" y="2196456"/>
            <a:ext cx="1891528" cy="50783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0650" indent="-120650">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0" fontAlgn="base" hangingPunct="0">
              <a:spcBef>
                <a:spcPct val="0"/>
              </a:spcBef>
              <a:spcAft>
                <a:spcPct val="0"/>
              </a:spcAft>
              <a:buClrTx/>
              <a:buFont typeface="Arial" panose="020B0604020202020204" pitchFamily="34" charset="0"/>
              <a:buChar char="•"/>
            </a:pPr>
            <a:r>
              <a:rPr lang="en-US" altLang="ko-KR" sz="900" kern="1200" dirty="0">
                <a:solidFill>
                  <a:srgbClr val="000000"/>
                </a:solidFill>
                <a:latin typeface="Arial" panose="020B0604020202020204" pitchFamily="34" charset="0"/>
                <a:ea typeface="LG스마트체 Regular" panose="020B0600000101010101" pitchFamily="50" charset="-127"/>
                <a:cs typeface="+mn-cs"/>
              </a:rPr>
              <a:t>Action status</a:t>
            </a:r>
            <a:endParaRPr lang="ko-KR" altLang="en-US" sz="900" kern="1200" dirty="0">
              <a:solidFill>
                <a:srgbClr val="000000"/>
              </a:solidFill>
              <a:latin typeface="Arial" panose="020B0604020202020204" pitchFamily="34" charset="0"/>
              <a:ea typeface="LG스마트체 Regular" panose="020B0600000101010101" pitchFamily="50" charset="-127"/>
              <a:cs typeface="+mn-cs"/>
            </a:endParaRPr>
          </a:p>
          <a:p>
            <a:pPr eaLnBrk="0" fontAlgn="base" hangingPunct="0">
              <a:spcBef>
                <a:spcPct val="0"/>
              </a:spcBef>
              <a:spcAft>
                <a:spcPct val="0"/>
              </a:spcAft>
              <a:buClrTx/>
              <a:buFont typeface="Arial" panose="020B0604020202020204" pitchFamily="34" charset="0"/>
              <a:buChar char="•"/>
            </a:pPr>
            <a:r>
              <a:rPr lang="en-US" altLang="ko-KR" sz="900" kern="1200" dirty="0">
                <a:solidFill>
                  <a:srgbClr val="000000"/>
                </a:solidFill>
                <a:latin typeface="Arial" panose="020B0604020202020204" pitchFamily="34" charset="0"/>
                <a:ea typeface="LG스마트체 Regular" panose="020B0600000101010101" pitchFamily="50" charset="-127"/>
                <a:cs typeface="+mn-cs"/>
              </a:rPr>
              <a:t>Estimated Completion Time</a:t>
            </a:r>
            <a:endParaRPr lang="vi-VN" altLang="ko-KR" sz="900" kern="1200" dirty="0">
              <a:solidFill>
                <a:srgbClr val="000000"/>
              </a:solidFill>
              <a:latin typeface="Arial" panose="020B0604020202020204" pitchFamily="34" charset="0"/>
              <a:ea typeface="LG스마트체 Regular" panose="020B0600000101010101" pitchFamily="50" charset="-127"/>
              <a:cs typeface="+mn-cs"/>
            </a:endParaRPr>
          </a:p>
          <a:p>
            <a:pPr eaLnBrk="0" fontAlgn="base" hangingPunct="0">
              <a:spcBef>
                <a:spcPct val="0"/>
              </a:spcBef>
              <a:spcAft>
                <a:spcPct val="0"/>
              </a:spcAft>
              <a:buClrTx/>
              <a:buFont typeface="Arial" panose="020B0604020202020204" pitchFamily="34" charset="0"/>
              <a:buChar char="•"/>
            </a:pPr>
            <a:r>
              <a:rPr lang="en-US" altLang="ko-KR" sz="9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Work in Process</a:t>
            </a:r>
            <a:endParaRPr lang="ko-KR" altLang="en-US" sz="900" kern="1200" dirty="0">
              <a:solidFill>
                <a:srgbClr val="000000"/>
              </a:solidFill>
              <a:latin typeface="Arial" panose="020B0604020202020204" pitchFamily="34" charset="0"/>
              <a:ea typeface="LG스마트체 Regular" panose="020B0600000101010101" pitchFamily="50" charset="-127"/>
              <a:cs typeface="+mn-cs"/>
            </a:endParaRPr>
          </a:p>
        </p:txBody>
      </p:sp>
      <p:sp>
        <p:nvSpPr>
          <p:cNvPr id="101" name="TextBox 107">
            <a:extLst>
              <a:ext uri="{FF2B5EF4-FFF2-40B4-BE49-F238E27FC236}">
                <a16:creationId xmlns:a16="http://schemas.microsoft.com/office/drawing/2014/main" id="{E63EFD15-BE06-E6FA-D1BD-F3897A70B431}"/>
              </a:ext>
            </a:extLst>
          </p:cNvPr>
          <p:cNvSpPr txBox="1">
            <a:spLocks noChangeArrowheads="1"/>
          </p:cNvSpPr>
          <p:nvPr/>
        </p:nvSpPr>
        <p:spPr bwMode="auto">
          <a:xfrm>
            <a:off x="7249111" y="2253259"/>
            <a:ext cx="1839891"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20650" indent="-120650">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0" fontAlgn="base" hangingPunct="0">
              <a:spcBef>
                <a:spcPct val="0"/>
              </a:spcBef>
              <a:spcAft>
                <a:spcPct val="0"/>
              </a:spcAft>
              <a:buClrTx/>
              <a:buFont typeface="Arial" panose="020B0604020202020204" pitchFamily="34" charset="0"/>
              <a:buChar char="•"/>
            </a:pPr>
            <a:r>
              <a:rPr lang="en-US" altLang="ko-KR" sz="9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Guide to normalization immediately</a:t>
            </a:r>
            <a:endParaRPr lang="ko-KR" altLang="en-US" sz="900" kern="1200" dirty="0">
              <a:solidFill>
                <a:srgbClr val="000000"/>
              </a:solidFill>
              <a:latin typeface="Arial" panose="020B0604020202020204" pitchFamily="34" charset="0"/>
              <a:ea typeface="LG스마트체 Regular" panose="020B0600000101010101" pitchFamily="50" charset="-127"/>
              <a:cs typeface="+mn-cs"/>
            </a:endParaRPr>
          </a:p>
        </p:txBody>
      </p:sp>
      <p:grpSp>
        <p:nvGrpSpPr>
          <p:cNvPr id="102" name="Group 101">
            <a:extLst>
              <a:ext uri="{FF2B5EF4-FFF2-40B4-BE49-F238E27FC236}">
                <a16:creationId xmlns:a16="http://schemas.microsoft.com/office/drawing/2014/main" id="{255A70F6-BB46-900C-8134-1E1686DB4570}"/>
              </a:ext>
            </a:extLst>
          </p:cNvPr>
          <p:cNvGrpSpPr/>
          <p:nvPr/>
        </p:nvGrpSpPr>
        <p:grpSpPr>
          <a:xfrm>
            <a:off x="1624387" y="1781307"/>
            <a:ext cx="1781638" cy="2442521"/>
            <a:chOff x="1921975" y="1852228"/>
            <a:chExt cx="1781638" cy="2442521"/>
          </a:xfrm>
        </p:grpSpPr>
        <p:cxnSp>
          <p:nvCxnSpPr>
            <p:cNvPr id="103" name="AutoShape 35">
              <a:extLst>
                <a:ext uri="{FF2B5EF4-FFF2-40B4-BE49-F238E27FC236}">
                  <a16:creationId xmlns:a16="http://schemas.microsoft.com/office/drawing/2014/main" id="{82750A93-2A01-0EAC-1FF6-EC2EEB6E48F7}"/>
                </a:ext>
              </a:extLst>
            </p:cNvPr>
            <p:cNvCxnSpPr>
              <a:cxnSpLocks noChangeShapeType="1"/>
              <a:endCxn id="111" idx="0"/>
            </p:cNvCxnSpPr>
            <p:nvPr/>
          </p:nvCxnSpPr>
          <p:spPr bwMode="auto">
            <a:xfrm>
              <a:off x="2648505" y="2161790"/>
              <a:ext cx="12700" cy="32067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cxnSp>
          <p:nvCxnSpPr>
            <p:cNvPr id="104" name="AutoShape 37">
              <a:extLst>
                <a:ext uri="{FF2B5EF4-FFF2-40B4-BE49-F238E27FC236}">
                  <a16:creationId xmlns:a16="http://schemas.microsoft.com/office/drawing/2014/main" id="{6501D561-4F3B-8DF4-DBD6-67FAFD28E22C}"/>
                </a:ext>
              </a:extLst>
            </p:cNvPr>
            <p:cNvCxnSpPr>
              <a:cxnSpLocks noChangeShapeType="1"/>
              <a:stCxn id="111" idx="2"/>
              <a:endCxn id="107" idx="0"/>
            </p:cNvCxnSpPr>
            <p:nvPr/>
          </p:nvCxnSpPr>
          <p:spPr bwMode="auto">
            <a:xfrm flipH="1">
              <a:off x="2658575" y="3011103"/>
              <a:ext cx="1837" cy="257175"/>
            </a:xfrm>
            <a:prstGeom prst="straightConnector1">
              <a:avLst/>
            </a:prstGeom>
            <a:noFill/>
            <a:ln w="9525">
              <a:solidFill>
                <a:srgbClr val="000000"/>
              </a:solidFill>
              <a:round/>
              <a:headEnd/>
              <a:tailEnd type="triangle" w="med" len="med"/>
            </a:ln>
            <a:extLst>
              <a:ext uri="{909E8E84-426E-40DD-AFC4-6F175D3DCCD1}">
                <a14:hiddenFill xmlns:a14="http://schemas.microsoft.com/office/drawing/2010/main">
                  <a:noFill/>
                </a14:hiddenFill>
              </a:ext>
            </a:extLst>
          </p:spPr>
        </p:cxnSp>
        <p:grpSp>
          <p:nvGrpSpPr>
            <p:cNvPr id="105" name="Group 104">
              <a:extLst>
                <a:ext uri="{FF2B5EF4-FFF2-40B4-BE49-F238E27FC236}">
                  <a16:creationId xmlns:a16="http://schemas.microsoft.com/office/drawing/2014/main" id="{0A74740E-030E-31A4-85C0-40C298F85853}"/>
                </a:ext>
              </a:extLst>
            </p:cNvPr>
            <p:cNvGrpSpPr/>
            <p:nvPr/>
          </p:nvGrpSpPr>
          <p:grpSpPr>
            <a:xfrm>
              <a:off x="1921975" y="1852228"/>
              <a:ext cx="1781638" cy="2442521"/>
              <a:chOff x="1670334" y="1371572"/>
              <a:chExt cx="1781638" cy="2442521"/>
            </a:xfrm>
          </p:grpSpPr>
          <p:sp>
            <p:nvSpPr>
              <p:cNvPr id="106" name="Text Box 36">
                <a:extLst>
                  <a:ext uri="{FF2B5EF4-FFF2-40B4-BE49-F238E27FC236}">
                    <a16:creationId xmlns:a16="http://schemas.microsoft.com/office/drawing/2014/main" id="{2562501C-AFCB-A50E-9BE4-918430E1EE38}"/>
                  </a:ext>
                </a:extLst>
              </p:cNvPr>
              <p:cNvSpPr txBox="1">
                <a:spLocks noChangeArrowheads="1"/>
              </p:cNvSpPr>
              <p:nvPr/>
            </p:nvSpPr>
            <p:spPr bwMode="auto">
              <a:xfrm>
                <a:off x="2527039" y="1800197"/>
                <a:ext cx="924933" cy="123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wrap="none" lIns="0" tIns="0" rIns="0" bIns="0">
                <a:spAutoFit/>
              </a:bodyPr>
              <a:lstStyle>
                <a:lvl1pPr marL="180975" indent="-180975">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fontAlgn="base">
                  <a:spcBef>
                    <a:spcPct val="0"/>
                  </a:spcBef>
                  <a:spcAft>
                    <a:spcPct val="0"/>
                  </a:spcAft>
                  <a:buClrTx/>
                  <a:buFontTx/>
                  <a:buNone/>
                </a:pPr>
                <a:r>
                  <a:rPr kumimoji="0" lang="en-US" altLang="ko-KR" sz="8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Send SMS by grade</a:t>
                </a:r>
                <a:endParaRPr kumimoji="0" lang="ko-KR" altLang="en-US" sz="800" kern="1200" dirty="0">
                  <a:solidFill>
                    <a:srgbClr val="000000"/>
                  </a:solidFill>
                  <a:latin typeface="Arial" panose="020B0604020202020204" pitchFamily="34" charset="0"/>
                  <a:ea typeface="LG스마트체 Regular" panose="020B0600000101010101" pitchFamily="50" charset="-127"/>
                  <a:cs typeface="+mn-cs"/>
                </a:endParaRPr>
              </a:p>
            </p:txBody>
          </p:sp>
          <p:sp>
            <p:nvSpPr>
              <p:cNvPr id="107" name="AutoShape 38">
                <a:extLst>
                  <a:ext uri="{FF2B5EF4-FFF2-40B4-BE49-F238E27FC236}">
                    <a16:creationId xmlns:a16="http://schemas.microsoft.com/office/drawing/2014/main" id="{968EB602-A124-C6F0-3FED-BE3DD58689D4}"/>
                  </a:ext>
                </a:extLst>
              </p:cNvPr>
              <p:cNvSpPr>
                <a:spLocks noChangeArrowheads="1"/>
              </p:cNvSpPr>
              <p:nvPr/>
            </p:nvSpPr>
            <p:spPr bwMode="auto">
              <a:xfrm>
                <a:off x="1670334" y="2787622"/>
                <a:ext cx="1473199" cy="465137"/>
              </a:xfrm>
              <a:prstGeom prst="flowChartDecision">
                <a:avLst/>
              </a:prstGeom>
              <a:solidFill>
                <a:srgbClr val="FFFFFF"/>
              </a:solidFill>
              <a:ln w="9525" algn="ctr">
                <a:solidFill>
                  <a:srgbClr val="000000"/>
                </a:solidFill>
                <a:miter lim="800000"/>
                <a:headEnd/>
                <a:tailEnd/>
              </a:ln>
            </p:spPr>
            <p:txBody>
              <a:bodyPr lIns="0" tIns="0" rIns="0" bIns="0" anchor="ctr"/>
              <a:lstStyle>
                <a:lvl1pPr marL="180975" indent="-180975">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algn="ctr" fontAlgn="base">
                  <a:spcBef>
                    <a:spcPct val="0"/>
                  </a:spcBef>
                  <a:spcAft>
                    <a:spcPct val="0"/>
                  </a:spcAft>
                  <a:buClrTx/>
                  <a:buFontTx/>
                  <a:buNone/>
                </a:pPr>
                <a:r>
                  <a:rPr kumimoji="0" lang="en-US" altLang="ko-KR" sz="10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Ranking judgment</a:t>
                </a:r>
                <a:endParaRPr kumimoji="0" lang="ko-KR" altLang="en-US" sz="1000" kern="1200" dirty="0">
                  <a:solidFill>
                    <a:srgbClr val="000000"/>
                  </a:solidFill>
                  <a:latin typeface="Arial" panose="020B0604020202020204" pitchFamily="34" charset="0"/>
                  <a:ea typeface="LG스마트체 Regular" panose="020B0600000101010101" pitchFamily="50" charset="-127"/>
                  <a:cs typeface="+mn-cs"/>
                </a:endParaRPr>
              </a:p>
            </p:txBody>
          </p:sp>
          <p:sp>
            <p:nvSpPr>
              <p:cNvPr id="108" name="AutoShape 33">
                <a:extLst>
                  <a:ext uri="{FF2B5EF4-FFF2-40B4-BE49-F238E27FC236}">
                    <a16:creationId xmlns:a16="http://schemas.microsoft.com/office/drawing/2014/main" id="{5FC8AAEA-7C81-AB2A-B0E3-724E442AFA5F}"/>
                  </a:ext>
                </a:extLst>
              </p:cNvPr>
              <p:cNvSpPr>
                <a:spLocks noChangeArrowheads="1"/>
              </p:cNvSpPr>
              <p:nvPr/>
            </p:nvSpPr>
            <p:spPr bwMode="auto">
              <a:xfrm>
                <a:off x="1796789" y="1371572"/>
                <a:ext cx="1200150" cy="401637"/>
              </a:xfrm>
              <a:prstGeom prst="cloudCallout">
                <a:avLst>
                  <a:gd name="adj1" fmla="val 69181"/>
                  <a:gd name="adj2" fmla="val 3315"/>
                </a:avLst>
              </a:prstGeom>
              <a:solidFill>
                <a:srgbClr val="DAEDEF"/>
              </a:solidFill>
              <a:ln w="9525">
                <a:solidFill>
                  <a:srgbClr val="000000"/>
                </a:solidFill>
                <a:round/>
                <a:headEnd/>
                <a:tailEnd/>
              </a:ln>
            </p:spPr>
            <p:txBody>
              <a:bodyPr lIns="0" tIns="0" rIns="0" bIns="0"/>
              <a:lstStyle>
                <a:lvl1pPr>
                  <a:defRPr kumimoji="1">
                    <a:solidFill>
                      <a:schemeClr val="tx1"/>
                    </a:solidFill>
                    <a:latin typeface="굴림" pitchFamily="50" charset="-127"/>
                    <a:ea typeface="굴림" pitchFamily="50" charset="-127"/>
                  </a:defRPr>
                </a:lvl1pPr>
                <a:lvl2pPr marL="742950" indent="-285750">
                  <a:defRPr kumimoji="1">
                    <a:solidFill>
                      <a:schemeClr val="tx1"/>
                    </a:solidFill>
                    <a:latin typeface="굴림" pitchFamily="50" charset="-127"/>
                    <a:ea typeface="굴림" pitchFamily="50" charset="-127"/>
                  </a:defRPr>
                </a:lvl2pPr>
                <a:lvl3pPr marL="1143000" indent="-228600">
                  <a:defRPr kumimoji="1">
                    <a:solidFill>
                      <a:schemeClr val="tx1"/>
                    </a:solidFill>
                    <a:latin typeface="굴림" pitchFamily="50" charset="-127"/>
                    <a:ea typeface="굴림" pitchFamily="50" charset="-127"/>
                  </a:defRPr>
                </a:lvl3pPr>
                <a:lvl4pPr marL="1600200" indent="-228600">
                  <a:defRPr kumimoji="1">
                    <a:solidFill>
                      <a:schemeClr val="tx1"/>
                    </a:solidFill>
                    <a:latin typeface="굴림" pitchFamily="50" charset="-127"/>
                    <a:ea typeface="굴림" pitchFamily="50" charset="-127"/>
                  </a:defRPr>
                </a:lvl4pPr>
                <a:lvl5pPr marL="2057400" indent="-228600">
                  <a:defRPr kumimoji="1">
                    <a:solidFill>
                      <a:schemeClr val="tx1"/>
                    </a:solidFill>
                    <a:latin typeface="굴림" pitchFamily="50" charset="-127"/>
                    <a:ea typeface="굴림" pitchFamily="50" charset="-127"/>
                  </a:defRPr>
                </a:lvl5pPr>
                <a:lvl6pPr marL="2514600" indent="-228600" eaLnBrk="0" fontAlgn="base" hangingPunct="0">
                  <a:spcBef>
                    <a:spcPct val="0"/>
                  </a:spcBef>
                  <a:spcAft>
                    <a:spcPct val="0"/>
                  </a:spcAft>
                  <a:defRPr kumimoji="1">
                    <a:solidFill>
                      <a:schemeClr val="tx1"/>
                    </a:solidFill>
                    <a:latin typeface="굴림" pitchFamily="50" charset="-127"/>
                    <a:ea typeface="굴림" pitchFamily="50" charset="-127"/>
                  </a:defRPr>
                </a:lvl6pPr>
                <a:lvl7pPr marL="2971800" indent="-228600" eaLnBrk="0" fontAlgn="base" hangingPunct="0">
                  <a:spcBef>
                    <a:spcPct val="0"/>
                  </a:spcBef>
                  <a:spcAft>
                    <a:spcPct val="0"/>
                  </a:spcAft>
                  <a:defRPr kumimoji="1">
                    <a:solidFill>
                      <a:schemeClr val="tx1"/>
                    </a:solidFill>
                    <a:latin typeface="굴림" pitchFamily="50" charset="-127"/>
                    <a:ea typeface="굴림" pitchFamily="50" charset="-127"/>
                  </a:defRPr>
                </a:lvl7pPr>
                <a:lvl8pPr marL="3429000" indent="-228600" eaLnBrk="0" fontAlgn="base" hangingPunct="0">
                  <a:spcBef>
                    <a:spcPct val="0"/>
                  </a:spcBef>
                  <a:spcAft>
                    <a:spcPct val="0"/>
                  </a:spcAft>
                  <a:defRPr kumimoji="1">
                    <a:solidFill>
                      <a:schemeClr val="tx1"/>
                    </a:solidFill>
                    <a:latin typeface="굴림" pitchFamily="50" charset="-127"/>
                    <a:ea typeface="굴림" pitchFamily="50" charset="-127"/>
                  </a:defRPr>
                </a:lvl8pPr>
                <a:lvl9pPr marL="3886200" indent="-228600" eaLnBrk="0" fontAlgn="base" hangingPunct="0">
                  <a:spcBef>
                    <a:spcPct val="0"/>
                  </a:spcBef>
                  <a:spcAft>
                    <a:spcPct val="0"/>
                  </a:spcAft>
                  <a:defRPr kumimoji="1">
                    <a:solidFill>
                      <a:schemeClr val="tx1"/>
                    </a:solidFill>
                    <a:latin typeface="굴림" pitchFamily="50" charset="-127"/>
                    <a:ea typeface="굴림" pitchFamily="50" charset="-127"/>
                  </a:defRPr>
                </a:lvl9pPr>
              </a:lstStyle>
              <a:p>
                <a:pPr algn="ctr" fontAlgn="base" latinLnBrk="1">
                  <a:spcBef>
                    <a:spcPct val="0"/>
                  </a:spcBef>
                  <a:spcAft>
                    <a:spcPct val="0"/>
                  </a:spcAft>
                  <a:buClrTx/>
                  <a:buFontTx/>
                  <a:buNone/>
                  <a:defRPr/>
                </a:pPr>
                <a:endParaRPr lang="ko-KR" altLang="en-US" sz="1000" dirty="0">
                  <a:solidFill>
                    <a:srgbClr val="CC3300"/>
                  </a:solidFill>
                  <a:latin typeface="Arial" panose="020B0604020202020204" pitchFamily="34" charset="0"/>
                  <a:ea typeface="LG스마트체 Regular" panose="020B0600000101010101" pitchFamily="50" charset="-127"/>
                  <a:cs typeface="+mn-cs"/>
                </a:endParaRPr>
              </a:p>
            </p:txBody>
          </p:sp>
          <p:sp>
            <p:nvSpPr>
              <p:cNvPr id="109" name="Text Box 73">
                <a:extLst>
                  <a:ext uri="{FF2B5EF4-FFF2-40B4-BE49-F238E27FC236}">
                    <a16:creationId xmlns:a16="http://schemas.microsoft.com/office/drawing/2014/main" id="{6F860316-D66F-F279-C665-C012F49CAEA0}"/>
                  </a:ext>
                </a:extLst>
              </p:cNvPr>
              <p:cNvSpPr txBox="1">
                <a:spLocks noChangeArrowheads="1"/>
              </p:cNvSpPr>
              <p:nvPr/>
            </p:nvSpPr>
            <p:spPr bwMode="auto">
              <a:xfrm>
                <a:off x="1685664" y="3282922"/>
                <a:ext cx="1473200" cy="53117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lgn="ctr">
                    <a:solidFill>
                      <a:srgbClr val="000000"/>
                    </a:solidFill>
                    <a:miter lim="800000"/>
                    <a:headEnd/>
                    <a:tailEnd/>
                  </a14:hiddenLine>
                </a:ext>
              </a:extLst>
            </p:spPr>
            <p:txBody>
              <a:bodyPr lIns="0" tIns="0" rIns="0" bIns="0">
                <a:spAutoFit/>
              </a:bodyPr>
              <a:lstStyle>
                <a:lvl1pPr marL="85725" indent="-85725">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fontAlgn="base" latinLnBrk="1">
                  <a:lnSpc>
                    <a:spcPct val="110000"/>
                  </a:lnSpc>
                  <a:spcBef>
                    <a:spcPct val="0"/>
                  </a:spcBef>
                  <a:spcAft>
                    <a:spcPct val="0"/>
                  </a:spcAft>
                  <a:buClrTx/>
                  <a:buFont typeface="Wingdings" pitchFamily="2" charset="2"/>
                  <a:buChar char="§"/>
                </a:pPr>
                <a:r>
                  <a:rPr lang="en-US" altLang="ko-KR" sz="800" kern="1200" dirty="0">
                    <a:solidFill>
                      <a:srgbClr val="000000"/>
                    </a:solidFill>
                    <a:latin typeface="Arial" panose="020B0604020202020204" pitchFamily="34" charset="0"/>
                    <a:ea typeface="LG스마트체 Regular" panose="020B0600000101010101" pitchFamily="50" charset="-127"/>
                    <a:cs typeface="+mn-cs"/>
                  </a:rPr>
                  <a:t>Delivery Manager determines the rating </a:t>
                </a:r>
              </a:p>
              <a:p>
                <a:pPr fontAlgn="base" latinLnBrk="1">
                  <a:lnSpc>
                    <a:spcPct val="110000"/>
                  </a:lnSpc>
                  <a:spcBef>
                    <a:spcPct val="0"/>
                  </a:spcBef>
                  <a:spcAft>
                    <a:spcPct val="0"/>
                  </a:spcAft>
                  <a:buClrTx/>
                  <a:buFont typeface="Wingdings" pitchFamily="2" charset="2"/>
                  <a:buChar char="§"/>
                </a:pPr>
                <a:r>
                  <a:rPr lang="en-US" altLang="ko-KR" sz="800" kern="12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GDC failure grade (grades 1, 2, 3)</a:t>
                </a:r>
                <a:endParaRPr lang="en-US" altLang="ko-KR" sz="800" kern="1200" dirty="0">
                  <a:solidFill>
                    <a:srgbClr val="000000"/>
                  </a:solidFill>
                  <a:latin typeface="Arial" panose="020B0604020202020204" pitchFamily="34" charset="0"/>
                  <a:ea typeface="LG스마트체 Regular" panose="020B0600000101010101" pitchFamily="50" charset="-127"/>
                  <a:cs typeface="+mn-cs"/>
                </a:endParaRPr>
              </a:p>
            </p:txBody>
          </p:sp>
          <p:sp>
            <p:nvSpPr>
              <p:cNvPr id="110" name="Text Box 61">
                <a:extLst>
                  <a:ext uri="{FF2B5EF4-FFF2-40B4-BE49-F238E27FC236}">
                    <a16:creationId xmlns:a16="http://schemas.microsoft.com/office/drawing/2014/main" id="{DA7A4DF0-8A69-B8E5-C9BE-B483381F46B2}"/>
                  </a:ext>
                </a:extLst>
              </p:cNvPr>
              <p:cNvSpPr txBox="1">
                <a:spLocks noChangeArrowheads="1"/>
              </p:cNvSpPr>
              <p:nvPr/>
            </p:nvSpPr>
            <p:spPr bwMode="auto">
              <a:xfrm>
                <a:off x="2163151" y="1446184"/>
                <a:ext cx="532517" cy="2462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211138" indent="-211138">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algn="ctr" fontAlgn="base" latinLnBrk="1">
                  <a:spcBef>
                    <a:spcPct val="0"/>
                  </a:spcBef>
                  <a:spcAft>
                    <a:spcPct val="0"/>
                  </a:spcAft>
                  <a:buClrTx/>
                  <a:buFontTx/>
                  <a:buNone/>
                </a:pPr>
                <a:r>
                  <a:rPr lang="en-US" altLang="ko-KR" sz="1000" kern="1200" dirty="0">
                    <a:solidFill>
                      <a:srgbClr val="FF0000"/>
                    </a:solidFill>
                    <a:latin typeface="Arial" panose="020B0604020202020204" pitchFamily="34" charset="0"/>
                    <a:ea typeface="LG스마트체 Regular" panose="020B0600000101010101" pitchFamily="50" charset="-127"/>
                    <a:cs typeface="Arial" panose="020B0604020202020204" pitchFamily="34" charset="0"/>
                  </a:rPr>
                  <a:t>failure</a:t>
                </a:r>
                <a:endParaRPr lang="ko-KR" altLang="en-US" sz="1000" kern="1200" dirty="0">
                  <a:solidFill>
                    <a:srgbClr val="FF0000"/>
                  </a:solidFill>
                  <a:latin typeface="Arial" panose="020B0604020202020204" pitchFamily="34" charset="0"/>
                  <a:ea typeface="LG스마트체 Regular" panose="020B0600000101010101" pitchFamily="50" charset="-127"/>
                  <a:cs typeface="+mn-cs"/>
                </a:endParaRPr>
              </a:p>
            </p:txBody>
          </p:sp>
          <p:sp>
            <p:nvSpPr>
              <p:cNvPr id="111" name="직사각형 13">
                <a:extLst>
                  <a:ext uri="{FF2B5EF4-FFF2-40B4-BE49-F238E27FC236}">
                    <a16:creationId xmlns:a16="http://schemas.microsoft.com/office/drawing/2014/main" id="{5FA5205C-E9B1-9D39-9FF7-C0E41489879C}"/>
                  </a:ext>
                </a:extLst>
              </p:cNvPr>
              <p:cNvSpPr/>
              <p:nvPr/>
            </p:nvSpPr>
            <p:spPr bwMode="auto">
              <a:xfrm>
                <a:off x="1749164" y="2001809"/>
                <a:ext cx="1319213" cy="528638"/>
              </a:xfrm>
              <a:prstGeom prst="rect">
                <a:avLst/>
              </a:prstGeom>
              <a:solidFill>
                <a:srgbClr val="FFFFFF"/>
              </a:solidFill>
              <a:ln w="12700" cap="flat" cmpd="sng" algn="ctr">
                <a:solidFill>
                  <a:srgbClr val="000000"/>
                </a:solidFill>
                <a:prstDash val="solid"/>
              </a:ln>
              <a:effectLst/>
            </p:spPr>
            <p:txBody>
              <a:bodyPr anchor="ct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0" fontAlgn="base" hangingPunct="0">
                  <a:spcBef>
                    <a:spcPct val="0"/>
                  </a:spcBef>
                  <a:spcAft>
                    <a:spcPct val="0"/>
                  </a:spcAft>
                  <a:buClrTx/>
                  <a:buFontTx/>
                  <a:buNone/>
                  <a:defRPr/>
                </a:pPr>
                <a:r>
                  <a:rPr lang="en-US" altLang="ko-KR" sz="11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Situation Reception and Sharing</a:t>
                </a:r>
                <a:endParaRPr lang="ko-KR" altLang="en-US" sz="1100" dirty="0">
                  <a:solidFill>
                    <a:srgbClr val="000000"/>
                  </a:solidFill>
                  <a:latin typeface="Arial" panose="020B0604020202020204" pitchFamily="34" charset="0"/>
                  <a:ea typeface="LG스마트체 Regular" panose="020B0600000101010101" pitchFamily="50" charset="-127"/>
                  <a:cs typeface="+mn-cs"/>
                </a:endParaRPr>
              </a:p>
            </p:txBody>
          </p:sp>
        </p:grpSp>
      </p:grpSp>
      <p:grpSp>
        <p:nvGrpSpPr>
          <p:cNvPr id="112" name="Group 111">
            <a:extLst>
              <a:ext uri="{FF2B5EF4-FFF2-40B4-BE49-F238E27FC236}">
                <a16:creationId xmlns:a16="http://schemas.microsoft.com/office/drawing/2014/main" id="{F352515B-9EB8-7255-07D3-7232179F0DA1}"/>
              </a:ext>
            </a:extLst>
          </p:cNvPr>
          <p:cNvGrpSpPr/>
          <p:nvPr/>
        </p:nvGrpSpPr>
        <p:grpSpPr>
          <a:xfrm>
            <a:off x="9074661" y="1561239"/>
            <a:ext cx="2623390" cy="2543780"/>
            <a:chOff x="8910845" y="1330296"/>
            <a:chExt cx="2623390" cy="2543780"/>
          </a:xfrm>
        </p:grpSpPr>
        <p:sp>
          <p:nvSpPr>
            <p:cNvPr id="113" name="오각형 119">
              <a:extLst>
                <a:ext uri="{FF2B5EF4-FFF2-40B4-BE49-F238E27FC236}">
                  <a16:creationId xmlns:a16="http://schemas.microsoft.com/office/drawing/2014/main" id="{19101064-2512-CDE8-DDC8-5BF7796DBDAE}"/>
                </a:ext>
              </a:extLst>
            </p:cNvPr>
            <p:cNvSpPr/>
            <p:nvPr/>
          </p:nvSpPr>
          <p:spPr bwMode="auto">
            <a:xfrm>
              <a:off x="9026733" y="1330296"/>
              <a:ext cx="2338198" cy="288925"/>
            </a:xfrm>
            <a:prstGeom prst="homePlate">
              <a:avLst>
                <a:gd name="adj" fmla="val 26345"/>
              </a:avLst>
            </a:prstGeom>
            <a:solidFill>
              <a:srgbClr val="FFFFFF">
                <a:lumMod val="95000"/>
              </a:srgbClr>
            </a:solidFill>
            <a:ln w="6350" cap="flat" cmpd="sng" algn="ctr">
              <a:solidFill>
                <a:srgbClr val="000000">
                  <a:lumMod val="65000"/>
                  <a:lumOff val="35000"/>
                </a:srgbClr>
              </a:solidFill>
              <a:prstDash val="solid"/>
              <a:round/>
              <a:headEnd type="none" w="med" len="med"/>
              <a:tailEnd type="none" w="med" len="med"/>
            </a:ln>
            <a:effectLst/>
          </p:spPr>
          <p:txBody>
            <a:bodyPr lIns="36000" tIns="36000" rIns="36000" bIns="36000" anchor="ctr"/>
            <a:lstStyle>
              <a:lvl1pPr defTabSz="957263">
                <a:defRPr kumimoji="1">
                  <a:solidFill>
                    <a:schemeClr val="tx1"/>
                  </a:solidFill>
                  <a:latin typeface="굴림" panose="020B0600000101010101" pitchFamily="50" charset="-127"/>
                  <a:ea typeface="굴림" panose="020B0600000101010101" pitchFamily="50" charset="-127"/>
                </a:defRPr>
              </a:lvl1pPr>
              <a:lvl2pPr marL="742950" indent="-285750" defTabSz="957263">
                <a:defRPr kumimoji="1">
                  <a:solidFill>
                    <a:schemeClr val="tx1"/>
                  </a:solidFill>
                  <a:latin typeface="굴림" panose="020B0600000101010101" pitchFamily="50" charset="-127"/>
                  <a:ea typeface="굴림" panose="020B0600000101010101" pitchFamily="50" charset="-127"/>
                </a:defRPr>
              </a:lvl2pPr>
              <a:lvl3pPr marL="1143000" indent="-228600" defTabSz="957263">
                <a:defRPr kumimoji="1">
                  <a:solidFill>
                    <a:schemeClr val="tx1"/>
                  </a:solidFill>
                  <a:latin typeface="굴림" panose="020B0600000101010101" pitchFamily="50" charset="-127"/>
                  <a:ea typeface="굴림" panose="020B0600000101010101" pitchFamily="50" charset="-127"/>
                </a:defRPr>
              </a:lvl3pPr>
              <a:lvl4pPr marL="1600200" indent="-228600" defTabSz="957263">
                <a:defRPr kumimoji="1">
                  <a:solidFill>
                    <a:schemeClr val="tx1"/>
                  </a:solidFill>
                  <a:latin typeface="굴림" panose="020B0600000101010101" pitchFamily="50" charset="-127"/>
                  <a:ea typeface="굴림" panose="020B0600000101010101" pitchFamily="50" charset="-127"/>
                </a:defRPr>
              </a:lvl4pPr>
              <a:lvl5pPr marL="2057400" indent="-228600" defTabSz="957263">
                <a:defRPr kumimoji="1">
                  <a:solidFill>
                    <a:schemeClr val="tx1"/>
                  </a:solidFill>
                  <a:latin typeface="굴림" panose="020B0600000101010101" pitchFamily="50" charset="-127"/>
                  <a:ea typeface="굴림" panose="020B0600000101010101" pitchFamily="50" charset="-127"/>
                </a:defRPr>
              </a:lvl5pPr>
              <a:lvl6pPr marL="25146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defTabSz="957263"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0" fontAlgn="base" hangingPunct="0">
                <a:lnSpc>
                  <a:spcPct val="120000"/>
                </a:lnSpc>
                <a:spcBef>
                  <a:spcPct val="0"/>
                </a:spcBef>
                <a:spcAft>
                  <a:spcPct val="0"/>
                </a:spcAft>
                <a:buClrTx/>
                <a:buFont typeface="Wingdings" panose="05000000000000000000" pitchFamily="2" charset="2"/>
                <a:buNone/>
                <a:defRPr/>
              </a:pPr>
              <a:r>
                <a:rPr lang="en-US" altLang="ko-KR" sz="10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Fault end report</a:t>
              </a:r>
              <a:endParaRPr lang="ko-KR" altLang="en-US" sz="1000" dirty="0">
                <a:solidFill>
                  <a:srgbClr val="000000"/>
                </a:solidFill>
                <a:latin typeface="Arial" panose="020B0604020202020204" pitchFamily="34" charset="0"/>
                <a:ea typeface="LG스마트체 Regular" panose="020B0600000101010101" pitchFamily="50" charset="-127"/>
                <a:cs typeface="+mn-cs"/>
              </a:endParaRPr>
            </a:p>
          </p:txBody>
        </p:sp>
        <p:sp>
          <p:nvSpPr>
            <p:cNvPr id="114" name="모서리가 둥근 직사각형 122">
              <a:extLst>
                <a:ext uri="{FF2B5EF4-FFF2-40B4-BE49-F238E27FC236}">
                  <a16:creationId xmlns:a16="http://schemas.microsoft.com/office/drawing/2014/main" id="{01015E97-82A5-A5C6-F109-75304995CFE1}"/>
                </a:ext>
              </a:extLst>
            </p:cNvPr>
            <p:cNvSpPr/>
            <p:nvPr/>
          </p:nvSpPr>
          <p:spPr bwMode="auto">
            <a:xfrm>
              <a:off x="9021970" y="1668433"/>
              <a:ext cx="2295978" cy="360363"/>
            </a:xfrm>
            <a:prstGeom prst="roundRect">
              <a:avLst/>
            </a:prstGeom>
            <a:solidFill>
              <a:srgbClr val="FFFFFF"/>
            </a:solidFill>
            <a:ln w="19050" cap="flat" cmpd="sng" algn="ctr">
              <a:solidFill>
                <a:srgbClr val="808080">
                  <a:lumMod val="40000"/>
                  <a:lumOff val="60000"/>
                </a:srgbClr>
              </a:solidFill>
              <a:prstDash val="solid"/>
            </a:ln>
            <a:effectLst/>
          </p:spPr>
          <p:txBody>
            <a:bodyPr anchor="ct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eaLnBrk="0" fontAlgn="base" hangingPunct="0">
                <a:lnSpc>
                  <a:spcPts val="1100"/>
                </a:lnSpc>
                <a:spcBef>
                  <a:spcPct val="0"/>
                </a:spcBef>
                <a:spcAft>
                  <a:spcPct val="0"/>
                </a:spcAft>
                <a:buClrTx/>
                <a:buFontTx/>
                <a:buNone/>
                <a:defRPr/>
              </a:pPr>
              <a:r>
                <a:rPr lang="en-US" altLang="ko-KR" sz="1000" dirty="0">
                  <a:solidFill>
                    <a:srgbClr val="000000"/>
                  </a:solidFill>
                  <a:latin typeface="Arial" panose="020B0604020202020204" pitchFamily="34" charset="0"/>
                  <a:ea typeface="LG스마트체 Regular" panose="020B0600000101010101" pitchFamily="50" charset="-127"/>
                  <a:cs typeface="Arial" panose="020B0604020202020204" pitchFamily="34" charset="0"/>
                </a:rPr>
                <a:t>Disability report</a:t>
              </a:r>
              <a:endParaRPr lang="ko-KR" altLang="en-US" sz="1000" dirty="0">
                <a:solidFill>
                  <a:srgbClr val="000000"/>
                </a:solidFill>
                <a:latin typeface="Arial" panose="020B0604020202020204" pitchFamily="34" charset="0"/>
                <a:ea typeface="LG스마트체 Regular" panose="020B0600000101010101" pitchFamily="50" charset="-127"/>
                <a:cs typeface="+mn-cs"/>
              </a:endParaRPr>
            </a:p>
          </p:txBody>
        </p:sp>
        <p:sp>
          <p:nvSpPr>
            <p:cNvPr id="115" name="TextBox 107">
              <a:extLst>
                <a:ext uri="{FF2B5EF4-FFF2-40B4-BE49-F238E27FC236}">
                  <a16:creationId xmlns:a16="http://schemas.microsoft.com/office/drawing/2014/main" id="{ACEEC79C-315B-1605-9DEA-2B7B4E5E4188}"/>
                </a:ext>
              </a:extLst>
            </p:cNvPr>
            <p:cNvSpPr txBox="1">
              <a:spLocks noChangeArrowheads="1"/>
            </p:cNvSpPr>
            <p:nvPr/>
          </p:nvSpPr>
          <p:spPr bwMode="auto">
            <a:xfrm>
              <a:off x="9025145" y="2041496"/>
              <a:ext cx="2509090" cy="6267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36000" rIns="0" bIns="36000">
              <a:spAutoFit/>
            </a:bodyPr>
            <a:lstStyle>
              <a:lvl1pPr marL="120650" indent="-120650">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0" fontAlgn="base" hangingPunct="0">
                <a:spcBef>
                  <a:spcPct val="0"/>
                </a:spcBef>
                <a:spcAft>
                  <a:spcPct val="0"/>
                </a:spcAft>
                <a:buClrTx/>
                <a:buFont typeface="Arial" panose="020B0604020202020204" pitchFamily="34" charset="0"/>
                <a:buChar char="•"/>
              </a:pPr>
              <a:r>
                <a:rPr lang="en-US" altLang="ko-KR" sz="900" kern="1200" dirty="0">
                  <a:solidFill>
                    <a:srgbClr val="000000"/>
                  </a:solidFill>
                  <a:latin typeface="Arial" panose="020B0604020202020204" pitchFamily="34" charset="0"/>
                  <a:ea typeface="LG스마트체 Regular" panose="020B0600000101010101" pitchFamily="50" charset="-127"/>
                  <a:cs typeface="+mn-cs"/>
                </a:rPr>
                <a:t>Grade 1, 2, 3</a:t>
              </a:r>
            </a:p>
            <a:p>
              <a:pPr eaLnBrk="0" fontAlgn="base" hangingPunct="0">
                <a:spcBef>
                  <a:spcPct val="0"/>
                </a:spcBef>
                <a:spcAft>
                  <a:spcPct val="0"/>
                </a:spcAft>
                <a:buClrTx/>
                <a:buFont typeface="Arial" panose="020B0604020202020204" pitchFamily="34" charset="0"/>
                <a:buChar char="•"/>
              </a:pPr>
              <a:r>
                <a:rPr lang="en-US" altLang="ko-KR" sz="900" kern="1200" dirty="0">
                  <a:solidFill>
                    <a:srgbClr val="000000"/>
                  </a:solidFill>
                  <a:latin typeface="Arial" panose="020B0604020202020204" pitchFamily="34" charset="0"/>
                  <a:ea typeface="LG스마트체 Regular" panose="020B0600000101010101" pitchFamily="50" charset="-127"/>
                  <a:cs typeface="+mn-cs"/>
                </a:rPr>
                <a:t>Written report within 24 hours after recovery</a:t>
              </a:r>
            </a:p>
            <a:p>
              <a:pPr eaLnBrk="0" fontAlgn="base" hangingPunct="0">
                <a:spcBef>
                  <a:spcPct val="0"/>
                </a:spcBef>
                <a:spcAft>
                  <a:spcPct val="0"/>
                </a:spcAft>
                <a:buClrTx/>
                <a:buFont typeface="Arial" panose="020B0604020202020204" pitchFamily="34" charset="0"/>
                <a:buChar char="•"/>
              </a:pPr>
              <a:r>
                <a:rPr lang="en-US" altLang="ko-KR" sz="900" kern="1200" dirty="0">
                  <a:solidFill>
                    <a:srgbClr val="000000"/>
                  </a:solidFill>
                  <a:latin typeface="Arial" panose="020B0604020202020204" pitchFamily="34" charset="0"/>
                  <a:ea typeface="LG스마트체 Regular" panose="020B0600000101010101" pitchFamily="50" charset="-127"/>
                  <a:cs typeface="+mn-cs"/>
                </a:rPr>
                <a:t>Face-to-face report within 7 days of recovery</a:t>
              </a:r>
            </a:p>
            <a:p>
              <a:pPr eaLnBrk="0" fontAlgn="base" hangingPunct="0">
                <a:spcBef>
                  <a:spcPct val="0"/>
                </a:spcBef>
                <a:spcAft>
                  <a:spcPct val="0"/>
                </a:spcAft>
                <a:buClrTx/>
                <a:buFont typeface="Arial" panose="020B0604020202020204" pitchFamily="34" charset="0"/>
                <a:buChar char="•"/>
              </a:pPr>
              <a:r>
                <a:rPr lang="en-US" altLang="ko-KR" sz="900" kern="1200" dirty="0">
                  <a:solidFill>
                    <a:srgbClr val="000000"/>
                  </a:solidFill>
                  <a:latin typeface="Arial" panose="020B0604020202020204" pitchFamily="34" charset="0"/>
                  <a:ea typeface="LG스마트체 Regular" panose="020B0600000101010101" pitchFamily="50" charset="-127"/>
                  <a:cs typeface="+mn-cs"/>
                </a:rPr>
                <a:t>(Reported at Weekly meeting)</a:t>
              </a:r>
            </a:p>
          </p:txBody>
        </p:sp>
        <p:sp>
          <p:nvSpPr>
            <p:cNvPr id="116" name="TextBox 177">
              <a:extLst>
                <a:ext uri="{FF2B5EF4-FFF2-40B4-BE49-F238E27FC236}">
                  <a16:creationId xmlns:a16="http://schemas.microsoft.com/office/drawing/2014/main" id="{FC13AECF-9CB6-53F4-4719-AD78B5274315}"/>
                </a:ext>
              </a:extLst>
            </p:cNvPr>
            <p:cNvSpPr txBox="1">
              <a:spLocks noChangeArrowheads="1"/>
            </p:cNvSpPr>
            <p:nvPr/>
          </p:nvSpPr>
          <p:spPr bwMode="auto">
            <a:xfrm>
              <a:off x="8910845" y="3089246"/>
              <a:ext cx="2515122" cy="78483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rIns="0">
              <a:spAutoFit/>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0" fontAlgn="base" hangingPunct="0">
                <a:spcBef>
                  <a:spcPct val="0"/>
                </a:spcBef>
                <a:spcAft>
                  <a:spcPct val="0"/>
                </a:spcAft>
                <a:buClrTx/>
                <a:buFontTx/>
                <a:buNone/>
              </a:pPr>
              <a:r>
                <a:rPr lang="en-US" altLang="ko-KR" sz="900" kern="1200" dirty="0">
                  <a:solidFill>
                    <a:srgbClr val="000000"/>
                  </a:solidFill>
                  <a:latin typeface="Arial" panose="020B0604020202020204" pitchFamily="34" charset="0"/>
                  <a:ea typeface="LG스마트체 Regular" panose="020B0600000101010101" pitchFamily="50" charset="-127"/>
                  <a:cs typeface="+mn-cs"/>
                </a:rPr>
                <a:t>※ GDC HQ and development and innovation Team leader notified of the results(including failure reports)</a:t>
              </a:r>
              <a:endParaRPr lang="ko-KR" altLang="en-US" sz="900" kern="1200" dirty="0">
                <a:solidFill>
                  <a:srgbClr val="000000"/>
                </a:solidFill>
                <a:latin typeface="Arial" panose="020B0604020202020204" pitchFamily="34" charset="0"/>
                <a:ea typeface="LG스마트체 Regular" panose="020B0600000101010101" pitchFamily="50" charset="-127"/>
                <a:cs typeface="+mn-cs"/>
              </a:endParaRPr>
            </a:p>
            <a:p>
              <a:pPr eaLnBrk="0" fontAlgn="base" hangingPunct="0">
                <a:spcBef>
                  <a:spcPct val="0"/>
                </a:spcBef>
                <a:spcAft>
                  <a:spcPct val="0"/>
                </a:spcAft>
                <a:buClrTx/>
                <a:buFontTx/>
                <a:buNone/>
              </a:pPr>
              <a:endParaRPr lang="ko-KR" altLang="en-US" sz="900" kern="1200" dirty="0">
                <a:solidFill>
                  <a:srgbClr val="000000"/>
                </a:solidFill>
                <a:latin typeface="Arial" panose="020B0604020202020204" pitchFamily="34" charset="0"/>
                <a:ea typeface="LG스마트체 Regular" panose="020B0600000101010101" pitchFamily="50" charset="-127"/>
                <a:cs typeface="+mn-cs"/>
              </a:endParaRPr>
            </a:p>
            <a:p>
              <a:pPr eaLnBrk="0" fontAlgn="base" hangingPunct="0">
                <a:spcBef>
                  <a:spcPct val="0"/>
                </a:spcBef>
                <a:spcAft>
                  <a:spcPct val="0"/>
                </a:spcAft>
                <a:buClrTx/>
                <a:buFontTx/>
                <a:buNone/>
              </a:pPr>
              <a:r>
                <a:rPr lang="en-US" altLang="ko-KR" sz="900" kern="1200" dirty="0">
                  <a:solidFill>
                    <a:srgbClr val="000000"/>
                  </a:solidFill>
                  <a:latin typeface="Arial" panose="020B0604020202020204" pitchFamily="34" charset="0"/>
                  <a:ea typeface="LG스마트체 Regular" panose="020B0600000101010101" pitchFamily="50" charset="-127"/>
                  <a:cs typeface="+mn-cs"/>
                </a:rPr>
                <a:t>※ Disability registration management</a:t>
              </a:r>
              <a:endParaRPr lang="ko-KR" altLang="en-US" sz="900" kern="1200" dirty="0">
                <a:solidFill>
                  <a:srgbClr val="000000"/>
                </a:solidFill>
                <a:latin typeface="Arial" panose="020B0604020202020204" pitchFamily="34" charset="0"/>
                <a:ea typeface="LG스마트체 Regular" panose="020B0600000101010101" pitchFamily="50" charset="-127"/>
                <a:cs typeface="+mn-cs"/>
              </a:endParaRPr>
            </a:p>
          </p:txBody>
        </p:sp>
      </p:grpSp>
      <p:graphicFrame>
        <p:nvGraphicFramePr>
          <p:cNvPr id="117" name="표 1">
            <a:extLst>
              <a:ext uri="{FF2B5EF4-FFF2-40B4-BE49-F238E27FC236}">
                <a16:creationId xmlns:a16="http://schemas.microsoft.com/office/drawing/2014/main" id="{E5069DCE-1436-1EB8-4D2C-A1B624AF89B3}"/>
              </a:ext>
            </a:extLst>
          </p:cNvPr>
          <p:cNvGraphicFramePr>
            <a:graphicFrameLocks noGrp="1"/>
          </p:cNvGraphicFramePr>
          <p:nvPr>
            <p:extLst>
              <p:ext uri="{D42A27DB-BD31-4B8C-83A1-F6EECF244321}">
                <p14:modId xmlns:p14="http://schemas.microsoft.com/office/powerpoint/2010/main" val="854404110"/>
              </p:ext>
            </p:extLst>
          </p:nvPr>
        </p:nvGraphicFramePr>
        <p:xfrm>
          <a:off x="3682215" y="2728069"/>
          <a:ext cx="5221451" cy="1540947"/>
        </p:xfrm>
        <a:graphic>
          <a:graphicData uri="http://schemas.openxmlformats.org/drawingml/2006/table">
            <a:tbl>
              <a:tblPr/>
              <a:tblGrid>
                <a:gridCol w="598625">
                  <a:extLst>
                    <a:ext uri="{9D8B030D-6E8A-4147-A177-3AD203B41FA5}">
                      <a16:colId xmlns:a16="http://schemas.microsoft.com/office/drawing/2014/main" val="20000"/>
                    </a:ext>
                  </a:extLst>
                </a:gridCol>
                <a:gridCol w="4622826">
                  <a:extLst>
                    <a:ext uri="{9D8B030D-6E8A-4147-A177-3AD203B41FA5}">
                      <a16:colId xmlns:a16="http://schemas.microsoft.com/office/drawing/2014/main" val="20001"/>
                    </a:ext>
                  </a:extLst>
                </a:gridCol>
              </a:tblGrid>
              <a:tr h="177657">
                <a:tc gridSpan="2">
                  <a:txBody>
                    <a:bodyPr/>
                    <a:lstStyle>
                      <a:lvl1pPr marL="342900" marR="0" indent="-342900" algn="l" defTabSz="914400" rtl="0" eaLnBrk="1" latinLnBrk="1" hangingPunct="1">
                        <a:lnSpc>
                          <a:spcPct val="100000"/>
                        </a:lnSpc>
                        <a:spcBef>
                          <a:spcPct val="10000"/>
                        </a:spcBef>
                        <a:spcAft>
                          <a:spcPts val="0"/>
                        </a:spcAft>
                        <a:buClr>
                          <a:srgbClr val="000000"/>
                        </a:buClr>
                        <a:buFont typeface="Arial"/>
                        <a:tabLst>
                          <a:tab pos="142875" algn="l"/>
                          <a:tab pos="250825" algn="l"/>
                        </a:tabLst>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457200" marR="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1" indent="0" algn="ctr" defTabSz="914400" rtl="0" eaLnBrk="0" fontAlgn="base" latinLnBrk="1" hangingPunct="0">
                        <a:lnSpc>
                          <a:spcPts val="1400"/>
                        </a:lnSpc>
                        <a:spcBef>
                          <a:spcPct val="0"/>
                        </a:spcBef>
                        <a:spcAft>
                          <a:spcPct val="0"/>
                        </a:spcAft>
                        <a:buClrTx/>
                        <a:buSzPts val="900"/>
                        <a:buFont typeface="Arial" panose="020B0604020202020204" pitchFamily="34" charset="0"/>
                        <a:buNone/>
                        <a:tabLst>
                          <a:tab pos="142875" algn="l"/>
                          <a:tab pos="250825" algn="l"/>
                        </a:tabLst>
                      </a:pPr>
                      <a:r>
                        <a:rPr kumimoji="1"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Target for sending SMS by grade</a:t>
                      </a:r>
                      <a:endParaRPr kumimoji="1" lang="ko-KR"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200" marR="36200" marT="17820" marB="17820" anchor="ctr" horzOverflow="overflow">
                    <a:lnL>
                      <a:noFill/>
                    </a:lnL>
                    <a:lnR>
                      <a:noFill/>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lnTlToBr>
                      <a:noFill/>
                    </a:lnTlToBr>
                    <a:lnBlToTr>
                      <a:noFill/>
                    </a:lnBlToTr>
                    <a:solidFill>
                      <a:srgbClr val="BBE0E3"/>
                    </a:solidFill>
                  </a:tcPr>
                </a:tc>
                <a:tc hMerge="1">
                  <a:txBody>
                    <a:bodyPr/>
                    <a:lstStyle/>
                    <a:p>
                      <a:pPr latinLnBrk="1"/>
                      <a:endParaRPr lang="ko-KR" altLang="en-US"/>
                    </a:p>
                  </a:txBody>
                  <a:tcPr/>
                </a:tc>
                <a:extLst>
                  <a:ext uri="{0D108BD9-81ED-4DB2-BD59-A6C34878D82A}">
                    <a16:rowId xmlns:a16="http://schemas.microsoft.com/office/drawing/2014/main" val="10000"/>
                  </a:ext>
                </a:extLst>
              </a:tr>
              <a:tr h="503498">
                <a:tc>
                  <a:txBody>
                    <a:bodyPr/>
                    <a:lstStyle>
                      <a:lvl1pPr marL="342900" marR="0" indent="-342900" algn="l" defTabSz="914400" rtl="0" eaLnBrk="1" latinLnBrk="1" hangingPunct="1">
                        <a:lnSpc>
                          <a:spcPct val="100000"/>
                        </a:lnSpc>
                        <a:spcBef>
                          <a:spcPct val="10000"/>
                        </a:spcBef>
                        <a:spcAft>
                          <a:spcPts val="0"/>
                        </a:spcAft>
                        <a:buClr>
                          <a:srgbClr val="000000"/>
                        </a:buClr>
                        <a:buFont typeface="Arial"/>
                        <a:tabLst>
                          <a:tab pos="142875" algn="l"/>
                          <a:tab pos="250825" algn="l"/>
                        </a:tabLst>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457200" marR="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1" indent="0" algn="ctr" defTabSz="914400" rtl="0" eaLnBrk="0" fontAlgn="base" latinLnBrk="1" hangingPunct="0">
                        <a:lnSpc>
                          <a:spcPts val="1400"/>
                        </a:lnSpc>
                        <a:spcBef>
                          <a:spcPct val="0"/>
                        </a:spcBef>
                        <a:spcAft>
                          <a:spcPct val="0"/>
                        </a:spcAft>
                        <a:buClrTx/>
                        <a:buSzPts val="900"/>
                        <a:buFont typeface="Arial" panose="020B0604020202020204" pitchFamily="34" charset="0"/>
                        <a:buNone/>
                        <a:tabLst>
                          <a:tab pos="142875" algn="l"/>
                          <a:tab pos="250825" algn="l"/>
                        </a:tabLst>
                      </a:pPr>
                      <a:r>
                        <a:rPr kumimoji="1"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Grade 1</a:t>
                      </a:r>
                      <a:endParaRPr kumimoji="1" lang="ko-KR"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200" marR="36200" marT="17820" marB="17820" anchor="ctr" horzOverflow="overflow">
                    <a:lnL>
                      <a:noFill/>
                    </a:lnL>
                    <a:lnR w="9525"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lnTlToBr>
                      <a:noFill/>
                    </a:lnTlToBr>
                    <a:lnBlToTr>
                      <a:noFill/>
                    </a:lnBlToTr>
                    <a:solidFill>
                      <a:srgbClr val="FFFFFF"/>
                    </a:solidFill>
                  </a:tcPr>
                </a:tc>
                <a:tc>
                  <a:txBody>
                    <a:bodyPr/>
                    <a:lstStyle>
                      <a:lvl1pPr marL="120650" marR="0" indent="-120650" algn="l" defTabSz="914400" rtl="0" eaLnBrk="1" latinLnBrk="1" hangingPunct="1">
                        <a:lnSpc>
                          <a:spcPct val="100000"/>
                        </a:lnSpc>
                        <a:spcBef>
                          <a:spcPct val="10000"/>
                        </a:spcBef>
                        <a:spcAft>
                          <a:spcPts val="0"/>
                        </a:spcAft>
                        <a:buClr>
                          <a:srgbClr val="000000"/>
                        </a:buClr>
                        <a:buFont typeface="Arial"/>
                        <a:tabLst>
                          <a:tab pos="142875" algn="l"/>
                        </a:tabLst>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tabLst>
                          <a:tab pos="142875" algn="l"/>
                        </a:tabLst>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tabLst>
                          <a:tab pos="142875" algn="l"/>
                        </a:tabLst>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tabLst>
                          <a:tab pos="14287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tabLst>
                          <a:tab pos="14287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tabLst>
                          <a:tab pos="14287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tabLst>
                          <a:tab pos="14287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tabLst>
                          <a:tab pos="14287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tabLst>
                          <a:tab pos="14287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120650" marR="0" lvl="0" indent="-120650" algn="l" defTabSz="914400" rtl="0" eaLnBrk="0" fontAlgn="base" latinLnBrk="1" hangingPunct="0">
                        <a:lnSpc>
                          <a:spcPts val="1400"/>
                        </a:lnSpc>
                        <a:spcBef>
                          <a:spcPct val="0"/>
                        </a:spcBef>
                        <a:spcAft>
                          <a:spcPct val="0"/>
                        </a:spcAft>
                        <a:buClrTx/>
                        <a:buSzPts val="1100"/>
                        <a:buFont typeface="Arial" panose="020B0604020202020204" pitchFamily="34" charset="0"/>
                        <a:buChar char="•"/>
                        <a:tabLst>
                          <a:tab pos="142875" algn="l"/>
                        </a:tabLst>
                      </a:pPr>
                      <a:r>
                        <a:rPr kumimoji="1"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Development Innovation Center Leader, FPT CEO, Development Innovation Team Leader, GDC Group, Delivery Manager</a:t>
                      </a:r>
                      <a:endParaRPr kumimoji="1" lang="ko-KR"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p>
                      <a:pPr marL="120650" marR="0" lvl="0" indent="-120650" algn="l" defTabSz="914400" rtl="0" eaLnBrk="0" fontAlgn="base" latinLnBrk="1" hangingPunct="0">
                        <a:lnSpc>
                          <a:spcPts val="1400"/>
                        </a:lnSpc>
                        <a:spcBef>
                          <a:spcPct val="0"/>
                        </a:spcBef>
                        <a:spcAft>
                          <a:spcPct val="0"/>
                        </a:spcAft>
                        <a:buClrTx/>
                        <a:buSzPts val="1100"/>
                        <a:buFont typeface="Arial" panose="020B0604020202020204" pitchFamily="34" charset="0"/>
                        <a:buChar char="•"/>
                        <a:tabLst>
                          <a:tab pos="142875" algn="l"/>
                        </a:tabLst>
                      </a:pPr>
                      <a:r>
                        <a:rPr kumimoji="1"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Sales Manager, Project PM</a:t>
                      </a:r>
                      <a:endParaRPr kumimoji="1" lang="ko-KR"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200" marR="36200" marT="17820" marB="17820" anchor="ctr" horzOverflow="overflow">
                    <a:lnL w="9525" cap="flat" cmpd="sng" algn="ctr">
                      <a:solidFill>
                        <a:srgbClr val="7F7F7F"/>
                      </a:solidFill>
                      <a:prstDash val="solid"/>
                      <a:round/>
                      <a:headEnd type="none" w="med" len="med"/>
                      <a:tailEnd type="none" w="med" len="med"/>
                    </a:lnL>
                    <a:lnR>
                      <a:noFill/>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1"/>
                  </a:ext>
                </a:extLst>
              </a:tr>
              <a:tr h="454846">
                <a:tc>
                  <a:txBody>
                    <a:bodyPr/>
                    <a:lstStyle>
                      <a:lvl1pPr marL="342900" marR="0" indent="-342900" algn="l" defTabSz="914400" rtl="0" eaLnBrk="1" latinLnBrk="1" hangingPunct="1">
                        <a:lnSpc>
                          <a:spcPct val="100000"/>
                        </a:lnSpc>
                        <a:spcBef>
                          <a:spcPct val="10000"/>
                        </a:spcBef>
                        <a:spcAft>
                          <a:spcPts val="0"/>
                        </a:spcAft>
                        <a:buClr>
                          <a:srgbClr val="000000"/>
                        </a:buClr>
                        <a:buFont typeface="Arial"/>
                        <a:tabLst>
                          <a:tab pos="142875" algn="l"/>
                          <a:tab pos="250825" algn="l"/>
                        </a:tabLst>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457200" marR="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1" indent="0" algn="ctr" defTabSz="914400" rtl="0" eaLnBrk="0" fontAlgn="base" latinLnBrk="1" hangingPunct="0">
                        <a:lnSpc>
                          <a:spcPts val="1400"/>
                        </a:lnSpc>
                        <a:spcBef>
                          <a:spcPct val="0"/>
                        </a:spcBef>
                        <a:spcAft>
                          <a:spcPct val="0"/>
                        </a:spcAft>
                        <a:buClrTx/>
                        <a:buSzPts val="900"/>
                        <a:buFont typeface="Arial" panose="020B0604020202020204" pitchFamily="34" charset="0"/>
                        <a:buNone/>
                        <a:tabLst>
                          <a:tab pos="142875" algn="l"/>
                          <a:tab pos="250825" algn="l"/>
                        </a:tabLst>
                      </a:pPr>
                      <a:r>
                        <a:rPr kumimoji="1"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a:t>
                      </a:r>
                      <a:r>
                        <a:rPr kumimoji="1" lang="en-US" altLang="ko-KR" sz="900" b="0" i="0" u="none" strike="noStrike" cap="none" normalizeH="0" baseline="30000" dirty="0">
                          <a:ln>
                            <a:noFill/>
                          </a:ln>
                          <a:solidFill>
                            <a:schemeClr val="tx1"/>
                          </a:solidFill>
                          <a:effectLst/>
                          <a:latin typeface="Arial" panose="020B0604020202020204" pitchFamily="34" charset="0"/>
                          <a:ea typeface="LG스마트체 Regular" panose="020B0600000101010101" pitchFamily="50" charset="-127"/>
                        </a:rPr>
                        <a:t>nd</a:t>
                      </a:r>
                      <a:r>
                        <a:rPr kumimoji="1"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grade</a:t>
                      </a:r>
                      <a:endParaRPr kumimoji="1" lang="ko-KR"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200" marR="36200" marT="17820" marB="17820" anchor="ctr" horzOverflow="overflow">
                    <a:lnL>
                      <a:noFill/>
                    </a:lnL>
                    <a:lnR w="9525"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lnTlToBr>
                      <a:noFill/>
                    </a:lnTlToBr>
                    <a:lnBlToTr>
                      <a:noFill/>
                    </a:lnBlToTr>
                    <a:solidFill>
                      <a:srgbClr val="FFFFFF"/>
                    </a:solidFill>
                  </a:tcPr>
                </a:tc>
                <a:tc>
                  <a:txBody>
                    <a:bodyPr/>
                    <a:lstStyle>
                      <a:lvl1pPr marL="120650" marR="0" indent="-120650" algn="l" defTabSz="914400" rtl="0" eaLnBrk="1" latinLnBrk="1" hangingPunct="1">
                        <a:lnSpc>
                          <a:spcPct val="100000"/>
                        </a:lnSpc>
                        <a:spcBef>
                          <a:spcPct val="10000"/>
                        </a:spcBef>
                        <a:spcAft>
                          <a:spcPts val="0"/>
                        </a:spcAft>
                        <a:buClr>
                          <a:srgbClr val="000000"/>
                        </a:buClr>
                        <a:buFont typeface="Arial"/>
                        <a:tabLst>
                          <a:tab pos="142875" algn="l"/>
                        </a:tabLst>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tabLst>
                          <a:tab pos="142875" algn="l"/>
                        </a:tabLst>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tabLst>
                          <a:tab pos="142875" algn="l"/>
                        </a:tabLst>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tabLst>
                          <a:tab pos="14287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tabLst>
                          <a:tab pos="14287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tabLst>
                          <a:tab pos="14287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tabLst>
                          <a:tab pos="14287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tabLst>
                          <a:tab pos="14287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tabLst>
                          <a:tab pos="14287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120650" marR="0" lvl="0" indent="-120650" algn="l" defTabSz="914400" rtl="0" eaLnBrk="0" fontAlgn="base" latinLnBrk="1" hangingPunct="0">
                        <a:lnSpc>
                          <a:spcPts val="1400"/>
                        </a:lnSpc>
                        <a:spcBef>
                          <a:spcPct val="0"/>
                        </a:spcBef>
                        <a:spcAft>
                          <a:spcPct val="0"/>
                        </a:spcAft>
                        <a:buClrTx/>
                        <a:buSzPts val="1100"/>
                        <a:buFont typeface="Arial" panose="020B0604020202020204" pitchFamily="34" charset="0"/>
                        <a:buChar char="•"/>
                        <a:tabLst>
                          <a:tab pos="142875" algn="l"/>
                        </a:tabLst>
                      </a:pPr>
                      <a:r>
                        <a:rPr kumimoji="1"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cs typeface="Arial" panose="020B0604020202020204" pitchFamily="34" charset="0"/>
                        </a:rPr>
                        <a:t>Development Innovation Team leader, GDC Group, Delivery Manager, Sales Manager, Project PM</a:t>
                      </a:r>
                      <a:endParaRPr kumimoji="1" lang="ko-KR"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200" marR="36200" marT="17820" marB="17820" anchor="ctr" horzOverflow="overflow">
                    <a:lnL w="9525" cap="flat" cmpd="sng" algn="ctr">
                      <a:solidFill>
                        <a:srgbClr val="7F7F7F"/>
                      </a:solidFill>
                      <a:prstDash val="solid"/>
                      <a:round/>
                      <a:headEnd type="none" w="med" len="med"/>
                      <a:tailEnd type="none" w="med" len="med"/>
                    </a:lnL>
                    <a:lnR>
                      <a:noFill/>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340577">
                <a:tc>
                  <a:txBody>
                    <a:bodyPr/>
                    <a:lstStyle>
                      <a:lvl1pPr marL="342900" marR="0" indent="-342900" algn="l" defTabSz="914400" rtl="0" eaLnBrk="1" latinLnBrk="1" hangingPunct="1">
                        <a:lnSpc>
                          <a:spcPct val="100000"/>
                        </a:lnSpc>
                        <a:spcBef>
                          <a:spcPct val="10000"/>
                        </a:spcBef>
                        <a:spcAft>
                          <a:spcPts val="0"/>
                        </a:spcAft>
                        <a:buClr>
                          <a:srgbClr val="000000"/>
                        </a:buClr>
                        <a:buFont typeface="Arial"/>
                        <a:tabLst>
                          <a:tab pos="142875" algn="l"/>
                          <a:tab pos="250825" algn="l"/>
                        </a:tabLst>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457200" marR="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tabLst>
                          <a:tab pos="142875" algn="l"/>
                          <a:tab pos="2508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1" indent="0" algn="ctr" defTabSz="914400" rtl="0" eaLnBrk="0" fontAlgn="base" latinLnBrk="1" hangingPunct="0">
                        <a:lnSpc>
                          <a:spcPts val="1400"/>
                        </a:lnSpc>
                        <a:spcBef>
                          <a:spcPct val="0"/>
                        </a:spcBef>
                        <a:spcAft>
                          <a:spcPct val="0"/>
                        </a:spcAft>
                        <a:buClrTx/>
                        <a:buSzPts val="900"/>
                        <a:buFont typeface="Arial" panose="020B0604020202020204" pitchFamily="34" charset="0"/>
                        <a:buNone/>
                        <a:tabLst>
                          <a:tab pos="142875" algn="l"/>
                          <a:tab pos="250825" algn="l"/>
                        </a:tabLst>
                      </a:pPr>
                      <a:r>
                        <a:rPr kumimoji="1"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a:t>
                      </a:r>
                      <a:r>
                        <a:rPr kumimoji="1" lang="en-US" altLang="ko-KR" sz="900" b="0" i="0" u="none" strike="noStrike" cap="none" normalizeH="0" baseline="30000" dirty="0">
                          <a:ln>
                            <a:noFill/>
                          </a:ln>
                          <a:solidFill>
                            <a:schemeClr val="tx1"/>
                          </a:solidFill>
                          <a:effectLst/>
                          <a:latin typeface="Arial" panose="020B0604020202020204" pitchFamily="34" charset="0"/>
                          <a:ea typeface="LG스마트체 Regular" panose="020B0600000101010101" pitchFamily="50" charset="-127"/>
                        </a:rPr>
                        <a:t>rd</a:t>
                      </a:r>
                      <a:r>
                        <a:rPr kumimoji="1"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grade</a:t>
                      </a:r>
                      <a:endParaRPr kumimoji="1" lang="ko-KR"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200" marR="36200" marT="17820" marB="17820" anchor="ctr" horzOverflow="overflow">
                    <a:lnL>
                      <a:noFill/>
                    </a:lnL>
                    <a:lnR w="9525" cap="flat" cmpd="sng" algn="ctr">
                      <a:solidFill>
                        <a:srgbClr val="7F7F7F"/>
                      </a:solidFill>
                      <a:prstDash val="solid"/>
                      <a:round/>
                      <a:headEnd type="none" w="med" len="med"/>
                      <a:tailEnd type="none" w="med" len="med"/>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lnTlToBr>
                      <a:noFill/>
                    </a:lnTlToBr>
                    <a:lnBlToTr>
                      <a:noFill/>
                    </a:lnBlToTr>
                    <a:solidFill>
                      <a:srgbClr val="FFFFFF"/>
                    </a:solidFill>
                  </a:tcPr>
                </a:tc>
                <a:tc>
                  <a:txBody>
                    <a:bodyPr/>
                    <a:lstStyle>
                      <a:lvl1pPr marL="85725" marR="0" indent="-85725"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85725" marR="0" lvl="0" indent="-85725" algn="l" defTabSz="914400" rtl="0" eaLnBrk="0" fontAlgn="base" latinLnBrk="1" hangingPunct="0">
                        <a:lnSpc>
                          <a:spcPts val="1400"/>
                        </a:lnSpc>
                        <a:spcBef>
                          <a:spcPct val="0"/>
                        </a:spcBef>
                        <a:spcAft>
                          <a:spcPct val="0"/>
                        </a:spcAft>
                        <a:buClrTx/>
                        <a:buSzPts val="1100"/>
                        <a:buFont typeface="Arial" panose="020B0604020202020204" pitchFamily="34" charset="0"/>
                        <a:buChar char="•"/>
                        <a:tabLst/>
                      </a:pPr>
                      <a:r>
                        <a:rPr kumimoji="1"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GDC Group, Delivery Manager, Sales Manager, Project PM</a:t>
                      </a:r>
                      <a:endParaRPr kumimoji="1" lang="ko-KR"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200" marR="36200" marT="17820" marB="17820" anchor="ctr" horzOverflow="overflow">
                    <a:lnL w="9525" cap="flat" cmpd="sng" algn="ctr">
                      <a:solidFill>
                        <a:srgbClr val="7F7F7F"/>
                      </a:solidFill>
                      <a:prstDash val="solid"/>
                      <a:round/>
                      <a:headEnd type="none" w="med" len="med"/>
                      <a:tailEnd type="none" w="med" len="med"/>
                    </a:lnL>
                    <a:lnR>
                      <a:noFill/>
                    </a:lnR>
                    <a:lnT w="9525" cap="flat" cmpd="sng" algn="ctr">
                      <a:solidFill>
                        <a:srgbClr val="7F7F7F"/>
                      </a:solidFill>
                      <a:prstDash val="solid"/>
                      <a:round/>
                      <a:headEnd type="none" w="med" len="med"/>
                      <a:tailEnd type="none" w="med" len="med"/>
                    </a:lnT>
                    <a:lnB w="9525" cap="flat" cmpd="sng" algn="ctr">
                      <a:solidFill>
                        <a:srgbClr val="7F7F7F"/>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bl>
          </a:graphicData>
        </a:graphic>
      </p:graphicFrame>
      <p:grpSp>
        <p:nvGrpSpPr>
          <p:cNvPr id="118" name="Group 117">
            <a:extLst>
              <a:ext uri="{FF2B5EF4-FFF2-40B4-BE49-F238E27FC236}">
                <a16:creationId xmlns:a16="http://schemas.microsoft.com/office/drawing/2014/main" id="{449471D3-CC46-0388-79B9-F5A9D8A18366}"/>
              </a:ext>
            </a:extLst>
          </p:cNvPr>
          <p:cNvGrpSpPr/>
          <p:nvPr/>
        </p:nvGrpSpPr>
        <p:grpSpPr>
          <a:xfrm>
            <a:off x="3734894" y="4437332"/>
            <a:ext cx="6059980" cy="921854"/>
            <a:chOff x="3734894" y="4437332"/>
            <a:chExt cx="6059980" cy="921854"/>
          </a:xfrm>
        </p:grpSpPr>
        <p:cxnSp>
          <p:nvCxnSpPr>
            <p:cNvPr id="119" name="연결선: 꺾임 48">
              <a:extLst>
                <a:ext uri="{FF2B5EF4-FFF2-40B4-BE49-F238E27FC236}">
                  <a16:creationId xmlns:a16="http://schemas.microsoft.com/office/drawing/2014/main" id="{6C7CDC88-53B8-49A0-9202-30E22D4502A2}"/>
                </a:ext>
              </a:extLst>
            </p:cNvPr>
            <p:cNvCxnSpPr>
              <a:cxnSpLocks/>
              <a:stCxn id="123" idx="3"/>
            </p:cNvCxnSpPr>
            <p:nvPr/>
          </p:nvCxnSpPr>
          <p:spPr>
            <a:xfrm flipV="1">
              <a:off x="6801944" y="4600452"/>
              <a:ext cx="647101" cy="254721"/>
            </a:xfrm>
            <a:prstGeom prst="bentConnector3">
              <a:avLst/>
            </a:prstGeom>
            <a:noFill/>
            <a:ln w="19050" cap="flat" cmpd="sng" algn="ctr">
              <a:solidFill>
                <a:srgbClr val="000000"/>
              </a:solidFill>
              <a:prstDash val="solid"/>
              <a:headEnd type="none" w="med" len="med"/>
              <a:tailEnd type="triangle"/>
            </a:ln>
            <a:effectLst/>
          </p:spPr>
        </p:cxnSp>
        <p:grpSp>
          <p:nvGrpSpPr>
            <p:cNvPr id="120" name="Group 119">
              <a:extLst>
                <a:ext uri="{FF2B5EF4-FFF2-40B4-BE49-F238E27FC236}">
                  <a16:creationId xmlns:a16="http://schemas.microsoft.com/office/drawing/2014/main" id="{E3479D8F-4FF8-A3C0-9E56-BA87DAD05FE0}"/>
                </a:ext>
              </a:extLst>
            </p:cNvPr>
            <p:cNvGrpSpPr/>
            <p:nvPr/>
          </p:nvGrpSpPr>
          <p:grpSpPr>
            <a:xfrm>
              <a:off x="3734894" y="4437332"/>
              <a:ext cx="6059980" cy="921854"/>
              <a:chOff x="3670039" y="4288275"/>
              <a:chExt cx="6059980" cy="921854"/>
            </a:xfrm>
          </p:grpSpPr>
          <p:sp>
            <p:nvSpPr>
              <p:cNvPr id="121" name="AutoShape 85">
                <a:extLst>
                  <a:ext uri="{FF2B5EF4-FFF2-40B4-BE49-F238E27FC236}">
                    <a16:creationId xmlns:a16="http://schemas.microsoft.com/office/drawing/2014/main" id="{6D9B7FC9-78E2-4799-16BA-C1A073CEF742}"/>
                  </a:ext>
                </a:extLst>
              </p:cNvPr>
              <p:cNvSpPr>
                <a:spLocks noChangeArrowheads="1"/>
              </p:cNvSpPr>
              <p:nvPr/>
            </p:nvSpPr>
            <p:spPr bwMode="auto">
              <a:xfrm>
                <a:off x="3670039" y="4810020"/>
                <a:ext cx="1136767" cy="309640"/>
              </a:xfrm>
              <a:prstGeom prst="flowChartProcess">
                <a:avLst/>
              </a:prstGeom>
              <a:solidFill>
                <a:srgbClr val="FFFFFF"/>
              </a:solidFill>
              <a:ln w="9525" algn="ctr">
                <a:solidFill>
                  <a:srgbClr val="000000"/>
                </a:solidFill>
                <a:miter lim="800000"/>
                <a:headEnd/>
                <a:tailEnd/>
              </a:ln>
            </p:spPr>
            <p:txBody>
              <a:bodyPr lIns="0" tIns="0" rIns="0" bIns="0" anchor="ctr"/>
              <a:lstStyle/>
              <a:p>
                <a:pPr marL="180975" indent="-180975" algn="ctr">
                  <a:buClrTx/>
                  <a:buFontTx/>
                  <a:buNone/>
                  <a:defRPr/>
                </a:pPr>
                <a:r>
                  <a:rPr lang="en-US" altLang="ko-KR" sz="1000" dirty="0">
                    <a:solidFill>
                      <a:srgbClr val="171616"/>
                    </a:solidFill>
                    <a:latin typeface="Arial" panose="020B0604020202020204" pitchFamily="34" charset="0"/>
                    <a:ea typeface="LG스마트체 Regular" panose="020B0600000101010101" pitchFamily="50" charset="-127"/>
                    <a:cs typeface="+mn-cs"/>
                  </a:rPr>
                  <a:t>Delivery Manager</a:t>
                </a:r>
              </a:p>
            </p:txBody>
          </p:sp>
          <p:sp>
            <p:nvSpPr>
              <p:cNvPr id="122" name="AutoShape 85">
                <a:extLst>
                  <a:ext uri="{FF2B5EF4-FFF2-40B4-BE49-F238E27FC236}">
                    <a16:creationId xmlns:a16="http://schemas.microsoft.com/office/drawing/2014/main" id="{7464B65C-4EE3-940C-0ECC-5D183C8F0172}"/>
                  </a:ext>
                </a:extLst>
              </p:cNvPr>
              <p:cNvSpPr>
                <a:spLocks noChangeArrowheads="1"/>
              </p:cNvSpPr>
              <p:nvPr/>
            </p:nvSpPr>
            <p:spPr bwMode="auto">
              <a:xfrm>
                <a:off x="3734391" y="4288275"/>
                <a:ext cx="1008063" cy="282575"/>
              </a:xfrm>
              <a:prstGeom prst="flowChartProcess">
                <a:avLst/>
              </a:prstGeom>
              <a:solidFill>
                <a:srgbClr val="FFFFFF"/>
              </a:solidFill>
              <a:ln w="9525" algn="ctr">
                <a:solidFill>
                  <a:srgbClr val="000000"/>
                </a:solidFill>
                <a:miter lim="800000"/>
                <a:headEnd/>
                <a:tailEnd/>
              </a:ln>
            </p:spPr>
            <p:txBody>
              <a:bodyPr lIns="0" tIns="0" rIns="0" bIns="0" anchor="ctr"/>
              <a:lstStyle>
                <a:lvl1pPr marL="180975" indent="-180975">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algn="ctr" fontAlgn="base">
                  <a:spcBef>
                    <a:spcPct val="0"/>
                  </a:spcBef>
                  <a:spcAft>
                    <a:spcPct val="0"/>
                  </a:spcAft>
                  <a:buClrTx/>
                  <a:buFontTx/>
                  <a:buNone/>
                </a:pPr>
                <a:r>
                  <a:rPr kumimoji="0" lang="en-US" altLang="ko-KR" sz="1000" kern="1200" dirty="0" err="1">
                    <a:solidFill>
                      <a:srgbClr val="000000"/>
                    </a:solidFill>
                    <a:latin typeface="Arial" panose="020B0604020202020204" pitchFamily="34" charset="0"/>
                    <a:ea typeface="LG스마트체 Regular" panose="020B0600000101010101" pitchFamily="50" charset="-127"/>
                    <a:cs typeface="+mn-cs"/>
                  </a:rPr>
                  <a:t>Br.SE</a:t>
                </a:r>
                <a:r>
                  <a:rPr kumimoji="0" lang="en-US" altLang="ko-KR" sz="1000" kern="1200" dirty="0">
                    <a:solidFill>
                      <a:srgbClr val="000000"/>
                    </a:solidFill>
                    <a:latin typeface="Arial" panose="020B0604020202020204" pitchFamily="34" charset="0"/>
                    <a:ea typeface="LG스마트체 Regular" panose="020B0600000101010101" pitchFamily="50" charset="-127"/>
                    <a:cs typeface="+mn-cs"/>
                  </a:rPr>
                  <a:t>/</a:t>
                </a:r>
              </a:p>
              <a:p>
                <a:pPr algn="ctr" fontAlgn="base">
                  <a:spcBef>
                    <a:spcPct val="0"/>
                  </a:spcBef>
                  <a:spcAft>
                    <a:spcPct val="0"/>
                  </a:spcAft>
                  <a:buClrTx/>
                  <a:buFontTx/>
                  <a:buNone/>
                </a:pPr>
                <a:r>
                  <a:rPr kumimoji="0" lang="en-US" altLang="ko-KR" sz="1000" kern="1200" dirty="0">
                    <a:solidFill>
                      <a:srgbClr val="000000"/>
                    </a:solidFill>
                    <a:latin typeface="Arial" panose="020B0604020202020204" pitchFamily="34" charset="0"/>
                    <a:ea typeface="LG스마트체 Regular" panose="020B0600000101010101" pitchFamily="50" charset="-127"/>
                    <a:cs typeface="+mn-cs"/>
                  </a:rPr>
                  <a:t>Offshore PM</a:t>
                </a:r>
              </a:p>
            </p:txBody>
          </p:sp>
          <p:sp>
            <p:nvSpPr>
              <p:cNvPr id="123" name="AutoShape 85">
                <a:extLst>
                  <a:ext uri="{FF2B5EF4-FFF2-40B4-BE49-F238E27FC236}">
                    <a16:creationId xmlns:a16="http://schemas.microsoft.com/office/drawing/2014/main" id="{3462F33D-293E-96FF-59D6-3FE2544F6FA7}"/>
                  </a:ext>
                </a:extLst>
              </p:cNvPr>
              <p:cNvSpPr>
                <a:spLocks noChangeArrowheads="1"/>
              </p:cNvSpPr>
              <p:nvPr/>
            </p:nvSpPr>
            <p:spPr bwMode="auto">
              <a:xfrm>
                <a:off x="5729027" y="4292572"/>
                <a:ext cx="1008062" cy="827087"/>
              </a:xfrm>
              <a:prstGeom prst="flowChartProcess">
                <a:avLst/>
              </a:prstGeom>
              <a:solidFill>
                <a:srgbClr val="FFFFFF"/>
              </a:solidFill>
              <a:ln w="9525" algn="ctr">
                <a:solidFill>
                  <a:srgbClr val="000000"/>
                </a:solidFill>
                <a:miter lim="800000"/>
                <a:headEnd/>
                <a:tailEnd/>
              </a:ln>
            </p:spPr>
            <p:txBody>
              <a:bodyPr lIns="0" tIns="0" rIns="0" bIns="0" anchor="ctr"/>
              <a:lstStyle>
                <a:lvl1pPr marL="180975" indent="-180975">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algn="ctr" fontAlgn="base">
                  <a:spcBef>
                    <a:spcPct val="0"/>
                  </a:spcBef>
                  <a:spcAft>
                    <a:spcPct val="0"/>
                  </a:spcAft>
                  <a:buClrTx/>
                  <a:buFontTx/>
                  <a:buNone/>
                </a:pPr>
                <a:r>
                  <a:rPr kumimoji="0" lang="en-US" altLang="ko-KR" sz="1000" kern="1200" dirty="0">
                    <a:solidFill>
                      <a:srgbClr val="000000"/>
                    </a:solidFill>
                    <a:latin typeface="Arial" panose="020B0604020202020204" pitchFamily="34" charset="0"/>
                    <a:ea typeface="LG스마트체 Regular" panose="020B0600000101010101" pitchFamily="50" charset="-127"/>
                    <a:cs typeface="+mn-cs"/>
                  </a:rPr>
                  <a:t>GDC HQ</a:t>
                </a:r>
              </a:p>
              <a:p>
                <a:pPr algn="ctr" fontAlgn="base">
                  <a:spcBef>
                    <a:spcPct val="0"/>
                  </a:spcBef>
                  <a:spcAft>
                    <a:spcPct val="0"/>
                  </a:spcAft>
                  <a:buClrTx/>
                  <a:buFontTx/>
                  <a:buNone/>
                </a:pPr>
                <a:endParaRPr kumimoji="0" lang="en-US" altLang="ko-KR" sz="1000" kern="1200" dirty="0">
                  <a:solidFill>
                    <a:srgbClr val="000000"/>
                  </a:solidFill>
                  <a:latin typeface="Arial" panose="020B0604020202020204" pitchFamily="34" charset="0"/>
                  <a:ea typeface="LG스마트체 Regular" panose="020B0600000101010101" pitchFamily="50" charset="-127"/>
                  <a:cs typeface="+mn-cs"/>
                </a:endParaRPr>
              </a:p>
              <a:p>
                <a:pPr algn="ctr" fontAlgn="base">
                  <a:spcBef>
                    <a:spcPct val="0"/>
                  </a:spcBef>
                  <a:spcAft>
                    <a:spcPct val="0"/>
                  </a:spcAft>
                  <a:buClrTx/>
                  <a:buFontTx/>
                  <a:buNone/>
                </a:pPr>
                <a:r>
                  <a:rPr kumimoji="0" lang="en-US" altLang="ko-KR" sz="1000" kern="1200" dirty="0">
                    <a:solidFill>
                      <a:srgbClr val="000000"/>
                    </a:solidFill>
                    <a:latin typeface="Arial" panose="020B0604020202020204" pitchFamily="34" charset="0"/>
                    <a:ea typeface="LG스마트체 Regular" panose="020B0600000101010101" pitchFamily="50" charset="-127"/>
                    <a:cs typeface="+mn-cs"/>
                  </a:rPr>
                  <a:t> Development Innovation Team Leader</a:t>
                </a:r>
              </a:p>
            </p:txBody>
          </p:sp>
          <p:sp>
            <p:nvSpPr>
              <p:cNvPr id="124" name="AutoShape 85">
                <a:extLst>
                  <a:ext uri="{FF2B5EF4-FFF2-40B4-BE49-F238E27FC236}">
                    <a16:creationId xmlns:a16="http://schemas.microsoft.com/office/drawing/2014/main" id="{A7C50592-9EA9-217A-5017-A212E3D500E2}"/>
                  </a:ext>
                </a:extLst>
              </p:cNvPr>
              <p:cNvSpPr>
                <a:spLocks noChangeArrowheads="1"/>
              </p:cNvSpPr>
              <p:nvPr/>
            </p:nvSpPr>
            <p:spPr bwMode="auto">
              <a:xfrm>
                <a:off x="7387964" y="4305272"/>
                <a:ext cx="1567878" cy="742950"/>
              </a:xfrm>
              <a:prstGeom prst="flowChartProcess">
                <a:avLst/>
              </a:prstGeom>
              <a:solidFill>
                <a:srgbClr val="FFFFFF"/>
              </a:solidFill>
              <a:ln w="9525" algn="ctr">
                <a:solidFill>
                  <a:srgbClr val="000000"/>
                </a:solidFill>
                <a:miter lim="800000"/>
                <a:headEnd/>
                <a:tailEnd/>
              </a:ln>
            </p:spPr>
            <p:txBody>
              <a:bodyPr lIns="0" tIns="0" rIns="0" bIns="0" anchor="ctr"/>
              <a:lstStyle>
                <a:lvl1pPr marL="180975" indent="-180975">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algn="ctr" fontAlgn="base">
                  <a:spcBef>
                    <a:spcPct val="0"/>
                  </a:spcBef>
                  <a:spcAft>
                    <a:spcPct val="0"/>
                  </a:spcAft>
                  <a:buClrTx/>
                  <a:buFontTx/>
                  <a:buNone/>
                </a:pPr>
                <a:r>
                  <a:rPr kumimoji="0" lang="en-US" altLang="ko-KR" sz="1000" kern="1200" dirty="0">
                    <a:solidFill>
                      <a:srgbClr val="171616"/>
                    </a:solidFill>
                    <a:latin typeface="Arial" panose="020B0604020202020204" pitchFamily="34" charset="0"/>
                    <a:ea typeface="LG스마트체 Regular" panose="020B0600000101010101" pitchFamily="50" charset="-127"/>
                    <a:cs typeface="Arial" panose="020B0604020202020204" pitchFamily="34" charset="0"/>
                  </a:rPr>
                  <a:t>Development Innovation Center Leader</a:t>
                </a:r>
                <a:endParaRPr kumimoji="0" lang="en-US" altLang="ko-KR" sz="1000" kern="1200" dirty="0">
                  <a:solidFill>
                    <a:srgbClr val="171616"/>
                  </a:solidFill>
                  <a:latin typeface="Arial" panose="020B0604020202020204" pitchFamily="34" charset="0"/>
                  <a:ea typeface="LG스마트체 Regular" panose="020B0600000101010101" pitchFamily="50" charset="-127"/>
                  <a:cs typeface="+mn-cs"/>
                </a:endParaRPr>
              </a:p>
              <a:p>
                <a:pPr algn="ctr" fontAlgn="base">
                  <a:spcBef>
                    <a:spcPct val="0"/>
                  </a:spcBef>
                  <a:spcAft>
                    <a:spcPct val="0"/>
                  </a:spcAft>
                  <a:buClrTx/>
                  <a:buFontTx/>
                  <a:buNone/>
                </a:pPr>
                <a:endParaRPr kumimoji="0" lang="en-US" altLang="ko-KR" sz="1000" kern="1200" dirty="0">
                  <a:solidFill>
                    <a:srgbClr val="171616"/>
                  </a:solidFill>
                  <a:latin typeface="Arial" panose="020B0604020202020204" pitchFamily="34" charset="0"/>
                  <a:ea typeface="LG스마트체 Regular" panose="020B0600000101010101" pitchFamily="50" charset="-127"/>
                  <a:cs typeface="+mn-cs"/>
                </a:endParaRPr>
              </a:p>
              <a:p>
                <a:pPr algn="ctr" fontAlgn="base">
                  <a:spcBef>
                    <a:spcPct val="0"/>
                  </a:spcBef>
                  <a:spcAft>
                    <a:spcPct val="0"/>
                  </a:spcAft>
                  <a:buClrTx/>
                  <a:buFontTx/>
                  <a:buNone/>
                </a:pPr>
                <a:r>
                  <a:rPr kumimoji="0" lang="en-US" altLang="ko-KR" sz="1000" kern="1200" dirty="0">
                    <a:solidFill>
                      <a:srgbClr val="171616"/>
                    </a:solidFill>
                    <a:latin typeface="Arial" panose="020B0604020202020204" pitchFamily="34" charset="0"/>
                    <a:ea typeface="LG스마트체 Regular" panose="020B0600000101010101" pitchFamily="50" charset="-127"/>
                    <a:cs typeface="+mn-cs"/>
                  </a:rPr>
                  <a:t>FPT CEO</a:t>
                </a:r>
              </a:p>
            </p:txBody>
          </p:sp>
          <p:cxnSp>
            <p:nvCxnSpPr>
              <p:cNvPr id="125" name="연결선: 꺾임 6">
                <a:extLst>
                  <a:ext uri="{FF2B5EF4-FFF2-40B4-BE49-F238E27FC236}">
                    <a16:creationId xmlns:a16="http://schemas.microsoft.com/office/drawing/2014/main" id="{21292708-77C4-582C-545D-E123E0E72B5D}"/>
                  </a:ext>
                </a:extLst>
              </p:cNvPr>
              <p:cNvCxnSpPr>
                <a:cxnSpLocks/>
                <a:stCxn id="121" idx="3"/>
                <a:endCxn id="123" idx="1"/>
              </p:cNvCxnSpPr>
              <p:nvPr/>
            </p:nvCxnSpPr>
            <p:spPr>
              <a:xfrm flipV="1">
                <a:off x="4806806" y="4706116"/>
                <a:ext cx="922221" cy="258724"/>
              </a:xfrm>
              <a:prstGeom prst="bentConnector3">
                <a:avLst/>
              </a:prstGeom>
              <a:noFill/>
              <a:ln w="19050" cap="flat" cmpd="sng" algn="ctr">
                <a:solidFill>
                  <a:srgbClr val="000000"/>
                </a:solidFill>
                <a:prstDash val="solid"/>
                <a:headEnd type="none" w="med" len="med"/>
                <a:tailEnd type="triangle"/>
              </a:ln>
              <a:effectLst/>
            </p:spPr>
          </p:cxnSp>
          <p:sp>
            <p:nvSpPr>
              <p:cNvPr id="126" name="TextBox 8">
                <a:extLst>
                  <a:ext uri="{FF2B5EF4-FFF2-40B4-BE49-F238E27FC236}">
                    <a16:creationId xmlns:a16="http://schemas.microsoft.com/office/drawing/2014/main" id="{58860DA2-0C17-F004-90F0-6305BAA02202}"/>
                  </a:ext>
                </a:extLst>
              </p:cNvPr>
              <p:cNvSpPr txBox="1">
                <a:spLocks noChangeArrowheads="1"/>
              </p:cNvSpPr>
              <p:nvPr/>
            </p:nvSpPr>
            <p:spPr bwMode="auto">
              <a:xfrm>
                <a:off x="8971194" y="4347751"/>
                <a:ext cx="758825" cy="2616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0" fontAlgn="base" hangingPunct="0">
                  <a:spcBef>
                    <a:spcPct val="0"/>
                  </a:spcBef>
                  <a:spcAft>
                    <a:spcPct val="0"/>
                  </a:spcAft>
                  <a:buClrTx/>
                  <a:buFontTx/>
                  <a:buNone/>
                </a:pPr>
                <a:r>
                  <a:rPr lang="en-US" altLang="ko-KR" sz="1100" kern="1200" dirty="0">
                    <a:solidFill>
                      <a:srgbClr val="000000"/>
                    </a:solidFill>
                    <a:latin typeface="Arial" panose="020B0604020202020204" pitchFamily="34" charset="0"/>
                    <a:ea typeface="LG스마트체2.0 Regular" pitchFamily="50" charset="-127"/>
                    <a:cs typeface="Arial" panose="020B0604020202020204" pitchFamily="34" charset="0"/>
                  </a:rPr>
                  <a:t>(Level 1)</a:t>
                </a:r>
                <a:endParaRPr lang="ko-KR" altLang="en-US" sz="1100" kern="1200" dirty="0">
                  <a:solidFill>
                    <a:srgbClr val="000000"/>
                  </a:solidFill>
                  <a:latin typeface="Arial" panose="020B0604020202020204" pitchFamily="34" charset="0"/>
                  <a:ea typeface="LG스마트체2.0 Regular" pitchFamily="50" charset="-127"/>
                  <a:cs typeface="+mn-cs"/>
                </a:endParaRPr>
              </a:p>
            </p:txBody>
          </p:sp>
          <p:sp>
            <p:nvSpPr>
              <p:cNvPr id="127" name="TextBox 51">
                <a:extLst>
                  <a:ext uri="{FF2B5EF4-FFF2-40B4-BE49-F238E27FC236}">
                    <a16:creationId xmlns:a16="http://schemas.microsoft.com/office/drawing/2014/main" id="{F884DB8C-DB1E-3B38-3013-E31D4D340C2E}"/>
                  </a:ext>
                </a:extLst>
              </p:cNvPr>
              <p:cNvSpPr txBox="1">
                <a:spLocks noChangeArrowheads="1"/>
              </p:cNvSpPr>
              <p:nvPr/>
            </p:nvSpPr>
            <p:spPr bwMode="auto">
              <a:xfrm>
                <a:off x="6692522" y="4810019"/>
                <a:ext cx="966788" cy="40011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굴림" panose="020B0600000101010101" pitchFamily="34" charset="-127"/>
                    <a:ea typeface="굴림" panose="020B0600000101010101" pitchFamily="34" charset="-127"/>
                  </a:defRPr>
                </a:lvl1pPr>
                <a:lvl2pPr marL="742950" indent="-285750">
                  <a:defRPr kumimoji="1">
                    <a:solidFill>
                      <a:schemeClr val="tx1"/>
                    </a:solidFill>
                    <a:latin typeface="굴림" panose="020B0600000101010101" pitchFamily="34" charset="-127"/>
                    <a:ea typeface="굴림" panose="020B0600000101010101" pitchFamily="34" charset="-127"/>
                  </a:defRPr>
                </a:lvl2pPr>
                <a:lvl3pPr marL="1143000" indent="-228600">
                  <a:defRPr kumimoji="1">
                    <a:solidFill>
                      <a:schemeClr val="tx1"/>
                    </a:solidFill>
                    <a:latin typeface="굴림" panose="020B0600000101010101" pitchFamily="34" charset="-127"/>
                    <a:ea typeface="굴림" panose="020B0600000101010101" pitchFamily="34" charset="-127"/>
                  </a:defRPr>
                </a:lvl3pPr>
                <a:lvl4pPr marL="1600200" indent="-228600">
                  <a:defRPr kumimoji="1">
                    <a:solidFill>
                      <a:schemeClr val="tx1"/>
                    </a:solidFill>
                    <a:latin typeface="굴림" panose="020B0600000101010101" pitchFamily="34" charset="-127"/>
                    <a:ea typeface="굴림" panose="020B0600000101010101" pitchFamily="34" charset="-127"/>
                  </a:defRPr>
                </a:lvl4pPr>
                <a:lvl5pPr marL="2057400" indent="-228600">
                  <a:defRPr kumimoji="1">
                    <a:solidFill>
                      <a:schemeClr val="tx1"/>
                    </a:solidFill>
                    <a:latin typeface="굴림" panose="020B0600000101010101" pitchFamily="34" charset="-127"/>
                    <a:ea typeface="굴림" panose="020B0600000101010101" pitchFamily="34" charset="-127"/>
                  </a:defRPr>
                </a:lvl5pPr>
                <a:lvl6pPr marL="25146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6pPr>
                <a:lvl7pPr marL="29718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7pPr>
                <a:lvl8pPr marL="34290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8pPr>
                <a:lvl9pPr marL="3886200" indent="-228600" eaLnBrk="0" fontAlgn="base" hangingPunct="0">
                  <a:spcBef>
                    <a:spcPct val="0"/>
                  </a:spcBef>
                  <a:spcAft>
                    <a:spcPct val="0"/>
                  </a:spcAft>
                  <a:defRPr kumimoji="1">
                    <a:solidFill>
                      <a:schemeClr val="tx1"/>
                    </a:solidFill>
                    <a:latin typeface="굴림" panose="020B0600000101010101" pitchFamily="34" charset="-127"/>
                    <a:ea typeface="굴림" panose="020B0600000101010101" pitchFamily="34" charset="-127"/>
                  </a:defRPr>
                </a:lvl9pPr>
              </a:lstStyle>
              <a:p>
                <a:pPr eaLnBrk="0" fontAlgn="base" hangingPunct="0">
                  <a:spcBef>
                    <a:spcPct val="0"/>
                  </a:spcBef>
                  <a:spcAft>
                    <a:spcPct val="0"/>
                  </a:spcAft>
                  <a:buClrTx/>
                  <a:buFontTx/>
                  <a:buNone/>
                </a:pPr>
                <a:r>
                  <a:rPr lang="en-US" altLang="ko-KR" sz="1000" kern="1200" dirty="0">
                    <a:solidFill>
                      <a:srgbClr val="000000"/>
                    </a:solidFill>
                    <a:latin typeface="Arial" panose="020B0604020202020204" pitchFamily="34" charset="0"/>
                    <a:ea typeface="LG스마트체2.0 Regular" pitchFamily="50" charset="-127"/>
                    <a:cs typeface="Arial" panose="020B0604020202020204" pitchFamily="34" charset="0"/>
                  </a:rPr>
                  <a:t>(2</a:t>
                </a:r>
                <a:r>
                  <a:rPr lang="en-US" altLang="ko-KR" sz="1000" kern="1200" baseline="30000" dirty="0">
                    <a:solidFill>
                      <a:srgbClr val="000000"/>
                    </a:solidFill>
                    <a:latin typeface="Arial" panose="020B0604020202020204" pitchFamily="34" charset="0"/>
                    <a:ea typeface="LG스마트체2.0 Regular" pitchFamily="50" charset="-127"/>
                    <a:cs typeface="Arial" panose="020B0604020202020204" pitchFamily="34" charset="0"/>
                  </a:rPr>
                  <a:t>nd</a:t>
                </a:r>
                <a:r>
                  <a:rPr lang="en-US" altLang="ko-KR" sz="1000" kern="1200" dirty="0">
                    <a:solidFill>
                      <a:srgbClr val="000000"/>
                    </a:solidFill>
                    <a:latin typeface="Arial" panose="020B0604020202020204" pitchFamily="34" charset="0"/>
                    <a:ea typeface="LG스마트체2.0 Regular" pitchFamily="50" charset="-127"/>
                    <a:cs typeface="Arial" panose="020B0604020202020204" pitchFamily="34" charset="0"/>
                  </a:rPr>
                  <a:t>, 3rd grade)</a:t>
                </a:r>
                <a:endParaRPr lang="ko-KR" altLang="en-US" sz="1000" kern="1200" dirty="0">
                  <a:solidFill>
                    <a:srgbClr val="000000"/>
                  </a:solidFill>
                  <a:latin typeface="Arial" panose="020B0604020202020204" pitchFamily="34" charset="0"/>
                  <a:ea typeface="LG스마트체2.0 Regular" pitchFamily="50" charset="-127"/>
                  <a:cs typeface="+mn-cs"/>
                </a:endParaRPr>
              </a:p>
            </p:txBody>
          </p:sp>
        </p:grpSp>
      </p:grpSp>
    </p:spTree>
    <p:extLst>
      <p:ext uri="{BB962C8B-B14F-4D97-AF65-F5344CB8AC3E}">
        <p14:creationId xmlns:p14="http://schemas.microsoft.com/office/powerpoint/2010/main" val="394773684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30</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11233149" cy="584775"/>
            <a:chOff x="479425" y="461520"/>
            <a:chExt cx="11233149"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3" y="461520"/>
              <a:ext cx="11176311"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13. Standard Process </a:t>
              </a:r>
              <a:r>
                <a:rPr lang="en-US" sz="2400" b="1" dirty="0">
                  <a:solidFill>
                    <a:srgbClr val="212967"/>
                  </a:solidFill>
                  <a:latin typeface="Segoe UI" panose="020B0502040204020203" pitchFamily="34" charset="0"/>
                  <a:cs typeface="Segoe UI" panose="020B0502040204020203" pitchFamily="34" charset="0"/>
                </a:rPr>
                <a:t>- Issue/Failure Grading Criteria (2/3)</a:t>
              </a:r>
            </a:p>
          </p:txBody>
        </p:sp>
      </p:grpSp>
      <p:graphicFrame>
        <p:nvGraphicFramePr>
          <p:cNvPr id="3" name="Group 87">
            <a:extLst>
              <a:ext uri="{FF2B5EF4-FFF2-40B4-BE49-F238E27FC236}">
                <a16:creationId xmlns:a16="http://schemas.microsoft.com/office/drawing/2014/main" id="{E284B975-5608-DCA1-B3AB-C7EE4BC36812}"/>
              </a:ext>
            </a:extLst>
          </p:cNvPr>
          <p:cNvGraphicFramePr>
            <a:graphicFrameLocks noGrp="1"/>
          </p:cNvGraphicFramePr>
          <p:nvPr>
            <p:extLst>
              <p:ext uri="{D42A27DB-BD31-4B8C-83A1-F6EECF244321}">
                <p14:modId xmlns:p14="http://schemas.microsoft.com/office/powerpoint/2010/main" val="1762937836"/>
              </p:ext>
            </p:extLst>
          </p:nvPr>
        </p:nvGraphicFramePr>
        <p:xfrm>
          <a:off x="471657" y="1461336"/>
          <a:ext cx="11398998" cy="5390912"/>
        </p:xfrm>
        <a:graphic>
          <a:graphicData uri="http://schemas.openxmlformats.org/drawingml/2006/table">
            <a:tbl>
              <a:tblPr/>
              <a:tblGrid>
                <a:gridCol w="943143">
                  <a:extLst>
                    <a:ext uri="{9D8B030D-6E8A-4147-A177-3AD203B41FA5}">
                      <a16:colId xmlns:a16="http://schemas.microsoft.com/office/drawing/2014/main" val="20000"/>
                    </a:ext>
                  </a:extLst>
                </a:gridCol>
                <a:gridCol w="3654222">
                  <a:extLst>
                    <a:ext uri="{9D8B030D-6E8A-4147-A177-3AD203B41FA5}">
                      <a16:colId xmlns:a16="http://schemas.microsoft.com/office/drawing/2014/main" val="20001"/>
                    </a:ext>
                  </a:extLst>
                </a:gridCol>
                <a:gridCol w="1941534">
                  <a:extLst>
                    <a:ext uri="{9D8B030D-6E8A-4147-A177-3AD203B41FA5}">
                      <a16:colId xmlns:a16="http://schemas.microsoft.com/office/drawing/2014/main" val="20002"/>
                    </a:ext>
                  </a:extLst>
                </a:gridCol>
                <a:gridCol w="1943549">
                  <a:extLst>
                    <a:ext uri="{9D8B030D-6E8A-4147-A177-3AD203B41FA5}">
                      <a16:colId xmlns:a16="http://schemas.microsoft.com/office/drawing/2014/main" val="20003"/>
                    </a:ext>
                  </a:extLst>
                </a:gridCol>
                <a:gridCol w="1939520">
                  <a:extLst>
                    <a:ext uri="{9D8B030D-6E8A-4147-A177-3AD203B41FA5}">
                      <a16:colId xmlns:a16="http://schemas.microsoft.com/office/drawing/2014/main" val="20004"/>
                    </a:ext>
                  </a:extLst>
                </a:gridCol>
                <a:gridCol w="977030">
                  <a:extLst>
                    <a:ext uri="{9D8B030D-6E8A-4147-A177-3AD203B41FA5}">
                      <a16:colId xmlns:a16="http://schemas.microsoft.com/office/drawing/2014/main" val="20005"/>
                    </a:ext>
                  </a:extLst>
                </a:gridCol>
              </a:tblGrid>
              <a:tr h="281861">
                <a:tc rowSpan="2">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20000"/>
                        </a:lnSpc>
                        <a:spcBef>
                          <a:spcPct val="20000"/>
                        </a:spcBef>
                        <a:spcAft>
                          <a:spcPct val="0"/>
                        </a:spcAft>
                        <a:buClrTx/>
                        <a:buSzTx/>
                        <a:buFontTx/>
                        <a:buNone/>
                        <a:tabLst/>
                      </a:pPr>
                      <a:r>
                        <a:rPr kumimoji="1" lang="en-US" altLang="ko-KR" sz="1200" b="0" i="0" u="none" strike="noStrike" kern="1200" cap="none" normalizeH="0" baseline="0" dirty="0">
                          <a:ln>
                            <a:noFill/>
                          </a:ln>
                          <a:solidFill>
                            <a:schemeClr val="tx1"/>
                          </a:solidFill>
                          <a:effectLst/>
                          <a:latin typeface="+mn-lt"/>
                          <a:ea typeface="LG스마트체 Regular" panose="020B0600000101010101" pitchFamily="50" charset="-127"/>
                          <a:cs typeface="+mn-cs"/>
                        </a:rPr>
                        <a:t>Grade</a:t>
                      </a:r>
                    </a:p>
                  </a:txBody>
                  <a:tcPr marL="91438" marR="91438" marT="45722" marB="45722" anchor="ctr" horzOverflow="overflow">
                    <a:lnL w="12700" cap="flat" cmpd="sng" algn="ctr">
                      <a:solidFill>
                        <a:srgbClr val="034EA2"/>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34EA2"/>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EAEAEA"/>
                    </a:solidFill>
                  </a:tcPr>
                </a:tc>
                <a:tc rowSpan="2">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20000"/>
                        </a:lnSpc>
                        <a:spcBef>
                          <a:spcPct val="20000"/>
                        </a:spcBef>
                        <a:spcAft>
                          <a:spcPct val="0"/>
                        </a:spcAft>
                        <a:buClrTx/>
                        <a:buSzTx/>
                        <a:buFontTx/>
                        <a:buNone/>
                        <a:tabLst/>
                      </a:pPr>
                      <a:r>
                        <a:rPr kumimoji="1" lang="en-US" sz="1200" b="0" i="0" u="none" strike="noStrike" kern="1200" cap="none" normalizeH="0" baseline="0" dirty="0">
                          <a:ln>
                            <a:noFill/>
                          </a:ln>
                          <a:solidFill>
                            <a:schemeClr val="tx1"/>
                          </a:solidFill>
                          <a:effectLst/>
                          <a:latin typeface="+mn-lt"/>
                          <a:ea typeface="LG스마트체 Regular" panose="020B0600000101010101" pitchFamily="50" charset="-127"/>
                          <a:cs typeface="+mn-cs"/>
                        </a:rPr>
                        <a:t>The meaning of each severity level</a:t>
                      </a:r>
                      <a:endParaRPr kumimoji="1" lang="ko-KR" altLang="en-US" sz="12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91438" marR="91438"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34EA2"/>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EAEAEA"/>
                    </a:solidFill>
                  </a:tcPr>
                </a:tc>
                <a:tc gridSpan="3">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20000"/>
                        </a:lnSpc>
                        <a:spcBef>
                          <a:spcPct val="20000"/>
                        </a:spcBef>
                        <a:spcAft>
                          <a:spcPct val="0"/>
                        </a:spcAft>
                        <a:buClrTx/>
                        <a:buSzTx/>
                        <a:buFontTx/>
                        <a:buNone/>
                        <a:tabLst/>
                      </a:pPr>
                      <a:r>
                        <a:rPr kumimoji="1" lang="en-US" sz="1200" b="0" i="0" u="none" strike="noStrike" kern="1200" cap="none" normalizeH="0" baseline="0" dirty="0">
                          <a:ln>
                            <a:noFill/>
                          </a:ln>
                          <a:solidFill>
                            <a:schemeClr val="tx1"/>
                          </a:solidFill>
                          <a:effectLst/>
                          <a:latin typeface="+mn-lt"/>
                          <a:ea typeface="LG스마트체 Regular" panose="020B0600000101010101" pitchFamily="50" charset="-127"/>
                          <a:cs typeface="+mn-cs"/>
                        </a:rPr>
                        <a:t>Category</a:t>
                      </a:r>
                      <a:endParaRPr kumimoji="1" lang="ko-KR" altLang="en-US" sz="12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91438" marR="91438"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034EA2"/>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EAEAEA"/>
                    </a:solidFill>
                  </a:tcPr>
                </a:tc>
                <a:tc hMerge="1">
                  <a:txBody>
                    <a:bodyPr/>
                    <a:lstStyle/>
                    <a:p>
                      <a:pPr latinLnBrk="1"/>
                      <a:endParaRPr lang="ko-KR" altLang="en-US"/>
                    </a:p>
                  </a:txBody>
                  <a:tcPr/>
                </a:tc>
                <a:tc hMerge="1">
                  <a:txBody>
                    <a:bodyPr/>
                    <a:lstStyle/>
                    <a:p>
                      <a:pPr latinLnBrk="1"/>
                      <a:endParaRPr lang="ko-KR" altLang="en-US"/>
                    </a:p>
                  </a:txBody>
                  <a:tcPr/>
                </a:tc>
                <a:tc rowSpan="2">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20000"/>
                        </a:lnSpc>
                        <a:spcBef>
                          <a:spcPct val="2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mn-lt"/>
                          <a:ea typeface="LG스마트체 Regular" panose="020B0600000101010101" pitchFamily="50" charset="-127"/>
                        </a:rPr>
                        <a:t>Resolution SLA</a:t>
                      </a:r>
                      <a:endParaRPr kumimoji="1" lang="ko-KR" altLang="en-US" sz="1200" b="0" i="0" u="none" strike="noStrike" cap="none" normalizeH="0" baseline="0" dirty="0">
                        <a:ln>
                          <a:noFill/>
                        </a:ln>
                        <a:solidFill>
                          <a:schemeClr val="tx1"/>
                        </a:solidFill>
                        <a:effectLst/>
                        <a:latin typeface="+mn-lt"/>
                        <a:ea typeface="LG스마트체 Regular" panose="020B0600000101010101" pitchFamily="50" charset="-127"/>
                      </a:endParaRPr>
                    </a:p>
                  </a:txBody>
                  <a:tcPr marL="91438" marR="91438" marT="45722" marB="45722" anchor="ctr" horzOverflow="overflow">
                    <a:lnL w="12700" cap="flat" cmpd="sng" algn="ctr">
                      <a:solidFill>
                        <a:srgbClr val="7F7F7F"/>
                      </a:solidFill>
                      <a:prstDash val="solid"/>
                      <a:round/>
                      <a:headEnd type="none" w="med" len="med"/>
                      <a:tailEnd type="none" w="med" len="med"/>
                    </a:lnL>
                    <a:lnR w="12700" cap="flat" cmpd="sng" algn="ctr">
                      <a:solidFill>
                        <a:srgbClr val="034EA2"/>
                      </a:solidFill>
                      <a:prstDash val="solid"/>
                      <a:round/>
                      <a:headEnd type="none" w="med" len="med"/>
                      <a:tailEnd type="none" w="med" len="med"/>
                    </a:lnR>
                    <a:lnT w="12700" cap="flat" cmpd="sng" algn="ctr">
                      <a:solidFill>
                        <a:srgbClr val="034EA2"/>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EAEAEA"/>
                    </a:solidFill>
                  </a:tcPr>
                </a:tc>
                <a:extLst>
                  <a:ext uri="{0D108BD9-81ED-4DB2-BD59-A6C34878D82A}">
                    <a16:rowId xmlns:a16="http://schemas.microsoft.com/office/drawing/2014/main" val="10000"/>
                  </a:ext>
                </a:extLst>
              </a:tr>
              <a:tr h="422083">
                <a:tc vMerge="1">
                  <a:txBody>
                    <a:bodyPr/>
                    <a:lstStyle/>
                    <a:p>
                      <a:pPr latinLnBrk="1"/>
                      <a:endParaRPr lang="ko-KR" altLang="en-US"/>
                    </a:p>
                  </a:txBody>
                  <a:tcPr/>
                </a:tc>
                <a:tc vMerge="1">
                  <a:txBody>
                    <a:bodyPr/>
                    <a:lstStyle/>
                    <a:p>
                      <a:pPr latinLnBrk="1"/>
                      <a:endParaRPr lang="ko-KR" altLang="en-US"/>
                    </a:p>
                  </a:txBody>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20000"/>
                        </a:lnSpc>
                        <a:spcBef>
                          <a:spcPct val="20000"/>
                        </a:spcBef>
                        <a:spcAft>
                          <a:spcPct val="0"/>
                        </a:spcAft>
                        <a:buClrTx/>
                        <a:buSzTx/>
                        <a:buFontTx/>
                        <a:buNone/>
                        <a:tabLst/>
                      </a:pPr>
                      <a:r>
                        <a:rPr kumimoji="1" lang="en-US" sz="1200" b="0" i="0" u="none" strike="noStrike" kern="1200" cap="none" normalizeH="0" baseline="0" dirty="0">
                          <a:ln>
                            <a:noFill/>
                          </a:ln>
                          <a:solidFill>
                            <a:schemeClr val="tx1"/>
                          </a:solidFill>
                          <a:effectLst/>
                          <a:latin typeface="+mn-lt"/>
                          <a:ea typeface="LG스마트체 Regular" panose="020B0600000101010101" pitchFamily="50" charset="-127"/>
                          <a:cs typeface="+mn-cs"/>
                        </a:rPr>
                        <a:t>Application</a:t>
                      </a:r>
                      <a:endParaRPr kumimoji="1" lang="ko-KR" altLang="en-US" sz="12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91438" marR="91438"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EAEAEA"/>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20000"/>
                        </a:lnSpc>
                        <a:spcBef>
                          <a:spcPct val="2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mn-lt"/>
                          <a:ea typeface="LG스마트체 Regular" panose="020B0600000101010101" pitchFamily="50" charset="-127"/>
                        </a:rPr>
                        <a:t>Network</a:t>
                      </a:r>
                    </a:p>
                  </a:txBody>
                  <a:tcPr marL="91438" marR="91438"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EAEAEA"/>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20000"/>
                        </a:lnSpc>
                        <a:spcBef>
                          <a:spcPct val="2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mn-lt"/>
                          <a:ea typeface="LG스마트체 Regular" panose="020B0600000101010101" pitchFamily="50" charset="-127"/>
                        </a:rPr>
                        <a:t>Server</a:t>
                      </a:r>
                    </a:p>
                  </a:txBody>
                  <a:tcPr marL="91438" marR="91438"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EAEAEA"/>
                    </a:solidFill>
                  </a:tcPr>
                </a:tc>
                <a:tc vMerge="1">
                  <a:txBody>
                    <a:bodyPr/>
                    <a:lstStyle/>
                    <a:p>
                      <a:pPr latinLnBrk="1"/>
                      <a:endParaRPr lang="ko-KR" altLang="en-US"/>
                    </a:p>
                  </a:txBody>
                  <a:tcPr/>
                </a:tc>
                <a:extLst>
                  <a:ext uri="{0D108BD9-81ED-4DB2-BD59-A6C34878D82A}">
                    <a16:rowId xmlns:a16="http://schemas.microsoft.com/office/drawing/2014/main" val="10001"/>
                  </a:ext>
                </a:extLst>
              </a:tr>
              <a:tr h="1886207">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20000"/>
                        </a:lnSpc>
                        <a:spcBef>
                          <a:spcPct val="2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mn-lt"/>
                          <a:ea typeface="LG스마트체 Regular" panose="020B0600000101010101" pitchFamily="50" charset="-127"/>
                        </a:rPr>
                        <a:t>1</a:t>
                      </a:r>
                      <a:r>
                        <a:rPr kumimoji="1" lang="en-US" altLang="ko-KR" sz="1200" b="0" i="0" u="none" strike="noStrike" cap="none" normalizeH="0" baseline="30000" dirty="0">
                          <a:ln>
                            <a:noFill/>
                          </a:ln>
                          <a:solidFill>
                            <a:schemeClr val="tx1"/>
                          </a:solidFill>
                          <a:effectLst/>
                          <a:latin typeface="+mn-lt"/>
                          <a:ea typeface="LG스마트체 Regular" panose="020B0600000101010101" pitchFamily="50" charset="-127"/>
                        </a:rPr>
                        <a:t>st</a:t>
                      </a:r>
                      <a:r>
                        <a:rPr kumimoji="1" lang="en-US" altLang="ko-KR" sz="1200" b="0" i="0" u="none" strike="noStrike" cap="none" normalizeH="0" baseline="0" dirty="0">
                          <a:ln>
                            <a:noFill/>
                          </a:ln>
                          <a:solidFill>
                            <a:schemeClr val="tx1"/>
                          </a:solidFill>
                          <a:effectLst/>
                          <a:latin typeface="+mn-lt"/>
                          <a:ea typeface="LG스마트체 Regular" panose="020B0600000101010101" pitchFamily="50" charset="-127"/>
                        </a:rPr>
                        <a:t> Grade</a:t>
                      </a:r>
                    </a:p>
                    <a:p>
                      <a:pPr marL="0" marR="0" lvl="0" indent="0" algn="ctr" defTabSz="914400" rtl="0" eaLnBrk="1" fontAlgn="base" latinLnBrk="1" hangingPunct="1">
                        <a:lnSpc>
                          <a:spcPct val="120000"/>
                        </a:lnSpc>
                        <a:spcBef>
                          <a:spcPct val="2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mn-lt"/>
                          <a:ea typeface="LG스마트체 Regular" panose="020B0600000101010101" pitchFamily="50" charset="-127"/>
                        </a:rPr>
                        <a:t>(Level1)</a:t>
                      </a:r>
                    </a:p>
                  </a:txBody>
                  <a:tcPr marL="91438" marR="91438" marT="45722" marB="45722" anchor="ctr" horzOverflow="overflow">
                    <a:lnL w="12700" cap="flat" cmpd="sng" algn="ctr">
                      <a:solidFill>
                        <a:srgbClr val="034EA2"/>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EAEAEA"/>
                    </a:solidFill>
                  </a:tcPr>
                </a:tc>
                <a:tc>
                  <a:txBody>
                    <a:bodyPr/>
                    <a:lstStyle>
                      <a:lvl1pPr marL="85725" marR="0" indent="-85725" algn="l" defTabSz="914400" rtl="0" eaLnBrk="1" latinLnBrk="1" hangingPunct="1">
                        <a:lnSpc>
                          <a:spcPct val="100000"/>
                        </a:lnSpc>
                        <a:spcBef>
                          <a:spcPct val="10000"/>
                        </a:spcBef>
                        <a:spcAft>
                          <a:spcPts val="0"/>
                        </a:spcAft>
                        <a:buClr>
                          <a:srgbClr val="000000"/>
                        </a:buClr>
                        <a:buFont typeface="Arial"/>
                        <a:tabLst>
                          <a:tab pos="85725" algn="l"/>
                        </a:tabLst>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tabLst>
                          <a:tab pos="85725" algn="l"/>
                        </a:tabLst>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tabLst>
                          <a:tab pos="85725" algn="l"/>
                        </a:tabLst>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tabLst>
                          <a:tab pos="857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tabLst>
                          <a:tab pos="857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tabLst>
                          <a:tab pos="857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tabLst>
                          <a:tab pos="857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tabLst>
                          <a:tab pos="857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tabLst>
                          <a:tab pos="857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85725" marR="0" lvl="0" indent="-85725" algn="l" defTabSz="914400" rtl="0" eaLnBrk="1" fontAlgn="base" latinLnBrk="1" hangingPunct="1">
                        <a:lnSpc>
                          <a:spcPct val="120000"/>
                        </a:lnSpc>
                        <a:spcBef>
                          <a:spcPct val="20000"/>
                        </a:spcBef>
                        <a:spcAft>
                          <a:spcPct val="0"/>
                        </a:spcAft>
                        <a:buClrTx/>
                        <a:buSzTx/>
                        <a:buFontTx/>
                        <a:buChar char="•"/>
                        <a:tabLst>
                          <a:tab pos="85725" algn="l"/>
                        </a:tabLst>
                      </a:pP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Critical service issues are those that result in commercial losses, operational disruptions, and negative impacts on both customers and our company's reputation.</a:t>
                      </a:r>
                      <a:b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b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 In instances where there is a high likelihood of media exposure or significant media exposure</a:t>
                      </a:r>
                      <a:b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b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 In situations where there is a potential for legal violations</a:t>
                      </a:r>
                    </a:p>
                    <a:p>
                      <a:pPr marL="85725" marR="0" lvl="0" indent="-85725" algn="l" defTabSz="914400" rtl="0" eaLnBrk="1" fontAlgn="base" latinLnBrk="1" hangingPunct="1">
                        <a:lnSpc>
                          <a:spcPct val="120000"/>
                        </a:lnSpc>
                        <a:spcBef>
                          <a:spcPct val="20000"/>
                        </a:spcBef>
                        <a:spcAft>
                          <a:spcPct val="0"/>
                        </a:spcAft>
                        <a:buClrTx/>
                        <a:buSzTx/>
                        <a:buFontTx/>
                        <a:buChar char="•"/>
                        <a:tabLst>
                          <a:tab pos="85725" algn="l"/>
                        </a:tabLst>
                      </a:pP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Service disruptions resulting in operational losses for both our company and the customer.</a:t>
                      </a:r>
                      <a:endPar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p>
                      <a:pPr marL="85725" marR="0" lvl="0" indent="-85725" algn="l" defTabSz="914400" rtl="0" eaLnBrk="1" fontAlgn="base" latinLnBrk="1" hangingPunct="1">
                        <a:lnSpc>
                          <a:spcPct val="120000"/>
                        </a:lnSpc>
                        <a:spcBef>
                          <a:spcPct val="20000"/>
                        </a:spcBef>
                        <a:spcAft>
                          <a:spcPct val="0"/>
                        </a:spcAft>
                        <a:buClrTx/>
                        <a:buSzTx/>
                        <a:buFontTx/>
                        <a:buChar char="•"/>
                        <a:tabLst>
                          <a:tab pos="85725" algn="l"/>
                        </a:tabLst>
                      </a:pP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Cases where service interruptions and system failures impact other systems.</a:t>
                      </a:r>
                      <a:endPar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91438" marR="91438"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FFFFFF"/>
                    </a:solidFill>
                  </a:tcPr>
                </a:tc>
                <a:tc>
                  <a:txBody>
                    <a:bodyPr/>
                    <a:lstStyle>
                      <a:lvl1pPr marL="85725" marR="0" indent="-85725" algn="l" defTabSz="914400" rtl="0" eaLnBrk="1" latinLnBrk="1" hangingPunct="1">
                        <a:lnSpc>
                          <a:spcPct val="100000"/>
                        </a:lnSpc>
                        <a:spcBef>
                          <a:spcPct val="10000"/>
                        </a:spcBef>
                        <a:spcAft>
                          <a:spcPts val="0"/>
                        </a:spcAft>
                        <a:buClr>
                          <a:srgbClr val="000000"/>
                        </a:buClr>
                        <a:buFont typeface="Arial"/>
                        <a:tabLst>
                          <a:tab pos="85725" algn="l"/>
                        </a:tabLst>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tabLst>
                          <a:tab pos="85725" algn="l"/>
                        </a:tabLst>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tabLst>
                          <a:tab pos="85725" algn="l"/>
                        </a:tabLst>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tabLst>
                          <a:tab pos="857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tabLst>
                          <a:tab pos="857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tabLst>
                          <a:tab pos="857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tabLst>
                          <a:tab pos="857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tabLst>
                          <a:tab pos="857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tabLst>
                          <a:tab pos="85725" algn="l"/>
                        </a:tabLst>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85725" marR="0" lvl="0" indent="-85725" algn="l" defTabSz="914400" rtl="0" eaLnBrk="1" fontAlgn="base" latinLnBrk="1" hangingPunct="1">
                        <a:lnSpc>
                          <a:spcPct val="120000"/>
                        </a:lnSpc>
                        <a:spcBef>
                          <a:spcPct val="20000"/>
                        </a:spcBef>
                        <a:spcAft>
                          <a:spcPct val="0"/>
                        </a:spcAft>
                        <a:buClrTx/>
                        <a:buSzTx/>
                        <a:buFontTx/>
                        <a:buChar char="•"/>
                        <a:tabLst>
                          <a:tab pos="85725" algn="l"/>
                        </a:tabLst>
                      </a:pP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Disruption of entire transactions across two or more modules.</a:t>
                      </a:r>
                    </a:p>
                    <a:p>
                      <a:pPr marL="85725" marR="0" lvl="0" indent="-85725" algn="l" defTabSz="914400" rtl="0" eaLnBrk="1" fontAlgn="base" latinLnBrk="1" hangingPunct="1">
                        <a:lnSpc>
                          <a:spcPct val="120000"/>
                        </a:lnSpc>
                        <a:spcBef>
                          <a:spcPct val="20000"/>
                        </a:spcBef>
                        <a:spcAft>
                          <a:spcPct val="0"/>
                        </a:spcAft>
                        <a:buClrTx/>
                        <a:buSzTx/>
                        <a:buFontTx/>
                        <a:buChar char="•"/>
                        <a:tabLst>
                          <a:tab pos="85725" algn="l"/>
                        </a:tabLst>
                      </a:pP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Disruption of interfaces</a:t>
                      </a:r>
                    </a:p>
                    <a:p>
                      <a:pPr marL="85725" marR="0" lvl="0" indent="-85725" algn="l" defTabSz="914400" rtl="0" eaLnBrk="1" fontAlgn="base" latinLnBrk="1" hangingPunct="1">
                        <a:lnSpc>
                          <a:spcPct val="120000"/>
                        </a:lnSpc>
                        <a:spcBef>
                          <a:spcPct val="20000"/>
                        </a:spcBef>
                        <a:spcAft>
                          <a:spcPct val="0"/>
                        </a:spcAft>
                        <a:buClrTx/>
                        <a:buSzTx/>
                        <a:buFontTx/>
                        <a:buChar char="•"/>
                        <a:tabLst>
                          <a:tab pos="85725" algn="l"/>
                        </a:tabLst>
                      </a:pP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No availability issues, but abnormal behavior.</a:t>
                      </a:r>
                      <a:endPar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71998" marR="0"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FFFFFF"/>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85725" marR="0" lvl="0" indent="-85725" algn="l" defTabSz="914400" rtl="0" eaLnBrk="1" fontAlgn="base" latinLnBrk="1" hangingPunct="1">
                        <a:lnSpc>
                          <a:spcPct val="120000"/>
                        </a:lnSpc>
                        <a:spcBef>
                          <a:spcPct val="20000"/>
                        </a:spcBef>
                        <a:spcAft>
                          <a:spcPct val="0"/>
                        </a:spcAft>
                        <a:buClrTx/>
                        <a:buSzPct val="50000"/>
                        <a:buFont typeface="Wingdings" panose="05000000000000000000" pitchFamily="2" charset="2"/>
                        <a:buChar char="l"/>
                        <a:tabLst/>
                      </a:pPr>
                      <a:r>
                        <a:rPr kumimoji="1" lang="ko-KR" altLang="en-US" sz="1100" b="0" i="0" u="none" strike="noStrike" cap="none" normalizeH="0" baseline="0" dirty="0">
                          <a:ln>
                            <a:noFill/>
                          </a:ln>
                          <a:solidFill>
                            <a:schemeClr val="tx1"/>
                          </a:solidFill>
                          <a:effectLst/>
                          <a:latin typeface="+mn-lt"/>
                          <a:ea typeface="LG스마트체 Regular" panose="020B0600000101010101" pitchFamily="50" charset="-127"/>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Domestic/International WAN Backbone</a:t>
                      </a:r>
                    </a:p>
                    <a:p>
                      <a:pPr marL="85725" marR="0" lvl="0" indent="-85725" algn="l" defTabSz="914400" rtl="0" eaLnBrk="1" fontAlgn="base" latinLnBrk="1" hangingPunct="1">
                        <a:lnSpc>
                          <a:spcPct val="120000"/>
                        </a:lnSpc>
                        <a:spcBef>
                          <a:spcPct val="20000"/>
                        </a:spcBef>
                        <a:spcAft>
                          <a:spcPct val="0"/>
                        </a:spcAft>
                        <a:buClrTx/>
                        <a:buSzPct val="50000"/>
                        <a:buFont typeface="Wingdings" panose="05000000000000000000" pitchFamily="2" charset="2"/>
                        <a:buChar char="l"/>
                        <a:tabLst/>
                      </a:pP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Network Center B/B </a:t>
                      </a:r>
                      <a:b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b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LAN</a:t>
                      </a:r>
                    </a:p>
                  </a:txBody>
                  <a:tcPr marL="71998" marR="0"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FFFFFF"/>
                    </a:solidFill>
                  </a:tcPr>
                </a:tc>
                <a:tc>
                  <a:txBody>
                    <a:bodyPr/>
                    <a:lstStyle>
                      <a:lvl1pPr marL="85725" marR="0" indent="-85725"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85725" marR="0" lvl="0" indent="-85725" algn="l" defTabSz="914400" rtl="0" eaLnBrk="1" fontAlgn="base" latinLnBrk="1" hangingPunct="1">
                        <a:lnSpc>
                          <a:spcPct val="120000"/>
                        </a:lnSpc>
                        <a:spcBef>
                          <a:spcPct val="20000"/>
                        </a:spcBef>
                        <a:spcAft>
                          <a:spcPct val="0"/>
                        </a:spcAft>
                        <a:buClrTx/>
                        <a:buSzPct val="50000"/>
                        <a:buFont typeface="Wingdings" panose="05000000000000000000" pitchFamily="2" charset="2"/>
                        <a:buChar char="l"/>
                        <a:tabLst/>
                      </a:pP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Operational systems directly related to the unique business of the business unit.</a:t>
                      </a:r>
                    </a:p>
                    <a:p>
                      <a:pPr marL="85725" marR="0" lvl="0" indent="-85725" algn="l" defTabSz="914400" rtl="0" eaLnBrk="1" fontAlgn="base" latinLnBrk="1" hangingPunct="1">
                        <a:lnSpc>
                          <a:spcPct val="120000"/>
                        </a:lnSpc>
                        <a:spcBef>
                          <a:spcPct val="20000"/>
                        </a:spcBef>
                        <a:spcAft>
                          <a:spcPct val="0"/>
                        </a:spcAft>
                        <a:buClrTx/>
                        <a:buSzPct val="50000"/>
                        <a:buFont typeface="Wingdings" panose="05000000000000000000" pitchFamily="2" charset="2"/>
                        <a:buChar char="l"/>
                        <a:tabLst/>
                      </a:pP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Operational systems directly related to overseas project systems.</a:t>
                      </a:r>
                    </a:p>
                    <a:p>
                      <a:pPr marL="85725" marR="0" lvl="0" indent="-85725" algn="l" defTabSz="914400" rtl="0" eaLnBrk="1" fontAlgn="base" latinLnBrk="1" hangingPunct="1">
                        <a:lnSpc>
                          <a:spcPct val="120000"/>
                        </a:lnSpc>
                        <a:spcBef>
                          <a:spcPct val="20000"/>
                        </a:spcBef>
                        <a:spcAft>
                          <a:spcPct val="0"/>
                        </a:spcAft>
                        <a:buClrTx/>
                        <a:buSzPct val="50000"/>
                        <a:buFont typeface="Wingdings" panose="05000000000000000000" pitchFamily="2" charset="2"/>
                        <a:buChar char="l"/>
                        <a:tabLst/>
                      </a:pP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Interface systems</a:t>
                      </a:r>
                    </a:p>
                    <a:p>
                      <a:pPr marL="85725" marR="0" lvl="0" indent="-85725" algn="l" defTabSz="914400" rtl="0" eaLnBrk="1" fontAlgn="base" latinLnBrk="1" hangingPunct="1">
                        <a:lnSpc>
                          <a:spcPct val="120000"/>
                        </a:lnSpc>
                        <a:spcBef>
                          <a:spcPct val="20000"/>
                        </a:spcBef>
                        <a:spcAft>
                          <a:spcPct val="0"/>
                        </a:spcAft>
                        <a:buClrTx/>
                        <a:buSzPct val="50000"/>
                        <a:buFont typeface="Wingdings" panose="05000000000000000000" pitchFamily="2" charset="2"/>
                        <a:buChar char="l"/>
                        <a:tabLst/>
                      </a:pP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Enterprise-wide common support systems</a:t>
                      </a:r>
                      <a:endPar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71998" marR="0"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FFFFFF"/>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20000"/>
                        </a:lnSpc>
                        <a:spcBef>
                          <a:spcPct val="20000"/>
                        </a:spcBef>
                        <a:spcAft>
                          <a:spcPct val="0"/>
                        </a:spcAft>
                        <a:buClrTx/>
                        <a:buSzTx/>
                        <a:buFontTx/>
                        <a:buNone/>
                        <a:tabLst/>
                      </a:pP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Within 2</a:t>
                      </a:r>
                    </a:p>
                    <a:p>
                      <a:pPr marL="0" marR="0" lvl="0" indent="0" algn="ctr" defTabSz="914400" rtl="0" eaLnBrk="1" fontAlgn="base" latinLnBrk="1" hangingPunct="1">
                        <a:lnSpc>
                          <a:spcPct val="120000"/>
                        </a:lnSpc>
                        <a:spcBef>
                          <a:spcPct val="20000"/>
                        </a:spcBef>
                        <a:spcAft>
                          <a:spcPct val="0"/>
                        </a:spcAft>
                        <a:buClrTx/>
                        <a:buSzTx/>
                        <a:buFontTx/>
                        <a:buNone/>
                        <a:tabLst/>
                      </a:pP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hours</a:t>
                      </a:r>
                      <a:endPar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91438" marR="91438" marT="45722" marB="45722" anchor="ctr" horzOverflow="overflow">
                    <a:lnL w="12700" cap="flat" cmpd="sng" algn="ctr">
                      <a:solidFill>
                        <a:srgbClr val="7F7F7F"/>
                      </a:solidFill>
                      <a:prstDash val="solid"/>
                      <a:round/>
                      <a:headEnd type="none" w="med" len="med"/>
                      <a:tailEnd type="none" w="med" len="med"/>
                    </a:lnL>
                    <a:lnR w="12700" cap="flat" cmpd="sng" algn="ctr">
                      <a:solidFill>
                        <a:srgbClr val="034EA2"/>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2"/>
                  </a:ext>
                </a:extLst>
              </a:tr>
              <a:tr h="1035435">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20000"/>
                        </a:lnSpc>
                        <a:spcBef>
                          <a:spcPct val="2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mn-lt"/>
                          <a:ea typeface="LG스마트체 Regular" panose="020B0600000101010101" pitchFamily="50" charset="-127"/>
                        </a:rPr>
                        <a:t>2</a:t>
                      </a:r>
                      <a:r>
                        <a:rPr kumimoji="1" lang="en-US" altLang="ko-KR" sz="1200" b="0" i="0" u="none" strike="noStrike" cap="none" normalizeH="0" baseline="30000" dirty="0">
                          <a:ln>
                            <a:noFill/>
                          </a:ln>
                          <a:solidFill>
                            <a:schemeClr val="tx1"/>
                          </a:solidFill>
                          <a:effectLst/>
                          <a:latin typeface="+mn-lt"/>
                          <a:ea typeface="LG스마트체 Regular" panose="020B0600000101010101" pitchFamily="50" charset="-127"/>
                        </a:rPr>
                        <a:t>nd</a:t>
                      </a:r>
                      <a:r>
                        <a:rPr kumimoji="1" lang="en-US" altLang="ko-KR" sz="1200" b="0" i="0" u="none" strike="noStrike" cap="none" normalizeH="0" baseline="0" dirty="0">
                          <a:ln>
                            <a:noFill/>
                          </a:ln>
                          <a:solidFill>
                            <a:schemeClr val="tx1"/>
                          </a:solidFill>
                          <a:effectLst/>
                          <a:latin typeface="+mn-lt"/>
                          <a:ea typeface="LG스마트체 Regular" panose="020B0600000101010101" pitchFamily="50" charset="-127"/>
                        </a:rPr>
                        <a:t> Grade</a:t>
                      </a:r>
                    </a:p>
                    <a:p>
                      <a:pPr marL="0" marR="0" lvl="0" indent="0" algn="ctr" defTabSz="914400" rtl="0" eaLnBrk="1" fontAlgn="base" latinLnBrk="1" hangingPunct="1">
                        <a:lnSpc>
                          <a:spcPct val="120000"/>
                        </a:lnSpc>
                        <a:spcBef>
                          <a:spcPct val="2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mn-lt"/>
                          <a:ea typeface="LG스마트체 Regular" panose="020B0600000101010101" pitchFamily="50" charset="-127"/>
                        </a:rPr>
                        <a:t>(Level2)</a:t>
                      </a:r>
                    </a:p>
                  </a:txBody>
                  <a:tcPr marL="91438" marR="91438" marT="45722" marB="45722" anchor="ctr" horzOverflow="overflow">
                    <a:lnL w="12700" cap="flat" cmpd="sng" algn="ctr">
                      <a:solidFill>
                        <a:srgbClr val="034EA2"/>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EAEAEA"/>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1" hangingPunct="1">
                        <a:lnSpc>
                          <a:spcPct val="120000"/>
                        </a:lnSpc>
                        <a:spcBef>
                          <a:spcPct val="20000"/>
                        </a:spcBef>
                        <a:spcAft>
                          <a:spcPct val="0"/>
                        </a:spcAft>
                        <a:buClrTx/>
                        <a:buSzTx/>
                        <a:buFontTx/>
                        <a:buChar char="•"/>
                        <a:tabLst/>
                      </a:pPr>
                      <a:r>
                        <a:rPr kumimoji="1" lang="ko-KR" altLang="en-US" sz="1100" b="0" i="0" u="none" strike="noStrike" cap="none" normalizeH="0" baseline="0" dirty="0">
                          <a:ln>
                            <a:noFill/>
                          </a:ln>
                          <a:solidFill>
                            <a:schemeClr val="tx1"/>
                          </a:solidFill>
                          <a:effectLst/>
                          <a:latin typeface="+mn-lt"/>
                          <a:ea typeface="LG스마트체 Regular" panose="020B0600000101010101" pitchFamily="50" charset="-127"/>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Non-Critical Service Issue</a:t>
                      </a:r>
                    </a:p>
                    <a:p>
                      <a:pPr marL="0" marR="0" lvl="0" indent="0" algn="l" defTabSz="914400" rtl="0" eaLnBrk="1" fontAlgn="base" latinLnBrk="1" hangingPunct="1">
                        <a:lnSpc>
                          <a:spcPct val="120000"/>
                        </a:lnSpc>
                        <a:spcBef>
                          <a:spcPct val="20000"/>
                        </a:spcBef>
                        <a:spcAft>
                          <a:spcPct val="0"/>
                        </a:spcAft>
                        <a:buClrTx/>
                        <a:buSzTx/>
                        <a:buFontTx/>
                        <a:buChar char="•"/>
                        <a:tabLst/>
                      </a:pPr>
                      <a:r>
                        <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If service is available through alternative systems.</a:t>
                      </a:r>
                      <a:endPar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p>
                      <a:pPr marL="0" marR="0" lvl="0" indent="0" algn="l" defTabSz="914400" rtl="0" eaLnBrk="1" fontAlgn="base" latinLnBrk="1" hangingPunct="1">
                        <a:lnSpc>
                          <a:spcPct val="120000"/>
                        </a:lnSpc>
                        <a:spcBef>
                          <a:spcPct val="20000"/>
                        </a:spcBef>
                        <a:spcAft>
                          <a:spcPct val="0"/>
                        </a:spcAft>
                        <a:buClrTx/>
                        <a:buSzTx/>
                        <a:buFontTx/>
                        <a:buNone/>
                        <a:tabLst/>
                      </a:pP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Manual work is not considered an alternative system (Level 1 incident).</a:t>
                      </a:r>
                      <a:endPar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91438" marR="91438"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FFFFFF"/>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1" hangingPunct="1">
                        <a:lnSpc>
                          <a:spcPct val="120000"/>
                        </a:lnSpc>
                        <a:spcBef>
                          <a:spcPct val="20000"/>
                        </a:spcBef>
                        <a:spcAft>
                          <a:spcPct val="0"/>
                        </a:spcAft>
                        <a:buClrTx/>
                        <a:buSzTx/>
                        <a:buFontTx/>
                        <a:buChar char="•"/>
                        <a:tabLst/>
                      </a:pPr>
                      <a:r>
                        <a:rPr kumimoji="1" lang="en-US" altLang="ko-KR" sz="1100" b="0" i="0" u="none" strike="noStrike" cap="none" normalizeH="0" baseline="0" dirty="0">
                          <a:ln>
                            <a:noFill/>
                          </a:ln>
                          <a:solidFill>
                            <a:schemeClr val="tx1"/>
                          </a:solidFill>
                          <a:effectLst/>
                          <a:latin typeface="+mn-lt"/>
                          <a:ea typeface="LG스마트체 Regular" panose="020B0600000101010101" pitchFamily="50" charset="-127"/>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Disruption of entire transactions across one or more modules</a:t>
                      </a:r>
                    </a:p>
                    <a:p>
                      <a:pPr marL="0" marR="0" lvl="0" indent="0" algn="l" defTabSz="914400" rtl="0" eaLnBrk="1" fontAlgn="base" latinLnBrk="1" hangingPunct="1">
                        <a:lnSpc>
                          <a:spcPct val="120000"/>
                        </a:lnSpc>
                        <a:spcBef>
                          <a:spcPct val="20000"/>
                        </a:spcBef>
                        <a:spcAft>
                          <a:spcPct val="0"/>
                        </a:spcAft>
                        <a:buClrTx/>
                        <a:buSzTx/>
                        <a:buFontTx/>
                        <a:buChar char="•"/>
                        <a:tabLst/>
                      </a:pP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Interface delay</a:t>
                      </a:r>
                    </a:p>
                    <a:p>
                      <a:pPr marL="0" marR="0" lvl="0" indent="0" algn="l" defTabSz="914400" rtl="0" eaLnBrk="1" fontAlgn="base" latinLnBrk="1" hangingPunct="1">
                        <a:lnSpc>
                          <a:spcPct val="120000"/>
                        </a:lnSpc>
                        <a:spcBef>
                          <a:spcPct val="20000"/>
                        </a:spcBef>
                        <a:spcAft>
                          <a:spcPct val="0"/>
                        </a:spcAft>
                        <a:buClrTx/>
                        <a:buSzTx/>
                        <a:buFontTx/>
                        <a:buChar char="•"/>
                        <a:tabLst/>
                      </a:pPr>
                      <a:r>
                        <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Delay in scheduled/agreed-upon tasks</a:t>
                      </a:r>
                      <a:endPar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71998" marR="0"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FFFFFF"/>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1" hangingPunct="1">
                        <a:lnSpc>
                          <a:spcPct val="120000"/>
                        </a:lnSpc>
                        <a:spcBef>
                          <a:spcPct val="20000"/>
                        </a:spcBef>
                        <a:spcAft>
                          <a:spcPct val="0"/>
                        </a:spcAft>
                        <a:buClrTx/>
                        <a:buSzTx/>
                        <a:buFontTx/>
                        <a:buChar char="•"/>
                        <a:tabLst/>
                      </a:pPr>
                      <a:r>
                        <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Domestic/International Tail WAN issue</a:t>
                      </a:r>
                    </a:p>
                    <a:p>
                      <a:pPr marL="0" marR="0" lvl="0" indent="0" algn="l" defTabSz="914400" rtl="0" eaLnBrk="1" fontAlgn="base" latinLnBrk="1" hangingPunct="1">
                        <a:lnSpc>
                          <a:spcPct val="120000"/>
                        </a:lnSpc>
                        <a:spcBef>
                          <a:spcPct val="20000"/>
                        </a:spcBef>
                        <a:spcAft>
                          <a:spcPct val="0"/>
                        </a:spcAft>
                        <a:buClrTx/>
                        <a:buSzTx/>
                        <a:buFontTx/>
                        <a:buChar char="•"/>
                        <a:tabLst/>
                      </a:pPr>
                      <a:r>
                        <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Domestic/International Site LAN issue</a:t>
                      </a:r>
                      <a:endPar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p>
                      <a:pPr marL="0" marR="0" lvl="0" indent="0" algn="l" defTabSz="914400" rtl="0" eaLnBrk="1" fontAlgn="base" latinLnBrk="1" hangingPunct="1">
                        <a:lnSpc>
                          <a:spcPct val="120000"/>
                        </a:lnSpc>
                        <a:spcBef>
                          <a:spcPct val="20000"/>
                        </a:spcBef>
                        <a:spcAft>
                          <a:spcPct val="0"/>
                        </a:spcAft>
                        <a:buClrTx/>
                        <a:buSzTx/>
                        <a:buFontTx/>
                        <a:buChar char="•"/>
                        <a:tabLst/>
                      </a:pPr>
                      <a:r>
                        <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Firewall H/W issue</a:t>
                      </a:r>
                    </a:p>
                    <a:p>
                      <a:pPr marL="0" marR="0" lvl="0" indent="0" algn="l" defTabSz="914400" rtl="0" eaLnBrk="1" fontAlgn="base" latinLnBrk="1" hangingPunct="1">
                        <a:lnSpc>
                          <a:spcPct val="120000"/>
                        </a:lnSpc>
                        <a:spcBef>
                          <a:spcPct val="20000"/>
                        </a:spcBef>
                        <a:spcAft>
                          <a:spcPct val="0"/>
                        </a:spcAft>
                        <a:buClrTx/>
                        <a:buSzTx/>
                        <a:buFontTx/>
                        <a:buChar char="•"/>
                        <a:tabLst/>
                      </a:pPr>
                      <a:r>
                        <a:rPr kumimoji="1" lang="ko-KR" altLang="en-US" sz="1100" b="0" i="0" u="none" strike="noStrike" cap="none" normalizeH="0" baseline="0" dirty="0">
                          <a:ln>
                            <a:noFill/>
                          </a:ln>
                          <a:solidFill>
                            <a:schemeClr val="tx1"/>
                          </a:solidFill>
                          <a:effectLst/>
                          <a:latin typeface="+mn-lt"/>
                          <a:ea typeface="LG스마트체 Regular" panose="020B0600000101010101" pitchFamily="50" charset="-127"/>
                        </a:rPr>
                        <a:t> </a:t>
                      </a:r>
                      <a:r>
                        <a:rPr kumimoji="1" lang="en-US" altLang="ko-KR" sz="1100" b="0" i="0" u="none" strike="noStrike" cap="none" normalizeH="0" baseline="0" dirty="0">
                          <a:ln>
                            <a:noFill/>
                          </a:ln>
                          <a:solidFill>
                            <a:schemeClr val="tx1"/>
                          </a:solidFill>
                          <a:effectLst/>
                          <a:latin typeface="+mn-lt"/>
                          <a:ea typeface="LG스마트체 Regular" panose="020B0600000101010101" pitchFamily="50" charset="-127"/>
                        </a:rPr>
                        <a:t>DNS/Mail Relay issue</a:t>
                      </a:r>
                      <a:endParaRPr kumimoji="1" lang="ko-KR" altLang="en-US" sz="1100" b="0" i="0" u="none" strike="noStrike" cap="none" normalizeH="0" baseline="0" dirty="0">
                        <a:ln>
                          <a:noFill/>
                        </a:ln>
                        <a:solidFill>
                          <a:schemeClr val="tx1"/>
                        </a:solidFill>
                        <a:effectLst/>
                        <a:latin typeface="+mn-lt"/>
                        <a:ea typeface="LG스마트체 Regular" panose="020B0600000101010101" pitchFamily="50" charset="-127"/>
                      </a:endParaRPr>
                    </a:p>
                  </a:txBody>
                  <a:tcPr marL="71998" marR="0"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FFFFFF"/>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1" hangingPunct="1">
                        <a:lnSpc>
                          <a:spcPct val="120000"/>
                        </a:lnSpc>
                        <a:spcBef>
                          <a:spcPct val="20000"/>
                        </a:spcBef>
                        <a:spcAft>
                          <a:spcPct val="0"/>
                        </a:spcAft>
                        <a:buClrTx/>
                        <a:buSzTx/>
                        <a:buFontTx/>
                        <a:buChar char="•"/>
                        <a:tabLst/>
                      </a:pPr>
                      <a:r>
                        <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Business support systems</a:t>
                      </a:r>
                    </a:p>
                    <a:p>
                      <a:pPr marL="0" marR="0" lvl="0" indent="0" algn="l" defTabSz="914400" rtl="0" eaLnBrk="1" fontAlgn="base" latinLnBrk="1" hangingPunct="1">
                        <a:lnSpc>
                          <a:spcPct val="120000"/>
                        </a:lnSpc>
                        <a:spcBef>
                          <a:spcPct val="20000"/>
                        </a:spcBef>
                        <a:spcAft>
                          <a:spcPct val="0"/>
                        </a:spcAft>
                        <a:buClrTx/>
                        <a:buSzTx/>
                        <a:buFontTx/>
                        <a:buChar char="•"/>
                        <a:tabLst/>
                      </a:pP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Non-business systems</a:t>
                      </a:r>
                      <a:endPar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71998" marR="0"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FFFFFF"/>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20000"/>
                        </a:lnSpc>
                        <a:spcBef>
                          <a:spcPct val="20000"/>
                        </a:spcBef>
                        <a:spcAft>
                          <a:spcPct val="0"/>
                        </a:spcAft>
                        <a:buClrTx/>
                        <a:buSzTx/>
                        <a:buFontTx/>
                        <a:buNone/>
                        <a:tabLst/>
                      </a:pP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Within 4</a:t>
                      </a:r>
                    </a:p>
                    <a:p>
                      <a:pPr marL="0" marR="0" lvl="0" indent="0" algn="ctr" defTabSz="914400" rtl="0" eaLnBrk="1" fontAlgn="base" latinLnBrk="1" hangingPunct="1">
                        <a:lnSpc>
                          <a:spcPct val="120000"/>
                        </a:lnSpc>
                        <a:spcBef>
                          <a:spcPct val="20000"/>
                        </a:spcBef>
                        <a:spcAft>
                          <a:spcPct val="0"/>
                        </a:spcAft>
                        <a:buClrTx/>
                        <a:buSzTx/>
                        <a:buFontTx/>
                        <a:buNone/>
                        <a:tabLst/>
                      </a:pP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hours</a:t>
                      </a:r>
                      <a:endPar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91438" marR="91438" marT="45722" marB="45722" anchor="ctr" horzOverflow="overflow">
                    <a:lnL w="12700" cap="flat" cmpd="sng" algn="ctr">
                      <a:solidFill>
                        <a:srgbClr val="7F7F7F"/>
                      </a:solidFill>
                      <a:prstDash val="solid"/>
                      <a:round/>
                      <a:headEnd type="none" w="med" len="med"/>
                      <a:tailEnd type="none" w="med" len="med"/>
                    </a:lnL>
                    <a:lnR w="12700" cap="flat" cmpd="sng" algn="ctr">
                      <a:solidFill>
                        <a:srgbClr val="034EA2"/>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7F7F7F"/>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3"/>
                  </a:ext>
                </a:extLst>
              </a:tr>
              <a:tr h="884846">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20000"/>
                        </a:lnSpc>
                        <a:spcBef>
                          <a:spcPct val="2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mn-lt"/>
                          <a:ea typeface="LG스마트체 Regular" panose="020B0600000101010101" pitchFamily="50" charset="-127"/>
                        </a:rPr>
                        <a:t>3</a:t>
                      </a:r>
                      <a:r>
                        <a:rPr kumimoji="1" lang="en-US" altLang="ko-KR" sz="1200" b="0" i="0" u="none" strike="noStrike" cap="none" normalizeH="0" baseline="30000" dirty="0">
                          <a:ln>
                            <a:noFill/>
                          </a:ln>
                          <a:solidFill>
                            <a:schemeClr val="tx1"/>
                          </a:solidFill>
                          <a:effectLst/>
                          <a:latin typeface="+mn-lt"/>
                          <a:ea typeface="LG스마트체 Regular" panose="020B0600000101010101" pitchFamily="50" charset="-127"/>
                        </a:rPr>
                        <a:t>rd</a:t>
                      </a:r>
                      <a:r>
                        <a:rPr kumimoji="1" lang="en-US" altLang="ko-KR" sz="1200" b="0" i="0" u="none" strike="noStrike" cap="none" normalizeH="0" baseline="0" dirty="0">
                          <a:ln>
                            <a:noFill/>
                          </a:ln>
                          <a:solidFill>
                            <a:schemeClr val="tx1"/>
                          </a:solidFill>
                          <a:effectLst/>
                          <a:latin typeface="+mn-lt"/>
                          <a:ea typeface="LG스마트체 Regular" panose="020B0600000101010101" pitchFamily="50" charset="-127"/>
                        </a:rPr>
                        <a:t> Grade</a:t>
                      </a:r>
                    </a:p>
                    <a:p>
                      <a:pPr marL="0" marR="0" lvl="0" indent="0" algn="ctr" defTabSz="914400" rtl="0" eaLnBrk="1" fontAlgn="base" latinLnBrk="1" hangingPunct="1">
                        <a:lnSpc>
                          <a:spcPct val="120000"/>
                        </a:lnSpc>
                        <a:spcBef>
                          <a:spcPct val="20000"/>
                        </a:spcBef>
                        <a:spcAft>
                          <a:spcPct val="0"/>
                        </a:spcAft>
                        <a:buClrTx/>
                        <a:buSzTx/>
                        <a:buFontTx/>
                        <a:buNone/>
                        <a:tabLst/>
                      </a:pPr>
                      <a:r>
                        <a:rPr kumimoji="1" lang="en-US" altLang="ko-KR" sz="1200" b="0" i="0" u="none" strike="noStrike" cap="none" normalizeH="0" baseline="0" dirty="0">
                          <a:ln>
                            <a:noFill/>
                          </a:ln>
                          <a:solidFill>
                            <a:schemeClr val="tx1"/>
                          </a:solidFill>
                          <a:effectLst/>
                          <a:latin typeface="+mn-lt"/>
                          <a:ea typeface="LG스마트체 Regular" panose="020B0600000101010101" pitchFamily="50" charset="-127"/>
                        </a:rPr>
                        <a:t>(Level3)</a:t>
                      </a:r>
                    </a:p>
                  </a:txBody>
                  <a:tcPr marL="91438" marR="91438" marT="45722" marB="45722" anchor="ctr" horzOverflow="overflow">
                    <a:lnL w="12700" cap="flat" cmpd="sng" algn="ctr">
                      <a:solidFill>
                        <a:srgbClr val="034EA2"/>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34EA2"/>
                      </a:solidFill>
                      <a:prstDash val="solid"/>
                      <a:round/>
                      <a:headEnd type="none" w="med" len="med"/>
                      <a:tailEnd type="none" w="med" len="med"/>
                    </a:lnB>
                    <a:lnTlToBr>
                      <a:noFill/>
                    </a:lnTlToBr>
                    <a:lnBlToTr>
                      <a:noFill/>
                    </a:lnBlToTr>
                    <a:solidFill>
                      <a:srgbClr val="EAEAEA"/>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1" hangingPunct="1">
                        <a:lnSpc>
                          <a:spcPct val="120000"/>
                        </a:lnSpc>
                        <a:spcBef>
                          <a:spcPct val="20000"/>
                        </a:spcBef>
                        <a:spcAft>
                          <a:spcPct val="0"/>
                        </a:spcAft>
                        <a:buClrTx/>
                        <a:buSzTx/>
                        <a:buFontTx/>
                        <a:buChar char="•"/>
                        <a:tabLst/>
                      </a:pP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Interruption of individual program transactions</a:t>
                      </a:r>
                      <a:endPar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p>
                      <a:pPr marL="0" marR="0" lvl="0" indent="0" algn="l" defTabSz="914400" rtl="0" eaLnBrk="1" fontAlgn="base" latinLnBrk="1" hangingPunct="1">
                        <a:lnSpc>
                          <a:spcPct val="120000"/>
                        </a:lnSpc>
                        <a:spcBef>
                          <a:spcPct val="20000"/>
                        </a:spcBef>
                        <a:spcAft>
                          <a:spcPct val="0"/>
                        </a:spcAft>
                        <a:buClrTx/>
                        <a:buSzTx/>
                        <a:buFontTx/>
                        <a:buChar char="•"/>
                        <a:tabLst/>
                      </a:pP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Minor disruptions affecting business operations</a:t>
                      </a:r>
                      <a:endPar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p>
                      <a:pPr marL="0" marR="0" lvl="0" indent="0" algn="l" defTabSz="914400" rtl="0" eaLnBrk="1" fontAlgn="base" latinLnBrk="1" hangingPunct="1">
                        <a:lnSpc>
                          <a:spcPct val="120000"/>
                        </a:lnSpc>
                        <a:spcBef>
                          <a:spcPct val="20000"/>
                        </a:spcBef>
                        <a:spcAft>
                          <a:spcPct val="0"/>
                        </a:spcAft>
                        <a:buClrTx/>
                        <a:buSzTx/>
                        <a:buFontTx/>
                        <a:buChar char="•"/>
                        <a:tabLst/>
                      </a:pP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Service not completely disrupted but experiencing some functional errors</a:t>
                      </a:r>
                      <a:endPar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91438" marR="91438"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34EA2"/>
                      </a:solidFill>
                      <a:prstDash val="solid"/>
                      <a:round/>
                      <a:headEnd type="none" w="med" len="med"/>
                      <a:tailEnd type="none" w="med" len="med"/>
                    </a:lnB>
                    <a:lnTlToBr>
                      <a:noFill/>
                    </a:lnTlToBr>
                    <a:lnBlToTr>
                      <a:noFill/>
                    </a:lnBlToTr>
                    <a:solidFill>
                      <a:srgbClr val="FFFFFF"/>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1" hangingPunct="1">
                        <a:lnSpc>
                          <a:spcPct val="120000"/>
                        </a:lnSpc>
                        <a:spcBef>
                          <a:spcPct val="20000"/>
                        </a:spcBef>
                        <a:spcAft>
                          <a:spcPct val="0"/>
                        </a:spcAft>
                        <a:buClrTx/>
                        <a:buSzTx/>
                        <a:buFontTx/>
                        <a:buChar char="•"/>
                        <a:tabLst/>
                      </a:pPr>
                      <a:r>
                        <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I</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nterruption of individual program transactions</a:t>
                      </a:r>
                      <a:r>
                        <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endParaRPr kumimoji="1" lang="vi-VN"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p>
                      <a:pPr marL="0" marR="0" lvl="0" indent="0" algn="l" defTabSz="914400" rtl="0" eaLnBrk="1" fontAlgn="base" latinLnBrk="1" hangingPunct="1">
                        <a:lnSpc>
                          <a:spcPct val="120000"/>
                        </a:lnSpc>
                        <a:spcBef>
                          <a:spcPct val="20000"/>
                        </a:spcBef>
                        <a:spcAft>
                          <a:spcPct val="0"/>
                        </a:spcAft>
                        <a:buClrTx/>
                        <a:buSzTx/>
                        <a:buFontTx/>
                        <a:buChar char="•"/>
                        <a:tabLst/>
                      </a:pP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Regular tasks not executed</a:t>
                      </a:r>
                      <a:endPar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71998" marR="0"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34EA2"/>
                      </a:solidFill>
                      <a:prstDash val="solid"/>
                      <a:round/>
                      <a:headEnd type="none" w="med" len="med"/>
                      <a:tailEnd type="none" w="med" len="med"/>
                    </a:lnB>
                    <a:lnTlToBr>
                      <a:noFill/>
                    </a:lnTlToBr>
                    <a:lnBlToTr>
                      <a:noFill/>
                    </a:lnBlToTr>
                    <a:solidFill>
                      <a:srgbClr val="FFFFFF"/>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1" hangingPunct="1">
                        <a:lnSpc>
                          <a:spcPct val="120000"/>
                        </a:lnSpc>
                        <a:spcBef>
                          <a:spcPct val="20000"/>
                        </a:spcBef>
                        <a:spcAft>
                          <a:spcPct val="0"/>
                        </a:spcAft>
                        <a:buClrTx/>
                        <a:buSzTx/>
                        <a:buFontTx/>
                        <a:buChar char="•"/>
                        <a:tabLst/>
                      </a:pPr>
                      <a:r>
                        <a:rPr kumimoji="1" lang="ko-KR" altLang="en-US" sz="1100" b="0" i="0" u="none" strike="noStrike" cap="none" normalizeH="0" baseline="0" dirty="0">
                          <a:ln>
                            <a:noFill/>
                          </a:ln>
                          <a:solidFill>
                            <a:schemeClr val="tx1"/>
                          </a:solidFill>
                          <a:effectLst/>
                          <a:latin typeface="+mn-lt"/>
                          <a:ea typeface="LG스마트체 Regular" panose="020B0600000101010101" pitchFamily="50" charset="-127"/>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Unit Workgroup Network Issue</a:t>
                      </a:r>
                      <a:endPar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71998" marR="0"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34EA2"/>
                      </a:solidFill>
                      <a:prstDash val="solid"/>
                      <a:round/>
                      <a:headEnd type="none" w="med" len="med"/>
                      <a:tailEnd type="none" w="med" len="med"/>
                    </a:lnB>
                    <a:lnTlToBr>
                      <a:noFill/>
                    </a:lnTlToBr>
                    <a:lnBlToTr>
                      <a:noFill/>
                    </a:lnBlToTr>
                    <a:solidFill>
                      <a:srgbClr val="FFFFFF"/>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1" hangingPunct="1">
                        <a:lnSpc>
                          <a:spcPct val="120000"/>
                        </a:lnSpc>
                        <a:spcBef>
                          <a:spcPct val="20000"/>
                        </a:spcBef>
                        <a:spcAft>
                          <a:spcPct val="0"/>
                        </a:spcAft>
                        <a:buClrTx/>
                        <a:buSzTx/>
                        <a:buFontTx/>
                        <a:buChar char="•"/>
                        <a:tabLst/>
                      </a:pPr>
                      <a:r>
                        <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Specific departmental business system</a:t>
                      </a:r>
                    </a:p>
                    <a:p>
                      <a:pPr marL="0" marR="0" lvl="0" indent="0" algn="l" defTabSz="914400" rtl="0" eaLnBrk="1" fontAlgn="base" latinLnBrk="1" hangingPunct="1">
                        <a:lnSpc>
                          <a:spcPct val="120000"/>
                        </a:lnSpc>
                        <a:spcBef>
                          <a:spcPct val="20000"/>
                        </a:spcBef>
                        <a:spcAft>
                          <a:spcPct val="0"/>
                        </a:spcAft>
                        <a:buClrTx/>
                        <a:buSzTx/>
                        <a:buFontTx/>
                        <a:buChar char="•"/>
                        <a:tabLst/>
                      </a:pPr>
                      <a:r>
                        <a:rPr kumimoji="1" lang="en-US" altLang="ko-KR" sz="1100" b="0" i="0" u="none" strike="noStrike" kern="1200" cap="none" normalizeH="0" baseline="0" dirty="0">
                          <a:ln>
                            <a:noFill/>
                          </a:ln>
                          <a:solidFill>
                            <a:schemeClr val="tx1"/>
                          </a:solidFill>
                          <a:effectLst/>
                          <a:latin typeface="+mn-lt"/>
                          <a:ea typeface="LG스마트체 Regular" panose="020B0600000101010101" pitchFamily="50" charset="-127"/>
                          <a:cs typeface="+mn-cs"/>
                        </a:rPr>
                        <a:t> </a:t>
                      </a: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Promotional system for a unit department</a:t>
                      </a:r>
                      <a:endPar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71998" marR="0" marT="45722" marB="45722" anchor="ctr" horzOverflow="overflow">
                    <a:lnL w="12700" cap="flat" cmpd="sng" algn="ctr">
                      <a:solidFill>
                        <a:srgbClr val="7F7F7F"/>
                      </a:solidFill>
                      <a:prstDash val="solid"/>
                      <a:round/>
                      <a:headEnd type="none" w="med" len="med"/>
                      <a:tailEnd type="none" w="med" len="med"/>
                    </a:lnL>
                    <a:lnR w="12700" cap="flat" cmpd="sng" algn="ctr">
                      <a:solidFill>
                        <a:srgbClr val="7F7F7F"/>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34EA2"/>
                      </a:solidFill>
                      <a:prstDash val="solid"/>
                      <a:round/>
                      <a:headEnd type="none" w="med" len="med"/>
                      <a:tailEnd type="none" w="med" len="med"/>
                    </a:lnB>
                    <a:lnTlToBr>
                      <a:noFill/>
                    </a:lnTlToBr>
                    <a:lnBlToTr>
                      <a:noFill/>
                    </a:lnBlToTr>
                    <a:solidFill>
                      <a:srgbClr val="FFFFFF"/>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20000"/>
                        </a:lnSpc>
                        <a:spcBef>
                          <a:spcPct val="20000"/>
                        </a:spcBef>
                        <a:spcAft>
                          <a:spcPct val="0"/>
                        </a:spcAft>
                        <a:buClrTx/>
                        <a:buSzTx/>
                        <a:buFontTx/>
                        <a:buNone/>
                        <a:tabLst/>
                      </a:pP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Within 8</a:t>
                      </a:r>
                    </a:p>
                    <a:p>
                      <a:pPr marL="0" marR="0" lvl="0" indent="0" algn="ctr" defTabSz="914400" rtl="0" eaLnBrk="1" fontAlgn="base" latinLnBrk="1" hangingPunct="1">
                        <a:lnSpc>
                          <a:spcPct val="120000"/>
                        </a:lnSpc>
                        <a:spcBef>
                          <a:spcPct val="20000"/>
                        </a:spcBef>
                        <a:spcAft>
                          <a:spcPct val="0"/>
                        </a:spcAft>
                        <a:buClrTx/>
                        <a:buSzTx/>
                        <a:buFontTx/>
                        <a:buNone/>
                        <a:tabLst/>
                      </a:pPr>
                      <a:r>
                        <a:rPr kumimoji="1" 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rPr>
                        <a:t>hours</a:t>
                      </a:r>
                      <a:endParaRPr kumimoji="1" lang="ko-KR" altLang="en-US" sz="1100" b="0" i="0" u="none" strike="noStrike" kern="1200" cap="none" normalizeH="0" baseline="0" dirty="0">
                        <a:ln>
                          <a:noFill/>
                        </a:ln>
                        <a:solidFill>
                          <a:schemeClr val="tx1"/>
                        </a:solidFill>
                        <a:effectLst/>
                        <a:latin typeface="+mn-lt"/>
                        <a:ea typeface="LG스마트체 Regular" panose="020B0600000101010101" pitchFamily="50" charset="-127"/>
                        <a:cs typeface="+mn-cs"/>
                      </a:endParaRPr>
                    </a:p>
                  </a:txBody>
                  <a:tcPr marL="91438" marR="91438" marT="45722" marB="45722" anchor="ctr" horzOverflow="overflow">
                    <a:lnL w="12700" cap="flat" cmpd="sng" algn="ctr">
                      <a:solidFill>
                        <a:srgbClr val="7F7F7F"/>
                      </a:solidFill>
                      <a:prstDash val="solid"/>
                      <a:round/>
                      <a:headEnd type="none" w="med" len="med"/>
                      <a:tailEnd type="none" w="med" len="med"/>
                    </a:lnL>
                    <a:lnR w="12700" cap="flat" cmpd="sng" algn="ctr">
                      <a:solidFill>
                        <a:srgbClr val="034EA2"/>
                      </a:solidFill>
                      <a:prstDash val="solid"/>
                      <a:round/>
                      <a:headEnd type="none" w="med" len="med"/>
                      <a:tailEnd type="none" w="med" len="med"/>
                    </a:lnR>
                    <a:lnT w="12700" cap="flat" cmpd="sng" algn="ctr">
                      <a:solidFill>
                        <a:srgbClr val="7F7F7F"/>
                      </a:solidFill>
                      <a:prstDash val="solid"/>
                      <a:round/>
                      <a:headEnd type="none" w="med" len="med"/>
                      <a:tailEnd type="none" w="med" len="med"/>
                    </a:lnT>
                    <a:lnB w="12700" cap="flat" cmpd="sng" algn="ctr">
                      <a:solidFill>
                        <a:srgbClr val="034EA2"/>
                      </a:solidFill>
                      <a:prstDash val="solid"/>
                      <a:round/>
                      <a:headEnd type="none" w="med" len="med"/>
                      <a:tailEnd type="none" w="med" len="med"/>
                    </a:lnB>
                    <a:lnTlToBr>
                      <a:noFill/>
                    </a:lnTlToBr>
                    <a:lnBlToTr>
                      <a:noFill/>
                    </a:lnBlToTr>
                    <a:solidFill>
                      <a:srgbClr val="FFFFFF"/>
                    </a:solidFill>
                  </a:tcPr>
                </a:tc>
                <a:extLst>
                  <a:ext uri="{0D108BD9-81ED-4DB2-BD59-A6C34878D82A}">
                    <a16:rowId xmlns:a16="http://schemas.microsoft.com/office/drawing/2014/main" val="10004"/>
                  </a:ext>
                </a:extLst>
              </a:tr>
            </a:tbl>
          </a:graphicData>
        </a:graphic>
      </p:graphicFrame>
      <p:sp>
        <p:nvSpPr>
          <p:cNvPr id="7" name="TextBox 6">
            <a:extLst>
              <a:ext uri="{FF2B5EF4-FFF2-40B4-BE49-F238E27FC236}">
                <a16:creationId xmlns:a16="http://schemas.microsoft.com/office/drawing/2014/main" id="{F84A69E5-0017-7B79-2DA7-671006E20907}"/>
              </a:ext>
            </a:extLst>
          </p:cNvPr>
          <p:cNvSpPr txBox="1">
            <a:spLocks noChangeArrowheads="1"/>
          </p:cNvSpPr>
          <p:nvPr/>
        </p:nvSpPr>
        <p:spPr bwMode="auto">
          <a:xfrm>
            <a:off x="471657" y="981589"/>
            <a:ext cx="11248686" cy="27661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marL="182563" indent="-182563">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fontAlgn="base" latinLnBrk="1">
              <a:lnSpc>
                <a:spcPct val="120000"/>
              </a:lnSpc>
              <a:spcBef>
                <a:spcPct val="0"/>
              </a:spcBef>
              <a:spcAft>
                <a:spcPct val="0"/>
              </a:spcAft>
              <a:buClrTx/>
              <a:buFont typeface="Wingdings" panose="05000000000000000000" pitchFamily="2" charset="2"/>
              <a:buChar char="§"/>
            </a:pPr>
            <a:r>
              <a:rPr lang="en-US" sz="1100" kern="1200" dirty="0">
                <a:solidFill>
                  <a:srgbClr val="171616"/>
                </a:solidFill>
                <a:latin typeface="Segoe UI"/>
                <a:ea typeface="LG스마트체 Regular" panose="020B0600000101010101" pitchFamily="50" charset="-127"/>
                <a:cs typeface="+mn-cs"/>
              </a:rPr>
              <a:t>If there are no criteria for grading customer issues, we can determine the severity of the issue based on our own severity criteria and considering the impact on the customer.</a:t>
            </a:r>
            <a:endParaRPr lang="ko-KR" altLang="en-US" sz="1100" kern="1200" dirty="0">
              <a:solidFill>
                <a:srgbClr val="171616"/>
              </a:solidFill>
              <a:latin typeface="Segoe UI"/>
              <a:ea typeface="LG스마트체 Regular" panose="020B0600000101010101" pitchFamily="50" charset="-127"/>
              <a:cs typeface="+mn-cs"/>
            </a:endParaRPr>
          </a:p>
        </p:txBody>
      </p:sp>
    </p:spTree>
    <p:extLst>
      <p:ext uri="{BB962C8B-B14F-4D97-AF65-F5344CB8AC3E}">
        <p14:creationId xmlns:p14="http://schemas.microsoft.com/office/powerpoint/2010/main" val="24609491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31</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11233149" cy="584775"/>
            <a:chOff x="479425" y="461520"/>
            <a:chExt cx="11233149"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3" y="461520"/>
              <a:ext cx="11176311"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13. Standard Process </a:t>
              </a:r>
              <a:r>
                <a:rPr lang="en-US" sz="2400" b="1" dirty="0">
                  <a:solidFill>
                    <a:srgbClr val="212967"/>
                  </a:solidFill>
                  <a:latin typeface="Segoe UI" panose="020B0502040204020203" pitchFamily="34" charset="0"/>
                  <a:cs typeface="Segoe UI" panose="020B0502040204020203" pitchFamily="34" charset="0"/>
                </a:rPr>
                <a:t>- Issue/Failure Grading Criteria (3/3)</a:t>
              </a:r>
            </a:p>
          </p:txBody>
        </p:sp>
      </p:grpSp>
      <p:graphicFrame>
        <p:nvGraphicFramePr>
          <p:cNvPr id="8" name="표 5">
            <a:extLst>
              <a:ext uri="{FF2B5EF4-FFF2-40B4-BE49-F238E27FC236}">
                <a16:creationId xmlns:a16="http://schemas.microsoft.com/office/drawing/2014/main" id="{B36B527E-BCB5-7421-9576-F0987DBB97F6}"/>
              </a:ext>
            </a:extLst>
          </p:cNvPr>
          <p:cNvGraphicFramePr>
            <a:graphicFrameLocks noGrp="1"/>
          </p:cNvGraphicFramePr>
          <p:nvPr>
            <p:extLst>
              <p:ext uri="{D42A27DB-BD31-4B8C-83A1-F6EECF244321}">
                <p14:modId xmlns:p14="http://schemas.microsoft.com/office/powerpoint/2010/main" val="4025010696"/>
              </p:ext>
            </p:extLst>
          </p:nvPr>
        </p:nvGraphicFramePr>
        <p:xfrm>
          <a:off x="848042" y="1854172"/>
          <a:ext cx="10429971" cy="4203728"/>
        </p:xfrm>
        <a:graphic>
          <a:graphicData uri="http://schemas.openxmlformats.org/drawingml/2006/table">
            <a:tbl>
              <a:tblPr/>
              <a:tblGrid>
                <a:gridCol w="632063">
                  <a:extLst>
                    <a:ext uri="{9D8B030D-6E8A-4147-A177-3AD203B41FA5}">
                      <a16:colId xmlns:a16="http://schemas.microsoft.com/office/drawing/2014/main" val="20000"/>
                    </a:ext>
                  </a:extLst>
                </a:gridCol>
                <a:gridCol w="1017620">
                  <a:extLst>
                    <a:ext uri="{9D8B030D-6E8A-4147-A177-3AD203B41FA5}">
                      <a16:colId xmlns:a16="http://schemas.microsoft.com/office/drawing/2014/main" val="20001"/>
                    </a:ext>
                  </a:extLst>
                </a:gridCol>
                <a:gridCol w="1330045">
                  <a:extLst>
                    <a:ext uri="{9D8B030D-6E8A-4147-A177-3AD203B41FA5}">
                      <a16:colId xmlns:a16="http://schemas.microsoft.com/office/drawing/2014/main" val="20002"/>
                    </a:ext>
                  </a:extLst>
                </a:gridCol>
                <a:gridCol w="451475">
                  <a:extLst>
                    <a:ext uri="{9D8B030D-6E8A-4147-A177-3AD203B41FA5}">
                      <a16:colId xmlns:a16="http://schemas.microsoft.com/office/drawing/2014/main" val="20003"/>
                    </a:ext>
                  </a:extLst>
                </a:gridCol>
                <a:gridCol w="451473">
                  <a:extLst>
                    <a:ext uri="{9D8B030D-6E8A-4147-A177-3AD203B41FA5}">
                      <a16:colId xmlns:a16="http://schemas.microsoft.com/office/drawing/2014/main" val="20004"/>
                    </a:ext>
                  </a:extLst>
                </a:gridCol>
                <a:gridCol w="451475">
                  <a:extLst>
                    <a:ext uri="{9D8B030D-6E8A-4147-A177-3AD203B41FA5}">
                      <a16:colId xmlns:a16="http://schemas.microsoft.com/office/drawing/2014/main" val="20005"/>
                    </a:ext>
                  </a:extLst>
                </a:gridCol>
                <a:gridCol w="449631">
                  <a:extLst>
                    <a:ext uri="{9D8B030D-6E8A-4147-A177-3AD203B41FA5}">
                      <a16:colId xmlns:a16="http://schemas.microsoft.com/office/drawing/2014/main" val="20006"/>
                    </a:ext>
                  </a:extLst>
                </a:gridCol>
                <a:gridCol w="5646189">
                  <a:extLst>
                    <a:ext uri="{9D8B030D-6E8A-4147-A177-3AD203B41FA5}">
                      <a16:colId xmlns:a16="http://schemas.microsoft.com/office/drawing/2014/main" val="20007"/>
                    </a:ext>
                  </a:extLst>
                </a:gridCol>
              </a:tblGrid>
              <a:tr h="224431">
                <a:tc rowSpan="2">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구분</a:t>
                      </a:r>
                    </a:p>
                  </a:txBody>
                  <a:tcPr marL="36001" marR="36001" marT="36017" marB="36017" anchor="ctr" horzOverflow="overflow">
                    <a:lnL>
                      <a:noFill/>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rowSpan="2" gridSpan="2">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장애 영향 </a:t>
                      </a: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Factor</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rowSpan="2" hMerge="1">
                  <a:txBody>
                    <a:bodyPr/>
                    <a:lstStyle/>
                    <a:p>
                      <a:pPr latinLnBrk="1"/>
                      <a:endParaRPr lang="ko-KR" altLang="en-US"/>
                    </a:p>
                  </a:txBody>
                  <a:tcPr/>
                </a:tc>
                <a:tc gridSpan="4">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시스템 등급</a:t>
                      </a: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(Biz Impact)</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hMerge="1">
                  <a:txBody>
                    <a:bodyPr/>
                    <a:lstStyle/>
                    <a:p>
                      <a:pPr latinLnBrk="1"/>
                      <a:endParaRPr lang="ko-KR" altLang="en-US"/>
                    </a:p>
                  </a:txBody>
                  <a:tcPr/>
                </a:tc>
                <a:tc hMerge="1">
                  <a:txBody>
                    <a:bodyPr/>
                    <a:lstStyle/>
                    <a:p>
                      <a:pPr latinLnBrk="1"/>
                      <a:endParaRPr lang="ko-KR" altLang="en-US"/>
                    </a:p>
                  </a:txBody>
                  <a:tcPr/>
                </a:tc>
                <a:tc hMerge="1">
                  <a:txBody>
                    <a:bodyPr/>
                    <a:lstStyle/>
                    <a:p>
                      <a:pPr latinLnBrk="1"/>
                      <a:endParaRPr lang="ko-KR" altLang="en-US"/>
                    </a:p>
                  </a:txBody>
                  <a:tcPr/>
                </a:tc>
                <a:tc rowSpan="2">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장애 </a:t>
                      </a: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Check Point</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extLst>
                  <a:ext uri="{0D108BD9-81ED-4DB2-BD59-A6C34878D82A}">
                    <a16:rowId xmlns:a16="http://schemas.microsoft.com/office/drawing/2014/main" val="10000"/>
                  </a:ext>
                </a:extLst>
              </a:tr>
              <a:tr h="224431">
                <a:tc vMerge="1">
                  <a:txBody>
                    <a:bodyPr/>
                    <a:lstStyle/>
                    <a:p>
                      <a:pPr latinLnBrk="1"/>
                      <a:endParaRPr lang="ko-KR" altLang="en-US"/>
                    </a:p>
                  </a:txBody>
                  <a:tcPr/>
                </a:tc>
                <a:tc gridSpan="2" vMerge="1">
                  <a:txBody>
                    <a:bodyPr/>
                    <a:lstStyle/>
                    <a:p>
                      <a:pPr latinLnBrk="1"/>
                      <a:endParaRPr lang="ko-KR" altLang="en-US"/>
                    </a:p>
                  </a:txBody>
                  <a:tcPr/>
                </a:tc>
                <a:tc hMerge="1" vMerge="1">
                  <a:txBody>
                    <a:bodyPr/>
                    <a:lstStyle/>
                    <a:p>
                      <a:pPr latinLnBrk="1"/>
                      <a:endParaRPr lang="ko-KR" altLang="en-US"/>
                    </a:p>
                  </a:txBody>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4</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vMerge="1">
                  <a:txBody>
                    <a:bodyPr/>
                    <a:lstStyle/>
                    <a:p>
                      <a:pPr latinLnBrk="1"/>
                      <a:endParaRPr lang="ko-KR" altLang="en-US"/>
                    </a:p>
                  </a:txBody>
                  <a:tcPr/>
                </a:tc>
                <a:extLst>
                  <a:ext uri="{0D108BD9-81ED-4DB2-BD59-A6C34878D82A}">
                    <a16:rowId xmlns:a16="http://schemas.microsoft.com/office/drawing/2014/main" val="10001"/>
                  </a:ext>
                </a:extLst>
              </a:tr>
              <a:tr h="483508">
                <a:tc rowSpan="4">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Impact </a:t>
                      </a: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정도</a:t>
                      </a:r>
                      <a:endPar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a:noFill/>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gridSpan="2">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 </a:t>
                      </a: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영업적</a:t>
                      </a: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재정적 손실</a:t>
                      </a:r>
                      <a:endPar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5</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0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66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C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FFCC"/>
                    </a:solidFill>
                  </a:tcPr>
                </a:tc>
                <a:tc>
                  <a:txBody>
                    <a:bodyPr/>
                    <a:lstStyle>
                      <a:lvl1pPr marL="92075" marR="0" indent="-92075"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92075" marR="0" lvl="0" indent="-92075"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시스템 중단으로 고객의 </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Business</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의 영업 손실이 예상되는가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p>
                      <a:pPr marL="92075" marR="0" lvl="0" indent="-92075"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해당 장애로 고객의 재무적 손실이 예상되는가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a:t>
                      </a:r>
                    </a:p>
                    <a:p>
                      <a:pPr marL="92075" marR="0" lvl="0" indent="-92075"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해당 장애로 무작업이 발생하였는가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txBody>
                  <a:tcPr marL="71996" marR="36001" marT="36017" marB="36017" anchor="ctr" horzOverflow="overflow">
                    <a:lnL w="6350" cap="flat" cmpd="sng" algn="ctr">
                      <a:solidFill>
                        <a:srgbClr val="7F7F7F"/>
                      </a:solidFill>
                      <a:prstDash val="solid"/>
                      <a:round/>
                      <a:headEnd type="none" w="med" len="med"/>
                      <a:tailEnd type="none" w="med" len="med"/>
                    </a:lnL>
                    <a:lnR>
                      <a:noFill/>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46350">
                <a:tc vMerge="1">
                  <a:txBody>
                    <a:bodyPr/>
                    <a:lstStyle/>
                    <a:p>
                      <a:pPr latinLnBrk="1"/>
                      <a:endParaRPr lang="ko-KR" altLang="en-US"/>
                    </a:p>
                  </a:txBody>
                  <a:tcPr/>
                </a:tc>
                <a:tc gridSpan="2">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 </a:t>
                      </a: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브랜드 이미지 훼손</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hMerge="1">
                  <a:txBody>
                    <a:bodyPr/>
                    <a:lstStyle/>
                    <a:p>
                      <a:pPr latinLnBrk="1"/>
                      <a:endParaRPr lang="ko-KR" altLang="en-US"/>
                    </a:p>
                  </a:txBody>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5</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0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66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C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FFCC"/>
                    </a:solidFill>
                  </a:tcPr>
                </a:tc>
                <a:tc>
                  <a:txBody>
                    <a:bodyPr/>
                    <a:lstStyle>
                      <a:lvl1pPr marL="92075" marR="0" indent="-92075"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92075" marR="0" lvl="0" indent="-92075"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해당 장애가 언론에 노출되었거나 노출 가능성이 큰 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p>
                      <a:pPr marL="92075" marR="0" lvl="0" indent="-92075"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해당 장애로 법률적 소송이 예상되는가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txBody>
                  <a:tcPr marL="71996" marR="36001" marT="36017" marB="36017" anchor="ctr" horzOverflow="overflow">
                    <a:lnL w="6350" cap="flat" cmpd="sng" algn="ctr">
                      <a:solidFill>
                        <a:srgbClr val="7F7F7F"/>
                      </a:solidFill>
                      <a:prstDash val="solid"/>
                      <a:round/>
                      <a:headEnd type="none" w="med" len="med"/>
                      <a:tailEnd type="none" w="med" len="med"/>
                    </a:lnL>
                    <a:lnR>
                      <a:noFill/>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46350">
                <a:tc vMerge="1">
                  <a:txBody>
                    <a:bodyPr/>
                    <a:lstStyle/>
                    <a:p>
                      <a:pPr latinLnBrk="1"/>
                      <a:endParaRPr lang="ko-KR" altLang="en-US"/>
                    </a:p>
                  </a:txBody>
                  <a:tcPr/>
                </a:tc>
                <a:tc rowSpan="2">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a:t>
                      </a: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고객 업무</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핵심기능 업무중단</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66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C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FFCC"/>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FFCC"/>
                    </a:solidFill>
                  </a:tcPr>
                </a:tc>
                <a:tc>
                  <a:txBody>
                    <a:bodyPr/>
                    <a:lstStyle>
                      <a:lvl1pPr marL="92075" marR="0" indent="-92075"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92075" marR="0" lvl="0" indent="-92075"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해당 장애로 수작업으로 업무를</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핵심기능</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수행하는가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p>
                      <a:pPr marL="92075" marR="0" lvl="0" indent="-92075"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1"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해당 장애로 타 시스템에 영향을 주는가</a:t>
                      </a:r>
                      <a:r>
                        <a:rPr kumimoji="1"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(I/F </a:t>
                      </a:r>
                      <a:r>
                        <a:rPr kumimoji="1"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불가</a:t>
                      </a:r>
                      <a:r>
                        <a:rPr kumimoji="1"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Batch</a:t>
                      </a:r>
                      <a:r>
                        <a:rPr kumimoji="1"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작업 중단 등</a:t>
                      </a:r>
                      <a:r>
                        <a:rPr kumimoji="1"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71996" marR="36001" marT="36017" marB="36017" anchor="ctr" horzOverflow="overflow">
                    <a:lnL w="6350" cap="flat" cmpd="sng" algn="ctr">
                      <a:solidFill>
                        <a:srgbClr val="7F7F7F"/>
                      </a:solidFill>
                      <a:prstDash val="solid"/>
                      <a:round/>
                      <a:headEnd type="none" w="med" len="med"/>
                      <a:tailEnd type="none" w="med" len="med"/>
                    </a:lnL>
                    <a:lnR>
                      <a:noFill/>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483472">
                <a:tc vMerge="1">
                  <a:txBody>
                    <a:bodyPr/>
                    <a:lstStyle/>
                    <a:p>
                      <a:pPr latinLnBrk="1"/>
                      <a:endParaRPr lang="ko-KR" altLang="en-US"/>
                    </a:p>
                  </a:txBody>
                  <a:tcPr/>
                </a:tc>
                <a:tc vMerge="1">
                  <a:txBody>
                    <a:bodyPr/>
                    <a:lstStyle/>
                    <a:p>
                      <a:pPr latinLnBrk="1"/>
                      <a:endParaRPr lang="ko-KR" altLang="en-US"/>
                    </a:p>
                  </a:txBody>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업무 효율 저하</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C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90488" marR="0" indent="-90488"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90488" marR="0" lvl="0" indent="-90488"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해당 장애로 인한 업무를 대체 시스템으로 서비스 가능한가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수작업은 대체 시스템으로 간주하지 않음</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p>
                      <a:pPr marL="90488" marR="0" lvl="0" indent="-90488"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업무 중단은 없지만</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업무 처리가 지연되었는가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71996" marR="36001" marT="36017" marB="36017" anchor="ctr" horzOverflow="overflow">
                    <a:lnL w="6350" cap="flat" cmpd="sng" algn="ctr">
                      <a:solidFill>
                        <a:srgbClr val="7F7F7F"/>
                      </a:solidFill>
                      <a:prstDash val="solid"/>
                      <a:round/>
                      <a:headEnd type="none" w="med" len="med"/>
                      <a:tailEnd type="none" w="med" len="med"/>
                    </a:lnL>
                    <a:lnR>
                      <a:noFill/>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224431">
                <a:tc rowSpan="9">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Impact </a:t>
                      </a: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범위</a:t>
                      </a:r>
                    </a:p>
                  </a:txBody>
                  <a:tcPr marL="36001" marR="36001" marT="36017" marB="36017" anchor="ctr" horzOverflow="overflow">
                    <a:lnL>
                      <a:noFill/>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rowSpan="3">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4.</a:t>
                      </a: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사용자</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외부고객</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5</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0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66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C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FFCC"/>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a:t>
                      </a:r>
                      <a:r>
                        <a:rPr kumimoji="0" lang="ko-KR" altLang="en-US" sz="900" b="0" i="0" u="none" strike="noStrike" cap="none" normalizeH="0" baseline="0" dirty="0" err="1">
                          <a:ln>
                            <a:noFill/>
                          </a:ln>
                          <a:solidFill>
                            <a:schemeClr val="tx1"/>
                          </a:solidFill>
                          <a:effectLst/>
                          <a:latin typeface="Arial" panose="020B0604020202020204" pitchFamily="34" charset="0"/>
                          <a:ea typeface="LG스마트체 Regular" panose="020B0600000101010101" pitchFamily="50" charset="-127"/>
                        </a:rPr>
                        <a:t>對</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고객 서비스 시스템인가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?(B2C)</a:t>
                      </a:r>
                    </a:p>
                  </a:txBody>
                  <a:tcPr marL="71996" marR="36001" marT="36017" marB="36017" anchor="ctr" horzOverflow="overflow">
                    <a:lnL w="6350" cap="flat" cmpd="sng" algn="ctr">
                      <a:solidFill>
                        <a:srgbClr val="7F7F7F"/>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239486">
                <a:tc vMerge="1">
                  <a:txBody>
                    <a:bodyPr/>
                    <a:lstStyle/>
                    <a:p>
                      <a:pPr latinLnBrk="1"/>
                      <a:endParaRPr lang="ko-KR" altLang="en-US"/>
                    </a:p>
                  </a:txBody>
                  <a:tcPr/>
                </a:tc>
                <a:tc vMerge="1">
                  <a:txBody>
                    <a:bodyPr/>
                    <a:lstStyle/>
                    <a:p>
                      <a:pPr latinLnBrk="1"/>
                      <a:endParaRPr lang="ko-KR" altLang="en-US"/>
                    </a:p>
                  </a:txBody>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내부 사용자 전체</a:t>
                      </a:r>
                      <a:endPar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5</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0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66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FFCC"/>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FFCC"/>
                    </a:solidFill>
                  </a:tcPr>
                </a:tc>
                <a:tc>
                  <a:txBody>
                    <a:bodyPr/>
                    <a:lstStyle>
                      <a:lvl1pPr marL="92075" marR="0" indent="-92075"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92075" marR="0" lvl="0" indent="-92075"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고객의 </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Main</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시스템으로 고객사 대부분의 사용자가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임직원 </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50%)</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영향을 받는가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txBody>
                  <a:tcPr marL="71996" marR="36001" marT="36017" marB="36017" anchor="ctr" horzOverflow="overflow">
                    <a:lnL w="6350" cap="flat" cmpd="sng" algn="ctr">
                      <a:solidFill>
                        <a:srgbClr val="7F7F7F"/>
                      </a:solidFill>
                      <a:prstDash val="solid"/>
                      <a:round/>
                      <a:headEnd type="none" w="med" len="med"/>
                      <a:tailEnd type="none" w="med" len="med"/>
                    </a:lnL>
                    <a:lnR>
                      <a:noFill/>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239486">
                <a:tc vMerge="1">
                  <a:txBody>
                    <a:bodyPr/>
                    <a:lstStyle/>
                    <a:p>
                      <a:pPr latinLnBrk="1"/>
                      <a:endParaRPr lang="ko-KR" altLang="en-US"/>
                    </a:p>
                  </a:txBody>
                  <a:tcPr/>
                </a:tc>
                <a:tc vMerge="1">
                  <a:txBody>
                    <a:bodyPr/>
                    <a:lstStyle/>
                    <a:p>
                      <a:pPr latinLnBrk="1"/>
                      <a:endParaRPr lang="ko-KR" altLang="en-US"/>
                    </a:p>
                  </a:txBody>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내부 사용자 일부</a:t>
                      </a:r>
                      <a:endPar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C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FFCC"/>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a:txBody>
                    <a:bodyPr/>
                    <a:lstStyle>
                      <a:lvl1pPr marL="92075" marR="0" indent="-92075"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92075" marR="0" lvl="0" indent="-92075"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50%</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이하 사용자가 영향을 받는가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txBody>
                  <a:tcPr marL="71996" marR="36001" marT="36017" marB="36017" anchor="ctr" horzOverflow="overflow">
                    <a:lnL w="6350" cap="flat" cmpd="sng" algn="ctr">
                      <a:solidFill>
                        <a:srgbClr val="7F7F7F"/>
                      </a:solidFill>
                      <a:prstDash val="solid"/>
                      <a:round/>
                      <a:headEnd type="none" w="med" len="med"/>
                      <a:tailEnd type="none" w="med" len="med"/>
                    </a:lnL>
                    <a:lnR>
                      <a:noFill/>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239486">
                <a:tc vMerge="1">
                  <a:txBody>
                    <a:bodyPr/>
                    <a:lstStyle/>
                    <a:p>
                      <a:pPr latinLnBrk="1"/>
                      <a:endParaRPr lang="ko-KR" altLang="en-US"/>
                    </a:p>
                  </a:txBody>
                  <a:tcPr/>
                </a:tc>
                <a:tc rowSpan="3">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5.</a:t>
                      </a: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시스템</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Critical </a:t>
                      </a: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타 시스템</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5</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0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5</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0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5</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0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C000"/>
                    </a:solidFill>
                  </a:tcPr>
                </a:tc>
                <a:tc>
                  <a:txBody>
                    <a:bodyPr/>
                    <a:lstStyle>
                      <a:lvl1pPr marL="92075" marR="0" indent="-92075"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92075" marR="0" lvl="0" indent="-92075"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해당 장애로 다른 </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Critical</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시스템에</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등급시스템</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영향을 주는가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p>
                  </a:txBody>
                  <a:tcPr marL="71996" marR="36001" marT="36017" marB="36017" anchor="ctr" horzOverflow="overflow">
                    <a:lnL w="6350" cap="flat" cmpd="sng" algn="ctr">
                      <a:solidFill>
                        <a:srgbClr val="7F7F7F"/>
                      </a:solidFill>
                      <a:prstDash val="solid"/>
                      <a:round/>
                      <a:headEnd type="none" w="med" len="med"/>
                      <a:tailEnd type="none" w="med" len="med"/>
                    </a:lnL>
                    <a:lnR>
                      <a:noFill/>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239486">
                <a:tc vMerge="1">
                  <a:txBody>
                    <a:bodyPr/>
                    <a:lstStyle/>
                    <a:p>
                      <a:pPr latinLnBrk="1"/>
                      <a:endParaRPr lang="ko-KR" altLang="en-US"/>
                    </a:p>
                  </a:txBody>
                  <a:tcPr/>
                </a:tc>
                <a:tc vMerge="1">
                  <a:txBody>
                    <a:bodyPr/>
                    <a:lstStyle/>
                    <a:p>
                      <a:pPr latinLnBrk="1"/>
                      <a:endParaRPr lang="ko-KR" altLang="en-US"/>
                    </a:p>
                  </a:txBody>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시스템 내부 전체</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66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C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FFCC"/>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a:txBody>
                    <a:bodyPr/>
                    <a:lstStyle>
                      <a:lvl1pPr marL="92075" marR="0" indent="-92075"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92075" marR="0" lvl="0" indent="-92075"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해당 장애로 단일 시스템 전체에</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또는 생산라인 </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30%</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이상</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영향을 주는가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71996" marR="36001" marT="36017" marB="36017" anchor="ctr" horzOverflow="overflow">
                    <a:lnL w="6350" cap="flat" cmpd="sng" algn="ctr">
                      <a:solidFill>
                        <a:srgbClr val="7F7F7F"/>
                      </a:solidFill>
                      <a:prstDash val="solid"/>
                      <a:round/>
                      <a:headEnd type="none" w="med" len="med"/>
                      <a:tailEnd type="none" w="med" len="med"/>
                    </a:lnL>
                    <a:lnR>
                      <a:noFill/>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r h="239486">
                <a:tc vMerge="1">
                  <a:txBody>
                    <a:bodyPr/>
                    <a:lstStyle/>
                    <a:p>
                      <a:pPr latinLnBrk="1"/>
                      <a:endParaRPr lang="ko-KR" altLang="en-US"/>
                    </a:p>
                  </a:txBody>
                  <a:tcPr/>
                </a:tc>
                <a:tc vMerge="1">
                  <a:txBody>
                    <a:bodyPr/>
                    <a:lstStyle/>
                    <a:p>
                      <a:pPr latinLnBrk="1"/>
                      <a:endParaRPr lang="ko-KR" altLang="en-US"/>
                    </a:p>
                  </a:txBody>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시스템 단위 모듈</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C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FFCC"/>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해당 장애로 단일 시스템의 일부 모듈</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프로그램에</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생산라인 </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30%</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미만</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영향을 주는가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71996" marR="36001" marT="36017" marB="36017" anchor="ctr" horzOverflow="overflow">
                    <a:lnL w="6350" cap="flat" cmpd="sng" algn="ctr">
                      <a:solidFill>
                        <a:srgbClr val="7F7F7F"/>
                      </a:solidFill>
                      <a:prstDash val="solid"/>
                      <a:round/>
                      <a:headEnd type="none" w="med" len="med"/>
                      <a:tailEnd type="none" w="med" len="med"/>
                    </a:lnL>
                    <a:lnR>
                      <a:noFill/>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1"/>
                  </a:ext>
                </a:extLst>
              </a:tr>
              <a:tr h="224431">
                <a:tc vMerge="1">
                  <a:txBody>
                    <a:bodyPr/>
                    <a:lstStyle/>
                    <a:p>
                      <a:pPr latinLnBrk="1"/>
                      <a:endParaRPr lang="ko-KR" altLang="en-US"/>
                    </a:p>
                  </a:txBody>
                  <a:tcPr/>
                </a:tc>
                <a:tc rowSpan="3">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6. </a:t>
                      </a: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고객 인지 범위</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C-Level</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66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66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66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C000"/>
                    </a:solidFill>
                  </a:tcPr>
                </a:tc>
                <a:tc>
                  <a:txBody>
                    <a:bodyPr/>
                    <a:lstStyle>
                      <a:lvl1pPr marL="90488" marR="0" indent="-90488"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90488" marR="0" lvl="0" indent="-90488"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고객의 </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C-Level</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까지 보고</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r>
                        <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인지되었는가</a:t>
                      </a:r>
                      <a:r>
                        <a:rPr kumimoji="0" lang="en-US" altLang="ko-KR"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ko-KR" altLang="en-US" sz="9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71996" marR="36001" marT="36017" marB="36017" anchor="ctr" horzOverflow="overflow">
                    <a:lnL w="6350" cap="flat" cmpd="sng" algn="ctr">
                      <a:solidFill>
                        <a:srgbClr val="7F7F7F"/>
                      </a:solidFill>
                      <a:prstDash val="solid"/>
                      <a:round/>
                      <a:headEnd type="none" w="med" len="med"/>
                      <a:tailEnd type="none" w="med" len="med"/>
                    </a:lnL>
                    <a:lnR>
                      <a:noFill/>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2"/>
                  </a:ext>
                </a:extLst>
              </a:tr>
              <a:tr h="224431">
                <a:tc vMerge="1">
                  <a:txBody>
                    <a:bodyPr/>
                    <a:lstStyle/>
                    <a:p>
                      <a:pPr latinLnBrk="1"/>
                      <a:endParaRPr lang="ko-KR" altLang="en-US"/>
                    </a:p>
                  </a:txBody>
                  <a:tcPr/>
                </a:tc>
                <a:tc vMerge="1">
                  <a:txBody>
                    <a:bodyPr/>
                    <a:lstStyle/>
                    <a:p>
                      <a:pPr latinLnBrk="1"/>
                      <a:endParaRPr lang="ko-KR" altLang="en-US"/>
                    </a:p>
                  </a:txBody>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주요실무조직</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C000"/>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FFCC"/>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FFFFCC"/>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a:txBody>
                    <a:bodyPr/>
                    <a:lstStyle>
                      <a:lvl1pPr marL="90488" marR="0" indent="-90488"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90488" marR="0" lvl="0" indent="-90488"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해당 시스템 </a:t>
                      </a:r>
                      <a:r>
                        <a:rPr kumimoji="0" lang="ko-KR" altLang="en-US" sz="1000" b="0" i="0" u="none" strike="noStrike" cap="none" normalizeH="0" baseline="0" dirty="0" err="1">
                          <a:ln>
                            <a:noFill/>
                          </a:ln>
                          <a:solidFill>
                            <a:schemeClr val="tx1"/>
                          </a:solidFill>
                          <a:effectLst/>
                          <a:latin typeface="Arial" panose="020B0604020202020204" pitchFamily="34" charset="0"/>
                          <a:ea typeface="LG스마트체 Regular" panose="020B0600000101010101" pitchFamily="50" charset="-127"/>
                        </a:rPr>
                        <a:t>主</a:t>
                      </a: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시용 조직 또는 </a:t>
                      </a: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CIO </a:t>
                      </a: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조직</a:t>
                      </a: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정보전략</a:t>
                      </a: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71996" marR="36001" marT="36017" marB="36017" anchor="ctr" horzOverflow="overflow">
                    <a:lnL w="6350" cap="flat" cmpd="sng" algn="ctr">
                      <a:solidFill>
                        <a:srgbClr val="7F7F7F"/>
                      </a:solidFill>
                      <a:prstDash val="solid"/>
                      <a:round/>
                      <a:headEnd type="none" w="med" len="med"/>
                      <a:tailEnd type="none" w="med" len="med"/>
                    </a:lnL>
                    <a:lnR>
                      <a:noFill/>
                    </a:lnR>
                    <a:lnT w="6350" cap="flat" cmpd="sng" algn="ctr">
                      <a:solidFill>
                        <a:srgbClr val="7F7F7F"/>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3"/>
                  </a:ext>
                </a:extLst>
              </a:tr>
              <a:tr h="224431">
                <a:tc vMerge="1">
                  <a:txBody>
                    <a:bodyPr/>
                    <a:lstStyle/>
                    <a:p>
                      <a:pPr latinLnBrk="1"/>
                      <a:endParaRPr lang="ko-KR" altLang="en-US"/>
                    </a:p>
                  </a:txBody>
                  <a:tcPr/>
                </a:tc>
                <a:tc vMerge="1">
                  <a:txBody>
                    <a:bodyPr/>
                    <a:lstStyle/>
                    <a:p>
                      <a:pPr latinLnBrk="1"/>
                      <a:endParaRPr lang="ko-KR" altLang="en-US"/>
                    </a:p>
                  </a:txBody>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l" defTabSz="914400" rtl="0" eaLnBrk="1" fontAlgn="base" latinLnBrk="0" hangingPunct="1">
                        <a:lnSpc>
                          <a:spcPct val="100000"/>
                        </a:lnSpc>
                        <a:spcBef>
                          <a:spcPct val="0"/>
                        </a:spcBef>
                        <a:spcAft>
                          <a:spcPct val="0"/>
                        </a:spcAft>
                        <a:buClrTx/>
                        <a:buSzTx/>
                        <a:buFontTx/>
                        <a:buNone/>
                        <a:tabLst/>
                      </a:pPr>
                      <a:r>
                        <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일반 사용자</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FFFFCC"/>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ctr" latinLnBrk="0" hangingPunct="1">
                        <a:lnSpc>
                          <a:spcPct val="100000"/>
                        </a:lnSpc>
                        <a:spcBef>
                          <a:spcPct val="0"/>
                        </a:spcBef>
                        <a:spcAft>
                          <a:spcPct val="0"/>
                        </a:spcAft>
                        <a:buClrTx/>
                        <a:buSzTx/>
                        <a:buFontTx/>
                        <a:buNone/>
                        <a:tabLst/>
                      </a:pPr>
                      <a:r>
                        <a:rPr kumimoji="0" lang="en-US" altLang="ko-KR"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017" marB="36017"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90488" marR="0" indent="-90488"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90488" marR="0" lvl="0" indent="-90488" algn="l" defTabSz="914400" rtl="0" eaLnBrk="1" fontAlgn="ctr" latinLnBrk="0" hangingPunct="1">
                        <a:lnSpc>
                          <a:spcPct val="100000"/>
                        </a:lnSpc>
                        <a:spcBef>
                          <a:spcPct val="0"/>
                        </a:spcBef>
                        <a:spcAft>
                          <a:spcPct val="0"/>
                        </a:spcAft>
                        <a:buClrTx/>
                        <a:buSzTx/>
                        <a:buFont typeface="Arial" panose="020B0604020202020204" pitchFamily="34" charset="0"/>
                        <a:buChar char="•"/>
                        <a:tabLst/>
                      </a:pPr>
                      <a:endParaRPr kumimoji="0" lang="ko-KR" altLang="en-US" sz="10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71996" marR="36001" marT="36017" marB="36017" anchor="ctr" horzOverflow="overflow">
                    <a:lnL w="6350" cap="flat" cmpd="sng" algn="ctr">
                      <a:solidFill>
                        <a:srgbClr val="7F7F7F"/>
                      </a:solidFill>
                      <a:prstDash val="solid"/>
                      <a:round/>
                      <a:headEnd type="none" w="med" len="med"/>
                      <a:tailEnd type="none" w="med" len="med"/>
                    </a:lnL>
                    <a:lnR>
                      <a:noFill/>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4"/>
                  </a:ext>
                </a:extLst>
              </a:tr>
            </a:tbl>
          </a:graphicData>
        </a:graphic>
      </p:graphicFrame>
      <p:sp>
        <p:nvSpPr>
          <p:cNvPr id="9" name="TextBox 8">
            <a:extLst>
              <a:ext uri="{FF2B5EF4-FFF2-40B4-BE49-F238E27FC236}">
                <a16:creationId xmlns:a16="http://schemas.microsoft.com/office/drawing/2014/main" id="{C16E49E9-5ADE-0994-6CB0-0C528C3A0BB4}"/>
              </a:ext>
            </a:extLst>
          </p:cNvPr>
          <p:cNvSpPr txBox="1">
            <a:spLocks noChangeArrowheads="1"/>
          </p:cNvSpPr>
          <p:nvPr/>
        </p:nvSpPr>
        <p:spPr bwMode="auto">
          <a:xfrm>
            <a:off x="525780" y="976266"/>
            <a:ext cx="11298790" cy="6828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182563" indent="-182563" fontAlgn="base" latinLnBrk="1">
              <a:lnSpc>
                <a:spcPct val="120000"/>
              </a:lnSpc>
              <a:spcBef>
                <a:spcPct val="0"/>
              </a:spcBef>
              <a:spcAft>
                <a:spcPct val="0"/>
              </a:spcAft>
              <a:buFont typeface="Wingdings" panose="05000000000000000000" pitchFamily="2" charset="2"/>
              <a:buChar char="§"/>
              <a:defRPr kumimoji="1" sz="1100" b="1">
                <a:solidFill>
                  <a:schemeClr val="accent5"/>
                </a:solidFill>
                <a:ea typeface="LG스마트체 Regular" panose="020B0600000101010101" pitchFamily="50" charset="-127"/>
              </a:defRPr>
            </a:lvl1pPr>
            <a:lvl2pPr marL="742950" indent="-285750">
              <a:defRPr kumimoji="1">
                <a:latin typeface="굴림" panose="020B0600000101010101" pitchFamily="50" charset="-127"/>
                <a:ea typeface="굴림" panose="020B0600000101010101" pitchFamily="50" charset="-127"/>
              </a:defRPr>
            </a:lvl2pPr>
            <a:lvl3pPr marL="1143000" indent="-228600">
              <a:defRPr kumimoji="1">
                <a:latin typeface="굴림" panose="020B0600000101010101" pitchFamily="50" charset="-127"/>
                <a:ea typeface="굴림" panose="020B0600000101010101" pitchFamily="50" charset="-127"/>
              </a:defRPr>
            </a:lvl3pPr>
            <a:lvl4pPr marL="1600200" indent="-228600">
              <a:defRPr kumimoji="1">
                <a:latin typeface="굴림" panose="020B0600000101010101" pitchFamily="50" charset="-127"/>
                <a:ea typeface="굴림" panose="020B0600000101010101" pitchFamily="50" charset="-127"/>
              </a:defRPr>
            </a:lvl4pPr>
            <a:lvl5pPr marL="2057400" indent="-228600">
              <a:defRPr kumimoji="1">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latin typeface="굴림" panose="020B0600000101010101" pitchFamily="50" charset="-127"/>
                <a:ea typeface="굴림" panose="020B0600000101010101" pitchFamily="50" charset="-127"/>
              </a:defRPr>
            </a:lvl9pPr>
          </a:lstStyle>
          <a:p>
            <a:pPr>
              <a:buClrTx/>
            </a:pPr>
            <a:r>
              <a:rPr lang="en-US" altLang="ko-KR" b="0" kern="1200" dirty="0">
                <a:solidFill>
                  <a:srgbClr val="171616"/>
                </a:solidFill>
                <a:latin typeface="Segoe UI"/>
                <a:cs typeface="+mn-cs"/>
              </a:rPr>
              <a:t>Determining the severity of issue from Biz Impact perspective by integrating the impact Factor with System Importance Ratings.</a:t>
            </a:r>
          </a:p>
          <a:p>
            <a:pPr>
              <a:buClrTx/>
            </a:pPr>
            <a:r>
              <a:rPr lang="en-US" b="0" kern="1200" dirty="0">
                <a:solidFill>
                  <a:srgbClr val="171616"/>
                </a:solidFill>
                <a:latin typeface="Segoe UI"/>
                <a:cs typeface="+mn-cs"/>
              </a:rPr>
              <a:t>For organizations that have not defined ratings for each system, severity is assessed based on the seriousness of the incident using a checkpoint questionnaire, and assigned a corresponding score (0-5).</a:t>
            </a:r>
            <a:endParaRPr lang="ko-KR" altLang="en-US" b="0" kern="1200" dirty="0">
              <a:solidFill>
                <a:srgbClr val="171616"/>
              </a:solidFill>
              <a:latin typeface="Segoe UI"/>
              <a:cs typeface="+mn-cs"/>
            </a:endParaRPr>
          </a:p>
        </p:txBody>
      </p:sp>
      <p:sp>
        <p:nvSpPr>
          <p:cNvPr id="10" name="TextBox 8">
            <a:extLst>
              <a:ext uri="{FF2B5EF4-FFF2-40B4-BE49-F238E27FC236}">
                <a16:creationId xmlns:a16="http://schemas.microsoft.com/office/drawing/2014/main" id="{AF1AB403-8AB3-B3DA-B0A5-51AA1DC91B5C}"/>
              </a:ext>
            </a:extLst>
          </p:cNvPr>
          <p:cNvSpPr txBox="1">
            <a:spLocks noChangeArrowheads="1"/>
          </p:cNvSpPr>
          <p:nvPr/>
        </p:nvSpPr>
        <p:spPr bwMode="auto">
          <a:xfrm>
            <a:off x="760730" y="1543050"/>
            <a:ext cx="3474349" cy="276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marL="182563" indent="-182563" fontAlgn="base" latinLnBrk="1">
              <a:lnSpc>
                <a:spcPct val="120000"/>
              </a:lnSpc>
              <a:spcBef>
                <a:spcPct val="0"/>
              </a:spcBef>
              <a:spcAft>
                <a:spcPct val="0"/>
              </a:spcAft>
              <a:buFont typeface="Wingdings" panose="05000000000000000000" pitchFamily="2" charset="2"/>
              <a:buChar char="§"/>
              <a:defRPr kumimoji="1" sz="1100" b="1">
                <a:solidFill>
                  <a:schemeClr val="accent5"/>
                </a:solidFill>
                <a:ea typeface="LG스마트체 Regular" panose="020B0600000101010101" pitchFamily="50" charset="-127"/>
              </a:defRPr>
            </a:lvl1pPr>
            <a:lvl2pPr marL="742950" indent="-285750">
              <a:defRPr kumimoji="1">
                <a:latin typeface="굴림" panose="020B0600000101010101" pitchFamily="50" charset="-127"/>
                <a:ea typeface="굴림" panose="020B0600000101010101" pitchFamily="50" charset="-127"/>
              </a:defRPr>
            </a:lvl2pPr>
            <a:lvl3pPr marL="1143000" indent="-228600">
              <a:defRPr kumimoji="1">
                <a:latin typeface="굴림" panose="020B0600000101010101" pitchFamily="50" charset="-127"/>
                <a:ea typeface="굴림" panose="020B0600000101010101" pitchFamily="50" charset="-127"/>
              </a:defRPr>
            </a:lvl3pPr>
            <a:lvl4pPr marL="1600200" indent="-228600">
              <a:defRPr kumimoji="1">
                <a:latin typeface="굴림" panose="020B0600000101010101" pitchFamily="50" charset="-127"/>
                <a:ea typeface="굴림" panose="020B0600000101010101" pitchFamily="50" charset="-127"/>
              </a:defRPr>
            </a:lvl4pPr>
            <a:lvl5pPr marL="2057400" indent="-228600">
              <a:defRPr kumimoji="1">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latin typeface="굴림" panose="020B0600000101010101" pitchFamily="50" charset="-127"/>
                <a:ea typeface="굴림" panose="020B0600000101010101" pitchFamily="50" charset="-127"/>
              </a:defRPr>
            </a:lvl9pPr>
          </a:lstStyle>
          <a:p>
            <a:pPr marL="0" indent="0">
              <a:buClrTx/>
              <a:buFont typeface="Wingdings" panose="05000000000000000000" pitchFamily="2" charset="2"/>
              <a:buNone/>
            </a:pPr>
            <a:r>
              <a:rPr lang="en-US" altLang="ko-KR" b="0" kern="1200" dirty="0">
                <a:solidFill>
                  <a:srgbClr val="171616"/>
                </a:solidFill>
                <a:latin typeface="Segoe UI"/>
                <a:cs typeface="+mn-cs"/>
              </a:rPr>
              <a:t>Issue </a:t>
            </a:r>
            <a:r>
              <a:rPr lang="en-US" b="0" kern="1200" dirty="0">
                <a:solidFill>
                  <a:srgbClr val="171616"/>
                </a:solidFill>
                <a:latin typeface="Segoe UI"/>
                <a:cs typeface="+mn-cs"/>
              </a:rPr>
              <a:t>Severity Rating Table</a:t>
            </a:r>
            <a:endParaRPr lang="ko-KR" altLang="en-US" b="0" kern="1200" dirty="0">
              <a:solidFill>
                <a:srgbClr val="171616"/>
              </a:solidFill>
              <a:latin typeface="Segoe UI"/>
              <a:cs typeface="+mn-cs"/>
            </a:endParaRPr>
          </a:p>
        </p:txBody>
      </p:sp>
      <p:sp>
        <p:nvSpPr>
          <p:cNvPr id="11" name="직사각형 9">
            <a:extLst>
              <a:ext uri="{FF2B5EF4-FFF2-40B4-BE49-F238E27FC236}">
                <a16:creationId xmlns:a16="http://schemas.microsoft.com/office/drawing/2014/main" id="{481B91B2-1681-686F-4BD5-FFDB4B6147A3}"/>
              </a:ext>
            </a:extLst>
          </p:cNvPr>
          <p:cNvSpPr/>
          <p:nvPr/>
        </p:nvSpPr>
        <p:spPr>
          <a:xfrm>
            <a:off x="635317" y="1655784"/>
            <a:ext cx="125413" cy="125413"/>
          </a:xfrm>
          <a:prstGeom prst="rect">
            <a:avLst/>
          </a:prstGeom>
          <a:solidFill>
            <a:srgbClr val="000000"/>
          </a:solidFill>
          <a:ln w="25400" cap="flat" cmpd="sng" algn="ctr">
            <a:noFill/>
            <a:prstDash val="solid"/>
          </a:ln>
          <a:effectLst/>
        </p:spPr>
        <p:txBody>
          <a:bodyPr anchor="ct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fontAlgn="base" latinLnBrk="1">
              <a:spcBef>
                <a:spcPct val="0"/>
              </a:spcBef>
              <a:spcAft>
                <a:spcPct val="0"/>
              </a:spcAft>
              <a:buClrTx/>
              <a:buFontTx/>
              <a:buNone/>
              <a:defRPr/>
            </a:pPr>
            <a:endParaRPr lang="ko-KR" altLang="en-US" sz="1800" dirty="0">
              <a:solidFill>
                <a:srgbClr val="FFFFFF"/>
              </a:solidFill>
              <a:latin typeface="Arial" panose="020B0604020202020204" pitchFamily="34" charset="0"/>
              <a:ea typeface="LG스마트체 Regular" panose="020B0600000101010101" pitchFamily="50" charset="-127"/>
              <a:cs typeface="+mn-cs"/>
            </a:endParaRPr>
          </a:p>
        </p:txBody>
      </p:sp>
      <p:sp>
        <p:nvSpPr>
          <p:cNvPr id="12" name="TextBox 10">
            <a:extLst>
              <a:ext uri="{FF2B5EF4-FFF2-40B4-BE49-F238E27FC236}">
                <a16:creationId xmlns:a16="http://schemas.microsoft.com/office/drawing/2014/main" id="{F6170CD2-894E-CB1D-4F04-9C95A108F5E3}"/>
              </a:ext>
            </a:extLst>
          </p:cNvPr>
          <p:cNvSpPr txBox="1">
            <a:spLocks noChangeArrowheads="1"/>
          </p:cNvSpPr>
          <p:nvPr/>
        </p:nvSpPr>
        <p:spPr bwMode="auto">
          <a:xfrm>
            <a:off x="757555" y="6014939"/>
            <a:ext cx="4253087" cy="27642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indent="0" fontAlgn="base" latinLnBrk="1">
              <a:lnSpc>
                <a:spcPct val="120000"/>
              </a:lnSpc>
              <a:spcBef>
                <a:spcPct val="0"/>
              </a:spcBef>
              <a:spcAft>
                <a:spcPct val="0"/>
              </a:spcAft>
              <a:buFont typeface="Wingdings" panose="05000000000000000000" pitchFamily="2" charset="2"/>
              <a:buNone/>
              <a:defRPr kumimoji="1" sz="1100" b="1">
                <a:solidFill>
                  <a:schemeClr val="accent5"/>
                </a:solidFill>
                <a:ea typeface="LG스마트체 Regular" panose="020B0600000101010101" pitchFamily="50" charset="-127"/>
              </a:defRPr>
            </a:lvl1pPr>
            <a:lvl2pPr marL="742950" indent="-285750">
              <a:defRPr kumimoji="1">
                <a:latin typeface="굴림" panose="020B0600000101010101" pitchFamily="50" charset="-127"/>
                <a:ea typeface="굴림" panose="020B0600000101010101" pitchFamily="50" charset="-127"/>
              </a:defRPr>
            </a:lvl2pPr>
            <a:lvl3pPr marL="1143000" indent="-228600">
              <a:defRPr kumimoji="1">
                <a:latin typeface="굴림" panose="020B0600000101010101" pitchFamily="50" charset="-127"/>
                <a:ea typeface="굴림" panose="020B0600000101010101" pitchFamily="50" charset="-127"/>
              </a:defRPr>
            </a:lvl3pPr>
            <a:lvl4pPr marL="1600200" indent="-228600">
              <a:defRPr kumimoji="1">
                <a:latin typeface="굴림" panose="020B0600000101010101" pitchFamily="50" charset="-127"/>
                <a:ea typeface="굴림" panose="020B0600000101010101" pitchFamily="50" charset="-127"/>
              </a:defRPr>
            </a:lvl4pPr>
            <a:lvl5pPr marL="2057400" indent="-228600">
              <a:defRPr kumimoji="1">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latin typeface="굴림" panose="020B0600000101010101" pitchFamily="50" charset="-127"/>
                <a:ea typeface="굴림" panose="020B0600000101010101" pitchFamily="50" charset="-127"/>
              </a:defRPr>
            </a:lvl9pPr>
          </a:lstStyle>
          <a:p>
            <a:pPr>
              <a:buClrTx/>
            </a:pPr>
            <a:r>
              <a:rPr lang="en-US" b="0" kern="1200" dirty="0">
                <a:solidFill>
                  <a:srgbClr val="171616"/>
                </a:solidFill>
                <a:latin typeface="Segoe UI"/>
                <a:cs typeface="+mn-cs"/>
              </a:rPr>
              <a:t>Grade determination based on the total sum of Impact scores</a:t>
            </a:r>
            <a:endParaRPr lang="en-US" altLang="ko-KR" b="0" kern="1200" dirty="0">
              <a:solidFill>
                <a:srgbClr val="171616"/>
              </a:solidFill>
              <a:latin typeface="Segoe UI"/>
              <a:cs typeface="+mn-cs"/>
            </a:endParaRPr>
          </a:p>
        </p:txBody>
      </p:sp>
      <p:sp>
        <p:nvSpPr>
          <p:cNvPr id="13" name="TextBox 11">
            <a:extLst>
              <a:ext uri="{FF2B5EF4-FFF2-40B4-BE49-F238E27FC236}">
                <a16:creationId xmlns:a16="http://schemas.microsoft.com/office/drawing/2014/main" id="{C74F570B-DBFD-0E68-DDA3-8337B8C83AF0}"/>
              </a:ext>
            </a:extLst>
          </p:cNvPr>
          <p:cNvSpPr txBox="1">
            <a:spLocks noChangeArrowheads="1"/>
          </p:cNvSpPr>
          <p:nvPr/>
        </p:nvSpPr>
        <p:spPr bwMode="auto">
          <a:xfrm>
            <a:off x="6718617" y="6288088"/>
            <a:ext cx="3544888" cy="569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fontAlgn="base" latinLnBrk="1">
              <a:lnSpc>
                <a:spcPct val="150000"/>
              </a:lnSpc>
              <a:spcBef>
                <a:spcPct val="0"/>
              </a:spcBef>
              <a:spcAft>
                <a:spcPct val="0"/>
              </a:spcAft>
              <a:buClrTx/>
              <a:buFontTx/>
              <a:buNone/>
            </a:pPr>
            <a:r>
              <a:rPr lang="en-US" altLang="ko-KR" sz="1100" kern="1200" dirty="0">
                <a:solidFill>
                  <a:srgbClr val="0000FF"/>
                </a:solidFill>
                <a:latin typeface="Arial" panose="020B0604020202020204" pitchFamily="34" charset="0"/>
                <a:ea typeface="LG스마트체 Regular" panose="020B0600000101010101" pitchFamily="50" charset="-127"/>
                <a:cs typeface="+mn-cs"/>
              </a:rPr>
              <a:t>※ </a:t>
            </a:r>
            <a:r>
              <a:rPr lang="ko-KR" altLang="en-US" sz="1100" kern="1200" dirty="0">
                <a:solidFill>
                  <a:srgbClr val="0000FF"/>
                </a:solidFill>
                <a:latin typeface="Arial" panose="020B0604020202020204" pitchFamily="34" charset="0"/>
                <a:ea typeface="LG스마트체 Regular" panose="020B0600000101010101" pitchFamily="50" charset="-127"/>
                <a:cs typeface="+mn-cs"/>
              </a:rPr>
              <a:t>장애 복구 목표시간 초과 시 </a:t>
            </a:r>
            <a:r>
              <a:rPr lang="en-US" altLang="ko-KR" sz="1100" kern="1200" dirty="0">
                <a:solidFill>
                  <a:srgbClr val="0000FF"/>
                </a:solidFill>
                <a:latin typeface="Arial" panose="020B0604020202020204" pitchFamily="34" charset="0"/>
                <a:ea typeface="LG스마트체 Regular" panose="020B0600000101010101" pitchFamily="50" charset="-127"/>
                <a:cs typeface="+mn-cs"/>
              </a:rPr>
              <a:t>1</a:t>
            </a:r>
            <a:r>
              <a:rPr lang="ko-KR" altLang="en-US" sz="1100" kern="1200" dirty="0">
                <a:solidFill>
                  <a:srgbClr val="0000FF"/>
                </a:solidFill>
                <a:latin typeface="Arial" panose="020B0604020202020204" pitchFamily="34" charset="0"/>
                <a:ea typeface="LG스마트체 Regular" panose="020B0600000101010101" pitchFamily="50" charset="-127"/>
                <a:cs typeface="+mn-cs"/>
              </a:rPr>
              <a:t>등급 상향 조정</a:t>
            </a:r>
            <a:br>
              <a:rPr lang="en-US" altLang="ko-KR" sz="1100" kern="1200" dirty="0">
                <a:solidFill>
                  <a:srgbClr val="0000FF"/>
                </a:solidFill>
                <a:latin typeface="Arial" panose="020B0604020202020204" pitchFamily="34" charset="0"/>
                <a:ea typeface="LG스마트체 Regular" panose="020B0600000101010101" pitchFamily="50" charset="-127"/>
                <a:cs typeface="+mn-cs"/>
              </a:rPr>
            </a:br>
            <a:r>
              <a:rPr lang="en-US" altLang="ko-KR" sz="1100" kern="1200" dirty="0">
                <a:solidFill>
                  <a:srgbClr val="0000FF"/>
                </a:solidFill>
                <a:latin typeface="Arial" panose="020B0604020202020204" pitchFamily="34" charset="0"/>
                <a:ea typeface="LG스마트체 Regular" panose="020B0600000101010101" pitchFamily="50" charset="-127"/>
                <a:cs typeface="+mn-cs"/>
              </a:rPr>
              <a:t>     - 1</a:t>
            </a:r>
            <a:r>
              <a:rPr lang="ko-KR" altLang="en-US" sz="1100" kern="1200" dirty="0">
                <a:solidFill>
                  <a:srgbClr val="0000FF"/>
                </a:solidFill>
                <a:latin typeface="Arial" panose="020B0604020202020204" pitchFamily="34" charset="0"/>
                <a:ea typeface="LG스마트체 Regular" panose="020B0600000101010101" pitchFamily="50" charset="-127"/>
                <a:cs typeface="+mn-cs"/>
              </a:rPr>
              <a:t>등급 </a:t>
            </a:r>
            <a:r>
              <a:rPr lang="en-US" altLang="ko-KR" sz="1100" kern="1200" dirty="0">
                <a:solidFill>
                  <a:srgbClr val="0000FF"/>
                </a:solidFill>
                <a:latin typeface="Arial" panose="020B0604020202020204" pitchFamily="34" charset="0"/>
                <a:ea typeface="LG스마트체 Regular" panose="020B0600000101010101" pitchFamily="50" charset="-127"/>
                <a:cs typeface="+mn-cs"/>
              </a:rPr>
              <a:t>: 2</a:t>
            </a:r>
            <a:r>
              <a:rPr lang="ko-KR" altLang="en-US" sz="1100" kern="1200" dirty="0">
                <a:solidFill>
                  <a:srgbClr val="0000FF"/>
                </a:solidFill>
                <a:latin typeface="Arial" panose="020B0604020202020204" pitchFamily="34" charset="0"/>
                <a:ea typeface="LG스마트체 Regular" panose="020B0600000101010101" pitchFamily="50" charset="-127"/>
                <a:cs typeface="+mn-cs"/>
              </a:rPr>
              <a:t>시간  </a:t>
            </a:r>
            <a:r>
              <a:rPr lang="en-US" altLang="ko-KR" sz="1100" kern="1200" dirty="0">
                <a:solidFill>
                  <a:srgbClr val="0000FF"/>
                </a:solidFill>
                <a:latin typeface="Arial" panose="020B0604020202020204" pitchFamily="34" charset="0"/>
                <a:ea typeface="LG스마트체 Regular" panose="020B0600000101010101" pitchFamily="50" charset="-127"/>
                <a:cs typeface="+mn-cs"/>
              </a:rPr>
              <a:t>/ 2</a:t>
            </a:r>
            <a:r>
              <a:rPr lang="ko-KR" altLang="en-US" sz="1100" kern="1200" dirty="0">
                <a:solidFill>
                  <a:srgbClr val="0000FF"/>
                </a:solidFill>
                <a:latin typeface="Arial" panose="020B0604020202020204" pitchFamily="34" charset="0"/>
                <a:ea typeface="LG스마트체 Regular" panose="020B0600000101010101" pitchFamily="50" charset="-127"/>
                <a:cs typeface="+mn-cs"/>
              </a:rPr>
              <a:t>등급 </a:t>
            </a:r>
            <a:r>
              <a:rPr lang="en-US" altLang="ko-KR" sz="1100" kern="1200" dirty="0">
                <a:solidFill>
                  <a:srgbClr val="0000FF"/>
                </a:solidFill>
                <a:latin typeface="Arial" panose="020B0604020202020204" pitchFamily="34" charset="0"/>
                <a:ea typeface="LG스마트체 Regular" panose="020B0600000101010101" pitchFamily="50" charset="-127"/>
                <a:cs typeface="+mn-cs"/>
              </a:rPr>
              <a:t>: 4</a:t>
            </a:r>
            <a:r>
              <a:rPr lang="ko-KR" altLang="en-US" sz="1100" kern="1200" dirty="0">
                <a:solidFill>
                  <a:srgbClr val="0000FF"/>
                </a:solidFill>
                <a:latin typeface="Arial" panose="020B0604020202020204" pitchFamily="34" charset="0"/>
                <a:ea typeface="LG스마트체 Regular" panose="020B0600000101010101" pitchFamily="50" charset="-127"/>
                <a:cs typeface="+mn-cs"/>
              </a:rPr>
              <a:t>시간 </a:t>
            </a:r>
            <a:r>
              <a:rPr lang="en-US" altLang="ko-KR" sz="1100" kern="1200" dirty="0">
                <a:solidFill>
                  <a:srgbClr val="0000FF"/>
                </a:solidFill>
                <a:latin typeface="Arial" panose="020B0604020202020204" pitchFamily="34" charset="0"/>
                <a:ea typeface="LG스마트체 Regular" panose="020B0600000101010101" pitchFamily="50" charset="-127"/>
                <a:cs typeface="+mn-cs"/>
              </a:rPr>
              <a:t>/  3</a:t>
            </a:r>
            <a:r>
              <a:rPr lang="ko-KR" altLang="en-US" sz="1100" kern="1200" dirty="0">
                <a:solidFill>
                  <a:srgbClr val="0000FF"/>
                </a:solidFill>
                <a:latin typeface="Arial" panose="020B0604020202020204" pitchFamily="34" charset="0"/>
                <a:ea typeface="LG스마트체 Regular" panose="020B0600000101010101" pitchFamily="50" charset="-127"/>
                <a:cs typeface="+mn-cs"/>
              </a:rPr>
              <a:t>등급 </a:t>
            </a:r>
            <a:r>
              <a:rPr lang="en-US" altLang="ko-KR" sz="1100" kern="1200" dirty="0">
                <a:solidFill>
                  <a:srgbClr val="0000FF"/>
                </a:solidFill>
                <a:latin typeface="Arial" panose="020B0604020202020204" pitchFamily="34" charset="0"/>
                <a:ea typeface="LG스마트체 Regular" panose="020B0600000101010101" pitchFamily="50" charset="-127"/>
                <a:cs typeface="+mn-cs"/>
              </a:rPr>
              <a:t>: 8</a:t>
            </a:r>
            <a:r>
              <a:rPr lang="ko-KR" altLang="en-US" sz="1100" kern="1200" dirty="0">
                <a:solidFill>
                  <a:srgbClr val="0000FF"/>
                </a:solidFill>
                <a:latin typeface="Arial" panose="020B0604020202020204" pitchFamily="34" charset="0"/>
                <a:ea typeface="LG스마트체 Regular" panose="020B0600000101010101" pitchFamily="50" charset="-127"/>
                <a:cs typeface="+mn-cs"/>
              </a:rPr>
              <a:t>시간</a:t>
            </a:r>
          </a:p>
        </p:txBody>
      </p:sp>
      <p:sp>
        <p:nvSpPr>
          <p:cNvPr id="14" name="직사각형 12">
            <a:extLst>
              <a:ext uri="{FF2B5EF4-FFF2-40B4-BE49-F238E27FC236}">
                <a16:creationId xmlns:a16="http://schemas.microsoft.com/office/drawing/2014/main" id="{41A022CF-DC76-7A8B-CF9C-12FFD6BDF33C}"/>
              </a:ext>
            </a:extLst>
          </p:cNvPr>
          <p:cNvSpPr/>
          <p:nvPr/>
        </p:nvSpPr>
        <p:spPr>
          <a:xfrm>
            <a:off x="627380" y="6121400"/>
            <a:ext cx="125412" cy="125413"/>
          </a:xfrm>
          <a:prstGeom prst="rect">
            <a:avLst/>
          </a:prstGeom>
          <a:solidFill>
            <a:srgbClr val="000000"/>
          </a:solidFill>
          <a:ln w="25400" cap="flat" cmpd="sng" algn="ctr">
            <a:noFill/>
            <a:prstDash val="solid"/>
          </a:ln>
          <a:effectLst/>
        </p:spPr>
        <p:txBody>
          <a:bodyPr anchor="ctr"/>
          <a:lstStyle>
            <a:lvl1pPr>
              <a:defRPr kumimoji="1">
                <a:solidFill>
                  <a:schemeClr val="tx1"/>
                </a:solidFill>
                <a:latin typeface="굴림" panose="020B0600000101010101" pitchFamily="50" charset="-127"/>
                <a:ea typeface="굴림" panose="020B0600000101010101" pitchFamily="50" charset="-127"/>
              </a:defRPr>
            </a:lvl1pPr>
            <a:lvl2pPr marL="742950" indent="-285750">
              <a:defRPr kumimoji="1">
                <a:solidFill>
                  <a:schemeClr val="tx1"/>
                </a:solidFill>
                <a:latin typeface="굴림" panose="020B0600000101010101" pitchFamily="50" charset="-127"/>
                <a:ea typeface="굴림" panose="020B0600000101010101" pitchFamily="50" charset="-127"/>
              </a:defRPr>
            </a:lvl2pPr>
            <a:lvl3pPr marL="1143000" indent="-228600">
              <a:defRPr kumimoji="1">
                <a:solidFill>
                  <a:schemeClr val="tx1"/>
                </a:solidFill>
                <a:latin typeface="굴림" panose="020B0600000101010101" pitchFamily="50" charset="-127"/>
                <a:ea typeface="굴림" panose="020B0600000101010101" pitchFamily="50" charset="-127"/>
              </a:defRPr>
            </a:lvl3pPr>
            <a:lvl4pPr marL="1600200" indent="-228600">
              <a:defRPr kumimoji="1">
                <a:solidFill>
                  <a:schemeClr val="tx1"/>
                </a:solidFill>
                <a:latin typeface="굴림" panose="020B0600000101010101" pitchFamily="50" charset="-127"/>
                <a:ea typeface="굴림" panose="020B0600000101010101" pitchFamily="50" charset="-127"/>
              </a:defRPr>
            </a:lvl4pPr>
            <a:lvl5pPr marL="2057400" indent="-228600">
              <a:defRPr kumimoji="1">
                <a:solidFill>
                  <a:schemeClr val="tx1"/>
                </a:solidFill>
                <a:latin typeface="굴림" panose="020B0600000101010101" pitchFamily="50" charset="-127"/>
                <a:ea typeface="굴림" panose="020B0600000101010101" pitchFamily="50" charset="-127"/>
              </a:defRPr>
            </a:lvl5pPr>
            <a:lvl6pPr marL="25146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6pPr>
            <a:lvl7pPr marL="29718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7pPr>
            <a:lvl8pPr marL="34290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8pPr>
            <a:lvl9pPr marL="3886200" indent="-228600" eaLnBrk="0" fontAlgn="base" hangingPunct="0">
              <a:spcBef>
                <a:spcPct val="0"/>
              </a:spcBef>
              <a:spcAft>
                <a:spcPct val="0"/>
              </a:spcAft>
              <a:defRPr kumimoji="1">
                <a:solidFill>
                  <a:schemeClr val="tx1"/>
                </a:solidFill>
                <a:latin typeface="굴림" panose="020B0600000101010101" pitchFamily="50" charset="-127"/>
                <a:ea typeface="굴림" panose="020B0600000101010101" pitchFamily="50" charset="-127"/>
              </a:defRPr>
            </a:lvl9pPr>
          </a:lstStyle>
          <a:p>
            <a:pPr algn="ctr" fontAlgn="base" latinLnBrk="1">
              <a:spcBef>
                <a:spcPct val="0"/>
              </a:spcBef>
              <a:spcAft>
                <a:spcPct val="0"/>
              </a:spcAft>
              <a:buClrTx/>
              <a:buFontTx/>
              <a:buNone/>
              <a:defRPr/>
            </a:pPr>
            <a:endParaRPr lang="ko-KR" altLang="en-US" sz="1800" dirty="0">
              <a:solidFill>
                <a:srgbClr val="FFFFFF"/>
              </a:solidFill>
              <a:latin typeface="Arial" panose="020B0604020202020204" pitchFamily="34" charset="0"/>
              <a:ea typeface="LG스마트체 Regular" panose="020B0600000101010101" pitchFamily="50" charset="-127"/>
              <a:cs typeface="+mn-cs"/>
            </a:endParaRPr>
          </a:p>
        </p:txBody>
      </p:sp>
      <p:graphicFrame>
        <p:nvGraphicFramePr>
          <p:cNvPr id="15" name="표 13">
            <a:extLst>
              <a:ext uri="{FF2B5EF4-FFF2-40B4-BE49-F238E27FC236}">
                <a16:creationId xmlns:a16="http://schemas.microsoft.com/office/drawing/2014/main" id="{D7EB59D0-F714-3C33-D041-913B6ECA5636}"/>
              </a:ext>
            </a:extLst>
          </p:cNvPr>
          <p:cNvGraphicFramePr>
            <a:graphicFrameLocks noGrp="1"/>
          </p:cNvGraphicFramePr>
          <p:nvPr>
            <p:extLst>
              <p:ext uri="{D42A27DB-BD31-4B8C-83A1-F6EECF244321}">
                <p14:modId xmlns:p14="http://schemas.microsoft.com/office/powerpoint/2010/main" val="485505823"/>
              </p:ext>
            </p:extLst>
          </p:nvPr>
        </p:nvGraphicFramePr>
        <p:xfrm>
          <a:off x="848042" y="6318250"/>
          <a:ext cx="5767388" cy="511176"/>
        </p:xfrm>
        <a:graphic>
          <a:graphicData uri="http://schemas.openxmlformats.org/drawingml/2006/table">
            <a:tbl>
              <a:tblPr/>
              <a:tblGrid>
                <a:gridCol w="1154113">
                  <a:extLst>
                    <a:ext uri="{9D8B030D-6E8A-4147-A177-3AD203B41FA5}">
                      <a16:colId xmlns:a16="http://schemas.microsoft.com/office/drawing/2014/main" val="20000"/>
                    </a:ext>
                  </a:extLst>
                </a:gridCol>
                <a:gridCol w="1152525">
                  <a:extLst>
                    <a:ext uri="{9D8B030D-6E8A-4147-A177-3AD203B41FA5}">
                      <a16:colId xmlns:a16="http://schemas.microsoft.com/office/drawing/2014/main" val="20001"/>
                    </a:ext>
                  </a:extLst>
                </a:gridCol>
                <a:gridCol w="1154112">
                  <a:extLst>
                    <a:ext uri="{9D8B030D-6E8A-4147-A177-3AD203B41FA5}">
                      <a16:colId xmlns:a16="http://schemas.microsoft.com/office/drawing/2014/main" val="20002"/>
                    </a:ext>
                  </a:extLst>
                </a:gridCol>
                <a:gridCol w="1152525">
                  <a:extLst>
                    <a:ext uri="{9D8B030D-6E8A-4147-A177-3AD203B41FA5}">
                      <a16:colId xmlns:a16="http://schemas.microsoft.com/office/drawing/2014/main" val="20003"/>
                    </a:ext>
                  </a:extLst>
                </a:gridCol>
                <a:gridCol w="1154113">
                  <a:extLst>
                    <a:ext uri="{9D8B030D-6E8A-4147-A177-3AD203B41FA5}">
                      <a16:colId xmlns:a16="http://schemas.microsoft.com/office/drawing/2014/main" val="20004"/>
                    </a:ext>
                  </a:extLst>
                </a:gridCol>
              </a:tblGrid>
              <a:tr h="255588">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Impact </a:t>
                      </a:r>
                      <a:r>
                        <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점수</a:t>
                      </a:r>
                    </a:p>
                  </a:txBody>
                  <a:tcPr marL="36001" marR="36001" marT="36100" marB="36100" horzOverflow="overflow">
                    <a:lnL>
                      <a:noFill/>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solidFill>
                      <a:srgbClr val="D9D9D9"/>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15</a:t>
                      </a:r>
                      <a:r>
                        <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점 이상</a:t>
                      </a:r>
                    </a:p>
                  </a:txBody>
                  <a:tcPr marL="36001" marR="36001" marT="36100" marB="36100"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10</a:t>
                      </a:r>
                      <a:r>
                        <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점 </a:t>
                      </a:r>
                      <a:r>
                        <a:rPr kumimoji="0" lang="en-US" altLang="ko-KR"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14</a:t>
                      </a:r>
                      <a:r>
                        <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점</a:t>
                      </a:r>
                    </a:p>
                  </a:txBody>
                  <a:tcPr marL="36001" marR="36001" marT="36100" marB="36100"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5</a:t>
                      </a:r>
                      <a:r>
                        <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점 </a:t>
                      </a:r>
                      <a:r>
                        <a:rPr kumimoji="0" lang="en-US" altLang="ko-KR"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 9</a:t>
                      </a:r>
                      <a:r>
                        <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점</a:t>
                      </a:r>
                    </a:p>
                  </a:txBody>
                  <a:tcPr marL="36001" marR="36001" marT="36100" marB="36100"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4</a:t>
                      </a:r>
                      <a:r>
                        <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점 이하</a:t>
                      </a:r>
                    </a:p>
                  </a:txBody>
                  <a:tcPr marL="36001" marR="36001" marT="36100" marB="36100" horzOverflow="overflow">
                    <a:lnL w="6350" cap="flat" cmpd="sng" algn="ctr">
                      <a:solidFill>
                        <a:srgbClr val="7F7F7F"/>
                      </a:solidFill>
                      <a:prstDash val="solid"/>
                      <a:round/>
                      <a:headEnd type="none" w="med" len="med"/>
                      <a:tailEnd type="none" w="med" len="med"/>
                    </a:lnL>
                    <a:lnR>
                      <a:noFill/>
                    </a:lnR>
                    <a:lnT w="19050" cap="flat" cmpd="sng" algn="ctr">
                      <a:solidFill>
                        <a:srgbClr val="000000"/>
                      </a:solidFill>
                      <a:prstDash val="solid"/>
                      <a:round/>
                      <a:headEnd type="none" w="med" len="med"/>
                      <a:tailEnd type="none" w="med" len="med"/>
                    </a:lnT>
                    <a:lnB w="6350" cap="flat" cmpd="sng" algn="ctr">
                      <a:solidFill>
                        <a:srgbClr val="7F7F7F"/>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255588">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장애 등급</a:t>
                      </a:r>
                    </a:p>
                  </a:txBody>
                  <a:tcPr marL="36001" marR="36001" marT="36100" marB="36100" anchor="ctr" horzOverflow="overflow">
                    <a:lnL>
                      <a:noFill/>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solidFill>
                      <a:srgbClr val="D9D9D9"/>
                    </a:solid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1</a:t>
                      </a:r>
                      <a:r>
                        <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등급</a:t>
                      </a:r>
                    </a:p>
                  </a:txBody>
                  <a:tcPr marL="36001" marR="36001" marT="36100" marB="36100"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2</a:t>
                      </a:r>
                      <a:r>
                        <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등급</a:t>
                      </a:r>
                    </a:p>
                  </a:txBody>
                  <a:tcPr marL="36001" marR="36001" marT="36100" marB="36100"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3</a:t>
                      </a:r>
                      <a:r>
                        <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등급</a:t>
                      </a:r>
                    </a:p>
                  </a:txBody>
                  <a:tcPr marL="36001" marR="36001" marT="36100" marB="36100" anchor="ctr" horzOverflow="overflow">
                    <a:lnL w="6350" cap="flat" cmpd="sng" algn="ctr">
                      <a:solidFill>
                        <a:srgbClr val="7F7F7F"/>
                      </a:solidFill>
                      <a:prstDash val="solid"/>
                      <a:round/>
                      <a:headEnd type="none" w="med" len="med"/>
                      <a:tailEnd type="none" w="med" len="med"/>
                    </a:lnL>
                    <a:lnR w="6350" cap="flat" cmpd="sng" algn="ctr">
                      <a:solidFill>
                        <a:srgbClr val="7F7F7F"/>
                      </a:solidFill>
                      <a:prstDash val="solid"/>
                      <a:round/>
                      <a:headEnd type="none" w="med" len="med"/>
                      <a:tailEnd type="none" w="med" len="med"/>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tc>
                  <a:txBody>
                    <a:bodyPr/>
                    <a:lstStyle>
                      <a:lvl1pPr marL="0" marR="0" algn="l" defTabSz="914400" rtl="0" eaLnBrk="1" latinLnBrk="1" hangingPunct="1">
                        <a:lnSpc>
                          <a:spcPct val="100000"/>
                        </a:lnSpc>
                        <a:spcBef>
                          <a:spcPct val="10000"/>
                        </a:spcBef>
                        <a:spcAft>
                          <a:spcPts val="0"/>
                        </a:spcAft>
                        <a:buClr>
                          <a:srgbClr val="000000"/>
                        </a:buClr>
                        <a:buFont typeface="Arial"/>
                        <a:defRPr kumimoji="1" sz="1400" b="0" i="0" u="none" strike="noStrike" kern="1200" cap="none">
                          <a:solidFill>
                            <a:schemeClr val="tx1"/>
                          </a:solidFill>
                          <a:latin typeface="굴림" panose="020B0600000101010101" pitchFamily="50" charset="-127"/>
                          <a:ea typeface="굴림" panose="020B0600000101010101" pitchFamily="50" charset="-127"/>
                          <a:sym typeface="Arial"/>
                        </a:defRPr>
                      </a:lvl1pPr>
                      <a:lvl2pPr marL="742950" marR="0" indent="-285750" algn="l" defTabSz="914400" rtl="0" eaLnBrk="1" latinLnBrk="1" hangingPunct="1">
                        <a:lnSpc>
                          <a:spcPct val="100000"/>
                        </a:lnSpc>
                        <a:spcBef>
                          <a:spcPct val="20000"/>
                        </a:spcBef>
                        <a:spcAft>
                          <a:spcPts val="0"/>
                        </a:spcAft>
                        <a:buClr>
                          <a:srgbClr val="000000"/>
                        </a:buClr>
                        <a:buFont typeface="Arial"/>
                        <a:defRPr kumimoji="1" sz="2400" b="0" i="0" u="none" strike="noStrike" kern="1200" cap="none">
                          <a:solidFill>
                            <a:schemeClr val="tx1"/>
                          </a:solidFill>
                          <a:latin typeface="굴림" panose="020B0600000101010101" pitchFamily="50" charset="-127"/>
                          <a:ea typeface="굴림" panose="020B0600000101010101" pitchFamily="50" charset="-127"/>
                          <a:sym typeface="Arial"/>
                        </a:defRPr>
                      </a:lvl2pPr>
                      <a:lvl3pPr marL="1143000" marR="0" indent="-228600" algn="l" defTabSz="914400" rtl="0" eaLnBrk="1" latinLnBrk="1" hangingPunct="1">
                        <a:lnSpc>
                          <a:spcPct val="100000"/>
                        </a:lnSpc>
                        <a:spcBef>
                          <a:spcPct val="20000"/>
                        </a:spcBef>
                        <a:spcAft>
                          <a:spcPts val="0"/>
                        </a:spcAft>
                        <a:buClr>
                          <a:srgbClr val="000000"/>
                        </a:buClr>
                        <a:buFont typeface="Arial"/>
                        <a:defRPr kumimoji="1" sz="2000" b="0" i="0" u="none" strike="noStrike" kern="1200" cap="none">
                          <a:solidFill>
                            <a:schemeClr val="tx1"/>
                          </a:solidFill>
                          <a:latin typeface="굴림" panose="020B0600000101010101" pitchFamily="50" charset="-127"/>
                          <a:ea typeface="굴림" panose="020B0600000101010101" pitchFamily="50" charset="-127"/>
                          <a:sym typeface="Arial"/>
                        </a:defRPr>
                      </a:lvl3pPr>
                      <a:lvl4pPr marL="16002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4pPr>
                      <a:lvl5pPr marL="2057400" marR="0" indent="-228600" algn="l" defTabSz="914400" rtl="0" eaLnBrk="1" latinLnBrk="1" hangingPunct="1">
                        <a:lnSpc>
                          <a:spcPct val="100000"/>
                        </a:lnSpc>
                        <a:spcBef>
                          <a:spcPct val="20000"/>
                        </a:spcBef>
                        <a:spcAft>
                          <a:spcPts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5pPr>
                      <a:lvl6pPr marL="25146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6pPr>
                      <a:lvl7pPr marL="29718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7pPr>
                      <a:lvl8pPr marL="34290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8pPr>
                      <a:lvl9pPr marL="3886200" marR="0" indent="-228600" algn="l" defTabSz="914400" rtl="0" eaLnBrk="0" fontAlgn="base" latinLnBrk="0" hangingPunct="0">
                        <a:lnSpc>
                          <a:spcPct val="100000"/>
                        </a:lnSpc>
                        <a:spcBef>
                          <a:spcPct val="20000"/>
                        </a:spcBef>
                        <a:spcAft>
                          <a:spcPct val="0"/>
                        </a:spcAft>
                        <a:buClr>
                          <a:srgbClr val="000000"/>
                        </a:buClr>
                        <a:buFont typeface="Arial"/>
                        <a:defRPr kumimoji="1" sz="1800" b="0" i="0" u="none" strike="noStrike" kern="1200" cap="none">
                          <a:solidFill>
                            <a:schemeClr val="tx1"/>
                          </a:solidFill>
                          <a:latin typeface="굴림" panose="020B0600000101010101" pitchFamily="50" charset="-127"/>
                          <a:ea typeface="굴림" panose="020B0600000101010101" pitchFamily="50" charset="-127"/>
                          <a:sym typeface="Arial"/>
                        </a:defRPr>
                      </a:lvl9pPr>
                    </a:lstStyle>
                    <a:p>
                      <a:pPr marL="0" marR="0" lvl="0" indent="0" algn="ctr" defTabSz="914400" rtl="0" eaLnBrk="1" fontAlgn="base" latinLnBrk="1" hangingPunct="1">
                        <a:lnSpc>
                          <a:spcPct val="100000"/>
                        </a:lnSpc>
                        <a:spcBef>
                          <a:spcPct val="0"/>
                        </a:spcBef>
                        <a:spcAft>
                          <a:spcPct val="0"/>
                        </a:spcAft>
                        <a:buClrTx/>
                        <a:buSzTx/>
                        <a:buFontTx/>
                        <a:buNone/>
                        <a:tabLst/>
                      </a:pPr>
                      <a:r>
                        <a:rPr kumimoji="0" lang="en-US" altLang="ko-KR"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4</a:t>
                      </a:r>
                      <a:r>
                        <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등급</a:t>
                      </a:r>
                      <a:r>
                        <a:rPr kumimoji="0" lang="en-US" altLang="ko-KR"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r>
                        <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이벤트</a:t>
                      </a:r>
                      <a:r>
                        <a:rPr kumimoji="0" lang="en-US" altLang="ko-KR"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rPr>
                        <a:t>)</a:t>
                      </a:r>
                      <a:endParaRPr kumimoji="0" lang="ko-KR" altLang="en-US" sz="1100" b="0" i="0" u="none" strike="noStrike" cap="none" normalizeH="0" baseline="0" dirty="0">
                        <a:ln>
                          <a:noFill/>
                        </a:ln>
                        <a:solidFill>
                          <a:schemeClr val="tx1"/>
                        </a:solidFill>
                        <a:effectLst/>
                        <a:latin typeface="Arial" panose="020B0604020202020204" pitchFamily="34" charset="0"/>
                        <a:ea typeface="LG스마트체 Regular" panose="020B0600000101010101" pitchFamily="50" charset="-127"/>
                      </a:endParaRPr>
                    </a:p>
                  </a:txBody>
                  <a:tcPr marL="36001" marR="36001" marT="36100" marB="36100" anchor="ctr" horzOverflow="overflow">
                    <a:lnL w="6350" cap="flat" cmpd="sng" algn="ctr">
                      <a:solidFill>
                        <a:srgbClr val="7F7F7F"/>
                      </a:solidFill>
                      <a:prstDash val="solid"/>
                      <a:round/>
                      <a:headEnd type="none" w="med" len="med"/>
                      <a:tailEnd type="none" w="med" len="med"/>
                    </a:lnL>
                    <a:lnR>
                      <a:noFill/>
                    </a:lnR>
                    <a:lnT w="6350" cap="flat" cmpd="sng" algn="ctr">
                      <a:solidFill>
                        <a:srgbClr val="7F7F7F"/>
                      </a:solidFill>
                      <a:prstDash val="solid"/>
                      <a:round/>
                      <a:headEnd type="none" w="med" len="med"/>
                      <a:tailEnd type="none" w="med" len="med"/>
                    </a:lnT>
                    <a:lnB w="1905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101104856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32</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11233149" cy="584775"/>
            <a:chOff x="479425" y="461520"/>
            <a:chExt cx="11233149"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3" y="461520"/>
              <a:ext cx="11176311"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13. Standard Process </a:t>
              </a:r>
              <a:r>
                <a:rPr lang="en-US" sz="2400" b="1" dirty="0">
                  <a:solidFill>
                    <a:srgbClr val="212967"/>
                  </a:solidFill>
                  <a:latin typeface="Segoe UI" panose="020B0502040204020203" pitchFamily="34" charset="0"/>
                  <a:cs typeface="Segoe UI" panose="020B0502040204020203" pitchFamily="34" charset="0"/>
                </a:rPr>
                <a:t>- Drop/Postpone/Delay Project Process</a:t>
              </a:r>
            </a:p>
          </p:txBody>
        </p:sp>
      </p:grpSp>
      <p:cxnSp>
        <p:nvCxnSpPr>
          <p:cNvPr id="46" name="Straight Connector 45">
            <a:extLst>
              <a:ext uri="{FF2B5EF4-FFF2-40B4-BE49-F238E27FC236}">
                <a16:creationId xmlns:a16="http://schemas.microsoft.com/office/drawing/2014/main" id="{B10C043B-6C2F-82FE-8CC8-D3A62A255A52}"/>
              </a:ext>
            </a:extLst>
          </p:cNvPr>
          <p:cNvCxnSpPr>
            <a:cxnSpLocks/>
          </p:cNvCxnSpPr>
          <p:nvPr/>
        </p:nvCxnSpPr>
        <p:spPr>
          <a:xfrm flipV="1">
            <a:off x="6685112" y="1079291"/>
            <a:ext cx="23145" cy="5762865"/>
          </a:xfrm>
          <a:prstGeom prst="line">
            <a:avLst/>
          </a:prstGeom>
          <a:noFill/>
          <a:ln w="25400" cap="flat" cmpd="sng" algn="ctr">
            <a:solidFill>
              <a:srgbClr val="4472C4"/>
            </a:solidFill>
            <a:prstDash val="sysDot"/>
            <a:miter lim="800000"/>
          </a:ln>
          <a:effectLst/>
        </p:spPr>
      </p:cxnSp>
      <p:cxnSp>
        <p:nvCxnSpPr>
          <p:cNvPr id="47" name="Straight Connector 46">
            <a:extLst>
              <a:ext uri="{FF2B5EF4-FFF2-40B4-BE49-F238E27FC236}">
                <a16:creationId xmlns:a16="http://schemas.microsoft.com/office/drawing/2014/main" id="{A5000817-B12B-C56B-B516-CB788FD27357}"/>
              </a:ext>
            </a:extLst>
          </p:cNvPr>
          <p:cNvCxnSpPr>
            <a:cxnSpLocks/>
          </p:cNvCxnSpPr>
          <p:nvPr/>
        </p:nvCxnSpPr>
        <p:spPr>
          <a:xfrm flipV="1">
            <a:off x="4380525" y="1058555"/>
            <a:ext cx="23145" cy="5762865"/>
          </a:xfrm>
          <a:prstGeom prst="line">
            <a:avLst/>
          </a:prstGeom>
          <a:noFill/>
          <a:ln w="25400" cap="flat" cmpd="sng" algn="ctr">
            <a:solidFill>
              <a:srgbClr val="4472C4"/>
            </a:solidFill>
            <a:prstDash val="sysDot"/>
            <a:miter lim="800000"/>
          </a:ln>
          <a:effectLst/>
        </p:spPr>
      </p:cxnSp>
      <p:cxnSp>
        <p:nvCxnSpPr>
          <p:cNvPr id="48" name="Straight Connector 47">
            <a:extLst>
              <a:ext uri="{FF2B5EF4-FFF2-40B4-BE49-F238E27FC236}">
                <a16:creationId xmlns:a16="http://schemas.microsoft.com/office/drawing/2014/main" id="{046D7BED-429E-BD45-5514-40128F3202BE}"/>
              </a:ext>
            </a:extLst>
          </p:cNvPr>
          <p:cNvCxnSpPr>
            <a:cxnSpLocks/>
          </p:cNvCxnSpPr>
          <p:nvPr/>
        </p:nvCxnSpPr>
        <p:spPr>
          <a:xfrm flipV="1">
            <a:off x="2355152" y="1049931"/>
            <a:ext cx="23145" cy="5762865"/>
          </a:xfrm>
          <a:prstGeom prst="line">
            <a:avLst/>
          </a:prstGeom>
          <a:noFill/>
          <a:ln w="25400" cap="flat" cmpd="sng" algn="ctr">
            <a:solidFill>
              <a:srgbClr val="4472C4"/>
            </a:solidFill>
            <a:prstDash val="sysDot"/>
            <a:miter lim="800000"/>
          </a:ln>
          <a:effectLst/>
        </p:spPr>
      </p:cxnSp>
      <p:sp>
        <p:nvSpPr>
          <p:cNvPr id="49" name="Rectangle 48">
            <a:extLst>
              <a:ext uri="{FF2B5EF4-FFF2-40B4-BE49-F238E27FC236}">
                <a16:creationId xmlns:a16="http://schemas.microsoft.com/office/drawing/2014/main" id="{84379401-40CE-C0F4-CD68-623BBA613314}"/>
              </a:ext>
            </a:extLst>
          </p:cNvPr>
          <p:cNvSpPr/>
          <p:nvPr/>
        </p:nvSpPr>
        <p:spPr>
          <a:xfrm>
            <a:off x="4792779" y="1085199"/>
            <a:ext cx="1664547"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FPT DM/BrSE Leader</a:t>
            </a:r>
          </a:p>
        </p:txBody>
      </p:sp>
      <p:sp>
        <p:nvSpPr>
          <p:cNvPr id="50" name="Rectangle 49">
            <a:extLst>
              <a:ext uri="{FF2B5EF4-FFF2-40B4-BE49-F238E27FC236}">
                <a16:creationId xmlns:a16="http://schemas.microsoft.com/office/drawing/2014/main" id="{5E38410C-4B3B-527B-6385-A7ABFEF011D5}"/>
              </a:ext>
            </a:extLst>
          </p:cNvPr>
          <p:cNvSpPr/>
          <p:nvPr/>
        </p:nvSpPr>
        <p:spPr>
          <a:xfrm>
            <a:off x="7122884" y="1103305"/>
            <a:ext cx="1358068"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Offshore PM </a:t>
            </a:r>
          </a:p>
        </p:txBody>
      </p:sp>
      <p:sp>
        <p:nvSpPr>
          <p:cNvPr id="51" name="Rectangle 50">
            <a:extLst>
              <a:ext uri="{FF2B5EF4-FFF2-40B4-BE49-F238E27FC236}">
                <a16:creationId xmlns:a16="http://schemas.microsoft.com/office/drawing/2014/main" id="{E01B5C94-C4B7-2133-F71E-2608355C52DE}"/>
              </a:ext>
            </a:extLst>
          </p:cNvPr>
          <p:cNvSpPr/>
          <p:nvPr/>
        </p:nvSpPr>
        <p:spPr>
          <a:xfrm>
            <a:off x="2618629" y="1088195"/>
            <a:ext cx="1474383" cy="373222"/>
          </a:xfrm>
          <a:prstGeom prst="rect">
            <a:avLst/>
          </a:prstGeom>
          <a:solidFill>
            <a:srgbClr val="FFC000"/>
          </a:solidFill>
          <a:ln w="12700" cap="flat" cmpd="sng" algn="ctr">
            <a:noFill/>
            <a:prstDash val="solid"/>
            <a:miter lim="800000"/>
          </a:ln>
          <a:effectLst/>
        </p:spPr>
        <p:txBody>
          <a:bodyPr rtlCol="0" anchor="ctr"/>
          <a:lstStyle/>
          <a:p>
            <a:pPr algn="ctr">
              <a:buClrTx/>
              <a:buFontTx/>
              <a:buNone/>
            </a:pPr>
            <a:r>
              <a:rPr lang="en-US" sz="800" b="1" dirty="0">
                <a:solidFill>
                  <a:prstClr val="white"/>
                </a:solidFill>
                <a:latin typeface="Segoe UI"/>
                <a:ea typeface="+mn-ea"/>
              </a:rPr>
              <a:t>GDC Governance Team</a:t>
            </a:r>
          </a:p>
          <a:p>
            <a:pPr algn="ctr">
              <a:buClrTx/>
              <a:buFontTx/>
              <a:buNone/>
            </a:pPr>
            <a:r>
              <a:rPr lang="en-US" sz="800" b="1" dirty="0">
                <a:solidFill>
                  <a:prstClr val="white"/>
                </a:solidFill>
                <a:latin typeface="Segoe UI"/>
                <a:ea typeface="+mn-ea"/>
              </a:rPr>
              <a:t>GDC leader of each divisions</a:t>
            </a:r>
          </a:p>
        </p:txBody>
      </p:sp>
      <p:sp>
        <p:nvSpPr>
          <p:cNvPr id="52" name="Diamond 51">
            <a:extLst>
              <a:ext uri="{FF2B5EF4-FFF2-40B4-BE49-F238E27FC236}">
                <a16:creationId xmlns:a16="http://schemas.microsoft.com/office/drawing/2014/main" id="{7395B52C-A4AC-E342-0DDC-085DCE7F7796}"/>
              </a:ext>
            </a:extLst>
          </p:cNvPr>
          <p:cNvSpPr/>
          <p:nvPr/>
        </p:nvSpPr>
        <p:spPr>
          <a:xfrm>
            <a:off x="4850022" y="4386152"/>
            <a:ext cx="1766573" cy="649002"/>
          </a:xfrm>
          <a:prstGeom prst="diamond">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Approve</a:t>
            </a:r>
          </a:p>
        </p:txBody>
      </p:sp>
      <p:sp>
        <p:nvSpPr>
          <p:cNvPr id="53" name="Rectangle 52">
            <a:extLst>
              <a:ext uri="{FF2B5EF4-FFF2-40B4-BE49-F238E27FC236}">
                <a16:creationId xmlns:a16="http://schemas.microsoft.com/office/drawing/2014/main" id="{CF2034DD-8F0B-27D6-95C5-FCB128429AA5}"/>
              </a:ext>
            </a:extLst>
          </p:cNvPr>
          <p:cNvSpPr/>
          <p:nvPr/>
        </p:nvSpPr>
        <p:spPr>
          <a:xfrm>
            <a:off x="7217517" y="4490401"/>
            <a:ext cx="1394170" cy="41270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Update</a:t>
            </a:r>
          </a:p>
        </p:txBody>
      </p:sp>
      <p:cxnSp>
        <p:nvCxnSpPr>
          <p:cNvPr id="54" name="Straight Arrow Connector 53">
            <a:extLst>
              <a:ext uri="{FF2B5EF4-FFF2-40B4-BE49-F238E27FC236}">
                <a16:creationId xmlns:a16="http://schemas.microsoft.com/office/drawing/2014/main" id="{FFA750CF-DE32-CBB0-FC2A-724276C4FF80}"/>
              </a:ext>
            </a:extLst>
          </p:cNvPr>
          <p:cNvCxnSpPr>
            <a:cxnSpLocks/>
            <a:stCxn id="52" idx="3"/>
            <a:endCxn id="53" idx="1"/>
          </p:cNvCxnSpPr>
          <p:nvPr/>
        </p:nvCxnSpPr>
        <p:spPr>
          <a:xfrm flipV="1">
            <a:off x="6616595" y="4696753"/>
            <a:ext cx="600922" cy="13900"/>
          </a:xfrm>
          <a:prstGeom prst="straightConnector1">
            <a:avLst/>
          </a:prstGeom>
          <a:noFill/>
          <a:ln w="6350" cap="flat" cmpd="sng" algn="ctr">
            <a:solidFill>
              <a:srgbClr val="36365C"/>
            </a:solidFill>
            <a:prstDash val="solid"/>
            <a:miter lim="800000"/>
            <a:tailEnd type="triangle"/>
          </a:ln>
          <a:effectLst/>
        </p:spPr>
      </p:cxnSp>
      <p:sp>
        <p:nvSpPr>
          <p:cNvPr id="55" name="TextBox 54">
            <a:extLst>
              <a:ext uri="{FF2B5EF4-FFF2-40B4-BE49-F238E27FC236}">
                <a16:creationId xmlns:a16="http://schemas.microsoft.com/office/drawing/2014/main" id="{68782B0E-AE48-4446-08E3-73AC49D17556}"/>
              </a:ext>
            </a:extLst>
          </p:cNvPr>
          <p:cNvSpPr txBox="1"/>
          <p:nvPr/>
        </p:nvSpPr>
        <p:spPr>
          <a:xfrm>
            <a:off x="6305981" y="4369688"/>
            <a:ext cx="734733"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No</a:t>
            </a:r>
          </a:p>
        </p:txBody>
      </p:sp>
      <p:sp>
        <p:nvSpPr>
          <p:cNvPr id="56" name="TextBox 55">
            <a:extLst>
              <a:ext uri="{FF2B5EF4-FFF2-40B4-BE49-F238E27FC236}">
                <a16:creationId xmlns:a16="http://schemas.microsoft.com/office/drawing/2014/main" id="{117567C2-DF9A-A47F-E85F-CBDC56AB6DE4}"/>
              </a:ext>
            </a:extLst>
          </p:cNvPr>
          <p:cNvSpPr txBox="1"/>
          <p:nvPr/>
        </p:nvSpPr>
        <p:spPr>
          <a:xfrm>
            <a:off x="4573086" y="4398132"/>
            <a:ext cx="734733"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Yes</a:t>
            </a:r>
          </a:p>
        </p:txBody>
      </p:sp>
      <p:cxnSp>
        <p:nvCxnSpPr>
          <p:cNvPr id="57" name="Connector: Elbow 50">
            <a:extLst>
              <a:ext uri="{FF2B5EF4-FFF2-40B4-BE49-F238E27FC236}">
                <a16:creationId xmlns:a16="http://schemas.microsoft.com/office/drawing/2014/main" id="{47A6A5D8-1BCA-F42F-117C-C4EE6F1D3F17}"/>
              </a:ext>
            </a:extLst>
          </p:cNvPr>
          <p:cNvCxnSpPr>
            <a:cxnSpLocks/>
            <a:stCxn id="62" idx="3"/>
            <a:endCxn id="53" idx="2"/>
          </p:cNvCxnSpPr>
          <p:nvPr/>
        </p:nvCxnSpPr>
        <p:spPr>
          <a:xfrm flipV="1">
            <a:off x="2081998" y="4903105"/>
            <a:ext cx="5832604" cy="331942"/>
          </a:xfrm>
          <a:prstGeom prst="bentConnector2">
            <a:avLst/>
          </a:prstGeom>
          <a:noFill/>
          <a:ln w="6350" cap="flat" cmpd="sng" algn="ctr">
            <a:solidFill>
              <a:srgbClr val="36365C"/>
            </a:solidFill>
            <a:prstDash val="solid"/>
            <a:miter lim="800000"/>
            <a:tailEnd type="triangle"/>
          </a:ln>
          <a:effectLst/>
        </p:spPr>
      </p:cxnSp>
      <p:sp>
        <p:nvSpPr>
          <p:cNvPr id="58" name="Rectangle 57">
            <a:extLst>
              <a:ext uri="{FF2B5EF4-FFF2-40B4-BE49-F238E27FC236}">
                <a16:creationId xmlns:a16="http://schemas.microsoft.com/office/drawing/2014/main" id="{565678C0-7E79-1BEA-84D1-F8FD125022C9}"/>
              </a:ext>
            </a:extLst>
          </p:cNvPr>
          <p:cNvSpPr/>
          <p:nvPr/>
        </p:nvSpPr>
        <p:spPr>
          <a:xfrm>
            <a:off x="634443" y="1086498"/>
            <a:ext cx="1474383" cy="373222"/>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a:solidFill>
                  <a:prstClr val="white"/>
                </a:solidFill>
                <a:latin typeface="Segoe UI"/>
                <a:ea typeface="+mn-ea"/>
              </a:rPr>
              <a:t>LG CNS</a:t>
            </a:r>
          </a:p>
        </p:txBody>
      </p:sp>
      <p:sp>
        <p:nvSpPr>
          <p:cNvPr id="59" name="Rectangle 58">
            <a:extLst>
              <a:ext uri="{FF2B5EF4-FFF2-40B4-BE49-F238E27FC236}">
                <a16:creationId xmlns:a16="http://schemas.microsoft.com/office/drawing/2014/main" id="{4A09F854-832A-3813-BBC5-B3B7CE90E509}"/>
              </a:ext>
            </a:extLst>
          </p:cNvPr>
          <p:cNvSpPr/>
          <p:nvPr/>
        </p:nvSpPr>
        <p:spPr>
          <a:xfrm>
            <a:off x="5052794" y="3832239"/>
            <a:ext cx="1334924" cy="360260"/>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Review</a:t>
            </a:r>
          </a:p>
        </p:txBody>
      </p:sp>
      <p:cxnSp>
        <p:nvCxnSpPr>
          <p:cNvPr id="60" name="Straight Arrow Connector 59">
            <a:extLst>
              <a:ext uri="{FF2B5EF4-FFF2-40B4-BE49-F238E27FC236}">
                <a16:creationId xmlns:a16="http://schemas.microsoft.com/office/drawing/2014/main" id="{549FF1B2-C464-A177-E325-DDD1C0A664B6}"/>
              </a:ext>
            </a:extLst>
          </p:cNvPr>
          <p:cNvCxnSpPr>
            <a:cxnSpLocks/>
            <a:stCxn id="59" idx="2"/>
            <a:endCxn id="52" idx="0"/>
          </p:cNvCxnSpPr>
          <p:nvPr/>
        </p:nvCxnSpPr>
        <p:spPr>
          <a:xfrm>
            <a:off x="5720256" y="4192499"/>
            <a:ext cx="13053" cy="193653"/>
          </a:xfrm>
          <a:prstGeom prst="straightConnector1">
            <a:avLst/>
          </a:prstGeom>
          <a:noFill/>
          <a:ln w="6350" cap="flat" cmpd="sng" algn="ctr">
            <a:solidFill>
              <a:srgbClr val="36365C"/>
            </a:solidFill>
            <a:prstDash val="solid"/>
            <a:miter lim="800000"/>
            <a:tailEnd type="triangle"/>
          </a:ln>
          <a:effectLst/>
        </p:spPr>
      </p:cxnSp>
      <p:cxnSp>
        <p:nvCxnSpPr>
          <p:cNvPr id="61" name="Connector: Elbow 60">
            <a:extLst>
              <a:ext uri="{FF2B5EF4-FFF2-40B4-BE49-F238E27FC236}">
                <a16:creationId xmlns:a16="http://schemas.microsoft.com/office/drawing/2014/main" id="{364CA25C-099D-E2F3-E080-A6BE194C494A}"/>
              </a:ext>
            </a:extLst>
          </p:cNvPr>
          <p:cNvCxnSpPr>
            <a:cxnSpLocks/>
            <a:stCxn id="53" idx="0"/>
            <a:endCxn id="59" idx="3"/>
          </p:cNvCxnSpPr>
          <p:nvPr/>
        </p:nvCxnSpPr>
        <p:spPr>
          <a:xfrm rot="16200000" flipV="1">
            <a:off x="6912144" y="3487943"/>
            <a:ext cx="478032" cy="1526884"/>
          </a:xfrm>
          <a:prstGeom prst="bentConnector2">
            <a:avLst/>
          </a:prstGeom>
          <a:noFill/>
          <a:ln w="6350" cap="flat" cmpd="sng" algn="ctr">
            <a:solidFill>
              <a:srgbClr val="36365C"/>
            </a:solidFill>
            <a:prstDash val="solid"/>
            <a:miter lim="800000"/>
            <a:tailEnd type="triangle"/>
          </a:ln>
          <a:effectLst/>
        </p:spPr>
      </p:cxnSp>
      <p:sp>
        <p:nvSpPr>
          <p:cNvPr id="62" name="Diamond 61">
            <a:extLst>
              <a:ext uri="{FF2B5EF4-FFF2-40B4-BE49-F238E27FC236}">
                <a16:creationId xmlns:a16="http://schemas.microsoft.com/office/drawing/2014/main" id="{DB394CE8-C83F-C689-3C46-F4561FD53D9C}"/>
              </a:ext>
            </a:extLst>
          </p:cNvPr>
          <p:cNvSpPr/>
          <p:nvPr/>
        </p:nvSpPr>
        <p:spPr>
          <a:xfrm>
            <a:off x="315425" y="4910546"/>
            <a:ext cx="1766573" cy="649002"/>
          </a:xfrm>
          <a:prstGeom prst="diamond">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Approve</a:t>
            </a:r>
          </a:p>
        </p:txBody>
      </p:sp>
      <p:sp>
        <p:nvSpPr>
          <p:cNvPr id="63" name="TextBox 62">
            <a:extLst>
              <a:ext uri="{FF2B5EF4-FFF2-40B4-BE49-F238E27FC236}">
                <a16:creationId xmlns:a16="http://schemas.microsoft.com/office/drawing/2014/main" id="{55946D97-853F-5DAB-4C30-73C69BB08B95}"/>
              </a:ext>
            </a:extLst>
          </p:cNvPr>
          <p:cNvSpPr txBox="1"/>
          <p:nvPr/>
        </p:nvSpPr>
        <p:spPr>
          <a:xfrm>
            <a:off x="2006031" y="4898985"/>
            <a:ext cx="734733"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No</a:t>
            </a:r>
          </a:p>
        </p:txBody>
      </p:sp>
      <p:cxnSp>
        <p:nvCxnSpPr>
          <p:cNvPr id="64" name="Connector: Elbow 74">
            <a:extLst>
              <a:ext uri="{FF2B5EF4-FFF2-40B4-BE49-F238E27FC236}">
                <a16:creationId xmlns:a16="http://schemas.microsoft.com/office/drawing/2014/main" id="{EC5B08D0-4343-2E85-23BD-C024ED1A08CF}"/>
              </a:ext>
            </a:extLst>
          </p:cNvPr>
          <p:cNvCxnSpPr>
            <a:cxnSpLocks/>
            <a:stCxn id="52" idx="1"/>
            <a:endCxn id="62" idx="0"/>
          </p:cNvCxnSpPr>
          <p:nvPr/>
        </p:nvCxnSpPr>
        <p:spPr>
          <a:xfrm rot="10800000" flipV="1">
            <a:off x="1198712" y="4710652"/>
            <a:ext cx="3651310" cy="199893"/>
          </a:xfrm>
          <a:prstGeom prst="bentConnector2">
            <a:avLst/>
          </a:prstGeom>
          <a:noFill/>
          <a:ln w="6350" cap="flat" cmpd="sng" algn="ctr">
            <a:solidFill>
              <a:srgbClr val="36365C"/>
            </a:solidFill>
            <a:prstDash val="solid"/>
            <a:miter lim="800000"/>
            <a:tailEnd type="triangle"/>
          </a:ln>
          <a:effectLst/>
        </p:spPr>
      </p:cxnSp>
      <p:sp>
        <p:nvSpPr>
          <p:cNvPr id="65" name="Rectangle 64">
            <a:extLst>
              <a:ext uri="{FF2B5EF4-FFF2-40B4-BE49-F238E27FC236}">
                <a16:creationId xmlns:a16="http://schemas.microsoft.com/office/drawing/2014/main" id="{124F9502-4F73-F990-E90B-FA11105679A3}"/>
              </a:ext>
            </a:extLst>
          </p:cNvPr>
          <p:cNvSpPr/>
          <p:nvPr/>
        </p:nvSpPr>
        <p:spPr>
          <a:xfrm>
            <a:off x="7136126" y="5671958"/>
            <a:ext cx="1428119" cy="412704"/>
          </a:xfrm>
          <a:prstGeom prst="rect">
            <a:avLst/>
          </a:prstGeom>
          <a:gradFill rotWithShape="1">
            <a:gsLst>
              <a:gs pos="0">
                <a:srgbClr val="70AD47">
                  <a:lumMod val="110000"/>
                  <a:satMod val="105000"/>
                  <a:tint val="67000"/>
                </a:srgbClr>
              </a:gs>
              <a:gs pos="50000">
                <a:srgbClr val="70AD47">
                  <a:lumMod val="105000"/>
                  <a:satMod val="103000"/>
                  <a:tint val="73000"/>
                </a:srgbClr>
              </a:gs>
              <a:gs pos="100000">
                <a:srgbClr val="70AD47">
                  <a:lumMod val="105000"/>
                  <a:satMod val="109000"/>
                  <a:tint val="81000"/>
                </a:srgbClr>
              </a:gs>
            </a:gsLst>
            <a:lin ang="5400000" scaled="0"/>
          </a:gradFill>
          <a:ln w="6350" cap="flat" cmpd="sng" algn="ctr">
            <a:solidFill>
              <a:srgbClr val="70AD47"/>
            </a:solidFill>
            <a:prstDash val="solid"/>
            <a:miter lim="800000"/>
          </a:ln>
          <a:effectLst/>
        </p:spPr>
        <p:txBody>
          <a:bodyPr rtlCol="0" anchor="ctr"/>
          <a:lstStyle/>
          <a:p>
            <a:pPr algn="ctr">
              <a:buClrTx/>
              <a:buFontTx/>
              <a:buNone/>
              <a:defRPr/>
            </a:pPr>
            <a:r>
              <a:rPr lang="en-US" sz="1100" b="1">
                <a:solidFill>
                  <a:srgbClr val="36365C"/>
                </a:solidFill>
                <a:latin typeface="Segoe UI"/>
                <a:ea typeface="+mn-ea"/>
              </a:rPr>
              <a:t>Release members</a:t>
            </a:r>
          </a:p>
        </p:txBody>
      </p:sp>
      <p:sp>
        <p:nvSpPr>
          <p:cNvPr id="66" name="TextBox 65">
            <a:extLst>
              <a:ext uri="{FF2B5EF4-FFF2-40B4-BE49-F238E27FC236}">
                <a16:creationId xmlns:a16="http://schemas.microsoft.com/office/drawing/2014/main" id="{7ABE8951-2758-CC72-F3DD-E6C2F7826138}"/>
              </a:ext>
            </a:extLst>
          </p:cNvPr>
          <p:cNvSpPr txBox="1"/>
          <p:nvPr/>
        </p:nvSpPr>
        <p:spPr>
          <a:xfrm>
            <a:off x="565411" y="5524708"/>
            <a:ext cx="734733"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Yes</a:t>
            </a:r>
          </a:p>
        </p:txBody>
      </p:sp>
      <p:cxnSp>
        <p:nvCxnSpPr>
          <p:cNvPr id="67" name="Connector: Elbow 83">
            <a:extLst>
              <a:ext uri="{FF2B5EF4-FFF2-40B4-BE49-F238E27FC236}">
                <a16:creationId xmlns:a16="http://schemas.microsoft.com/office/drawing/2014/main" id="{03EDB711-C934-136C-325A-5C3303145B57}"/>
              </a:ext>
            </a:extLst>
          </p:cNvPr>
          <p:cNvCxnSpPr>
            <a:cxnSpLocks/>
            <a:stCxn id="62" idx="2"/>
            <a:endCxn id="65" idx="1"/>
          </p:cNvCxnSpPr>
          <p:nvPr/>
        </p:nvCxnSpPr>
        <p:spPr>
          <a:xfrm rot="16200000" flipH="1">
            <a:off x="4008038" y="2750222"/>
            <a:ext cx="318762" cy="5937414"/>
          </a:xfrm>
          <a:prstGeom prst="bentConnector2">
            <a:avLst/>
          </a:prstGeom>
          <a:noFill/>
          <a:ln w="6350" cap="flat" cmpd="sng" algn="ctr">
            <a:solidFill>
              <a:srgbClr val="36365C"/>
            </a:solidFill>
            <a:prstDash val="solid"/>
            <a:miter lim="800000"/>
            <a:tailEnd type="triangle"/>
          </a:ln>
          <a:effectLst/>
        </p:spPr>
      </p:cxnSp>
      <p:sp>
        <p:nvSpPr>
          <p:cNvPr id="68" name="Flowchart: Punched Tape 85">
            <a:extLst>
              <a:ext uri="{FF2B5EF4-FFF2-40B4-BE49-F238E27FC236}">
                <a16:creationId xmlns:a16="http://schemas.microsoft.com/office/drawing/2014/main" id="{3366979F-6B70-2F73-88A0-9C0CE9574339}"/>
              </a:ext>
            </a:extLst>
          </p:cNvPr>
          <p:cNvSpPr/>
          <p:nvPr/>
        </p:nvSpPr>
        <p:spPr>
          <a:xfrm>
            <a:off x="2605188" y="4154204"/>
            <a:ext cx="1582041" cy="723918"/>
          </a:xfrm>
          <a:prstGeom prst="flowChartPunchedTape">
            <a:avLst/>
          </a:prstGeom>
          <a:solidFill>
            <a:srgbClr val="FFFF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a:ln>
                  <a:noFill/>
                </a:ln>
                <a:solidFill>
                  <a:srgbClr val="36365C"/>
                </a:solidFill>
                <a:effectLst/>
                <a:uLnTx/>
                <a:uFillTx/>
                <a:ea typeface="+mn-ea"/>
              </a:rPr>
              <a:t>Inform: GDC weekly report</a:t>
            </a:r>
            <a:endParaRPr kumimoji="0" lang="en-US" altLang="ko-KR" sz="1100" b="0" i="0" u="none" strike="noStrike" kern="0" cap="none" spc="0" normalizeH="0" baseline="0" noProof="0">
              <a:ln>
                <a:noFill/>
              </a:ln>
              <a:solidFill>
                <a:srgbClr val="034EA2"/>
              </a:solidFill>
              <a:effectLst/>
              <a:uLnTx/>
              <a:uFillTx/>
              <a:ea typeface="+mn-ea"/>
            </a:endParaRPr>
          </a:p>
        </p:txBody>
      </p:sp>
      <p:sp>
        <p:nvSpPr>
          <p:cNvPr id="69" name="Rectangle 68">
            <a:extLst>
              <a:ext uri="{FF2B5EF4-FFF2-40B4-BE49-F238E27FC236}">
                <a16:creationId xmlns:a16="http://schemas.microsoft.com/office/drawing/2014/main" id="{0B70F202-E10F-DAB8-D69F-28BF9DBB5F81}"/>
              </a:ext>
            </a:extLst>
          </p:cNvPr>
          <p:cNvSpPr/>
          <p:nvPr/>
        </p:nvSpPr>
        <p:spPr>
          <a:xfrm>
            <a:off x="7155323" y="6200917"/>
            <a:ext cx="1394170" cy="499734"/>
          </a:xfrm>
          <a:prstGeom prst="rect">
            <a:avLst/>
          </a:prstGeom>
          <a:solidFill>
            <a:srgbClr val="4F127F">
              <a:lumMod val="20000"/>
              <a:lumOff val="80000"/>
            </a:srgbClr>
          </a:solidFill>
          <a:ln w="12700" cap="flat" cmpd="sng" algn="ctr">
            <a:solidFill>
              <a:srgbClr val="4472C4"/>
            </a:solidFill>
            <a:prstDash val="solid"/>
            <a:miter lim="800000"/>
          </a:ln>
          <a:effectLst/>
        </p:spPr>
        <p:txBody>
          <a:bodyPr rtlCol="0" anchor="ctr"/>
          <a:lstStyle/>
          <a:p>
            <a:pPr algn="ctr">
              <a:buClrTx/>
              <a:buFontTx/>
              <a:buNone/>
            </a:pPr>
            <a:r>
              <a:rPr lang="en-US" sz="1100">
                <a:solidFill>
                  <a:srgbClr val="36365C"/>
                </a:solidFill>
                <a:latin typeface="Segoe UI"/>
                <a:ea typeface="+mn-ea"/>
              </a:rPr>
              <a:t>Report to FPT DM/BrSE Leader</a:t>
            </a:r>
          </a:p>
        </p:txBody>
      </p:sp>
      <p:cxnSp>
        <p:nvCxnSpPr>
          <p:cNvPr id="70" name="Connector: Elbow 87">
            <a:extLst>
              <a:ext uri="{FF2B5EF4-FFF2-40B4-BE49-F238E27FC236}">
                <a16:creationId xmlns:a16="http://schemas.microsoft.com/office/drawing/2014/main" id="{9DE635FB-2307-93D3-A965-6A8D486386AF}"/>
              </a:ext>
            </a:extLst>
          </p:cNvPr>
          <p:cNvCxnSpPr>
            <a:cxnSpLocks/>
            <a:stCxn id="65" idx="3"/>
            <a:endCxn id="69" idx="3"/>
          </p:cNvCxnSpPr>
          <p:nvPr/>
        </p:nvCxnSpPr>
        <p:spPr>
          <a:xfrm flipH="1">
            <a:off x="8549493" y="5878310"/>
            <a:ext cx="14752" cy="572474"/>
          </a:xfrm>
          <a:prstGeom prst="bentConnector3">
            <a:avLst>
              <a:gd name="adj1" fmla="val -1549620"/>
            </a:avLst>
          </a:prstGeom>
          <a:noFill/>
          <a:ln w="6350" cap="flat" cmpd="sng" algn="ctr">
            <a:solidFill>
              <a:srgbClr val="36365C"/>
            </a:solidFill>
            <a:prstDash val="solid"/>
            <a:miter lim="800000"/>
            <a:tailEnd type="triangle"/>
          </a:ln>
          <a:effectLst/>
        </p:spPr>
      </p:cxnSp>
      <p:sp>
        <p:nvSpPr>
          <p:cNvPr id="71" name="Rectangle 70">
            <a:extLst>
              <a:ext uri="{FF2B5EF4-FFF2-40B4-BE49-F238E27FC236}">
                <a16:creationId xmlns:a16="http://schemas.microsoft.com/office/drawing/2014/main" id="{6A5F9EBD-255E-C682-34C7-B7848249FC57}"/>
              </a:ext>
            </a:extLst>
          </p:cNvPr>
          <p:cNvSpPr/>
          <p:nvPr/>
        </p:nvSpPr>
        <p:spPr>
          <a:xfrm>
            <a:off x="634443" y="1686660"/>
            <a:ext cx="1410647" cy="53635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Request drop/ postpone/delay project</a:t>
            </a:r>
          </a:p>
        </p:txBody>
      </p:sp>
      <p:sp>
        <p:nvSpPr>
          <p:cNvPr id="72" name="Rectangle 71">
            <a:extLst>
              <a:ext uri="{FF2B5EF4-FFF2-40B4-BE49-F238E27FC236}">
                <a16:creationId xmlns:a16="http://schemas.microsoft.com/office/drawing/2014/main" id="{AA82BDB9-D094-BAE3-47B8-9B123EEA64BA}"/>
              </a:ext>
            </a:extLst>
          </p:cNvPr>
          <p:cNvSpPr/>
          <p:nvPr/>
        </p:nvSpPr>
        <p:spPr>
          <a:xfrm>
            <a:off x="7005651" y="2552526"/>
            <a:ext cx="1540949" cy="53017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Create drop/postpone/delay quotation</a:t>
            </a:r>
          </a:p>
        </p:txBody>
      </p:sp>
      <p:cxnSp>
        <p:nvCxnSpPr>
          <p:cNvPr id="73" name="Connector: Elbow 39">
            <a:extLst>
              <a:ext uri="{FF2B5EF4-FFF2-40B4-BE49-F238E27FC236}">
                <a16:creationId xmlns:a16="http://schemas.microsoft.com/office/drawing/2014/main" id="{6AFD2019-6591-B22D-A5D2-14B20177D843}"/>
              </a:ext>
            </a:extLst>
          </p:cNvPr>
          <p:cNvCxnSpPr>
            <a:cxnSpLocks/>
            <a:stCxn id="72" idx="2"/>
            <a:endCxn id="59" idx="0"/>
          </p:cNvCxnSpPr>
          <p:nvPr/>
        </p:nvCxnSpPr>
        <p:spPr>
          <a:xfrm rot="5400000">
            <a:off x="6373422" y="2429534"/>
            <a:ext cx="749539" cy="2055870"/>
          </a:xfrm>
          <a:prstGeom prst="bentConnector3">
            <a:avLst>
              <a:gd name="adj1" fmla="val 50000"/>
            </a:avLst>
          </a:prstGeom>
          <a:noFill/>
          <a:ln w="6350" cap="flat" cmpd="sng" algn="ctr">
            <a:solidFill>
              <a:srgbClr val="36365C"/>
            </a:solidFill>
            <a:prstDash val="solid"/>
            <a:miter lim="800000"/>
            <a:tailEnd type="triangle"/>
          </a:ln>
          <a:effectLst/>
        </p:spPr>
      </p:cxnSp>
      <p:sp>
        <p:nvSpPr>
          <p:cNvPr id="74" name="Rectangle 73">
            <a:extLst>
              <a:ext uri="{FF2B5EF4-FFF2-40B4-BE49-F238E27FC236}">
                <a16:creationId xmlns:a16="http://schemas.microsoft.com/office/drawing/2014/main" id="{C14A7A58-8688-A8B0-3F66-B81CABE04A87}"/>
              </a:ext>
            </a:extLst>
          </p:cNvPr>
          <p:cNvSpPr/>
          <p:nvPr/>
        </p:nvSpPr>
        <p:spPr>
          <a:xfrm>
            <a:off x="4573085" y="6202810"/>
            <a:ext cx="2043509" cy="499734"/>
          </a:xfrm>
          <a:prstGeom prst="rect">
            <a:avLst/>
          </a:prstGeom>
          <a:solidFill>
            <a:srgbClr val="4F127F">
              <a:lumMod val="20000"/>
              <a:lumOff val="80000"/>
            </a:srgbClr>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Report to GDC to arrange other works for released members</a:t>
            </a:r>
          </a:p>
        </p:txBody>
      </p:sp>
      <p:cxnSp>
        <p:nvCxnSpPr>
          <p:cNvPr id="75" name="Straight Arrow Connector 74">
            <a:extLst>
              <a:ext uri="{FF2B5EF4-FFF2-40B4-BE49-F238E27FC236}">
                <a16:creationId xmlns:a16="http://schemas.microsoft.com/office/drawing/2014/main" id="{77127CA5-C9B8-3835-81EE-F58FBC5D357B}"/>
              </a:ext>
            </a:extLst>
          </p:cNvPr>
          <p:cNvCxnSpPr>
            <a:cxnSpLocks/>
            <a:stCxn id="69" idx="1"/>
            <a:endCxn id="74" idx="3"/>
          </p:cNvCxnSpPr>
          <p:nvPr/>
        </p:nvCxnSpPr>
        <p:spPr>
          <a:xfrm flipH="1">
            <a:off x="6616594" y="6450784"/>
            <a:ext cx="538729" cy="1893"/>
          </a:xfrm>
          <a:prstGeom prst="straightConnector1">
            <a:avLst/>
          </a:prstGeom>
          <a:noFill/>
          <a:ln w="6350" cap="flat" cmpd="sng" algn="ctr">
            <a:solidFill>
              <a:srgbClr val="36365C"/>
            </a:solidFill>
            <a:prstDash val="solid"/>
            <a:miter lim="800000"/>
            <a:tailEnd type="triangle"/>
          </a:ln>
          <a:effectLst/>
        </p:spPr>
      </p:cxnSp>
      <p:cxnSp>
        <p:nvCxnSpPr>
          <p:cNvPr id="76" name="Straight Arrow Connector 75">
            <a:extLst>
              <a:ext uri="{FF2B5EF4-FFF2-40B4-BE49-F238E27FC236}">
                <a16:creationId xmlns:a16="http://schemas.microsoft.com/office/drawing/2014/main" id="{07A845E9-972A-C790-8AA4-DD73F7B18E9B}"/>
              </a:ext>
            </a:extLst>
          </p:cNvPr>
          <p:cNvCxnSpPr>
            <a:cxnSpLocks/>
            <a:stCxn id="71" idx="3"/>
            <a:endCxn id="77" idx="1"/>
          </p:cNvCxnSpPr>
          <p:nvPr/>
        </p:nvCxnSpPr>
        <p:spPr>
          <a:xfrm>
            <a:off x="2045090" y="1954837"/>
            <a:ext cx="2978322" cy="2982"/>
          </a:xfrm>
          <a:prstGeom prst="straightConnector1">
            <a:avLst/>
          </a:prstGeom>
          <a:noFill/>
          <a:ln w="6350" cap="flat" cmpd="sng" algn="ctr">
            <a:solidFill>
              <a:srgbClr val="36365C"/>
            </a:solidFill>
            <a:prstDash val="solid"/>
            <a:miter lim="800000"/>
            <a:tailEnd type="triangle"/>
          </a:ln>
          <a:effectLst/>
        </p:spPr>
      </p:cxnSp>
      <p:sp>
        <p:nvSpPr>
          <p:cNvPr id="77" name="Rectangle 76">
            <a:extLst>
              <a:ext uri="{FF2B5EF4-FFF2-40B4-BE49-F238E27FC236}">
                <a16:creationId xmlns:a16="http://schemas.microsoft.com/office/drawing/2014/main" id="{F507EF87-85E2-3DA5-D004-3D926BD7C0F4}"/>
              </a:ext>
            </a:extLst>
          </p:cNvPr>
          <p:cNvSpPr/>
          <p:nvPr/>
        </p:nvSpPr>
        <p:spPr>
          <a:xfrm>
            <a:off x="5023412" y="1777689"/>
            <a:ext cx="1334924" cy="360260"/>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Inform offshore team</a:t>
            </a:r>
          </a:p>
        </p:txBody>
      </p:sp>
      <p:cxnSp>
        <p:nvCxnSpPr>
          <p:cNvPr id="78" name="Straight Arrow Connector 77">
            <a:extLst>
              <a:ext uri="{FF2B5EF4-FFF2-40B4-BE49-F238E27FC236}">
                <a16:creationId xmlns:a16="http://schemas.microsoft.com/office/drawing/2014/main" id="{00BBF43D-7C17-E634-1CBA-6834919143AD}"/>
              </a:ext>
            </a:extLst>
          </p:cNvPr>
          <p:cNvCxnSpPr>
            <a:cxnSpLocks/>
            <a:stCxn id="77" idx="3"/>
            <a:endCxn id="80" idx="1"/>
          </p:cNvCxnSpPr>
          <p:nvPr/>
        </p:nvCxnSpPr>
        <p:spPr>
          <a:xfrm>
            <a:off x="6358336" y="1957819"/>
            <a:ext cx="540199" cy="5906"/>
          </a:xfrm>
          <a:prstGeom prst="straightConnector1">
            <a:avLst/>
          </a:prstGeom>
          <a:noFill/>
          <a:ln w="6350" cap="flat" cmpd="sng" algn="ctr">
            <a:solidFill>
              <a:srgbClr val="36365C"/>
            </a:solidFill>
            <a:prstDash val="solid"/>
            <a:miter lim="800000"/>
            <a:tailEnd type="triangle"/>
          </a:ln>
          <a:effectLst/>
        </p:spPr>
      </p:cxnSp>
      <p:graphicFrame>
        <p:nvGraphicFramePr>
          <p:cNvPr id="79" name="Table 5">
            <a:extLst>
              <a:ext uri="{FF2B5EF4-FFF2-40B4-BE49-F238E27FC236}">
                <a16:creationId xmlns:a16="http://schemas.microsoft.com/office/drawing/2014/main" id="{6850699A-C4D4-5435-21CF-ED637B529ACE}"/>
              </a:ext>
            </a:extLst>
          </p:cNvPr>
          <p:cNvGraphicFramePr>
            <a:graphicFrameLocks noGrp="1"/>
          </p:cNvGraphicFramePr>
          <p:nvPr/>
        </p:nvGraphicFramePr>
        <p:xfrm>
          <a:off x="8969155" y="1209871"/>
          <a:ext cx="3189247" cy="2329681"/>
        </p:xfrm>
        <a:graphic>
          <a:graphicData uri="http://schemas.openxmlformats.org/drawingml/2006/table">
            <a:tbl>
              <a:tblPr firstRow="1" bandRow="1"/>
              <a:tblGrid>
                <a:gridCol w="250252">
                  <a:extLst>
                    <a:ext uri="{9D8B030D-6E8A-4147-A177-3AD203B41FA5}">
                      <a16:colId xmlns:a16="http://schemas.microsoft.com/office/drawing/2014/main" val="2401596969"/>
                    </a:ext>
                  </a:extLst>
                </a:gridCol>
                <a:gridCol w="785575">
                  <a:extLst>
                    <a:ext uri="{9D8B030D-6E8A-4147-A177-3AD203B41FA5}">
                      <a16:colId xmlns:a16="http://schemas.microsoft.com/office/drawing/2014/main" val="934427828"/>
                    </a:ext>
                  </a:extLst>
                </a:gridCol>
                <a:gridCol w="2153420">
                  <a:extLst>
                    <a:ext uri="{9D8B030D-6E8A-4147-A177-3AD203B41FA5}">
                      <a16:colId xmlns:a16="http://schemas.microsoft.com/office/drawing/2014/main" val="1110896338"/>
                    </a:ext>
                  </a:extLst>
                </a:gridCol>
              </a:tblGrid>
              <a:tr h="318001">
                <a:tc>
                  <a:txBody>
                    <a:bodyPr/>
                    <a:lstStyle>
                      <a:lvl1pPr marL="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9pPr>
                    </a:lstStyle>
                    <a:p>
                      <a:pPr algn="ctr"/>
                      <a:r>
                        <a:rPr lang="en-US" sz="1000"/>
                        <a:t>#</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9pPr>
                    </a:lstStyle>
                    <a:p>
                      <a:pPr algn="ctr"/>
                      <a:r>
                        <a:rPr lang="en-US" sz="1000"/>
                        <a:t>Category</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800" b="1" i="0" u="none" strike="noStrike" kern="1200" cap="none">
                          <a:solidFill>
                            <a:schemeClr val="lt1"/>
                          </a:solidFill>
                          <a:latin typeface="Segoe UI"/>
                          <a:sym typeface="Arial"/>
                        </a:defRPr>
                      </a:lvl9pPr>
                    </a:lstStyle>
                    <a:p>
                      <a:pPr algn="ctr"/>
                      <a:r>
                        <a:rPr lang="en-US" sz="1000"/>
                        <a:t>Explanation</a:t>
                      </a:r>
                    </a:p>
                  </a:txBody>
                  <a:tcPr>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lnTlToBr w="12700" cmpd="sng">
                      <a:noFill/>
                      <a:prstDash val="solid"/>
                    </a:lnTlToBr>
                    <a:lnBlToTr w="12700" cmpd="sng">
                      <a:noFill/>
                      <a:prstDash val="solid"/>
                    </a:lnBlToTr>
                    <a:solidFill>
                      <a:srgbClr val="4472C4"/>
                    </a:solidFill>
                  </a:tcPr>
                </a:tc>
                <a:extLst>
                  <a:ext uri="{0D108BD9-81ED-4DB2-BD59-A6C34878D82A}">
                    <a16:rowId xmlns:a16="http://schemas.microsoft.com/office/drawing/2014/main" val="1271841297"/>
                  </a:ext>
                </a:extLst>
              </a:tr>
              <a:tr h="488667">
                <a:tc>
                  <a:txBody>
                    <a:bodyPr/>
                    <a:lstStyle>
                      <a:lvl1pPr marL="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9pPr>
                    </a:lstStyle>
                    <a:p>
                      <a:pPr algn="ctr"/>
                      <a:r>
                        <a:rPr lang="en-US" sz="1000"/>
                        <a:t>1</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BF5"/>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9pPr>
                    </a:lstStyle>
                    <a:p>
                      <a:r>
                        <a:rPr lang="en-US" sz="1000"/>
                        <a:t>Scope</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BF5"/>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800" b="0" i="0" u="none" strike="noStrike" kern="1200" cap="none">
                          <a:solidFill>
                            <a:schemeClr val="dk1"/>
                          </a:solidFill>
                          <a:latin typeface="Segoe UI"/>
                          <a:sym typeface="Arial"/>
                        </a:defRPr>
                      </a:lvl9pPr>
                    </a:lstStyle>
                    <a:p>
                      <a:pPr marL="171450" indent="-171450">
                        <a:buFont typeface="Wingdings" panose="05000000000000000000" pitchFamily="2" charset="2"/>
                        <a:buChar char="§"/>
                      </a:pPr>
                      <a:r>
                        <a:rPr lang="en-US" sz="1000"/>
                        <a:t>LGCNS requested to postpone the project after starting project</a:t>
                      </a:r>
                    </a:p>
                    <a:p>
                      <a:pPr marL="171450" indent="-171450">
                        <a:buFont typeface="Wingdings" panose="05000000000000000000" pitchFamily="2" charset="2"/>
                        <a:buChar char="§"/>
                      </a:pPr>
                      <a:r>
                        <a:rPr lang="en-US" sz="1000"/>
                        <a:t>LGCNS requested to stop the project after confirming quotation</a:t>
                      </a:r>
                    </a:p>
                    <a:p>
                      <a:pPr marL="171450" marR="0" lvl="0" indent="-171450" algn="l" defTabSz="914400" rtl="0" eaLnBrk="1" fontAlgn="auto" latinLnBrk="0" hangingPunct="1">
                        <a:lnSpc>
                          <a:spcPct val="100000"/>
                        </a:lnSpc>
                        <a:spcBef>
                          <a:spcPts val="0"/>
                        </a:spcBef>
                        <a:spcAft>
                          <a:spcPts val="0"/>
                        </a:spcAft>
                        <a:buClrTx/>
                        <a:buSzTx/>
                        <a:buFont typeface="Wingdings" panose="05000000000000000000" pitchFamily="2" charset="2"/>
                        <a:buChar char="§"/>
                        <a:tabLst/>
                        <a:defRPr/>
                      </a:pPr>
                      <a:r>
                        <a:rPr lang="en-US" sz="1000"/>
                        <a:t>LGCNS requested to delay the start date of project after confirming quotation</a:t>
                      </a:r>
                    </a:p>
                  </a:txBody>
                  <a:tcPr>
                    <a:lnL w="12700" cmpd="sng">
                      <a:solidFill>
                        <a:sysClr val="window" lastClr="FFFFFF"/>
                      </a:solidFill>
                    </a:lnL>
                    <a:lnR w="12700" cmpd="sng">
                      <a:solidFill>
                        <a:sysClr val="window" lastClr="FFFFFF"/>
                      </a:solidFill>
                    </a:lnR>
                    <a:lnT w="38100" cmpd="sng">
                      <a:solidFill>
                        <a:sysClr val="window" lastClr="FFFFFF"/>
                      </a:solidFill>
                    </a:lnT>
                    <a:lnB w="12700" cmpd="sng">
                      <a:solidFill>
                        <a:sysClr val="window" lastClr="FFFFFF"/>
                      </a:solidFill>
                    </a:lnB>
                    <a:lnTlToBr w="12700" cmpd="sng">
                      <a:noFill/>
                      <a:prstDash val="solid"/>
                    </a:lnTlToBr>
                    <a:lnBlToTr w="12700" cmpd="sng">
                      <a:noFill/>
                      <a:prstDash val="solid"/>
                    </a:lnBlToTr>
                    <a:solidFill>
                      <a:srgbClr val="E9EBF5"/>
                    </a:solidFill>
                  </a:tcPr>
                </a:tc>
                <a:extLst>
                  <a:ext uri="{0D108BD9-81ED-4DB2-BD59-A6C34878D82A}">
                    <a16:rowId xmlns:a16="http://schemas.microsoft.com/office/drawing/2014/main" val="2798596418"/>
                  </a:ext>
                </a:extLst>
              </a:tr>
              <a:tr h="462264">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9pPr>
                    </a:lstStyle>
                    <a:p>
                      <a:pPr algn="ctr"/>
                      <a:r>
                        <a:rPr lang="en-US" sz="1000"/>
                        <a:t>2</a:t>
                      </a:r>
                    </a:p>
                  </a:txBody>
                  <a:tcPr>
                    <a:lnL w="12700" cmpd="sng">
                      <a:solidFill>
                        <a:sysClr val="window" lastClr="FFFFFF"/>
                      </a:solidFill>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000"/>
                        <a:t>Formula For Postpone  Quotation</a:t>
                      </a:r>
                    </a:p>
                  </a:txBody>
                  <a:tcPr>
                    <a:lnL w="12700" cap="flat" cmpd="sng" algn="ctr">
                      <a:solidFill>
                        <a:sysClr val="window" lastClr="FFFFFF"/>
                      </a:solidFill>
                      <a:prstDash val="solid"/>
                      <a:round/>
                      <a:headEnd type="none" w="med" len="med"/>
                      <a:tailEnd type="none" w="med" len="med"/>
                    </a:lnL>
                    <a:lnR w="12700" cap="flat" cmpd="sng" algn="ctr">
                      <a:solidFill>
                        <a:sysClr val="window" lastClr="FFFFFF"/>
                      </a:solidFill>
                      <a:prstDash val="solid"/>
                      <a:round/>
                      <a:headEnd type="none" w="med" len="med"/>
                      <a:tailEnd type="none" w="med" len="med"/>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tc>
                  <a:txBody>
                    <a:bodyPr/>
                    <a:lstStyle>
                      <a:lvl1pPr marL="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1pPr>
                      <a:lvl2pPr marL="457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2pPr>
                      <a:lvl3pPr marL="914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3pPr>
                      <a:lvl4pPr marL="1371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4pPr>
                      <a:lvl5pPr marL="18288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5pPr>
                      <a:lvl6pPr marL="22860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6pPr>
                      <a:lvl7pPr marL="27432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7pPr>
                      <a:lvl8pPr marL="32004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8pPr>
                      <a:lvl9pPr marL="3657600" marR="0" algn="l" defTabSz="914400" rtl="0" eaLnBrk="1" latinLnBrk="0" hangingPunct="1">
                        <a:lnSpc>
                          <a:spcPct val="100000"/>
                        </a:lnSpc>
                        <a:spcBef>
                          <a:spcPts val="0"/>
                        </a:spcBef>
                        <a:spcAft>
                          <a:spcPts val="0"/>
                        </a:spcAft>
                        <a:buClr>
                          <a:srgbClr val="000000"/>
                        </a:buClr>
                        <a:buFont typeface="Arial"/>
                        <a:defRPr sz="1400" b="0" i="0" u="none" strike="noStrike" kern="1200" cap="none">
                          <a:solidFill>
                            <a:schemeClr val="tx1"/>
                          </a:solidFill>
                          <a:latin typeface="Segoe UI"/>
                          <a:sym typeface="Arial"/>
                        </a:defRPr>
                      </a:lvl9pPr>
                    </a:lstStyle>
                    <a:p>
                      <a:pPr marL="0" indent="0">
                        <a:buFont typeface="Wingdings" panose="05000000000000000000" pitchFamily="2" charset="2"/>
                        <a:buNone/>
                      </a:pPr>
                      <a:r>
                        <a:rPr lang="en-US" sz="1000" b="1" kern="1200">
                          <a:solidFill>
                            <a:schemeClr val="dk1"/>
                          </a:solidFill>
                          <a:latin typeface="+mn-lt"/>
                          <a:ea typeface="+mn-ea"/>
                          <a:cs typeface="+mn-cs"/>
                          <a:sym typeface="Wingdings" panose="05000000000000000000" pitchFamily="2" charset="2"/>
                        </a:rPr>
                        <a:t>Drop/Postpone/Delay </a:t>
                      </a:r>
                      <a:r>
                        <a:rPr lang="en-US" sz="1000" b="1"/>
                        <a:t>Quotation (MM) </a:t>
                      </a:r>
                      <a:r>
                        <a:rPr lang="en-US" sz="1000"/>
                        <a:t>= actual spent working days / 20</a:t>
                      </a:r>
                    </a:p>
                  </a:txBody>
                  <a:tcPr>
                    <a:lnL w="12700" cap="flat" cmpd="sng" algn="ctr">
                      <a:solidFill>
                        <a:sysClr val="window" lastClr="FFFFFF"/>
                      </a:solidFill>
                      <a:prstDash val="solid"/>
                      <a:round/>
                      <a:headEnd type="none" w="med" len="med"/>
                      <a:tailEnd type="none" w="med" len="med"/>
                    </a:lnL>
                    <a:lnR w="12700" cmpd="sng">
                      <a:solidFill>
                        <a:sysClr val="window" lastClr="FFFFFF"/>
                      </a:solidFill>
                    </a:lnR>
                    <a:lnT w="12700" cap="flat" cmpd="sng" algn="ctr">
                      <a:solidFill>
                        <a:sysClr val="window" lastClr="FFFFFF"/>
                      </a:solidFill>
                      <a:prstDash val="solid"/>
                      <a:round/>
                      <a:headEnd type="none" w="med" len="med"/>
                      <a:tailEnd type="none" w="med" len="med"/>
                    </a:lnT>
                    <a:lnB w="12700" cmpd="sng">
                      <a:solidFill>
                        <a:sysClr val="window" lastClr="FFFFFF"/>
                      </a:solidFill>
                    </a:lnB>
                    <a:lnTlToBr w="12700" cmpd="sng">
                      <a:noFill/>
                      <a:prstDash val="solid"/>
                    </a:lnTlToBr>
                    <a:lnBlToTr w="12700" cmpd="sng">
                      <a:noFill/>
                      <a:prstDash val="solid"/>
                    </a:lnBlToTr>
                    <a:solidFill>
                      <a:srgbClr val="4472C4">
                        <a:tint val="20000"/>
                      </a:srgbClr>
                    </a:solidFill>
                  </a:tcPr>
                </a:tc>
                <a:extLst>
                  <a:ext uri="{0D108BD9-81ED-4DB2-BD59-A6C34878D82A}">
                    <a16:rowId xmlns:a16="http://schemas.microsoft.com/office/drawing/2014/main" val="1019571592"/>
                  </a:ext>
                </a:extLst>
              </a:tr>
            </a:tbl>
          </a:graphicData>
        </a:graphic>
      </p:graphicFrame>
      <p:sp>
        <p:nvSpPr>
          <p:cNvPr id="80" name="Diamond 79">
            <a:extLst>
              <a:ext uri="{FF2B5EF4-FFF2-40B4-BE49-F238E27FC236}">
                <a16:creationId xmlns:a16="http://schemas.microsoft.com/office/drawing/2014/main" id="{EC381DDD-A7C0-F768-9D2C-95F0F9C5F802}"/>
              </a:ext>
            </a:extLst>
          </p:cNvPr>
          <p:cNvSpPr/>
          <p:nvPr/>
        </p:nvSpPr>
        <p:spPr>
          <a:xfrm>
            <a:off x="6898535" y="1639224"/>
            <a:ext cx="1766573" cy="649002"/>
          </a:xfrm>
          <a:prstGeom prst="diamond">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800" kern="1200">
                <a:solidFill>
                  <a:srgbClr val="0D0D0D"/>
                </a:solidFill>
                <a:latin typeface="Segoe UI"/>
                <a:ea typeface="+mn-ea"/>
                <a:cs typeface="+mn-cs"/>
              </a:rPr>
              <a:t>Request date after project start date</a:t>
            </a:r>
            <a:endParaRPr lang="en-US" sz="800">
              <a:solidFill>
                <a:srgbClr val="36365C"/>
              </a:solidFill>
              <a:latin typeface="Segoe UI"/>
              <a:ea typeface="+mn-ea"/>
            </a:endParaRPr>
          </a:p>
        </p:txBody>
      </p:sp>
      <p:cxnSp>
        <p:nvCxnSpPr>
          <p:cNvPr id="81" name="Connector: Elbow 87">
            <a:extLst>
              <a:ext uri="{FF2B5EF4-FFF2-40B4-BE49-F238E27FC236}">
                <a16:creationId xmlns:a16="http://schemas.microsoft.com/office/drawing/2014/main" id="{B7E11D28-E0FD-9D94-CA06-5C9F967EAE89}"/>
              </a:ext>
            </a:extLst>
          </p:cNvPr>
          <p:cNvCxnSpPr>
            <a:cxnSpLocks/>
            <a:stCxn id="80" idx="3"/>
            <a:endCxn id="65" idx="0"/>
          </p:cNvCxnSpPr>
          <p:nvPr/>
        </p:nvCxnSpPr>
        <p:spPr>
          <a:xfrm flipH="1">
            <a:off x="7850186" y="1963725"/>
            <a:ext cx="814922" cy="3708233"/>
          </a:xfrm>
          <a:prstGeom prst="bentConnector4">
            <a:avLst>
              <a:gd name="adj1" fmla="val -28052"/>
              <a:gd name="adj2" fmla="val 91870"/>
            </a:avLst>
          </a:prstGeom>
          <a:noFill/>
          <a:ln w="6350" cap="flat" cmpd="sng" algn="ctr">
            <a:solidFill>
              <a:srgbClr val="36365C"/>
            </a:solidFill>
            <a:prstDash val="solid"/>
            <a:miter lim="800000"/>
            <a:tailEnd type="triangle"/>
          </a:ln>
          <a:effectLst/>
        </p:spPr>
      </p:cxnSp>
      <p:sp>
        <p:nvSpPr>
          <p:cNvPr id="82" name="TextBox 81">
            <a:extLst>
              <a:ext uri="{FF2B5EF4-FFF2-40B4-BE49-F238E27FC236}">
                <a16:creationId xmlns:a16="http://schemas.microsoft.com/office/drawing/2014/main" id="{ACD2D7A2-E60F-7C16-A5F5-725E3E0D0DD6}"/>
              </a:ext>
            </a:extLst>
          </p:cNvPr>
          <p:cNvSpPr txBox="1"/>
          <p:nvPr/>
        </p:nvSpPr>
        <p:spPr>
          <a:xfrm>
            <a:off x="8342141" y="2084564"/>
            <a:ext cx="489317"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No</a:t>
            </a:r>
          </a:p>
        </p:txBody>
      </p:sp>
      <p:sp>
        <p:nvSpPr>
          <p:cNvPr id="83" name="TextBox 82">
            <a:extLst>
              <a:ext uri="{FF2B5EF4-FFF2-40B4-BE49-F238E27FC236}">
                <a16:creationId xmlns:a16="http://schemas.microsoft.com/office/drawing/2014/main" id="{81002C63-4FBA-5CC9-9BBB-CEC48E43FBFE}"/>
              </a:ext>
            </a:extLst>
          </p:cNvPr>
          <p:cNvSpPr txBox="1"/>
          <p:nvPr/>
        </p:nvSpPr>
        <p:spPr>
          <a:xfrm>
            <a:off x="7297504" y="2302172"/>
            <a:ext cx="497270" cy="261610"/>
          </a:xfrm>
          <a:prstGeom prst="rect">
            <a:avLst/>
          </a:prstGeom>
          <a:noFill/>
        </p:spPr>
        <p:txBody>
          <a:bodyPr wrap="square" rtlCol="0">
            <a:spAutoFit/>
          </a:bodyPr>
          <a:lstStyle/>
          <a:p>
            <a:pPr>
              <a:buClrTx/>
              <a:buFontTx/>
              <a:buNone/>
              <a:defRPr/>
            </a:pPr>
            <a:r>
              <a:rPr lang="en-US" sz="1100">
                <a:solidFill>
                  <a:srgbClr val="36365C"/>
                </a:solidFill>
                <a:latin typeface="Segoe UI"/>
                <a:ea typeface="+mn-ea"/>
              </a:rPr>
              <a:t>Yes</a:t>
            </a:r>
          </a:p>
        </p:txBody>
      </p:sp>
      <p:cxnSp>
        <p:nvCxnSpPr>
          <p:cNvPr id="84" name="Straight Arrow Connector 83">
            <a:extLst>
              <a:ext uri="{FF2B5EF4-FFF2-40B4-BE49-F238E27FC236}">
                <a16:creationId xmlns:a16="http://schemas.microsoft.com/office/drawing/2014/main" id="{552259E2-3BEF-1ED7-82E4-91DC3AC40AFC}"/>
              </a:ext>
            </a:extLst>
          </p:cNvPr>
          <p:cNvCxnSpPr>
            <a:cxnSpLocks/>
            <a:stCxn id="80" idx="2"/>
            <a:endCxn id="72" idx="0"/>
          </p:cNvCxnSpPr>
          <p:nvPr/>
        </p:nvCxnSpPr>
        <p:spPr>
          <a:xfrm flipH="1">
            <a:off x="7776126" y="2288226"/>
            <a:ext cx="5696" cy="264300"/>
          </a:xfrm>
          <a:prstGeom prst="straightConnector1">
            <a:avLst/>
          </a:prstGeom>
          <a:noFill/>
          <a:ln w="6350" cap="flat" cmpd="sng" algn="ctr">
            <a:solidFill>
              <a:srgbClr val="36365C"/>
            </a:solidFill>
            <a:prstDash val="solid"/>
            <a:miter lim="800000"/>
            <a:tailEnd type="triangle"/>
          </a:ln>
          <a:effectLst/>
        </p:spPr>
      </p:cxnSp>
      <p:cxnSp>
        <p:nvCxnSpPr>
          <p:cNvPr id="85" name="Straight Arrow Connector 84">
            <a:extLst>
              <a:ext uri="{FF2B5EF4-FFF2-40B4-BE49-F238E27FC236}">
                <a16:creationId xmlns:a16="http://schemas.microsoft.com/office/drawing/2014/main" id="{C061AE5F-83FB-C548-ADC5-1337DB51C76E}"/>
              </a:ext>
            </a:extLst>
          </p:cNvPr>
          <p:cNvCxnSpPr>
            <a:cxnSpLocks/>
            <a:stCxn id="74" idx="1"/>
            <a:endCxn id="86" idx="3"/>
          </p:cNvCxnSpPr>
          <p:nvPr/>
        </p:nvCxnSpPr>
        <p:spPr>
          <a:xfrm flipH="1" flipV="1">
            <a:off x="4068318" y="6442658"/>
            <a:ext cx="504767" cy="10019"/>
          </a:xfrm>
          <a:prstGeom prst="straightConnector1">
            <a:avLst/>
          </a:prstGeom>
          <a:noFill/>
          <a:ln w="6350" cap="flat" cmpd="sng" algn="ctr">
            <a:solidFill>
              <a:srgbClr val="36365C"/>
            </a:solidFill>
            <a:prstDash val="solid"/>
            <a:miter lim="800000"/>
            <a:tailEnd type="triangle"/>
          </a:ln>
          <a:effectLst/>
        </p:spPr>
      </p:cxnSp>
      <p:sp>
        <p:nvSpPr>
          <p:cNvPr id="86" name="Rectangle 85">
            <a:extLst>
              <a:ext uri="{FF2B5EF4-FFF2-40B4-BE49-F238E27FC236}">
                <a16:creationId xmlns:a16="http://schemas.microsoft.com/office/drawing/2014/main" id="{92424A41-0F69-0B8E-5C76-F69777BDC840}"/>
              </a:ext>
            </a:extLst>
          </p:cNvPr>
          <p:cNvSpPr/>
          <p:nvPr/>
        </p:nvSpPr>
        <p:spPr>
          <a:xfrm>
            <a:off x="2674148" y="6192791"/>
            <a:ext cx="1394170" cy="49973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Record released members</a:t>
            </a:r>
          </a:p>
        </p:txBody>
      </p:sp>
      <p:sp>
        <p:nvSpPr>
          <p:cNvPr id="87" name="Callout: Bent Line 114">
            <a:extLst>
              <a:ext uri="{FF2B5EF4-FFF2-40B4-BE49-F238E27FC236}">
                <a16:creationId xmlns:a16="http://schemas.microsoft.com/office/drawing/2014/main" id="{3BC7D3C9-66A3-D50F-DAA8-ABA610CF82A6}"/>
              </a:ext>
            </a:extLst>
          </p:cNvPr>
          <p:cNvSpPr/>
          <p:nvPr/>
        </p:nvSpPr>
        <p:spPr>
          <a:xfrm>
            <a:off x="257325" y="6034558"/>
            <a:ext cx="1993808" cy="784870"/>
          </a:xfrm>
          <a:prstGeom prst="borderCallout2">
            <a:avLst>
              <a:gd name="adj1" fmla="val 14350"/>
              <a:gd name="adj2" fmla="val 100767"/>
              <a:gd name="adj3" fmla="val -7794"/>
              <a:gd name="adj4" fmla="val 112300"/>
              <a:gd name="adj5" fmla="val 22040"/>
              <a:gd name="adj6" fmla="val 127697"/>
            </a:avLst>
          </a:prstGeom>
          <a:solidFill>
            <a:srgbClr val="C00000"/>
          </a:solidFill>
          <a:ln w="12700" cap="flat" cmpd="sng" algn="ctr">
            <a:solidFill>
              <a:srgbClr val="33B2C1"/>
            </a:solidFill>
            <a:prstDash val="solid"/>
            <a:miter lim="800000"/>
            <a:tailEnd type="oval" w="lg" len="lg"/>
          </a:ln>
          <a:effectLst/>
        </p:spPr>
        <p:txBody>
          <a:bodyPr rtlCol="0" anchor="ctr"/>
          <a:lstStyle/>
          <a:p>
            <a:pPr marL="171450" indent="-171450">
              <a:buClrTx/>
              <a:buFont typeface="Wingdings" panose="05000000000000000000" pitchFamily="2" charset="2"/>
              <a:buChar char="§"/>
              <a:defRPr/>
            </a:pPr>
            <a:r>
              <a:rPr lang="en-US" sz="1000" kern="1200">
                <a:solidFill>
                  <a:prstClr val="white"/>
                </a:solidFill>
                <a:latin typeface="Segoe UI"/>
                <a:ea typeface="+mn-ea"/>
              </a:rPr>
              <a:t>Efficiently manage released resource pool.</a:t>
            </a:r>
          </a:p>
          <a:p>
            <a:pPr marL="171450" indent="-171450">
              <a:buClrTx/>
              <a:buFont typeface="Wingdings" panose="05000000000000000000" pitchFamily="2" charset="2"/>
              <a:buChar char="§"/>
              <a:defRPr/>
            </a:pPr>
            <a:r>
              <a:rPr lang="en-US" sz="1000" kern="1200">
                <a:solidFill>
                  <a:prstClr val="white"/>
                </a:solidFill>
                <a:latin typeface="Segoe UI"/>
                <a:ea typeface="+mn-ea"/>
              </a:rPr>
              <a:t>Suggest allocating released members in other project.</a:t>
            </a:r>
          </a:p>
        </p:txBody>
      </p:sp>
    </p:spTree>
    <p:extLst>
      <p:ext uri="{BB962C8B-B14F-4D97-AF65-F5344CB8AC3E}">
        <p14:creationId xmlns:p14="http://schemas.microsoft.com/office/powerpoint/2010/main" val="380712906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13;p40">
            <a:extLst>
              <a:ext uri="{FF2B5EF4-FFF2-40B4-BE49-F238E27FC236}">
                <a16:creationId xmlns:a16="http://schemas.microsoft.com/office/drawing/2014/main" id="{75F0E026-7AFA-1C63-A5A4-A346817DB81C}"/>
              </a:ext>
            </a:extLst>
          </p:cNvPr>
          <p:cNvSpPr txBox="1">
            <a:spLocks noGrp="1"/>
          </p:cNvSpPr>
          <p:nvPr>
            <p:ph type="sldNum" idx="12"/>
          </p:nvPr>
        </p:nvSpPr>
        <p:spPr>
          <a:xfrm>
            <a:off x="11597481" y="6389138"/>
            <a:ext cx="453570" cy="394335"/>
          </a:xfrm>
          <a:prstGeom prst="rect">
            <a:avLst/>
          </a:prstGeom>
          <a:noFill/>
          <a:ln>
            <a:noFill/>
          </a:ln>
        </p:spPr>
        <p:txBody>
          <a:bodyPr spcFirstLastPara="1" wrap="square" lIns="91425" tIns="45700" rIns="91425" bIns="45700" anchor="ctr" anchorCtr="0">
            <a:noAutofit/>
          </a:bodyPr>
          <a:lstStyle>
            <a:lvl1pPr marL="0" marR="0" lvl="0" indent="0" algn="ctr" rtl="0">
              <a:spcBef>
                <a:spcPts val="0"/>
              </a:spcBef>
              <a:buNone/>
              <a:defRPr sz="800" b="0" i="0" u="none" strike="noStrike" cap="none">
                <a:solidFill>
                  <a:schemeClr val="bg1"/>
                </a:solidFill>
                <a:latin typeface="Segoe UI Symbol" panose="020B0502040204020203" pitchFamily="34" charset="0"/>
                <a:ea typeface="Segoe UI Symbol" panose="020B0502040204020203" pitchFamily="34" charset="0"/>
                <a:cs typeface="Arial"/>
                <a:sym typeface="Arial"/>
              </a:defRPr>
            </a:lvl1pPr>
            <a:lvl2pPr marL="0" marR="0" lvl="1" indent="0" algn="ctr" rtl="0">
              <a:spcBef>
                <a:spcPts val="0"/>
              </a:spcBef>
              <a:buNone/>
              <a:defRPr sz="1000" b="0" i="0" u="none" strike="noStrike" cap="none">
                <a:solidFill>
                  <a:srgbClr val="888888"/>
                </a:solidFill>
                <a:latin typeface="Arial"/>
                <a:ea typeface="Arial"/>
                <a:cs typeface="Arial"/>
                <a:sym typeface="Arial"/>
              </a:defRPr>
            </a:lvl2pPr>
            <a:lvl3pPr marL="0" marR="0" lvl="2" indent="0" algn="ctr" rtl="0">
              <a:spcBef>
                <a:spcPts val="0"/>
              </a:spcBef>
              <a:buNone/>
              <a:defRPr sz="1000" b="0" i="0" u="none" strike="noStrike" cap="none">
                <a:solidFill>
                  <a:srgbClr val="888888"/>
                </a:solidFill>
                <a:latin typeface="Arial"/>
                <a:ea typeface="Arial"/>
                <a:cs typeface="Arial"/>
                <a:sym typeface="Arial"/>
              </a:defRPr>
            </a:lvl3pPr>
            <a:lvl4pPr marL="0" marR="0" lvl="3" indent="0" algn="ctr" rtl="0">
              <a:spcBef>
                <a:spcPts val="0"/>
              </a:spcBef>
              <a:buNone/>
              <a:defRPr sz="1000" b="0" i="0" u="none" strike="noStrike" cap="none">
                <a:solidFill>
                  <a:srgbClr val="888888"/>
                </a:solidFill>
                <a:latin typeface="Arial"/>
                <a:ea typeface="Arial"/>
                <a:cs typeface="Arial"/>
                <a:sym typeface="Arial"/>
              </a:defRPr>
            </a:lvl4pPr>
            <a:lvl5pPr marL="0" marR="0" lvl="4" indent="0" algn="ctr" rtl="0">
              <a:spcBef>
                <a:spcPts val="0"/>
              </a:spcBef>
              <a:buNone/>
              <a:defRPr sz="1000" b="0" i="0" u="none" strike="noStrike" cap="none">
                <a:solidFill>
                  <a:srgbClr val="888888"/>
                </a:solidFill>
                <a:latin typeface="Arial"/>
                <a:ea typeface="Arial"/>
                <a:cs typeface="Arial"/>
                <a:sym typeface="Arial"/>
              </a:defRPr>
            </a:lvl5pPr>
            <a:lvl6pPr marL="0" marR="0" lvl="5" indent="0" algn="ctr" rtl="0">
              <a:spcBef>
                <a:spcPts val="0"/>
              </a:spcBef>
              <a:buNone/>
              <a:defRPr sz="1000" b="0" i="0" u="none" strike="noStrike" cap="none">
                <a:solidFill>
                  <a:srgbClr val="888888"/>
                </a:solidFill>
                <a:latin typeface="Arial"/>
                <a:ea typeface="Arial"/>
                <a:cs typeface="Arial"/>
                <a:sym typeface="Arial"/>
              </a:defRPr>
            </a:lvl6pPr>
            <a:lvl7pPr marL="0" marR="0" lvl="6" indent="0" algn="ctr" rtl="0">
              <a:spcBef>
                <a:spcPts val="0"/>
              </a:spcBef>
              <a:buNone/>
              <a:defRPr sz="1000" b="0" i="0" u="none" strike="noStrike" cap="none">
                <a:solidFill>
                  <a:srgbClr val="888888"/>
                </a:solidFill>
                <a:latin typeface="Arial"/>
                <a:ea typeface="Arial"/>
                <a:cs typeface="Arial"/>
                <a:sym typeface="Arial"/>
              </a:defRPr>
            </a:lvl7pPr>
            <a:lvl8pPr marL="0" marR="0" lvl="7" indent="0" algn="ctr" rtl="0">
              <a:spcBef>
                <a:spcPts val="0"/>
              </a:spcBef>
              <a:buNone/>
              <a:defRPr sz="1000" b="0" i="0" u="none" strike="noStrike" cap="none">
                <a:solidFill>
                  <a:srgbClr val="888888"/>
                </a:solidFill>
                <a:latin typeface="Arial"/>
                <a:ea typeface="Arial"/>
                <a:cs typeface="Arial"/>
                <a:sym typeface="Arial"/>
              </a:defRPr>
            </a:lvl8pPr>
            <a:lvl9pPr marL="0" marR="0" lvl="8" indent="0" algn="ctr" rtl="0">
              <a:spcBef>
                <a:spcPts val="0"/>
              </a:spcBef>
              <a:buNone/>
              <a:defRPr sz="1000" b="0" i="0" u="none" strike="noStrike" cap="none">
                <a:solidFill>
                  <a:srgbClr val="888888"/>
                </a:solidFill>
                <a:latin typeface="Arial"/>
                <a:ea typeface="Arial"/>
                <a:cs typeface="Arial"/>
                <a:sym typeface="Arial"/>
              </a:defRPr>
            </a:lvl9pPr>
          </a:lstStyle>
          <a:p>
            <a:fld id="{00000000-1234-1234-1234-123412341234}" type="slidenum">
              <a:rPr lang="en-US" smtClean="0">
                <a:solidFill>
                  <a:srgbClr val="034EA2"/>
                </a:solidFill>
              </a:rPr>
              <a:pPr/>
              <a:t>33</a:t>
            </a:fld>
            <a:endParaRPr lang="en-US" dirty="0">
              <a:solidFill>
                <a:srgbClr val="034EA2"/>
              </a:solidFill>
            </a:endParaRPr>
          </a:p>
        </p:txBody>
      </p:sp>
      <p:grpSp>
        <p:nvGrpSpPr>
          <p:cNvPr id="4" name="Group 3">
            <a:extLst>
              <a:ext uri="{FF2B5EF4-FFF2-40B4-BE49-F238E27FC236}">
                <a16:creationId xmlns:a16="http://schemas.microsoft.com/office/drawing/2014/main" id="{1B0D2FF0-A11A-7EAC-1C4D-D041BD95B5A7}"/>
              </a:ext>
            </a:extLst>
          </p:cNvPr>
          <p:cNvGrpSpPr/>
          <p:nvPr/>
        </p:nvGrpSpPr>
        <p:grpSpPr>
          <a:xfrm>
            <a:off x="479425" y="461520"/>
            <a:ext cx="11233149" cy="584775"/>
            <a:chOff x="479425" y="461520"/>
            <a:chExt cx="11233149" cy="584775"/>
          </a:xfrm>
        </p:grpSpPr>
        <p:sp>
          <p:nvSpPr>
            <p:cNvPr id="5" name="Round Diagonal Corner Rectangle 4">
              <a:extLst>
                <a:ext uri="{FF2B5EF4-FFF2-40B4-BE49-F238E27FC236}">
                  <a16:creationId xmlns:a16="http://schemas.microsoft.com/office/drawing/2014/main" id="{44724C19-4810-D262-2C81-2E860610E90B}"/>
                </a:ext>
              </a:extLst>
            </p:cNvPr>
            <p:cNvSpPr/>
            <p:nvPr/>
          </p:nvSpPr>
          <p:spPr>
            <a:xfrm>
              <a:off x="479425" y="564936"/>
              <a:ext cx="56840" cy="398937"/>
            </a:xfrm>
            <a:prstGeom prst="round2DiagRect">
              <a:avLst>
                <a:gd name="adj1" fmla="val 50000"/>
                <a:gd name="adj2" fmla="val 0"/>
              </a:avLst>
            </a:prstGeom>
            <a:solidFill>
              <a:srgbClr val="32B2C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VN">
                <a:solidFill>
                  <a:srgbClr val="32B2C2"/>
                </a:solidFill>
              </a:endParaRPr>
            </a:p>
          </p:txBody>
        </p:sp>
        <p:sp>
          <p:nvSpPr>
            <p:cNvPr id="6" name="TextBox 5">
              <a:extLst>
                <a:ext uri="{FF2B5EF4-FFF2-40B4-BE49-F238E27FC236}">
                  <a16:creationId xmlns:a16="http://schemas.microsoft.com/office/drawing/2014/main" id="{39CBDBD9-2272-F38D-C425-FBA65860B67F}"/>
                </a:ext>
              </a:extLst>
            </p:cNvPr>
            <p:cNvSpPr txBox="1"/>
            <p:nvPr/>
          </p:nvSpPr>
          <p:spPr>
            <a:xfrm>
              <a:off x="536263" y="461520"/>
              <a:ext cx="11176311" cy="584775"/>
            </a:xfrm>
            <a:prstGeom prst="rect">
              <a:avLst/>
            </a:prstGeom>
            <a:noFill/>
          </p:spPr>
          <p:txBody>
            <a:bodyPr wrap="square">
              <a:spAutoFit/>
            </a:bodyPr>
            <a:lstStyle/>
            <a:p>
              <a:pPr marL="0" indent="0">
                <a:spcBef>
                  <a:spcPts val="100"/>
                </a:spcBef>
                <a:buNone/>
              </a:pPr>
              <a:r>
                <a:rPr lang="en-US" sz="3200" b="1" dirty="0">
                  <a:solidFill>
                    <a:srgbClr val="212967"/>
                  </a:solidFill>
                  <a:latin typeface="Segoe UI" panose="020B0502040204020203" pitchFamily="34" charset="0"/>
                  <a:cs typeface="Segoe UI" panose="020B0502040204020203" pitchFamily="34" charset="0"/>
                </a:rPr>
                <a:t>13. Standard Process </a:t>
              </a:r>
              <a:r>
                <a:rPr lang="en-US" sz="2400" b="1" dirty="0">
                  <a:solidFill>
                    <a:srgbClr val="212967"/>
                  </a:solidFill>
                  <a:latin typeface="Segoe UI" panose="020B0502040204020203" pitchFamily="34" charset="0"/>
                  <a:cs typeface="Segoe UI" panose="020B0502040204020203" pitchFamily="34" charset="0"/>
                </a:rPr>
                <a:t>- Security Compliance Process</a:t>
              </a:r>
            </a:p>
          </p:txBody>
        </p:sp>
      </p:grpSp>
      <p:sp>
        <p:nvSpPr>
          <p:cNvPr id="3" name="Rectangle 2">
            <a:extLst>
              <a:ext uri="{FF2B5EF4-FFF2-40B4-BE49-F238E27FC236}">
                <a16:creationId xmlns:a16="http://schemas.microsoft.com/office/drawing/2014/main" id="{5C76877D-8ACD-07A0-4F10-3426432154CB}"/>
              </a:ext>
            </a:extLst>
          </p:cNvPr>
          <p:cNvSpPr/>
          <p:nvPr/>
        </p:nvSpPr>
        <p:spPr>
          <a:xfrm>
            <a:off x="348591" y="3424928"/>
            <a:ext cx="11751574" cy="3385982"/>
          </a:xfrm>
          <a:prstGeom prst="rect">
            <a:avLst/>
          </a:prstGeom>
          <a:solidFill>
            <a:srgbClr val="D5F1F4">
              <a:alpha val="29804"/>
            </a:srgbClr>
          </a:solidFill>
          <a:ln w="12700" cap="flat" cmpd="sng" algn="ctr">
            <a:noFill/>
            <a:prstDash val="solid"/>
            <a:miter lim="800000"/>
          </a:ln>
          <a:effectLst/>
        </p:spPr>
        <p:txBody>
          <a:bodyPr rtlCol="0" anchor="ctr"/>
          <a:lstStyle/>
          <a:p>
            <a:pPr algn="ctr">
              <a:buClrTx/>
              <a:buFontTx/>
              <a:buNone/>
              <a:defRPr/>
            </a:pPr>
            <a:endParaRPr lang="en-VN" sz="1800" kern="1200">
              <a:solidFill>
                <a:prstClr val="white"/>
              </a:solidFill>
              <a:latin typeface="Segoe UI"/>
              <a:ea typeface="+mn-ea"/>
            </a:endParaRPr>
          </a:p>
        </p:txBody>
      </p:sp>
      <p:sp>
        <p:nvSpPr>
          <p:cNvPr id="10" name="Rectangle 9">
            <a:extLst>
              <a:ext uri="{FF2B5EF4-FFF2-40B4-BE49-F238E27FC236}">
                <a16:creationId xmlns:a16="http://schemas.microsoft.com/office/drawing/2014/main" id="{D4D5D0A2-29A6-5D4E-AD16-EE3E99028314}"/>
              </a:ext>
            </a:extLst>
          </p:cNvPr>
          <p:cNvSpPr/>
          <p:nvPr/>
        </p:nvSpPr>
        <p:spPr>
          <a:xfrm>
            <a:off x="355070" y="1611071"/>
            <a:ext cx="11741909" cy="1636539"/>
          </a:xfrm>
          <a:prstGeom prst="rect">
            <a:avLst/>
          </a:prstGeom>
          <a:solidFill>
            <a:srgbClr val="D5F1F4">
              <a:alpha val="29804"/>
            </a:srgbClr>
          </a:solidFill>
          <a:ln w="12700" cap="flat" cmpd="sng" algn="ctr">
            <a:noFill/>
            <a:prstDash val="solid"/>
            <a:miter lim="800000"/>
          </a:ln>
          <a:effectLst/>
        </p:spPr>
        <p:txBody>
          <a:bodyPr rtlCol="0" anchor="ctr"/>
          <a:lstStyle/>
          <a:p>
            <a:pPr algn="ctr">
              <a:buClrTx/>
              <a:buFontTx/>
              <a:buNone/>
              <a:defRPr/>
            </a:pPr>
            <a:endParaRPr lang="en-VN" sz="1800" kern="1200">
              <a:solidFill>
                <a:prstClr val="white"/>
              </a:solidFill>
              <a:latin typeface="Segoe UI"/>
              <a:ea typeface="+mn-ea"/>
            </a:endParaRPr>
          </a:p>
        </p:txBody>
      </p:sp>
      <p:cxnSp>
        <p:nvCxnSpPr>
          <p:cNvPr id="11" name="Straight Connector 10">
            <a:extLst>
              <a:ext uri="{FF2B5EF4-FFF2-40B4-BE49-F238E27FC236}">
                <a16:creationId xmlns:a16="http://schemas.microsoft.com/office/drawing/2014/main" id="{3F7EFB37-A83A-FD1E-E0F6-1C45C38996ED}"/>
              </a:ext>
            </a:extLst>
          </p:cNvPr>
          <p:cNvCxnSpPr>
            <a:cxnSpLocks/>
          </p:cNvCxnSpPr>
          <p:nvPr/>
        </p:nvCxnSpPr>
        <p:spPr>
          <a:xfrm flipV="1">
            <a:off x="9793253" y="1095135"/>
            <a:ext cx="23145" cy="5762865"/>
          </a:xfrm>
          <a:prstGeom prst="line">
            <a:avLst/>
          </a:prstGeom>
          <a:noFill/>
          <a:ln w="25400" cap="flat" cmpd="sng" algn="ctr">
            <a:solidFill>
              <a:srgbClr val="4472C4"/>
            </a:solidFill>
            <a:prstDash val="sysDot"/>
            <a:miter lim="800000"/>
          </a:ln>
          <a:effectLst/>
        </p:spPr>
      </p:cxnSp>
      <p:cxnSp>
        <p:nvCxnSpPr>
          <p:cNvPr id="14" name="Straight Connector 13">
            <a:extLst>
              <a:ext uri="{FF2B5EF4-FFF2-40B4-BE49-F238E27FC236}">
                <a16:creationId xmlns:a16="http://schemas.microsoft.com/office/drawing/2014/main" id="{15DBCE43-82CD-750C-818B-79DBAAFF7B6B}"/>
              </a:ext>
            </a:extLst>
          </p:cNvPr>
          <p:cNvCxnSpPr>
            <a:cxnSpLocks/>
          </p:cNvCxnSpPr>
          <p:nvPr/>
        </p:nvCxnSpPr>
        <p:spPr>
          <a:xfrm flipV="1">
            <a:off x="7504053" y="1065774"/>
            <a:ext cx="23145" cy="5762865"/>
          </a:xfrm>
          <a:prstGeom prst="line">
            <a:avLst/>
          </a:prstGeom>
          <a:noFill/>
          <a:ln w="25400" cap="flat" cmpd="sng" algn="ctr">
            <a:solidFill>
              <a:srgbClr val="4472C4"/>
            </a:solidFill>
            <a:prstDash val="sysDot"/>
            <a:miter lim="800000"/>
          </a:ln>
          <a:effectLst/>
        </p:spPr>
      </p:cxnSp>
      <p:cxnSp>
        <p:nvCxnSpPr>
          <p:cNvPr id="15" name="Straight Connector 14">
            <a:extLst>
              <a:ext uri="{FF2B5EF4-FFF2-40B4-BE49-F238E27FC236}">
                <a16:creationId xmlns:a16="http://schemas.microsoft.com/office/drawing/2014/main" id="{3BABC62A-4D07-218B-E5D0-B24826956F86}"/>
              </a:ext>
            </a:extLst>
          </p:cNvPr>
          <p:cNvCxnSpPr>
            <a:cxnSpLocks/>
          </p:cNvCxnSpPr>
          <p:nvPr/>
        </p:nvCxnSpPr>
        <p:spPr>
          <a:xfrm flipV="1">
            <a:off x="5466047" y="1065774"/>
            <a:ext cx="23145" cy="5762865"/>
          </a:xfrm>
          <a:prstGeom prst="line">
            <a:avLst/>
          </a:prstGeom>
          <a:noFill/>
          <a:ln w="25400" cap="flat" cmpd="sng" algn="ctr">
            <a:solidFill>
              <a:srgbClr val="4472C4"/>
            </a:solidFill>
            <a:prstDash val="sysDot"/>
            <a:miter lim="800000"/>
          </a:ln>
          <a:effectLst/>
        </p:spPr>
      </p:cxnSp>
      <p:sp>
        <p:nvSpPr>
          <p:cNvPr id="16" name="Rectangle 15">
            <a:extLst>
              <a:ext uri="{FF2B5EF4-FFF2-40B4-BE49-F238E27FC236}">
                <a16:creationId xmlns:a16="http://schemas.microsoft.com/office/drawing/2014/main" id="{14491E58-C253-D614-308F-202F0FD7270B}"/>
              </a:ext>
            </a:extLst>
          </p:cNvPr>
          <p:cNvSpPr/>
          <p:nvPr/>
        </p:nvSpPr>
        <p:spPr>
          <a:xfrm>
            <a:off x="7886879" y="1119149"/>
            <a:ext cx="1561218" cy="396178"/>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dirty="0">
                <a:solidFill>
                  <a:prstClr val="white"/>
                </a:solidFill>
                <a:latin typeface="Segoe UI"/>
                <a:ea typeface="+mn-ea"/>
              </a:rPr>
              <a:t>IT ISM</a:t>
            </a:r>
          </a:p>
        </p:txBody>
      </p:sp>
      <p:sp>
        <p:nvSpPr>
          <p:cNvPr id="17" name="Rectangle 16">
            <a:extLst>
              <a:ext uri="{FF2B5EF4-FFF2-40B4-BE49-F238E27FC236}">
                <a16:creationId xmlns:a16="http://schemas.microsoft.com/office/drawing/2014/main" id="{E5F79C74-686D-3544-30DD-85F23CFCA943}"/>
              </a:ext>
            </a:extLst>
          </p:cNvPr>
          <p:cNvSpPr/>
          <p:nvPr/>
        </p:nvSpPr>
        <p:spPr>
          <a:xfrm>
            <a:off x="10107200" y="1119149"/>
            <a:ext cx="1358068" cy="375820"/>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dirty="0">
                <a:solidFill>
                  <a:prstClr val="white"/>
                </a:solidFill>
                <a:latin typeface="Segoe UI"/>
                <a:ea typeface="+mn-ea"/>
              </a:rPr>
              <a:t>Members</a:t>
            </a:r>
          </a:p>
        </p:txBody>
      </p:sp>
      <p:sp>
        <p:nvSpPr>
          <p:cNvPr id="18" name="Rectangle 17">
            <a:extLst>
              <a:ext uri="{FF2B5EF4-FFF2-40B4-BE49-F238E27FC236}">
                <a16:creationId xmlns:a16="http://schemas.microsoft.com/office/drawing/2014/main" id="{D024632F-A369-D875-CE67-3C5B8C5324D9}"/>
              </a:ext>
            </a:extLst>
          </p:cNvPr>
          <p:cNvSpPr/>
          <p:nvPr/>
        </p:nvSpPr>
        <p:spPr>
          <a:xfrm>
            <a:off x="5746048" y="1126079"/>
            <a:ext cx="1577544" cy="381415"/>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dirty="0">
                <a:solidFill>
                  <a:prstClr val="white"/>
                </a:solidFill>
                <a:latin typeface="Segoe UI"/>
                <a:ea typeface="+mn-ea"/>
              </a:rPr>
              <a:t>Offshore PM</a:t>
            </a:r>
          </a:p>
          <a:p>
            <a:pPr algn="ctr">
              <a:buClrTx/>
              <a:buFontTx/>
              <a:buNone/>
              <a:defRPr/>
            </a:pPr>
            <a:r>
              <a:rPr lang="en-US" sz="1200" b="1" dirty="0" err="1">
                <a:solidFill>
                  <a:prstClr val="white"/>
                </a:solidFill>
                <a:latin typeface="Segoe UI"/>
                <a:ea typeface="+mn-ea"/>
              </a:rPr>
              <a:t>Worksteam</a:t>
            </a:r>
            <a:r>
              <a:rPr lang="en-US" sz="1200" b="1" dirty="0">
                <a:solidFill>
                  <a:prstClr val="white"/>
                </a:solidFill>
                <a:latin typeface="Segoe UI"/>
                <a:ea typeface="+mn-ea"/>
              </a:rPr>
              <a:t> leader</a:t>
            </a:r>
          </a:p>
        </p:txBody>
      </p:sp>
      <p:sp>
        <p:nvSpPr>
          <p:cNvPr id="19" name="Rectangle 18">
            <a:extLst>
              <a:ext uri="{FF2B5EF4-FFF2-40B4-BE49-F238E27FC236}">
                <a16:creationId xmlns:a16="http://schemas.microsoft.com/office/drawing/2014/main" id="{027A6226-06C7-4B74-7DAF-0EFA7803490C}"/>
              </a:ext>
            </a:extLst>
          </p:cNvPr>
          <p:cNvSpPr/>
          <p:nvPr/>
        </p:nvSpPr>
        <p:spPr>
          <a:xfrm>
            <a:off x="3712435" y="1134273"/>
            <a:ext cx="1474383" cy="373222"/>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dirty="0">
                <a:solidFill>
                  <a:prstClr val="white"/>
                </a:solidFill>
                <a:latin typeface="Segoe UI"/>
                <a:ea typeface="+mn-ea"/>
              </a:rPr>
              <a:t>FPT Korea DM</a:t>
            </a:r>
          </a:p>
        </p:txBody>
      </p:sp>
      <p:sp>
        <p:nvSpPr>
          <p:cNvPr id="20" name="Rectangle 19">
            <a:extLst>
              <a:ext uri="{FF2B5EF4-FFF2-40B4-BE49-F238E27FC236}">
                <a16:creationId xmlns:a16="http://schemas.microsoft.com/office/drawing/2014/main" id="{A8E9CB8E-E053-C266-9DC3-07A5AC2C16F3}"/>
              </a:ext>
            </a:extLst>
          </p:cNvPr>
          <p:cNvSpPr/>
          <p:nvPr/>
        </p:nvSpPr>
        <p:spPr>
          <a:xfrm>
            <a:off x="5643606" y="2149054"/>
            <a:ext cx="1642058" cy="54296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Evaluate situation and </a:t>
            </a:r>
            <a:br>
              <a:rPr lang="en-US" sz="1100" dirty="0">
                <a:solidFill>
                  <a:srgbClr val="36365C"/>
                </a:solidFill>
                <a:latin typeface="Segoe UI"/>
                <a:ea typeface="+mn-ea"/>
              </a:rPr>
            </a:br>
            <a:r>
              <a:rPr lang="en-US" sz="1100" dirty="0">
                <a:solidFill>
                  <a:srgbClr val="36365C"/>
                </a:solidFill>
                <a:latin typeface="Segoe UI"/>
                <a:ea typeface="+mn-ea"/>
              </a:rPr>
              <a:t>Collect information from team</a:t>
            </a:r>
          </a:p>
        </p:txBody>
      </p:sp>
      <p:sp>
        <p:nvSpPr>
          <p:cNvPr id="21" name="Rectangle 20">
            <a:extLst>
              <a:ext uri="{FF2B5EF4-FFF2-40B4-BE49-F238E27FC236}">
                <a16:creationId xmlns:a16="http://schemas.microsoft.com/office/drawing/2014/main" id="{EDDAAEE6-6767-E422-C116-8CF0DBEC0188}"/>
              </a:ext>
            </a:extLst>
          </p:cNvPr>
          <p:cNvSpPr/>
          <p:nvPr/>
        </p:nvSpPr>
        <p:spPr>
          <a:xfrm>
            <a:off x="10100462" y="1683857"/>
            <a:ext cx="1596912" cy="421536"/>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a:solidFill>
                  <a:srgbClr val="36365C"/>
                </a:solidFill>
                <a:latin typeface="Segoe UI"/>
                <a:ea typeface="+mn-ea"/>
              </a:rPr>
              <a:t>Notice </a:t>
            </a:r>
            <a:r>
              <a:rPr lang="en-US" sz="1100" dirty="0">
                <a:solidFill>
                  <a:srgbClr val="36365C"/>
                </a:solidFill>
                <a:latin typeface="Segoe UI"/>
                <a:ea typeface="+mn-ea"/>
              </a:rPr>
              <a:t>suspicious email (phishing email).</a:t>
            </a:r>
          </a:p>
        </p:txBody>
      </p:sp>
      <p:cxnSp>
        <p:nvCxnSpPr>
          <p:cNvPr id="22" name="Connector: Elbow 39">
            <a:extLst>
              <a:ext uri="{FF2B5EF4-FFF2-40B4-BE49-F238E27FC236}">
                <a16:creationId xmlns:a16="http://schemas.microsoft.com/office/drawing/2014/main" id="{CE4436EF-34E8-84DD-4850-4F2AFFCCB276}"/>
              </a:ext>
            </a:extLst>
          </p:cNvPr>
          <p:cNvCxnSpPr>
            <a:cxnSpLocks/>
            <a:stCxn id="21" idx="2"/>
            <a:endCxn id="20" idx="3"/>
          </p:cNvCxnSpPr>
          <p:nvPr/>
        </p:nvCxnSpPr>
        <p:spPr>
          <a:xfrm rot="5400000">
            <a:off x="8934720" y="456337"/>
            <a:ext cx="315143" cy="3613254"/>
          </a:xfrm>
          <a:prstGeom prst="bentConnector2">
            <a:avLst/>
          </a:prstGeom>
          <a:noFill/>
          <a:ln w="6350" cap="flat" cmpd="sng" algn="ctr">
            <a:solidFill>
              <a:srgbClr val="36365C"/>
            </a:solidFill>
            <a:prstDash val="solid"/>
            <a:miter lim="800000"/>
            <a:tailEnd type="triangle"/>
          </a:ln>
          <a:effectLst/>
        </p:spPr>
      </p:cxnSp>
      <p:cxnSp>
        <p:nvCxnSpPr>
          <p:cNvPr id="23" name="Straight Connector 22">
            <a:extLst>
              <a:ext uri="{FF2B5EF4-FFF2-40B4-BE49-F238E27FC236}">
                <a16:creationId xmlns:a16="http://schemas.microsoft.com/office/drawing/2014/main" id="{04F34951-224D-C377-C07D-3244FE517D61}"/>
              </a:ext>
            </a:extLst>
          </p:cNvPr>
          <p:cNvCxnSpPr>
            <a:cxnSpLocks/>
          </p:cNvCxnSpPr>
          <p:nvPr/>
        </p:nvCxnSpPr>
        <p:spPr>
          <a:xfrm flipV="1">
            <a:off x="3477659" y="1065774"/>
            <a:ext cx="23145" cy="5762865"/>
          </a:xfrm>
          <a:prstGeom prst="line">
            <a:avLst/>
          </a:prstGeom>
          <a:noFill/>
          <a:ln w="25400" cap="flat" cmpd="sng" algn="ctr">
            <a:solidFill>
              <a:srgbClr val="4472C4"/>
            </a:solidFill>
            <a:prstDash val="sysDot"/>
            <a:miter lim="800000"/>
          </a:ln>
          <a:effectLst/>
        </p:spPr>
      </p:cxnSp>
      <p:sp>
        <p:nvSpPr>
          <p:cNvPr id="24" name="Rectangle 23">
            <a:extLst>
              <a:ext uri="{FF2B5EF4-FFF2-40B4-BE49-F238E27FC236}">
                <a16:creationId xmlns:a16="http://schemas.microsoft.com/office/drawing/2014/main" id="{E9E4EA53-B54B-ED60-E37D-039EDC4F6CF6}"/>
              </a:ext>
            </a:extLst>
          </p:cNvPr>
          <p:cNvSpPr/>
          <p:nvPr/>
        </p:nvSpPr>
        <p:spPr>
          <a:xfrm>
            <a:off x="2071671" y="1126080"/>
            <a:ext cx="1315968" cy="373222"/>
          </a:xfrm>
          <a:prstGeom prst="rect">
            <a:avLst/>
          </a:prstGeom>
          <a:solidFill>
            <a:srgbClr val="FFC000"/>
          </a:solidFill>
          <a:ln w="12700" cap="flat" cmpd="sng" algn="ctr">
            <a:noFill/>
            <a:prstDash val="solid"/>
            <a:miter lim="800000"/>
          </a:ln>
          <a:effectLst/>
        </p:spPr>
        <p:txBody>
          <a:bodyPr rtlCol="0" anchor="ctr"/>
          <a:lstStyle/>
          <a:p>
            <a:pPr algn="ctr">
              <a:buClrTx/>
              <a:buFontTx/>
              <a:buNone/>
            </a:pPr>
            <a:r>
              <a:rPr lang="en-US" sz="800" b="1">
                <a:solidFill>
                  <a:prstClr val="white"/>
                </a:solidFill>
                <a:latin typeface="Segoe UI"/>
                <a:ea typeface="+mn-ea"/>
              </a:rPr>
              <a:t>GDC Governance Team</a:t>
            </a:r>
          </a:p>
          <a:p>
            <a:pPr algn="ctr">
              <a:buClrTx/>
              <a:buFontTx/>
              <a:buNone/>
            </a:pPr>
            <a:r>
              <a:rPr lang="en-US" sz="800" b="1">
                <a:solidFill>
                  <a:prstClr val="white"/>
                </a:solidFill>
                <a:latin typeface="Segoe UI"/>
                <a:ea typeface="+mn-ea"/>
              </a:rPr>
              <a:t>GDC leader of each divisions</a:t>
            </a:r>
          </a:p>
        </p:txBody>
      </p:sp>
      <p:cxnSp>
        <p:nvCxnSpPr>
          <p:cNvPr id="25" name="Straight Connector 24">
            <a:extLst>
              <a:ext uri="{FF2B5EF4-FFF2-40B4-BE49-F238E27FC236}">
                <a16:creationId xmlns:a16="http://schemas.microsoft.com/office/drawing/2014/main" id="{7A250D85-4954-EBA5-3D46-B47B29325BC2}"/>
              </a:ext>
            </a:extLst>
          </p:cNvPr>
          <p:cNvCxnSpPr>
            <a:cxnSpLocks/>
          </p:cNvCxnSpPr>
          <p:nvPr/>
        </p:nvCxnSpPr>
        <p:spPr>
          <a:xfrm flipV="1">
            <a:off x="1889358" y="1035951"/>
            <a:ext cx="23145" cy="5762865"/>
          </a:xfrm>
          <a:prstGeom prst="line">
            <a:avLst/>
          </a:prstGeom>
          <a:noFill/>
          <a:ln w="25400" cap="flat" cmpd="sng" algn="ctr">
            <a:solidFill>
              <a:srgbClr val="4472C4"/>
            </a:solidFill>
            <a:prstDash val="sysDot"/>
            <a:miter lim="800000"/>
          </a:ln>
          <a:effectLst/>
        </p:spPr>
      </p:cxnSp>
      <p:sp>
        <p:nvSpPr>
          <p:cNvPr id="26" name="Rectangle 25">
            <a:extLst>
              <a:ext uri="{FF2B5EF4-FFF2-40B4-BE49-F238E27FC236}">
                <a16:creationId xmlns:a16="http://schemas.microsoft.com/office/drawing/2014/main" id="{E36A70C4-0C04-51CE-ADF5-BE15AE25B941}"/>
              </a:ext>
            </a:extLst>
          </p:cNvPr>
          <p:cNvSpPr/>
          <p:nvPr/>
        </p:nvSpPr>
        <p:spPr>
          <a:xfrm>
            <a:off x="500745" y="1112553"/>
            <a:ext cx="1115138" cy="373222"/>
          </a:xfrm>
          <a:prstGeom prst="rect">
            <a:avLst/>
          </a:prstGeom>
          <a:solidFill>
            <a:srgbClr val="FFC000"/>
          </a:solidFill>
          <a:ln w="12700" cap="flat" cmpd="sng" algn="ctr">
            <a:noFill/>
            <a:prstDash val="solid"/>
            <a:miter lim="800000"/>
          </a:ln>
          <a:effectLst/>
        </p:spPr>
        <p:txBody>
          <a:bodyPr rtlCol="0" anchor="ctr"/>
          <a:lstStyle/>
          <a:p>
            <a:pPr algn="ctr">
              <a:buClrTx/>
              <a:buFontTx/>
              <a:buNone/>
              <a:defRPr/>
            </a:pPr>
            <a:r>
              <a:rPr lang="en-US" sz="1200" b="1" dirty="0">
                <a:solidFill>
                  <a:prstClr val="white"/>
                </a:solidFill>
                <a:latin typeface="Segoe UI"/>
                <a:ea typeface="+mn-ea"/>
              </a:rPr>
              <a:t>LGCNS PM</a:t>
            </a:r>
          </a:p>
        </p:txBody>
      </p:sp>
      <p:sp>
        <p:nvSpPr>
          <p:cNvPr id="27" name="Rectangle 26">
            <a:extLst>
              <a:ext uri="{FF2B5EF4-FFF2-40B4-BE49-F238E27FC236}">
                <a16:creationId xmlns:a16="http://schemas.microsoft.com/office/drawing/2014/main" id="{CC830125-3F4E-2B7C-DDAB-AFCB15C5E13E}"/>
              </a:ext>
            </a:extLst>
          </p:cNvPr>
          <p:cNvSpPr/>
          <p:nvPr/>
        </p:nvSpPr>
        <p:spPr>
          <a:xfrm>
            <a:off x="8011047" y="1708281"/>
            <a:ext cx="1334924" cy="360260"/>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A</a:t>
            </a:r>
            <a:r>
              <a:rPr lang="en-US" sz="1100" dirty="0" err="1">
                <a:solidFill>
                  <a:srgbClr val="36365C"/>
                </a:solidFill>
                <a:latin typeface="Segoe UI"/>
                <a:ea typeface="+mn-ea"/>
              </a:rPr>
              <a:t>nalyze</a:t>
            </a:r>
            <a:r>
              <a:rPr lang="en-US" sz="1100" dirty="0">
                <a:solidFill>
                  <a:srgbClr val="36365C"/>
                </a:solidFill>
                <a:latin typeface="Segoe UI"/>
                <a:ea typeface="+mn-ea"/>
              </a:rPr>
              <a:t> Security Vulnerability</a:t>
            </a:r>
          </a:p>
        </p:txBody>
      </p:sp>
      <p:cxnSp>
        <p:nvCxnSpPr>
          <p:cNvPr id="28" name="Connector: Elbow 39">
            <a:extLst>
              <a:ext uri="{FF2B5EF4-FFF2-40B4-BE49-F238E27FC236}">
                <a16:creationId xmlns:a16="http://schemas.microsoft.com/office/drawing/2014/main" id="{0E0F3354-4877-A561-940A-9766DFBD1552}"/>
              </a:ext>
            </a:extLst>
          </p:cNvPr>
          <p:cNvCxnSpPr>
            <a:cxnSpLocks/>
            <a:stCxn id="21" idx="1"/>
            <a:endCxn id="27" idx="3"/>
          </p:cNvCxnSpPr>
          <p:nvPr/>
        </p:nvCxnSpPr>
        <p:spPr>
          <a:xfrm flipH="1" flipV="1">
            <a:off x="9345971" y="1888411"/>
            <a:ext cx="754491" cy="6214"/>
          </a:xfrm>
          <a:prstGeom prst="straightConnector1">
            <a:avLst/>
          </a:prstGeom>
          <a:noFill/>
          <a:ln w="6350" cap="flat" cmpd="sng" algn="ctr">
            <a:solidFill>
              <a:srgbClr val="36365C"/>
            </a:solidFill>
            <a:prstDash val="solid"/>
            <a:miter lim="800000"/>
            <a:tailEnd type="triangle"/>
          </a:ln>
          <a:effectLst/>
        </p:spPr>
      </p:cxnSp>
      <p:sp>
        <p:nvSpPr>
          <p:cNvPr id="29" name="TextBox 28">
            <a:extLst>
              <a:ext uri="{FF2B5EF4-FFF2-40B4-BE49-F238E27FC236}">
                <a16:creationId xmlns:a16="http://schemas.microsoft.com/office/drawing/2014/main" id="{538D626B-B7AA-23DC-3B9F-9BD80427B407}"/>
              </a:ext>
            </a:extLst>
          </p:cNvPr>
          <p:cNvSpPr txBox="1"/>
          <p:nvPr/>
        </p:nvSpPr>
        <p:spPr>
          <a:xfrm>
            <a:off x="9414205" y="1616929"/>
            <a:ext cx="734733" cy="261610"/>
          </a:xfrm>
          <a:prstGeom prst="rect">
            <a:avLst/>
          </a:prstGeom>
          <a:noFill/>
        </p:spPr>
        <p:txBody>
          <a:bodyPr wrap="square" rtlCol="0">
            <a:spAutoFit/>
          </a:bodyPr>
          <a:lstStyle/>
          <a:p>
            <a:pPr>
              <a:buClrTx/>
              <a:buFontTx/>
              <a:buNone/>
              <a:defRPr/>
            </a:pPr>
            <a:r>
              <a:rPr lang="en-US" sz="1100" dirty="0">
                <a:solidFill>
                  <a:srgbClr val="36365C"/>
                </a:solidFill>
                <a:latin typeface="Segoe UI"/>
                <a:ea typeface="+mn-ea"/>
              </a:rPr>
              <a:t>Inform</a:t>
            </a:r>
          </a:p>
        </p:txBody>
      </p:sp>
      <p:sp>
        <p:nvSpPr>
          <p:cNvPr id="30" name="TextBox 29">
            <a:extLst>
              <a:ext uri="{FF2B5EF4-FFF2-40B4-BE49-F238E27FC236}">
                <a16:creationId xmlns:a16="http://schemas.microsoft.com/office/drawing/2014/main" id="{33D5BA83-585E-67F9-2ABF-539487D6AA0A}"/>
              </a:ext>
            </a:extLst>
          </p:cNvPr>
          <p:cNvSpPr txBox="1"/>
          <p:nvPr/>
        </p:nvSpPr>
        <p:spPr>
          <a:xfrm>
            <a:off x="10263680" y="2179406"/>
            <a:ext cx="734733" cy="261610"/>
          </a:xfrm>
          <a:prstGeom prst="rect">
            <a:avLst/>
          </a:prstGeom>
          <a:noFill/>
        </p:spPr>
        <p:txBody>
          <a:bodyPr wrap="square" rtlCol="0">
            <a:spAutoFit/>
          </a:bodyPr>
          <a:lstStyle/>
          <a:p>
            <a:pPr>
              <a:buClrTx/>
              <a:buFontTx/>
              <a:buNone/>
              <a:defRPr/>
            </a:pPr>
            <a:r>
              <a:rPr lang="en-US" sz="1100" dirty="0">
                <a:solidFill>
                  <a:srgbClr val="36365C"/>
                </a:solidFill>
                <a:latin typeface="Segoe UI"/>
                <a:ea typeface="+mn-ea"/>
              </a:rPr>
              <a:t>Inform</a:t>
            </a:r>
          </a:p>
        </p:txBody>
      </p:sp>
      <p:sp>
        <p:nvSpPr>
          <p:cNvPr id="31" name="Rectangle 30">
            <a:extLst>
              <a:ext uri="{FF2B5EF4-FFF2-40B4-BE49-F238E27FC236}">
                <a16:creationId xmlns:a16="http://schemas.microsoft.com/office/drawing/2014/main" id="{1B33FCE8-FEC6-6691-BD11-4C9A356FE7D8}"/>
              </a:ext>
            </a:extLst>
          </p:cNvPr>
          <p:cNvSpPr/>
          <p:nvPr/>
        </p:nvSpPr>
        <p:spPr>
          <a:xfrm>
            <a:off x="3741762" y="2240406"/>
            <a:ext cx="1334924" cy="360260"/>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Review/Collect report from PM</a:t>
            </a:r>
          </a:p>
        </p:txBody>
      </p:sp>
      <p:cxnSp>
        <p:nvCxnSpPr>
          <p:cNvPr id="32" name="Connector: Elbow 39">
            <a:extLst>
              <a:ext uri="{FF2B5EF4-FFF2-40B4-BE49-F238E27FC236}">
                <a16:creationId xmlns:a16="http://schemas.microsoft.com/office/drawing/2014/main" id="{EE27F55C-2851-6EE5-0397-A86A0AB3D5C9}"/>
              </a:ext>
            </a:extLst>
          </p:cNvPr>
          <p:cNvCxnSpPr>
            <a:cxnSpLocks/>
            <a:stCxn id="20" idx="1"/>
            <a:endCxn id="31" idx="3"/>
          </p:cNvCxnSpPr>
          <p:nvPr/>
        </p:nvCxnSpPr>
        <p:spPr>
          <a:xfrm flipH="1">
            <a:off x="5076686" y="2420536"/>
            <a:ext cx="566920" cy="0"/>
          </a:xfrm>
          <a:prstGeom prst="straightConnector1">
            <a:avLst/>
          </a:prstGeom>
          <a:noFill/>
          <a:ln w="6350" cap="flat" cmpd="sng" algn="ctr">
            <a:solidFill>
              <a:srgbClr val="36365C"/>
            </a:solidFill>
            <a:prstDash val="solid"/>
            <a:miter lim="800000"/>
            <a:tailEnd type="triangle"/>
          </a:ln>
          <a:effectLst/>
        </p:spPr>
      </p:cxnSp>
      <p:sp>
        <p:nvSpPr>
          <p:cNvPr id="33" name="Rectangle 32">
            <a:extLst>
              <a:ext uri="{FF2B5EF4-FFF2-40B4-BE49-F238E27FC236}">
                <a16:creationId xmlns:a16="http://schemas.microsoft.com/office/drawing/2014/main" id="{08C44D37-780F-3163-DB86-40726F0B068F}"/>
              </a:ext>
            </a:extLst>
          </p:cNvPr>
          <p:cNvSpPr/>
          <p:nvPr/>
        </p:nvSpPr>
        <p:spPr>
          <a:xfrm>
            <a:off x="675133" y="2240406"/>
            <a:ext cx="2640951" cy="360260"/>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Review report</a:t>
            </a:r>
          </a:p>
        </p:txBody>
      </p:sp>
      <p:cxnSp>
        <p:nvCxnSpPr>
          <p:cNvPr id="34" name="Connector: Elbow 39">
            <a:extLst>
              <a:ext uri="{FF2B5EF4-FFF2-40B4-BE49-F238E27FC236}">
                <a16:creationId xmlns:a16="http://schemas.microsoft.com/office/drawing/2014/main" id="{F156E80A-113B-0925-2699-5CA6328260FF}"/>
              </a:ext>
            </a:extLst>
          </p:cNvPr>
          <p:cNvCxnSpPr>
            <a:cxnSpLocks/>
          </p:cNvCxnSpPr>
          <p:nvPr/>
        </p:nvCxnSpPr>
        <p:spPr>
          <a:xfrm flipH="1">
            <a:off x="3316084" y="2420536"/>
            <a:ext cx="425678" cy="0"/>
          </a:xfrm>
          <a:prstGeom prst="straightConnector1">
            <a:avLst/>
          </a:prstGeom>
          <a:noFill/>
          <a:ln w="6350" cap="flat" cmpd="sng" algn="ctr">
            <a:solidFill>
              <a:srgbClr val="36365C"/>
            </a:solidFill>
            <a:prstDash val="solid"/>
            <a:miter lim="800000"/>
            <a:tailEnd type="triangle"/>
          </a:ln>
          <a:effectLst/>
        </p:spPr>
      </p:cxnSp>
      <p:sp>
        <p:nvSpPr>
          <p:cNvPr id="35" name="Callout: Bent Line 114">
            <a:extLst>
              <a:ext uri="{FF2B5EF4-FFF2-40B4-BE49-F238E27FC236}">
                <a16:creationId xmlns:a16="http://schemas.microsoft.com/office/drawing/2014/main" id="{21FD5275-E228-FF77-87D9-FFB7344715CC}"/>
              </a:ext>
            </a:extLst>
          </p:cNvPr>
          <p:cNvSpPr/>
          <p:nvPr/>
        </p:nvSpPr>
        <p:spPr>
          <a:xfrm>
            <a:off x="10898917" y="2471783"/>
            <a:ext cx="1183535" cy="535531"/>
          </a:xfrm>
          <a:prstGeom prst="borderCallout2">
            <a:avLst>
              <a:gd name="adj1" fmla="val -751"/>
              <a:gd name="adj2" fmla="val 40130"/>
              <a:gd name="adj3" fmla="val -35047"/>
              <a:gd name="adj4" fmla="val 50974"/>
              <a:gd name="adj5" fmla="val -59718"/>
              <a:gd name="adj6" fmla="val 27500"/>
            </a:avLst>
          </a:prstGeom>
          <a:solidFill>
            <a:srgbClr val="C00000"/>
          </a:solidFill>
          <a:ln w="12700" cap="flat" cmpd="sng" algn="ctr">
            <a:solidFill>
              <a:srgbClr val="33B2C1"/>
            </a:solidFill>
            <a:prstDash val="solid"/>
            <a:miter lim="800000"/>
            <a:tailEnd type="oval" w="lg" len="lg"/>
          </a:ln>
          <a:effectLst/>
        </p:spPr>
        <p:txBody>
          <a:bodyPr rtlCol="0" anchor="ctr"/>
          <a:lstStyle/>
          <a:p>
            <a:pPr algn="ctr">
              <a:buClrTx/>
              <a:buFontTx/>
              <a:buNone/>
              <a:defRPr/>
            </a:pPr>
            <a:r>
              <a:rPr lang="en-US" sz="1100" kern="1200" dirty="0">
                <a:solidFill>
                  <a:prstClr val="white"/>
                </a:solidFill>
                <a:latin typeface="Segoe UI"/>
                <a:ea typeface="+mn-ea"/>
              </a:rPr>
              <a:t>Inform within </a:t>
            </a:r>
            <a:r>
              <a:rPr lang="en-US" sz="1100" b="1" kern="1200" dirty="0">
                <a:solidFill>
                  <a:prstClr val="white"/>
                </a:solidFill>
                <a:latin typeface="Segoe UI"/>
                <a:ea typeface="+mn-ea"/>
              </a:rPr>
              <a:t>24h</a:t>
            </a:r>
            <a:r>
              <a:rPr lang="en-US" sz="1100" kern="1200" dirty="0">
                <a:solidFill>
                  <a:prstClr val="white"/>
                </a:solidFill>
                <a:latin typeface="Segoe UI"/>
                <a:ea typeface="+mn-ea"/>
              </a:rPr>
              <a:t> in advance.</a:t>
            </a:r>
          </a:p>
        </p:txBody>
      </p:sp>
      <p:sp>
        <p:nvSpPr>
          <p:cNvPr id="36" name="Rectangle 35">
            <a:extLst>
              <a:ext uri="{FF2B5EF4-FFF2-40B4-BE49-F238E27FC236}">
                <a16:creationId xmlns:a16="http://schemas.microsoft.com/office/drawing/2014/main" id="{F1A83C78-D130-87D4-62E6-7C930349B7B1}"/>
              </a:ext>
            </a:extLst>
          </p:cNvPr>
          <p:cNvSpPr/>
          <p:nvPr/>
        </p:nvSpPr>
        <p:spPr>
          <a:xfrm>
            <a:off x="10100461" y="3639919"/>
            <a:ext cx="1596912" cy="421536"/>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Interacted/clicked on a suspicious email</a:t>
            </a:r>
          </a:p>
        </p:txBody>
      </p:sp>
      <p:cxnSp>
        <p:nvCxnSpPr>
          <p:cNvPr id="37" name="Connector: Elbow 39">
            <a:extLst>
              <a:ext uri="{FF2B5EF4-FFF2-40B4-BE49-F238E27FC236}">
                <a16:creationId xmlns:a16="http://schemas.microsoft.com/office/drawing/2014/main" id="{2ADFA302-5779-BA4B-9264-4D0883860F58}"/>
              </a:ext>
            </a:extLst>
          </p:cNvPr>
          <p:cNvCxnSpPr>
            <a:cxnSpLocks/>
            <a:stCxn id="36" idx="1"/>
            <a:endCxn id="39" idx="3"/>
          </p:cNvCxnSpPr>
          <p:nvPr/>
        </p:nvCxnSpPr>
        <p:spPr>
          <a:xfrm flipH="1" flipV="1">
            <a:off x="9432026" y="3840203"/>
            <a:ext cx="668435" cy="10484"/>
          </a:xfrm>
          <a:prstGeom prst="straightConnector1">
            <a:avLst/>
          </a:prstGeom>
          <a:noFill/>
          <a:ln w="6350" cap="flat" cmpd="sng" algn="ctr">
            <a:solidFill>
              <a:srgbClr val="36365C"/>
            </a:solidFill>
            <a:prstDash val="solid"/>
            <a:miter lim="800000"/>
            <a:tailEnd type="triangle"/>
          </a:ln>
          <a:effectLst/>
        </p:spPr>
      </p:cxnSp>
      <p:sp>
        <p:nvSpPr>
          <p:cNvPr id="38" name="Callout: Bent Line 114">
            <a:extLst>
              <a:ext uri="{FF2B5EF4-FFF2-40B4-BE49-F238E27FC236}">
                <a16:creationId xmlns:a16="http://schemas.microsoft.com/office/drawing/2014/main" id="{F758BEFE-EE06-5C7B-1CF8-18D2544D0801}"/>
              </a:ext>
            </a:extLst>
          </p:cNvPr>
          <p:cNvSpPr/>
          <p:nvPr/>
        </p:nvSpPr>
        <p:spPr>
          <a:xfrm>
            <a:off x="10914992" y="4389859"/>
            <a:ext cx="1183535" cy="535531"/>
          </a:xfrm>
          <a:prstGeom prst="borderCallout2">
            <a:avLst>
              <a:gd name="adj1" fmla="val -751"/>
              <a:gd name="adj2" fmla="val 40130"/>
              <a:gd name="adj3" fmla="val -35047"/>
              <a:gd name="adj4" fmla="val 50974"/>
              <a:gd name="adj5" fmla="val -59718"/>
              <a:gd name="adj6" fmla="val 27500"/>
            </a:avLst>
          </a:prstGeom>
          <a:solidFill>
            <a:srgbClr val="C00000"/>
          </a:solidFill>
          <a:ln w="12700" cap="flat" cmpd="sng" algn="ctr">
            <a:solidFill>
              <a:srgbClr val="33B2C1"/>
            </a:solidFill>
            <a:prstDash val="solid"/>
            <a:miter lim="800000"/>
            <a:tailEnd type="oval" w="lg" len="lg"/>
          </a:ln>
          <a:effectLst/>
        </p:spPr>
        <p:txBody>
          <a:bodyPr rtlCol="0" anchor="ctr"/>
          <a:lstStyle/>
          <a:p>
            <a:pPr algn="ctr">
              <a:buClrTx/>
              <a:buFontTx/>
              <a:buNone/>
              <a:defRPr/>
            </a:pPr>
            <a:r>
              <a:rPr lang="en-US" sz="1100" kern="1200" dirty="0">
                <a:solidFill>
                  <a:prstClr val="white"/>
                </a:solidFill>
                <a:latin typeface="Segoe UI"/>
                <a:ea typeface="+mn-ea"/>
              </a:rPr>
              <a:t>Inform within </a:t>
            </a:r>
            <a:r>
              <a:rPr lang="en-US" sz="1100" b="1" kern="1200" dirty="0">
                <a:solidFill>
                  <a:prstClr val="white"/>
                </a:solidFill>
                <a:latin typeface="Segoe UI"/>
                <a:ea typeface="+mn-ea"/>
              </a:rPr>
              <a:t>2h</a:t>
            </a:r>
            <a:r>
              <a:rPr lang="en-US" sz="1100" kern="1200" dirty="0">
                <a:solidFill>
                  <a:prstClr val="white"/>
                </a:solidFill>
                <a:latin typeface="Segoe UI"/>
                <a:ea typeface="+mn-ea"/>
              </a:rPr>
              <a:t> in advance.</a:t>
            </a:r>
          </a:p>
        </p:txBody>
      </p:sp>
      <p:sp>
        <p:nvSpPr>
          <p:cNvPr id="39" name="Diamond 38">
            <a:extLst>
              <a:ext uri="{FF2B5EF4-FFF2-40B4-BE49-F238E27FC236}">
                <a16:creationId xmlns:a16="http://schemas.microsoft.com/office/drawing/2014/main" id="{BD391801-FFCA-7899-7ACA-9DC54CF1513F}"/>
              </a:ext>
            </a:extLst>
          </p:cNvPr>
          <p:cNvSpPr/>
          <p:nvPr/>
        </p:nvSpPr>
        <p:spPr>
          <a:xfrm>
            <a:off x="7923135" y="3515702"/>
            <a:ext cx="1508891" cy="649002"/>
          </a:xfrm>
          <a:prstGeom prst="diamond">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A</a:t>
            </a:r>
            <a:r>
              <a:rPr lang="en-US" sz="1100" dirty="0" err="1">
                <a:solidFill>
                  <a:srgbClr val="36365C"/>
                </a:solidFill>
                <a:latin typeface="Segoe UI"/>
                <a:ea typeface="+mn-ea"/>
              </a:rPr>
              <a:t>nalyze</a:t>
            </a:r>
            <a:r>
              <a:rPr lang="en-US" sz="1100" dirty="0">
                <a:solidFill>
                  <a:srgbClr val="36365C"/>
                </a:solidFill>
                <a:latin typeface="Segoe UI"/>
                <a:ea typeface="+mn-ea"/>
              </a:rPr>
              <a:t> Incidents</a:t>
            </a:r>
          </a:p>
        </p:txBody>
      </p:sp>
      <p:sp>
        <p:nvSpPr>
          <p:cNvPr id="40" name="TextBox 39">
            <a:extLst>
              <a:ext uri="{FF2B5EF4-FFF2-40B4-BE49-F238E27FC236}">
                <a16:creationId xmlns:a16="http://schemas.microsoft.com/office/drawing/2014/main" id="{DC46E7C2-0077-F0CB-C328-256FF81AD12C}"/>
              </a:ext>
            </a:extLst>
          </p:cNvPr>
          <p:cNvSpPr txBox="1"/>
          <p:nvPr/>
        </p:nvSpPr>
        <p:spPr>
          <a:xfrm>
            <a:off x="7521058" y="3561120"/>
            <a:ext cx="734733" cy="261610"/>
          </a:xfrm>
          <a:prstGeom prst="rect">
            <a:avLst/>
          </a:prstGeom>
          <a:noFill/>
        </p:spPr>
        <p:txBody>
          <a:bodyPr wrap="square" rtlCol="0">
            <a:spAutoFit/>
          </a:bodyPr>
          <a:lstStyle/>
          <a:p>
            <a:pPr>
              <a:buClrTx/>
              <a:buFontTx/>
              <a:buNone/>
              <a:defRPr/>
            </a:pPr>
            <a:r>
              <a:rPr lang="en-US" sz="1100" dirty="0">
                <a:solidFill>
                  <a:srgbClr val="36365C"/>
                </a:solidFill>
                <a:latin typeface="Segoe UI"/>
                <a:ea typeface="+mn-ea"/>
              </a:rPr>
              <a:t>No</a:t>
            </a:r>
          </a:p>
        </p:txBody>
      </p:sp>
      <p:sp>
        <p:nvSpPr>
          <p:cNvPr id="41" name="TextBox 40">
            <a:extLst>
              <a:ext uri="{FF2B5EF4-FFF2-40B4-BE49-F238E27FC236}">
                <a16:creationId xmlns:a16="http://schemas.microsoft.com/office/drawing/2014/main" id="{41EA068A-B776-FD0D-1C0C-5A76DBE363E3}"/>
              </a:ext>
            </a:extLst>
          </p:cNvPr>
          <p:cNvSpPr txBox="1"/>
          <p:nvPr/>
        </p:nvSpPr>
        <p:spPr>
          <a:xfrm>
            <a:off x="8724924" y="4220381"/>
            <a:ext cx="734733" cy="261610"/>
          </a:xfrm>
          <a:prstGeom prst="rect">
            <a:avLst/>
          </a:prstGeom>
          <a:noFill/>
        </p:spPr>
        <p:txBody>
          <a:bodyPr wrap="square" rtlCol="0">
            <a:spAutoFit/>
          </a:bodyPr>
          <a:lstStyle/>
          <a:p>
            <a:pPr>
              <a:buClrTx/>
              <a:buFontTx/>
              <a:buNone/>
              <a:defRPr/>
            </a:pPr>
            <a:r>
              <a:rPr lang="en-US" sz="1100" dirty="0">
                <a:solidFill>
                  <a:srgbClr val="36365C"/>
                </a:solidFill>
                <a:latin typeface="Segoe UI"/>
                <a:ea typeface="+mn-ea"/>
              </a:rPr>
              <a:t>Yes</a:t>
            </a:r>
          </a:p>
        </p:txBody>
      </p:sp>
      <p:cxnSp>
        <p:nvCxnSpPr>
          <p:cNvPr id="42" name="Connector: Elbow 39">
            <a:extLst>
              <a:ext uri="{FF2B5EF4-FFF2-40B4-BE49-F238E27FC236}">
                <a16:creationId xmlns:a16="http://schemas.microsoft.com/office/drawing/2014/main" id="{D06568DF-E150-404E-2169-8F76A707DEDD}"/>
              </a:ext>
            </a:extLst>
          </p:cNvPr>
          <p:cNvCxnSpPr>
            <a:cxnSpLocks/>
            <a:stCxn id="27" idx="1"/>
            <a:endCxn id="20" idx="0"/>
          </p:cNvCxnSpPr>
          <p:nvPr/>
        </p:nvCxnSpPr>
        <p:spPr>
          <a:xfrm rot="10800000" flipV="1">
            <a:off x="6464635" y="1888410"/>
            <a:ext cx="1546412" cy="260643"/>
          </a:xfrm>
          <a:prstGeom prst="bentConnector2">
            <a:avLst/>
          </a:prstGeom>
          <a:noFill/>
          <a:ln w="6350" cap="flat" cmpd="sng" algn="ctr">
            <a:solidFill>
              <a:srgbClr val="36365C"/>
            </a:solidFill>
            <a:prstDash val="solid"/>
            <a:miter lim="800000"/>
            <a:tailEnd type="triangle"/>
          </a:ln>
          <a:effectLst/>
        </p:spPr>
      </p:cxnSp>
      <p:sp>
        <p:nvSpPr>
          <p:cNvPr id="43" name="TextBox 42">
            <a:extLst>
              <a:ext uri="{FF2B5EF4-FFF2-40B4-BE49-F238E27FC236}">
                <a16:creationId xmlns:a16="http://schemas.microsoft.com/office/drawing/2014/main" id="{927B8F3C-5817-C23B-7ABB-CEB37A154831}"/>
              </a:ext>
            </a:extLst>
          </p:cNvPr>
          <p:cNvSpPr txBox="1"/>
          <p:nvPr/>
        </p:nvSpPr>
        <p:spPr>
          <a:xfrm>
            <a:off x="6973027" y="1633608"/>
            <a:ext cx="1139767" cy="261610"/>
          </a:xfrm>
          <a:prstGeom prst="rect">
            <a:avLst/>
          </a:prstGeom>
          <a:noFill/>
        </p:spPr>
        <p:txBody>
          <a:bodyPr wrap="square" rtlCol="0">
            <a:spAutoFit/>
          </a:bodyPr>
          <a:lstStyle/>
          <a:p>
            <a:pPr>
              <a:buClrTx/>
              <a:buFontTx/>
              <a:buNone/>
              <a:defRPr/>
            </a:pPr>
            <a:r>
              <a:rPr lang="en-US" sz="1100" dirty="0">
                <a:solidFill>
                  <a:srgbClr val="36365C"/>
                </a:solidFill>
                <a:latin typeface="Segoe UI"/>
                <a:ea typeface="+mn-ea"/>
              </a:rPr>
              <a:t>Inform result</a:t>
            </a:r>
          </a:p>
        </p:txBody>
      </p:sp>
      <p:cxnSp>
        <p:nvCxnSpPr>
          <p:cNvPr id="44" name="Connector: Elbow 39">
            <a:extLst>
              <a:ext uri="{FF2B5EF4-FFF2-40B4-BE49-F238E27FC236}">
                <a16:creationId xmlns:a16="http://schemas.microsoft.com/office/drawing/2014/main" id="{1BC71618-75B7-2019-B4E1-9CB3C24AA651}"/>
              </a:ext>
            </a:extLst>
          </p:cNvPr>
          <p:cNvCxnSpPr>
            <a:cxnSpLocks/>
            <a:stCxn id="39" idx="2"/>
            <a:endCxn id="98" idx="0"/>
          </p:cNvCxnSpPr>
          <p:nvPr/>
        </p:nvCxnSpPr>
        <p:spPr>
          <a:xfrm flipH="1">
            <a:off x="8671250" y="4164704"/>
            <a:ext cx="6331" cy="325088"/>
          </a:xfrm>
          <a:prstGeom prst="straightConnector1">
            <a:avLst/>
          </a:prstGeom>
          <a:noFill/>
          <a:ln w="6350" cap="flat" cmpd="sng" algn="ctr">
            <a:solidFill>
              <a:srgbClr val="36365C"/>
            </a:solidFill>
            <a:prstDash val="solid"/>
            <a:miter lim="800000"/>
            <a:tailEnd type="triangle"/>
          </a:ln>
          <a:effectLst/>
        </p:spPr>
      </p:cxnSp>
      <p:cxnSp>
        <p:nvCxnSpPr>
          <p:cNvPr id="97" name="Connector: Elbow 39">
            <a:extLst>
              <a:ext uri="{FF2B5EF4-FFF2-40B4-BE49-F238E27FC236}">
                <a16:creationId xmlns:a16="http://schemas.microsoft.com/office/drawing/2014/main" id="{DAD19077-50CC-3586-48C7-B8A5F182DAD2}"/>
              </a:ext>
            </a:extLst>
          </p:cNvPr>
          <p:cNvCxnSpPr>
            <a:cxnSpLocks/>
            <a:stCxn id="39" idx="1"/>
            <a:endCxn id="103" idx="3"/>
          </p:cNvCxnSpPr>
          <p:nvPr/>
        </p:nvCxnSpPr>
        <p:spPr>
          <a:xfrm flipH="1" flipV="1">
            <a:off x="7351909" y="3839548"/>
            <a:ext cx="571226" cy="655"/>
          </a:xfrm>
          <a:prstGeom prst="straightConnector1">
            <a:avLst/>
          </a:prstGeom>
          <a:noFill/>
          <a:ln w="6350" cap="flat" cmpd="sng" algn="ctr">
            <a:solidFill>
              <a:srgbClr val="36365C"/>
            </a:solidFill>
            <a:prstDash val="solid"/>
            <a:miter lim="800000"/>
            <a:tailEnd type="triangle"/>
          </a:ln>
          <a:effectLst/>
        </p:spPr>
      </p:cxnSp>
      <p:sp>
        <p:nvSpPr>
          <p:cNvPr id="98" name="Rectangle 97">
            <a:extLst>
              <a:ext uri="{FF2B5EF4-FFF2-40B4-BE49-F238E27FC236}">
                <a16:creationId xmlns:a16="http://schemas.microsoft.com/office/drawing/2014/main" id="{A77DE06E-AC15-9310-DFD5-1F617B931C9F}"/>
              </a:ext>
            </a:extLst>
          </p:cNvPr>
          <p:cNvSpPr/>
          <p:nvPr/>
        </p:nvSpPr>
        <p:spPr>
          <a:xfrm>
            <a:off x="7971789" y="4489792"/>
            <a:ext cx="1398921" cy="584589"/>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Conduct preventive actions/remedial actions</a:t>
            </a:r>
          </a:p>
        </p:txBody>
      </p:sp>
      <p:sp>
        <p:nvSpPr>
          <p:cNvPr id="99" name="Rectangle 98">
            <a:extLst>
              <a:ext uri="{FF2B5EF4-FFF2-40B4-BE49-F238E27FC236}">
                <a16:creationId xmlns:a16="http://schemas.microsoft.com/office/drawing/2014/main" id="{F1BF2FFA-3C70-152A-ACA2-965F072FF4FE}"/>
              </a:ext>
            </a:extLst>
          </p:cNvPr>
          <p:cNvSpPr/>
          <p:nvPr/>
        </p:nvSpPr>
        <p:spPr>
          <a:xfrm>
            <a:off x="5713791" y="4975447"/>
            <a:ext cx="1642058" cy="54296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Conduct preventive actions with member</a:t>
            </a:r>
          </a:p>
        </p:txBody>
      </p:sp>
      <p:cxnSp>
        <p:nvCxnSpPr>
          <p:cNvPr id="100" name="Connector: Elbow 39">
            <a:extLst>
              <a:ext uri="{FF2B5EF4-FFF2-40B4-BE49-F238E27FC236}">
                <a16:creationId xmlns:a16="http://schemas.microsoft.com/office/drawing/2014/main" id="{FD4DC48F-3427-4C39-E56D-C068FCC53BA3}"/>
              </a:ext>
            </a:extLst>
          </p:cNvPr>
          <p:cNvCxnSpPr>
            <a:cxnSpLocks/>
            <a:stCxn id="36" idx="2"/>
          </p:cNvCxnSpPr>
          <p:nvPr/>
        </p:nvCxnSpPr>
        <p:spPr>
          <a:xfrm rot="5400000">
            <a:off x="8537575" y="2879729"/>
            <a:ext cx="1179616" cy="3543068"/>
          </a:xfrm>
          <a:prstGeom prst="bentConnector2">
            <a:avLst/>
          </a:prstGeom>
          <a:noFill/>
          <a:ln w="6350" cap="flat" cmpd="sng" algn="ctr">
            <a:solidFill>
              <a:srgbClr val="36365C"/>
            </a:solidFill>
            <a:prstDash val="solid"/>
            <a:miter lim="800000"/>
            <a:tailEnd type="triangle"/>
          </a:ln>
          <a:effectLst/>
        </p:spPr>
      </p:cxnSp>
      <p:sp>
        <p:nvSpPr>
          <p:cNvPr id="101" name="TextBox 100">
            <a:extLst>
              <a:ext uri="{FF2B5EF4-FFF2-40B4-BE49-F238E27FC236}">
                <a16:creationId xmlns:a16="http://schemas.microsoft.com/office/drawing/2014/main" id="{6C73368D-3501-0D49-3AB2-F4749DFE2395}"/>
              </a:ext>
            </a:extLst>
          </p:cNvPr>
          <p:cNvSpPr txBox="1"/>
          <p:nvPr/>
        </p:nvSpPr>
        <p:spPr>
          <a:xfrm>
            <a:off x="10263679" y="4933581"/>
            <a:ext cx="734733" cy="261610"/>
          </a:xfrm>
          <a:prstGeom prst="rect">
            <a:avLst/>
          </a:prstGeom>
          <a:noFill/>
        </p:spPr>
        <p:txBody>
          <a:bodyPr wrap="square" rtlCol="0">
            <a:spAutoFit/>
          </a:bodyPr>
          <a:lstStyle/>
          <a:p>
            <a:pPr>
              <a:buClrTx/>
              <a:buFontTx/>
              <a:buNone/>
              <a:defRPr/>
            </a:pPr>
            <a:r>
              <a:rPr lang="en-US" sz="1100" dirty="0">
                <a:solidFill>
                  <a:srgbClr val="36365C"/>
                </a:solidFill>
                <a:latin typeface="Segoe UI"/>
                <a:ea typeface="+mn-ea"/>
              </a:rPr>
              <a:t>Inform</a:t>
            </a:r>
          </a:p>
        </p:txBody>
      </p:sp>
      <p:sp>
        <p:nvSpPr>
          <p:cNvPr id="102" name="Rectangle 101">
            <a:extLst>
              <a:ext uri="{FF2B5EF4-FFF2-40B4-BE49-F238E27FC236}">
                <a16:creationId xmlns:a16="http://schemas.microsoft.com/office/drawing/2014/main" id="{BA2B89DE-2DC7-9898-DC49-F782083A82BF}"/>
              </a:ext>
            </a:extLst>
          </p:cNvPr>
          <p:cNvSpPr/>
          <p:nvPr/>
        </p:nvSpPr>
        <p:spPr>
          <a:xfrm>
            <a:off x="5465676" y="5624499"/>
            <a:ext cx="2170161" cy="1028244"/>
          </a:xfrm>
          <a:prstGeom prst="rect">
            <a:avLst/>
          </a:prstGeom>
          <a:noFill/>
          <a:ln w="12700" cap="flat" cmpd="sng" algn="ctr">
            <a:noFill/>
            <a:prstDash val="solid"/>
            <a:miter lim="800000"/>
          </a:ln>
          <a:effectLst/>
        </p:spPr>
        <p:txBody>
          <a:bodyPr rtlCol="0" anchor="ctr"/>
          <a:lstStyle/>
          <a:p>
            <a:pPr marL="285750" indent="-285750">
              <a:buClrTx/>
              <a:buFont typeface="Arial" panose="020B0604020202020204" pitchFamily="34" charset="0"/>
              <a:buChar char="•"/>
              <a:defRPr/>
            </a:pPr>
            <a:r>
              <a:rPr lang="en-US" sz="1000" kern="1200" dirty="0">
                <a:solidFill>
                  <a:srgbClr val="171616"/>
                </a:solidFill>
                <a:latin typeface=""/>
                <a:ea typeface="+mn-ea"/>
              </a:rPr>
              <a:t>Don’t provide more information and interact with email/website</a:t>
            </a:r>
          </a:p>
          <a:p>
            <a:pPr marL="285750" indent="-285750">
              <a:buClrTx/>
              <a:buFont typeface="Arial" panose="020B0604020202020204" pitchFamily="34" charset="0"/>
              <a:buChar char="•"/>
              <a:defRPr/>
            </a:pPr>
            <a:r>
              <a:rPr lang="en-US" sz="1000" kern="1200" dirty="0">
                <a:solidFill>
                  <a:srgbClr val="171616"/>
                </a:solidFill>
                <a:latin typeface=""/>
                <a:ea typeface="+mn-ea"/>
              </a:rPr>
              <a:t>Disconnect device/cloud from the network</a:t>
            </a:r>
          </a:p>
          <a:p>
            <a:pPr marL="285750" indent="-285750">
              <a:buClrTx/>
              <a:buFont typeface="Arial" panose="020B0604020202020204" pitchFamily="34" charset="0"/>
              <a:buChar char="•"/>
              <a:defRPr/>
            </a:pPr>
            <a:r>
              <a:rPr lang="en-US" sz="1000" kern="1200" dirty="0">
                <a:solidFill>
                  <a:srgbClr val="171616"/>
                </a:solidFill>
                <a:latin typeface=""/>
                <a:ea typeface="+mn-ea"/>
              </a:rPr>
              <a:t>Scan system/cloud for Malware</a:t>
            </a:r>
            <a:endParaRPr lang="en-VN" sz="1000" kern="1200" dirty="0">
              <a:solidFill>
                <a:srgbClr val="171616"/>
              </a:solidFill>
              <a:latin typeface=""/>
              <a:ea typeface="+mn-ea"/>
            </a:endParaRPr>
          </a:p>
          <a:p>
            <a:pPr marL="285750" indent="-285750">
              <a:buClrTx/>
              <a:buFont typeface="Arial" panose="020B0604020202020204" pitchFamily="34" charset="0"/>
              <a:buChar char="•"/>
              <a:defRPr/>
            </a:pPr>
            <a:r>
              <a:rPr lang="en-US" sz="1000" kern="1200" dirty="0">
                <a:solidFill>
                  <a:srgbClr val="171616"/>
                </a:solidFill>
                <a:latin typeface=""/>
                <a:ea typeface="+mn-ea"/>
              </a:rPr>
              <a:t>Backup files</a:t>
            </a:r>
            <a:endParaRPr lang="en-VN" sz="1000" kern="1200" dirty="0">
              <a:solidFill>
                <a:srgbClr val="171616"/>
              </a:solidFill>
              <a:latin typeface=""/>
              <a:ea typeface="+mn-ea"/>
            </a:endParaRPr>
          </a:p>
        </p:txBody>
      </p:sp>
      <p:sp>
        <p:nvSpPr>
          <p:cNvPr id="103" name="Rectangle 102">
            <a:extLst>
              <a:ext uri="{FF2B5EF4-FFF2-40B4-BE49-F238E27FC236}">
                <a16:creationId xmlns:a16="http://schemas.microsoft.com/office/drawing/2014/main" id="{4B0E322D-BFD3-8689-8560-2D042AC51539}"/>
              </a:ext>
            </a:extLst>
          </p:cNvPr>
          <p:cNvSpPr/>
          <p:nvPr/>
        </p:nvSpPr>
        <p:spPr>
          <a:xfrm>
            <a:off x="5709851" y="3568066"/>
            <a:ext cx="1642058" cy="54296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Collect information from team</a:t>
            </a:r>
          </a:p>
        </p:txBody>
      </p:sp>
      <p:sp>
        <p:nvSpPr>
          <p:cNvPr id="104" name="Rectangle 103">
            <a:extLst>
              <a:ext uri="{FF2B5EF4-FFF2-40B4-BE49-F238E27FC236}">
                <a16:creationId xmlns:a16="http://schemas.microsoft.com/office/drawing/2014/main" id="{9F9D370D-5E16-F216-17E6-60E193BC6B31}"/>
              </a:ext>
            </a:extLst>
          </p:cNvPr>
          <p:cNvSpPr/>
          <p:nvPr/>
        </p:nvSpPr>
        <p:spPr>
          <a:xfrm>
            <a:off x="3743938" y="3667652"/>
            <a:ext cx="1334924" cy="360260"/>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Review/Collect report from PM</a:t>
            </a:r>
          </a:p>
        </p:txBody>
      </p:sp>
      <p:cxnSp>
        <p:nvCxnSpPr>
          <p:cNvPr id="105" name="Connector: Elbow 39">
            <a:extLst>
              <a:ext uri="{FF2B5EF4-FFF2-40B4-BE49-F238E27FC236}">
                <a16:creationId xmlns:a16="http://schemas.microsoft.com/office/drawing/2014/main" id="{48E0252B-88A6-E639-0C61-C413BD5BC892}"/>
              </a:ext>
            </a:extLst>
          </p:cNvPr>
          <p:cNvCxnSpPr>
            <a:cxnSpLocks/>
            <a:stCxn id="103" idx="1"/>
            <a:endCxn id="104" idx="3"/>
          </p:cNvCxnSpPr>
          <p:nvPr/>
        </p:nvCxnSpPr>
        <p:spPr>
          <a:xfrm flipH="1">
            <a:off x="5078862" y="3839548"/>
            <a:ext cx="630989" cy="8234"/>
          </a:xfrm>
          <a:prstGeom prst="straightConnector1">
            <a:avLst/>
          </a:prstGeom>
          <a:noFill/>
          <a:ln w="6350" cap="flat" cmpd="sng" algn="ctr">
            <a:solidFill>
              <a:srgbClr val="36365C"/>
            </a:solidFill>
            <a:prstDash val="solid"/>
            <a:miter lim="800000"/>
            <a:tailEnd type="triangle"/>
          </a:ln>
          <a:effectLst/>
        </p:spPr>
      </p:cxnSp>
      <p:sp>
        <p:nvSpPr>
          <p:cNvPr id="106" name="Rectangle 105">
            <a:extLst>
              <a:ext uri="{FF2B5EF4-FFF2-40B4-BE49-F238E27FC236}">
                <a16:creationId xmlns:a16="http://schemas.microsoft.com/office/drawing/2014/main" id="{B8F8BBD6-06B3-0889-E539-578C350558F4}"/>
              </a:ext>
            </a:extLst>
          </p:cNvPr>
          <p:cNvSpPr/>
          <p:nvPr/>
        </p:nvSpPr>
        <p:spPr>
          <a:xfrm>
            <a:off x="2008387" y="3667652"/>
            <a:ext cx="1334924" cy="360260"/>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Review report</a:t>
            </a:r>
          </a:p>
        </p:txBody>
      </p:sp>
      <p:cxnSp>
        <p:nvCxnSpPr>
          <p:cNvPr id="107" name="Connector: Elbow 39">
            <a:extLst>
              <a:ext uri="{FF2B5EF4-FFF2-40B4-BE49-F238E27FC236}">
                <a16:creationId xmlns:a16="http://schemas.microsoft.com/office/drawing/2014/main" id="{B8CAD7E8-EC98-7EF7-4F24-DB77A8F0B693}"/>
              </a:ext>
            </a:extLst>
          </p:cNvPr>
          <p:cNvCxnSpPr>
            <a:cxnSpLocks/>
          </p:cNvCxnSpPr>
          <p:nvPr/>
        </p:nvCxnSpPr>
        <p:spPr>
          <a:xfrm flipH="1">
            <a:off x="3343312" y="3847782"/>
            <a:ext cx="400627" cy="0"/>
          </a:xfrm>
          <a:prstGeom prst="straightConnector1">
            <a:avLst/>
          </a:prstGeom>
          <a:noFill/>
          <a:ln w="6350" cap="flat" cmpd="sng" algn="ctr">
            <a:solidFill>
              <a:srgbClr val="36365C"/>
            </a:solidFill>
            <a:prstDash val="solid"/>
            <a:miter lim="800000"/>
            <a:tailEnd type="triangle"/>
          </a:ln>
          <a:effectLst/>
        </p:spPr>
      </p:cxnSp>
      <p:cxnSp>
        <p:nvCxnSpPr>
          <p:cNvPr id="108" name="Connector: Elbow 39">
            <a:extLst>
              <a:ext uri="{FF2B5EF4-FFF2-40B4-BE49-F238E27FC236}">
                <a16:creationId xmlns:a16="http://schemas.microsoft.com/office/drawing/2014/main" id="{F77FC80C-E998-BC9C-3F75-7B83BDE7B497}"/>
              </a:ext>
            </a:extLst>
          </p:cNvPr>
          <p:cNvCxnSpPr>
            <a:cxnSpLocks/>
            <a:stCxn id="99" idx="1"/>
            <a:endCxn id="104" idx="2"/>
          </p:cNvCxnSpPr>
          <p:nvPr/>
        </p:nvCxnSpPr>
        <p:spPr>
          <a:xfrm rot="10800000">
            <a:off x="4411401" y="4027913"/>
            <a:ext cx="1302391" cy="1219017"/>
          </a:xfrm>
          <a:prstGeom prst="bentConnector2">
            <a:avLst/>
          </a:prstGeom>
          <a:noFill/>
          <a:ln w="6350" cap="flat" cmpd="sng" algn="ctr">
            <a:solidFill>
              <a:srgbClr val="36365C"/>
            </a:solidFill>
            <a:prstDash val="solid"/>
            <a:miter lim="800000"/>
            <a:tailEnd type="triangle"/>
          </a:ln>
          <a:effectLst/>
        </p:spPr>
      </p:cxnSp>
      <p:sp>
        <p:nvSpPr>
          <p:cNvPr id="109" name="Rectangle 108">
            <a:extLst>
              <a:ext uri="{FF2B5EF4-FFF2-40B4-BE49-F238E27FC236}">
                <a16:creationId xmlns:a16="http://schemas.microsoft.com/office/drawing/2014/main" id="{9537F18E-FD10-6D96-2E14-15A2FCD4EE9E}"/>
              </a:ext>
            </a:extLst>
          </p:cNvPr>
          <p:cNvSpPr/>
          <p:nvPr/>
        </p:nvSpPr>
        <p:spPr>
          <a:xfrm>
            <a:off x="406288" y="4975447"/>
            <a:ext cx="1336854" cy="542964"/>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Consult on actions and inform LG CNS IT</a:t>
            </a:r>
          </a:p>
        </p:txBody>
      </p:sp>
      <p:cxnSp>
        <p:nvCxnSpPr>
          <p:cNvPr id="110" name="Connector: Elbow 39">
            <a:extLst>
              <a:ext uri="{FF2B5EF4-FFF2-40B4-BE49-F238E27FC236}">
                <a16:creationId xmlns:a16="http://schemas.microsoft.com/office/drawing/2014/main" id="{7845C787-D7DF-51E6-B42F-5C9FC0C0B6DD}"/>
              </a:ext>
            </a:extLst>
          </p:cNvPr>
          <p:cNvCxnSpPr>
            <a:cxnSpLocks/>
          </p:cNvCxnSpPr>
          <p:nvPr/>
        </p:nvCxnSpPr>
        <p:spPr>
          <a:xfrm flipH="1">
            <a:off x="1743142" y="5246929"/>
            <a:ext cx="3970649" cy="0"/>
          </a:xfrm>
          <a:prstGeom prst="straightConnector1">
            <a:avLst/>
          </a:prstGeom>
          <a:noFill/>
          <a:ln w="6350" cap="flat" cmpd="sng" algn="ctr">
            <a:solidFill>
              <a:srgbClr val="36365C"/>
            </a:solidFill>
            <a:prstDash val="solid"/>
            <a:miter lim="800000"/>
            <a:tailEnd type="triangle"/>
          </a:ln>
          <a:effectLst/>
        </p:spPr>
      </p:cxnSp>
      <p:sp>
        <p:nvSpPr>
          <p:cNvPr id="111" name="Rounded Rectangle 93">
            <a:extLst>
              <a:ext uri="{FF2B5EF4-FFF2-40B4-BE49-F238E27FC236}">
                <a16:creationId xmlns:a16="http://schemas.microsoft.com/office/drawing/2014/main" id="{2DF88755-7C60-1906-50BB-DFD7B6E6C729}"/>
              </a:ext>
            </a:extLst>
          </p:cNvPr>
          <p:cNvSpPr/>
          <p:nvPr/>
        </p:nvSpPr>
        <p:spPr>
          <a:xfrm>
            <a:off x="161872" y="2847177"/>
            <a:ext cx="1792884" cy="378234"/>
          </a:xfrm>
          <a:prstGeom prst="roundRect">
            <a:avLst/>
          </a:prstGeom>
          <a:solidFill>
            <a:srgbClr val="C40452"/>
          </a:solidFill>
          <a:ln w="12700" cap="flat" cmpd="sng" algn="ctr">
            <a:noFill/>
            <a:prstDash val="solid"/>
            <a:miter lim="800000"/>
          </a:ln>
          <a:effectLst/>
        </p:spPr>
        <p:txBody>
          <a:bodyPr rtlCol="0" anchor="ctr"/>
          <a:lstStyle/>
          <a:p>
            <a:pPr>
              <a:buClrTx/>
              <a:buFontTx/>
              <a:buNone/>
              <a:defRPr/>
            </a:pPr>
            <a:r>
              <a:rPr lang="en-VN" sz="1500" b="1" dirty="0">
                <a:solidFill>
                  <a:prstClr val="white"/>
                </a:solidFill>
                <a:latin typeface="Calibri" panose="020F0502020204030204"/>
                <a:ea typeface="+mn-ea"/>
              </a:rPr>
              <a:t>Preventive Scenario</a:t>
            </a:r>
          </a:p>
        </p:txBody>
      </p:sp>
      <p:sp>
        <p:nvSpPr>
          <p:cNvPr id="112" name="Rounded Rectangle 94">
            <a:extLst>
              <a:ext uri="{FF2B5EF4-FFF2-40B4-BE49-F238E27FC236}">
                <a16:creationId xmlns:a16="http://schemas.microsoft.com/office/drawing/2014/main" id="{E592EE7F-0402-468D-FFF0-1E58A0C525B3}"/>
              </a:ext>
            </a:extLst>
          </p:cNvPr>
          <p:cNvSpPr/>
          <p:nvPr/>
        </p:nvSpPr>
        <p:spPr>
          <a:xfrm>
            <a:off x="190550" y="6391140"/>
            <a:ext cx="1608578" cy="390329"/>
          </a:xfrm>
          <a:prstGeom prst="roundRect">
            <a:avLst/>
          </a:prstGeom>
          <a:solidFill>
            <a:srgbClr val="C40452"/>
          </a:solidFill>
          <a:ln w="12700" cap="flat" cmpd="sng" algn="ctr">
            <a:noFill/>
            <a:prstDash val="solid"/>
            <a:miter lim="800000"/>
          </a:ln>
          <a:effectLst/>
        </p:spPr>
        <p:txBody>
          <a:bodyPr rtlCol="0" anchor="ctr"/>
          <a:lstStyle/>
          <a:p>
            <a:pPr>
              <a:buClrTx/>
              <a:buFontTx/>
              <a:buNone/>
              <a:defRPr/>
            </a:pPr>
            <a:r>
              <a:rPr lang="en-US" sz="1500" b="1" dirty="0">
                <a:solidFill>
                  <a:prstClr val="white"/>
                </a:solidFill>
                <a:latin typeface="Calibri" panose="020F0502020204030204"/>
                <a:ea typeface="+mn-ea"/>
              </a:rPr>
              <a:t>Incident</a:t>
            </a:r>
            <a:r>
              <a:rPr lang="en-VN" sz="1500" b="1" dirty="0">
                <a:solidFill>
                  <a:prstClr val="white"/>
                </a:solidFill>
                <a:latin typeface="Calibri" panose="020F0502020204030204"/>
                <a:ea typeface="+mn-ea"/>
              </a:rPr>
              <a:t> Scenario</a:t>
            </a:r>
          </a:p>
        </p:txBody>
      </p:sp>
      <p:cxnSp>
        <p:nvCxnSpPr>
          <p:cNvPr id="113" name="Straight Connector 112">
            <a:extLst>
              <a:ext uri="{FF2B5EF4-FFF2-40B4-BE49-F238E27FC236}">
                <a16:creationId xmlns:a16="http://schemas.microsoft.com/office/drawing/2014/main" id="{84B80577-C434-D9B2-3CD6-DF8AE88D5D1F}"/>
              </a:ext>
            </a:extLst>
          </p:cNvPr>
          <p:cNvCxnSpPr/>
          <p:nvPr/>
        </p:nvCxnSpPr>
        <p:spPr>
          <a:xfrm>
            <a:off x="310552" y="3337246"/>
            <a:ext cx="11985997" cy="0"/>
          </a:xfrm>
          <a:prstGeom prst="line">
            <a:avLst/>
          </a:prstGeom>
          <a:noFill/>
          <a:ln w="38100" cap="flat" cmpd="sng" algn="ctr">
            <a:solidFill>
              <a:srgbClr val="33B2C1"/>
            </a:solidFill>
            <a:prstDash val="dash"/>
            <a:miter lim="800000"/>
          </a:ln>
          <a:effectLst/>
        </p:spPr>
      </p:cxnSp>
      <p:sp>
        <p:nvSpPr>
          <p:cNvPr id="114" name="Rectangle 64">
            <a:extLst>
              <a:ext uri="{FF2B5EF4-FFF2-40B4-BE49-F238E27FC236}">
                <a16:creationId xmlns:a16="http://schemas.microsoft.com/office/drawing/2014/main" id="{437C9AF9-AA57-42FC-752B-D8F38D0A10F8}"/>
              </a:ext>
            </a:extLst>
          </p:cNvPr>
          <p:cNvSpPr/>
          <p:nvPr/>
        </p:nvSpPr>
        <p:spPr>
          <a:xfrm>
            <a:off x="460445" y="1670812"/>
            <a:ext cx="1334924" cy="360260"/>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Report to LG CNS Security team</a:t>
            </a:r>
          </a:p>
        </p:txBody>
      </p:sp>
      <p:cxnSp>
        <p:nvCxnSpPr>
          <p:cNvPr id="115" name="Connector: Elbow 39">
            <a:extLst>
              <a:ext uri="{FF2B5EF4-FFF2-40B4-BE49-F238E27FC236}">
                <a16:creationId xmlns:a16="http://schemas.microsoft.com/office/drawing/2014/main" id="{3E3C6C3E-4071-2A72-8808-0B8130B3F689}"/>
              </a:ext>
            </a:extLst>
          </p:cNvPr>
          <p:cNvCxnSpPr>
            <a:cxnSpLocks/>
            <a:endCxn id="114" idx="2"/>
          </p:cNvCxnSpPr>
          <p:nvPr/>
        </p:nvCxnSpPr>
        <p:spPr>
          <a:xfrm flipV="1">
            <a:off x="1127907" y="2031072"/>
            <a:ext cx="0" cy="209333"/>
          </a:xfrm>
          <a:prstGeom prst="straightConnector1">
            <a:avLst/>
          </a:prstGeom>
          <a:noFill/>
          <a:ln w="6350" cap="flat" cmpd="sng" algn="ctr">
            <a:solidFill>
              <a:srgbClr val="36365C"/>
            </a:solidFill>
            <a:prstDash val="solid"/>
            <a:miter lim="800000"/>
            <a:tailEnd type="triangle"/>
          </a:ln>
          <a:effectLst/>
        </p:spPr>
      </p:cxnSp>
      <p:sp>
        <p:nvSpPr>
          <p:cNvPr id="116" name="Rectangle 64">
            <a:extLst>
              <a:ext uri="{FF2B5EF4-FFF2-40B4-BE49-F238E27FC236}">
                <a16:creationId xmlns:a16="http://schemas.microsoft.com/office/drawing/2014/main" id="{2C747EFE-783F-6786-4713-EE06555D9155}"/>
              </a:ext>
            </a:extLst>
          </p:cNvPr>
          <p:cNvSpPr/>
          <p:nvPr/>
        </p:nvSpPr>
        <p:spPr>
          <a:xfrm>
            <a:off x="406318" y="4392097"/>
            <a:ext cx="1334924" cy="360260"/>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Report to LG CNS Security team</a:t>
            </a:r>
          </a:p>
        </p:txBody>
      </p:sp>
      <p:cxnSp>
        <p:nvCxnSpPr>
          <p:cNvPr id="117" name="Connector: Elbow 39">
            <a:extLst>
              <a:ext uri="{FF2B5EF4-FFF2-40B4-BE49-F238E27FC236}">
                <a16:creationId xmlns:a16="http://schemas.microsoft.com/office/drawing/2014/main" id="{04883AF7-EB40-52B7-556B-4BAFBC6922A3}"/>
              </a:ext>
            </a:extLst>
          </p:cNvPr>
          <p:cNvCxnSpPr>
            <a:cxnSpLocks/>
            <a:endCxn id="116" idx="2"/>
          </p:cNvCxnSpPr>
          <p:nvPr/>
        </p:nvCxnSpPr>
        <p:spPr>
          <a:xfrm flipV="1">
            <a:off x="1073780" y="4752357"/>
            <a:ext cx="0" cy="209333"/>
          </a:xfrm>
          <a:prstGeom prst="straightConnector1">
            <a:avLst/>
          </a:prstGeom>
          <a:noFill/>
          <a:ln w="6350" cap="flat" cmpd="sng" algn="ctr">
            <a:solidFill>
              <a:srgbClr val="36365C"/>
            </a:solidFill>
            <a:prstDash val="solid"/>
            <a:miter lim="800000"/>
            <a:tailEnd type="triangle"/>
          </a:ln>
          <a:effectLst/>
        </p:spPr>
      </p:cxnSp>
      <p:cxnSp>
        <p:nvCxnSpPr>
          <p:cNvPr id="118" name="Connector: Elbow 39">
            <a:extLst>
              <a:ext uri="{FF2B5EF4-FFF2-40B4-BE49-F238E27FC236}">
                <a16:creationId xmlns:a16="http://schemas.microsoft.com/office/drawing/2014/main" id="{E4741A43-5F44-7118-1288-1D530393ACB1}"/>
              </a:ext>
            </a:extLst>
          </p:cNvPr>
          <p:cNvCxnSpPr>
            <a:cxnSpLocks/>
            <a:stCxn id="98" idx="1"/>
            <a:endCxn id="103" idx="2"/>
          </p:cNvCxnSpPr>
          <p:nvPr/>
        </p:nvCxnSpPr>
        <p:spPr>
          <a:xfrm rot="10800000">
            <a:off x="6530881" y="4111031"/>
            <a:ext cx="1440909" cy="671057"/>
          </a:xfrm>
          <a:prstGeom prst="bentConnector2">
            <a:avLst/>
          </a:prstGeom>
          <a:noFill/>
          <a:ln w="6350" cap="flat" cmpd="sng" algn="ctr">
            <a:solidFill>
              <a:srgbClr val="36365C"/>
            </a:solidFill>
            <a:prstDash val="solid"/>
            <a:miter lim="800000"/>
            <a:tailEnd type="triangle"/>
          </a:ln>
          <a:effectLst/>
        </p:spPr>
      </p:cxnSp>
      <p:sp>
        <p:nvSpPr>
          <p:cNvPr id="119" name="Flowchart: Punched Tape 85">
            <a:extLst>
              <a:ext uri="{FF2B5EF4-FFF2-40B4-BE49-F238E27FC236}">
                <a16:creationId xmlns:a16="http://schemas.microsoft.com/office/drawing/2014/main" id="{40D2BD5F-48BC-009C-ACF2-4CEBE2ED6C25}"/>
              </a:ext>
            </a:extLst>
          </p:cNvPr>
          <p:cNvSpPr/>
          <p:nvPr/>
        </p:nvSpPr>
        <p:spPr>
          <a:xfrm>
            <a:off x="9018067" y="2823377"/>
            <a:ext cx="1896925" cy="805117"/>
          </a:xfrm>
          <a:prstGeom prst="flowChartPunchedTape">
            <a:avLst/>
          </a:prstGeom>
          <a:solidFill>
            <a:srgbClr val="FFFF00"/>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100" b="1" i="0" u="none" strike="noStrike" kern="0" cap="none" spc="0" normalizeH="0" baseline="0" noProof="0" dirty="0">
                <a:ln>
                  <a:noFill/>
                </a:ln>
                <a:solidFill>
                  <a:srgbClr val="36365C"/>
                </a:solidFill>
                <a:effectLst/>
                <a:uLnTx/>
                <a:uFillTx/>
                <a:ea typeface="+mn-ea"/>
              </a:rPr>
              <a:t>Don’t</a:t>
            </a:r>
            <a:r>
              <a:rPr kumimoji="0" lang="en-US" altLang="ko-KR" sz="1100" b="0" i="0" u="none" strike="noStrike" kern="0" cap="none" spc="0" normalizeH="0" baseline="0" noProof="0" dirty="0">
                <a:ln>
                  <a:noFill/>
                </a:ln>
                <a:solidFill>
                  <a:srgbClr val="36365C"/>
                </a:solidFill>
                <a:effectLst/>
                <a:uLnTx/>
                <a:uFillTx/>
                <a:ea typeface="+mn-ea"/>
              </a:rPr>
              <a:t> forward email</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a:ln>
                  <a:noFill/>
                </a:ln>
                <a:solidFill>
                  <a:srgbClr val="36365C"/>
                </a:solidFill>
                <a:effectLst/>
                <a:uLnTx/>
                <a:uFillTx/>
                <a:ea typeface="+mn-ea"/>
              </a:rPr>
              <a:t>from LG CNS domain</a:t>
            </a:r>
          </a:p>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ko-KR" sz="1100" b="0" i="0" u="none" strike="noStrike" kern="0" cap="none" spc="0" normalizeH="0" baseline="0" noProof="0" dirty="0">
                <a:ln>
                  <a:noFill/>
                </a:ln>
                <a:solidFill>
                  <a:srgbClr val="36365C"/>
                </a:solidFill>
                <a:effectLst/>
                <a:uLnTx/>
                <a:uFillTx/>
                <a:ea typeface="+mn-ea"/>
              </a:rPr>
              <a:t>to FPT domain</a:t>
            </a:r>
            <a:endParaRPr kumimoji="0" lang="en-US" altLang="ko-KR" sz="1100" b="0" i="0" u="none" strike="noStrike" kern="0" cap="none" spc="0" normalizeH="0" baseline="0" noProof="0" dirty="0">
              <a:ln>
                <a:noFill/>
              </a:ln>
              <a:solidFill>
                <a:srgbClr val="034EA2"/>
              </a:solidFill>
              <a:effectLst/>
              <a:uLnTx/>
              <a:uFillTx/>
              <a:ea typeface="+mn-ea"/>
            </a:endParaRPr>
          </a:p>
        </p:txBody>
      </p:sp>
      <p:sp>
        <p:nvSpPr>
          <p:cNvPr id="120" name="Rectangle 119">
            <a:extLst>
              <a:ext uri="{FF2B5EF4-FFF2-40B4-BE49-F238E27FC236}">
                <a16:creationId xmlns:a16="http://schemas.microsoft.com/office/drawing/2014/main" id="{F152722C-E849-AD1D-9687-77D404691BD6}"/>
              </a:ext>
            </a:extLst>
          </p:cNvPr>
          <p:cNvSpPr/>
          <p:nvPr/>
        </p:nvSpPr>
        <p:spPr>
          <a:xfrm>
            <a:off x="7860345" y="2472585"/>
            <a:ext cx="1579703" cy="500615"/>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Warning announcement for all PMO</a:t>
            </a:r>
          </a:p>
        </p:txBody>
      </p:sp>
      <p:sp>
        <p:nvSpPr>
          <p:cNvPr id="121" name="Rectangle 120">
            <a:extLst>
              <a:ext uri="{FF2B5EF4-FFF2-40B4-BE49-F238E27FC236}">
                <a16:creationId xmlns:a16="http://schemas.microsoft.com/office/drawing/2014/main" id="{82753D36-4D36-0585-0EEA-B072D4174060}"/>
              </a:ext>
            </a:extLst>
          </p:cNvPr>
          <p:cNvSpPr/>
          <p:nvPr/>
        </p:nvSpPr>
        <p:spPr>
          <a:xfrm>
            <a:off x="7917183" y="5624499"/>
            <a:ext cx="1579703" cy="500615"/>
          </a:xfrm>
          <a:prstGeom prst="rect">
            <a:avLst/>
          </a:prstGeom>
          <a:solidFill>
            <a:sysClr val="window" lastClr="FFFFFF"/>
          </a:solidFill>
          <a:ln w="12700" cap="flat" cmpd="sng" algn="ctr">
            <a:solidFill>
              <a:srgbClr val="4472C4"/>
            </a:solidFill>
            <a:prstDash val="solid"/>
            <a:miter lim="800000"/>
          </a:ln>
          <a:effectLst/>
        </p:spPr>
        <p:txBody>
          <a:bodyPr rtlCol="0" anchor="ctr"/>
          <a:lstStyle/>
          <a:p>
            <a:pPr algn="ctr">
              <a:buClrTx/>
              <a:buFontTx/>
              <a:buNone/>
              <a:defRPr/>
            </a:pPr>
            <a:r>
              <a:rPr lang="en-US" sz="1100" dirty="0">
                <a:solidFill>
                  <a:srgbClr val="36365C"/>
                </a:solidFill>
                <a:latin typeface="Segoe UI"/>
                <a:ea typeface="+mn-ea"/>
              </a:rPr>
              <a:t>Warning announcement for all PMO</a:t>
            </a:r>
          </a:p>
        </p:txBody>
      </p:sp>
      <p:cxnSp>
        <p:nvCxnSpPr>
          <p:cNvPr id="122" name="Connector: Elbow 39">
            <a:extLst>
              <a:ext uri="{FF2B5EF4-FFF2-40B4-BE49-F238E27FC236}">
                <a16:creationId xmlns:a16="http://schemas.microsoft.com/office/drawing/2014/main" id="{9E0FA4B8-94D8-196C-80E3-9F930EC87AB7}"/>
              </a:ext>
            </a:extLst>
          </p:cNvPr>
          <p:cNvCxnSpPr>
            <a:cxnSpLocks/>
            <a:stCxn id="36" idx="1"/>
            <a:endCxn id="121" idx="3"/>
          </p:cNvCxnSpPr>
          <p:nvPr/>
        </p:nvCxnSpPr>
        <p:spPr>
          <a:xfrm rot="10800000" flipV="1">
            <a:off x="9496887" y="3850687"/>
            <a:ext cx="603575" cy="2024120"/>
          </a:xfrm>
          <a:prstGeom prst="bentConnector3">
            <a:avLst>
              <a:gd name="adj1" fmla="val 73672"/>
            </a:avLst>
          </a:prstGeom>
          <a:noFill/>
          <a:ln w="6350" cap="flat" cmpd="sng" algn="ctr">
            <a:solidFill>
              <a:srgbClr val="36365C"/>
            </a:solidFill>
            <a:prstDash val="solid"/>
            <a:miter lim="800000"/>
            <a:tailEnd type="triangle"/>
          </a:ln>
          <a:effectLst/>
        </p:spPr>
      </p:cxnSp>
      <p:sp>
        <p:nvSpPr>
          <p:cNvPr id="123" name="TextBox 122">
            <a:extLst>
              <a:ext uri="{FF2B5EF4-FFF2-40B4-BE49-F238E27FC236}">
                <a16:creationId xmlns:a16="http://schemas.microsoft.com/office/drawing/2014/main" id="{6EF0AA30-6783-2403-1C8B-360304EB8BEB}"/>
              </a:ext>
            </a:extLst>
          </p:cNvPr>
          <p:cNvSpPr txBox="1"/>
          <p:nvPr/>
        </p:nvSpPr>
        <p:spPr>
          <a:xfrm>
            <a:off x="9414205" y="3574304"/>
            <a:ext cx="734733" cy="261610"/>
          </a:xfrm>
          <a:prstGeom prst="rect">
            <a:avLst/>
          </a:prstGeom>
          <a:noFill/>
        </p:spPr>
        <p:txBody>
          <a:bodyPr wrap="square" rtlCol="0">
            <a:spAutoFit/>
          </a:bodyPr>
          <a:lstStyle/>
          <a:p>
            <a:pPr>
              <a:buClrTx/>
              <a:buFontTx/>
              <a:buNone/>
              <a:defRPr/>
            </a:pPr>
            <a:r>
              <a:rPr lang="en-US" sz="1100" dirty="0">
                <a:solidFill>
                  <a:srgbClr val="36365C"/>
                </a:solidFill>
                <a:latin typeface="Segoe UI"/>
                <a:ea typeface="+mn-ea"/>
              </a:rPr>
              <a:t>Inform</a:t>
            </a:r>
          </a:p>
        </p:txBody>
      </p:sp>
      <p:cxnSp>
        <p:nvCxnSpPr>
          <p:cNvPr id="124" name="Connector: Elbow 39">
            <a:extLst>
              <a:ext uri="{FF2B5EF4-FFF2-40B4-BE49-F238E27FC236}">
                <a16:creationId xmlns:a16="http://schemas.microsoft.com/office/drawing/2014/main" id="{FE88E849-25AB-7E8A-A15F-3BAC329E754C}"/>
              </a:ext>
            </a:extLst>
          </p:cNvPr>
          <p:cNvCxnSpPr>
            <a:cxnSpLocks/>
            <a:stCxn id="21" idx="1"/>
            <a:endCxn id="120" idx="3"/>
          </p:cNvCxnSpPr>
          <p:nvPr/>
        </p:nvCxnSpPr>
        <p:spPr>
          <a:xfrm rot="10800000" flipV="1">
            <a:off x="9440048" y="1894625"/>
            <a:ext cx="660414" cy="828268"/>
          </a:xfrm>
          <a:prstGeom prst="bentConnector3">
            <a:avLst>
              <a:gd name="adj1" fmla="val 67307"/>
            </a:avLst>
          </a:prstGeom>
          <a:noFill/>
          <a:ln w="6350" cap="flat" cmpd="sng" algn="ctr">
            <a:solidFill>
              <a:srgbClr val="36365C"/>
            </a:solidFill>
            <a:prstDash val="solid"/>
            <a:miter lim="800000"/>
            <a:tailEnd type="triangle"/>
          </a:ln>
          <a:effectLst/>
        </p:spPr>
      </p:cxnSp>
    </p:spTree>
    <p:extLst>
      <p:ext uri="{BB962C8B-B14F-4D97-AF65-F5344CB8AC3E}">
        <p14:creationId xmlns:p14="http://schemas.microsoft.com/office/powerpoint/2010/main" val="245969142"/>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4F6FDD21-0468-041D-B453-B415E79AEAAE}"/>
              </a:ext>
            </a:extLst>
          </p:cNvPr>
          <p:cNvSpPr>
            <a:spLocks noGrp="1"/>
          </p:cNvSpPr>
          <p:nvPr>
            <p:ph type="sldNum" idx="12"/>
          </p:nvPr>
        </p:nvSpPr>
        <p:spPr/>
        <p:txBody>
          <a:bodyPr/>
          <a:lstStyle/>
          <a:p>
            <a:fld id="{00000000-1234-1234-1234-123412341234}" type="slidenum">
              <a:rPr lang="en-US" smtClean="0"/>
              <a:pPr/>
              <a:t>34</a:t>
            </a:fld>
            <a:endParaRPr lang="en-US"/>
          </a:p>
        </p:txBody>
      </p:sp>
      <p:sp>
        <p:nvSpPr>
          <p:cNvPr id="3" name="Text Placeholder 6">
            <a:extLst>
              <a:ext uri="{FF2B5EF4-FFF2-40B4-BE49-F238E27FC236}">
                <a16:creationId xmlns:a16="http://schemas.microsoft.com/office/drawing/2014/main" id="{2C26E9D5-4A23-0F7F-4E25-B19ADBA9F5EB}"/>
              </a:ext>
            </a:extLst>
          </p:cNvPr>
          <p:cNvSpPr txBox="1">
            <a:spLocks/>
          </p:cNvSpPr>
          <p:nvPr/>
        </p:nvSpPr>
        <p:spPr>
          <a:xfrm>
            <a:off x="479424" y="732772"/>
            <a:ext cx="6994801" cy="1717515"/>
          </a:xfrm>
          <a:prstGeom prst="rect">
            <a:avLst/>
          </a:prstGeom>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ts val="0"/>
              </a:spcBef>
              <a:buNone/>
            </a:pPr>
            <a:r>
              <a:rPr lang="en-US" sz="6600" b="1" dirty="0">
                <a:solidFill>
                  <a:schemeClr val="bg1"/>
                </a:solidFill>
                <a:latin typeface="Segoe UI" panose="020B0502040204020203" pitchFamily="34" charset="0"/>
                <a:cs typeface="Segoe UI" panose="020B0502040204020203" pitchFamily="34" charset="0"/>
              </a:rPr>
              <a:t>THANK YOU!</a:t>
            </a:r>
          </a:p>
        </p:txBody>
      </p:sp>
      <p:pic>
        <p:nvPicPr>
          <p:cNvPr id="7" name="Graphic 6" descr="Call center with solid fill">
            <a:extLst>
              <a:ext uri="{FF2B5EF4-FFF2-40B4-BE49-F238E27FC236}">
                <a16:creationId xmlns:a16="http://schemas.microsoft.com/office/drawing/2014/main" id="{A15C8025-BF3C-BF05-842B-B68D0FBC5F62}"/>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479424" y="5698437"/>
            <a:ext cx="335071" cy="335071"/>
          </a:xfrm>
          <a:prstGeom prst="rect">
            <a:avLst/>
          </a:prstGeom>
        </p:spPr>
      </p:pic>
      <p:sp>
        <p:nvSpPr>
          <p:cNvPr id="9" name="Text Placeholder 6">
            <a:extLst>
              <a:ext uri="{FF2B5EF4-FFF2-40B4-BE49-F238E27FC236}">
                <a16:creationId xmlns:a16="http://schemas.microsoft.com/office/drawing/2014/main" id="{B188D75D-E8A2-7753-3A4D-3CF63F11741C}"/>
              </a:ext>
            </a:extLst>
          </p:cNvPr>
          <p:cNvSpPr txBox="1">
            <a:spLocks/>
          </p:cNvSpPr>
          <p:nvPr/>
        </p:nvSpPr>
        <p:spPr>
          <a:xfrm>
            <a:off x="491951" y="5270524"/>
            <a:ext cx="3669063" cy="246910"/>
          </a:xfrm>
          <a:prstGeom prst="rect">
            <a:avLst/>
          </a:prstGeom>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ts val="100"/>
              </a:spcBef>
              <a:buNone/>
            </a:pPr>
            <a:r>
              <a:rPr lang="en-VN" sz="1200" b="1" dirty="0">
                <a:solidFill>
                  <a:schemeClr val="bg1"/>
                </a:solidFill>
                <a:latin typeface="Segoe UI" panose="020B0502040204020203" pitchFamily="34" charset="0"/>
                <a:cs typeface="Segoe UI" panose="020B0502040204020203" pitchFamily="34" charset="0"/>
              </a:rPr>
              <a:t>Contact Person: Mr/Ms. ABC</a:t>
            </a:r>
          </a:p>
        </p:txBody>
      </p:sp>
      <p:sp>
        <p:nvSpPr>
          <p:cNvPr id="10" name="Text Placeholder 6">
            <a:extLst>
              <a:ext uri="{FF2B5EF4-FFF2-40B4-BE49-F238E27FC236}">
                <a16:creationId xmlns:a16="http://schemas.microsoft.com/office/drawing/2014/main" id="{5A205710-2D87-15F6-DEB4-18A3C46A2010}"/>
              </a:ext>
            </a:extLst>
          </p:cNvPr>
          <p:cNvSpPr txBox="1">
            <a:spLocks/>
          </p:cNvSpPr>
          <p:nvPr/>
        </p:nvSpPr>
        <p:spPr>
          <a:xfrm>
            <a:off x="827022" y="5623248"/>
            <a:ext cx="3669063" cy="501980"/>
          </a:xfrm>
          <a:prstGeom prst="rect">
            <a:avLst/>
          </a:prstGeom>
        </p:spPr>
        <p:txBody>
          <a:bodyPr/>
          <a:lstStyle>
            <a:lvl1pPr marL="457120" indent="-457120" algn="l" defTabSz="1218987" rtl="0" eaLnBrk="1" latinLnBrk="0" hangingPunct="1">
              <a:spcBef>
                <a:spcPct val="20000"/>
              </a:spcBef>
              <a:buFont typeface="Arial" pitchFamily="34" charset="0"/>
              <a:buChar char="•"/>
              <a:defRPr sz="3600" kern="1200">
                <a:solidFill>
                  <a:schemeClr val="tx1"/>
                </a:solidFill>
                <a:latin typeface="+mj-lt"/>
                <a:ea typeface="+mn-ea"/>
                <a:cs typeface="+mn-cs"/>
              </a:defRPr>
            </a:lvl1pPr>
            <a:lvl2pPr marL="990427" indent="-380933" algn="l" defTabSz="1218987" rtl="0" eaLnBrk="1" latinLnBrk="0" hangingPunct="1">
              <a:spcBef>
                <a:spcPct val="20000"/>
              </a:spcBef>
              <a:buFont typeface="Arial" pitchFamily="34" charset="0"/>
              <a:buChar char="–"/>
              <a:defRPr sz="3200" kern="1200">
                <a:solidFill>
                  <a:schemeClr val="tx1"/>
                </a:solidFill>
                <a:latin typeface="+mj-lt"/>
                <a:ea typeface="+mn-ea"/>
                <a:cs typeface="+mn-cs"/>
              </a:defRPr>
            </a:lvl2pPr>
            <a:lvl3pPr marL="1523733" indent="-304747" algn="l" defTabSz="1218987" rtl="0" eaLnBrk="1" latinLnBrk="0" hangingPunct="1">
              <a:spcBef>
                <a:spcPct val="20000"/>
              </a:spcBef>
              <a:buFont typeface="Arial" pitchFamily="34" charset="0"/>
              <a:buChar char="•"/>
              <a:defRPr sz="2400" kern="1200">
                <a:solidFill>
                  <a:schemeClr val="tx1"/>
                </a:solidFill>
                <a:latin typeface="+mj-lt"/>
                <a:ea typeface="+mn-ea"/>
                <a:cs typeface="+mn-cs"/>
              </a:defRPr>
            </a:lvl3pPr>
            <a:lvl4pPr marL="2133227"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4pPr>
            <a:lvl5pPr marL="2742720" indent="-304747" algn="l" defTabSz="1218987" rtl="0" eaLnBrk="1" latinLnBrk="0" hangingPunct="1">
              <a:spcBef>
                <a:spcPct val="20000"/>
              </a:spcBef>
              <a:buFont typeface="Arial" pitchFamily="34" charset="0"/>
              <a:buChar char="»"/>
              <a:defRPr sz="2000" kern="1200">
                <a:solidFill>
                  <a:schemeClr val="tx1"/>
                </a:solidFill>
                <a:latin typeface="+mj-lt"/>
                <a:ea typeface="+mn-ea"/>
                <a:cs typeface="+mn-cs"/>
              </a:defRPr>
            </a:lvl5pPr>
            <a:lvl6pPr marL="335221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6pPr>
            <a:lvl7pPr marL="3961707"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7pPr>
            <a:lvl8pPr marL="4571200"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8pPr>
            <a:lvl9pPr marL="5180693" indent="-304747" algn="l" defTabSz="1218987" rtl="0" eaLnBrk="1" latinLnBrk="0" hangingPunct="1">
              <a:spcBef>
                <a:spcPct val="20000"/>
              </a:spcBef>
              <a:buFont typeface="Arial" pitchFamily="34" charset="0"/>
              <a:buChar char="•"/>
              <a:defRPr sz="2700" kern="1200">
                <a:solidFill>
                  <a:schemeClr val="tx1"/>
                </a:solidFill>
                <a:latin typeface="+mn-lt"/>
                <a:ea typeface="+mn-ea"/>
                <a:cs typeface="+mn-cs"/>
              </a:defRPr>
            </a:lvl9pPr>
          </a:lstStyle>
          <a:p>
            <a:pPr marL="0" indent="0">
              <a:spcBef>
                <a:spcPts val="100"/>
              </a:spcBef>
              <a:buNone/>
            </a:pPr>
            <a:r>
              <a:rPr lang="vi-VN" sz="1200" dirty="0">
                <a:solidFill>
                  <a:schemeClr val="bg1"/>
                </a:solidFill>
                <a:latin typeface="Segoe UI" panose="020B0502040204020203" pitchFamily="34" charset="0"/>
                <a:ea typeface="DengXian" panose="02010600030101010101" pitchFamily="2" charset="-122"/>
                <a:cs typeface="Times New Roman" panose="02020603050405020304" pitchFamily="18" charset="0"/>
              </a:rPr>
              <a:t>Project Manager</a:t>
            </a:r>
          </a:p>
          <a:p>
            <a:pPr marL="0" indent="0">
              <a:spcBef>
                <a:spcPts val="100"/>
              </a:spcBef>
              <a:buNone/>
            </a:pPr>
            <a:r>
              <a:rPr lang="vi-VN" sz="1200" dirty="0">
                <a:solidFill>
                  <a:schemeClr val="bg1"/>
                </a:solidFill>
                <a:latin typeface="Segoe UI" panose="020B0502040204020203" pitchFamily="34" charset="0"/>
                <a:ea typeface="DengXian" panose="02010600030101010101" pitchFamily="2" charset="-122"/>
                <a:cs typeface="Times New Roman" panose="02020603050405020304" pitchFamily="18" charset="0"/>
              </a:rPr>
              <a:t>Email: abc@fpt.com</a:t>
            </a:r>
          </a:p>
        </p:txBody>
      </p:sp>
      <p:sp>
        <p:nvSpPr>
          <p:cNvPr id="12" name="TextBox 11">
            <a:extLst>
              <a:ext uri="{FF2B5EF4-FFF2-40B4-BE49-F238E27FC236}">
                <a16:creationId xmlns:a16="http://schemas.microsoft.com/office/drawing/2014/main" id="{E76D7099-35BE-7DF3-D01F-98DA65C04CF6}"/>
              </a:ext>
            </a:extLst>
          </p:cNvPr>
          <p:cNvSpPr txBox="1"/>
          <p:nvPr/>
        </p:nvSpPr>
        <p:spPr>
          <a:xfrm>
            <a:off x="2620152" y="5249715"/>
            <a:ext cx="286351" cy="307777"/>
          </a:xfrm>
          <a:prstGeom prst="rect">
            <a:avLst/>
          </a:prstGeom>
          <a:noFill/>
        </p:spPr>
        <p:txBody>
          <a:bodyPr wrap="square">
            <a:spAutoFit/>
          </a:bodyPr>
          <a:lstStyle/>
          <a:p>
            <a:r>
              <a:rPr lang="en-US" sz="1400" b="1" kern="500" dirty="0">
                <a:solidFill>
                  <a:schemeClr val="bg1"/>
                </a:solidFill>
                <a:effectLst/>
                <a:latin typeface="BR Omega VN" pitchFamily="2" charset="77"/>
                <a:ea typeface="Calibri" panose="020F0502020204030204" pitchFamily="34" charset="0"/>
              </a:rPr>
              <a:t>↘</a:t>
            </a:r>
            <a:endParaRPr lang="en-VN" sz="1400" dirty="0">
              <a:solidFill>
                <a:schemeClr val="bg1"/>
              </a:solidFill>
            </a:endParaRPr>
          </a:p>
        </p:txBody>
      </p:sp>
    </p:spTree>
    <p:extLst>
      <p:ext uri="{BB962C8B-B14F-4D97-AF65-F5344CB8AC3E}">
        <p14:creationId xmlns:p14="http://schemas.microsoft.com/office/powerpoint/2010/main" val="3795116935"/>
      </p:ext>
    </p:extLst>
  </p:cSld>
  <p:clrMapOvr>
    <a:masterClrMapping/>
  </p:clrMapOvr>
</p:sld>
</file>

<file path=ppt/theme/theme1.xml><?xml version="1.0" encoding="utf-8"?>
<a:theme xmlns:a="http://schemas.openxmlformats.org/drawingml/2006/main" name="White Master">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on1.potx" id="{0715FC38-7918-4DD2-87F2-1E2C6112BC53}" vid="{BF13BE09-A138-47A8-8FDC-3E2FE9235EB8}"/>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bf90b3a-287d-4926-8fe6-7bfb1907a392">
      <Terms xmlns="http://schemas.microsoft.com/office/infopath/2007/PartnerControls"/>
    </lcf76f155ced4ddcb4097134ff3c332f>
    <TaxCatchAll xmlns="cf2e679d-baef-4d83-b573-4d1ae8fe59f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AD7CF9298F00234AA2BF8C1F9E704213" ma:contentTypeVersion="15" ma:contentTypeDescription="Create a new document." ma:contentTypeScope="" ma:versionID="dc89b83494b7ed3d3a870bc3e69ecdfc">
  <xsd:schema xmlns:xsd="http://www.w3.org/2001/XMLSchema" xmlns:xs="http://www.w3.org/2001/XMLSchema" xmlns:p="http://schemas.microsoft.com/office/2006/metadata/properties" xmlns:ns2="8bf90b3a-287d-4926-8fe6-7bfb1907a392" xmlns:ns3="cf2e679d-baef-4d83-b573-4d1ae8fe59f5" targetNamespace="http://schemas.microsoft.com/office/2006/metadata/properties" ma:root="true" ma:fieldsID="6d7eefeb921f45e5a32998b5dc4038ed" ns2:_="" ns3:_="">
    <xsd:import namespace="8bf90b3a-287d-4926-8fe6-7bfb1907a392"/>
    <xsd:import namespace="cf2e679d-baef-4d83-b573-4d1ae8fe59f5"/>
    <xsd:element name="properties">
      <xsd:complexType>
        <xsd:sequence>
          <xsd:element name="documentManagement">
            <xsd:complexType>
              <xsd:all>
                <xsd:element ref="ns2:MediaServiceMetadata" minOccurs="0"/>
                <xsd:element ref="ns2:MediaServiceFastMetadata" minOccurs="0"/>
                <xsd:element ref="ns2:MediaServiceDateTaken" minOccurs="0"/>
                <xsd:element ref="ns2:MediaLengthInSeconds" minOccurs="0"/>
                <xsd:element ref="ns2:lcf76f155ced4ddcb4097134ff3c332f" minOccurs="0"/>
                <xsd:element ref="ns3:TaxCatchAll" minOccurs="0"/>
                <xsd:element ref="ns2:MediaServiceOCR" minOccurs="0"/>
                <xsd:element ref="ns2:MediaServiceGenerationTime" minOccurs="0"/>
                <xsd:element ref="ns2:MediaServiceEventHashCode" minOccurs="0"/>
                <xsd:element ref="ns3:SharedWithUsers" minOccurs="0"/>
                <xsd:element ref="ns3:SharedWithDetails" minOccurs="0"/>
                <xsd:element ref="ns2:MediaServiceObjectDetectorVersions" minOccurs="0"/>
                <xsd:element ref="ns2:MediaServiceLocation"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bf90b3a-287d-4926-8fe6-7bfb1907a39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dexed="true" ma:internalName="MediaServiceDateTaken" ma:readOnly="true">
      <xsd:simpleType>
        <xsd:restriction base="dms:Text"/>
      </xsd:simpleType>
    </xsd:element>
    <xsd:element name="MediaLengthInSeconds" ma:index="11" nillable="true" ma:displayName="MediaLengthInSeconds" ma:hidden="true" ma:internalName="MediaLengthInSeconds" ma:readOnly="true">
      <xsd:simpleType>
        <xsd:restriction base="dms:Unknown"/>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7c97e1a9-fa82-4965-b735-0e061acf9268"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element name="MediaServiceLocation" ma:index="21" nillable="true" ma:displayName="Location" ma:indexed="true" ma:internalName="MediaServiceLocation" ma:readOnly="true">
      <xsd:simpleType>
        <xsd:restriction base="dms:Text"/>
      </xsd:simpleType>
    </xsd:element>
    <xsd:element name="MediaServiceSearchProperties" ma:index="22"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cf2e679d-baef-4d83-b573-4d1ae8fe59f5"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d305d0ad-b4ac-44c3-8d53-15093a23a661}" ma:internalName="TaxCatchAll" ma:showField="CatchAllData" ma:web="cf2e679d-baef-4d83-b573-4d1ae8fe59f5">
      <xsd:complexType>
        <xsd:complexContent>
          <xsd:extension base="dms:MultiChoiceLookup">
            <xsd:sequence>
              <xsd:element name="Value" type="dms:Lookup" maxOccurs="unbounded" minOccurs="0" nillable="true"/>
            </xsd:sequence>
          </xsd:extension>
        </xsd:complexContent>
      </xsd:complexType>
    </xsd:element>
    <xsd:element name="SharedWithUsers" ma:index="1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9"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D0959C6-D921-47CC-A30F-DE2F164F469B}">
  <ds:schemaRefs>
    <ds:schemaRef ds:uri="http://schemas.microsoft.com/sharepoint/v3/contenttype/forms"/>
  </ds:schemaRefs>
</ds:datastoreItem>
</file>

<file path=customXml/itemProps2.xml><?xml version="1.0" encoding="utf-8"?>
<ds:datastoreItem xmlns:ds="http://schemas.openxmlformats.org/officeDocument/2006/customXml" ds:itemID="{8FAE98FF-5B79-47C9-9080-66F580DA9B7E}">
  <ds:schemaRefs>
    <ds:schemaRef ds:uri="6a6ec002-83d7-4308-b7f4-784b9785e917"/>
    <ds:schemaRef ds:uri="http://purl.org/dc/elements/1.1/"/>
    <ds:schemaRef ds:uri="http://schemas.microsoft.com/office/2006/metadata/properties"/>
    <ds:schemaRef ds:uri="http://schemas.microsoft.com/office/2006/documentManagement/types"/>
    <ds:schemaRef ds:uri="http://schemas.microsoft.com/office/infopath/2007/PartnerControls"/>
    <ds:schemaRef ds:uri="http://schemas.openxmlformats.org/package/2006/metadata/core-properties"/>
    <ds:schemaRef ds:uri="d7f50f79-bca3-4c94-aa04-e398c26dad75"/>
    <ds:schemaRef ds:uri="http://www.w3.org/XML/1998/namespace"/>
    <ds:schemaRef ds:uri="http://purl.org/dc/dcmitype/"/>
    <ds:schemaRef ds:uri="http://purl.org/dc/terms/"/>
    <ds:schemaRef ds:uri="8bf90b3a-287d-4926-8fe6-7bfb1907a392"/>
    <ds:schemaRef ds:uri="cf2e679d-baef-4d83-b573-4d1ae8fe59f5"/>
  </ds:schemaRefs>
</ds:datastoreItem>
</file>

<file path=customXml/itemProps3.xml><?xml version="1.0" encoding="utf-8"?>
<ds:datastoreItem xmlns:ds="http://schemas.openxmlformats.org/officeDocument/2006/customXml" ds:itemID="{E88BF23E-1967-4F55-B11B-8A2BC561992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8bf90b3a-287d-4926-8fe6-7bfb1907a392"/>
    <ds:schemaRef ds:uri="cf2e679d-baef-4d83-b573-4d1ae8fe59f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Template_Proposal_Presentation_Theme 01</Template>
  <TotalTime>4064</TotalTime>
  <Words>5017</Words>
  <Application>Microsoft Office PowerPoint</Application>
  <PresentationFormat>Widescreen</PresentationFormat>
  <Paragraphs>1034</Paragraphs>
  <Slides>34</Slides>
  <Notes>0</Notes>
  <HiddenSlides>0</HiddenSlides>
  <MMClips>0</MMClips>
  <ScaleCrop>false</ScaleCrop>
  <HeadingPairs>
    <vt:vector size="4" baseType="variant">
      <vt:variant>
        <vt:lpstr>Theme</vt:lpstr>
      </vt:variant>
      <vt:variant>
        <vt:i4>1</vt:i4>
      </vt:variant>
      <vt:variant>
        <vt:lpstr>Slide Titles</vt:lpstr>
      </vt:variant>
      <vt:variant>
        <vt:i4>34</vt:i4>
      </vt:variant>
    </vt:vector>
  </HeadingPairs>
  <TitlesOfParts>
    <vt:vector size="35" baseType="lpstr">
      <vt:lpstr>White Master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FPT_LamDM</dc:creator>
  <cp:lastModifiedBy>Nguyen Ngoc Minh (FDN.G52)</cp:lastModifiedBy>
  <cp:revision>112</cp:revision>
  <dcterms:created xsi:type="dcterms:W3CDTF">2023-08-30T09:46:40Z</dcterms:created>
  <dcterms:modified xsi:type="dcterms:W3CDTF">2026-09-14T08:08:13Z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0x010100AD7CF9298F00234AA2BF8C1F9E704213</vt:lpwstr>
  </property>
  <property fmtid="{D5CDD505-2E9C-101B-9397-08002B2CF9AE}" pid="3" name="MediaServiceImageTags">
    <vt:lpwstr/>
  </property>
</Properties>
</file>